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5143500" cy="9144000"/>
  <p:embeddedFontLst>
    <p:embeddedFont>
      <p:font typeface="Play"/>
      <p:regular r:id="rId37"/>
      <p:bold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1C05B3-F2F7-497A-A2A1-7750038E98FB}">
  <a:tblStyle styleId="{571C05B3-F2F7-497A-A2A1-7750038E98FB}"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Play-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Play-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pc="0" sz="1200" u="none" cap="none" strike="noStrike">
                <a:solidFill>
                  <a:schemeClr val="dk1"/>
                </a:solidFill>
                <a:latin typeface="Calibri"/>
                <a:ea typeface="Calibri"/>
                <a:cs typeface="Calibri"/>
                <a:sym typeface="Calibri"/>
              </a:rPr>
              <a:t>‹#›</a:t>
            </a:fld>
            <a:endParaRPr b="0" i="0" spc="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Welcome. This module covers four Knowledge Library articles from the Retention and Membership Cancellation category: MF &amp; ETF Refund Requests; Customer Abusive Behavior Towards a Cleaner; Duplicate Accounts; and Bulk Charges. The thread through all four: work out the real root cause first (what happened, and whose error it was), then apply the policy that fits it, no more and no less.</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Topic 1 covers MF and ETF refund requests: the root cause drives the decision, eligible doesn't automatically mean a cash refund, and billing errors are fixed without waiting to be asked. Topic 2 covers customers confirmed abusive toward a cleaner: no retention, only a fair exit. Topic 3 covers duplicate accounts: check Thumbtack, cancel the duplicate FC, then offer a refund or free months. Topic 4 covers bulk MF charges: which of the three branches you're in, and what to do in each. In slideshow mode, click any topic to jump straight to it.</a:t>
            </a:r>
            <a:endParaRPr/>
          </a:p>
        </p:txBody>
      </p:sp>
      <p:sp>
        <p:nvSpPr>
          <p:cNvPr id="37" name="Google Shape;3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MF &amp; ETF Refund Requests. Category: Retention and Membership Cancellation. Covers refund requests for Monthly Fees (MF) and/or the Early Termination Fee (ETF), whether the customer is mid-cancellation, already cancelled, or just contesting a charge. This is separate from job-charge refunds (Premium Fee, Lockout, LMC: see the AG-Refund pages).</a:t>
            </a:r>
            <a:endParaRPr/>
          </a:p>
        </p:txBody>
      </p:sp>
      <p:sp>
        <p:nvSpPr>
          <p:cNvPr id="58" name="Google Shape;5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Why this matters: not every MF or ETF refund request has the same root cause, and the root cause is what should drive the decision, not just "how long ago was the charge." A customer who was never told about the membership deserves a different answer than one who knew and simply forgot to cancel in time, even if both are asking for the same thing. Getting this right protects against two failure modes: reflexively refusing refunds that are genuinely our error, and reflexively granting refunds that reward not paying attention. No refund request, no refund, but a request can be implied as well as explicit: the customer doesn't need to use the word "refund"; contesting a charge with the expectation it be reversed is a request. The exception is our own error: where we charged in error (a duplicate charge, a charge the customer should never have had), correct it without waiting to be asked.</a:t>
            </a:r>
            <a:endParaRPr/>
          </a:p>
        </p:txBody>
      </p:sp>
      <p:sp>
        <p:nvSpPr>
          <p:cNvPr id="89" name="Google Shape;8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 MF going unused is not, on its own, a reason to refund it. The test is paid months minus the customer's MCT. A customer can go months without booking and still owe every one of those MFs, because the fee buys membership, not attendance. Inside the MCT, an unused month is owed: refund it only under a named exemption (a material legal threat, extreme hardship, compassion, or a history of disputes). Beyond the MCT, an unused MF is refundable when all of these hold: it was charged in the last 120 days; it is still disputable; and the reason is that the customer was unaware of the membership or believed they had already cancelled, not that they simply forgot to cancel in time. Example: C has 7 paid months against a 6-month MCT and three MFs went unused. Only one of those sits beyond the MCT. The other two are owed: they went unused inside the commitment term, which is not a refund ground.</a:t>
            </a:r>
            <a:endParaRPr/>
          </a:p>
        </p:txBody>
      </p:sp>
      <p:sp>
        <p:nvSpPr>
          <p:cNvPr id="116" name="Google Shape;11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MF refund requests start with the FC status. FC is active (triggered): if the customer is retainable, lead with a free-months offer equal to the eligible amount, capped at 3. "Eligible" means the customer has a legitimate claim to the value of those unused MFs; it doesn't mean the default resolution is a cash refund. Exception: if there are extenuating circumstances that warrant a refund (billing errors, etc.), proceed with the refund. Agent errors, billing errors and high-risk/legal situations are refunded directly regardless of FC status. FC is cancelled, the customer declines the free months, or the customer isn't retainable: follow the root cause table on the next slide to decide whether the MF is refundable. TRAINER: in slideshow mode, the "Root cause table" button jumps to the next slide.</a:t>
            </a:r>
            <a:endParaRPr/>
          </a:p>
        </p:txBody>
      </p:sp>
      <p:sp>
        <p:nvSpPr>
          <p:cNvPr id="144" name="Google Shape;14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MF refunds sorted by root cause. Unaware of the membership, charged multiple MFs: eligible for unused MFs beyond MCT that are still disputable (within 120 days). Thought they'd cancelled (cancelled RC/upcoming jobs, not FC): same. C requested cancellation to Support after completing MCT, but FC continued renewing monthly without their explicit agreement: MFs charged after the cancellation request are eligible regardless of the 120-day window, since this is an agent error. If C has completed MCT and requested cancellation, don't charge another MF without their explicit agreement to continue; the agent should have created a Timed Reminder to cancel FC before the next renewal if C didn't respond to the retention attempt. Aware of the membership, just forgot to cancel in time: generally no. The membership benefit (discounted access) was available every month they were charged; forgetting to cancel isn't a service failure or communication gap on our side, and refunding would mean refunding based on non-use. Duplicate account, duplicate MF charged: the duplicate charges within 120 days are eligible if the customer declined the free months. C already paid the ETF, now wants an MF refund too, no escalation language: no ("I canceled and paid my ETF. Can I have a refund on the MF I just paid?"). With escalating/dispute language or legal threats: yes, the MF may be refundable to avoid further costs ("Either refund the MF or the ETF or I will be contacting my bank and disputing both of these charges"). C has a previous bank dispute: refund on request as long as it's still disputable (within 120 days). Exception: a successful dispute on a charge that should have been non-disputable opens everything charged after it; if the customer successfully disputed a charge already past 120 days, every later charge is also refundable on request.</a:t>
            </a:r>
            <a:endParaRPr/>
          </a:p>
        </p:txBody>
      </p:sp>
      <p:sp>
        <p:nvSpPr>
          <p:cNvPr id="165" name="Google Shape;16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ETF refunds. Full refund if any of: the customer has a history of filing a dispute, asked for a refund before/after filing one, and no longer wants the service; dispute risk is above the percentage-based threshold; extenuating circumstances apply, especially if they never used the service or were unhappy with it (check the Extenuating Circumstances article: Financial Hardship, Military, Illness, Death, ADA, Disaster). Partial refund if: the ETF was miscalculated (system bug, overcharged hours); or the customer wants the voucher price/MF/card charges deducted for hours a DHJ voucher didn't cover, and is using escalating language.</a:t>
            </a:r>
            <a:endParaRPr/>
          </a:p>
        </p:txBody>
      </p:sp>
      <p:sp>
        <p:nvSpPr>
          <p:cNvPr id="178" name="Google Shape;17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Billing errors (MF or ETF): refund immediately, no 120-day window, since this is our mistake, not a judgment call: a charge applied incorrectly or an MF charged twice by error; a promised discount never applied; we said we'd cancel after MCT and didn't (refund anything charged after MCT regardless of the 120-day window: agent error). High-risk / material legal situations, refund if any apply: material legal threat (Attorney General, class action, etc.): refund charges within 120 days; beyond that needs Legal and Compliance Team approval, so escalate to your TL. Dispute risk above the percentage threshold: the 120-day limit still applies. If C has already filed a dispute, the 120-day limit still applies, even if they request a refund before or after filing, unless the bank allows a dispute for a charge that is normally non-disputable. If none of the above apply and dispute risk is low: don't refund. If the membership is still active, offer the free-months-in-lieu alternative instead (unused MF value converted to free months, capped at 3: see General Retention Playbook).</a:t>
            </a:r>
            <a:endParaRPr/>
          </a:p>
        </p:txBody>
      </p:sp>
      <p:sp>
        <p:nvSpPr>
          <p:cNvPr id="196" name="Google Shape;19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Compassion / hardship cases (extenuating circumstances) apply whether the customer is within or beyond MCT. Take a human, personalized approach rather than running the standard scenario logic. If the customer doesn't specify how many MFs they want refunded, start with 1 as the baseline; don't offer more than asked. Refunds beyond the normal 120-day/count limits are allowed when the circumstances justify it; in severe cases, multiple MFs or a refund beyond the normal window is fine, but it needs support approval. Related macros: [Fragment] No refund — monthly fee; [Fragment] No refund — ETF; [Fragment] Lower ETF offer – MF deducted from ETF; [Fragment] Lower ETF offer – Voucher price deducted from ETF; [Fragment] Free month offer.</a:t>
            </a:r>
            <a:endParaRPr/>
          </a:p>
        </p:txBody>
      </p:sp>
      <p:sp>
        <p:nvSpPr>
          <p:cNvPr id="214" name="Google Shape;21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Ask each question and let trainees answer before revealing. Each click reveals the next answer.</a:t>
            </a:r>
            <a:endParaRPr/>
          </a:p>
        </p:txBody>
      </p:sp>
      <p:sp>
        <p:nvSpPr>
          <p:cNvPr id="241" name="Google Shape;24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TRAINER: share a live ticket with an MF or ETF refund request. Give trainees a few minutes to review it on their own, then work through it together. 1) What's the root cause: unaware of the membership, thought they'd cancelled, forgot to cancel, a billing or agent error, a legal threat or dispute risk, or hardship? 2) What actions are you going to take? Apply the MCT test (paid months minus MCT) and the 120-day/disputable check; if eligible and FC is active and C is retainable, lead with free months (max 3); otherwise refund. 3) 5-minute writing challenge: each trainee writes the reply. Read a few aloud and compare. Then open the floor for questions.</a:t>
            </a:r>
            <a:endParaRPr/>
          </a:p>
        </p:txBody>
      </p:sp>
      <p:sp>
        <p:nvSpPr>
          <p:cNvPr id="273" name="Google Shape;27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Customer Abusive Behavior Towards a Cleaner. Category: Retention and Membership Cancellation. Covers how to handle a cancellation or ETF conversation once a customer has been confirmed abusive toward their cleaner: personal, threatening, or intentionally harmful hostility, not ordinary frustration. It governs what offers are and aren't allowed once abuse is confirmed. It doesn't cover the CP-facing investigation or consequences: see Trust and Safety Overview for that side.</a:t>
            </a:r>
            <a:endParaRPr/>
          </a:p>
        </p:txBody>
      </p:sp>
      <p:sp>
        <p:nvSpPr>
          <p:cNvPr id="306" name="Google Shape;30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Almost everything else in the Knowledge Library is about finding the right offer to keep the relationship. This article is the deliberate exception. Once a customer has been abusive toward a cleaner, the goal shifts from retention to protecting the CP and holding a clear boundary. Extending the normal retention toolkit here would reward the exact behavior we need to discourage, and would ask this CP (or the next one) to absorb more of it. The customer still gets a fair, policy-consistent exit: an ETF or MCT reduction is still on the table if it's warranted on its own terms, but nothing beyond that. The CP-side investigation and consequences are covered in Trust and Safety Overview.</a:t>
            </a:r>
            <a:endParaRPr/>
          </a:p>
        </p:txBody>
      </p:sp>
      <p:sp>
        <p:nvSpPr>
          <p:cNvPr id="337" name="Google Shape;33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distinction that matters most: intent, target, and tone, not just profanity. Someone venting about a bad outcome ("this is f***ing frustrating, my place still isn't clean") hasn't done anything actionable. Someone directing insults or threats at the cleaner personally has. Swearing alone is never enough to escalate on its own. Abusive (actionable): "You're f***ing useless. If you don't fix this, you'll regret it."; "I'm going to come back there and hurt you."; repeatedly calling the cleaner names or directing profanity at them despite being asked to stop. Not abusive (don't escalate solely on this): "This is f***ing frustrating. My place still isn't clean."; "I'm really pissed about how this turned out," without insults or threats aimed at the cleaner.</a:t>
            </a:r>
            <a:endParaRPr/>
          </a:p>
        </p:txBody>
      </p:sp>
      <p:sp>
        <p:nvSpPr>
          <p:cNvPr id="364" name="Google Shape;36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 Do not attempt retention: no incentives, no persuasion to continue. 2) Explain membership and cancellation terms: clearly walk through FC details and ETF terms, factual and neutral, not an opening for negotiation. 3) Handling ETF objections: if the customer refuses to pay the ETF, an ETF or MCT reduction may still be considered using standard reduction guidelines and discretion. 4) Allowed: cancelling with applicable terms; a reduced ETF or MCT, where warranted. Not allowed: MF reductions; vouchers; credits or free months. Key principle: the priority is protecting the cleaner and enforcing the boundary, not retention. Resolutions should focus on a clean exit, consistent with policy.</a:t>
            </a:r>
            <a:endParaRPr/>
          </a:p>
        </p:txBody>
      </p:sp>
      <p:sp>
        <p:nvSpPr>
          <p:cNvPr id="380" name="Google Shape;38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9" name="Google Shape;40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Ask each question and let trainees answer before revealing. Each click reveals the next answer.</a:t>
            </a:r>
            <a:endParaRPr/>
          </a:p>
        </p:txBody>
      </p:sp>
      <p:sp>
        <p:nvSpPr>
          <p:cNvPr id="410" name="Google Shape;41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TRAINER: share a live ticket where a customer has been abusive toward a cleaner (or one that's just frustrated). Give trainees a few minutes to review it on their own, then work through it together. 1) Is it abusive? Apply the intent, target and tone test. 2) What actions are you going to take? No retention; explain FC and ETF terms neutrally; an ETF or MCT reduction only if warranted; no MF reductions, vouchers, credits or free months. 3) 5-minute writing challenge: each trainee writes a neutral, factual reply. Read a few aloud and compare. Then open the floor for questions.</a:t>
            </a:r>
            <a:endParaRPr/>
          </a:p>
        </p:txBody>
      </p:sp>
      <p:sp>
        <p:nvSpPr>
          <p:cNvPr id="442" name="Google Shape;44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 name="Google Shape;47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Duplicate Accounts. Category: Retention and Membership Cancellation. A duplicate account is when a customer has inadvertently created two separate Homeaglow accounts, resulting in two active memberships and two Membership Fee (MF) charges each cycle. The customer may or may not realize they're paying twice: sometimes they contact us confused about an unrecognized charge, sometimes they've never noticed at all.</a:t>
            </a:r>
            <a:endParaRPr/>
          </a:p>
        </p:txBody>
      </p:sp>
      <p:sp>
        <p:nvSpPr>
          <p:cNvPr id="475" name="Google Shape;47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duplicate is the account the customer isn't using. That is the test: not which is older, and not which has more paid months. If the customer is actively using both, ask which they want to keep rather than deciding for them. If the duplicate doesn't surface on the obvious search, ask for identifying information (phone number, email address, and the card used) and search on those. "I can't find a second account" is not a conclusion until you have asked. This article assumes both accounts have a triggered FC. If one account has an active FC and the other holds an unused Legacy DHJ voucher with no FC ever triggered, the refund-or-free-months choice does not apply: refund the voucher and invalidate it. The customer paid a voucher price, not a membership fee, so there's no membership on that account for a free month to extend. Refundable only within 1 year of purchase. Why this matters: it's an account-management issue with a real financial impact, not a service failure or a customer mistake. Don't apologize as if something went wrong with their cleaning, and don't treat the customer as though they should have caught it. The job: stop the duplicate charges going forward, then make the customer whole in whichever form they prefer.</a:t>
            </a:r>
            <a:endParaRPr/>
          </a:p>
        </p:txBody>
      </p:sp>
      <p:sp>
        <p:nvSpPr>
          <p:cNvPr id="506" name="Google Shape;50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4" name="Google Shape;53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Calibri"/>
                <a:ea typeface="Calibri"/>
                <a:cs typeface="Calibri"/>
                <a:sym typeface="Calibri"/>
              </a:rPr>
              <a:t>IMPORTANT: before you touch anything on the ticket, check whether the duplicate account is associated with Thumbtack. Thumbtack customers have their own handling process. How to check: Legacy CRM &gt; View &gt; Flag &gt; look for project_thumbtack. If the flag is present: reassign the ticket to the Thumbtack queue, and stop. If not: continue. Step 1, confirm the duplicate and stop it from recurring: cancel the FC membership on the duplicate account immediately, regardless of which branch applies; it stops a third charge while you sort out the rest. Cancel any upcoming appointments or recurring cleaning plan on the duplicate account too, unless the customer has given you a reason to keep them. Leave an internal note on both accounts with the ticket link or C ID of the duplicate/main account. Steps 2–3: whether the customer is paying two MFs, unaware and not contesting, or actively contesting, present the choice: refund the duplicate charges, or apply them as free months on the main account (max 3), adjusting the MCT. If they contest and choose free months, add 1 bonus month on top as a goodwill gesture; if total paid months reach 6, explain they've effectively fulfilled the MCT. If they choose a refund: no bonus month. Customer insists on a refund and rejects free months: refund the duplicate within 120 days; beyond 120 days only if the duplicate was caused by a system/agent error. Why the asymmetry: a free month costs Homeaglow far less than a refund, so the goodwill gesture comes only with the cheaper option. Tiering: count the customer's history across both accounts wherever it matters (e.g. lockout customer category): 22 paid months and 8 jobs split across two accounts = Very High-Value.</a:t>
            </a:r>
            <a:endParaRPr/>
          </a:p>
        </p:txBody>
      </p:sp>
      <p:sp>
        <p:nvSpPr>
          <p:cNvPr id="535" name="Google Shape;53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Ask each question and let trainees answer before revealing. Each click reveals the next answer.</a:t>
            </a:r>
            <a:endParaRPr/>
          </a:p>
        </p:txBody>
      </p:sp>
      <p:sp>
        <p:nvSpPr>
          <p:cNvPr id="565" name="Google Shape;565;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6" name="Google Shape;59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TRAINER: share a live ticket with a duplicate account. Give trainees a few minutes to review it on their own, then work through it together. 1) Which account is the duplicate (the one not being used)? Is there a project_thumbtack flag? Do both accounts have a triggered FC, or is one an unused DHJ voucher? 2) What actions are you going to take? Cancel the duplicate FC and any upcoming jobs/RC, leave internal notes on both accounts, then offer a refund (within 120 days) or free months (max 3, +1 bonus if contesting). 3) 5-minute writing challenge: each trainee writes the reply offering the choice. Read a few aloud and compare. Then open the floor for questions.</a:t>
            </a:r>
            <a:endParaRPr/>
          </a:p>
        </p:txBody>
      </p:sp>
      <p:sp>
        <p:nvSpPr>
          <p:cNvPr id="597" name="Google Shape;59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Bulk MF Charges. Category: Retention and Membership Cancellation. Bulk charges happen when a customer's ForeverClean (FC) monthly fee has been overdue for multiple billing cycles, and a payment attempt finally goes through. Instead of billing one overdue month at a time, the system charges all the past-due months in a single transaction.</a:t>
            </a:r>
            <a:endParaRPr/>
          </a:p>
        </p:txBody>
      </p:sp>
      <p:sp>
        <p:nvSpPr>
          <p:cNvPr id="630" name="Google Shape;630;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Calibri"/>
                <a:ea typeface="Calibri"/>
                <a:cs typeface="Calibri"/>
                <a:sym typeface="Calibri"/>
              </a:rPr>
              <a:t>Bulk charges happen when a customer's ForeverClean (FC) monthly fee has been overdue for multiple billing cycles, and a payment attempt finally goes through. Instead of billing one overdue month at a time, the system charges all the past-due months in a single transaction. The customer ends up seeing several MF charges posted on the same day or within the same month: each one for a different month they missed, not a duplicate of the same charge. Screenshot (sample Payment history): four $59 MF charges on Oct 1, each with a different foreverclean_paid_through date (1/27, 2/27, 3/27, 4/27): four missed months, not duplicates. This applies to both DHJ and FCF memberships. Since September 12, 2024, the system no longer auto-issues free months to true up overdue accounts, so the proactive true-up (Branch A) falls to agents. A wall of same-day charges reads as a billing error to the customer, even when every dollar was owed. Your job is to figure out whether the customer got real value for those months (using the service, or didn't know they were billed) and let that drive how much you fix. Three reasons it reaches you: A) FC overdue, but that's not why C wrote in; B) FC already cancelled and C wants a refund; C) FC active and C wants to cancel because of the bulk charge.</a:t>
            </a:r>
            <a:endParaRPr/>
          </a:p>
        </p:txBody>
      </p:sp>
      <p:sp>
        <p:nvSpPr>
          <p:cNvPr id="661" name="Google Shape;661;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4" name="Google Shape;694;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Branch A: FC is overdue, but that's not why the customer's writing in. Pure housekeeping: you spotted an overdue FC while working an unrelated ticket, and you want to head off a bulk charge. Overdue by 1 MF, next charge due in 7 days or less: issue 1 free month so the customer doesn't get hit with two MF charges close together. Overdue by 1 MF, next charge more than 7 days out: no action needed. Overdue by 2+ MFs: issue free months/weeks to bring the paid-through date current. "Current" means current as of the billing anchor, not as of today. MF billing runs on a fixed day of the month, so true-up months move the paid-through date to the last missed anchor; they don't stretch to cover the gap between that anchor and today. Worked example: today is Aug 24. MF bills on the 10th. The customer is overdue by 2 months (the July 10 and Aug 10 charges failed). Paid-through is currently June 10. Add 2 free months: paid-through moves to Aug 10, next MF due Sept 10.</a:t>
            </a:r>
            <a:endParaRPr/>
          </a:p>
        </p:txBody>
      </p:sp>
      <p:sp>
        <p:nvSpPr>
          <p:cNvPr id="695" name="Google Shape;695;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9" name="Google Shape;71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Branch B: ForeverClean is already cancelled, and the customer wants a refund for the bulk charge. This is just the standard refund policy, nothing bulk-charge-specific: unused MF charges beyond MCT, made within the past 120 days, are refundable. See MF &amp; ETF Refund Requests for the full nuance (system-error exceptions, high-dispute-risk overrides, etc.). Branch C: FC is still active, and the bulk charge is why the customer wants to cancel. First, check whether the account is still overdue even after the bulk charge landed, then check MCT status, because that determines save mode or exit mode. Beyond MCT: the ETF doesn't apply; the customer is free to leave. The only question is whether it's worth trying to keep them and what they're owed either way. The free-month offer isn't a discount: it gives back value for months they already paid for and can't use anymore. The $20 credit is a separate, bulk-charge-specific incentive to get them back in for a cleaning. Within MCT: the ETF applies, and the retention attempt happens first. If it doesn't land, the exit path branches on the membership model: FCF customers who haven't had a first cleaning have no ETF at all (FCF's ETF only kicks in after the first completed cleaning). For everyone else, apply whichever option costs the customer less: crediting the unused bulk MFs against the ETF, or reducing the MCT.</a:t>
            </a:r>
            <a:endParaRPr/>
          </a:p>
        </p:txBody>
      </p:sp>
      <p:sp>
        <p:nvSpPr>
          <p:cNvPr id="720" name="Google Shape;72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 practice these two levers usually aren't interchangeable: MCT reduction is capped at 2 months, and only usable when that reduction is cheaper than a reduced ETF. So the comparison only really matters when the customer is close to the end of their term, where it's usually more cost-effective to keep the membership at a reduced MCT than to pay a reduced ETF. Otherwise, the ETF reduction is the only lever that applies. Worked example: the customer has 1 month left on MCT, owes a $150 ETF, and has $100 in unused bulk MFs to credit. ETF credit path: $100 credit, $50 ETF still owed. MCT reduction path: reduce the last month, MCT complete, ETF waived entirely, $0 owed. MCT reduction wins here. Run this comparison whenever the customer is close to the end of their term; don't default to the ETF credit just because it's the more familiar move.</a:t>
            </a:r>
            <a:endParaRPr/>
          </a:p>
        </p:txBody>
      </p:sp>
      <p:sp>
        <p:nvSpPr>
          <p:cNvPr id="739" name="Google Shape;739;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5" name="Google Shape;76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Ask each question and let trainees answer before revealing. Each click reveals the next answer.</a:t>
            </a:r>
            <a:endParaRPr/>
          </a:p>
        </p:txBody>
      </p:sp>
      <p:sp>
        <p:nvSpPr>
          <p:cNvPr id="766" name="Google Shape;76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7" name="Google Shape;79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TRAINER: share a live ticket with a bulk MF charge (or an overdue FC). Give trainees a few minutes to review it on their own, then work through it together. 1) Which branch is it: A (overdue, not why C wrote in), B (FC already cancelled, wants a refund) or C (FC active, wants to cancel because of the bulk charge)? Is the account still overdue? Within or beyond MCT? 2) What actions are you going to take? Branch A: true up to the last missed anchor. Branch B: standard refund policy. Branch C: beyond MCT, free months for the paid unusable months + $20 credit; within MCT, retention first, then the cheaper of an ETF credit or an MCT reduction (FCF with no first cleaning: no ETF). 3) 5-minute writing challenge: each trainee explains the charges and the offer. Read a few aloud and compare. Then open the floor for questions.</a:t>
            </a:r>
            <a:endParaRPr/>
          </a:p>
        </p:txBody>
      </p:sp>
      <p:sp>
        <p:nvSpPr>
          <p:cNvPr id="798" name="Google Shape;79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 name="Google Shape;830;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Close the module. Recap: MF &amp; ETF Refund Requests (root cause drives the decision; eligible means free months first if FC is active and C is retainable; the MCT test and the 120-day/disputable rule; billing errors and agent errors are refunded directly; high-risk and hardship cases). Customer Abusive Behavior (intent, target, tone; no retention; neutral terms; only an ETF or MCT reduction where warranted). Duplicate Accounts (the duplicate is the one not being used; Thumbtack flag first; cancel the duplicate FC; refund within 120 days or free months, max 3, +1 bonus if contesting). Bulk Charges (each charge is a different missed month; Branch A true-up to the last anchor; Branch B standard refund policy; Branch C save or exit mode by MCT, compare ETF credit vs MCT reduction).</a:t>
            </a:r>
            <a:endParaRPr/>
          </a:p>
        </p:txBody>
      </p:sp>
      <p:sp>
        <p:nvSpPr>
          <p:cNvPr id="831" name="Google Shape;831;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solidFill>
          <a:srgbClr val="F6F7F9"/>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6F7F9"/>
        </a:solidFill>
      </p:bgPr>
    </p:bg>
    <p:spTree>
      <p:nvGrpSpPr>
        <p:cNvPr id="12" name="Shape 12"/>
        <p:cNvGrpSpPr/>
        <p:nvPr/>
      </p:nvGrpSpPr>
      <p:grpSpPr>
        <a:xfrm>
          <a:off x="0" y="0"/>
          <a:ext cx="0" cy="0"/>
          <a:chOff x="0" y="0"/>
          <a:chExt cx="0" cy="0"/>
        </a:xfrm>
      </p:grpSpPr>
      <p:sp>
        <p:nvSpPr>
          <p:cNvPr id="13" name="Google Shape;13;p3"/>
          <p:cNvSpPr/>
          <p:nvPr/>
        </p:nvSpPr>
        <p:spPr>
          <a:xfrm>
            <a:off x="438912" y="4800600"/>
            <a:ext cx="36576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700"/>
              <a:buFont typeface="Arial"/>
              <a:buNone/>
            </a:pPr>
            <a:r>
              <a:rPr b="0" i="0" lang="en-US" spc="0" sz="700" u="none" cap="none" strike="noStrike">
                <a:solidFill>
                  <a:srgbClr val="6E6E73"/>
                </a:solidFill>
                <a:latin typeface="Arial"/>
                <a:ea typeface="Arial"/>
                <a:cs typeface="Arial"/>
                <a:sym typeface="Arial"/>
              </a:rPr>
              <a:t>Homeaglow  ·  New Hire Care Training</a:t>
            </a:r>
            <a:endParaRPr b="0" i="0" spc="0" sz="700" u="none" cap="none" strike="noStrike">
              <a:solidFill>
                <a:schemeClr val="dk1"/>
              </a:solidFill>
              <a:latin typeface="Calibri"/>
              <a:ea typeface="Calibri"/>
              <a:cs typeface="Calibri"/>
              <a:sym typeface="Calibri"/>
            </a:endParaRPr>
          </a:p>
        </p:txBody>
      </p:sp>
      <p:sp>
        <p:nvSpPr>
          <p:cNvPr id="14" name="Google Shape;14;p3"/>
          <p:cNvSpPr txBox="1"/>
          <p:nvPr>
            <p:ph idx="12"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1" Type="http://schemas.openxmlformats.org/officeDocument/2006/relationships/slide" Target="/ppt/slides/slide19.xml"/><Relationship Id="rId10" Type="http://schemas.openxmlformats.org/officeDocument/2006/relationships/slide" Target="/ppt/slides/slide19.xml"/><Relationship Id="rId13" Type="http://schemas.openxmlformats.org/officeDocument/2006/relationships/slide" Target="/ppt/slides/slide24.xml"/><Relationship Id="rId12" Type="http://schemas.openxmlformats.org/officeDocument/2006/relationships/slide" Target="/ppt/slides/slide24.xml"/><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ppt/slides/slide3.xml"/><Relationship Id="rId4" Type="http://schemas.openxmlformats.org/officeDocument/2006/relationships/slide" Target="/ppt/slides/slide3.xml"/><Relationship Id="rId9" Type="http://schemas.openxmlformats.org/officeDocument/2006/relationships/slide" Target="/ppt/slides/slide19.xml"/><Relationship Id="rId14" Type="http://schemas.openxmlformats.org/officeDocument/2006/relationships/slide" Target="/ppt/slides/slide24.xml"/><Relationship Id="rId5" Type="http://schemas.openxmlformats.org/officeDocument/2006/relationships/slide" Target="/ppt/slides/slide3.xml"/><Relationship Id="rId6" Type="http://schemas.openxmlformats.org/officeDocument/2006/relationships/slide" Target="/ppt/slides/slide13.xml"/><Relationship Id="rId7" Type="http://schemas.openxmlformats.org/officeDocument/2006/relationships/slide" Target="/ppt/slides/slide13.xml"/><Relationship Id="rId8" Type="http://schemas.openxmlformats.org/officeDocument/2006/relationships/slide" Target="/ppt/slides/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slide" Target="/ppt/slid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4.png"/><Relationship Id="rId5" Type="http://schemas.openxmlformats.org/officeDocument/2006/relationships/image" Target="../media/image24.png"/><Relationship Id="rId6"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5.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5.png"/><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 name="Shape 20"/>
        <p:cNvGrpSpPr/>
        <p:nvPr/>
      </p:nvGrpSpPr>
      <p:grpSpPr>
        <a:xfrm>
          <a:off x="0" y="0"/>
          <a:ext cx="0" cy="0"/>
          <a:chOff x="0" y="0"/>
          <a:chExt cx="0" cy="0"/>
        </a:xfrm>
      </p:grpSpPr>
      <p:sp>
        <p:nvSpPr>
          <p:cNvPr id="21" name="Google Shape;21;p5"/>
          <p:cNvSpPr txBox="1"/>
          <p:nvPr/>
        </p:nvSpPr>
        <p:spPr>
          <a:xfrm>
            <a:off x="566928" y="548640"/>
            <a:ext cx="4572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HOMEAGLOW  ·  NEW HIRE CARE TRAINING</a:t>
            </a:r>
            <a:endParaRPr b="0" i="0" spc="0" sz="800" u="none" cap="none" strike="noStrike">
              <a:solidFill>
                <a:schemeClr val="dk1"/>
              </a:solidFill>
              <a:latin typeface="Calibri"/>
              <a:ea typeface="Calibri"/>
              <a:cs typeface="Calibri"/>
              <a:sym typeface="Calibri"/>
            </a:endParaRPr>
          </a:p>
        </p:txBody>
      </p:sp>
      <p:sp>
        <p:nvSpPr>
          <p:cNvPr id="22" name="Google Shape;22;p5"/>
          <p:cNvSpPr txBox="1"/>
          <p:nvPr/>
        </p:nvSpPr>
        <p:spPr>
          <a:xfrm>
            <a:off x="566928" y="868680"/>
            <a:ext cx="4480560"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000"/>
              <a:buFont typeface="Play"/>
              <a:buNone/>
            </a:pPr>
            <a:r>
              <a:rPr b="1" i="0" lang="en-US" spc="0" sz="3000" u="none" cap="none" strike="noStrike">
                <a:solidFill>
                  <a:srgbClr val="1D1D1F"/>
                </a:solidFill>
                <a:latin typeface="Play"/>
                <a:ea typeface="Play"/>
                <a:cs typeface="Play"/>
                <a:sym typeface="Play"/>
              </a:rPr>
              <a:t>Refunds, Abuse,</a:t>
            </a:r>
            <a:endParaRPr b="0" i="0" spc="0" sz="3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3000"/>
              <a:buFont typeface="Play"/>
              <a:buNone/>
            </a:pPr>
            <a:r>
              <a:rPr b="1" i="0" lang="en-US" spc="0" sz="3000" u="none" cap="none" strike="noStrike">
                <a:solidFill>
                  <a:srgbClr val="1D1D1F"/>
                </a:solidFill>
                <a:latin typeface="Play"/>
                <a:ea typeface="Play"/>
                <a:cs typeface="Play"/>
                <a:sym typeface="Play"/>
              </a:rPr>
              <a:t>Duplicates &amp;</a:t>
            </a:r>
            <a:endParaRPr b="0" i="0" spc="0" sz="3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3000"/>
              <a:buFont typeface="Play"/>
              <a:buNone/>
            </a:pPr>
            <a:r>
              <a:rPr b="1" i="0" lang="en-US" spc="0" sz="3000" u="none" cap="none" strike="noStrike">
                <a:solidFill>
                  <a:srgbClr val="1D1D1F"/>
                </a:solidFill>
                <a:latin typeface="Play"/>
                <a:ea typeface="Play"/>
                <a:cs typeface="Play"/>
                <a:sym typeface="Play"/>
              </a:rPr>
              <a:t>Bulk Charges</a:t>
            </a:r>
            <a:endParaRPr b="0" i="0" spc="0" sz="3000" u="none" cap="none" strike="noStrike">
              <a:solidFill>
                <a:schemeClr val="dk1"/>
              </a:solidFill>
              <a:latin typeface="Calibri"/>
              <a:ea typeface="Calibri"/>
              <a:cs typeface="Calibri"/>
              <a:sym typeface="Calibri"/>
            </a:endParaRPr>
          </a:p>
        </p:txBody>
      </p:sp>
      <p:sp>
        <p:nvSpPr>
          <p:cNvPr id="23" name="Google Shape;23;p5"/>
          <p:cNvSpPr txBox="1"/>
          <p:nvPr/>
        </p:nvSpPr>
        <p:spPr>
          <a:xfrm>
            <a:off x="566928" y="2468880"/>
            <a:ext cx="420624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50"/>
              <a:buFont typeface="Arial"/>
              <a:buNone/>
            </a:pPr>
            <a:r>
              <a:rPr b="0" i="0" lang="en-US" spc="0" sz="1250" u="none" cap="none" strike="noStrike">
                <a:solidFill>
                  <a:srgbClr val="6E6E73"/>
                </a:solidFill>
                <a:latin typeface="Arial"/>
                <a:ea typeface="Arial"/>
                <a:cs typeface="Arial"/>
                <a:sym typeface="Arial"/>
              </a:rPr>
              <a:t>MF and ETF refund requests, abusive customers, duplicate accounts and bulk MF charges.</a:t>
            </a:r>
            <a:endParaRPr b="0" i="0" spc="0" sz="1250" u="none" cap="none" strike="noStrike">
              <a:solidFill>
                <a:schemeClr val="dk1"/>
              </a:solidFill>
              <a:latin typeface="Calibri"/>
              <a:ea typeface="Calibri"/>
              <a:cs typeface="Calibri"/>
              <a:sym typeface="Calibri"/>
            </a:endParaRPr>
          </a:p>
        </p:txBody>
      </p:sp>
      <p:sp>
        <p:nvSpPr>
          <p:cNvPr id="24" name="Google Shape;24;p5"/>
          <p:cNvSpPr txBox="1"/>
          <p:nvPr/>
        </p:nvSpPr>
        <p:spPr>
          <a:xfrm>
            <a:off x="566928" y="4572000"/>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700"/>
              <a:buFont typeface="Arial"/>
              <a:buNone/>
            </a:pPr>
            <a:r>
              <a:rPr b="0" i="0" lang="en-US" spc="0" sz="700" u="none" cap="none" strike="noStrike">
                <a:solidFill>
                  <a:srgbClr val="6E6E73"/>
                </a:solidFill>
                <a:latin typeface="Arial"/>
                <a:ea typeface="Arial"/>
                <a:cs typeface="Arial"/>
                <a:sym typeface="Arial"/>
              </a:rPr>
              <a:t>Internal training material</a:t>
            </a:r>
            <a:endParaRPr b="0" i="0" spc="0" sz="700" u="none" cap="none" strike="noStrike">
              <a:solidFill>
                <a:schemeClr val="dk1"/>
              </a:solidFill>
              <a:latin typeface="Calibri"/>
              <a:ea typeface="Calibri"/>
              <a:cs typeface="Calibri"/>
              <a:sym typeface="Calibri"/>
            </a:endParaRPr>
          </a:p>
        </p:txBody>
      </p:sp>
      <p:sp>
        <p:nvSpPr>
          <p:cNvPr id="25" name="Google Shape;25;p5"/>
          <p:cNvSpPr/>
          <p:nvPr/>
        </p:nvSpPr>
        <p:spPr>
          <a:xfrm>
            <a:off x="5312664" y="365760"/>
            <a:ext cx="3383280" cy="4407408"/>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 name="Google Shape;26;p5"/>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9/ill6.png" id="27" name="Google Shape;27;p5"/>
          <p:cNvPicPr preferRelativeResize="0"/>
          <p:nvPr/>
        </p:nvPicPr>
        <p:blipFill rotWithShape="1">
          <a:blip r:embed="rId3">
            <a:alphaModFix/>
          </a:blip>
          <a:srcRect b="0" l="0" r="0" t="0"/>
          <a:stretch/>
        </p:blipFill>
        <p:spPr>
          <a:xfrm>
            <a:off x="5541264" y="1632461"/>
            <a:ext cx="2926080" cy="1874006"/>
          </a:xfrm>
          <a:prstGeom prst="rect">
            <a:avLst/>
          </a:prstGeom>
          <a:noFill/>
          <a:ln>
            <a:noFill/>
          </a:ln>
        </p:spPr>
      </p:pic>
      <p:sp>
        <p:nvSpPr>
          <p:cNvPr id="28" name="Google Shape;28;p5"/>
          <p:cNvSpPr/>
          <p:nvPr/>
        </p:nvSpPr>
        <p:spPr>
          <a:xfrm>
            <a:off x="5522976" y="566928"/>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 name="Google Shape;29;p5"/>
          <p:cNvSpPr/>
          <p:nvPr/>
        </p:nvSpPr>
        <p:spPr>
          <a:xfrm>
            <a:off x="5646420" y="690372"/>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 name="Google Shape;30;p5"/>
          <p:cNvSpPr/>
          <p:nvPr/>
        </p:nvSpPr>
        <p:spPr>
          <a:xfrm>
            <a:off x="8193024" y="566928"/>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 name="Google Shape;31;p5"/>
          <p:cNvSpPr/>
          <p:nvPr/>
        </p:nvSpPr>
        <p:spPr>
          <a:xfrm>
            <a:off x="8316468" y="690372"/>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 name="Google Shape;32;p5"/>
          <p:cNvSpPr/>
          <p:nvPr/>
        </p:nvSpPr>
        <p:spPr>
          <a:xfrm>
            <a:off x="8193024" y="4242816"/>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 name="Google Shape;33;p5"/>
          <p:cNvSpPr/>
          <p:nvPr/>
        </p:nvSpPr>
        <p:spPr>
          <a:xfrm>
            <a:off x="8316468" y="4366260"/>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OVERVIEW</a:t>
            </a:r>
            <a:endParaRPr b="0" i="0" spc="0" sz="800" u="none" cap="none" strike="noStrike">
              <a:solidFill>
                <a:schemeClr val="dk1"/>
              </a:solidFill>
              <a:latin typeface="Calibri"/>
              <a:ea typeface="Calibri"/>
              <a:cs typeface="Calibri"/>
              <a:sym typeface="Calibri"/>
            </a:endParaRPr>
          </a:p>
        </p:txBody>
      </p:sp>
      <p:sp>
        <p:nvSpPr>
          <p:cNvPr id="40" name="Google Shape;40;p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Agenda</a:t>
            </a:r>
            <a:endParaRPr b="0" i="0" spc="0" sz="2400" u="none" cap="none" strike="noStrike">
              <a:solidFill>
                <a:schemeClr val="dk1"/>
              </a:solidFill>
              <a:latin typeface="Calibri"/>
              <a:ea typeface="Calibri"/>
              <a:cs typeface="Calibri"/>
              <a:sym typeface="Calibri"/>
            </a:endParaRPr>
          </a:p>
        </p:txBody>
      </p:sp>
      <p:sp>
        <p:nvSpPr>
          <p:cNvPr id="41" name="Google Shape;41;p6"/>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Four topics. Click a topic to jump to it.</a:t>
            </a:r>
            <a:endParaRPr b="0" i="0" spc="0" sz="1200" u="none" cap="none" strike="noStrike">
              <a:solidFill>
                <a:schemeClr val="dk1"/>
              </a:solidFill>
              <a:latin typeface="Calibri"/>
              <a:ea typeface="Calibri"/>
              <a:cs typeface="Calibri"/>
              <a:sym typeface="Calibri"/>
            </a:endParaRPr>
          </a:p>
        </p:txBody>
      </p:sp>
      <p:sp>
        <p:nvSpPr>
          <p:cNvPr id="42" name="Google Shape;42;p6">
            <a:hlinkClick action="ppaction://hlinksldjump" r:id="rId3"/>
          </p:cNvPr>
          <p:cNvSpPr/>
          <p:nvPr/>
        </p:nvSpPr>
        <p:spPr>
          <a:xfrm>
            <a:off x="411480" y="1325880"/>
            <a:ext cx="4091940" cy="1097280"/>
          </a:xfrm>
          <a:prstGeom prst="roundRect">
            <a:avLst>
              <a:gd fmla="val 5000" name="adj"/>
            </a:avLst>
          </a:prstGeom>
          <a:solidFill>
            <a:srgbClr val="FFFFFF"/>
          </a:solidFill>
          <a:ln cap="flat" cmpd="sng" w="9525">
            <a:solidFill>
              <a:srgbClr val="DCE1E7"/>
            </a:solidFill>
            <a:prstDash val="solid"/>
            <a:round/>
            <a:headEnd len="sm" w="sm" type="none"/>
            <a:tailEnd len="sm" w="sm" type="none"/>
          </a:ln>
        </p:spPr>
        <p:txBody>
          <a:bodyPr anchorCtr="0" anchor="ctr" bIns="0" lIns="711200" spcFirstLastPara="1" rIns="38100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US" spc="0" sz="1300" u="none" cap="none" strike="noStrike">
                <a:solidFill>
                  <a:srgbClr val="1D1D1F"/>
                </a:solidFill>
                <a:latin typeface="Play"/>
                <a:ea typeface="Play"/>
                <a:cs typeface="Play"/>
                <a:sym typeface="Play"/>
              </a:rPr>
              <a:t>MF &amp; ETF Refund Requests</a:t>
            </a:r>
            <a:endParaRPr b="0" i="0" spc="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The root cause drives the decision.</a:t>
            </a:r>
            <a:endParaRPr b="0" i="0" spc="0" sz="1300" u="none" cap="none" strike="noStrike">
              <a:solidFill>
                <a:schemeClr val="dk1"/>
              </a:solidFill>
              <a:latin typeface="Calibri"/>
              <a:ea typeface="Calibri"/>
              <a:cs typeface="Calibri"/>
              <a:sym typeface="Calibri"/>
            </a:endParaRPr>
          </a:p>
        </p:txBody>
      </p:sp>
      <p:sp>
        <p:nvSpPr>
          <p:cNvPr id="43" name="Google Shape;43;p6">
            <a:hlinkClick action="ppaction://hlinksldjump" r:id="rId4"/>
          </p:cNvPr>
          <p:cNvSpPr/>
          <p:nvPr/>
        </p:nvSpPr>
        <p:spPr>
          <a:xfrm>
            <a:off x="502920" y="1325880"/>
            <a:ext cx="502920" cy="10972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7A6F"/>
              </a:buClr>
              <a:buSzPts val="1600"/>
              <a:buFont typeface="Play"/>
              <a:buNone/>
            </a:pPr>
            <a:r>
              <a:rPr b="1" i="0" lang="en-US" spc="0" sz="1600" u="none" cap="none" strike="noStrike">
                <a:solidFill>
                  <a:srgbClr val="0B7A6F"/>
                </a:solidFill>
                <a:latin typeface="Play"/>
                <a:ea typeface="Play"/>
                <a:cs typeface="Play"/>
                <a:sym typeface="Play"/>
              </a:rPr>
              <a:t>01</a:t>
            </a:r>
            <a:endParaRPr b="0" i="0" spc="0" sz="1600" u="none" cap="none" strike="noStrike">
              <a:solidFill>
                <a:schemeClr val="dk1"/>
              </a:solidFill>
              <a:latin typeface="Calibri"/>
              <a:ea typeface="Calibri"/>
              <a:cs typeface="Calibri"/>
              <a:sym typeface="Calibri"/>
            </a:endParaRPr>
          </a:p>
        </p:txBody>
      </p:sp>
      <p:sp>
        <p:nvSpPr>
          <p:cNvPr id="44" name="Google Shape;44;p6">
            <a:hlinkClick action="ppaction://hlinksldjump" r:id="rId5"/>
          </p:cNvPr>
          <p:cNvSpPr/>
          <p:nvPr/>
        </p:nvSpPr>
        <p:spPr>
          <a:xfrm>
            <a:off x="4119372" y="1325880"/>
            <a:ext cx="320040" cy="10972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7A6F"/>
              </a:buClr>
              <a:buSzPts val="2000"/>
              <a:buFont typeface="Play"/>
              <a:buNone/>
            </a:pPr>
            <a:r>
              <a:rPr b="1" i="0" lang="en-US" spc="0" sz="2000" u="none" cap="none" strike="noStrike">
                <a:solidFill>
                  <a:srgbClr val="0B7A6F"/>
                </a:solidFill>
                <a:latin typeface="Play"/>
                <a:ea typeface="Play"/>
                <a:cs typeface="Play"/>
                <a:sym typeface="Play"/>
              </a:rPr>
              <a:t>›</a:t>
            </a:r>
            <a:endParaRPr b="0" i="0" spc="0" sz="2000" u="none" cap="none" strike="noStrike">
              <a:solidFill>
                <a:schemeClr val="dk1"/>
              </a:solidFill>
              <a:latin typeface="Calibri"/>
              <a:ea typeface="Calibri"/>
              <a:cs typeface="Calibri"/>
              <a:sym typeface="Calibri"/>
            </a:endParaRPr>
          </a:p>
        </p:txBody>
      </p:sp>
      <p:sp>
        <p:nvSpPr>
          <p:cNvPr id="45" name="Google Shape;45;p6">
            <a:hlinkClick action="ppaction://hlinksldjump" r:id="rId6"/>
          </p:cNvPr>
          <p:cNvSpPr/>
          <p:nvPr/>
        </p:nvSpPr>
        <p:spPr>
          <a:xfrm>
            <a:off x="4640580" y="1325880"/>
            <a:ext cx="4091940" cy="1097280"/>
          </a:xfrm>
          <a:prstGeom prst="roundRect">
            <a:avLst>
              <a:gd fmla="val 5000" name="adj"/>
            </a:avLst>
          </a:prstGeom>
          <a:solidFill>
            <a:srgbClr val="FFFFFF"/>
          </a:solidFill>
          <a:ln cap="flat" cmpd="sng" w="9525">
            <a:solidFill>
              <a:srgbClr val="DCE1E7"/>
            </a:solidFill>
            <a:prstDash val="solid"/>
            <a:round/>
            <a:headEnd len="sm" w="sm" type="none"/>
            <a:tailEnd len="sm" w="sm" type="none"/>
          </a:ln>
        </p:spPr>
        <p:txBody>
          <a:bodyPr anchorCtr="0" anchor="ctr" bIns="0" lIns="711200" spcFirstLastPara="1" rIns="38100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US" spc="0" sz="1300" u="none" cap="none" strike="noStrike">
                <a:solidFill>
                  <a:srgbClr val="1D1D1F"/>
                </a:solidFill>
                <a:latin typeface="Play"/>
                <a:ea typeface="Play"/>
                <a:cs typeface="Play"/>
                <a:sym typeface="Play"/>
              </a:rPr>
              <a:t>Customer Abusive Behavior</a:t>
            </a:r>
            <a:endParaRPr b="0" i="0" spc="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Protect the CP. No retention, a fair exit.</a:t>
            </a:r>
            <a:endParaRPr b="0" i="0" spc="0" sz="1300" u="none" cap="none" strike="noStrike">
              <a:solidFill>
                <a:schemeClr val="dk1"/>
              </a:solidFill>
              <a:latin typeface="Calibri"/>
              <a:ea typeface="Calibri"/>
              <a:cs typeface="Calibri"/>
              <a:sym typeface="Calibri"/>
            </a:endParaRPr>
          </a:p>
        </p:txBody>
      </p:sp>
      <p:sp>
        <p:nvSpPr>
          <p:cNvPr id="46" name="Google Shape;46;p6">
            <a:hlinkClick action="ppaction://hlinksldjump" r:id="rId7"/>
          </p:cNvPr>
          <p:cNvSpPr/>
          <p:nvPr/>
        </p:nvSpPr>
        <p:spPr>
          <a:xfrm>
            <a:off x="4732020" y="1325880"/>
            <a:ext cx="502920" cy="10972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7A6F"/>
              </a:buClr>
              <a:buSzPts val="1600"/>
              <a:buFont typeface="Play"/>
              <a:buNone/>
            </a:pPr>
            <a:r>
              <a:rPr b="1" i="0" lang="en-US" spc="0" sz="1600" u="none" cap="none" strike="noStrike">
                <a:solidFill>
                  <a:srgbClr val="0B7A6F"/>
                </a:solidFill>
                <a:latin typeface="Play"/>
                <a:ea typeface="Play"/>
                <a:cs typeface="Play"/>
                <a:sym typeface="Play"/>
              </a:rPr>
              <a:t>02</a:t>
            </a:r>
            <a:endParaRPr b="0" i="0" spc="0" sz="1600" u="none" cap="none" strike="noStrike">
              <a:solidFill>
                <a:schemeClr val="dk1"/>
              </a:solidFill>
              <a:latin typeface="Calibri"/>
              <a:ea typeface="Calibri"/>
              <a:cs typeface="Calibri"/>
              <a:sym typeface="Calibri"/>
            </a:endParaRPr>
          </a:p>
        </p:txBody>
      </p:sp>
      <p:sp>
        <p:nvSpPr>
          <p:cNvPr id="47" name="Google Shape;47;p6">
            <a:hlinkClick action="ppaction://hlinksldjump" r:id="rId8"/>
          </p:cNvPr>
          <p:cNvSpPr/>
          <p:nvPr/>
        </p:nvSpPr>
        <p:spPr>
          <a:xfrm>
            <a:off x="8348472" y="1325880"/>
            <a:ext cx="320040" cy="10972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7A6F"/>
              </a:buClr>
              <a:buSzPts val="2000"/>
              <a:buFont typeface="Play"/>
              <a:buNone/>
            </a:pPr>
            <a:r>
              <a:rPr b="1" i="0" lang="en-US" spc="0" sz="2000" u="none" cap="none" strike="noStrike">
                <a:solidFill>
                  <a:srgbClr val="0B7A6F"/>
                </a:solidFill>
                <a:latin typeface="Play"/>
                <a:ea typeface="Play"/>
                <a:cs typeface="Play"/>
                <a:sym typeface="Play"/>
              </a:rPr>
              <a:t>›</a:t>
            </a:r>
            <a:endParaRPr b="0" i="0" spc="0" sz="2000" u="none" cap="none" strike="noStrike">
              <a:solidFill>
                <a:schemeClr val="dk1"/>
              </a:solidFill>
              <a:latin typeface="Calibri"/>
              <a:ea typeface="Calibri"/>
              <a:cs typeface="Calibri"/>
              <a:sym typeface="Calibri"/>
            </a:endParaRPr>
          </a:p>
        </p:txBody>
      </p:sp>
      <p:sp>
        <p:nvSpPr>
          <p:cNvPr id="48" name="Google Shape;48;p6">
            <a:hlinkClick action="ppaction://hlinksldjump" r:id="rId9"/>
          </p:cNvPr>
          <p:cNvSpPr/>
          <p:nvPr/>
        </p:nvSpPr>
        <p:spPr>
          <a:xfrm>
            <a:off x="411480" y="2560320"/>
            <a:ext cx="4091940" cy="1097280"/>
          </a:xfrm>
          <a:prstGeom prst="roundRect">
            <a:avLst>
              <a:gd fmla="val 5000" name="adj"/>
            </a:avLst>
          </a:prstGeom>
          <a:solidFill>
            <a:srgbClr val="FFFFFF"/>
          </a:solidFill>
          <a:ln cap="flat" cmpd="sng" w="9525">
            <a:solidFill>
              <a:srgbClr val="DCE1E7"/>
            </a:solidFill>
            <a:prstDash val="solid"/>
            <a:round/>
            <a:headEnd len="sm" w="sm" type="none"/>
            <a:tailEnd len="sm" w="sm" type="none"/>
          </a:ln>
        </p:spPr>
        <p:txBody>
          <a:bodyPr anchorCtr="0" anchor="ctr" bIns="0" lIns="711200" spcFirstLastPara="1" rIns="38100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US" spc="0" sz="1300" u="none" cap="none" strike="noStrike">
                <a:solidFill>
                  <a:srgbClr val="1D1D1F"/>
                </a:solidFill>
                <a:latin typeface="Play"/>
                <a:ea typeface="Play"/>
                <a:cs typeface="Play"/>
                <a:sym typeface="Play"/>
              </a:rPr>
              <a:t>Duplicate Accounts</a:t>
            </a:r>
            <a:endParaRPr b="0" i="0" spc="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Stop the double charge, then make them whole.</a:t>
            </a:r>
            <a:endParaRPr b="0" i="0" spc="0" sz="1300" u="none" cap="none" strike="noStrike">
              <a:solidFill>
                <a:schemeClr val="dk1"/>
              </a:solidFill>
              <a:latin typeface="Calibri"/>
              <a:ea typeface="Calibri"/>
              <a:cs typeface="Calibri"/>
              <a:sym typeface="Calibri"/>
            </a:endParaRPr>
          </a:p>
        </p:txBody>
      </p:sp>
      <p:sp>
        <p:nvSpPr>
          <p:cNvPr id="49" name="Google Shape;49;p6">
            <a:hlinkClick action="ppaction://hlinksldjump" r:id="rId10"/>
          </p:cNvPr>
          <p:cNvSpPr/>
          <p:nvPr/>
        </p:nvSpPr>
        <p:spPr>
          <a:xfrm>
            <a:off x="502920" y="2560320"/>
            <a:ext cx="502920" cy="10972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7A6F"/>
              </a:buClr>
              <a:buSzPts val="1600"/>
              <a:buFont typeface="Play"/>
              <a:buNone/>
            </a:pPr>
            <a:r>
              <a:rPr b="1" i="0" lang="en-US" spc="0" sz="1600" u="none" cap="none" strike="noStrike">
                <a:solidFill>
                  <a:srgbClr val="0B7A6F"/>
                </a:solidFill>
                <a:latin typeface="Play"/>
                <a:ea typeface="Play"/>
                <a:cs typeface="Play"/>
                <a:sym typeface="Play"/>
              </a:rPr>
              <a:t>03</a:t>
            </a:r>
            <a:endParaRPr b="0" i="0" spc="0" sz="1600" u="none" cap="none" strike="noStrike">
              <a:solidFill>
                <a:schemeClr val="dk1"/>
              </a:solidFill>
              <a:latin typeface="Calibri"/>
              <a:ea typeface="Calibri"/>
              <a:cs typeface="Calibri"/>
              <a:sym typeface="Calibri"/>
            </a:endParaRPr>
          </a:p>
        </p:txBody>
      </p:sp>
      <p:sp>
        <p:nvSpPr>
          <p:cNvPr id="50" name="Google Shape;50;p6">
            <a:hlinkClick action="ppaction://hlinksldjump" r:id="rId11"/>
          </p:cNvPr>
          <p:cNvSpPr/>
          <p:nvPr/>
        </p:nvSpPr>
        <p:spPr>
          <a:xfrm>
            <a:off x="4119372" y="2560320"/>
            <a:ext cx="320040" cy="10972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7A6F"/>
              </a:buClr>
              <a:buSzPts val="2000"/>
              <a:buFont typeface="Play"/>
              <a:buNone/>
            </a:pPr>
            <a:r>
              <a:rPr b="1" i="0" lang="en-US" spc="0" sz="2000" u="none" cap="none" strike="noStrike">
                <a:solidFill>
                  <a:srgbClr val="0B7A6F"/>
                </a:solidFill>
                <a:latin typeface="Play"/>
                <a:ea typeface="Play"/>
                <a:cs typeface="Play"/>
                <a:sym typeface="Play"/>
              </a:rPr>
              <a:t>›</a:t>
            </a:r>
            <a:endParaRPr b="0" i="0" spc="0" sz="2000" u="none" cap="none" strike="noStrike">
              <a:solidFill>
                <a:schemeClr val="dk1"/>
              </a:solidFill>
              <a:latin typeface="Calibri"/>
              <a:ea typeface="Calibri"/>
              <a:cs typeface="Calibri"/>
              <a:sym typeface="Calibri"/>
            </a:endParaRPr>
          </a:p>
        </p:txBody>
      </p:sp>
      <p:sp>
        <p:nvSpPr>
          <p:cNvPr id="51" name="Google Shape;51;p6">
            <a:hlinkClick action="ppaction://hlinksldjump" r:id="rId12"/>
          </p:cNvPr>
          <p:cNvSpPr/>
          <p:nvPr/>
        </p:nvSpPr>
        <p:spPr>
          <a:xfrm>
            <a:off x="4640580" y="2560320"/>
            <a:ext cx="4091940" cy="1097280"/>
          </a:xfrm>
          <a:prstGeom prst="roundRect">
            <a:avLst>
              <a:gd fmla="val 5000" name="adj"/>
            </a:avLst>
          </a:prstGeom>
          <a:solidFill>
            <a:srgbClr val="FFFFFF"/>
          </a:solidFill>
          <a:ln cap="flat" cmpd="sng" w="9525">
            <a:solidFill>
              <a:srgbClr val="DCE1E7"/>
            </a:solidFill>
            <a:prstDash val="solid"/>
            <a:round/>
            <a:headEnd len="sm" w="sm" type="none"/>
            <a:tailEnd len="sm" w="sm" type="none"/>
          </a:ln>
        </p:spPr>
        <p:txBody>
          <a:bodyPr anchorCtr="0" anchor="ctr" bIns="0" lIns="711200" spcFirstLastPara="1" rIns="38100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US" spc="0" sz="1300" u="none" cap="none" strike="noStrike">
                <a:solidFill>
                  <a:srgbClr val="1D1D1F"/>
                </a:solidFill>
                <a:latin typeface="Play"/>
                <a:ea typeface="Play"/>
                <a:cs typeface="Play"/>
                <a:sym typeface="Play"/>
              </a:rPr>
              <a:t>Bulk Charges</a:t>
            </a:r>
            <a:endParaRPr b="0" i="0" spc="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Several missed MFs charged on one day.</a:t>
            </a:r>
            <a:endParaRPr b="0" i="0" spc="0" sz="1300" u="none" cap="none" strike="noStrike">
              <a:solidFill>
                <a:schemeClr val="dk1"/>
              </a:solidFill>
              <a:latin typeface="Calibri"/>
              <a:ea typeface="Calibri"/>
              <a:cs typeface="Calibri"/>
              <a:sym typeface="Calibri"/>
            </a:endParaRPr>
          </a:p>
        </p:txBody>
      </p:sp>
      <p:sp>
        <p:nvSpPr>
          <p:cNvPr id="52" name="Google Shape;52;p6">
            <a:hlinkClick action="ppaction://hlinksldjump" r:id="rId13"/>
          </p:cNvPr>
          <p:cNvSpPr/>
          <p:nvPr/>
        </p:nvSpPr>
        <p:spPr>
          <a:xfrm>
            <a:off x="4732020" y="2560320"/>
            <a:ext cx="502920" cy="10972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7A6F"/>
              </a:buClr>
              <a:buSzPts val="1600"/>
              <a:buFont typeface="Play"/>
              <a:buNone/>
            </a:pPr>
            <a:r>
              <a:rPr b="1" i="0" lang="en-US" spc="0" sz="1600" u="none" cap="none" strike="noStrike">
                <a:solidFill>
                  <a:srgbClr val="0B7A6F"/>
                </a:solidFill>
                <a:latin typeface="Play"/>
                <a:ea typeface="Play"/>
                <a:cs typeface="Play"/>
                <a:sym typeface="Play"/>
              </a:rPr>
              <a:t>04</a:t>
            </a:r>
            <a:endParaRPr b="0" i="0" spc="0" sz="1600" u="none" cap="none" strike="noStrike">
              <a:solidFill>
                <a:schemeClr val="dk1"/>
              </a:solidFill>
              <a:latin typeface="Calibri"/>
              <a:ea typeface="Calibri"/>
              <a:cs typeface="Calibri"/>
              <a:sym typeface="Calibri"/>
            </a:endParaRPr>
          </a:p>
        </p:txBody>
      </p:sp>
      <p:sp>
        <p:nvSpPr>
          <p:cNvPr id="53" name="Google Shape;53;p6">
            <a:hlinkClick action="ppaction://hlinksldjump" r:id="rId14"/>
          </p:cNvPr>
          <p:cNvSpPr/>
          <p:nvPr/>
        </p:nvSpPr>
        <p:spPr>
          <a:xfrm>
            <a:off x="8348472" y="2560320"/>
            <a:ext cx="320040" cy="10972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7A6F"/>
              </a:buClr>
              <a:buSzPts val="2000"/>
              <a:buFont typeface="Play"/>
              <a:buNone/>
            </a:pPr>
            <a:r>
              <a:rPr b="1" i="0" lang="en-US" spc="0" sz="2000" u="none" cap="none" strike="noStrike">
                <a:solidFill>
                  <a:srgbClr val="0B7A6F"/>
                </a:solidFill>
                <a:latin typeface="Play"/>
                <a:ea typeface="Play"/>
                <a:cs typeface="Play"/>
                <a:sym typeface="Play"/>
              </a:rPr>
              <a:t>›</a:t>
            </a:r>
            <a:endParaRPr b="0" i="0" spc="0" sz="2000" u="none" cap="none" strike="noStrike">
              <a:solidFill>
                <a:schemeClr val="dk1"/>
              </a:solidFill>
              <a:latin typeface="Calibri"/>
              <a:ea typeface="Calibri"/>
              <a:cs typeface="Calibri"/>
              <a:sym typeface="Calibri"/>
            </a:endParaRPr>
          </a:p>
        </p:txBody>
      </p:sp>
      <p:sp>
        <p:nvSpPr>
          <p:cNvPr id="54" name="Google Shape;54;p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7"/>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TOPIC 01 OF 04</a:t>
            </a:r>
            <a:endParaRPr b="0" i="0" spc="0" sz="800" u="none" cap="none" strike="noStrike">
              <a:solidFill>
                <a:schemeClr val="dk1"/>
              </a:solidFill>
              <a:latin typeface="Calibri"/>
              <a:ea typeface="Calibri"/>
              <a:cs typeface="Calibri"/>
              <a:sym typeface="Calibri"/>
            </a:endParaRPr>
          </a:p>
        </p:txBody>
      </p:sp>
      <p:sp>
        <p:nvSpPr>
          <p:cNvPr id="61" name="Google Shape;61;p7"/>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US" spc="0" sz="2800" u="none" cap="none" strike="noStrike">
                <a:solidFill>
                  <a:srgbClr val="1D1D1F"/>
                </a:solidFill>
                <a:latin typeface="Play"/>
                <a:ea typeface="Play"/>
                <a:cs typeface="Play"/>
                <a:sym typeface="Play"/>
              </a:rPr>
              <a:t>MF &amp; ETF Refund Requests</a:t>
            </a:r>
            <a:endParaRPr b="0" i="0" spc="0" sz="2800" u="none" cap="none" strike="noStrike">
              <a:solidFill>
                <a:schemeClr val="dk1"/>
              </a:solidFill>
              <a:latin typeface="Calibri"/>
              <a:ea typeface="Calibri"/>
              <a:cs typeface="Calibri"/>
              <a:sym typeface="Calibri"/>
            </a:endParaRPr>
          </a:p>
        </p:txBody>
      </p:sp>
      <p:sp>
        <p:nvSpPr>
          <p:cNvPr id="62" name="Google Shape;62;p7"/>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US" spc="0" sz="1150" u="none" cap="none" strike="noStrike">
                <a:solidFill>
                  <a:srgbClr val="6E6E73"/>
                </a:solidFill>
                <a:latin typeface="Arial"/>
                <a:ea typeface="Arial"/>
                <a:cs typeface="Arial"/>
                <a:sym typeface="Arial"/>
              </a:rPr>
              <a:t>Refund requests for Monthly Fees and the Early Termination Fee.</a:t>
            </a:r>
            <a:endParaRPr b="0" i="0" spc="0" sz="1150" u="none" cap="none" strike="noStrike">
              <a:solidFill>
                <a:schemeClr val="dk1"/>
              </a:solidFill>
              <a:latin typeface="Calibri"/>
              <a:ea typeface="Calibri"/>
              <a:cs typeface="Calibri"/>
              <a:sym typeface="Calibri"/>
            </a:endParaRPr>
          </a:p>
        </p:txBody>
      </p:sp>
      <p:sp>
        <p:nvSpPr>
          <p:cNvPr id="63" name="Google Shape;63;p7"/>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YOU'LL LEARN</a:t>
            </a:r>
            <a:endParaRPr b="0" i="0" spc="0" sz="800" u="none" cap="none" strike="noStrike">
              <a:solidFill>
                <a:schemeClr val="dk1"/>
              </a:solidFill>
              <a:latin typeface="Calibri"/>
              <a:ea typeface="Calibri"/>
              <a:cs typeface="Calibri"/>
              <a:sym typeface="Calibri"/>
            </a:endParaRPr>
          </a:p>
        </p:txBody>
      </p:sp>
      <p:sp>
        <p:nvSpPr>
          <p:cNvPr id="64" name="Google Shape;64;p7"/>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65" name="Google Shape;65;p7"/>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66" name="Google Shape;66;p7"/>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Why the root cause drives the decision</a:t>
            </a:r>
            <a:endParaRPr b="0" i="0" spc="0" sz="1050" u="none" cap="none" strike="noStrike">
              <a:solidFill>
                <a:schemeClr val="dk1"/>
              </a:solidFill>
              <a:latin typeface="Calibri"/>
              <a:ea typeface="Calibri"/>
              <a:cs typeface="Calibri"/>
              <a:sym typeface="Calibri"/>
            </a:endParaRPr>
          </a:p>
        </p:txBody>
      </p:sp>
      <p:sp>
        <p:nvSpPr>
          <p:cNvPr id="67" name="Google Shape;67;p7"/>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68" name="Google Shape;68;p7"/>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69" name="Google Shape;69;p7"/>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Eligible doesn't mean cash: free months first</a:t>
            </a:r>
            <a:endParaRPr b="0" i="0" spc="0" sz="1050" u="none" cap="none" strike="noStrike">
              <a:solidFill>
                <a:schemeClr val="dk1"/>
              </a:solidFill>
              <a:latin typeface="Calibri"/>
              <a:ea typeface="Calibri"/>
              <a:cs typeface="Calibri"/>
              <a:sym typeface="Calibri"/>
            </a:endParaRPr>
          </a:p>
        </p:txBody>
      </p:sp>
      <p:sp>
        <p:nvSpPr>
          <p:cNvPr id="70" name="Google Shape;70;p7"/>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71" name="Google Shape;71;p7"/>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72" name="Google Shape;72;p7"/>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MF refunds by root cause, and ETF refunds</a:t>
            </a:r>
            <a:endParaRPr b="0" i="0" spc="0" sz="1050" u="none" cap="none" strike="noStrike">
              <a:solidFill>
                <a:schemeClr val="dk1"/>
              </a:solidFill>
              <a:latin typeface="Calibri"/>
              <a:ea typeface="Calibri"/>
              <a:cs typeface="Calibri"/>
              <a:sym typeface="Calibri"/>
            </a:endParaRPr>
          </a:p>
        </p:txBody>
      </p:sp>
      <p:sp>
        <p:nvSpPr>
          <p:cNvPr id="73" name="Google Shape;73;p7"/>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74" name="Google Shape;74;p7"/>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75" name="Google Shape;75;p7"/>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Billing errors, high-risk and hardship cases</a:t>
            </a:r>
            <a:endParaRPr b="0" i="0" spc="0" sz="1050" u="none" cap="none" strike="noStrike">
              <a:solidFill>
                <a:schemeClr val="dk1"/>
              </a:solidFill>
              <a:latin typeface="Calibri"/>
              <a:ea typeface="Calibri"/>
              <a:cs typeface="Calibri"/>
              <a:sym typeface="Calibri"/>
            </a:endParaRPr>
          </a:p>
        </p:txBody>
      </p:sp>
      <p:sp>
        <p:nvSpPr>
          <p:cNvPr id="76" name="Google Shape;76;p7"/>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 name="Google Shape;77;p7"/>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9/ill_pay.png" id="78" name="Google Shape;78;p7"/>
          <p:cNvPicPr preferRelativeResize="0"/>
          <p:nvPr/>
        </p:nvPicPr>
        <p:blipFill rotWithShape="1">
          <a:blip r:embed="rId4">
            <a:alphaModFix/>
          </a:blip>
          <a:srcRect b="0" l="0" r="0" t="0"/>
          <a:stretch/>
        </p:blipFill>
        <p:spPr>
          <a:xfrm>
            <a:off x="5541264" y="1540190"/>
            <a:ext cx="2926080" cy="2058549"/>
          </a:xfrm>
          <a:prstGeom prst="rect">
            <a:avLst/>
          </a:prstGeom>
          <a:noFill/>
          <a:ln>
            <a:noFill/>
          </a:ln>
        </p:spPr>
      </p:pic>
      <p:sp>
        <p:nvSpPr>
          <p:cNvPr id="79" name="Google Shape;79;p7"/>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0" name="Google Shape;80;p7"/>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 name="Google Shape;81;p7"/>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 name="Google Shape;82;p7"/>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 name="Google Shape;83;p7"/>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 name="Google Shape;84;p7"/>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 name="Google Shape;85;p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MF &amp; ETF REFUNDS</a:t>
            </a:r>
            <a:endParaRPr b="0" i="0" spc="0" sz="800" u="none" cap="none" strike="noStrike">
              <a:solidFill>
                <a:schemeClr val="dk1"/>
              </a:solidFill>
              <a:latin typeface="Calibri"/>
              <a:ea typeface="Calibri"/>
              <a:cs typeface="Calibri"/>
              <a:sym typeface="Calibri"/>
            </a:endParaRPr>
          </a:p>
        </p:txBody>
      </p:sp>
      <p:sp>
        <p:nvSpPr>
          <p:cNvPr id="92" name="Google Shape;92;p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What is this?</a:t>
            </a:r>
            <a:endParaRPr b="0" i="0" spc="0" sz="2400" u="none" cap="none" strike="noStrike">
              <a:solidFill>
                <a:schemeClr val="dk1"/>
              </a:solidFill>
              <a:latin typeface="Calibri"/>
              <a:ea typeface="Calibri"/>
              <a:cs typeface="Calibri"/>
              <a:sym typeface="Calibri"/>
            </a:endParaRPr>
          </a:p>
        </p:txBody>
      </p:sp>
      <p:sp>
        <p:nvSpPr>
          <p:cNvPr id="93" name="Google Shape;93;p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Refunds for MFs and the ETF regardless of FC status</a:t>
            </a:r>
            <a:endParaRPr b="0" i="0" spc="0" sz="1200" u="none" cap="none" strike="noStrike">
              <a:solidFill>
                <a:schemeClr val="dk1"/>
              </a:solidFill>
              <a:latin typeface="Calibri"/>
              <a:ea typeface="Calibri"/>
              <a:cs typeface="Calibri"/>
              <a:sym typeface="Calibri"/>
            </a:endParaRPr>
          </a:p>
        </p:txBody>
      </p:sp>
      <p:sp>
        <p:nvSpPr>
          <p:cNvPr id="94" name="Google Shape;94;p8"/>
          <p:cNvSpPr/>
          <p:nvPr/>
        </p:nvSpPr>
        <p:spPr>
          <a:xfrm>
            <a:off x="411480" y="1325880"/>
            <a:ext cx="268224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5" name="Google Shape;95;p8"/>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96" name="Google Shape;96;p8"/>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97" name="Google Shape;97;p8"/>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Root cause decides</a:t>
            </a:r>
            <a:endParaRPr b="0" i="0" spc="0" sz="1200" u="none" cap="none" strike="noStrike">
              <a:solidFill>
                <a:schemeClr val="dk1"/>
              </a:solidFill>
              <a:latin typeface="Calibri"/>
              <a:ea typeface="Calibri"/>
              <a:cs typeface="Calibri"/>
              <a:sym typeface="Calibri"/>
            </a:endParaRPr>
          </a:p>
        </p:txBody>
      </p:sp>
      <p:sp>
        <p:nvSpPr>
          <p:cNvPr id="98" name="Google Shape;98;p8"/>
          <p:cNvSpPr txBox="1"/>
          <p:nvPr/>
        </p:nvSpPr>
        <p:spPr>
          <a:xfrm>
            <a:off x="576072" y="2221992"/>
            <a:ext cx="235305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Never told about the membership vs. knew and forgot: same ask, different answer.</a:t>
            </a:r>
            <a:endParaRPr b="0" i="0" spc="0" sz="950" u="none" cap="none" strike="noStrike">
              <a:solidFill>
                <a:schemeClr val="dk1"/>
              </a:solidFill>
              <a:latin typeface="Calibri"/>
              <a:ea typeface="Calibri"/>
              <a:cs typeface="Calibri"/>
              <a:sym typeface="Calibri"/>
            </a:endParaRPr>
          </a:p>
        </p:txBody>
      </p:sp>
      <p:sp>
        <p:nvSpPr>
          <p:cNvPr id="99" name="Google Shape;99;p8"/>
          <p:cNvSpPr/>
          <p:nvPr/>
        </p:nvSpPr>
        <p:spPr>
          <a:xfrm>
            <a:off x="3230880" y="1325880"/>
            <a:ext cx="268224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0" name="Google Shape;100;p8"/>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01" name="Google Shape;101;p8"/>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102" name="Google Shape;102;p8"/>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No request, no refund</a:t>
            </a:r>
            <a:endParaRPr b="0" i="0" spc="0" sz="1200" u="none" cap="none" strike="noStrike">
              <a:solidFill>
                <a:schemeClr val="dk1"/>
              </a:solidFill>
              <a:latin typeface="Calibri"/>
              <a:ea typeface="Calibri"/>
              <a:cs typeface="Calibri"/>
              <a:sym typeface="Calibri"/>
            </a:endParaRPr>
          </a:p>
        </p:txBody>
      </p:sp>
      <p:sp>
        <p:nvSpPr>
          <p:cNvPr id="103" name="Google Shape;103;p8"/>
          <p:cNvSpPr txBox="1"/>
          <p:nvPr/>
        </p:nvSpPr>
        <p:spPr>
          <a:xfrm>
            <a:off x="3395472" y="2221992"/>
            <a:ext cx="235305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A request can be implied. Contesting a charge to get it reversed counts.</a:t>
            </a:r>
            <a:endParaRPr b="0" i="0" spc="0" sz="950" u="none" cap="none" strike="noStrike">
              <a:solidFill>
                <a:schemeClr val="dk1"/>
              </a:solidFill>
              <a:latin typeface="Calibri"/>
              <a:ea typeface="Calibri"/>
              <a:cs typeface="Calibri"/>
              <a:sym typeface="Calibri"/>
            </a:endParaRPr>
          </a:p>
        </p:txBody>
      </p:sp>
      <p:sp>
        <p:nvSpPr>
          <p:cNvPr id="104" name="Google Shape;104;p8"/>
          <p:cNvSpPr/>
          <p:nvPr/>
        </p:nvSpPr>
        <p:spPr>
          <a:xfrm>
            <a:off x="6050280" y="1325880"/>
            <a:ext cx="268224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5" name="Google Shape;105;p8"/>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06" name="Google Shape;106;p8"/>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107" name="Google Shape;107;p8"/>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Our error? Fix it</a:t>
            </a:r>
            <a:endParaRPr b="0" i="0" spc="0" sz="1200" u="none" cap="none" strike="noStrike">
              <a:solidFill>
                <a:schemeClr val="dk1"/>
              </a:solidFill>
              <a:latin typeface="Calibri"/>
              <a:ea typeface="Calibri"/>
              <a:cs typeface="Calibri"/>
              <a:sym typeface="Calibri"/>
            </a:endParaRPr>
          </a:p>
        </p:txBody>
      </p:sp>
      <p:sp>
        <p:nvSpPr>
          <p:cNvPr id="108" name="Google Shape;108;p8"/>
          <p:cNvSpPr txBox="1"/>
          <p:nvPr/>
        </p:nvSpPr>
        <p:spPr>
          <a:xfrm>
            <a:off x="6214872" y="2221992"/>
            <a:ext cx="235305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Duplicate or wrong charges: correct them without waiting to be asked.</a:t>
            </a:r>
            <a:endParaRPr b="0" i="0" spc="0" sz="950" u="none" cap="none" strike="noStrike">
              <a:solidFill>
                <a:schemeClr val="dk1"/>
              </a:solidFill>
              <a:latin typeface="Calibri"/>
              <a:ea typeface="Calibri"/>
              <a:cs typeface="Calibri"/>
              <a:sym typeface="Calibri"/>
            </a:endParaRPr>
          </a:p>
        </p:txBody>
      </p:sp>
      <p:sp>
        <p:nvSpPr>
          <p:cNvPr id="109" name="Google Shape;109;p8"/>
          <p:cNvSpPr/>
          <p:nvPr/>
        </p:nvSpPr>
        <p:spPr>
          <a:xfrm>
            <a:off x="411480" y="3108960"/>
            <a:ext cx="8321040" cy="457200"/>
          </a:xfrm>
          <a:prstGeom prst="roundRect">
            <a:avLst>
              <a:gd fmla="val 16000"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10" name="Google Shape;110;p8"/>
          <p:cNvPicPr preferRelativeResize="0"/>
          <p:nvPr/>
        </p:nvPicPr>
        <p:blipFill rotWithShape="1">
          <a:blip r:embed="rId6">
            <a:alphaModFix/>
          </a:blip>
          <a:srcRect b="0" l="0" r="0" t="0"/>
          <a:stretch/>
        </p:blipFill>
        <p:spPr>
          <a:xfrm>
            <a:off x="566928" y="3255264"/>
            <a:ext cx="164592" cy="164592"/>
          </a:xfrm>
          <a:prstGeom prst="rect">
            <a:avLst/>
          </a:prstGeom>
          <a:noFill/>
          <a:ln>
            <a:noFill/>
          </a:ln>
        </p:spPr>
      </p:pic>
      <p:sp>
        <p:nvSpPr>
          <p:cNvPr id="111" name="Google Shape;111;p8"/>
          <p:cNvSpPr txBox="1"/>
          <p:nvPr/>
        </p:nvSpPr>
        <p:spPr>
          <a:xfrm>
            <a:off x="822960" y="3108960"/>
            <a:ext cx="77724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3261E"/>
              </a:buClr>
              <a:buSzPts val="1000"/>
              <a:buFont typeface="Arial"/>
              <a:buNone/>
            </a:pPr>
            <a:r>
              <a:rPr b="1" i="0" lang="en-US" spc="0" sz="1000" u="none" cap="none" strike="noStrike">
                <a:solidFill>
                  <a:srgbClr val="B3261E"/>
                </a:solidFill>
                <a:latin typeface="Arial"/>
                <a:ea typeface="Arial"/>
                <a:cs typeface="Arial"/>
                <a:sym typeface="Arial"/>
              </a:rPr>
              <a:t>Two failure modes:  </a:t>
            </a:r>
            <a:r>
              <a:rPr b="0" i="0" lang="en-US" spc="0" sz="1000" u="none" cap="none" strike="noStrike">
                <a:solidFill>
                  <a:srgbClr val="1D1D1F"/>
                </a:solidFill>
                <a:latin typeface="Arial"/>
                <a:ea typeface="Arial"/>
                <a:cs typeface="Arial"/>
                <a:sym typeface="Arial"/>
              </a:rPr>
              <a:t>refusing refunds that are our error, and granting refunds that reward not paying attention.</a:t>
            </a:r>
            <a:endParaRPr b="0" i="0" spc="0" sz="1000" u="none" cap="none" strike="noStrike">
              <a:solidFill>
                <a:schemeClr val="dk1"/>
              </a:solidFill>
              <a:latin typeface="Calibri"/>
              <a:ea typeface="Calibri"/>
              <a:cs typeface="Calibri"/>
              <a:sym typeface="Calibri"/>
            </a:endParaRPr>
          </a:p>
        </p:txBody>
      </p:sp>
      <p:sp>
        <p:nvSpPr>
          <p:cNvPr id="112" name="Google Shape;112;p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MF &amp; ETF REFUNDS</a:t>
            </a:r>
            <a:endParaRPr b="0" i="0" spc="0" sz="800" u="none" cap="none" strike="noStrike">
              <a:solidFill>
                <a:schemeClr val="dk1"/>
              </a:solidFill>
              <a:latin typeface="Calibri"/>
              <a:ea typeface="Calibri"/>
              <a:cs typeface="Calibri"/>
              <a:sym typeface="Calibri"/>
            </a:endParaRPr>
          </a:p>
        </p:txBody>
      </p:sp>
      <p:sp>
        <p:nvSpPr>
          <p:cNvPr id="119" name="Google Shape;119;p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The MCT test</a:t>
            </a:r>
            <a:endParaRPr b="0" i="0" spc="0" sz="2400" u="none" cap="none" strike="noStrike">
              <a:solidFill>
                <a:schemeClr val="dk1"/>
              </a:solidFill>
              <a:latin typeface="Calibri"/>
              <a:ea typeface="Calibri"/>
              <a:cs typeface="Calibri"/>
              <a:sym typeface="Calibri"/>
            </a:endParaRPr>
          </a:p>
        </p:txBody>
      </p:sp>
      <p:sp>
        <p:nvSpPr>
          <p:cNvPr id="120" name="Google Shape;120;p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An unused MF isn't a refund reason on its own. The fee buys membership, not attendance.</a:t>
            </a:r>
            <a:endParaRPr b="0" i="0" spc="0" sz="1200" u="none" cap="none" strike="noStrike">
              <a:solidFill>
                <a:schemeClr val="dk1"/>
              </a:solidFill>
              <a:latin typeface="Calibri"/>
              <a:ea typeface="Calibri"/>
              <a:cs typeface="Calibri"/>
              <a:sym typeface="Calibri"/>
            </a:endParaRPr>
          </a:p>
        </p:txBody>
      </p:sp>
      <p:sp>
        <p:nvSpPr>
          <p:cNvPr id="121" name="Google Shape;121;p9"/>
          <p:cNvSpPr/>
          <p:nvPr/>
        </p:nvSpPr>
        <p:spPr>
          <a:xfrm>
            <a:off x="411480" y="1325880"/>
            <a:ext cx="4069080" cy="1600200"/>
          </a:xfrm>
          <a:prstGeom prst="roundRect">
            <a:avLst>
              <a:gd fmla="val 4571"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2" name="Google Shape;122;p9"/>
          <p:cNvSpPr/>
          <p:nvPr/>
        </p:nvSpPr>
        <p:spPr>
          <a:xfrm>
            <a:off x="411480" y="1325880"/>
            <a:ext cx="4069080" cy="329184"/>
          </a:xfrm>
          <a:prstGeom prst="roundRect">
            <a:avLst>
              <a:gd fmla="val 16667" name="adj"/>
            </a:avLst>
          </a:prstGeom>
          <a:solidFill>
            <a:srgbClr val="B3261E"/>
          </a:solidFill>
          <a:ln cap="flat" cmpd="sng" w="12700">
            <a:solidFill>
              <a:srgbClr val="B3261E"/>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Inside the MCT: owed</a:t>
            </a:r>
            <a:endParaRPr b="0" i="0" spc="0" sz="1050" u="none" cap="none" strike="noStrike">
              <a:solidFill>
                <a:schemeClr val="dk1"/>
              </a:solidFill>
              <a:latin typeface="Calibri"/>
              <a:ea typeface="Calibri"/>
              <a:cs typeface="Calibri"/>
              <a:sym typeface="Calibri"/>
            </a:endParaRPr>
          </a:p>
        </p:txBody>
      </p:sp>
      <p:sp>
        <p:nvSpPr>
          <p:cNvPr id="123" name="Google Shape;123;p9"/>
          <p:cNvSpPr txBox="1"/>
          <p:nvPr/>
        </p:nvSpPr>
        <p:spPr>
          <a:xfrm>
            <a:off x="576072" y="1764792"/>
            <a:ext cx="3739896" cy="108813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Refund only under a named exemption:</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Material legal threat, extreme hardship, compassion, or a dispute history</a:t>
            </a:r>
            <a:endParaRPr b="0" i="0" spc="0" sz="950" u="none" cap="none" strike="noStrike">
              <a:solidFill>
                <a:schemeClr val="dk1"/>
              </a:solidFill>
              <a:latin typeface="Calibri"/>
              <a:ea typeface="Calibri"/>
              <a:cs typeface="Calibri"/>
              <a:sym typeface="Calibri"/>
            </a:endParaRPr>
          </a:p>
        </p:txBody>
      </p:sp>
      <p:sp>
        <p:nvSpPr>
          <p:cNvPr id="124" name="Google Shape;124;p9"/>
          <p:cNvSpPr/>
          <p:nvPr/>
        </p:nvSpPr>
        <p:spPr>
          <a:xfrm>
            <a:off x="4663440" y="1325880"/>
            <a:ext cx="4069080" cy="1600200"/>
          </a:xfrm>
          <a:prstGeom prst="roundRect">
            <a:avLst>
              <a:gd fmla="val 4571"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5" name="Google Shape;125;p9"/>
          <p:cNvSpPr/>
          <p:nvPr/>
        </p:nvSpPr>
        <p:spPr>
          <a:xfrm>
            <a:off x="4663440" y="1325880"/>
            <a:ext cx="406908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Beyond the MCT: refundable if ALL</a:t>
            </a:r>
            <a:endParaRPr b="0" i="0" spc="0" sz="1050" u="none" cap="none" strike="noStrike">
              <a:solidFill>
                <a:schemeClr val="dk1"/>
              </a:solidFill>
              <a:latin typeface="Calibri"/>
              <a:ea typeface="Calibri"/>
              <a:cs typeface="Calibri"/>
              <a:sym typeface="Calibri"/>
            </a:endParaRPr>
          </a:p>
        </p:txBody>
      </p:sp>
      <p:sp>
        <p:nvSpPr>
          <p:cNvPr id="126" name="Google Shape;126;p9"/>
          <p:cNvSpPr txBox="1"/>
          <p:nvPr/>
        </p:nvSpPr>
        <p:spPr>
          <a:xfrm>
            <a:off x="4828032" y="1764792"/>
            <a:ext cx="3739896" cy="108813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Charged in the last 120 days</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Still disputable</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Unused (No invoiced jobs within the billing cycle)</a:t>
            </a:r>
            <a:endParaRPr b="0" i="0" spc="0" sz="950" u="none" cap="none" strike="noStrike">
              <a:solidFill>
                <a:schemeClr val="dk1"/>
              </a:solidFill>
              <a:latin typeface="Calibri"/>
              <a:ea typeface="Calibri"/>
              <a:cs typeface="Calibri"/>
              <a:sym typeface="Calibri"/>
            </a:endParaRPr>
          </a:p>
        </p:txBody>
      </p:sp>
      <p:sp>
        <p:nvSpPr>
          <p:cNvPr id="127" name="Google Shape;127;p9"/>
          <p:cNvSpPr txBox="1"/>
          <p:nvPr/>
        </p:nvSpPr>
        <p:spPr>
          <a:xfrm>
            <a:off x="411480" y="309067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EXAMPLE</a:t>
            </a:r>
            <a:endParaRPr b="0" i="0" spc="0" sz="800" u="none" cap="none" strike="noStrike">
              <a:solidFill>
                <a:schemeClr val="dk1"/>
              </a:solidFill>
              <a:latin typeface="Calibri"/>
              <a:ea typeface="Calibri"/>
              <a:cs typeface="Calibri"/>
              <a:sym typeface="Calibri"/>
            </a:endParaRPr>
          </a:p>
        </p:txBody>
      </p:sp>
      <p:sp>
        <p:nvSpPr>
          <p:cNvPr id="128" name="Google Shape;128;p9"/>
          <p:cNvSpPr/>
          <p:nvPr/>
        </p:nvSpPr>
        <p:spPr>
          <a:xfrm>
            <a:off x="411480" y="3291840"/>
            <a:ext cx="2011680" cy="1143000"/>
          </a:xfrm>
          <a:prstGeom prst="roundRect">
            <a:avLst>
              <a:gd fmla="val 64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9" name="Google Shape;129;p9"/>
          <p:cNvSpPr txBox="1"/>
          <p:nvPr/>
        </p:nvSpPr>
        <p:spPr>
          <a:xfrm>
            <a:off x="411480" y="3456432"/>
            <a:ext cx="201168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3000"/>
              <a:buFont typeface="Play"/>
              <a:buNone/>
            </a:pPr>
            <a:r>
              <a:rPr b="1" i="0" lang="en-US" spc="0" sz="3000" u="none" cap="none" strike="noStrike">
                <a:solidFill>
                  <a:srgbClr val="0B7A6F"/>
                </a:solidFill>
                <a:latin typeface="Play"/>
                <a:ea typeface="Play"/>
                <a:cs typeface="Play"/>
                <a:sym typeface="Play"/>
              </a:rPr>
              <a:t>7</a:t>
            </a:r>
            <a:endParaRPr b="0" i="0" spc="0" sz="3000" u="none" cap="none" strike="noStrike">
              <a:solidFill>
                <a:schemeClr val="dk1"/>
              </a:solidFill>
              <a:latin typeface="Calibri"/>
              <a:ea typeface="Calibri"/>
              <a:cs typeface="Calibri"/>
              <a:sym typeface="Calibri"/>
            </a:endParaRPr>
          </a:p>
        </p:txBody>
      </p:sp>
      <p:sp>
        <p:nvSpPr>
          <p:cNvPr id="130" name="Google Shape;130;p9"/>
          <p:cNvSpPr txBox="1"/>
          <p:nvPr/>
        </p:nvSpPr>
        <p:spPr>
          <a:xfrm>
            <a:off x="594360" y="4114800"/>
            <a:ext cx="1645920" cy="228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paid months</a:t>
            </a:r>
            <a:endParaRPr b="0" i="0" spc="0" sz="1000" u="none" cap="none" strike="noStrike">
              <a:solidFill>
                <a:schemeClr val="dk1"/>
              </a:solidFill>
              <a:latin typeface="Calibri"/>
              <a:ea typeface="Calibri"/>
              <a:cs typeface="Calibri"/>
              <a:sym typeface="Calibri"/>
            </a:endParaRPr>
          </a:p>
        </p:txBody>
      </p:sp>
      <p:sp>
        <p:nvSpPr>
          <p:cNvPr id="131" name="Google Shape;131;p9"/>
          <p:cNvSpPr/>
          <p:nvPr/>
        </p:nvSpPr>
        <p:spPr>
          <a:xfrm>
            <a:off x="2514600" y="3291840"/>
            <a:ext cx="2011680" cy="1143000"/>
          </a:xfrm>
          <a:prstGeom prst="roundRect">
            <a:avLst>
              <a:gd fmla="val 64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2" name="Google Shape;132;p9"/>
          <p:cNvSpPr txBox="1"/>
          <p:nvPr/>
        </p:nvSpPr>
        <p:spPr>
          <a:xfrm>
            <a:off x="2514600" y="3456432"/>
            <a:ext cx="201168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3000"/>
              <a:buFont typeface="Play"/>
              <a:buNone/>
            </a:pPr>
            <a:r>
              <a:rPr b="1" i="0" lang="en-US" spc="0" sz="3000" u="none" cap="none" strike="noStrike">
                <a:solidFill>
                  <a:srgbClr val="0B7A6F"/>
                </a:solidFill>
                <a:latin typeface="Play"/>
                <a:ea typeface="Play"/>
                <a:cs typeface="Play"/>
                <a:sym typeface="Play"/>
              </a:rPr>
              <a:t>6</a:t>
            </a:r>
            <a:endParaRPr b="0" i="0" spc="0" sz="3000" u="none" cap="none" strike="noStrike">
              <a:solidFill>
                <a:schemeClr val="dk1"/>
              </a:solidFill>
              <a:latin typeface="Calibri"/>
              <a:ea typeface="Calibri"/>
              <a:cs typeface="Calibri"/>
              <a:sym typeface="Calibri"/>
            </a:endParaRPr>
          </a:p>
        </p:txBody>
      </p:sp>
      <p:sp>
        <p:nvSpPr>
          <p:cNvPr id="133" name="Google Shape;133;p9"/>
          <p:cNvSpPr txBox="1"/>
          <p:nvPr/>
        </p:nvSpPr>
        <p:spPr>
          <a:xfrm>
            <a:off x="2697480" y="4114800"/>
            <a:ext cx="1645920" cy="228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month MCT</a:t>
            </a:r>
            <a:endParaRPr b="0" i="0" spc="0" sz="1000" u="none" cap="none" strike="noStrike">
              <a:solidFill>
                <a:schemeClr val="dk1"/>
              </a:solidFill>
              <a:latin typeface="Calibri"/>
              <a:ea typeface="Calibri"/>
              <a:cs typeface="Calibri"/>
              <a:sym typeface="Calibri"/>
            </a:endParaRPr>
          </a:p>
        </p:txBody>
      </p:sp>
      <p:sp>
        <p:nvSpPr>
          <p:cNvPr id="134" name="Google Shape;134;p9"/>
          <p:cNvSpPr/>
          <p:nvPr/>
        </p:nvSpPr>
        <p:spPr>
          <a:xfrm>
            <a:off x="4617720" y="3291840"/>
            <a:ext cx="2011680" cy="1143000"/>
          </a:xfrm>
          <a:prstGeom prst="roundRect">
            <a:avLst>
              <a:gd fmla="val 64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5" name="Google Shape;135;p9"/>
          <p:cNvSpPr txBox="1"/>
          <p:nvPr/>
        </p:nvSpPr>
        <p:spPr>
          <a:xfrm>
            <a:off x="4617720" y="3456432"/>
            <a:ext cx="201168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3000"/>
              <a:buFont typeface="Play"/>
              <a:buNone/>
            </a:pPr>
            <a:r>
              <a:rPr b="1" i="0" lang="en-US" spc="0" sz="3000" u="none" cap="none" strike="noStrike">
                <a:solidFill>
                  <a:srgbClr val="0B7A6F"/>
                </a:solidFill>
                <a:latin typeface="Play"/>
                <a:ea typeface="Play"/>
                <a:cs typeface="Play"/>
                <a:sym typeface="Play"/>
              </a:rPr>
              <a:t>3</a:t>
            </a:r>
            <a:endParaRPr b="0" i="0" spc="0" sz="3000" u="none" cap="none" strike="noStrike">
              <a:solidFill>
                <a:schemeClr val="dk1"/>
              </a:solidFill>
              <a:latin typeface="Calibri"/>
              <a:ea typeface="Calibri"/>
              <a:cs typeface="Calibri"/>
              <a:sym typeface="Calibri"/>
            </a:endParaRPr>
          </a:p>
        </p:txBody>
      </p:sp>
      <p:sp>
        <p:nvSpPr>
          <p:cNvPr id="136" name="Google Shape;136;p9"/>
          <p:cNvSpPr txBox="1"/>
          <p:nvPr/>
        </p:nvSpPr>
        <p:spPr>
          <a:xfrm>
            <a:off x="4800600" y="4114800"/>
            <a:ext cx="1645920" cy="228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unused MFs</a:t>
            </a:r>
            <a:endParaRPr b="0" i="0" spc="0" sz="1000" u="none" cap="none" strike="noStrike">
              <a:solidFill>
                <a:schemeClr val="dk1"/>
              </a:solidFill>
              <a:latin typeface="Calibri"/>
              <a:ea typeface="Calibri"/>
              <a:cs typeface="Calibri"/>
              <a:sym typeface="Calibri"/>
            </a:endParaRPr>
          </a:p>
        </p:txBody>
      </p:sp>
      <p:sp>
        <p:nvSpPr>
          <p:cNvPr id="137" name="Google Shape;137;p9"/>
          <p:cNvSpPr/>
          <p:nvPr/>
        </p:nvSpPr>
        <p:spPr>
          <a:xfrm>
            <a:off x="6720840" y="3291840"/>
            <a:ext cx="2011680" cy="1143000"/>
          </a:xfrm>
          <a:prstGeom prst="roundRect">
            <a:avLst>
              <a:gd fmla="val 64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8" name="Google Shape;138;p9"/>
          <p:cNvSpPr txBox="1"/>
          <p:nvPr/>
        </p:nvSpPr>
        <p:spPr>
          <a:xfrm>
            <a:off x="6720840" y="3456432"/>
            <a:ext cx="201168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3000"/>
              <a:buFont typeface="Play"/>
              <a:buNone/>
            </a:pPr>
            <a:r>
              <a:rPr b="1" i="0" lang="en-US" spc="0" sz="3000" u="none" cap="none" strike="noStrike">
                <a:solidFill>
                  <a:srgbClr val="9A6410"/>
                </a:solidFill>
                <a:latin typeface="Play"/>
                <a:ea typeface="Play"/>
                <a:cs typeface="Play"/>
                <a:sym typeface="Play"/>
              </a:rPr>
              <a:t>1</a:t>
            </a:r>
            <a:endParaRPr b="0" i="0" spc="0" sz="3000" u="none" cap="none" strike="noStrike">
              <a:solidFill>
                <a:schemeClr val="dk1"/>
              </a:solidFill>
              <a:latin typeface="Calibri"/>
              <a:ea typeface="Calibri"/>
              <a:cs typeface="Calibri"/>
              <a:sym typeface="Calibri"/>
            </a:endParaRPr>
          </a:p>
        </p:txBody>
      </p:sp>
      <p:sp>
        <p:nvSpPr>
          <p:cNvPr id="139" name="Google Shape;139;p9"/>
          <p:cNvSpPr txBox="1"/>
          <p:nvPr/>
        </p:nvSpPr>
        <p:spPr>
          <a:xfrm>
            <a:off x="6903720" y="4114800"/>
            <a:ext cx="1645920" cy="228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refundable: the only one beyond MCT</a:t>
            </a:r>
            <a:endParaRPr b="0" i="0" spc="0" sz="1000" u="none" cap="none" strike="noStrike">
              <a:solidFill>
                <a:schemeClr val="dk1"/>
              </a:solidFill>
              <a:latin typeface="Calibri"/>
              <a:ea typeface="Calibri"/>
              <a:cs typeface="Calibri"/>
              <a:sym typeface="Calibri"/>
            </a:endParaRPr>
          </a:p>
        </p:txBody>
      </p:sp>
      <p:sp>
        <p:nvSpPr>
          <p:cNvPr id="140" name="Google Shape;140;p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MF &amp; ETF REFUNDS</a:t>
            </a:r>
            <a:endParaRPr b="0" i="0" spc="0" sz="800" u="none" cap="none" strike="noStrike">
              <a:solidFill>
                <a:schemeClr val="dk1"/>
              </a:solidFill>
              <a:latin typeface="Calibri"/>
              <a:ea typeface="Calibri"/>
              <a:cs typeface="Calibri"/>
              <a:sym typeface="Calibri"/>
            </a:endParaRPr>
          </a:p>
        </p:txBody>
      </p:sp>
      <p:sp>
        <p:nvSpPr>
          <p:cNvPr id="147" name="Google Shape;147;p1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MF Refunds — sorted by root cause</a:t>
            </a:r>
            <a:endParaRPr b="0" i="0" spc="0" sz="2400" u="none" cap="none" strike="noStrike">
              <a:solidFill>
                <a:schemeClr val="dk1"/>
              </a:solidFill>
              <a:latin typeface="Calibri"/>
              <a:ea typeface="Calibri"/>
              <a:cs typeface="Calibri"/>
              <a:sym typeface="Calibri"/>
            </a:endParaRPr>
          </a:p>
        </p:txBody>
      </p:sp>
      <p:sp>
        <p:nvSpPr>
          <p:cNvPr id="148" name="Google Shape;148;p1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Start with the FC status.</a:t>
            </a:r>
            <a:endParaRPr b="0" i="0" spc="0" sz="1200" u="none" cap="none" strike="noStrike">
              <a:solidFill>
                <a:schemeClr val="dk1"/>
              </a:solidFill>
              <a:latin typeface="Calibri"/>
              <a:ea typeface="Calibri"/>
              <a:cs typeface="Calibri"/>
              <a:sym typeface="Calibri"/>
            </a:endParaRPr>
          </a:p>
        </p:txBody>
      </p:sp>
      <p:sp>
        <p:nvSpPr>
          <p:cNvPr id="149" name="Google Shape;149;p1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150" name="Google Shape;150;p10"/>
          <p:cNvSpPr/>
          <p:nvPr/>
        </p:nvSpPr>
        <p:spPr>
          <a:xfrm>
            <a:off x="2971800" y="1298448"/>
            <a:ext cx="3200400" cy="457200"/>
          </a:xfrm>
          <a:prstGeom prst="roundRect">
            <a:avLst>
              <a:gd fmla="val 8000" name="adj"/>
            </a:avLst>
          </a:prstGeom>
          <a:solidFill>
            <a:srgbClr val="C061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US" spc="0" sz="1200" u="none" cap="none" strike="noStrike">
                <a:solidFill>
                  <a:srgbClr val="FFFFFF"/>
                </a:solidFill>
                <a:latin typeface="Play"/>
                <a:ea typeface="Play"/>
                <a:cs typeface="Play"/>
                <a:sym typeface="Play"/>
              </a:rPr>
              <a:t>MF refund request</a:t>
            </a:r>
            <a:endParaRPr b="0" i="0" spc="0" sz="1400" u="none" cap="none" strike="noStrike">
              <a:solidFill>
                <a:srgbClr val="000000"/>
              </a:solidFill>
              <a:latin typeface="Arial"/>
              <a:ea typeface="Arial"/>
              <a:cs typeface="Arial"/>
              <a:sym typeface="Arial"/>
            </a:endParaRPr>
          </a:p>
        </p:txBody>
      </p:sp>
      <p:cxnSp>
        <p:nvCxnSpPr>
          <p:cNvPr id="151" name="Google Shape;151;p10"/>
          <p:cNvCxnSpPr/>
          <p:nvPr/>
        </p:nvCxnSpPr>
        <p:spPr>
          <a:xfrm>
            <a:off x="4572000" y="1755648"/>
            <a:ext cx="0" cy="182880"/>
          </a:xfrm>
          <a:prstGeom prst="straightConnector1">
            <a:avLst/>
          </a:prstGeom>
          <a:noFill/>
          <a:ln cap="flat" cmpd="sng" w="12700">
            <a:solidFill>
              <a:srgbClr val="6E6E73"/>
            </a:solidFill>
            <a:prstDash val="solid"/>
            <a:round/>
            <a:headEnd len="sm" w="sm" type="none"/>
            <a:tailEnd len="sm" w="sm" type="none"/>
          </a:ln>
        </p:spPr>
      </p:cxnSp>
      <p:cxnSp>
        <p:nvCxnSpPr>
          <p:cNvPr id="152" name="Google Shape;152;p10"/>
          <p:cNvCxnSpPr/>
          <p:nvPr/>
        </p:nvCxnSpPr>
        <p:spPr>
          <a:xfrm>
            <a:off x="2446020" y="1938528"/>
            <a:ext cx="4251960" cy="0"/>
          </a:xfrm>
          <a:prstGeom prst="straightConnector1">
            <a:avLst/>
          </a:prstGeom>
          <a:noFill/>
          <a:ln cap="flat" cmpd="sng" w="12700">
            <a:solidFill>
              <a:srgbClr val="6E6E73"/>
            </a:solidFill>
            <a:prstDash val="solid"/>
            <a:round/>
            <a:headEnd len="sm" w="sm" type="none"/>
            <a:tailEnd len="sm" w="sm" type="none"/>
          </a:ln>
        </p:spPr>
      </p:cxnSp>
      <p:cxnSp>
        <p:nvCxnSpPr>
          <p:cNvPr id="153" name="Google Shape;153;p10"/>
          <p:cNvCxnSpPr/>
          <p:nvPr/>
        </p:nvCxnSpPr>
        <p:spPr>
          <a:xfrm>
            <a:off x="2446020" y="1938528"/>
            <a:ext cx="0" cy="182880"/>
          </a:xfrm>
          <a:prstGeom prst="straightConnector1">
            <a:avLst/>
          </a:prstGeom>
          <a:noFill/>
          <a:ln cap="flat" cmpd="sng" w="12700">
            <a:solidFill>
              <a:srgbClr val="6E6E73"/>
            </a:solidFill>
            <a:prstDash val="solid"/>
            <a:round/>
            <a:headEnd len="sm" w="sm" type="none"/>
            <a:tailEnd len="med" w="med" type="triangle"/>
          </a:ln>
        </p:spPr>
      </p:cxnSp>
      <p:cxnSp>
        <p:nvCxnSpPr>
          <p:cNvPr id="154" name="Google Shape;154;p10"/>
          <p:cNvCxnSpPr/>
          <p:nvPr/>
        </p:nvCxnSpPr>
        <p:spPr>
          <a:xfrm>
            <a:off x="6697980" y="1938528"/>
            <a:ext cx="0" cy="182880"/>
          </a:xfrm>
          <a:prstGeom prst="straightConnector1">
            <a:avLst/>
          </a:prstGeom>
          <a:noFill/>
          <a:ln cap="flat" cmpd="sng" w="12700">
            <a:solidFill>
              <a:srgbClr val="6E6E73"/>
            </a:solidFill>
            <a:prstDash val="solid"/>
            <a:round/>
            <a:headEnd len="sm" w="sm" type="none"/>
            <a:tailEnd len="med" w="med" type="triangle"/>
          </a:ln>
        </p:spPr>
      </p:cxnSp>
      <p:sp>
        <p:nvSpPr>
          <p:cNvPr id="155" name="Google Shape;155;p10"/>
          <p:cNvSpPr/>
          <p:nvPr/>
        </p:nvSpPr>
        <p:spPr>
          <a:xfrm>
            <a:off x="411480" y="2121408"/>
            <a:ext cx="4069080" cy="457200"/>
          </a:xfrm>
          <a:prstGeom prst="roundRect">
            <a:avLst>
              <a:gd fmla="val 8000" name="adj"/>
            </a:avLst>
          </a:prstGeom>
          <a:solidFill>
            <a:srgbClr val="B3261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0" i="0" lang="en-US" spc="0" sz="1150" u="none" cap="none" strike="noStrike">
                <a:solidFill>
                  <a:srgbClr val="FFFFFF"/>
                </a:solidFill>
                <a:latin typeface="Arial"/>
                <a:ea typeface="Arial"/>
                <a:cs typeface="Arial"/>
                <a:sym typeface="Arial"/>
              </a:rPr>
              <a:t>FC is </a:t>
            </a:r>
            <a:r>
              <a:rPr b="1" i="0" lang="en-US" spc="0" sz="1150" u="none" cap="none" strike="noStrike">
                <a:solidFill>
                  <a:srgbClr val="FFFFFF"/>
                </a:solidFill>
                <a:latin typeface="Play"/>
                <a:ea typeface="Play"/>
                <a:cs typeface="Play"/>
                <a:sym typeface="Play"/>
              </a:rPr>
              <a:t>active</a:t>
            </a:r>
            <a:r>
              <a:rPr b="0" i="0" lang="en-US" spc="0" sz="1000" u="none" cap="none" strike="noStrike">
                <a:solidFill>
                  <a:srgbClr val="FFFFFF"/>
                </a:solidFill>
                <a:latin typeface="Arial"/>
                <a:ea typeface="Arial"/>
                <a:cs typeface="Arial"/>
                <a:sym typeface="Arial"/>
              </a:rPr>
              <a:t>  (triggered)</a:t>
            </a:r>
            <a:endParaRPr b="0" i="0" spc="0" sz="1400" u="none" cap="none" strike="noStrike">
              <a:solidFill>
                <a:srgbClr val="000000"/>
              </a:solidFill>
              <a:latin typeface="Arial"/>
              <a:ea typeface="Arial"/>
              <a:cs typeface="Arial"/>
              <a:sym typeface="Arial"/>
            </a:endParaRPr>
          </a:p>
        </p:txBody>
      </p:sp>
      <p:sp>
        <p:nvSpPr>
          <p:cNvPr id="156" name="Google Shape;156;p10"/>
          <p:cNvSpPr/>
          <p:nvPr/>
        </p:nvSpPr>
        <p:spPr>
          <a:xfrm>
            <a:off x="4663440" y="2121408"/>
            <a:ext cx="4069080" cy="457200"/>
          </a:xfrm>
          <a:prstGeom prst="roundRect">
            <a:avLst>
              <a:gd fmla="val 8000" name="adj"/>
            </a:avLst>
          </a:prstGeom>
          <a:solidFill>
            <a:srgbClr val="5E4A9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0" i="0" lang="en-US" spc="0" sz="1150" u="none" cap="none" strike="noStrike">
                <a:solidFill>
                  <a:srgbClr val="FFFFFF"/>
                </a:solidFill>
                <a:latin typeface="Arial"/>
                <a:ea typeface="Arial"/>
                <a:cs typeface="Arial"/>
                <a:sym typeface="Arial"/>
              </a:rPr>
              <a:t>FC is </a:t>
            </a:r>
            <a:r>
              <a:rPr b="1" i="0" lang="en-US" spc="0" sz="1150" u="none" cap="none" strike="noStrike">
                <a:solidFill>
                  <a:srgbClr val="FFFFFF"/>
                </a:solidFill>
                <a:latin typeface="Play"/>
                <a:ea typeface="Play"/>
                <a:cs typeface="Play"/>
                <a:sym typeface="Play"/>
              </a:rPr>
              <a:t>cancelled</a:t>
            </a:r>
            <a:endParaRPr b="0" i="0" spc="0" sz="1400" u="none" cap="none" strike="noStrike">
              <a:solidFill>
                <a:srgbClr val="000000"/>
              </a:solidFill>
              <a:latin typeface="Arial"/>
              <a:ea typeface="Arial"/>
              <a:cs typeface="Arial"/>
              <a:sym typeface="Arial"/>
            </a:endParaRPr>
          </a:p>
        </p:txBody>
      </p:sp>
      <p:sp>
        <p:nvSpPr>
          <p:cNvPr id="157" name="Google Shape;157;p10"/>
          <p:cNvSpPr/>
          <p:nvPr/>
        </p:nvSpPr>
        <p:spPr>
          <a:xfrm>
            <a:off x="411480" y="2697480"/>
            <a:ext cx="4069080" cy="1783080"/>
          </a:xfrm>
          <a:prstGeom prst="roundRect">
            <a:avLst>
              <a:gd fmla="val 8000" name="adj"/>
            </a:avLst>
          </a:prstGeom>
          <a:solidFill>
            <a:srgbClr val="FCEBEA"/>
          </a:solidFill>
          <a:ln cap="flat" cmpd="sng" w="12700">
            <a:solidFill>
              <a:srgbClr val="B3261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8" name="Google Shape;158;p10"/>
          <p:cNvSpPr txBox="1"/>
          <p:nvPr/>
        </p:nvSpPr>
        <p:spPr>
          <a:xfrm>
            <a:off x="594360" y="2770632"/>
            <a:ext cx="3703320" cy="1645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pc="0" sz="1050" u="none" cap="none" strike="noStrike">
                <a:solidFill>
                  <a:srgbClr val="B3261E"/>
                </a:solidFill>
                <a:latin typeface="Play"/>
                <a:ea typeface="Play"/>
                <a:cs typeface="Play"/>
                <a:sym typeface="Play"/>
              </a:rPr>
              <a:t>Active and retainable?</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000"/>
              <a:buFont typeface="Arial"/>
              <a:buNone/>
            </a:pPr>
            <a:r>
              <a:rPr b="0" i="0" lang="en-US" spc="0" sz="1000" u="none" cap="none" strike="noStrike">
                <a:solidFill>
                  <a:srgbClr val="1D1D1F"/>
                </a:solidFill>
                <a:latin typeface="Arial"/>
                <a:ea typeface="Arial"/>
                <a:cs typeface="Arial"/>
                <a:sym typeface="Arial"/>
              </a:rPr>
              <a:t>Lead with free months equal to the eligible amount (max 3).</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050"/>
              <a:buFont typeface="Arial"/>
              <a:buNone/>
            </a:pPr>
            <a:r>
              <a:rPr b="1" i="0" lang="en-US" spc="0" sz="1050" u="none" cap="none" strike="noStrike">
                <a:solidFill>
                  <a:srgbClr val="B3261E"/>
                </a:solidFill>
                <a:latin typeface="Play"/>
                <a:ea typeface="Play"/>
                <a:cs typeface="Play"/>
                <a:sym typeface="Play"/>
              </a:rPr>
              <a:t>Exception:</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000"/>
              <a:buFont typeface="Arial"/>
              <a:buNone/>
            </a:pPr>
            <a:r>
              <a:rPr b="0" i="0" lang="en-US" spc="0" sz="1000" u="none" cap="none" strike="noStrike">
                <a:solidFill>
                  <a:srgbClr val="1D1D1F"/>
                </a:solidFill>
                <a:latin typeface="Arial"/>
                <a:ea typeface="Arial"/>
                <a:cs typeface="Arial"/>
                <a:sym typeface="Arial"/>
              </a:rPr>
              <a:t>Extenuating circumstances that warrant a refund (billing errors, etc.)? Proceed with the refund.</a:t>
            </a:r>
            <a:endParaRPr b="0" i="0" spc="0" sz="1400" u="none" cap="none" strike="noStrike">
              <a:solidFill>
                <a:srgbClr val="000000"/>
              </a:solidFill>
              <a:latin typeface="Arial"/>
              <a:ea typeface="Arial"/>
              <a:cs typeface="Arial"/>
              <a:sym typeface="Arial"/>
            </a:endParaRPr>
          </a:p>
        </p:txBody>
      </p:sp>
      <p:sp>
        <p:nvSpPr>
          <p:cNvPr id="159" name="Google Shape;159;p10"/>
          <p:cNvSpPr/>
          <p:nvPr/>
        </p:nvSpPr>
        <p:spPr>
          <a:xfrm>
            <a:off x="4663440" y="2697480"/>
            <a:ext cx="4069080" cy="1783080"/>
          </a:xfrm>
          <a:prstGeom prst="roundRect">
            <a:avLst>
              <a:gd fmla="val 8000" name="adj"/>
            </a:avLst>
          </a:prstGeom>
          <a:solidFill>
            <a:srgbClr val="EEEAF8"/>
          </a:solidFill>
          <a:ln cap="flat" cmpd="sng" w="12700">
            <a:solidFill>
              <a:srgbClr val="5E4A9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0" name="Google Shape;160;p10"/>
          <p:cNvSpPr txBox="1"/>
          <p:nvPr/>
        </p:nvSpPr>
        <p:spPr>
          <a:xfrm>
            <a:off x="4846320" y="2770632"/>
            <a:ext cx="3703320" cy="10515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1" i="0" lang="en-US" spc="0" sz="1050" u="none" cap="none" strike="noStrike">
                <a:solidFill>
                  <a:srgbClr val="5E4A9C"/>
                </a:solidFill>
                <a:latin typeface="Play"/>
                <a:ea typeface="Play"/>
                <a:cs typeface="Play"/>
                <a:sym typeface="Play"/>
              </a:rPr>
              <a:t>Follow the root cause table</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000"/>
              <a:buFont typeface="Arial"/>
              <a:buNone/>
            </a:pPr>
            <a:r>
              <a:rPr b="0" i="0" lang="en-US" spc="0" sz="1000" u="none" cap="none" strike="noStrike">
                <a:solidFill>
                  <a:srgbClr val="1D1D1F"/>
                </a:solidFill>
                <a:latin typeface="Arial"/>
                <a:ea typeface="Arial"/>
                <a:cs typeface="Arial"/>
                <a:sym typeface="Arial"/>
              </a:rPr>
              <a:t>Also use it when C declines the free months, or isn't retainable.</a:t>
            </a:r>
            <a:endParaRPr b="0" i="0" spc="0" sz="1400" u="none" cap="none" strike="noStrike">
              <a:solidFill>
                <a:srgbClr val="000000"/>
              </a:solidFill>
              <a:latin typeface="Arial"/>
              <a:ea typeface="Arial"/>
              <a:cs typeface="Arial"/>
              <a:sym typeface="Arial"/>
            </a:endParaRPr>
          </a:p>
        </p:txBody>
      </p:sp>
      <p:sp>
        <p:nvSpPr>
          <p:cNvPr id="161" name="Google Shape;161;p10">
            <a:hlinkClick action="ppaction://hlinksldjump" r:id="rId3"/>
          </p:cNvPr>
          <p:cNvSpPr/>
          <p:nvPr/>
        </p:nvSpPr>
        <p:spPr>
          <a:xfrm>
            <a:off x="5600700" y="3858768"/>
            <a:ext cx="2194560" cy="384048"/>
          </a:xfrm>
          <a:prstGeom prst="roundRect">
            <a:avLst>
              <a:gd fmla="val 25000" name="adj"/>
            </a:avLst>
          </a:prstGeom>
          <a:solidFill>
            <a:srgbClr val="0B7A6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b="1" i="0" lang="en-US" spc="0" sz="1050" u="none" cap="none" strike="noStrike">
                <a:solidFill>
                  <a:srgbClr val="FFFFFF"/>
                </a:solidFill>
                <a:latin typeface="Play"/>
                <a:ea typeface="Play"/>
                <a:cs typeface="Play"/>
                <a:sym typeface="Play"/>
              </a:rPr>
              <a:t>▶  Root cause table</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MF &amp; ETF REFUNDS</a:t>
            </a:r>
            <a:endParaRPr b="0" i="0" spc="0" sz="800" u="none" cap="none" strike="noStrike">
              <a:solidFill>
                <a:schemeClr val="dk1"/>
              </a:solidFill>
              <a:latin typeface="Calibri"/>
              <a:ea typeface="Calibri"/>
              <a:cs typeface="Calibri"/>
              <a:sym typeface="Calibri"/>
            </a:endParaRPr>
          </a:p>
        </p:txBody>
      </p:sp>
      <p:sp>
        <p:nvSpPr>
          <p:cNvPr id="168" name="Google Shape;168;p1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MF refunds by root cause</a:t>
            </a:r>
            <a:endParaRPr b="0" i="0" spc="0" sz="2400" u="none" cap="none" strike="noStrike">
              <a:solidFill>
                <a:schemeClr val="dk1"/>
              </a:solidFill>
              <a:latin typeface="Calibri"/>
              <a:ea typeface="Calibri"/>
              <a:cs typeface="Calibri"/>
              <a:sym typeface="Calibri"/>
            </a:endParaRPr>
          </a:p>
        </p:txBody>
      </p:sp>
      <p:sp>
        <p:nvSpPr>
          <p:cNvPr id="169" name="Google Shape;169;p1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Unused MFs beyond MCT, within 120 days, unless noted.</a:t>
            </a:r>
            <a:endParaRPr b="0" i="0" spc="0" sz="1200" u="none" cap="none" strike="noStrike">
              <a:solidFill>
                <a:schemeClr val="dk1"/>
              </a:solidFill>
              <a:latin typeface="Calibri"/>
              <a:ea typeface="Calibri"/>
              <a:cs typeface="Calibri"/>
              <a:sym typeface="Calibri"/>
            </a:endParaRPr>
          </a:p>
        </p:txBody>
      </p:sp>
      <p:graphicFrame>
        <p:nvGraphicFramePr>
          <p:cNvPr id="170" name="Google Shape;170;p11"/>
          <p:cNvGraphicFramePr/>
          <p:nvPr/>
        </p:nvGraphicFramePr>
        <p:xfrm>
          <a:off x="411480" y="1325880"/>
          <a:ext cx="3000000" cy="3000000"/>
        </p:xfrm>
        <a:graphic>
          <a:graphicData uri="http://schemas.openxmlformats.org/drawingml/2006/table">
            <a:tbl>
              <a:tblPr>
                <a:noFill/>
                <a:tableStyleId>{571C05B3-F2F7-497A-A2A1-7750038E98FB}</a:tableStyleId>
              </a:tblPr>
              <a:tblGrid>
                <a:gridCol w="3749050"/>
                <a:gridCol w="4572000"/>
              </a:tblGrid>
              <a:tr h="365750">
                <a:tc>
                  <a:txBody>
                    <a:bodyPr/>
                    <a:lstStyle/>
                    <a:p>
                      <a:pPr indent="0" lvl="0" marL="0" marR="0" rtl="0" algn="l">
                        <a:lnSpc>
                          <a:spcPct val="100000"/>
                        </a:lnSpc>
                        <a:spcBef>
                          <a:spcPts val="0"/>
                        </a:spcBef>
                        <a:spcAft>
                          <a:spcPts val="0"/>
                        </a:spcAft>
                        <a:buClr>
                          <a:srgbClr val="0B7A6F"/>
                        </a:buClr>
                        <a:buSzPts val="900"/>
                        <a:buFont typeface="Play"/>
                        <a:buNone/>
                      </a:pPr>
                      <a:r>
                        <a:rPr b="1" lang="en-US" spc="0" sz="900" u="none" cap="none" strike="noStrike">
                          <a:solidFill>
                            <a:srgbClr val="0B7A6F"/>
                          </a:solidFill>
                          <a:latin typeface="Play"/>
                          <a:ea typeface="Play"/>
                          <a:cs typeface="Play"/>
                          <a:sym typeface="Play"/>
                        </a:rPr>
                        <a:t>Root cause</a:t>
                      </a:r>
                      <a:endParaRPr spc="0"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US" spc="0" sz="900" u="none" cap="none" strike="noStrike">
                          <a:solidFill>
                            <a:srgbClr val="0B7A6F"/>
                          </a:solidFill>
                          <a:latin typeface="Play"/>
                          <a:ea typeface="Play"/>
                          <a:cs typeface="Play"/>
                          <a:sym typeface="Play"/>
                        </a:rPr>
                        <a:t>Eligible?</a:t>
                      </a:r>
                      <a:endParaRPr spc="0"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65750">
                <a:tc>
                  <a:txBody>
                    <a:bodyPr/>
                    <a:lstStyle/>
                    <a:p>
                      <a:pPr indent="0" lvl="0" marL="0" marR="0" rtl="0" algn="l">
                        <a:lnSpc>
                          <a:spcPct val="100000"/>
                        </a:lnSpc>
                        <a:spcBef>
                          <a:spcPts val="0"/>
                        </a:spcBef>
                        <a:spcAft>
                          <a:spcPts val="0"/>
                        </a:spcAft>
                        <a:buClr>
                          <a:srgbClr val="1D1D1F"/>
                        </a:buClr>
                        <a:buSzPts val="900"/>
                        <a:buFont typeface="Arial"/>
                        <a:buNone/>
                      </a:pPr>
                      <a:r>
                        <a:rPr b="1" lang="en-US" spc="0" sz="900" u="none" cap="none" strike="noStrike">
                          <a:solidFill>
                            <a:srgbClr val="1D1D1F"/>
                          </a:solidFill>
                          <a:latin typeface="Arial"/>
                          <a:ea typeface="Arial"/>
                          <a:cs typeface="Arial"/>
                          <a:sym typeface="Arial"/>
                        </a:rPr>
                        <a:t>Unaware of the membership</a:t>
                      </a:r>
                      <a:endParaRPr spc="0"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US" spc="0" sz="900" u="none" cap="none" strike="noStrike">
                          <a:solidFill>
                            <a:srgbClr val="6E6E73"/>
                          </a:solidFill>
                          <a:latin typeface="Arial"/>
                          <a:ea typeface="Arial"/>
                          <a:cs typeface="Arial"/>
                          <a:sym typeface="Arial"/>
                        </a:rPr>
                        <a:t>Yes: unused MFs beyond MCT, within 120 days</a:t>
                      </a:r>
                      <a:endParaRPr spc="0"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65750">
                <a:tc>
                  <a:txBody>
                    <a:bodyPr/>
                    <a:lstStyle/>
                    <a:p>
                      <a:pPr indent="0" lvl="0" marL="0" marR="0" rtl="0" algn="l">
                        <a:lnSpc>
                          <a:spcPct val="100000"/>
                        </a:lnSpc>
                        <a:spcBef>
                          <a:spcPts val="0"/>
                        </a:spcBef>
                        <a:spcAft>
                          <a:spcPts val="0"/>
                        </a:spcAft>
                        <a:buClr>
                          <a:srgbClr val="1D1D1F"/>
                        </a:buClr>
                        <a:buSzPts val="900"/>
                        <a:buFont typeface="Arial"/>
                        <a:buNone/>
                      </a:pPr>
                      <a:r>
                        <a:rPr b="1" lang="en-US" spc="0" sz="900" u="none" cap="none" strike="noStrike">
                          <a:solidFill>
                            <a:srgbClr val="1D1D1F"/>
                          </a:solidFill>
                          <a:latin typeface="Arial"/>
                          <a:ea typeface="Arial"/>
                          <a:cs typeface="Arial"/>
                          <a:sym typeface="Arial"/>
                        </a:rPr>
                        <a:t>Thought they'd cancelled (cancelled RC/jobs, not FC)</a:t>
                      </a:r>
                      <a:endParaRPr spc="0"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US" spc="0" sz="900" u="none" cap="none" strike="noStrike">
                          <a:solidFill>
                            <a:srgbClr val="6E6E73"/>
                          </a:solidFill>
                          <a:latin typeface="Arial"/>
                          <a:ea typeface="Arial"/>
                          <a:cs typeface="Arial"/>
                          <a:sym typeface="Arial"/>
                        </a:rPr>
                        <a:t>Yes: unused MFs beyond MCT, within 120 days</a:t>
                      </a:r>
                      <a:endParaRPr spc="0"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65750">
                <a:tc>
                  <a:txBody>
                    <a:bodyPr/>
                    <a:lstStyle/>
                    <a:p>
                      <a:pPr indent="0" lvl="0" marL="0" marR="0" rtl="0" algn="l">
                        <a:lnSpc>
                          <a:spcPct val="100000"/>
                        </a:lnSpc>
                        <a:spcBef>
                          <a:spcPts val="0"/>
                        </a:spcBef>
                        <a:spcAft>
                          <a:spcPts val="0"/>
                        </a:spcAft>
                        <a:buClr>
                          <a:srgbClr val="1D1D1F"/>
                        </a:buClr>
                        <a:buSzPts val="900"/>
                        <a:buFont typeface="Arial"/>
                        <a:buNone/>
                      </a:pPr>
                      <a:r>
                        <a:rPr b="1" lang="en-US" spc="0" sz="900" u="none" cap="none" strike="noStrike">
                          <a:solidFill>
                            <a:srgbClr val="1D1D1F"/>
                          </a:solidFill>
                          <a:latin typeface="Arial"/>
                          <a:ea typeface="Arial"/>
                          <a:cs typeface="Arial"/>
                          <a:sym typeface="Arial"/>
                        </a:rPr>
                        <a:t>Asked to cancel after MCT, FC kept renewing</a:t>
                      </a:r>
                      <a:endParaRPr spc="0"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US" spc="0" sz="900" u="none" cap="none" strike="noStrike">
                          <a:solidFill>
                            <a:srgbClr val="6E6E73"/>
                          </a:solidFill>
                          <a:latin typeface="Arial"/>
                          <a:ea typeface="Arial"/>
                          <a:cs typeface="Arial"/>
                          <a:sym typeface="Arial"/>
                        </a:rPr>
                        <a:t>Yes: every MF after the request, any age (agent error)</a:t>
                      </a:r>
                      <a:endParaRPr spc="0"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65750">
                <a:tc>
                  <a:txBody>
                    <a:bodyPr/>
                    <a:lstStyle/>
                    <a:p>
                      <a:pPr indent="0" lvl="0" marL="0" marR="0" rtl="0" algn="l">
                        <a:lnSpc>
                          <a:spcPct val="100000"/>
                        </a:lnSpc>
                        <a:spcBef>
                          <a:spcPts val="0"/>
                        </a:spcBef>
                        <a:spcAft>
                          <a:spcPts val="0"/>
                        </a:spcAft>
                        <a:buClr>
                          <a:srgbClr val="1D1D1F"/>
                        </a:buClr>
                        <a:buSzPts val="900"/>
                        <a:buFont typeface="Arial"/>
                        <a:buNone/>
                      </a:pPr>
                      <a:r>
                        <a:rPr b="1" lang="en-US" spc="0" sz="900" u="none" cap="none" strike="noStrike">
                          <a:solidFill>
                            <a:srgbClr val="1D1D1F"/>
                          </a:solidFill>
                          <a:latin typeface="Arial"/>
                          <a:ea typeface="Arial"/>
                          <a:cs typeface="Arial"/>
                          <a:sym typeface="Arial"/>
                        </a:rPr>
                        <a:t>Knew about it, forgot to cancel</a:t>
                      </a:r>
                      <a:endParaRPr spc="0"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US" spc="0" sz="900" u="none" cap="none" strike="noStrike">
                          <a:solidFill>
                            <a:srgbClr val="6E6E73"/>
                          </a:solidFill>
                          <a:latin typeface="Arial"/>
                          <a:ea typeface="Arial"/>
                          <a:cs typeface="Arial"/>
                          <a:sym typeface="Arial"/>
                        </a:rPr>
                        <a:t>Generally no. The benefit was available every month</a:t>
                      </a:r>
                      <a:endParaRPr spc="0"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65750">
                <a:tc>
                  <a:txBody>
                    <a:bodyPr/>
                    <a:lstStyle/>
                    <a:p>
                      <a:pPr indent="0" lvl="0" marL="0" marR="0" rtl="0" algn="l">
                        <a:lnSpc>
                          <a:spcPct val="100000"/>
                        </a:lnSpc>
                        <a:spcBef>
                          <a:spcPts val="0"/>
                        </a:spcBef>
                        <a:spcAft>
                          <a:spcPts val="0"/>
                        </a:spcAft>
                        <a:buClr>
                          <a:srgbClr val="1D1D1F"/>
                        </a:buClr>
                        <a:buSzPts val="900"/>
                        <a:buFont typeface="Arial"/>
                        <a:buNone/>
                      </a:pPr>
                      <a:r>
                        <a:rPr b="1" lang="en-US" spc="0" sz="900" u="none" cap="none" strike="noStrike">
                          <a:solidFill>
                            <a:srgbClr val="1D1D1F"/>
                          </a:solidFill>
                          <a:latin typeface="Arial"/>
                          <a:ea typeface="Arial"/>
                          <a:cs typeface="Arial"/>
                          <a:sym typeface="Arial"/>
                        </a:rPr>
                        <a:t>Duplicate account, duplicate MF</a:t>
                      </a:r>
                      <a:endParaRPr spc="0"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US" spc="0" sz="900" u="none" cap="none" strike="noStrike">
                          <a:solidFill>
                            <a:srgbClr val="6E6E73"/>
                          </a:solidFill>
                          <a:latin typeface="Arial"/>
                          <a:ea typeface="Arial"/>
                          <a:cs typeface="Arial"/>
                          <a:sym typeface="Arial"/>
                        </a:rPr>
                        <a:t>Yes, within 120 days, if C declines free months</a:t>
                      </a:r>
                      <a:endParaRPr spc="0"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65750">
                <a:tc>
                  <a:txBody>
                    <a:bodyPr/>
                    <a:lstStyle/>
                    <a:p>
                      <a:pPr indent="0" lvl="0" marL="0" marR="0" rtl="0" algn="l">
                        <a:lnSpc>
                          <a:spcPct val="100000"/>
                        </a:lnSpc>
                        <a:spcBef>
                          <a:spcPts val="0"/>
                        </a:spcBef>
                        <a:spcAft>
                          <a:spcPts val="0"/>
                        </a:spcAft>
                        <a:buClr>
                          <a:srgbClr val="1D1D1F"/>
                        </a:buClr>
                        <a:buSzPts val="900"/>
                        <a:buFont typeface="Arial"/>
                        <a:buNone/>
                      </a:pPr>
                      <a:r>
                        <a:rPr b="1" lang="en-US" spc="0" sz="900" u="none" cap="none" strike="noStrike">
                          <a:solidFill>
                            <a:srgbClr val="1D1D1F"/>
                          </a:solidFill>
                          <a:latin typeface="Arial"/>
                          <a:ea typeface="Arial"/>
                          <a:cs typeface="Arial"/>
                          <a:sym typeface="Arial"/>
                        </a:rPr>
                        <a:t>Paid the ETF, now wants the MF back</a:t>
                      </a:r>
                      <a:endParaRPr spc="0"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US" spc="0" sz="900" u="none" cap="none" strike="noStrike">
                          <a:solidFill>
                            <a:srgbClr val="6E6E73"/>
                          </a:solidFill>
                        </a:rPr>
                        <a:t>Generally </a:t>
                      </a:r>
                      <a:r>
                        <a:rPr lang="en-US" spc="0" sz="900" u="none" cap="none" strike="noStrike">
                          <a:solidFill>
                            <a:srgbClr val="6E6E73"/>
                          </a:solidFill>
                          <a:latin typeface="Arial"/>
                          <a:ea typeface="Arial"/>
                          <a:cs typeface="Arial"/>
                          <a:sym typeface="Arial"/>
                        </a:rPr>
                        <a:t>No. </a:t>
                      </a:r>
                      <a:r>
                        <a:rPr lang="en-US" spc="0" sz="900" u="none" cap="none" strike="noStrike">
                          <a:solidFill>
                            <a:srgbClr val="6E6E73"/>
                          </a:solidFill>
                        </a:rPr>
                        <a:t>If with</a:t>
                      </a:r>
                      <a:r>
                        <a:rPr lang="en-US" spc="0" sz="900" u="none" cap="none" strike="noStrike">
                          <a:solidFill>
                            <a:srgbClr val="6E6E73"/>
                          </a:solidFill>
                          <a:latin typeface="Arial"/>
                          <a:ea typeface="Arial"/>
                          <a:cs typeface="Arial"/>
                          <a:sym typeface="Arial"/>
                        </a:rPr>
                        <a:t> dispute or legal </a:t>
                      </a:r>
                      <a:r>
                        <a:rPr lang="en-US" spc="0" sz="900" u="none" cap="none" strike="noStrike">
                          <a:solidFill>
                            <a:srgbClr val="6E6E73"/>
                          </a:solidFill>
                        </a:rPr>
                        <a:t>threats</a:t>
                      </a:r>
                      <a:r>
                        <a:rPr lang="en-US" spc="0" sz="900" u="none" cap="none" strike="noStrike">
                          <a:solidFill>
                            <a:srgbClr val="6E6E73"/>
                          </a:solidFill>
                          <a:latin typeface="Arial"/>
                          <a:ea typeface="Arial"/>
                          <a:cs typeface="Arial"/>
                          <a:sym typeface="Arial"/>
                        </a:rPr>
                        <a:t>: yes</a:t>
                      </a:r>
                      <a:endParaRPr spc="0"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65750">
                <a:tc>
                  <a:txBody>
                    <a:bodyPr/>
                    <a:lstStyle/>
                    <a:p>
                      <a:pPr indent="0" lvl="0" marL="0" marR="0" rtl="0" algn="l">
                        <a:lnSpc>
                          <a:spcPct val="100000"/>
                        </a:lnSpc>
                        <a:spcBef>
                          <a:spcPts val="0"/>
                        </a:spcBef>
                        <a:spcAft>
                          <a:spcPts val="0"/>
                        </a:spcAft>
                        <a:buClr>
                          <a:srgbClr val="1D1D1F"/>
                        </a:buClr>
                        <a:buSzPts val="900"/>
                        <a:buFont typeface="Arial"/>
                        <a:buNone/>
                      </a:pPr>
                      <a:r>
                        <a:rPr b="1" lang="en-US" spc="0" sz="900" u="none" cap="none" strike="noStrike">
                          <a:solidFill>
                            <a:srgbClr val="1D1D1F"/>
                          </a:solidFill>
                          <a:latin typeface="Arial"/>
                          <a:ea typeface="Arial"/>
                          <a:cs typeface="Arial"/>
                          <a:sym typeface="Arial"/>
                        </a:rPr>
                        <a:t>Has a previous bank dispute</a:t>
                      </a:r>
                      <a:endParaRPr spc="0"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US" spc="0" sz="900" u="none" cap="none" strike="noStrike">
                          <a:solidFill>
                            <a:srgbClr val="6E6E73"/>
                          </a:solidFill>
                          <a:latin typeface="Arial"/>
                          <a:ea typeface="Arial"/>
                          <a:cs typeface="Arial"/>
                          <a:sym typeface="Arial"/>
                        </a:rPr>
                        <a:t>Yes, while still disputable (120 days)</a:t>
                      </a:r>
                      <a:endParaRPr spc="0"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71" name="Google Shape;171;p11"/>
          <p:cNvSpPr/>
          <p:nvPr/>
        </p:nvSpPr>
        <p:spPr>
          <a:xfrm>
            <a:off x="411480" y="4343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72" name="Google Shape;172;p11"/>
          <p:cNvPicPr preferRelativeResize="0"/>
          <p:nvPr/>
        </p:nvPicPr>
        <p:blipFill rotWithShape="1">
          <a:blip r:embed="rId3">
            <a:alphaModFix/>
          </a:blip>
          <a:srcRect b="0" l="0" r="0" t="0"/>
          <a:stretch/>
        </p:blipFill>
        <p:spPr>
          <a:xfrm>
            <a:off x="566928" y="4453128"/>
            <a:ext cx="164592" cy="164592"/>
          </a:xfrm>
          <a:prstGeom prst="rect">
            <a:avLst/>
          </a:prstGeom>
          <a:noFill/>
          <a:ln>
            <a:noFill/>
          </a:ln>
        </p:spPr>
      </p:pic>
      <p:sp>
        <p:nvSpPr>
          <p:cNvPr id="173" name="Google Shape;173;p11"/>
          <p:cNvSpPr txBox="1"/>
          <p:nvPr/>
        </p:nvSpPr>
        <p:spPr>
          <a:xfrm>
            <a:off x="822960" y="4443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Exception:  </a:t>
            </a:r>
            <a:r>
              <a:rPr b="0" i="0" lang="en-US" spc="0" sz="1000" u="none" cap="none" strike="noStrike">
                <a:solidFill>
                  <a:srgbClr val="1D1D1F"/>
                </a:solidFill>
                <a:latin typeface="Arial"/>
                <a:ea typeface="Arial"/>
                <a:cs typeface="Arial"/>
                <a:sym typeface="Arial"/>
              </a:rPr>
              <a:t>a successful dispute past 120 days opens every charge after it to refund.</a:t>
            </a:r>
            <a:endParaRPr b="0" i="0" spc="0" sz="1000" u="none" cap="none" strike="noStrike">
              <a:solidFill>
                <a:schemeClr val="dk1"/>
              </a:solidFill>
              <a:latin typeface="Calibri"/>
              <a:ea typeface="Calibri"/>
              <a:cs typeface="Calibri"/>
              <a:sym typeface="Calibri"/>
            </a:endParaRPr>
          </a:p>
        </p:txBody>
      </p:sp>
      <p:sp>
        <p:nvSpPr>
          <p:cNvPr id="174" name="Google Shape;174;p1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MF &amp; ETF REFUNDS</a:t>
            </a:r>
            <a:endParaRPr b="0" i="0" spc="0" sz="800" u="none" cap="none" strike="noStrike">
              <a:solidFill>
                <a:schemeClr val="dk1"/>
              </a:solidFill>
              <a:latin typeface="Calibri"/>
              <a:ea typeface="Calibri"/>
              <a:cs typeface="Calibri"/>
              <a:sym typeface="Calibri"/>
            </a:endParaRPr>
          </a:p>
        </p:txBody>
      </p:sp>
      <p:sp>
        <p:nvSpPr>
          <p:cNvPr id="181" name="Google Shape;181;p1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ETF refunds</a:t>
            </a:r>
            <a:endParaRPr b="0" i="0" spc="0" sz="2400" u="none" cap="none" strike="noStrike">
              <a:solidFill>
                <a:schemeClr val="dk1"/>
              </a:solidFill>
              <a:latin typeface="Calibri"/>
              <a:ea typeface="Calibri"/>
              <a:cs typeface="Calibri"/>
              <a:sym typeface="Calibri"/>
            </a:endParaRPr>
          </a:p>
        </p:txBody>
      </p:sp>
      <p:sp>
        <p:nvSpPr>
          <p:cNvPr id="182" name="Google Shape;182;p1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Full or partial, depending on the situation.</a:t>
            </a:r>
            <a:endParaRPr b="0" i="0" spc="0" sz="1200" u="none" cap="none" strike="noStrike">
              <a:solidFill>
                <a:schemeClr val="dk1"/>
              </a:solidFill>
              <a:latin typeface="Calibri"/>
              <a:ea typeface="Calibri"/>
              <a:cs typeface="Calibri"/>
              <a:sym typeface="Calibri"/>
            </a:endParaRPr>
          </a:p>
        </p:txBody>
      </p:sp>
      <p:sp>
        <p:nvSpPr>
          <p:cNvPr id="183" name="Google Shape;183;p12"/>
          <p:cNvSpPr/>
          <p:nvPr/>
        </p:nvSpPr>
        <p:spPr>
          <a:xfrm>
            <a:off x="411480" y="1325880"/>
            <a:ext cx="4069080" cy="2377440"/>
          </a:xfrm>
          <a:prstGeom prst="roundRect">
            <a:avLst>
              <a:gd fmla="val 3077"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4" name="Google Shape;184;p12"/>
          <p:cNvSpPr/>
          <p:nvPr/>
        </p:nvSpPr>
        <p:spPr>
          <a:xfrm>
            <a:off x="411480" y="1325880"/>
            <a:ext cx="406908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Full refund, if any</a:t>
            </a:r>
            <a:endParaRPr b="0" i="0" spc="0" sz="1050" u="none" cap="none" strike="noStrike">
              <a:solidFill>
                <a:schemeClr val="dk1"/>
              </a:solidFill>
              <a:latin typeface="Calibri"/>
              <a:ea typeface="Calibri"/>
              <a:cs typeface="Calibri"/>
              <a:sym typeface="Calibri"/>
            </a:endParaRPr>
          </a:p>
        </p:txBody>
      </p:sp>
      <p:sp>
        <p:nvSpPr>
          <p:cNvPr id="185" name="Google Shape;185;p12"/>
          <p:cNvSpPr txBox="1"/>
          <p:nvPr/>
        </p:nvSpPr>
        <p:spPr>
          <a:xfrm>
            <a:off x="576072" y="1764792"/>
            <a:ext cx="3739896" cy="186537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Dispute history + asked for a refund + no longer wants the service</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Dispute risk above the percentage-based threshold</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Extenuating circumstances, especially if they never used it or were unhappy</a:t>
            </a:r>
            <a:endParaRPr b="0" i="0" spc="0" sz="950" u="none" cap="none" strike="noStrike">
              <a:solidFill>
                <a:schemeClr val="dk1"/>
              </a:solidFill>
              <a:latin typeface="Calibri"/>
              <a:ea typeface="Calibri"/>
              <a:cs typeface="Calibri"/>
              <a:sym typeface="Calibri"/>
            </a:endParaRPr>
          </a:p>
        </p:txBody>
      </p:sp>
      <p:sp>
        <p:nvSpPr>
          <p:cNvPr id="186" name="Google Shape;186;p12"/>
          <p:cNvSpPr/>
          <p:nvPr/>
        </p:nvSpPr>
        <p:spPr>
          <a:xfrm>
            <a:off x="4663440" y="1325880"/>
            <a:ext cx="4069080" cy="2377440"/>
          </a:xfrm>
          <a:prstGeom prst="roundRect">
            <a:avLst>
              <a:gd fmla="val 3077" name="adj"/>
            </a:avLst>
          </a:prstGeom>
          <a:solidFill>
            <a:srgbClr val="FFF3D6"/>
          </a:solidFill>
          <a:ln cap="flat" cmpd="sng" w="9525">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7" name="Google Shape;187;p12"/>
          <p:cNvSpPr/>
          <p:nvPr/>
        </p:nvSpPr>
        <p:spPr>
          <a:xfrm>
            <a:off x="4663440" y="1325880"/>
            <a:ext cx="4069080" cy="329184"/>
          </a:xfrm>
          <a:prstGeom prst="roundRect">
            <a:avLst>
              <a:gd fmla="val 16667" name="adj"/>
            </a:avLst>
          </a:prstGeom>
          <a:solidFill>
            <a:srgbClr val="9A6410"/>
          </a:solidFill>
          <a:ln cap="flat" cmpd="sng" w="12700">
            <a:solidFill>
              <a:srgbClr val="9A641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Partial refund, if</a:t>
            </a:r>
            <a:endParaRPr b="0" i="0" spc="0" sz="1050" u="none" cap="none" strike="noStrike">
              <a:solidFill>
                <a:schemeClr val="dk1"/>
              </a:solidFill>
              <a:latin typeface="Calibri"/>
              <a:ea typeface="Calibri"/>
              <a:cs typeface="Calibri"/>
              <a:sym typeface="Calibri"/>
            </a:endParaRPr>
          </a:p>
        </p:txBody>
      </p:sp>
      <p:sp>
        <p:nvSpPr>
          <p:cNvPr id="188" name="Google Shape;188;p12"/>
          <p:cNvSpPr txBox="1"/>
          <p:nvPr/>
        </p:nvSpPr>
        <p:spPr>
          <a:xfrm>
            <a:off x="4828032" y="1764792"/>
            <a:ext cx="3739896" cy="186537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ETF miscalculated (system bug, overcharged hours)</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Wants DHJ voucher price / MF / card charges deducted for uncovered hours, with escalating language</a:t>
            </a:r>
            <a:endParaRPr b="0" i="0" spc="0" sz="950" u="none" cap="none" strike="noStrike">
              <a:solidFill>
                <a:schemeClr val="dk1"/>
              </a:solidFill>
              <a:latin typeface="Calibri"/>
              <a:ea typeface="Calibri"/>
              <a:cs typeface="Calibri"/>
              <a:sym typeface="Calibri"/>
            </a:endParaRPr>
          </a:p>
        </p:txBody>
      </p:sp>
      <p:sp>
        <p:nvSpPr>
          <p:cNvPr id="189" name="Google Shape;189;p12"/>
          <p:cNvSpPr/>
          <p:nvPr/>
        </p:nvSpPr>
        <p:spPr>
          <a:xfrm>
            <a:off x="411480" y="38862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90" name="Google Shape;190;p12"/>
          <p:cNvPicPr preferRelativeResize="0"/>
          <p:nvPr/>
        </p:nvPicPr>
        <p:blipFill rotWithShape="1">
          <a:blip r:embed="rId3">
            <a:alphaModFix/>
          </a:blip>
          <a:srcRect b="0" l="0" r="0" t="0"/>
          <a:stretch/>
        </p:blipFill>
        <p:spPr>
          <a:xfrm>
            <a:off x="566928" y="3995928"/>
            <a:ext cx="164592" cy="164592"/>
          </a:xfrm>
          <a:prstGeom prst="rect">
            <a:avLst/>
          </a:prstGeom>
          <a:noFill/>
          <a:ln>
            <a:noFill/>
          </a:ln>
        </p:spPr>
      </p:pic>
      <p:sp>
        <p:nvSpPr>
          <p:cNvPr id="191" name="Google Shape;191;p12"/>
          <p:cNvSpPr txBox="1"/>
          <p:nvPr/>
        </p:nvSpPr>
        <p:spPr>
          <a:xfrm>
            <a:off x="822960" y="39867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Extenuating circumstances:  </a:t>
            </a:r>
            <a:r>
              <a:rPr b="0" i="0" lang="en-US" spc="0" sz="1000" u="none" cap="none" strike="noStrike">
                <a:solidFill>
                  <a:srgbClr val="1D1D1F"/>
                </a:solidFill>
                <a:latin typeface="Arial"/>
                <a:ea typeface="Arial"/>
                <a:cs typeface="Arial"/>
                <a:sym typeface="Arial"/>
              </a:rPr>
              <a:t>Financial Hardship, Military, Illness, Death, ADA, Disaster.</a:t>
            </a:r>
            <a:endParaRPr b="0" i="0" spc="0" sz="1000" u="none" cap="none" strike="noStrike">
              <a:solidFill>
                <a:schemeClr val="dk1"/>
              </a:solidFill>
              <a:latin typeface="Calibri"/>
              <a:ea typeface="Calibri"/>
              <a:cs typeface="Calibri"/>
              <a:sym typeface="Calibri"/>
            </a:endParaRPr>
          </a:p>
        </p:txBody>
      </p:sp>
      <p:sp>
        <p:nvSpPr>
          <p:cNvPr id="192" name="Google Shape;192;p1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MF &amp; ETF REFUNDS</a:t>
            </a:r>
            <a:endParaRPr b="0" i="0" spc="0" sz="800" u="none" cap="none" strike="noStrike">
              <a:solidFill>
                <a:schemeClr val="dk1"/>
              </a:solidFill>
              <a:latin typeface="Calibri"/>
              <a:ea typeface="Calibri"/>
              <a:cs typeface="Calibri"/>
              <a:sym typeface="Calibri"/>
            </a:endParaRPr>
          </a:p>
        </p:txBody>
      </p:sp>
      <p:sp>
        <p:nvSpPr>
          <p:cNvPr id="199" name="Google Shape;199;p1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Billing errors &amp; high-risk cases</a:t>
            </a:r>
            <a:endParaRPr b="0" i="0" spc="0" sz="2400" u="none" cap="none" strike="noStrike">
              <a:solidFill>
                <a:schemeClr val="dk1"/>
              </a:solidFill>
              <a:latin typeface="Calibri"/>
              <a:ea typeface="Calibri"/>
              <a:cs typeface="Calibri"/>
              <a:sym typeface="Calibri"/>
            </a:endParaRPr>
          </a:p>
        </p:txBody>
      </p:sp>
      <p:sp>
        <p:nvSpPr>
          <p:cNvPr id="200" name="Google Shape;200;p1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Our mistake, or a real legal or dispute risk.</a:t>
            </a:r>
            <a:endParaRPr b="0" i="0" spc="0" sz="1200" u="none" cap="none" strike="noStrike">
              <a:solidFill>
                <a:schemeClr val="dk1"/>
              </a:solidFill>
              <a:latin typeface="Calibri"/>
              <a:ea typeface="Calibri"/>
              <a:cs typeface="Calibri"/>
              <a:sym typeface="Calibri"/>
            </a:endParaRPr>
          </a:p>
        </p:txBody>
      </p:sp>
      <p:sp>
        <p:nvSpPr>
          <p:cNvPr id="201" name="Google Shape;201;p13"/>
          <p:cNvSpPr/>
          <p:nvPr/>
        </p:nvSpPr>
        <p:spPr>
          <a:xfrm>
            <a:off x="411480" y="1325880"/>
            <a:ext cx="4069080" cy="2331720"/>
          </a:xfrm>
          <a:prstGeom prst="roundRect">
            <a:avLst>
              <a:gd fmla="val 3137"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2" name="Google Shape;202;p13"/>
          <p:cNvSpPr/>
          <p:nvPr/>
        </p:nvSpPr>
        <p:spPr>
          <a:xfrm>
            <a:off x="411480" y="1325880"/>
            <a:ext cx="406908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Billing errors: refund now</a:t>
            </a:r>
            <a:endParaRPr b="0" i="0" spc="0" sz="1050" u="none" cap="none" strike="noStrike">
              <a:solidFill>
                <a:schemeClr val="dk1"/>
              </a:solidFill>
              <a:latin typeface="Calibri"/>
              <a:ea typeface="Calibri"/>
              <a:cs typeface="Calibri"/>
              <a:sym typeface="Calibri"/>
            </a:endParaRPr>
          </a:p>
        </p:txBody>
      </p:sp>
      <p:sp>
        <p:nvSpPr>
          <p:cNvPr id="203" name="Google Shape;203;p13"/>
          <p:cNvSpPr txBox="1"/>
          <p:nvPr/>
        </p:nvSpPr>
        <p:spPr>
          <a:xfrm>
            <a:off x="576072" y="1764792"/>
            <a:ext cx="3739896" cy="181965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Charged incorrectly, or an MF charged twice</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A promised discount never applied</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We said we'd cancel after MCT and didn't</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No 120-day window</a:t>
            </a:r>
            <a:endParaRPr b="0" i="0" spc="0" sz="950" u="none" cap="none" strike="noStrike">
              <a:solidFill>
                <a:schemeClr val="dk1"/>
              </a:solidFill>
              <a:latin typeface="Calibri"/>
              <a:ea typeface="Calibri"/>
              <a:cs typeface="Calibri"/>
              <a:sym typeface="Calibri"/>
            </a:endParaRPr>
          </a:p>
        </p:txBody>
      </p:sp>
      <p:sp>
        <p:nvSpPr>
          <p:cNvPr id="204" name="Google Shape;204;p13"/>
          <p:cNvSpPr/>
          <p:nvPr/>
        </p:nvSpPr>
        <p:spPr>
          <a:xfrm>
            <a:off x="4663440" y="1325880"/>
            <a:ext cx="4069080" cy="2331720"/>
          </a:xfrm>
          <a:prstGeom prst="roundRect">
            <a:avLst>
              <a:gd fmla="val 3137"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5" name="Google Shape;205;p13"/>
          <p:cNvSpPr/>
          <p:nvPr/>
        </p:nvSpPr>
        <p:spPr>
          <a:xfrm>
            <a:off x="4663440" y="1325880"/>
            <a:ext cx="4069080" cy="329184"/>
          </a:xfrm>
          <a:prstGeom prst="roundRect">
            <a:avLst>
              <a:gd fmla="val 16667" name="adj"/>
            </a:avLst>
          </a:prstGeom>
          <a:solidFill>
            <a:srgbClr val="B3261E"/>
          </a:solidFill>
          <a:ln cap="flat" cmpd="sng" w="12700">
            <a:solidFill>
              <a:srgbClr val="B3261E"/>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High-risk / legal</a:t>
            </a:r>
            <a:endParaRPr b="0" i="0" spc="0" sz="1050" u="none" cap="none" strike="noStrike">
              <a:solidFill>
                <a:schemeClr val="dk1"/>
              </a:solidFill>
              <a:latin typeface="Calibri"/>
              <a:ea typeface="Calibri"/>
              <a:cs typeface="Calibri"/>
              <a:sym typeface="Calibri"/>
            </a:endParaRPr>
          </a:p>
        </p:txBody>
      </p:sp>
      <p:sp>
        <p:nvSpPr>
          <p:cNvPr id="206" name="Google Shape;206;p13"/>
          <p:cNvSpPr txBox="1"/>
          <p:nvPr/>
        </p:nvSpPr>
        <p:spPr>
          <a:xfrm>
            <a:off x="4828032" y="1764792"/>
            <a:ext cx="3739896" cy="181965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Material legal threat: refund within 120 days; beyond needs Legal approval (via TL)</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Dispute risk above threshold: 120 days</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Already filed a dispute: 120 days still applies</a:t>
            </a:r>
            <a:endParaRPr b="0" i="0" spc="0" sz="900" u="none" cap="none" strike="noStrike">
              <a:solidFill>
                <a:schemeClr val="dk1"/>
              </a:solidFill>
              <a:latin typeface="Calibri"/>
              <a:ea typeface="Calibri"/>
              <a:cs typeface="Calibri"/>
              <a:sym typeface="Calibri"/>
            </a:endParaRPr>
          </a:p>
        </p:txBody>
      </p:sp>
      <p:sp>
        <p:nvSpPr>
          <p:cNvPr id="207" name="Google Shape;207;p13"/>
          <p:cNvSpPr/>
          <p:nvPr/>
        </p:nvSpPr>
        <p:spPr>
          <a:xfrm>
            <a:off x="411480" y="384048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08" name="Google Shape;208;p13"/>
          <p:cNvPicPr preferRelativeResize="0"/>
          <p:nvPr/>
        </p:nvPicPr>
        <p:blipFill rotWithShape="1">
          <a:blip r:embed="rId3">
            <a:alphaModFix/>
          </a:blip>
          <a:srcRect b="0" l="0" r="0" t="0"/>
          <a:stretch/>
        </p:blipFill>
        <p:spPr>
          <a:xfrm>
            <a:off x="566928" y="3950208"/>
            <a:ext cx="164592" cy="164592"/>
          </a:xfrm>
          <a:prstGeom prst="rect">
            <a:avLst/>
          </a:prstGeom>
          <a:noFill/>
          <a:ln>
            <a:noFill/>
          </a:ln>
        </p:spPr>
      </p:pic>
      <p:sp>
        <p:nvSpPr>
          <p:cNvPr id="209" name="Google Shape;209;p13"/>
          <p:cNvSpPr txBox="1"/>
          <p:nvPr/>
        </p:nvSpPr>
        <p:spPr>
          <a:xfrm>
            <a:off x="822960" y="394106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None apply, low dispute risk?  </a:t>
            </a:r>
            <a:r>
              <a:rPr b="0" i="0" lang="en-US" spc="0" sz="1000" u="none" cap="none" strike="noStrike">
                <a:solidFill>
                  <a:srgbClr val="1D1D1F"/>
                </a:solidFill>
                <a:latin typeface="Arial"/>
                <a:ea typeface="Arial"/>
                <a:cs typeface="Arial"/>
                <a:sym typeface="Arial"/>
              </a:rPr>
              <a:t>no refund. FC active? Offer free months in lieu (max 3).</a:t>
            </a:r>
            <a:endParaRPr b="0" i="0" spc="0" sz="1000" u="none" cap="none" strike="noStrike">
              <a:solidFill>
                <a:schemeClr val="dk1"/>
              </a:solidFill>
              <a:latin typeface="Calibri"/>
              <a:ea typeface="Calibri"/>
              <a:cs typeface="Calibri"/>
              <a:sym typeface="Calibri"/>
            </a:endParaRPr>
          </a:p>
        </p:txBody>
      </p:sp>
      <p:sp>
        <p:nvSpPr>
          <p:cNvPr id="210" name="Google Shape;210;p1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MF &amp; ETF REFUNDS</a:t>
            </a:r>
            <a:endParaRPr b="0" i="0" spc="0" sz="800" u="none" cap="none" strike="noStrike">
              <a:solidFill>
                <a:schemeClr val="dk1"/>
              </a:solidFill>
              <a:latin typeface="Calibri"/>
              <a:ea typeface="Calibri"/>
              <a:cs typeface="Calibri"/>
              <a:sym typeface="Calibri"/>
            </a:endParaRPr>
          </a:p>
        </p:txBody>
      </p:sp>
      <p:sp>
        <p:nvSpPr>
          <p:cNvPr id="217" name="Google Shape;217;p1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Compassion &amp; hardship</a:t>
            </a:r>
            <a:endParaRPr b="0" i="0" spc="0" sz="2400" u="none" cap="none" strike="noStrike">
              <a:solidFill>
                <a:schemeClr val="dk1"/>
              </a:solidFill>
              <a:latin typeface="Calibri"/>
              <a:ea typeface="Calibri"/>
              <a:cs typeface="Calibri"/>
              <a:sym typeface="Calibri"/>
            </a:endParaRPr>
          </a:p>
        </p:txBody>
      </p:sp>
      <p:sp>
        <p:nvSpPr>
          <p:cNvPr id="218" name="Google Shape;218;p1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Within or beyond MCT. A human, personal approach.</a:t>
            </a:r>
            <a:endParaRPr b="0" i="0" spc="0" sz="1200" u="none" cap="none" strike="noStrike">
              <a:solidFill>
                <a:schemeClr val="dk1"/>
              </a:solidFill>
              <a:latin typeface="Calibri"/>
              <a:ea typeface="Calibri"/>
              <a:cs typeface="Calibri"/>
              <a:sym typeface="Calibri"/>
            </a:endParaRPr>
          </a:p>
        </p:txBody>
      </p:sp>
      <p:sp>
        <p:nvSpPr>
          <p:cNvPr id="219" name="Google Shape;219;p14"/>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0" name="Google Shape;220;p14"/>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21" name="Google Shape;221;p14"/>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222" name="Google Shape;222;p14"/>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Human first</a:t>
            </a:r>
            <a:endParaRPr b="0" i="0" spc="0" sz="1200" u="none" cap="none" strike="noStrike">
              <a:solidFill>
                <a:schemeClr val="dk1"/>
              </a:solidFill>
              <a:latin typeface="Calibri"/>
              <a:ea typeface="Calibri"/>
              <a:cs typeface="Calibri"/>
              <a:sym typeface="Calibri"/>
            </a:endParaRPr>
          </a:p>
        </p:txBody>
      </p:sp>
      <p:sp>
        <p:nvSpPr>
          <p:cNvPr id="223" name="Google Shape;223;p14"/>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Personal approach, not the standard scenario logic.</a:t>
            </a:r>
            <a:endParaRPr b="0" i="0" spc="0" sz="950" u="none" cap="none" strike="noStrike">
              <a:solidFill>
                <a:schemeClr val="dk1"/>
              </a:solidFill>
              <a:latin typeface="Calibri"/>
              <a:ea typeface="Calibri"/>
              <a:cs typeface="Calibri"/>
              <a:sym typeface="Calibri"/>
            </a:endParaRPr>
          </a:p>
        </p:txBody>
      </p:sp>
      <p:sp>
        <p:nvSpPr>
          <p:cNvPr id="224" name="Google Shape;224;p14"/>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5" name="Google Shape;225;p14"/>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26" name="Google Shape;226;p14"/>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227" name="Google Shape;227;p14"/>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Start with 1 MF</a:t>
            </a:r>
            <a:endParaRPr b="0" i="0" spc="0" sz="1200" u="none" cap="none" strike="noStrike">
              <a:solidFill>
                <a:schemeClr val="dk1"/>
              </a:solidFill>
              <a:latin typeface="Calibri"/>
              <a:ea typeface="Calibri"/>
              <a:cs typeface="Calibri"/>
              <a:sym typeface="Calibri"/>
            </a:endParaRPr>
          </a:p>
        </p:txBody>
      </p:sp>
      <p:sp>
        <p:nvSpPr>
          <p:cNvPr id="228" name="Google Shape;228;p14"/>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If C doesn't say how many, start with 1. Don't offer more than asked.</a:t>
            </a:r>
            <a:endParaRPr b="0" i="0" spc="0" sz="950" u="none" cap="none" strike="noStrike">
              <a:solidFill>
                <a:schemeClr val="dk1"/>
              </a:solidFill>
              <a:latin typeface="Calibri"/>
              <a:ea typeface="Calibri"/>
              <a:cs typeface="Calibri"/>
              <a:sym typeface="Calibri"/>
            </a:endParaRPr>
          </a:p>
        </p:txBody>
      </p:sp>
      <p:sp>
        <p:nvSpPr>
          <p:cNvPr id="229" name="Google Shape;229;p14"/>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0" name="Google Shape;230;p14"/>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31" name="Google Shape;231;p14"/>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232" name="Google Shape;232;p14"/>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Beyond the limits</a:t>
            </a:r>
            <a:endParaRPr b="0" i="0" spc="0" sz="1200" u="none" cap="none" strike="noStrike">
              <a:solidFill>
                <a:schemeClr val="dk1"/>
              </a:solidFill>
              <a:latin typeface="Calibri"/>
              <a:ea typeface="Calibri"/>
              <a:cs typeface="Calibri"/>
              <a:sym typeface="Calibri"/>
            </a:endParaRPr>
          </a:p>
        </p:txBody>
      </p:sp>
      <p:sp>
        <p:nvSpPr>
          <p:cNvPr id="233" name="Google Shape;233;p14"/>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Severe cases: multiple MFs or beyond 120 days, with support approval.</a:t>
            </a:r>
            <a:endParaRPr b="0" i="0" spc="0" sz="950" u="none" cap="none" strike="noStrike">
              <a:solidFill>
                <a:schemeClr val="dk1"/>
              </a:solidFill>
              <a:latin typeface="Calibri"/>
              <a:ea typeface="Calibri"/>
              <a:cs typeface="Calibri"/>
              <a:sym typeface="Calibri"/>
            </a:endParaRPr>
          </a:p>
        </p:txBody>
      </p:sp>
      <p:sp>
        <p:nvSpPr>
          <p:cNvPr id="234" name="Google Shape;234;p14"/>
          <p:cNvSpPr/>
          <p:nvPr/>
        </p:nvSpPr>
        <p:spPr>
          <a:xfrm>
            <a:off x="411480" y="3200400"/>
            <a:ext cx="8321040" cy="868680"/>
          </a:xfrm>
          <a:prstGeom prst="roundRect">
            <a:avLst>
              <a:gd fmla="val 8421" name="adj"/>
            </a:avLst>
          </a:prstGeom>
          <a:solidFill>
            <a:srgbClr val="FFF3D6"/>
          </a:solidFill>
          <a:ln cap="flat" cmpd="sng" w="9525">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35" name="Google Shape;235;p14"/>
          <p:cNvPicPr preferRelativeResize="0"/>
          <p:nvPr/>
        </p:nvPicPr>
        <p:blipFill rotWithShape="1">
          <a:blip r:embed="rId6">
            <a:alphaModFix/>
          </a:blip>
          <a:srcRect b="0" l="0" r="0" t="0"/>
          <a:stretch/>
        </p:blipFill>
        <p:spPr>
          <a:xfrm>
            <a:off x="576072" y="3337560"/>
            <a:ext cx="164592" cy="164592"/>
          </a:xfrm>
          <a:prstGeom prst="rect">
            <a:avLst/>
          </a:prstGeom>
          <a:noFill/>
          <a:ln>
            <a:noFill/>
          </a:ln>
        </p:spPr>
      </p:pic>
      <p:sp>
        <p:nvSpPr>
          <p:cNvPr id="236" name="Google Shape;236;p14"/>
          <p:cNvSpPr txBox="1"/>
          <p:nvPr/>
        </p:nvSpPr>
        <p:spPr>
          <a:xfrm>
            <a:off x="822960" y="3255264"/>
            <a:ext cx="7772400"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950"/>
              <a:buFont typeface="Play"/>
              <a:buNone/>
            </a:pPr>
            <a:r>
              <a:rPr b="1" i="0" lang="en-US" spc="0" sz="950" u="none" cap="none" strike="noStrike">
                <a:solidFill>
                  <a:srgbClr val="9A6410"/>
                </a:solidFill>
                <a:latin typeface="Play"/>
                <a:ea typeface="Play"/>
                <a:cs typeface="Play"/>
                <a:sym typeface="Play"/>
              </a:rPr>
              <a:t>Macros</a:t>
            </a:r>
            <a:endParaRPr b="0" i="0" spc="0" sz="95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1D1D1F"/>
              </a:buClr>
              <a:buSzPts val="950"/>
              <a:buFont typeface="Arial"/>
              <a:buNone/>
            </a:pPr>
            <a:r>
              <a:rPr b="0" i="0" lang="en-US" spc="0" sz="950" u="none" cap="none" strike="noStrike">
                <a:solidFill>
                  <a:srgbClr val="1D1D1F"/>
                </a:solidFill>
                <a:latin typeface="Arial"/>
                <a:ea typeface="Arial"/>
                <a:cs typeface="Arial"/>
                <a:sym typeface="Arial"/>
              </a:rPr>
              <a:t>[Fragment] No refund — monthly fee   ·   [Fragment] No refund — ETF   ·   [Fragment] Free month offer</a:t>
            </a:r>
            <a:endParaRPr b="0" i="0" spc="0" sz="95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1D1D1F"/>
              </a:buClr>
              <a:buSzPts val="950"/>
              <a:buFont typeface="Arial"/>
              <a:buNone/>
            </a:pPr>
            <a:r>
              <a:rPr b="0" i="0" lang="en-US" spc="0" sz="950" u="none" cap="none" strike="noStrike">
                <a:solidFill>
                  <a:srgbClr val="1D1D1F"/>
                </a:solidFill>
                <a:latin typeface="Arial"/>
                <a:ea typeface="Arial"/>
                <a:cs typeface="Arial"/>
                <a:sym typeface="Arial"/>
              </a:rPr>
              <a:t>[Fragment] Lower ETF offer – MF deducted from ETF   ·   [Fragment] Lower ETF offer – Voucher price deducted from ETF</a:t>
            </a:r>
            <a:endParaRPr b="0" i="0" spc="0" sz="950" u="none" cap="none" strike="noStrike">
              <a:solidFill>
                <a:schemeClr val="dk1"/>
              </a:solidFill>
              <a:latin typeface="Calibri"/>
              <a:ea typeface="Calibri"/>
              <a:cs typeface="Calibri"/>
              <a:sym typeface="Calibri"/>
            </a:endParaRPr>
          </a:p>
        </p:txBody>
      </p:sp>
      <p:sp>
        <p:nvSpPr>
          <p:cNvPr id="237" name="Google Shape;237;p1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MF &amp; ETF REFUNDS  ·  KNOWLEDGE CHECK</a:t>
            </a:r>
            <a:endParaRPr b="0" i="0" spc="0" sz="800" u="none" cap="none" strike="noStrike">
              <a:solidFill>
                <a:schemeClr val="dk1"/>
              </a:solidFill>
              <a:latin typeface="Calibri"/>
              <a:ea typeface="Calibri"/>
              <a:cs typeface="Calibri"/>
              <a:sym typeface="Calibri"/>
            </a:endParaRPr>
          </a:p>
        </p:txBody>
      </p:sp>
      <p:sp>
        <p:nvSpPr>
          <p:cNvPr id="244" name="Google Shape;244;p1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Let’s See What You’ve Got!</a:t>
            </a:r>
            <a:endParaRPr b="0" i="0" spc="0" sz="2400" u="none" cap="none" strike="noStrike">
              <a:solidFill>
                <a:schemeClr val="dk1"/>
              </a:solidFill>
              <a:latin typeface="Calibri"/>
              <a:ea typeface="Calibri"/>
              <a:cs typeface="Calibri"/>
              <a:sym typeface="Calibri"/>
            </a:endParaRPr>
          </a:p>
        </p:txBody>
      </p:sp>
      <p:sp>
        <p:nvSpPr>
          <p:cNvPr id="245" name="Google Shape;245;p15"/>
          <p:cNvSpPr/>
          <p:nvPr/>
        </p:nvSpPr>
        <p:spPr>
          <a:xfrm>
            <a:off x="411480" y="1280160"/>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6" name="Google Shape;246;p15"/>
          <p:cNvSpPr/>
          <p:nvPr/>
        </p:nvSpPr>
        <p:spPr>
          <a:xfrm>
            <a:off x="548640" y="153619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7" name="Google Shape;247;p15"/>
          <p:cNvSpPr txBox="1"/>
          <p:nvPr/>
        </p:nvSpPr>
        <p:spPr>
          <a:xfrm>
            <a:off x="548640" y="153619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248" name="Google Shape;248;p15"/>
          <p:cNvSpPr txBox="1"/>
          <p:nvPr/>
        </p:nvSpPr>
        <p:spPr>
          <a:xfrm>
            <a:off x="960120" y="1280160"/>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7 paid months, 6-month MCT, 3 unused MFs (all within 120 days, C was unaware). How many are refundable?</a:t>
            </a:r>
            <a:endParaRPr b="0" i="0" spc="0" sz="1000" u="none" cap="none" strike="noStrike">
              <a:solidFill>
                <a:schemeClr val="dk1"/>
              </a:solidFill>
              <a:latin typeface="Calibri"/>
              <a:ea typeface="Calibri"/>
              <a:cs typeface="Calibri"/>
              <a:sym typeface="Calibri"/>
            </a:endParaRPr>
          </a:p>
        </p:txBody>
      </p:sp>
      <p:sp>
        <p:nvSpPr>
          <p:cNvPr id="249" name="Google Shape;249;p15"/>
          <p:cNvSpPr/>
          <p:nvPr/>
        </p:nvSpPr>
        <p:spPr>
          <a:xfrm>
            <a:off x="5120640" y="1280160"/>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0" name="Google Shape;250;p15"/>
          <p:cNvSpPr txBox="1"/>
          <p:nvPr/>
        </p:nvSpPr>
        <p:spPr>
          <a:xfrm>
            <a:off x="5257800" y="1280160"/>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One: only the MF beyond the MCT. The other two are owed.</a:t>
            </a:r>
            <a:endParaRPr b="0" i="0" spc="0" sz="900" u="none" cap="none" strike="noStrike">
              <a:solidFill>
                <a:schemeClr val="dk1"/>
              </a:solidFill>
              <a:latin typeface="Calibri"/>
              <a:ea typeface="Calibri"/>
              <a:cs typeface="Calibri"/>
              <a:sym typeface="Calibri"/>
            </a:endParaRPr>
          </a:p>
        </p:txBody>
      </p:sp>
      <p:sp>
        <p:nvSpPr>
          <p:cNvPr id="251" name="Google Shape;251;p15"/>
          <p:cNvSpPr/>
          <p:nvPr/>
        </p:nvSpPr>
        <p:spPr>
          <a:xfrm>
            <a:off x="411480" y="2139696"/>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2" name="Google Shape;252;p15"/>
          <p:cNvSpPr/>
          <p:nvPr/>
        </p:nvSpPr>
        <p:spPr>
          <a:xfrm>
            <a:off x="548640" y="23957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3" name="Google Shape;253;p15"/>
          <p:cNvSpPr txBox="1"/>
          <p:nvPr/>
        </p:nvSpPr>
        <p:spPr>
          <a:xfrm>
            <a:off x="548640" y="23957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254" name="Google Shape;254;p15"/>
          <p:cNvSpPr txBox="1"/>
          <p:nvPr/>
        </p:nvSpPr>
        <p:spPr>
          <a:xfrm>
            <a:off x="960120" y="2139696"/>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C is eligible, FC is active and C is retainable. Refund?</a:t>
            </a:r>
            <a:endParaRPr b="0" i="0" spc="0" sz="1000" u="none" cap="none" strike="noStrike">
              <a:solidFill>
                <a:schemeClr val="dk1"/>
              </a:solidFill>
              <a:latin typeface="Calibri"/>
              <a:ea typeface="Calibri"/>
              <a:cs typeface="Calibri"/>
              <a:sym typeface="Calibri"/>
            </a:endParaRPr>
          </a:p>
        </p:txBody>
      </p:sp>
      <p:sp>
        <p:nvSpPr>
          <p:cNvPr id="255" name="Google Shape;255;p15"/>
          <p:cNvSpPr/>
          <p:nvPr/>
        </p:nvSpPr>
        <p:spPr>
          <a:xfrm>
            <a:off x="5120640" y="2139696"/>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6" name="Google Shape;256;p15"/>
          <p:cNvSpPr txBox="1"/>
          <p:nvPr/>
        </p:nvSpPr>
        <p:spPr>
          <a:xfrm>
            <a:off x="5257800" y="2139696"/>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Lead with free months equal to the eligible amount (max 3).</a:t>
            </a:r>
            <a:endParaRPr b="0" i="0" spc="0" sz="900" u="none" cap="none" strike="noStrike">
              <a:solidFill>
                <a:schemeClr val="dk1"/>
              </a:solidFill>
              <a:latin typeface="Calibri"/>
              <a:ea typeface="Calibri"/>
              <a:cs typeface="Calibri"/>
              <a:sym typeface="Calibri"/>
            </a:endParaRPr>
          </a:p>
        </p:txBody>
      </p:sp>
      <p:sp>
        <p:nvSpPr>
          <p:cNvPr id="257" name="Google Shape;257;p15"/>
          <p:cNvSpPr/>
          <p:nvPr/>
        </p:nvSpPr>
        <p:spPr>
          <a:xfrm>
            <a:off x="411480" y="2999232"/>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8" name="Google Shape;258;p15"/>
          <p:cNvSpPr/>
          <p:nvPr/>
        </p:nvSpPr>
        <p:spPr>
          <a:xfrm>
            <a:off x="548640" y="325526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9" name="Google Shape;259;p15"/>
          <p:cNvSpPr txBox="1"/>
          <p:nvPr/>
        </p:nvSpPr>
        <p:spPr>
          <a:xfrm>
            <a:off x="548640" y="325526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260" name="Google Shape;260;p15"/>
          <p:cNvSpPr txBox="1"/>
          <p:nvPr/>
        </p:nvSpPr>
        <p:spPr>
          <a:xfrm>
            <a:off x="960120" y="2999232"/>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"I knew about the membership, I just forgot to cancel." Refund?</a:t>
            </a:r>
            <a:endParaRPr b="0" i="0" spc="0" sz="1000" u="none" cap="none" strike="noStrike">
              <a:solidFill>
                <a:schemeClr val="dk1"/>
              </a:solidFill>
              <a:latin typeface="Calibri"/>
              <a:ea typeface="Calibri"/>
              <a:cs typeface="Calibri"/>
              <a:sym typeface="Calibri"/>
            </a:endParaRPr>
          </a:p>
        </p:txBody>
      </p:sp>
      <p:sp>
        <p:nvSpPr>
          <p:cNvPr id="261" name="Google Shape;261;p15"/>
          <p:cNvSpPr/>
          <p:nvPr/>
        </p:nvSpPr>
        <p:spPr>
          <a:xfrm>
            <a:off x="5120640" y="2999232"/>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2" name="Google Shape;262;p15"/>
          <p:cNvSpPr txBox="1"/>
          <p:nvPr/>
        </p:nvSpPr>
        <p:spPr>
          <a:xfrm>
            <a:off x="5257800" y="2999232"/>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Generally no. The benefit was available every month.</a:t>
            </a:r>
            <a:endParaRPr b="0" i="0" spc="0" sz="900" u="none" cap="none" strike="noStrike">
              <a:solidFill>
                <a:schemeClr val="dk1"/>
              </a:solidFill>
              <a:latin typeface="Calibri"/>
              <a:ea typeface="Calibri"/>
              <a:cs typeface="Calibri"/>
              <a:sym typeface="Calibri"/>
            </a:endParaRPr>
          </a:p>
        </p:txBody>
      </p:sp>
      <p:sp>
        <p:nvSpPr>
          <p:cNvPr id="263" name="Google Shape;263;p15"/>
          <p:cNvSpPr/>
          <p:nvPr/>
        </p:nvSpPr>
        <p:spPr>
          <a:xfrm>
            <a:off x="411480" y="3858768"/>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4" name="Google Shape;264;p15"/>
          <p:cNvSpPr/>
          <p:nvPr/>
        </p:nvSpPr>
        <p:spPr>
          <a:xfrm>
            <a:off x="548640" y="41148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5" name="Google Shape;265;p15"/>
          <p:cNvSpPr txBox="1"/>
          <p:nvPr/>
        </p:nvSpPr>
        <p:spPr>
          <a:xfrm>
            <a:off x="548640" y="41148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4</a:t>
            </a:r>
            <a:endParaRPr b="0" i="0" spc="0" sz="900" u="none" cap="none" strike="noStrike">
              <a:solidFill>
                <a:schemeClr val="dk1"/>
              </a:solidFill>
              <a:latin typeface="Calibri"/>
              <a:ea typeface="Calibri"/>
              <a:cs typeface="Calibri"/>
              <a:sym typeface="Calibri"/>
            </a:endParaRPr>
          </a:p>
        </p:txBody>
      </p:sp>
      <p:sp>
        <p:nvSpPr>
          <p:cNvPr id="266" name="Google Shape;266;p15"/>
          <p:cNvSpPr txBox="1"/>
          <p:nvPr/>
        </p:nvSpPr>
        <p:spPr>
          <a:xfrm>
            <a:off x="960120" y="3858768"/>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C asked to cancel after MCT; FC kept renewing for 5 months. Refund?</a:t>
            </a:r>
            <a:endParaRPr b="0" i="0" spc="0" sz="1000" u="none" cap="none" strike="noStrike">
              <a:solidFill>
                <a:schemeClr val="dk1"/>
              </a:solidFill>
              <a:latin typeface="Calibri"/>
              <a:ea typeface="Calibri"/>
              <a:cs typeface="Calibri"/>
              <a:sym typeface="Calibri"/>
            </a:endParaRPr>
          </a:p>
        </p:txBody>
      </p:sp>
      <p:sp>
        <p:nvSpPr>
          <p:cNvPr id="267" name="Google Shape;267;p15"/>
          <p:cNvSpPr/>
          <p:nvPr/>
        </p:nvSpPr>
        <p:spPr>
          <a:xfrm>
            <a:off x="5120640" y="3858768"/>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8" name="Google Shape;268;p15"/>
          <p:cNvSpPr txBox="1"/>
          <p:nvPr/>
        </p:nvSpPr>
        <p:spPr>
          <a:xfrm>
            <a:off x="5257800" y="3858768"/>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Yes, every MF after the request, any age: agent error.</a:t>
            </a:r>
            <a:endParaRPr b="0" i="0" spc="0" sz="900" u="none" cap="none" strike="noStrike">
              <a:solidFill>
                <a:schemeClr val="dk1"/>
              </a:solidFill>
              <a:latin typeface="Calibri"/>
              <a:ea typeface="Calibri"/>
              <a:cs typeface="Calibri"/>
              <a:sym typeface="Calibri"/>
            </a:endParaRPr>
          </a:p>
        </p:txBody>
      </p:sp>
      <p:sp>
        <p:nvSpPr>
          <p:cNvPr id="269" name="Google Shape;269;p1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6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600"/>
                                        <p:tgtEl>
                                          <p:spTgt spid="2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600"/>
                                        <p:tgtEl>
                                          <p:spTgt spid="2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600"/>
                                        <p:tgtEl>
                                          <p:spTgt spid="2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MF &amp; ETF REFUNDS  ·  PRACTICE</a:t>
            </a:r>
            <a:endParaRPr b="0" i="0" spc="0" sz="800" u="none" cap="none" strike="noStrike">
              <a:solidFill>
                <a:schemeClr val="dk1"/>
              </a:solidFill>
              <a:latin typeface="Calibri"/>
              <a:ea typeface="Calibri"/>
              <a:cs typeface="Calibri"/>
              <a:sym typeface="Calibri"/>
            </a:endParaRPr>
          </a:p>
        </p:txBody>
      </p:sp>
      <p:sp>
        <p:nvSpPr>
          <p:cNvPr id="276" name="Google Shape;276;p1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Let's investigate together!</a:t>
            </a:r>
            <a:endParaRPr b="0" i="0" spc="0" sz="2400" u="none" cap="none" strike="noStrike">
              <a:solidFill>
                <a:schemeClr val="dk1"/>
              </a:solidFill>
              <a:latin typeface="Calibri"/>
              <a:ea typeface="Calibri"/>
              <a:cs typeface="Calibri"/>
              <a:sym typeface="Calibri"/>
            </a:endParaRPr>
          </a:p>
        </p:txBody>
      </p:sp>
      <p:sp>
        <p:nvSpPr>
          <p:cNvPr id="277" name="Google Shape;277;p16"/>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Review the live ticket and investigate.</a:t>
            </a:r>
            <a:endParaRPr b="0" i="0" spc="0" sz="1200" u="none" cap="none" strike="noStrike">
              <a:solidFill>
                <a:schemeClr val="dk1"/>
              </a:solidFill>
              <a:latin typeface="Calibri"/>
              <a:ea typeface="Calibri"/>
              <a:cs typeface="Calibri"/>
              <a:sym typeface="Calibri"/>
            </a:endParaRPr>
          </a:p>
        </p:txBody>
      </p:sp>
      <p:sp>
        <p:nvSpPr>
          <p:cNvPr id="278" name="Google Shape;278;p16"/>
          <p:cNvSpPr/>
          <p:nvPr/>
        </p:nvSpPr>
        <p:spPr>
          <a:xfrm>
            <a:off x="411480" y="1298448"/>
            <a:ext cx="3383280" cy="2633472"/>
          </a:xfrm>
          <a:prstGeom prst="roundRect">
            <a:avLst>
              <a:gd fmla="val 27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9" name="Google Shape;279;p16"/>
          <p:cNvSpPr/>
          <p:nvPr/>
        </p:nvSpPr>
        <p:spPr>
          <a:xfrm>
            <a:off x="594360" y="1481328"/>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80" name="Google Shape;280;p16"/>
          <p:cNvPicPr preferRelativeResize="0"/>
          <p:nvPr/>
        </p:nvPicPr>
        <p:blipFill rotWithShape="1">
          <a:blip r:embed="rId3">
            <a:alphaModFix/>
          </a:blip>
          <a:srcRect b="0" l="0" r="0" t="0"/>
          <a:stretch/>
        </p:blipFill>
        <p:spPr>
          <a:xfrm>
            <a:off x="686532" y="1573500"/>
            <a:ext cx="199705" cy="199705"/>
          </a:xfrm>
          <a:prstGeom prst="rect">
            <a:avLst/>
          </a:prstGeom>
          <a:noFill/>
          <a:ln>
            <a:noFill/>
          </a:ln>
        </p:spPr>
      </p:pic>
      <p:sp>
        <p:nvSpPr>
          <p:cNvPr id="281" name="Google Shape;281;p16"/>
          <p:cNvSpPr txBox="1"/>
          <p:nvPr/>
        </p:nvSpPr>
        <p:spPr>
          <a:xfrm>
            <a:off x="594360" y="2011680"/>
            <a:ext cx="301752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US" spc="0" sz="1300" u="none" cap="none" strike="noStrike">
                <a:solidFill>
                  <a:srgbClr val="1D1D1F"/>
                </a:solidFill>
                <a:latin typeface="Play"/>
                <a:ea typeface="Play"/>
                <a:cs typeface="Play"/>
                <a:sym typeface="Play"/>
              </a:rPr>
              <a:t>Live ticket</a:t>
            </a:r>
            <a:endParaRPr b="0" i="0" spc="0" sz="1300" u="none" cap="none" strike="noStrike">
              <a:solidFill>
                <a:schemeClr val="dk1"/>
              </a:solidFill>
              <a:latin typeface="Calibri"/>
              <a:ea typeface="Calibri"/>
              <a:cs typeface="Calibri"/>
              <a:sym typeface="Calibri"/>
            </a:endParaRPr>
          </a:p>
        </p:txBody>
      </p:sp>
      <p:sp>
        <p:nvSpPr>
          <p:cNvPr id="282" name="Google Shape;282;p16"/>
          <p:cNvSpPr txBox="1"/>
          <p:nvPr/>
        </p:nvSpPr>
        <p:spPr>
          <a:xfrm>
            <a:off x="594360" y="2350008"/>
            <a:ext cx="301752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050"/>
              <a:buFont typeface="Arial"/>
              <a:buNone/>
            </a:pPr>
            <a:r>
              <a:rPr b="0" i="0" lang="en-US" spc="0" sz="1050" u="none" cap="none" strike="noStrike">
                <a:solidFill>
                  <a:srgbClr val="6E6E73"/>
                </a:solidFill>
                <a:latin typeface="Arial"/>
                <a:ea typeface="Arial"/>
                <a:cs typeface="Arial"/>
                <a:sym typeface="Arial"/>
              </a:rPr>
              <a:t>Your trainer will provide a live ticket. Review it and investigate before you decide anything.</a:t>
            </a:r>
            <a:endParaRPr b="0" i="0" spc="0" sz="1050" u="none" cap="none" strike="noStrike">
              <a:solidFill>
                <a:schemeClr val="dk1"/>
              </a:solidFill>
              <a:latin typeface="Calibri"/>
              <a:ea typeface="Calibri"/>
              <a:cs typeface="Calibri"/>
              <a:sym typeface="Calibri"/>
            </a:endParaRPr>
          </a:p>
        </p:txBody>
      </p:sp>
      <p:sp>
        <p:nvSpPr>
          <p:cNvPr id="283" name="Google Shape;283;p16"/>
          <p:cNvSpPr/>
          <p:nvPr/>
        </p:nvSpPr>
        <p:spPr>
          <a:xfrm>
            <a:off x="594360" y="3401568"/>
            <a:ext cx="1371600" cy="329184"/>
          </a:xfrm>
          <a:prstGeom prst="roundRect">
            <a:avLst>
              <a:gd fmla="val 22222" name="adj"/>
            </a:avLst>
          </a:prstGeom>
          <a:solidFill>
            <a:srgbClr val="FFF3D6"/>
          </a:solidFill>
          <a:ln cap="flat" cmpd="sng" w="9525">
            <a:solidFill>
              <a:srgbClr val="FFF3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950"/>
              <a:buFont typeface="Arial"/>
              <a:buNone/>
            </a:pPr>
            <a:r>
              <a:rPr b="1" i="0" lang="en-US" spc="0" sz="950" u="none" cap="none" strike="noStrike">
                <a:solidFill>
                  <a:srgbClr val="9A6410"/>
                </a:solidFill>
                <a:latin typeface="Arial"/>
                <a:ea typeface="Arial"/>
                <a:cs typeface="Arial"/>
                <a:sym typeface="Arial"/>
              </a:rPr>
              <a:t>Trainer provides</a:t>
            </a:r>
            <a:endParaRPr b="0" i="0" spc="0" sz="950" u="none" cap="none" strike="noStrike">
              <a:solidFill>
                <a:schemeClr val="dk1"/>
              </a:solidFill>
              <a:latin typeface="Calibri"/>
              <a:ea typeface="Calibri"/>
              <a:cs typeface="Calibri"/>
              <a:sym typeface="Calibri"/>
            </a:endParaRPr>
          </a:p>
        </p:txBody>
      </p:sp>
      <p:sp>
        <p:nvSpPr>
          <p:cNvPr id="284" name="Google Shape;284;p16"/>
          <p:cNvSpPr/>
          <p:nvPr/>
        </p:nvSpPr>
        <p:spPr>
          <a:xfrm>
            <a:off x="3931920" y="1298448"/>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5" name="Google Shape;285;p16"/>
          <p:cNvSpPr/>
          <p:nvPr/>
        </p:nvSpPr>
        <p:spPr>
          <a:xfrm>
            <a:off x="4114800"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6" name="Google Shape;286;p16"/>
          <p:cNvSpPr txBox="1"/>
          <p:nvPr/>
        </p:nvSpPr>
        <p:spPr>
          <a:xfrm>
            <a:off x="4114800" y="15544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287" name="Google Shape;287;p16"/>
          <p:cNvSpPr txBox="1"/>
          <p:nvPr/>
        </p:nvSpPr>
        <p:spPr>
          <a:xfrm>
            <a:off x="4572000" y="1426464"/>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What's the root cause?</a:t>
            </a:r>
            <a:endParaRPr b="0" i="0" spc="0" sz="1250" u="none" cap="none" strike="noStrike">
              <a:solidFill>
                <a:schemeClr val="dk1"/>
              </a:solidFill>
              <a:latin typeface="Calibri"/>
              <a:ea typeface="Calibri"/>
              <a:cs typeface="Calibri"/>
              <a:sym typeface="Calibri"/>
            </a:endParaRPr>
          </a:p>
        </p:txBody>
      </p:sp>
      <p:sp>
        <p:nvSpPr>
          <p:cNvPr id="288" name="Google Shape;288;p16"/>
          <p:cNvSpPr txBox="1"/>
          <p:nvPr/>
        </p:nvSpPr>
        <p:spPr>
          <a:xfrm>
            <a:off x="4572000" y="1737360"/>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Unaware, thought cancelled, forgot, our error?</a:t>
            </a:r>
            <a:endParaRPr b="0" i="0" spc="0" sz="1000" u="none" cap="none" strike="noStrike">
              <a:solidFill>
                <a:schemeClr val="dk1"/>
              </a:solidFill>
              <a:latin typeface="Calibri"/>
              <a:ea typeface="Calibri"/>
              <a:cs typeface="Calibri"/>
              <a:sym typeface="Calibri"/>
            </a:endParaRPr>
          </a:p>
        </p:txBody>
      </p:sp>
      <p:sp>
        <p:nvSpPr>
          <p:cNvPr id="289" name="Google Shape;289;p16"/>
          <p:cNvSpPr/>
          <p:nvPr/>
        </p:nvSpPr>
        <p:spPr>
          <a:xfrm>
            <a:off x="3931920" y="2221992"/>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0" name="Google Shape;290;p16"/>
          <p:cNvSpPr/>
          <p:nvPr/>
        </p:nvSpPr>
        <p:spPr>
          <a:xfrm>
            <a:off x="4114800" y="247802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1" name="Google Shape;291;p16"/>
          <p:cNvSpPr txBox="1"/>
          <p:nvPr/>
        </p:nvSpPr>
        <p:spPr>
          <a:xfrm>
            <a:off x="4114800" y="247802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292" name="Google Shape;292;p16"/>
          <p:cNvSpPr txBox="1"/>
          <p:nvPr/>
        </p:nvSpPr>
        <p:spPr>
          <a:xfrm>
            <a:off x="4572000" y="2350008"/>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What actions are you going to take?</a:t>
            </a:r>
            <a:endParaRPr b="0" i="0" spc="0" sz="1250" u="none" cap="none" strike="noStrike">
              <a:solidFill>
                <a:schemeClr val="dk1"/>
              </a:solidFill>
              <a:latin typeface="Calibri"/>
              <a:ea typeface="Calibri"/>
              <a:cs typeface="Calibri"/>
              <a:sym typeface="Calibri"/>
            </a:endParaRPr>
          </a:p>
        </p:txBody>
      </p:sp>
      <p:sp>
        <p:nvSpPr>
          <p:cNvPr id="293" name="Google Shape;293;p16"/>
          <p:cNvSpPr txBox="1"/>
          <p:nvPr/>
        </p:nvSpPr>
        <p:spPr>
          <a:xfrm>
            <a:off x="4572000" y="2660904"/>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MCT test, 120 days, free months or refund?</a:t>
            </a:r>
            <a:endParaRPr b="0" i="0" spc="0" sz="1000" u="none" cap="none" strike="noStrike">
              <a:solidFill>
                <a:schemeClr val="dk1"/>
              </a:solidFill>
              <a:latin typeface="Calibri"/>
              <a:ea typeface="Calibri"/>
              <a:cs typeface="Calibri"/>
              <a:sym typeface="Calibri"/>
            </a:endParaRPr>
          </a:p>
        </p:txBody>
      </p:sp>
      <p:sp>
        <p:nvSpPr>
          <p:cNvPr id="294" name="Google Shape;294;p16"/>
          <p:cNvSpPr/>
          <p:nvPr/>
        </p:nvSpPr>
        <p:spPr>
          <a:xfrm>
            <a:off x="3931920" y="3145536"/>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5" name="Google Shape;295;p16"/>
          <p:cNvSpPr/>
          <p:nvPr/>
        </p:nvSpPr>
        <p:spPr>
          <a:xfrm>
            <a:off x="4114800" y="340156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6" name="Google Shape;296;p16"/>
          <p:cNvSpPr txBox="1"/>
          <p:nvPr/>
        </p:nvSpPr>
        <p:spPr>
          <a:xfrm>
            <a:off x="4114800" y="340156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297" name="Google Shape;297;p16"/>
          <p:cNvSpPr txBox="1"/>
          <p:nvPr/>
        </p:nvSpPr>
        <p:spPr>
          <a:xfrm>
            <a:off x="4572000" y="3273552"/>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5-min writing challenge</a:t>
            </a:r>
            <a:endParaRPr b="0" i="0" spc="0" sz="1250" u="none" cap="none" strike="noStrike">
              <a:solidFill>
                <a:schemeClr val="dk1"/>
              </a:solidFill>
              <a:latin typeface="Calibri"/>
              <a:ea typeface="Calibri"/>
              <a:cs typeface="Calibri"/>
              <a:sym typeface="Calibri"/>
            </a:endParaRPr>
          </a:p>
        </p:txBody>
      </p:sp>
      <p:sp>
        <p:nvSpPr>
          <p:cNvPr id="298" name="Google Shape;298;p16"/>
          <p:cNvSpPr txBox="1"/>
          <p:nvPr/>
        </p:nvSpPr>
        <p:spPr>
          <a:xfrm>
            <a:off x="4572000" y="3584448"/>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Write your reply to the customer.</a:t>
            </a:r>
            <a:endParaRPr b="0" i="0" spc="0" sz="1000" u="none" cap="none" strike="noStrike">
              <a:solidFill>
                <a:schemeClr val="dk1"/>
              </a:solidFill>
              <a:latin typeface="Calibri"/>
              <a:ea typeface="Calibri"/>
              <a:cs typeface="Calibri"/>
              <a:sym typeface="Calibri"/>
            </a:endParaRPr>
          </a:p>
        </p:txBody>
      </p:sp>
      <p:sp>
        <p:nvSpPr>
          <p:cNvPr id="299" name="Google Shape;299;p16"/>
          <p:cNvSpPr/>
          <p:nvPr/>
        </p:nvSpPr>
        <p:spPr>
          <a:xfrm>
            <a:off x="411480" y="4069080"/>
            <a:ext cx="8321040" cy="502920"/>
          </a:xfrm>
          <a:prstGeom prst="roundRect">
            <a:avLst>
              <a:gd fmla="val 14545"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300" name="Google Shape;300;p16"/>
          <p:cNvPicPr preferRelativeResize="0"/>
          <p:nvPr/>
        </p:nvPicPr>
        <p:blipFill rotWithShape="1">
          <a:blip r:embed="rId4">
            <a:alphaModFix/>
          </a:blip>
          <a:srcRect b="0" l="0" r="0" t="0"/>
          <a:stretch/>
        </p:blipFill>
        <p:spPr>
          <a:xfrm>
            <a:off x="640080" y="4192524"/>
            <a:ext cx="256032" cy="256032"/>
          </a:xfrm>
          <a:prstGeom prst="rect">
            <a:avLst/>
          </a:prstGeom>
          <a:noFill/>
          <a:ln>
            <a:noFill/>
          </a:ln>
        </p:spPr>
      </p:pic>
      <p:sp>
        <p:nvSpPr>
          <p:cNvPr id="301" name="Google Shape;301;p16"/>
          <p:cNvSpPr txBox="1"/>
          <p:nvPr/>
        </p:nvSpPr>
        <p:spPr>
          <a:xfrm>
            <a:off x="1051560" y="4069080"/>
            <a:ext cx="74980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Play"/>
              <a:buNone/>
            </a:pPr>
            <a:r>
              <a:rPr b="1" i="0" lang="en-US" spc="0" sz="1400" u="none" cap="none" strike="noStrike">
                <a:solidFill>
                  <a:srgbClr val="FFFFFF"/>
                </a:solidFill>
                <a:latin typeface="Play"/>
                <a:ea typeface="Play"/>
                <a:cs typeface="Play"/>
                <a:sym typeface="Play"/>
              </a:rPr>
              <a:t>Questions?  </a:t>
            </a:r>
            <a:r>
              <a:rPr b="0" i="0" lang="en-US" spc="0" sz="1100" u="none" cap="none" strike="noStrike">
                <a:solidFill>
                  <a:srgbClr val="FFFFFF"/>
                </a:solidFill>
                <a:latin typeface="Arial"/>
                <a:ea typeface="Arial"/>
                <a:cs typeface="Arial"/>
                <a:sym typeface="Arial"/>
              </a:rPr>
              <a:t>Open the floor before we move to the next topic.</a:t>
            </a:r>
            <a:endParaRPr b="0" i="0" spc="0" sz="1400" u="none" cap="none" strike="noStrike">
              <a:solidFill>
                <a:schemeClr val="dk1"/>
              </a:solidFill>
              <a:latin typeface="Calibri"/>
              <a:ea typeface="Calibri"/>
              <a:cs typeface="Calibri"/>
              <a:sym typeface="Calibri"/>
            </a:endParaRPr>
          </a:p>
        </p:txBody>
      </p:sp>
      <p:sp>
        <p:nvSpPr>
          <p:cNvPr id="302" name="Google Shape;302;p1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7"/>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TOPIC 02 OF 04</a:t>
            </a:r>
            <a:endParaRPr b="0" i="0" spc="0" sz="800" u="none" cap="none" strike="noStrike">
              <a:solidFill>
                <a:schemeClr val="dk1"/>
              </a:solidFill>
              <a:latin typeface="Calibri"/>
              <a:ea typeface="Calibri"/>
              <a:cs typeface="Calibri"/>
              <a:sym typeface="Calibri"/>
            </a:endParaRPr>
          </a:p>
        </p:txBody>
      </p:sp>
      <p:sp>
        <p:nvSpPr>
          <p:cNvPr id="309" name="Google Shape;309;p17"/>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US" spc="0" sz="2800" u="none" cap="none" strike="noStrike">
                <a:solidFill>
                  <a:srgbClr val="1D1D1F"/>
                </a:solidFill>
                <a:latin typeface="Play"/>
                <a:ea typeface="Play"/>
                <a:cs typeface="Play"/>
                <a:sym typeface="Play"/>
              </a:rPr>
              <a:t>Customer Abusive Behavior</a:t>
            </a:r>
            <a:endParaRPr b="0" i="0" spc="0" sz="2800" u="none" cap="none" strike="noStrike">
              <a:solidFill>
                <a:schemeClr val="dk1"/>
              </a:solidFill>
              <a:latin typeface="Calibri"/>
              <a:ea typeface="Calibri"/>
              <a:cs typeface="Calibri"/>
              <a:sym typeface="Calibri"/>
            </a:endParaRPr>
          </a:p>
        </p:txBody>
      </p:sp>
      <p:sp>
        <p:nvSpPr>
          <p:cNvPr id="310" name="Google Shape;310;p17"/>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US" spc="0" sz="1150" u="none" cap="none" strike="noStrike">
                <a:solidFill>
                  <a:srgbClr val="6E6E73"/>
                </a:solidFill>
                <a:latin typeface="Arial"/>
                <a:ea typeface="Arial"/>
                <a:cs typeface="Arial"/>
                <a:sym typeface="Arial"/>
              </a:rPr>
              <a:t>Towards a cleaner. Once abuse is confirmed, the goal shifts from retention to protecting the CP.</a:t>
            </a:r>
            <a:endParaRPr b="0" i="0" spc="0" sz="1150" u="none" cap="none" strike="noStrike">
              <a:solidFill>
                <a:schemeClr val="dk1"/>
              </a:solidFill>
              <a:latin typeface="Calibri"/>
              <a:ea typeface="Calibri"/>
              <a:cs typeface="Calibri"/>
              <a:sym typeface="Calibri"/>
            </a:endParaRPr>
          </a:p>
        </p:txBody>
      </p:sp>
      <p:sp>
        <p:nvSpPr>
          <p:cNvPr id="311" name="Google Shape;311;p17"/>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YOU'LL LEARN</a:t>
            </a:r>
            <a:endParaRPr b="0" i="0" spc="0" sz="800" u="none" cap="none" strike="noStrike">
              <a:solidFill>
                <a:schemeClr val="dk1"/>
              </a:solidFill>
              <a:latin typeface="Calibri"/>
              <a:ea typeface="Calibri"/>
              <a:cs typeface="Calibri"/>
              <a:sym typeface="Calibri"/>
            </a:endParaRPr>
          </a:p>
        </p:txBody>
      </p:sp>
      <p:sp>
        <p:nvSpPr>
          <p:cNvPr id="312" name="Google Shape;312;p17"/>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313" name="Google Shape;313;p17"/>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314" name="Google Shape;314;p17"/>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What counts as abusive (and what doesn't)</a:t>
            </a:r>
            <a:endParaRPr b="0" i="0" spc="0" sz="1050" u="none" cap="none" strike="noStrike">
              <a:solidFill>
                <a:schemeClr val="dk1"/>
              </a:solidFill>
              <a:latin typeface="Calibri"/>
              <a:ea typeface="Calibri"/>
              <a:cs typeface="Calibri"/>
              <a:sym typeface="Calibri"/>
            </a:endParaRPr>
          </a:p>
        </p:txBody>
      </p:sp>
      <p:sp>
        <p:nvSpPr>
          <p:cNvPr id="315" name="Google Shape;315;p17"/>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316" name="Google Shape;316;p17"/>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317" name="Google Shape;317;p17"/>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Why retention is off the table</a:t>
            </a:r>
            <a:endParaRPr b="0" i="0" spc="0" sz="1050" u="none" cap="none" strike="noStrike">
              <a:solidFill>
                <a:schemeClr val="dk1"/>
              </a:solidFill>
              <a:latin typeface="Calibri"/>
              <a:ea typeface="Calibri"/>
              <a:cs typeface="Calibri"/>
              <a:sym typeface="Calibri"/>
            </a:endParaRPr>
          </a:p>
        </p:txBody>
      </p:sp>
      <p:sp>
        <p:nvSpPr>
          <p:cNvPr id="318" name="Google Shape;318;p17"/>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319" name="Google Shape;319;p17"/>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320" name="Google Shape;320;p17"/>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The process</a:t>
            </a:r>
            <a:endParaRPr b="0" i="0" spc="0" sz="1050" u="none" cap="none" strike="noStrike">
              <a:solidFill>
                <a:schemeClr val="dk1"/>
              </a:solidFill>
              <a:latin typeface="Calibri"/>
              <a:ea typeface="Calibri"/>
              <a:cs typeface="Calibri"/>
              <a:sym typeface="Calibri"/>
            </a:endParaRPr>
          </a:p>
        </p:txBody>
      </p:sp>
      <p:sp>
        <p:nvSpPr>
          <p:cNvPr id="321" name="Google Shape;321;p17"/>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322" name="Google Shape;322;p17"/>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323" name="Google Shape;323;p17"/>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What's allowed vs. not allowed</a:t>
            </a:r>
            <a:endParaRPr b="0" i="0" spc="0" sz="1050" u="none" cap="none" strike="noStrike">
              <a:solidFill>
                <a:schemeClr val="dk1"/>
              </a:solidFill>
              <a:latin typeface="Calibri"/>
              <a:ea typeface="Calibri"/>
              <a:cs typeface="Calibri"/>
              <a:sym typeface="Calibri"/>
            </a:endParaRPr>
          </a:p>
        </p:txBody>
      </p:sp>
      <p:sp>
        <p:nvSpPr>
          <p:cNvPr id="324" name="Google Shape;324;p17"/>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5" name="Google Shape;325;p17"/>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9/ill30.png" id="326" name="Google Shape;326;p17"/>
          <p:cNvPicPr preferRelativeResize="0"/>
          <p:nvPr/>
        </p:nvPicPr>
        <p:blipFill rotWithShape="1">
          <a:blip r:embed="rId4">
            <a:alphaModFix/>
          </a:blip>
          <a:srcRect b="0" l="0" r="0" t="0"/>
          <a:stretch/>
        </p:blipFill>
        <p:spPr>
          <a:xfrm>
            <a:off x="5577187" y="1517904"/>
            <a:ext cx="2854234" cy="2103120"/>
          </a:xfrm>
          <a:prstGeom prst="rect">
            <a:avLst/>
          </a:prstGeom>
          <a:noFill/>
          <a:ln>
            <a:noFill/>
          </a:ln>
        </p:spPr>
      </p:pic>
      <p:sp>
        <p:nvSpPr>
          <p:cNvPr id="327" name="Google Shape;327;p17"/>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8" name="Google Shape;328;p17"/>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9" name="Google Shape;329;p17"/>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0" name="Google Shape;330;p17"/>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1" name="Google Shape;331;p17"/>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2" name="Google Shape;332;p17"/>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3" name="Google Shape;333;p1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1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ABUSIVE BEHAVIOR</a:t>
            </a:r>
            <a:endParaRPr b="0" i="0" spc="0" sz="800" u="none" cap="none" strike="noStrike">
              <a:solidFill>
                <a:schemeClr val="dk1"/>
              </a:solidFill>
              <a:latin typeface="Calibri"/>
              <a:ea typeface="Calibri"/>
              <a:cs typeface="Calibri"/>
              <a:sym typeface="Calibri"/>
            </a:endParaRPr>
          </a:p>
        </p:txBody>
      </p:sp>
      <p:sp>
        <p:nvSpPr>
          <p:cNvPr id="340" name="Google Shape;340;p1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What is this?</a:t>
            </a:r>
            <a:endParaRPr b="0" i="0" spc="0" sz="2400" u="none" cap="none" strike="noStrike">
              <a:solidFill>
                <a:schemeClr val="dk1"/>
              </a:solidFill>
              <a:latin typeface="Calibri"/>
              <a:ea typeface="Calibri"/>
              <a:cs typeface="Calibri"/>
              <a:sym typeface="Calibri"/>
            </a:endParaRPr>
          </a:p>
        </p:txBody>
      </p:sp>
      <p:sp>
        <p:nvSpPr>
          <p:cNvPr id="341" name="Google Shape;341;p1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Abuse is confirmed. Retention stops; the CP comes first.</a:t>
            </a:r>
            <a:endParaRPr b="0" i="0" spc="0" sz="1200" u="none" cap="none" strike="noStrike">
              <a:solidFill>
                <a:schemeClr val="dk1"/>
              </a:solidFill>
              <a:latin typeface="Calibri"/>
              <a:ea typeface="Calibri"/>
              <a:cs typeface="Calibri"/>
              <a:sym typeface="Calibri"/>
            </a:endParaRPr>
          </a:p>
        </p:txBody>
      </p:sp>
      <p:sp>
        <p:nvSpPr>
          <p:cNvPr id="342" name="Google Shape;342;p18"/>
          <p:cNvSpPr/>
          <p:nvPr/>
        </p:nvSpPr>
        <p:spPr>
          <a:xfrm>
            <a:off x="411480" y="1325880"/>
            <a:ext cx="268224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3" name="Google Shape;343;p18"/>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344" name="Google Shape;344;p18"/>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345" name="Google Shape;345;p18"/>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Protect the CP</a:t>
            </a:r>
            <a:endParaRPr b="0" i="0" spc="0" sz="1200" u="none" cap="none" strike="noStrike">
              <a:solidFill>
                <a:schemeClr val="dk1"/>
              </a:solidFill>
              <a:latin typeface="Calibri"/>
              <a:ea typeface="Calibri"/>
              <a:cs typeface="Calibri"/>
              <a:sym typeface="Calibri"/>
            </a:endParaRPr>
          </a:p>
        </p:txBody>
      </p:sp>
      <p:sp>
        <p:nvSpPr>
          <p:cNvPr id="346" name="Google Shape;346;p18"/>
          <p:cNvSpPr txBox="1"/>
          <p:nvPr/>
        </p:nvSpPr>
        <p:spPr>
          <a:xfrm>
            <a:off x="576072" y="2221992"/>
            <a:ext cx="235305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Retention would reward the behavior, and ask a CP to absorb more of it.</a:t>
            </a:r>
            <a:endParaRPr b="0" i="0" spc="0" sz="950" u="none" cap="none" strike="noStrike">
              <a:solidFill>
                <a:schemeClr val="dk1"/>
              </a:solidFill>
              <a:latin typeface="Calibri"/>
              <a:ea typeface="Calibri"/>
              <a:cs typeface="Calibri"/>
              <a:sym typeface="Calibri"/>
            </a:endParaRPr>
          </a:p>
        </p:txBody>
      </p:sp>
      <p:sp>
        <p:nvSpPr>
          <p:cNvPr id="347" name="Google Shape;347;p18"/>
          <p:cNvSpPr/>
          <p:nvPr/>
        </p:nvSpPr>
        <p:spPr>
          <a:xfrm>
            <a:off x="3230880" y="1325880"/>
            <a:ext cx="268224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8" name="Google Shape;348;p18"/>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349" name="Google Shape;349;p18"/>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350" name="Google Shape;350;p18"/>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Hold the boundary</a:t>
            </a:r>
            <a:endParaRPr b="0" i="0" spc="0" sz="1200" u="none" cap="none" strike="noStrike">
              <a:solidFill>
                <a:schemeClr val="dk1"/>
              </a:solidFill>
              <a:latin typeface="Calibri"/>
              <a:ea typeface="Calibri"/>
              <a:cs typeface="Calibri"/>
              <a:sym typeface="Calibri"/>
            </a:endParaRPr>
          </a:p>
        </p:txBody>
      </p:sp>
      <p:sp>
        <p:nvSpPr>
          <p:cNvPr id="351" name="Google Shape;351;p18"/>
          <p:cNvSpPr txBox="1"/>
          <p:nvPr/>
        </p:nvSpPr>
        <p:spPr>
          <a:xfrm>
            <a:off x="3395472" y="2221992"/>
            <a:ext cx="235305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No incentives, no persuasion to continue.</a:t>
            </a:r>
            <a:endParaRPr b="0" i="0" spc="0" sz="950" u="none" cap="none" strike="noStrike">
              <a:solidFill>
                <a:schemeClr val="dk1"/>
              </a:solidFill>
              <a:latin typeface="Calibri"/>
              <a:ea typeface="Calibri"/>
              <a:cs typeface="Calibri"/>
              <a:sym typeface="Calibri"/>
            </a:endParaRPr>
          </a:p>
        </p:txBody>
      </p:sp>
      <p:sp>
        <p:nvSpPr>
          <p:cNvPr id="352" name="Google Shape;352;p18"/>
          <p:cNvSpPr/>
          <p:nvPr/>
        </p:nvSpPr>
        <p:spPr>
          <a:xfrm>
            <a:off x="6050280" y="1325880"/>
            <a:ext cx="268224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3" name="Google Shape;353;p18"/>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354" name="Google Shape;354;p18"/>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355" name="Google Shape;355;p18"/>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A fair exit</a:t>
            </a:r>
            <a:endParaRPr b="0" i="0" spc="0" sz="1200" u="none" cap="none" strike="noStrike">
              <a:solidFill>
                <a:schemeClr val="dk1"/>
              </a:solidFill>
              <a:latin typeface="Calibri"/>
              <a:ea typeface="Calibri"/>
              <a:cs typeface="Calibri"/>
              <a:sym typeface="Calibri"/>
            </a:endParaRPr>
          </a:p>
        </p:txBody>
      </p:sp>
      <p:sp>
        <p:nvSpPr>
          <p:cNvPr id="356" name="Google Shape;356;p18"/>
          <p:cNvSpPr txBox="1"/>
          <p:nvPr/>
        </p:nvSpPr>
        <p:spPr>
          <a:xfrm>
            <a:off x="6214872" y="2221992"/>
            <a:ext cx="235305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ETF or MCT reduction if warranted on its own terms. Nothing beyond that.</a:t>
            </a:r>
            <a:endParaRPr b="0" i="0" spc="0" sz="950" u="none" cap="none" strike="noStrike">
              <a:solidFill>
                <a:schemeClr val="dk1"/>
              </a:solidFill>
              <a:latin typeface="Calibri"/>
              <a:ea typeface="Calibri"/>
              <a:cs typeface="Calibri"/>
              <a:sym typeface="Calibri"/>
            </a:endParaRPr>
          </a:p>
        </p:txBody>
      </p:sp>
      <p:sp>
        <p:nvSpPr>
          <p:cNvPr id="357" name="Google Shape;357;p18"/>
          <p:cNvSpPr/>
          <p:nvPr/>
        </p:nvSpPr>
        <p:spPr>
          <a:xfrm>
            <a:off x="411480" y="315468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358" name="Google Shape;358;p18"/>
          <p:cNvPicPr preferRelativeResize="0"/>
          <p:nvPr/>
        </p:nvPicPr>
        <p:blipFill rotWithShape="1">
          <a:blip r:embed="rId6">
            <a:alphaModFix/>
          </a:blip>
          <a:srcRect b="0" l="0" r="0" t="0"/>
          <a:stretch/>
        </p:blipFill>
        <p:spPr>
          <a:xfrm>
            <a:off x="566928" y="3264408"/>
            <a:ext cx="164592" cy="164592"/>
          </a:xfrm>
          <a:prstGeom prst="rect">
            <a:avLst/>
          </a:prstGeom>
          <a:noFill/>
          <a:ln>
            <a:noFill/>
          </a:ln>
        </p:spPr>
      </p:pic>
      <p:sp>
        <p:nvSpPr>
          <p:cNvPr id="359" name="Google Shape;359;p18"/>
          <p:cNvSpPr txBox="1"/>
          <p:nvPr/>
        </p:nvSpPr>
        <p:spPr>
          <a:xfrm>
            <a:off x="822960" y="325526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CP-side investigation:  </a:t>
            </a:r>
            <a:r>
              <a:rPr b="0" i="0" lang="en-US" spc="0" sz="1000" u="none" cap="none" strike="noStrike">
                <a:solidFill>
                  <a:srgbClr val="1D1D1F"/>
                </a:solidFill>
                <a:latin typeface="Arial"/>
                <a:ea typeface="Arial"/>
                <a:cs typeface="Arial"/>
                <a:sym typeface="Arial"/>
              </a:rPr>
              <a:t>see Trust and Safety Overview. This topic is the customer side.</a:t>
            </a:r>
            <a:endParaRPr b="0" i="0" spc="0" sz="1000" u="none" cap="none" strike="noStrike">
              <a:solidFill>
                <a:schemeClr val="dk1"/>
              </a:solidFill>
              <a:latin typeface="Calibri"/>
              <a:ea typeface="Calibri"/>
              <a:cs typeface="Calibri"/>
              <a:sym typeface="Calibri"/>
            </a:endParaRPr>
          </a:p>
        </p:txBody>
      </p:sp>
      <p:sp>
        <p:nvSpPr>
          <p:cNvPr id="360" name="Google Shape;360;p1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1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ABUSIVE BEHAVIOR</a:t>
            </a:r>
            <a:endParaRPr b="0" i="0" spc="0" sz="800" u="none" cap="none" strike="noStrike">
              <a:solidFill>
                <a:schemeClr val="dk1"/>
              </a:solidFill>
              <a:latin typeface="Calibri"/>
              <a:ea typeface="Calibri"/>
              <a:cs typeface="Calibri"/>
              <a:sym typeface="Calibri"/>
            </a:endParaRPr>
          </a:p>
        </p:txBody>
      </p:sp>
      <p:sp>
        <p:nvSpPr>
          <p:cNvPr id="367" name="Google Shape;367;p1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Intent, target, tone</a:t>
            </a:r>
            <a:endParaRPr b="0" i="0" spc="0" sz="2400" u="none" cap="none" strike="noStrike">
              <a:solidFill>
                <a:schemeClr val="dk1"/>
              </a:solidFill>
              <a:latin typeface="Calibri"/>
              <a:ea typeface="Calibri"/>
              <a:cs typeface="Calibri"/>
              <a:sym typeface="Calibri"/>
            </a:endParaRPr>
          </a:p>
        </p:txBody>
      </p:sp>
      <p:sp>
        <p:nvSpPr>
          <p:cNvPr id="368" name="Google Shape;368;p1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Not just profanity. Is it aimed at the cleaner, personally?</a:t>
            </a:r>
            <a:endParaRPr b="0" i="0" spc="0" sz="1200" u="none" cap="none" strike="noStrike">
              <a:solidFill>
                <a:schemeClr val="dk1"/>
              </a:solidFill>
              <a:latin typeface="Calibri"/>
              <a:ea typeface="Calibri"/>
              <a:cs typeface="Calibri"/>
              <a:sym typeface="Calibri"/>
            </a:endParaRPr>
          </a:p>
        </p:txBody>
      </p:sp>
      <p:sp>
        <p:nvSpPr>
          <p:cNvPr id="369" name="Google Shape;369;p19"/>
          <p:cNvSpPr/>
          <p:nvPr/>
        </p:nvSpPr>
        <p:spPr>
          <a:xfrm>
            <a:off x="411480" y="1325880"/>
            <a:ext cx="4069080" cy="2194560"/>
          </a:xfrm>
          <a:prstGeom prst="roundRect">
            <a:avLst>
              <a:gd fmla="val 3333"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0" name="Google Shape;370;p19"/>
          <p:cNvSpPr txBox="1"/>
          <p:nvPr/>
        </p:nvSpPr>
        <p:spPr>
          <a:xfrm>
            <a:off x="594360" y="1435608"/>
            <a:ext cx="3703320" cy="197510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3261E"/>
              </a:buClr>
              <a:buSzPts val="1050"/>
              <a:buFont typeface="Play"/>
              <a:buNone/>
            </a:pPr>
            <a:r>
              <a:rPr b="1" i="0" lang="en-US" spc="0" sz="1050" u="none" cap="none" strike="noStrike">
                <a:solidFill>
                  <a:srgbClr val="B3261E"/>
                </a:solidFill>
                <a:latin typeface="Play"/>
                <a:ea typeface="Play"/>
                <a:cs typeface="Play"/>
                <a:sym typeface="Play"/>
              </a:rPr>
              <a:t>Abusive: actionable</a:t>
            </a:r>
            <a:endParaRPr b="0" i="0" spc="0" sz="105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1D1D1F"/>
              </a:buClr>
              <a:buSzPts val="950"/>
              <a:buFont typeface="Arial"/>
              <a:buNone/>
            </a:pPr>
            <a:r>
              <a:rPr b="0" i="1" lang="en-US" spc="0" sz="950" u="none" cap="none" strike="noStrike">
                <a:solidFill>
                  <a:srgbClr val="1D1D1F"/>
                </a:solidFill>
                <a:latin typeface="Arial"/>
                <a:ea typeface="Arial"/>
                <a:cs typeface="Arial"/>
                <a:sym typeface="Arial"/>
              </a:rPr>
              <a:t>“You're f***ing useless. If you don't fix this, you'll regret it.”</a:t>
            </a:r>
            <a:endParaRPr b="0" i="0" spc="0" sz="105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1D1D1F"/>
              </a:buClr>
              <a:buSzPts val="950"/>
              <a:buFont typeface="Arial"/>
              <a:buNone/>
            </a:pPr>
            <a:r>
              <a:rPr b="0" i="1" lang="en-US" spc="0" sz="950" u="none" cap="none" strike="noStrike">
                <a:solidFill>
                  <a:srgbClr val="1D1D1F"/>
                </a:solidFill>
                <a:latin typeface="Arial"/>
                <a:ea typeface="Arial"/>
                <a:cs typeface="Arial"/>
                <a:sym typeface="Arial"/>
              </a:rPr>
              <a:t>“I'm going to come back there and hurt you.”</a:t>
            </a:r>
            <a:endParaRPr b="0" i="0" spc="0" sz="105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1D1D1F"/>
              </a:buClr>
              <a:buSzPts val="950"/>
              <a:buFont typeface="Arial"/>
              <a:buNone/>
            </a:pPr>
            <a:r>
              <a:rPr b="0" i="1" lang="en-US" spc="0" sz="950" u="none" cap="none" strike="noStrike">
                <a:solidFill>
                  <a:srgbClr val="1D1D1F"/>
                </a:solidFill>
                <a:latin typeface="Arial"/>
                <a:ea typeface="Arial"/>
                <a:cs typeface="Arial"/>
                <a:sym typeface="Arial"/>
              </a:rPr>
              <a:t>“Repeated name-calling or profanity aimed at the cleaner, after being asked to stop”</a:t>
            </a:r>
            <a:endParaRPr b="0" i="0" spc="0" sz="1050" u="none" cap="none" strike="noStrike">
              <a:solidFill>
                <a:schemeClr val="dk1"/>
              </a:solidFill>
              <a:latin typeface="Calibri"/>
              <a:ea typeface="Calibri"/>
              <a:cs typeface="Calibri"/>
              <a:sym typeface="Calibri"/>
            </a:endParaRPr>
          </a:p>
        </p:txBody>
      </p:sp>
      <p:sp>
        <p:nvSpPr>
          <p:cNvPr id="371" name="Google Shape;371;p19"/>
          <p:cNvSpPr/>
          <p:nvPr/>
        </p:nvSpPr>
        <p:spPr>
          <a:xfrm>
            <a:off x="4663440" y="1325880"/>
            <a:ext cx="4069080" cy="2194560"/>
          </a:xfrm>
          <a:prstGeom prst="roundRect">
            <a:avLst>
              <a:gd fmla="val 3333" name="adj"/>
            </a:avLst>
          </a:prstGeom>
          <a:solidFill>
            <a:srgbClr val="E4F2E1"/>
          </a:solidFill>
          <a:ln cap="flat" cmpd="sng" w="95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2" name="Google Shape;372;p19"/>
          <p:cNvSpPr txBox="1"/>
          <p:nvPr/>
        </p:nvSpPr>
        <p:spPr>
          <a:xfrm>
            <a:off x="4846320" y="1435608"/>
            <a:ext cx="3703320" cy="197510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E7D32"/>
              </a:buClr>
              <a:buSzPts val="1050"/>
              <a:buFont typeface="Play"/>
              <a:buNone/>
            </a:pPr>
            <a:r>
              <a:rPr b="1" i="0" lang="en-US" spc="0" sz="1050" u="none" cap="none" strike="noStrike">
                <a:solidFill>
                  <a:srgbClr val="2E7D32"/>
                </a:solidFill>
                <a:latin typeface="Play"/>
                <a:ea typeface="Play"/>
                <a:cs typeface="Play"/>
                <a:sym typeface="Play"/>
              </a:rPr>
              <a:t>Not abusive: don't escalate on this alone</a:t>
            </a:r>
            <a:endParaRPr b="0" i="0" spc="0" sz="105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1D1D1F"/>
              </a:buClr>
              <a:buSzPts val="950"/>
              <a:buFont typeface="Arial"/>
              <a:buNone/>
            </a:pPr>
            <a:r>
              <a:rPr b="0" i="1" lang="en-US" spc="0" sz="950" u="none" cap="none" strike="noStrike">
                <a:solidFill>
                  <a:srgbClr val="1D1D1F"/>
                </a:solidFill>
                <a:latin typeface="Arial"/>
                <a:ea typeface="Arial"/>
                <a:cs typeface="Arial"/>
                <a:sym typeface="Arial"/>
              </a:rPr>
              <a:t>“This is f***ing frustrating. My place still isn't clean.”</a:t>
            </a:r>
            <a:endParaRPr b="0" i="0" spc="0" sz="105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1D1D1F"/>
              </a:buClr>
              <a:buSzPts val="950"/>
              <a:buFont typeface="Arial"/>
              <a:buNone/>
            </a:pPr>
            <a:r>
              <a:rPr b="0" i="1" lang="en-US" spc="0" sz="950" u="none" cap="none" strike="noStrike">
                <a:solidFill>
                  <a:srgbClr val="1D1D1F"/>
                </a:solidFill>
                <a:latin typeface="Arial"/>
                <a:ea typeface="Arial"/>
                <a:cs typeface="Arial"/>
                <a:sym typeface="Arial"/>
              </a:rPr>
              <a:t>“I'm really pissed about how this turned out.”</a:t>
            </a:r>
            <a:endParaRPr b="0" i="0" spc="0" sz="1050" u="none" cap="none" strike="noStrike">
              <a:solidFill>
                <a:schemeClr val="dk1"/>
              </a:solidFill>
              <a:latin typeface="Calibri"/>
              <a:ea typeface="Calibri"/>
              <a:cs typeface="Calibri"/>
              <a:sym typeface="Calibri"/>
            </a:endParaRPr>
          </a:p>
        </p:txBody>
      </p:sp>
      <p:sp>
        <p:nvSpPr>
          <p:cNvPr id="373" name="Google Shape;373;p19"/>
          <p:cNvSpPr/>
          <p:nvPr/>
        </p:nvSpPr>
        <p:spPr>
          <a:xfrm>
            <a:off x="411480" y="3703320"/>
            <a:ext cx="8321040" cy="384048"/>
          </a:xfrm>
          <a:prstGeom prst="roundRect">
            <a:avLst>
              <a:gd fmla="val 19048"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374" name="Google Shape;374;p19"/>
          <p:cNvPicPr preferRelativeResize="0"/>
          <p:nvPr/>
        </p:nvPicPr>
        <p:blipFill rotWithShape="1">
          <a:blip r:embed="rId3">
            <a:alphaModFix/>
          </a:blip>
          <a:srcRect b="0" l="0" r="0" t="0"/>
          <a:stretch/>
        </p:blipFill>
        <p:spPr>
          <a:xfrm>
            <a:off x="566928" y="3813048"/>
            <a:ext cx="164592" cy="164592"/>
          </a:xfrm>
          <a:prstGeom prst="rect">
            <a:avLst/>
          </a:prstGeom>
          <a:noFill/>
          <a:ln>
            <a:noFill/>
          </a:ln>
        </p:spPr>
      </p:pic>
      <p:sp>
        <p:nvSpPr>
          <p:cNvPr id="375" name="Google Shape;375;p19"/>
          <p:cNvSpPr txBox="1"/>
          <p:nvPr/>
        </p:nvSpPr>
        <p:spPr>
          <a:xfrm>
            <a:off x="822960" y="370332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3261E"/>
              </a:buClr>
              <a:buSzPts val="1000"/>
              <a:buFont typeface="Arial"/>
              <a:buNone/>
            </a:pPr>
            <a:r>
              <a:rPr b="1" i="0" lang="en-US" spc="0" sz="1000" u="none" cap="none" strike="noStrike">
                <a:solidFill>
                  <a:srgbClr val="B3261E"/>
                </a:solidFill>
                <a:latin typeface="Arial"/>
                <a:ea typeface="Arial"/>
                <a:cs typeface="Arial"/>
                <a:sym typeface="Arial"/>
              </a:rPr>
              <a:t>Swearing alone is never enough.  </a:t>
            </a:r>
            <a:r>
              <a:rPr b="0" i="0" lang="en-US" spc="0" sz="1000" u="none" cap="none" strike="noStrike">
                <a:solidFill>
                  <a:srgbClr val="1D1D1F"/>
                </a:solidFill>
                <a:latin typeface="Arial"/>
                <a:ea typeface="Arial"/>
                <a:cs typeface="Arial"/>
                <a:sym typeface="Arial"/>
              </a:rPr>
              <a:t>Look for insults or threats aimed at the cleaner personally.</a:t>
            </a:r>
            <a:endParaRPr b="0" i="0" spc="0" sz="1000" u="none" cap="none" strike="noStrike">
              <a:solidFill>
                <a:schemeClr val="dk1"/>
              </a:solidFill>
              <a:latin typeface="Calibri"/>
              <a:ea typeface="Calibri"/>
              <a:cs typeface="Calibri"/>
              <a:sym typeface="Calibri"/>
            </a:endParaRPr>
          </a:p>
        </p:txBody>
      </p:sp>
      <p:sp>
        <p:nvSpPr>
          <p:cNvPr id="376" name="Google Shape;376;p1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ABUSIVE BEHAVIOR</a:t>
            </a:r>
            <a:endParaRPr b="0" i="0" spc="0" sz="800" u="none" cap="none" strike="noStrike">
              <a:solidFill>
                <a:schemeClr val="dk1"/>
              </a:solidFill>
              <a:latin typeface="Calibri"/>
              <a:ea typeface="Calibri"/>
              <a:cs typeface="Calibri"/>
              <a:sym typeface="Calibri"/>
            </a:endParaRPr>
          </a:p>
        </p:txBody>
      </p:sp>
      <p:sp>
        <p:nvSpPr>
          <p:cNvPr id="383" name="Google Shape;383;p2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The process</a:t>
            </a:r>
            <a:endParaRPr b="0" i="0" spc="0" sz="2400" u="none" cap="none" strike="noStrike">
              <a:solidFill>
                <a:schemeClr val="dk1"/>
              </a:solidFill>
              <a:latin typeface="Calibri"/>
              <a:ea typeface="Calibri"/>
              <a:cs typeface="Calibri"/>
              <a:sym typeface="Calibri"/>
            </a:endParaRPr>
          </a:p>
        </p:txBody>
      </p:sp>
      <p:sp>
        <p:nvSpPr>
          <p:cNvPr id="384" name="Google Shape;384;p2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Explain the terms, keep it neutral, offer a clean exit.</a:t>
            </a:r>
            <a:endParaRPr b="0" i="0" spc="0" sz="1200" u="none" cap="none" strike="noStrike">
              <a:solidFill>
                <a:schemeClr val="dk1"/>
              </a:solidFill>
              <a:latin typeface="Calibri"/>
              <a:ea typeface="Calibri"/>
              <a:cs typeface="Calibri"/>
              <a:sym typeface="Calibri"/>
            </a:endParaRPr>
          </a:p>
        </p:txBody>
      </p:sp>
      <p:sp>
        <p:nvSpPr>
          <p:cNvPr id="385" name="Google Shape;385;p20"/>
          <p:cNvSpPr/>
          <p:nvPr/>
        </p:nvSpPr>
        <p:spPr>
          <a:xfrm>
            <a:off x="411480" y="1325880"/>
            <a:ext cx="4069080" cy="685800"/>
          </a:xfrm>
          <a:prstGeom prst="roundRect">
            <a:avLst>
              <a:gd fmla="val 10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86" name="Google Shape;386;p20"/>
          <p:cNvSpPr/>
          <p:nvPr/>
        </p:nvSpPr>
        <p:spPr>
          <a:xfrm>
            <a:off x="539496" y="153162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87" name="Google Shape;387;p20"/>
          <p:cNvSpPr txBox="1"/>
          <p:nvPr/>
        </p:nvSpPr>
        <p:spPr>
          <a:xfrm>
            <a:off x="539496" y="153162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388" name="Google Shape;388;p20"/>
          <p:cNvSpPr txBox="1"/>
          <p:nvPr/>
        </p:nvSpPr>
        <p:spPr>
          <a:xfrm>
            <a:off x="923544" y="1325880"/>
            <a:ext cx="34290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Play"/>
              <a:buNone/>
            </a:pPr>
            <a:r>
              <a:rPr b="1" i="0" lang="en-US" spc="0" sz="950" u="none" cap="none" strike="noStrike">
                <a:solidFill>
                  <a:srgbClr val="1D1D1F"/>
                </a:solidFill>
                <a:latin typeface="Play"/>
                <a:ea typeface="Play"/>
                <a:cs typeface="Play"/>
                <a:sym typeface="Play"/>
              </a:rPr>
              <a:t>No retention.</a:t>
            </a:r>
            <a:r>
              <a:rPr b="0" i="0" lang="en-US" spc="0" sz="950" u="none" cap="none" strike="noStrike">
                <a:solidFill>
                  <a:srgbClr val="6E6E73"/>
                </a:solidFill>
                <a:latin typeface="Arial"/>
                <a:ea typeface="Arial"/>
                <a:cs typeface="Arial"/>
                <a:sym typeface="Arial"/>
              </a:rPr>
              <a:t>  No incentives, no persuasion.</a:t>
            </a:r>
            <a:endParaRPr b="0" i="0" spc="0" sz="950" u="none" cap="none" strike="noStrike">
              <a:solidFill>
                <a:schemeClr val="dk1"/>
              </a:solidFill>
              <a:latin typeface="Calibri"/>
              <a:ea typeface="Calibri"/>
              <a:cs typeface="Calibri"/>
              <a:sym typeface="Calibri"/>
            </a:endParaRPr>
          </a:p>
        </p:txBody>
      </p:sp>
      <p:sp>
        <p:nvSpPr>
          <p:cNvPr id="389" name="Google Shape;389;p20"/>
          <p:cNvSpPr/>
          <p:nvPr/>
        </p:nvSpPr>
        <p:spPr>
          <a:xfrm>
            <a:off x="411480" y="2103120"/>
            <a:ext cx="4069080" cy="685800"/>
          </a:xfrm>
          <a:prstGeom prst="roundRect">
            <a:avLst>
              <a:gd fmla="val 10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0" name="Google Shape;390;p20"/>
          <p:cNvSpPr/>
          <p:nvPr/>
        </p:nvSpPr>
        <p:spPr>
          <a:xfrm>
            <a:off x="539496" y="230886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1" name="Google Shape;391;p20"/>
          <p:cNvSpPr txBox="1"/>
          <p:nvPr/>
        </p:nvSpPr>
        <p:spPr>
          <a:xfrm>
            <a:off x="539496" y="230886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392" name="Google Shape;392;p20"/>
          <p:cNvSpPr txBox="1"/>
          <p:nvPr/>
        </p:nvSpPr>
        <p:spPr>
          <a:xfrm>
            <a:off x="923544" y="2103120"/>
            <a:ext cx="34290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Play"/>
              <a:buNone/>
            </a:pPr>
            <a:r>
              <a:rPr b="1" i="0" lang="en-US" spc="0" sz="950" u="none" cap="none" strike="noStrike">
                <a:solidFill>
                  <a:srgbClr val="1D1D1F"/>
                </a:solidFill>
                <a:latin typeface="Play"/>
                <a:ea typeface="Play"/>
                <a:cs typeface="Play"/>
                <a:sym typeface="Play"/>
              </a:rPr>
              <a:t>Explain the terms.</a:t>
            </a:r>
            <a:r>
              <a:rPr b="0" i="0" lang="en-US" spc="0" sz="950" u="none" cap="none" strike="noStrike">
                <a:solidFill>
                  <a:srgbClr val="6E6E73"/>
                </a:solidFill>
                <a:latin typeface="Arial"/>
                <a:ea typeface="Arial"/>
                <a:cs typeface="Arial"/>
                <a:sym typeface="Arial"/>
              </a:rPr>
              <a:t>  FC and ETF: factual, neutral, not a negotiation.</a:t>
            </a:r>
            <a:endParaRPr b="0" i="0" spc="0" sz="950" u="none" cap="none" strike="noStrike">
              <a:solidFill>
                <a:schemeClr val="dk1"/>
              </a:solidFill>
              <a:latin typeface="Calibri"/>
              <a:ea typeface="Calibri"/>
              <a:cs typeface="Calibri"/>
              <a:sym typeface="Calibri"/>
            </a:endParaRPr>
          </a:p>
        </p:txBody>
      </p:sp>
      <p:sp>
        <p:nvSpPr>
          <p:cNvPr id="393" name="Google Shape;393;p20"/>
          <p:cNvSpPr/>
          <p:nvPr/>
        </p:nvSpPr>
        <p:spPr>
          <a:xfrm>
            <a:off x="411480" y="2880360"/>
            <a:ext cx="4069080" cy="685800"/>
          </a:xfrm>
          <a:prstGeom prst="roundRect">
            <a:avLst>
              <a:gd fmla="val 10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4" name="Google Shape;394;p20"/>
          <p:cNvSpPr/>
          <p:nvPr/>
        </p:nvSpPr>
        <p:spPr>
          <a:xfrm>
            <a:off x="539496" y="30861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5" name="Google Shape;395;p20"/>
          <p:cNvSpPr txBox="1"/>
          <p:nvPr/>
        </p:nvSpPr>
        <p:spPr>
          <a:xfrm>
            <a:off x="539496" y="30861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396" name="Google Shape;396;p20"/>
          <p:cNvSpPr txBox="1"/>
          <p:nvPr/>
        </p:nvSpPr>
        <p:spPr>
          <a:xfrm>
            <a:off x="923544" y="2880360"/>
            <a:ext cx="34290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Play"/>
              <a:buNone/>
            </a:pPr>
            <a:r>
              <a:rPr b="1" i="0" lang="en-US" spc="0" sz="950" u="none" cap="none" strike="noStrike">
                <a:solidFill>
                  <a:srgbClr val="1D1D1F"/>
                </a:solidFill>
                <a:latin typeface="Play"/>
                <a:ea typeface="Play"/>
                <a:cs typeface="Play"/>
                <a:sym typeface="Play"/>
              </a:rPr>
              <a:t>Refuses the ETF?</a:t>
            </a:r>
            <a:r>
              <a:rPr b="0" i="0" lang="en-US" spc="0" sz="950" u="none" cap="none" strike="noStrike">
                <a:solidFill>
                  <a:srgbClr val="6E6E73"/>
                </a:solidFill>
                <a:latin typeface="Arial"/>
                <a:ea typeface="Arial"/>
                <a:cs typeface="Arial"/>
                <a:sym typeface="Arial"/>
              </a:rPr>
              <a:t>  An ETF or MCT reduction may be considered (standard guidelines).</a:t>
            </a:r>
            <a:endParaRPr b="0" i="0" spc="0" sz="950" u="none" cap="none" strike="noStrike">
              <a:solidFill>
                <a:schemeClr val="dk1"/>
              </a:solidFill>
              <a:latin typeface="Calibri"/>
              <a:ea typeface="Calibri"/>
              <a:cs typeface="Calibri"/>
              <a:sym typeface="Calibri"/>
            </a:endParaRPr>
          </a:p>
        </p:txBody>
      </p:sp>
      <p:sp>
        <p:nvSpPr>
          <p:cNvPr id="397" name="Google Shape;397;p20"/>
          <p:cNvSpPr/>
          <p:nvPr/>
        </p:nvSpPr>
        <p:spPr>
          <a:xfrm>
            <a:off x="4663440" y="1325880"/>
            <a:ext cx="1965960" cy="2240280"/>
          </a:xfrm>
          <a:prstGeom prst="roundRect">
            <a:avLst>
              <a:gd fmla="val 3721"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8" name="Google Shape;398;p20"/>
          <p:cNvSpPr/>
          <p:nvPr/>
        </p:nvSpPr>
        <p:spPr>
          <a:xfrm>
            <a:off x="4663440" y="1325880"/>
            <a:ext cx="196596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Allowed</a:t>
            </a:r>
            <a:endParaRPr b="0" i="0" spc="0" sz="1050" u="none" cap="none" strike="noStrike">
              <a:solidFill>
                <a:schemeClr val="dk1"/>
              </a:solidFill>
              <a:latin typeface="Calibri"/>
              <a:ea typeface="Calibri"/>
              <a:cs typeface="Calibri"/>
              <a:sym typeface="Calibri"/>
            </a:endParaRPr>
          </a:p>
        </p:txBody>
      </p:sp>
      <p:sp>
        <p:nvSpPr>
          <p:cNvPr id="399" name="Google Shape;399;p20"/>
          <p:cNvSpPr txBox="1"/>
          <p:nvPr/>
        </p:nvSpPr>
        <p:spPr>
          <a:xfrm>
            <a:off x="4828032" y="1764792"/>
            <a:ext cx="1636776" cy="172821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Cancel with applicable terms</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Reduced ETF or MCT, where warranted</a:t>
            </a:r>
            <a:endParaRPr b="0" i="0" spc="0" sz="900" u="none" cap="none" strike="noStrike">
              <a:solidFill>
                <a:schemeClr val="dk1"/>
              </a:solidFill>
              <a:latin typeface="Calibri"/>
              <a:ea typeface="Calibri"/>
              <a:cs typeface="Calibri"/>
              <a:sym typeface="Calibri"/>
            </a:endParaRPr>
          </a:p>
        </p:txBody>
      </p:sp>
      <p:sp>
        <p:nvSpPr>
          <p:cNvPr id="400" name="Google Shape;400;p20"/>
          <p:cNvSpPr/>
          <p:nvPr/>
        </p:nvSpPr>
        <p:spPr>
          <a:xfrm>
            <a:off x="6766560" y="1325880"/>
            <a:ext cx="1965960" cy="2240280"/>
          </a:xfrm>
          <a:prstGeom prst="roundRect">
            <a:avLst>
              <a:gd fmla="val 3721"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01" name="Google Shape;401;p20"/>
          <p:cNvSpPr/>
          <p:nvPr/>
        </p:nvSpPr>
        <p:spPr>
          <a:xfrm>
            <a:off x="6766560" y="1325880"/>
            <a:ext cx="1965960" cy="329184"/>
          </a:xfrm>
          <a:prstGeom prst="roundRect">
            <a:avLst>
              <a:gd fmla="val 16667" name="adj"/>
            </a:avLst>
          </a:prstGeom>
          <a:solidFill>
            <a:srgbClr val="B3261E"/>
          </a:solidFill>
          <a:ln cap="flat" cmpd="sng" w="12700">
            <a:solidFill>
              <a:srgbClr val="B3261E"/>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Not allowed</a:t>
            </a:r>
            <a:endParaRPr b="0" i="0" spc="0" sz="1050" u="none" cap="none" strike="noStrike">
              <a:solidFill>
                <a:schemeClr val="dk1"/>
              </a:solidFill>
              <a:latin typeface="Calibri"/>
              <a:ea typeface="Calibri"/>
              <a:cs typeface="Calibri"/>
              <a:sym typeface="Calibri"/>
            </a:endParaRPr>
          </a:p>
        </p:txBody>
      </p:sp>
      <p:sp>
        <p:nvSpPr>
          <p:cNvPr id="402" name="Google Shape;402;p20"/>
          <p:cNvSpPr txBox="1"/>
          <p:nvPr/>
        </p:nvSpPr>
        <p:spPr>
          <a:xfrm>
            <a:off x="6931152" y="1764792"/>
            <a:ext cx="1636776" cy="172821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MF reductions</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Vouchers</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Credits or free months</a:t>
            </a:r>
            <a:endParaRPr b="0" i="0" spc="0" sz="900" u="none" cap="none" strike="noStrike">
              <a:solidFill>
                <a:schemeClr val="dk1"/>
              </a:solidFill>
              <a:latin typeface="Calibri"/>
              <a:ea typeface="Calibri"/>
              <a:cs typeface="Calibri"/>
              <a:sym typeface="Calibri"/>
            </a:endParaRPr>
          </a:p>
        </p:txBody>
      </p:sp>
      <p:sp>
        <p:nvSpPr>
          <p:cNvPr id="403" name="Google Shape;403;p20"/>
          <p:cNvSpPr/>
          <p:nvPr/>
        </p:nvSpPr>
        <p:spPr>
          <a:xfrm>
            <a:off x="411480" y="374904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404" name="Google Shape;404;p20"/>
          <p:cNvPicPr preferRelativeResize="0"/>
          <p:nvPr/>
        </p:nvPicPr>
        <p:blipFill rotWithShape="1">
          <a:blip r:embed="rId3">
            <a:alphaModFix/>
          </a:blip>
          <a:srcRect b="0" l="0" r="0" t="0"/>
          <a:stretch/>
        </p:blipFill>
        <p:spPr>
          <a:xfrm>
            <a:off x="566928" y="3858768"/>
            <a:ext cx="164592" cy="164592"/>
          </a:xfrm>
          <a:prstGeom prst="rect">
            <a:avLst/>
          </a:prstGeom>
          <a:noFill/>
          <a:ln>
            <a:noFill/>
          </a:ln>
        </p:spPr>
      </p:pic>
      <p:sp>
        <p:nvSpPr>
          <p:cNvPr id="405" name="Google Shape;405;p20"/>
          <p:cNvSpPr txBox="1"/>
          <p:nvPr/>
        </p:nvSpPr>
        <p:spPr>
          <a:xfrm>
            <a:off x="822960" y="384962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Key principle:  </a:t>
            </a:r>
            <a:r>
              <a:rPr b="0" i="0" lang="en-US" spc="0" sz="1000" u="none" cap="none" strike="noStrike">
                <a:solidFill>
                  <a:srgbClr val="1D1D1F"/>
                </a:solidFill>
                <a:latin typeface="Arial"/>
                <a:ea typeface="Arial"/>
                <a:cs typeface="Arial"/>
                <a:sym typeface="Arial"/>
              </a:rPr>
              <a:t>protect the cleaner and enforce the boundary. Aim for a clean exit, consistent with policy.</a:t>
            </a:r>
            <a:endParaRPr b="0" i="0" spc="0" sz="1000" u="none" cap="none" strike="noStrike">
              <a:solidFill>
                <a:schemeClr val="dk1"/>
              </a:solidFill>
              <a:latin typeface="Calibri"/>
              <a:ea typeface="Calibri"/>
              <a:cs typeface="Calibri"/>
              <a:sym typeface="Calibri"/>
            </a:endParaRPr>
          </a:p>
        </p:txBody>
      </p:sp>
      <p:sp>
        <p:nvSpPr>
          <p:cNvPr id="406" name="Google Shape;406;p2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2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ABUSIVE BEHAVIOR  ·  KNOWLEDGE CHECK</a:t>
            </a:r>
            <a:endParaRPr b="0" i="0" spc="0" sz="800" u="none" cap="none" strike="noStrike">
              <a:solidFill>
                <a:schemeClr val="dk1"/>
              </a:solidFill>
              <a:latin typeface="Calibri"/>
              <a:ea typeface="Calibri"/>
              <a:cs typeface="Calibri"/>
              <a:sym typeface="Calibri"/>
            </a:endParaRPr>
          </a:p>
        </p:txBody>
      </p:sp>
      <p:sp>
        <p:nvSpPr>
          <p:cNvPr id="413" name="Google Shape;413;p2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Let’s See What You’ve Got!</a:t>
            </a:r>
            <a:endParaRPr b="0" i="0" spc="0" sz="2400" u="none" cap="none" strike="noStrike">
              <a:solidFill>
                <a:schemeClr val="dk1"/>
              </a:solidFill>
              <a:latin typeface="Calibri"/>
              <a:ea typeface="Calibri"/>
              <a:cs typeface="Calibri"/>
              <a:sym typeface="Calibri"/>
            </a:endParaRPr>
          </a:p>
        </p:txBody>
      </p:sp>
      <p:sp>
        <p:nvSpPr>
          <p:cNvPr id="414" name="Google Shape;414;p21"/>
          <p:cNvSpPr/>
          <p:nvPr/>
        </p:nvSpPr>
        <p:spPr>
          <a:xfrm>
            <a:off x="411480" y="1280160"/>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5" name="Google Shape;415;p21"/>
          <p:cNvSpPr/>
          <p:nvPr/>
        </p:nvSpPr>
        <p:spPr>
          <a:xfrm>
            <a:off x="548640" y="153619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6" name="Google Shape;416;p21"/>
          <p:cNvSpPr txBox="1"/>
          <p:nvPr/>
        </p:nvSpPr>
        <p:spPr>
          <a:xfrm>
            <a:off x="548640" y="153619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417" name="Google Shape;417;p21"/>
          <p:cNvSpPr txBox="1"/>
          <p:nvPr/>
        </p:nvSpPr>
        <p:spPr>
          <a:xfrm>
            <a:off x="960120" y="1280160"/>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"This is f***ing frustrating, my place still isn't clean." Abusive?</a:t>
            </a:r>
            <a:endParaRPr b="0" i="0" spc="0" sz="1000" u="none" cap="none" strike="noStrike">
              <a:solidFill>
                <a:schemeClr val="dk1"/>
              </a:solidFill>
              <a:latin typeface="Calibri"/>
              <a:ea typeface="Calibri"/>
              <a:cs typeface="Calibri"/>
              <a:sym typeface="Calibri"/>
            </a:endParaRPr>
          </a:p>
        </p:txBody>
      </p:sp>
      <p:sp>
        <p:nvSpPr>
          <p:cNvPr id="418" name="Google Shape;418;p21"/>
          <p:cNvSpPr/>
          <p:nvPr/>
        </p:nvSpPr>
        <p:spPr>
          <a:xfrm>
            <a:off x="5120640" y="1280160"/>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9" name="Google Shape;419;p21"/>
          <p:cNvSpPr txBox="1"/>
          <p:nvPr/>
        </p:nvSpPr>
        <p:spPr>
          <a:xfrm>
            <a:off x="5257800" y="1280160"/>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No. Venting about the outcome, not aimed at the cleaner.</a:t>
            </a:r>
            <a:endParaRPr b="0" i="0" spc="0" sz="900" u="none" cap="none" strike="noStrike">
              <a:solidFill>
                <a:schemeClr val="dk1"/>
              </a:solidFill>
              <a:latin typeface="Calibri"/>
              <a:ea typeface="Calibri"/>
              <a:cs typeface="Calibri"/>
              <a:sym typeface="Calibri"/>
            </a:endParaRPr>
          </a:p>
        </p:txBody>
      </p:sp>
      <p:sp>
        <p:nvSpPr>
          <p:cNvPr id="420" name="Google Shape;420;p21"/>
          <p:cNvSpPr/>
          <p:nvPr/>
        </p:nvSpPr>
        <p:spPr>
          <a:xfrm>
            <a:off x="411480" y="2139696"/>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1" name="Google Shape;421;p21"/>
          <p:cNvSpPr/>
          <p:nvPr/>
        </p:nvSpPr>
        <p:spPr>
          <a:xfrm>
            <a:off x="548640" y="23957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2" name="Google Shape;422;p21"/>
          <p:cNvSpPr txBox="1"/>
          <p:nvPr/>
        </p:nvSpPr>
        <p:spPr>
          <a:xfrm>
            <a:off x="548640" y="23957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423" name="Google Shape;423;p21"/>
          <p:cNvSpPr txBox="1"/>
          <p:nvPr/>
        </p:nvSpPr>
        <p:spPr>
          <a:xfrm>
            <a:off x="960120" y="2139696"/>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"You're useless. You'll regret it." Abusive?</a:t>
            </a:r>
            <a:endParaRPr b="0" i="0" spc="0" sz="1000" u="none" cap="none" strike="noStrike">
              <a:solidFill>
                <a:schemeClr val="dk1"/>
              </a:solidFill>
              <a:latin typeface="Calibri"/>
              <a:ea typeface="Calibri"/>
              <a:cs typeface="Calibri"/>
              <a:sym typeface="Calibri"/>
            </a:endParaRPr>
          </a:p>
        </p:txBody>
      </p:sp>
      <p:sp>
        <p:nvSpPr>
          <p:cNvPr id="424" name="Google Shape;424;p21"/>
          <p:cNvSpPr/>
          <p:nvPr/>
        </p:nvSpPr>
        <p:spPr>
          <a:xfrm>
            <a:off x="5120640" y="2139696"/>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5" name="Google Shape;425;p21"/>
          <p:cNvSpPr txBox="1"/>
          <p:nvPr/>
        </p:nvSpPr>
        <p:spPr>
          <a:xfrm>
            <a:off x="5257800" y="2139696"/>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Yes. A personal insult and a threat aimed at the cleaner.</a:t>
            </a:r>
            <a:endParaRPr b="0" i="0" spc="0" sz="900" u="none" cap="none" strike="noStrike">
              <a:solidFill>
                <a:schemeClr val="dk1"/>
              </a:solidFill>
              <a:latin typeface="Calibri"/>
              <a:ea typeface="Calibri"/>
              <a:cs typeface="Calibri"/>
              <a:sym typeface="Calibri"/>
            </a:endParaRPr>
          </a:p>
        </p:txBody>
      </p:sp>
      <p:sp>
        <p:nvSpPr>
          <p:cNvPr id="426" name="Google Shape;426;p21"/>
          <p:cNvSpPr/>
          <p:nvPr/>
        </p:nvSpPr>
        <p:spPr>
          <a:xfrm>
            <a:off x="411480" y="2999232"/>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7" name="Google Shape;427;p21"/>
          <p:cNvSpPr/>
          <p:nvPr/>
        </p:nvSpPr>
        <p:spPr>
          <a:xfrm>
            <a:off x="548640" y="325526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8" name="Google Shape;428;p21"/>
          <p:cNvSpPr txBox="1"/>
          <p:nvPr/>
        </p:nvSpPr>
        <p:spPr>
          <a:xfrm>
            <a:off x="548640" y="325526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429" name="Google Shape;429;p21"/>
          <p:cNvSpPr txBox="1"/>
          <p:nvPr/>
        </p:nvSpPr>
        <p:spPr>
          <a:xfrm>
            <a:off x="960120" y="2999232"/>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Abuse confirmed. Can you offer a free month to keep them?</a:t>
            </a:r>
            <a:endParaRPr b="0" i="0" spc="0" sz="1000" u="none" cap="none" strike="noStrike">
              <a:solidFill>
                <a:schemeClr val="dk1"/>
              </a:solidFill>
              <a:latin typeface="Calibri"/>
              <a:ea typeface="Calibri"/>
              <a:cs typeface="Calibri"/>
              <a:sym typeface="Calibri"/>
            </a:endParaRPr>
          </a:p>
        </p:txBody>
      </p:sp>
      <p:sp>
        <p:nvSpPr>
          <p:cNvPr id="430" name="Google Shape;430;p21"/>
          <p:cNvSpPr/>
          <p:nvPr/>
        </p:nvSpPr>
        <p:spPr>
          <a:xfrm>
            <a:off x="5120640" y="2999232"/>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1" name="Google Shape;431;p21"/>
          <p:cNvSpPr txBox="1"/>
          <p:nvPr/>
        </p:nvSpPr>
        <p:spPr>
          <a:xfrm>
            <a:off x="5257800" y="2999232"/>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No. No retention, no credits, free months, vouchers or MF reductions.</a:t>
            </a:r>
            <a:endParaRPr b="0" i="0" spc="0" sz="900" u="none" cap="none" strike="noStrike">
              <a:solidFill>
                <a:schemeClr val="dk1"/>
              </a:solidFill>
              <a:latin typeface="Calibri"/>
              <a:ea typeface="Calibri"/>
              <a:cs typeface="Calibri"/>
              <a:sym typeface="Calibri"/>
            </a:endParaRPr>
          </a:p>
        </p:txBody>
      </p:sp>
      <p:sp>
        <p:nvSpPr>
          <p:cNvPr id="432" name="Google Shape;432;p21"/>
          <p:cNvSpPr/>
          <p:nvPr/>
        </p:nvSpPr>
        <p:spPr>
          <a:xfrm>
            <a:off x="411480" y="3858768"/>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3" name="Google Shape;433;p21"/>
          <p:cNvSpPr/>
          <p:nvPr/>
        </p:nvSpPr>
        <p:spPr>
          <a:xfrm>
            <a:off x="548640" y="41148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4" name="Google Shape;434;p21"/>
          <p:cNvSpPr txBox="1"/>
          <p:nvPr/>
        </p:nvSpPr>
        <p:spPr>
          <a:xfrm>
            <a:off x="548640" y="41148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4</a:t>
            </a:r>
            <a:endParaRPr b="0" i="0" spc="0" sz="900" u="none" cap="none" strike="noStrike">
              <a:solidFill>
                <a:schemeClr val="dk1"/>
              </a:solidFill>
              <a:latin typeface="Calibri"/>
              <a:ea typeface="Calibri"/>
              <a:cs typeface="Calibri"/>
              <a:sym typeface="Calibri"/>
            </a:endParaRPr>
          </a:p>
        </p:txBody>
      </p:sp>
      <p:sp>
        <p:nvSpPr>
          <p:cNvPr id="435" name="Google Shape;435;p21"/>
          <p:cNvSpPr txBox="1"/>
          <p:nvPr/>
        </p:nvSpPr>
        <p:spPr>
          <a:xfrm>
            <a:off x="960120" y="3858768"/>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Abuse confirmed and C refuses to pay the ETF. Options?</a:t>
            </a:r>
            <a:endParaRPr b="0" i="0" spc="0" sz="1000" u="none" cap="none" strike="noStrike">
              <a:solidFill>
                <a:schemeClr val="dk1"/>
              </a:solidFill>
              <a:latin typeface="Calibri"/>
              <a:ea typeface="Calibri"/>
              <a:cs typeface="Calibri"/>
              <a:sym typeface="Calibri"/>
            </a:endParaRPr>
          </a:p>
        </p:txBody>
      </p:sp>
      <p:sp>
        <p:nvSpPr>
          <p:cNvPr id="436" name="Google Shape;436;p21"/>
          <p:cNvSpPr/>
          <p:nvPr/>
        </p:nvSpPr>
        <p:spPr>
          <a:xfrm>
            <a:off x="5120640" y="3858768"/>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7" name="Google Shape;437;p21"/>
          <p:cNvSpPr txBox="1"/>
          <p:nvPr/>
        </p:nvSpPr>
        <p:spPr>
          <a:xfrm>
            <a:off x="5257800" y="3858768"/>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An ETF or MCT reduction, using standard reduction guidelines.</a:t>
            </a:r>
            <a:endParaRPr b="0" i="0" spc="0" sz="900" u="none" cap="none" strike="noStrike">
              <a:solidFill>
                <a:schemeClr val="dk1"/>
              </a:solidFill>
              <a:latin typeface="Calibri"/>
              <a:ea typeface="Calibri"/>
              <a:cs typeface="Calibri"/>
              <a:sym typeface="Calibri"/>
            </a:endParaRPr>
          </a:p>
        </p:txBody>
      </p:sp>
      <p:sp>
        <p:nvSpPr>
          <p:cNvPr id="438" name="Google Shape;438;p2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600"/>
                                        <p:tgtEl>
                                          <p:spTgt spid="4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600"/>
                                        <p:tgtEl>
                                          <p:spTgt spid="4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600"/>
                                        <p:tgtEl>
                                          <p:spTgt spid="4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600"/>
                                        <p:tgtEl>
                                          <p:spTgt spid="4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2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ABUSIVE BEHAVIOR  ·  PRACTICE</a:t>
            </a:r>
            <a:endParaRPr b="0" i="0" spc="0" sz="800" u="none" cap="none" strike="noStrike">
              <a:solidFill>
                <a:schemeClr val="dk1"/>
              </a:solidFill>
              <a:latin typeface="Calibri"/>
              <a:ea typeface="Calibri"/>
              <a:cs typeface="Calibri"/>
              <a:sym typeface="Calibri"/>
            </a:endParaRPr>
          </a:p>
        </p:txBody>
      </p:sp>
      <p:sp>
        <p:nvSpPr>
          <p:cNvPr id="445" name="Google Shape;445;p2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Let's investigate together!</a:t>
            </a:r>
            <a:endParaRPr b="0" i="0" spc="0" sz="2400" u="none" cap="none" strike="noStrike">
              <a:solidFill>
                <a:schemeClr val="dk1"/>
              </a:solidFill>
              <a:latin typeface="Calibri"/>
              <a:ea typeface="Calibri"/>
              <a:cs typeface="Calibri"/>
              <a:sym typeface="Calibri"/>
            </a:endParaRPr>
          </a:p>
        </p:txBody>
      </p:sp>
      <p:sp>
        <p:nvSpPr>
          <p:cNvPr id="446" name="Google Shape;446;p2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Review the live ticket and investigate.</a:t>
            </a:r>
            <a:endParaRPr b="0" i="0" spc="0" sz="1200" u="none" cap="none" strike="noStrike">
              <a:solidFill>
                <a:schemeClr val="dk1"/>
              </a:solidFill>
              <a:latin typeface="Calibri"/>
              <a:ea typeface="Calibri"/>
              <a:cs typeface="Calibri"/>
              <a:sym typeface="Calibri"/>
            </a:endParaRPr>
          </a:p>
        </p:txBody>
      </p:sp>
      <p:sp>
        <p:nvSpPr>
          <p:cNvPr id="447" name="Google Shape;447;p22"/>
          <p:cNvSpPr/>
          <p:nvPr/>
        </p:nvSpPr>
        <p:spPr>
          <a:xfrm>
            <a:off x="411480" y="1298448"/>
            <a:ext cx="3383280" cy="2633472"/>
          </a:xfrm>
          <a:prstGeom prst="roundRect">
            <a:avLst>
              <a:gd fmla="val 27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8" name="Google Shape;448;p22"/>
          <p:cNvSpPr/>
          <p:nvPr/>
        </p:nvSpPr>
        <p:spPr>
          <a:xfrm>
            <a:off x="594360" y="1481328"/>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449" name="Google Shape;449;p22"/>
          <p:cNvPicPr preferRelativeResize="0"/>
          <p:nvPr/>
        </p:nvPicPr>
        <p:blipFill rotWithShape="1">
          <a:blip r:embed="rId3">
            <a:alphaModFix/>
          </a:blip>
          <a:srcRect b="0" l="0" r="0" t="0"/>
          <a:stretch/>
        </p:blipFill>
        <p:spPr>
          <a:xfrm>
            <a:off x="686532" y="1573500"/>
            <a:ext cx="199705" cy="199705"/>
          </a:xfrm>
          <a:prstGeom prst="rect">
            <a:avLst/>
          </a:prstGeom>
          <a:noFill/>
          <a:ln>
            <a:noFill/>
          </a:ln>
        </p:spPr>
      </p:pic>
      <p:sp>
        <p:nvSpPr>
          <p:cNvPr id="450" name="Google Shape;450;p22"/>
          <p:cNvSpPr txBox="1"/>
          <p:nvPr/>
        </p:nvSpPr>
        <p:spPr>
          <a:xfrm>
            <a:off x="594360" y="2011680"/>
            <a:ext cx="301752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US" spc="0" sz="1300" u="none" cap="none" strike="noStrike">
                <a:solidFill>
                  <a:srgbClr val="1D1D1F"/>
                </a:solidFill>
                <a:latin typeface="Play"/>
                <a:ea typeface="Play"/>
                <a:cs typeface="Play"/>
                <a:sym typeface="Play"/>
              </a:rPr>
              <a:t>Live ticket</a:t>
            </a:r>
            <a:endParaRPr b="0" i="0" spc="0" sz="1300" u="none" cap="none" strike="noStrike">
              <a:solidFill>
                <a:schemeClr val="dk1"/>
              </a:solidFill>
              <a:latin typeface="Calibri"/>
              <a:ea typeface="Calibri"/>
              <a:cs typeface="Calibri"/>
              <a:sym typeface="Calibri"/>
            </a:endParaRPr>
          </a:p>
        </p:txBody>
      </p:sp>
      <p:sp>
        <p:nvSpPr>
          <p:cNvPr id="451" name="Google Shape;451;p22"/>
          <p:cNvSpPr txBox="1"/>
          <p:nvPr/>
        </p:nvSpPr>
        <p:spPr>
          <a:xfrm>
            <a:off x="594360" y="2350008"/>
            <a:ext cx="301752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050"/>
              <a:buFont typeface="Arial"/>
              <a:buNone/>
            </a:pPr>
            <a:r>
              <a:rPr b="0" i="0" lang="en-US" spc="0" sz="1050" u="none" cap="none" strike="noStrike">
                <a:solidFill>
                  <a:srgbClr val="6E6E73"/>
                </a:solidFill>
                <a:latin typeface="Arial"/>
                <a:ea typeface="Arial"/>
                <a:cs typeface="Arial"/>
                <a:sym typeface="Arial"/>
              </a:rPr>
              <a:t>Your trainer will provide a live ticket. Review it and investigate before you decide anything.</a:t>
            </a:r>
            <a:endParaRPr b="0" i="0" spc="0" sz="1050" u="none" cap="none" strike="noStrike">
              <a:solidFill>
                <a:schemeClr val="dk1"/>
              </a:solidFill>
              <a:latin typeface="Calibri"/>
              <a:ea typeface="Calibri"/>
              <a:cs typeface="Calibri"/>
              <a:sym typeface="Calibri"/>
            </a:endParaRPr>
          </a:p>
        </p:txBody>
      </p:sp>
      <p:sp>
        <p:nvSpPr>
          <p:cNvPr id="452" name="Google Shape;452;p22"/>
          <p:cNvSpPr/>
          <p:nvPr/>
        </p:nvSpPr>
        <p:spPr>
          <a:xfrm>
            <a:off x="594360" y="3401568"/>
            <a:ext cx="1371600" cy="329184"/>
          </a:xfrm>
          <a:prstGeom prst="roundRect">
            <a:avLst>
              <a:gd fmla="val 22222" name="adj"/>
            </a:avLst>
          </a:prstGeom>
          <a:solidFill>
            <a:srgbClr val="FFF3D6"/>
          </a:solidFill>
          <a:ln cap="flat" cmpd="sng" w="9525">
            <a:solidFill>
              <a:srgbClr val="FFF3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950"/>
              <a:buFont typeface="Arial"/>
              <a:buNone/>
            </a:pPr>
            <a:r>
              <a:rPr b="1" i="0" lang="en-US" spc="0" sz="950" u="none" cap="none" strike="noStrike">
                <a:solidFill>
                  <a:srgbClr val="9A6410"/>
                </a:solidFill>
                <a:latin typeface="Arial"/>
                <a:ea typeface="Arial"/>
                <a:cs typeface="Arial"/>
                <a:sym typeface="Arial"/>
              </a:rPr>
              <a:t>Trainer provides</a:t>
            </a:r>
            <a:endParaRPr b="0" i="0" spc="0" sz="950" u="none" cap="none" strike="noStrike">
              <a:solidFill>
                <a:schemeClr val="dk1"/>
              </a:solidFill>
              <a:latin typeface="Calibri"/>
              <a:ea typeface="Calibri"/>
              <a:cs typeface="Calibri"/>
              <a:sym typeface="Calibri"/>
            </a:endParaRPr>
          </a:p>
        </p:txBody>
      </p:sp>
      <p:sp>
        <p:nvSpPr>
          <p:cNvPr id="453" name="Google Shape;453;p22"/>
          <p:cNvSpPr/>
          <p:nvPr/>
        </p:nvSpPr>
        <p:spPr>
          <a:xfrm>
            <a:off x="3931920" y="1298448"/>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4" name="Google Shape;454;p22"/>
          <p:cNvSpPr/>
          <p:nvPr/>
        </p:nvSpPr>
        <p:spPr>
          <a:xfrm>
            <a:off x="4114800"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5" name="Google Shape;455;p22"/>
          <p:cNvSpPr txBox="1"/>
          <p:nvPr/>
        </p:nvSpPr>
        <p:spPr>
          <a:xfrm>
            <a:off x="4114800" y="15544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456" name="Google Shape;456;p22"/>
          <p:cNvSpPr txBox="1"/>
          <p:nvPr/>
        </p:nvSpPr>
        <p:spPr>
          <a:xfrm>
            <a:off x="4572000" y="1426464"/>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Is it abusive?</a:t>
            </a:r>
            <a:endParaRPr b="0" i="0" spc="0" sz="1250" u="none" cap="none" strike="noStrike">
              <a:solidFill>
                <a:schemeClr val="dk1"/>
              </a:solidFill>
              <a:latin typeface="Calibri"/>
              <a:ea typeface="Calibri"/>
              <a:cs typeface="Calibri"/>
              <a:sym typeface="Calibri"/>
            </a:endParaRPr>
          </a:p>
        </p:txBody>
      </p:sp>
      <p:sp>
        <p:nvSpPr>
          <p:cNvPr id="457" name="Google Shape;457;p22"/>
          <p:cNvSpPr txBox="1"/>
          <p:nvPr/>
        </p:nvSpPr>
        <p:spPr>
          <a:xfrm>
            <a:off x="4572000" y="1737360"/>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Intent, target, tone. Not just profanity.</a:t>
            </a:r>
            <a:endParaRPr b="0" i="0" spc="0" sz="1000" u="none" cap="none" strike="noStrike">
              <a:solidFill>
                <a:schemeClr val="dk1"/>
              </a:solidFill>
              <a:latin typeface="Calibri"/>
              <a:ea typeface="Calibri"/>
              <a:cs typeface="Calibri"/>
              <a:sym typeface="Calibri"/>
            </a:endParaRPr>
          </a:p>
        </p:txBody>
      </p:sp>
      <p:sp>
        <p:nvSpPr>
          <p:cNvPr id="458" name="Google Shape;458;p22"/>
          <p:cNvSpPr/>
          <p:nvPr/>
        </p:nvSpPr>
        <p:spPr>
          <a:xfrm>
            <a:off x="3931920" y="2221992"/>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9" name="Google Shape;459;p22"/>
          <p:cNvSpPr/>
          <p:nvPr/>
        </p:nvSpPr>
        <p:spPr>
          <a:xfrm>
            <a:off x="4114800" y="247802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0" name="Google Shape;460;p22"/>
          <p:cNvSpPr txBox="1"/>
          <p:nvPr/>
        </p:nvSpPr>
        <p:spPr>
          <a:xfrm>
            <a:off x="4114800" y="247802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461" name="Google Shape;461;p22"/>
          <p:cNvSpPr txBox="1"/>
          <p:nvPr/>
        </p:nvSpPr>
        <p:spPr>
          <a:xfrm>
            <a:off x="4572000" y="2350008"/>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What actions are you going to take?</a:t>
            </a:r>
            <a:endParaRPr b="0" i="0" spc="0" sz="1250" u="none" cap="none" strike="noStrike">
              <a:solidFill>
                <a:schemeClr val="dk1"/>
              </a:solidFill>
              <a:latin typeface="Calibri"/>
              <a:ea typeface="Calibri"/>
              <a:cs typeface="Calibri"/>
              <a:sym typeface="Calibri"/>
            </a:endParaRPr>
          </a:p>
        </p:txBody>
      </p:sp>
      <p:sp>
        <p:nvSpPr>
          <p:cNvPr id="462" name="Google Shape;462;p22"/>
          <p:cNvSpPr txBox="1"/>
          <p:nvPr/>
        </p:nvSpPr>
        <p:spPr>
          <a:xfrm>
            <a:off x="4572000" y="2660904"/>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Terms, ETF, what's allowed and not.</a:t>
            </a:r>
            <a:endParaRPr b="0" i="0" spc="0" sz="1000" u="none" cap="none" strike="noStrike">
              <a:solidFill>
                <a:schemeClr val="dk1"/>
              </a:solidFill>
              <a:latin typeface="Calibri"/>
              <a:ea typeface="Calibri"/>
              <a:cs typeface="Calibri"/>
              <a:sym typeface="Calibri"/>
            </a:endParaRPr>
          </a:p>
        </p:txBody>
      </p:sp>
      <p:sp>
        <p:nvSpPr>
          <p:cNvPr id="463" name="Google Shape;463;p22"/>
          <p:cNvSpPr/>
          <p:nvPr/>
        </p:nvSpPr>
        <p:spPr>
          <a:xfrm>
            <a:off x="3931920" y="3145536"/>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4" name="Google Shape;464;p22"/>
          <p:cNvSpPr/>
          <p:nvPr/>
        </p:nvSpPr>
        <p:spPr>
          <a:xfrm>
            <a:off x="4114800" y="340156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5" name="Google Shape;465;p22"/>
          <p:cNvSpPr txBox="1"/>
          <p:nvPr/>
        </p:nvSpPr>
        <p:spPr>
          <a:xfrm>
            <a:off x="4114800" y="340156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466" name="Google Shape;466;p22"/>
          <p:cNvSpPr txBox="1"/>
          <p:nvPr/>
        </p:nvSpPr>
        <p:spPr>
          <a:xfrm>
            <a:off x="4572000" y="3273552"/>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5-min writing challenge</a:t>
            </a:r>
            <a:endParaRPr b="0" i="0" spc="0" sz="1250" u="none" cap="none" strike="noStrike">
              <a:solidFill>
                <a:schemeClr val="dk1"/>
              </a:solidFill>
              <a:latin typeface="Calibri"/>
              <a:ea typeface="Calibri"/>
              <a:cs typeface="Calibri"/>
              <a:sym typeface="Calibri"/>
            </a:endParaRPr>
          </a:p>
        </p:txBody>
      </p:sp>
      <p:sp>
        <p:nvSpPr>
          <p:cNvPr id="467" name="Google Shape;467;p22"/>
          <p:cNvSpPr txBox="1"/>
          <p:nvPr/>
        </p:nvSpPr>
        <p:spPr>
          <a:xfrm>
            <a:off x="4572000" y="3584448"/>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Write a neutral, factual reply.</a:t>
            </a:r>
            <a:endParaRPr b="0" i="0" spc="0" sz="1000" u="none" cap="none" strike="noStrike">
              <a:solidFill>
                <a:schemeClr val="dk1"/>
              </a:solidFill>
              <a:latin typeface="Calibri"/>
              <a:ea typeface="Calibri"/>
              <a:cs typeface="Calibri"/>
              <a:sym typeface="Calibri"/>
            </a:endParaRPr>
          </a:p>
        </p:txBody>
      </p:sp>
      <p:sp>
        <p:nvSpPr>
          <p:cNvPr id="468" name="Google Shape;468;p22"/>
          <p:cNvSpPr/>
          <p:nvPr/>
        </p:nvSpPr>
        <p:spPr>
          <a:xfrm>
            <a:off x="411480" y="4069080"/>
            <a:ext cx="8321040" cy="502920"/>
          </a:xfrm>
          <a:prstGeom prst="roundRect">
            <a:avLst>
              <a:gd fmla="val 14545"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469" name="Google Shape;469;p22"/>
          <p:cNvPicPr preferRelativeResize="0"/>
          <p:nvPr/>
        </p:nvPicPr>
        <p:blipFill rotWithShape="1">
          <a:blip r:embed="rId4">
            <a:alphaModFix/>
          </a:blip>
          <a:srcRect b="0" l="0" r="0" t="0"/>
          <a:stretch/>
        </p:blipFill>
        <p:spPr>
          <a:xfrm>
            <a:off x="640080" y="4192524"/>
            <a:ext cx="256032" cy="256032"/>
          </a:xfrm>
          <a:prstGeom prst="rect">
            <a:avLst/>
          </a:prstGeom>
          <a:noFill/>
          <a:ln>
            <a:noFill/>
          </a:ln>
        </p:spPr>
      </p:pic>
      <p:sp>
        <p:nvSpPr>
          <p:cNvPr id="470" name="Google Shape;470;p22"/>
          <p:cNvSpPr txBox="1"/>
          <p:nvPr/>
        </p:nvSpPr>
        <p:spPr>
          <a:xfrm>
            <a:off x="1051560" y="4069080"/>
            <a:ext cx="74980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Play"/>
              <a:buNone/>
            </a:pPr>
            <a:r>
              <a:rPr b="1" i="0" lang="en-US" spc="0" sz="1400" u="none" cap="none" strike="noStrike">
                <a:solidFill>
                  <a:srgbClr val="FFFFFF"/>
                </a:solidFill>
                <a:latin typeface="Play"/>
                <a:ea typeface="Play"/>
                <a:cs typeface="Play"/>
                <a:sym typeface="Play"/>
              </a:rPr>
              <a:t>Questions?  </a:t>
            </a:r>
            <a:r>
              <a:rPr b="0" i="0" lang="en-US" spc="0" sz="1100" u="none" cap="none" strike="noStrike">
                <a:solidFill>
                  <a:srgbClr val="FFFFFF"/>
                </a:solidFill>
                <a:latin typeface="Arial"/>
                <a:ea typeface="Arial"/>
                <a:cs typeface="Arial"/>
                <a:sym typeface="Arial"/>
              </a:rPr>
              <a:t>Open the floor before we move to the next topic.</a:t>
            </a:r>
            <a:endParaRPr b="0" i="0" spc="0" sz="1400" u="none" cap="none" strike="noStrike">
              <a:solidFill>
                <a:schemeClr val="dk1"/>
              </a:solidFill>
              <a:latin typeface="Calibri"/>
              <a:ea typeface="Calibri"/>
              <a:cs typeface="Calibri"/>
              <a:sym typeface="Calibri"/>
            </a:endParaRPr>
          </a:p>
        </p:txBody>
      </p:sp>
      <p:sp>
        <p:nvSpPr>
          <p:cNvPr id="471" name="Google Shape;471;p2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23"/>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TOPIC 03 OF 04</a:t>
            </a:r>
            <a:endParaRPr b="0" i="0" spc="0" sz="800" u="none" cap="none" strike="noStrike">
              <a:solidFill>
                <a:schemeClr val="dk1"/>
              </a:solidFill>
              <a:latin typeface="Calibri"/>
              <a:ea typeface="Calibri"/>
              <a:cs typeface="Calibri"/>
              <a:sym typeface="Calibri"/>
            </a:endParaRPr>
          </a:p>
        </p:txBody>
      </p:sp>
      <p:sp>
        <p:nvSpPr>
          <p:cNvPr id="478" name="Google Shape;478;p23"/>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US" spc="0" sz="2800" u="none" cap="none" strike="noStrike">
                <a:solidFill>
                  <a:srgbClr val="1D1D1F"/>
                </a:solidFill>
                <a:latin typeface="Play"/>
                <a:ea typeface="Play"/>
                <a:cs typeface="Play"/>
                <a:sym typeface="Play"/>
              </a:rPr>
              <a:t>Duplicate Accounts</a:t>
            </a:r>
            <a:endParaRPr b="0" i="0" spc="0" sz="2800" u="none" cap="none" strike="noStrike">
              <a:solidFill>
                <a:schemeClr val="dk1"/>
              </a:solidFill>
              <a:latin typeface="Calibri"/>
              <a:ea typeface="Calibri"/>
              <a:cs typeface="Calibri"/>
              <a:sym typeface="Calibri"/>
            </a:endParaRPr>
          </a:p>
        </p:txBody>
      </p:sp>
      <p:sp>
        <p:nvSpPr>
          <p:cNvPr id="479" name="Google Shape;479;p23"/>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US" spc="0" sz="1150" u="none" cap="none" strike="noStrike">
                <a:solidFill>
                  <a:srgbClr val="6E6E73"/>
                </a:solidFill>
                <a:latin typeface="Arial"/>
                <a:ea typeface="Arial"/>
                <a:cs typeface="Arial"/>
                <a:sym typeface="Arial"/>
              </a:rPr>
              <a:t>Two accounts, two memberships, two MF charges every cycle.</a:t>
            </a:r>
            <a:endParaRPr b="0" i="0" spc="0" sz="1150" u="none" cap="none" strike="noStrike">
              <a:solidFill>
                <a:schemeClr val="dk1"/>
              </a:solidFill>
              <a:latin typeface="Calibri"/>
              <a:ea typeface="Calibri"/>
              <a:cs typeface="Calibri"/>
              <a:sym typeface="Calibri"/>
            </a:endParaRPr>
          </a:p>
        </p:txBody>
      </p:sp>
      <p:sp>
        <p:nvSpPr>
          <p:cNvPr id="480" name="Google Shape;480;p23"/>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YOU'LL LEARN</a:t>
            </a:r>
            <a:endParaRPr b="0" i="0" spc="0" sz="800" u="none" cap="none" strike="noStrike">
              <a:solidFill>
                <a:schemeClr val="dk1"/>
              </a:solidFill>
              <a:latin typeface="Calibri"/>
              <a:ea typeface="Calibri"/>
              <a:cs typeface="Calibri"/>
              <a:sym typeface="Calibri"/>
            </a:endParaRPr>
          </a:p>
        </p:txBody>
      </p:sp>
      <p:sp>
        <p:nvSpPr>
          <p:cNvPr id="481" name="Google Shape;481;p23"/>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482" name="Google Shape;482;p23"/>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483" name="Google Shape;483;p23"/>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Which account is the duplicate</a:t>
            </a:r>
            <a:endParaRPr b="0" i="0" spc="0" sz="1050" u="none" cap="none" strike="noStrike">
              <a:solidFill>
                <a:schemeClr val="dk1"/>
              </a:solidFill>
              <a:latin typeface="Calibri"/>
              <a:ea typeface="Calibri"/>
              <a:cs typeface="Calibri"/>
              <a:sym typeface="Calibri"/>
            </a:endParaRPr>
          </a:p>
        </p:txBody>
      </p:sp>
      <p:sp>
        <p:nvSpPr>
          <p:cNvPr id="484" name="Google Shape;484;p23"/>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485" name="Google Shape;485;p23"/>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486" name="Google Shape;486;p23"/>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Check Thumbtack first</a:t>
            </a:r>
            <a:endParaRPr b="0" i="0" spc="0" sz="1050" u="none" cap="none" strike="noStrike">
              <a:solidFill>
                <a:schemeClr val="dk1"/>
              </a:solidFill>
              <a:latin typeface="Calibri"/>
              <a:ea typeface="Calibri"/>
              <a:cs typeface="Calibri"/>
              <a:sym typeface="Calibri"/>
            </a:endParaRPr>
          </a:p>
        </p:txBody>
      </p:sp>
      <p:sp>
        <p:nvSpPr>
          <p:cNvPr id="487" name="Google Shape;487;p23"/>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488" name="Google Shape;488;p23"/>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489" name="Google Shape;489;p23"/>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Cancel the duplicate FC</a:t>
            </a:r>
            <a:endParaRPr b="0" i="0" spc="0" sz="1050" u="none" cap="none" strike="noStrike">
              <a:solidFill>
                <a:schemeClr val="dk1"/>
              </a:solidFill>
              <a:latin typeface="Calibri"/>
              <a:ea typeface="Calibri"/>
              <a:cs typeface="Calibri"/>
              <a:sym typeface="Calibri"/>
            </a:endParaRPr>
          </a:p>
        </p:txBody>
      </p:sp>
      <p:sp>
        <p:nvSpPr>
          <p:cNvPr id="490" name="Google Shape;490;p23"/>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491" name="Google Shape;491;p23"/>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492" name="Google Shape;492;p23"/>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Refund or free months</a:t>
            </a:r>
            <a:endParaRPr b="0" i="0" spc="0" sz="1050" u="none" cap="none" strike="noStrike">
              <a:solidFill>
                <a:schemeClr val="dk1"/>
              </a:solidFill>
              <a:latin typeface="Calibri"/>
              <a:ea typeface="Calibri"/>
              <a:cs typeface="Calibri"/>
              <a:sym typeface="Calibri"/>
            </a:endParaRPr>
          </a:p>
        </p:txBody>
      </p:sp>
      <p:sp>
        <p:nvSpPr>
          <p:cNvPr id="493" name="Google Shape;493;p23"/>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4" name="Google Shape;494;p23"/>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9/ill24.png" id="495" name="Google Shape;495;p23"/>
          <p:cNvPicPr preferRelativeResize="0"/>
          <p:nvPr/>
        </p:nvPicPr>
        <p:blipFill rotWithShape="1">
          <a:blip r:embed="rId4">
            <a:alphaModFix/>
          </a:blip>
          <a:srcRect b="0" l="0" r="0" t="0"/>
          <a:stretch/>
        </p:blipFill>
        <p:spPr>
          <a:xfrm>
            <a:off x="5658307" y="1517904"/>
            <a:ext cx="2691994" cy="2103120"/>
          </a:xfrm>
          <a:prstGeom prst="rect">
            <a:avLst/>
          </a:prstGeom>
          <a:noFill/>
          <a:ln>
            <a:noFill/>
          </a:ln>
        </p:spPr>
      </p:pic>
      <p:sp>
        <p:nvSpPr>
          <p:cNvPr id="496" name="Google Shape;496;p23"/>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7" name="Google Shape;497;p23"/>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8" name="Google Shape;498;p23"/>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9" name="Google Shape;499;p23"/>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0" name="Google Shape;500;p23"/>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1" name="Google Shape;501;p23"/>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2" name="Google Shape;502;p2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2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DUPLICATE ACCOUNTS</a:t>
            </a:r>
            <a:endParaRPr b="0" i="0" spc="0" sz="800" u="none" cap="none" strike="noStrike">
              <a:solidFill>
                <a:schemeClr val="dk1"/>
              </a:solidFill>
              <a:latin typeface="Calibri"/>
              <a:ea typeface="Calibri"/>
              <a:cs typeface="Calibri"/>
              <a:sym typeface="Calibri"/>
            </a:endParaRPr>
          </a:p>
        </p:txBody>
      </p:sp>
      <p:sp>
        <p:nvSpPr>
          <p:cNvPr id="509" name="Google Shape;509;p2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What is this?</a:t>
            </a:r>
            <a:endParaRPr b="0" i="0" spc="0" sz="2400" u="none" cap="none" strike="noStrike">
              <a:solidFill>
                <a:schemeClr val="dk1"/>
              </a:solidFill>
              <a:latin typeface="Calibri"/>
              <a:ea typeface="Calibri"/>
              <a:cs typeface="Calibri"/>
              <a:sym typeface="Calibri"/>
            </a:endParaRPr>
          </a:p>
        </p:txBody>
      </p:sp>
      <p:sp>
        <p:nvSpPr>
          <p:cNvPr id="510" name="Google Shape;510;p2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The duplicate is the account the customer isn't using.</a:t>
            </a:r>
            <a:endParaRPr b="0" i="0" spc="0" sz="1200" u="none" cap="none" strike="noStrike">
              <a:solidFill>
                <a:schemeClr val="dk1"/>
              </a:solidFill>
              <a:latin typeface="Calibri"/>
              <a:ea typeface="Calibri"/>
              <a:cs typeface="Calibri"/>
              <a:sym typeface="Calibri"/>
            </a:endParaRPr>
          </a:p>
        </p:txBody>
      </p:sp>
      <p:sp>
        <p:nvSpPr>
          <p:cNvPr id="511" name="Google Shape;511;p24"/>
          <p:cNvSpPr/>
          <p:nvPr/>
        </p:nvSpPr>
        <p:spPr>
          <a:xfrm>
            <a:off x="411480" y="1325880"/>
            <a:ext cx="268224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2" name="Google Shape;512;p24"/>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513" name="Google Shape;513;p24"/>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514" name="Google Shape;514;p24"/>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Not being used</a:t>
            </a:r>
            <a:endParaRPr b="0" i="0" spc="0" sz="1200" u="none" cap="none" strike="noStrike">
              <a:solidFill>
                <a:schemeClr val="dk1"/>
              </a:solidFill>
              <a:latin typeface="Calibri"/>
              <a:ea typeface="Calibri"/>
              <a:cs typeface="Calibri"/>
              <a:sym typeface="Calibri"/>
            </a:endParaRPr>
          </a:p>
        </p:txBody>
      </p:sp>
      <p:sp>
        <p:nvSpPr>
          <p:cNvPr id="515" name="Google Shape;515;p24"/>
          <p:cNvSpPr txBox="1"/>
          <p:nvPr/>
        </p:nvSpPr>
        <p:spPr>
          <a:xfrm>
            <a:off x="576072" y="2221992"/>
            <a:ext cx="235305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Not the older one, not the one with more paid months. Using both? Ask which to keep.</a:t>
            </a:r>
            <a:endParaRPr b="0" i="0" spc="0" sz="950" u="none" cap="none" strike="noStrike">
              <a:solidFill>
                <a:schemeClr val="dk1"/>
              </a:solidFill>
              <a:latin typeface="Calibri"/>
              <a:ea typeface="Calibri"/>
              <a:cs typeface="Calibri"/>
              <a:sym typeface="Calibri"/>
            </a:endParaRPr>
          </a:p>
        </p:txBody>
      </p:sp>
      <p:sp>
        <p:nvSpPr>
          <p:cNvPr id="516" name="Google Shape;516;p24"/>
          <p:cNvSpPr/>
          <p:nvPr/>
        </p:nvSpPr>
        <p:spPr>
          <a:xfrm>
            <a:off x="3230880" y="1325880"/>
            <a:ext cx="268224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7" name="Google Shape;517;p24"/>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518" name="Google Shape;518;p24"/>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519" name="Google Shape;519;p24"/>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Can't find it?</a:t>
            </a:r>
            <a:endParaRPr b="0" i="0" spc="0" sz="1200" u="none" cap="none" strike="noStrike">
              <a:solidFill>
                <a:schemeClr val="dk1"/>
              </a:solidFill>
              <a:latin typeface="Calibri"/>
              <a:ea typeface="Calibri"/>
              <a:cs typeface="Calibri"/>
              <a:sym typeface="Calibri"/>
            </a:endParaRPr>
          </a:p>
        </p:txBody>
      </p:sp>
      <p:sp>
        <p:nvSpPr>
          <p:cNvPr id="520" name="Google Shape;520;p24"/>
          <p:cNvSpPr txBox="1"/>
          <p:nvPr/>
        </p:nvSpPr>
        <p:spPr>
          <a:xfrm>
            <a:off x="3395472" y="2221992"/>
            <a:ext cx="235305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Ask for their phone, email and the card used, then search on those.</a:t>
            </a:r>
            <a:endParaRPr b="0" i="0" spc="0" sz="950" u="none" cap="none" strike="noStrike">
              <a:solidFill>
                <a:srgbClr val="6E6E73"/>
              </a:solidFill>
              <a:latin typeface="Arial"/>
              <a:ea typeface="Arial"/>
              <a:cs typeface="Arial"/>
              <a:sym typeface="Arial"/>
            </a:endParaRPr>
          </a:p>
          <a:p>
            <a:pPr indent="0" lvl="0" marL="0" marR="0" rtl="0" algn="l">
              <a:lnSpc>
                <a:spcPct val="100000"/>
              </a:lnSpc>
              <a:spcBef>
                <a:spcPts val="0"/>
              </a:spcBef>
              <a:spcAft>
                <a:spcPts val="0"/>
              </a:spcAft>
              <a:buClr>
                <a:srgbClr val="6E6E73"/>
              </a:buClr>
              <a:buSzPts val="950"/>
              <a:buFont typeface="Arial"/>
              <a:buNone/>
            </a:pPr>
            <a:r>
              <a:t/>
            </a:r>
            <a:endParaRPr b="0" i="0" spc="0" sz="950" u="none" cap="none" strike="noStrike">
              <a:solidFill>
                <a:srgbClr val="6E6E73"/>
              </a:solidFill>
              <a:latin typeface="Arial"/>
              <a:ea typeface="Arial"/>
              <a:cs typeface="Arial"/>
              <a:sym typeface="Arial"/>
            </a:endParaRPr>
          </a:p>
        </p:txBody>
      </p:sp>
      <p:sp>
        <p:nvSpPr>
          <p:cNvPr id="521" name="Google Shape;521;p24"/>
          <p:cNvSpPr/>
          <p:nvPr/>
        </p:nvSpPr>
        <p:spPr>
          <a:xfrm>
            <a:off x="6050280" y="1325880"/>
            <a:ext cx="268224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22" name="Google Shape;522;p24"/>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523" name="Google Shape;523;p24"/>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524" name="Google Shape;524;p24"/>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Unused DHJ voucher?</a:t>
            </a:r>
            <a:endParaRPr b="0" i="0" spc="0" sz="1200" u="none" cap="none" strike="noStrike">
              <a:solidFill>
                <a:schemeClr val="dk1"/>
              </a:solidFill>
              <a:latin typeface="Calibri"/>
              <a:ea typeface="Calibri"/>
              <a:cs typeface="Calibri"/>
              <a:sym typeface="Calibri"/>
            </a:endParaRPr>
          </a:p>
        </p:txBody>
      </p:sp>
      <p:sp>
        <p:nvSpPr>
          <p:cNvPr id="525" name="Google Shape;525;p24"/>
          <p:cNvSpPr txBox="1"/>
          <p:nvPr/>
        </p:nvSpPr>
        <p:spPr>
          <a:xfrm>
            <a:off x="6214872" y="2221992"/>
            <a:ext cx="235305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No FC on it: refund and invalidate the voucher (within 1 year).</a:t>
            </a:r>
            <a:endParaRPr b="0" i="0" spc="0" sz="950" u="none" cap="none" strike="noStrike">
              <a:solidFill>
                <a:schemeClr val="dk1"/>
              </a:solidFill>
              <a:latin typeface="Calibri"/>
              <a:ea typeface="Calibri"/>
              <a:cs typeface="Calibri"/>
              <a:sym typeface="Calibri"/>
            </a:endParaRPr>
          </a:p>
        </p:txBody>
      </p:sp>
      <p:sp>
        <p:nvSpPr>
          <p:cNvPr id="526" name="Google Shape;526;p24"/>
          <p:cNvSpPr/>
          <p:nvPr/>
        </p:nvSpPr>
        <p:spPr>
          <a:xfrm>
            <a:off x="411480" y="315468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527" name="Google Shape;527;p24"/>
          <p:cNvPicPr preferRelativeResize="0"/>
          <p:nvPr/>
        </p:nvPicPr>
        <p:blipFill rotWithShape="1">
          <a:blip r:embed="rId6">
            <a:alphaModFix/>
          </a:blip>
          <a:srcRect b="0" l="0" r="0" t="0"/>
          <a:stretch/>
        </p:blipFill>
        <p:spPr>
          <a:xfrm>
            <a:off x="566928" y="3264408"/>
            <a:ext cx="164592" cy="164592"/>
          </a:xfrm>
          <a:prstGeom prst="rect">
            <a:avLst/>
          </a:prstGeom>
          <a:noFill/>
          <a:ln>
            <a:noFill/>
          </a:ln>
        </p:spPr>
      </p:pic>
      <p:sp>
        <p:nvSpPr>
          <p:cNvPr id="528" name="Google Shape;528;p24"/>
          <p:cNvSpPr txBox="1"/>
          <p:nvPr/>
        </p:nvSpPr>
        <p:spPr>
          <a:xfrm>
            <a:off x="822960" y="325526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Tone:  </a:t>
            </a:r>
            <a:r>
              <a:rPr b="0" i="0" lang="en-US" spc="0" sz="1000" u="none" cap="none" strike="noStrike">
                <a:solidFill>
                  <a:srgbClr val="1D1D1F"/>
                </a:solidFill>
                <a:latin typeface="Arial"/>
                <a:ea typeface="Arial"/>
                <a:cs typeface="Arial"/>
                <a:sym typeface="Arial"/>
              </a:rPr>
              <a:t>not a service failure, not their mistake. Stop the double charge, then make them whole.</a:t>
            </a:r>
            <a:endParaRPr b="0" i="0" spc="0" sz="1000" u="none" cap="none" strike="noStrike">
              <a:solidFill>
                <a:schemeClr val="dk1"/>
              </a:solidFill>
              <a:latin typeface="Calibri"/>
              <a:ea typeface="Calibri"/>
              <a:cs typeface="Calibri"/>
              <a:sym typeface="Calibri"/>
            </a:endParaRPr>
          </a:p>
        </p:txBody>
      </p:sp>
      <p:sp>
        <p:nvSpPr>
          <p:cNvPr id="529" name="Google Shape;529;p24"/>
          <p:cNvSpPr txBox="1"/>
          <p:nvPr/>
        </p:nvSpPr>
        <p:spPr>
          <a:xfrm>
            <a:off x="411480" y="3703320"/>
            <a:ext cx="83210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Play"/>
              <a:buNone/>
            </a:pPr>
            <a:r>
              <a:rPr b="1" i="0" lang="en-US" spc="0" sz="950" u="none" cap="none" strike="noStrike">
                <a:solidFill>
                  <a:srgbClr val="1D1D1F"/>
                </a:solidFill>
                <a:latin typeface="Play"/>
                <a:ea typeface="Play"/>
                <a:cs typeface="Play"/>
                <a:sym typeface="Play"/>
              </a:rPr>
              <a:t>Good to know:  </a:t>
            </a:r>
            <a:r>
              <a:rPr b="0" i="0" lang="en-US" spc="0" sz="950" u="none" cap="none" strike="noStrike">
                <a:solidFill>
                  <a:srgbClr val="6E6E73"/>
                </a:solidFill>
                <a:latin typeface="Arial"/>
                <a:ea typeface="Arial"/>
                <a:cs typeface="Arial"/>
                <a:sym typeface="Arial"/>
              </a:rPr>
              <a:t>one account per email, and one email can't hold both a C and a CP account. A C account can't be deactivated while an FC, RC or cleaning is still active.</a:t>
            </a:r>
            <a:endParaRPr b="0" i="0" spc="0" sz="950" u="none" cap="none" strike="noStrike">
              <a:solidFill>
                <a:schemeClr val="dk1"/>
              </a:solidFill>
              <a:latin typeface="Calibri"/>
              <a:ea typeface="Calibri"/>
              <a:cs typeface="Calibri"/>
              <a:sym typeface="Calibri"/>
            </a:endParaRPr>
          </a:p>
        </p:txBody>
      </p:sp>
      <p:sp>
        <p:nvSpPr>
          <p:cNvPr id="530" name="Google Shape;530;p2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531" name="Google Shape;531;p24"/>
          <p:cNvSpPr/>
          <p:nvPr/>
        </p:nvSpPr>
        <p:spPr>
          <a:xfrm>
            <a:off x="3395475" y="2578550"/>
            <a:ext cx="2468700" cy="201300"/>
          </a:xfrm>
          <a:prstGeom prst="roundRect">
            <a:avLst>
              <a:gd fmla="val 8000" name="adj"/>
            </a:avLst>
          </a:prstGeom>
          <a:solidFill>
            <a:srgbClr val="FFF3D6"/>
          </a:solidFill>
          <a:ln cap="flat" cmpd="sng" w="12700">
            <a:solidFill>
              <a:srgbClr val="9A6410"/>
            </a:solidFill>
            <a:prstDash val="solid"/>
            <a:round/>
            <a:headEnd len="sm" w="sm" type="none"/>
            <a:tailEnd len="sm" w="sm" type="none"/>
          </a:ln>
        </p:spPr>
        <p:txBody>
          <a:bodyPr anchorCtr="0" anchor="ctr" bIns="0" lIns="73150" spcFirstLastPara="1" rIns="7315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US" spc="0" sz="1200" u="none" cap="none" strike="noStrike">
                <a:solidFill>
                  <a:srgbClr val="0D0D0D"/>
                </a:solidFill>
                <a:highlight>
                  <a:srgbClr val="FCFCFC"/>
                </a:highlight>
                <a:latin typeface="Arial"/>
                <a:ea typeface="Arial"/>
                <a:cs typeface="Arial"/>
                <a:sym typeface="Arial"/>
              </a:rPr>
              <a:t>🖥️</a:t>
            </a:r>
            <a:r>
              <a:rPr b="0" i="0" lang="en-US" spc="0" sz="1100" u="none" cap="none" strike="noStrike">
                <a:solidFill>
                  <a:schemeClr val="dk1"/>
                </a:solidFill>
                <a:latin typeface="Arial"/>
                <a:ea typeface="Arial"/>
                <a:cs typeface="Arial"/>
                <a:sym typeface="Arial"/>
              </a:rPr>
              <a:t> </a:t>
            </a:r>
            <a:r>
              <a:rPr b="1" i="0" lang="en-US" spc="0" sz="700" u="none" cap="none" strike="noStrike">
                <a:solidFill>
                  <a:schemeClr val="dk1"/>
                </a:solidFill>
                <a:latin typeface="Play"/>
                <a:ea typeface="Play"/>
                <a:cs typeface="Play"/>
                <a:sym typeface="Play"/>
              </a:rPr>
              <a:t>Trainer walkthrough: how to search duplicates</a:t>
            </a:r>
            <a:endParaRPr b="1" i="0" spc="0" sz="700" u="none" cap="none" strike="noStrike">
              <a:solidFill>
                <a:srgbClr val="000000"/>
              </a:solidFill>
              <a:latin typeface="Play"/>
              <a:ea typeface="Play"/>
              <a:cs typeface="Play"/>
              <a:sym typeface="Pla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2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DUPLICATE ACCOUNTS</a:t>
            </a:r>
            <a:endParaRPr b="0" i="0" spc="0" sz="800" u="none" cap="none" strike="noStrike">
              <a:solidFill>
                <a:schemeClr val="dk1"/>
              </a:solidFill>
              <a:latin typeface="Calibri"/>
              <a:ea typeface="Calibri"/>
              <a:cs typeface="Calibri"/>
              <a:sym typeface="Calibri"/>
            </a:endParaRPr>
          </a:p>
        </p:txBody>
      </p:sp>
      <p:sp>
        <p:nvSpPr>
          <p:cNvPr id="538" name="Google Shape;538;p2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The process</a:t>
            </a:r>
            <a:endParaRPr b="0" i="0" spc="0" sz="2400" u="none" cap="none" strike="noStrike">
              <a:solidFill>
                <a:schemeClr val="dk1"/>
              </a:solidFill>
              <a:latin typeface="Calibri"/>
              <a:ea typeface="Calibri"/>
              <a:cs typeface="Calibri"/>
              <a:sym typeface="Calibri"/>
            </a:endParaRPr>
          </a:p>
        </p:txBody>
      </p:sp>
      <p:sp>
        <p:nvSpPr>
          <p:cNvPr id="539" name="Google Shape;539;p2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Check Thumbtack, stop the next charge, then let C choose.</a:t>
            </a:r>
            <a:endParaRPr b="0" i="0" spc="0" sz="1200" u="none" cap="none" strike="noStrike">
              <a:solidFill>
                <a:schemeClr val="dk1"/>
              </a:solidFill>
              <a:latin typeface="Calibri"/>
              <a:ea typeface="Calibri"/>
              <a:cs typeface="Calibri"/>
              <a:sym typeface="Calibri"/>
            </a:endParaRPr>
          </a:p>
        </p:txBody>
      </p:sp>
      <p:sp>
        <p:nvSpPr>
          <p:cNvPr id="540" name="Google Shape;540;p2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541" name="Google Shape;541;p25"/>
          <p:cNvSpPr/>
          <p:nvPr/>
        </p:nvSpPr>
        <p:spPr>
          <a:xfrm>
            <a:off x="411480" y="1298448"/>
            <a:ext cx="2194560" cy="457200"/>
          </a:xfrm>
          <a:prstGeom prst="roundRect">
            <a:avLst>
              <a:gd fmla="val 8000" name="adj"/>
            </a:avLst>
          </a:prstGeom>
          <a:solidFill>
            <a:srgbClr val="FFFFFF"/>
          </a:solidFill>
          <a:ln cap="flat" cmpd="sng" w="12700">
            <a:solidFill>
              <a:srgbClr val="DCE1E7"/>
            </a:solidFill>
            <a:prstDash val="solid"/>
            <a:round/>
            <a:headEnd len="sm" w="sm" type="none"/>
            <a:tailEnd len="sm" w="sm" type="none"/>
          </a:ln>
        </p:spPr>
        <p:txBody>
          <a:bodyPr anchorCtr="0" anchor="ctr" bIns="0" lIns="73150" spcFirstLastPara="1" rIns="7315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pc="0" sz="1000" u="none" cap="none" strike="noStrike">
                <a:solidFill>
                  <a:srgbClr val="1D1D1F"/>
                </a:solidFill>
                <a:latin typeface="Play"/>
                <a:ea typeface="Play"/>
                <a:cs typeface="Play"/>
                <a:sym typeface="Play"/>
              </a:rPr>
              <a:t>Duplicate account found</a:t>
            </a:r>
            <a:endParaRPr b="0" i="0" spc="0" sz="1400" u="none" cap="none" strike="noStrike">
              <a:solidFill>
                <a:srgbClr val="000000"/>
              </a:solidFill>
              <a:latin typeface="Arial"/>
              <a:ea typeface="Arial"/>
              <a:cs typeface="Arial"/>
              <a:sym typeface="Arial"/>
            </a:endParaRPr>
          </a:p>
        </p:txBody>
      </p:sp>
      <p:cxnSp>
        <p:nvCxnSpPr>
          <p:cNvPr id="542" name="Google Shape;542;p25"/>
          <p:cNvCxnSpPr/>
          <p:nvPr/>
        </p:nvCxnSpPr>
        <p:spPr>
          <a:xfrm>
            <a:off x="2606040" y="1527048"/>
            <a:ext cx="365760" cy="0"/>
          </a:xfrm>
          <a:prstGeom prst="straightConnector1">
            <a:avLst/>
          </a:prstGeom>
          <a:noFill/>
          <a:ln cap="flat" cmpd="sng" w="12700">
            <a:solidFill>
              <a:srgbClr val="6E6E73"/>
            </a:solidFill>
            <a:prstDash val="solid"/>
            <a:round/>
            <a:headEnd len="sm" w="sm" type="none"/>
            <a:tailEnd len="med" w="med" type="triangle"/>
          </a:ln>
        </p:spPr>
      </p:cxnSp>
      <p:sp>
        <p:nvSpPr>
          <p:cNvPr id="543" name="Google Shape;543;p25"/>
          <p:cNvSpPr/>
          <p:nvPr/>
        </p:nvSpPr>
        <p:spPr>
          <a:xfrm>
            <a:off x="2971800" y="1298448"/>
            <a:ext cx="2743200" cy="457200"/>
          </a:xfrm>
          <a:prstGeom prst="roundRect">
            <a:avLst>
              <a:gd fmla="val 8000" name="adj"/>
            </a:avLst>
          </a:prstGeom>
          <a:solidFill>
            <a:srgbClr val="FFF3D6"/>
          </a:solidFill>
          <a:ln cap="flat" cmpd="sng" w="12700">
            <a:solidFill>
              <a:srgbClr val="9A6410"/>
            </a:solidFill>
            <a:prstDash val="solid"/>
            <a:round/>
            <a:headEnd len="sm" w="sm" type="none"/>
            <a:tailEnd len="sm" w="sm" type="none"/>
          </a:ln>
        </p:spPr>
        <p:txBody>
          <a:bodyPr anchorCtr="0" anchor="ctr" bIns="0" lIns="73150" spcFirstLastPara="1" rIns="7315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pc="0" sz="1000" u="none" cap="none" strike="noStrike">
                <a:solidFill>
                  <a:srgbClr val="9A6410"/>
                </a:solidFill>
                <a:latin typeface="Play"/>
                <a:ea typeface="Play"/>
                <a:cs typeface="Play"/>
                <a:sym typeface="Play"/>
              </a:rPr>
              <a:t>project_thumbtack flag?</a:t>
            </a:r>
            <a:endParaRPr b="0" i="0" spc="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850"/>
              <a:buFont typeface="Arial"/>
              <a:buNone/>
            </a:pPr>
            <a:r>
              <a:rPr b="0" i="0" lang="en-US" spc="0" sz="850" u="none" cap="none" strike="noStrike">
                <a:solidFill>
                  <a:srgbClr val="6E6E73"/>
                </a:solidFill>
                <a:latin typeface="Arial"/>
                <a:ea typeface="Arial"/>
                <a:cs typeface="Arial"/>
                <a:sym typeface="Arial"/>
              </a:rPr>
              <a:t>Legacy CRM › View › Flag</a:t>
            </a:r>
            <a:endParaRPr b="0" i="0" spc="0" sz="1400" u="none" cap="none" strike="noStrike">
              <a:solidFill>
                <a:srgbClr val="000000"/>
              </a:solidFill>
              <a:latin typeface="Arial"/>
              <a:ea typeface="Arial"/>
              <a:cs typeface="Arial"/>
              <a:sym typeface="Arial"/>
            </a:endParaRPr>
          </a:p>
        </p:txBody>
      </p:sp>
      <p:cxnSp>
        <p:nvCxnSpPr>
          <p:cNvPr id="544" name="Google Shape;544;p25"/>
          <p:cNvCxnSpPr/>
          <p:nvPr/>
        </p:nvCxnSpPr>
        <p:spPr>
          <a:xfrm>
            <a:off x="5715000" y="1527048"/>
            <a:ext cx="365760" cy="0"/>
          </a:xfrm>
          <a:prstGeom prst="straightConnector1">
            <a:avLst/>
          </a:prstGeom>
          <a:noFill/>
          <a:ln cap="flat" cmpd="sng" w="12700">
            <a:solidFill>
              <a:srgbClr val="6E6E73"/>
            </a:solidFill>
            <a:prstDash val="solid"/>
            <a:round/>
            <a:headEnd len="sm" w="sm" type="none"/>
            <a:tailEnd len="med" w="med" type="triangle"/>
          </a:ln>
        </p:spPr>
      </p:cxnSp>
      <p:sp>
        <p:nvSpPr>
          <p:cNvPr id="545" name="Google Shape;545;p25"/>
          <p:cNvSpPr txBox="1"/>
          <p:nvPr/>
        </p:nvSpPr>
        <p:spPr>
          <a:xfrm>
            <a:off x="5760720" y="1325880"/>
            <a:ext cx="365760" cy="182880"/>
          </a:xfrm>
          <a:prstGeom prst="rect">
            <a:avLst/>
          </a:prstGeom>
          <a:noFill/>
          <a:ln>
            <a:noFill/>
          </a:ln>
        </p:spPr>
        <p:txBody>
          <a:bodyPr anchorCtr="0" anchor="ctr" bIns="0" lIns="73150" spcFirstLastPara="1" rIns="73150" wrap="square" tIns="0">
            <a:spAutoFit/>
          </a:bodyPr>
          <a:lstStyle/>
          <a:p>
            <a:pPr indent="0" lvl="0" marL="0" marR="0" rtl="0" algn="l">
              <a:lnSpc>
                <a:spcPct val="100000"/>
              </a:lnSpc>
              <a:spcBef>
                <a:spcPts val="0"/>
              </a:spcBef>
              <a:spcAft>
                <a:spcPts val="0"/>
              </a:spcAft>
              <a:buClr>
                <a:srgbClr val="000000"/>
              </a:buClr>
              <a:buSzPts val="850"/>
              <a:buFont typeface="Arial"/>
              <a:buNone/>
            </a:pPr>
            <a:r>
              <a:rPr b="1" i="0" lang="en-US" spc="0" sz="850" u="none" cap="none" strike="noStrike">
                <a:solidFill>
                  <a:srgbClr val="6E6E73"/>
                </a:solidFill>
                <a:latin typeface="Play"/>
                <a:ea typeface="Play"/>
                <a:cs typeface="Play"/>
                <a:sym typeface="Play"/>
              </a:rPr>
              <a:t>Yes</a:t>
            </a:r>
            <a:endParaRPr b="0" i="0" spc="0" sz="1400" u="none" cap="none" strike="noStrike">
              <a:solidFill>
                <a:srgbClr val="000000"/>
              </a:solidFill>
              <a:latin typeface="Arial"/>
              <a:ea typeface="Arial"/>
              <a:cs typeface="Arial"/>
              <a:sym typeface="Arial"/>
            </a:endParaRPr>
          </a:p>
        </p:txBody>
      </p:sp>
      <p:sp>
        <p:nvSpPr>
          <p:cNvPr id="546" name="Google Shape;546;p25"/>
          <p:cNvSpPr/>
          <p:nvPr/>
        </p:nvSpPr>
        <p:spPr>
          <a:xfrm>
            <a:off x="6080760" y="1298448"/>
            <a:ext cx="2651760" cy="457200"/>
          </a:xfrm>
          <a:prstGeom prst="roundRect">
            <a:avLst>
              <a:gd fmla="val 8000" name="adj"/>
            </a:avLst>
          </a:prstGeom>
          <a:solidFill>
            <a:srgbClr val="1D1D1F"/>
          </a:solidFill>
          <a:ln>
            <a:noFill/>
          </a:ln>
        </p:spPr>
        <p:txBody>
          <a:bodyPr anchorCtr="0" anchor="ctr" bIns="0" lIns="73150" spcFirstLastPara="1" rIns="7315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pc="0" sz="1000" u="none" cap="none" strike="noStrike">
                <a:solidFill>
                  <a:srgbClr val="FFFFFF"/>
                </a:solidFill>
                <a:latin typeface="Play"/>
                <a:ea typeface="Play"/>
                <a:cs typeface="Play"/>
                <a:sym typeface="Play"/>
              </a:rPr>
              <a:t>Reassign to the Thumbtack queue. Stop.</a:t>
            </a:r>
            <a:endParaRPr b="0" i="0" spc="0" sz="1400" u="none" cap="none" strike="noStrike">
              <a:solidFill>
                <a:srgbClr val="000000"/>
              </a:solidFill>
              <a:latin typeface="Arial"/>
              <a:ea typeface="Arial"/>
              <a:cs typeface="Arial"/>
              <a:sym typeface="Arial"/>
            </a:endParaRPr>
          </a:p>
        </p:txBody>
      </p:sp>
      <p:cxnSp>
        <p:nvCxnSpPr>
          <p:cNvPr id="547" name="Google Shape;547;p25"/>
          <p:cNvCxnSpPr/>
          <p:nvPr/>
        </p:nvCxnSpPr>
        <p:spPr>
          <a:xfrm>
            <a:off x="4343400" y="1755648"/>
            <a:ext cx="0" cy="182880"/>
          </a:xfrm>
          <a:prstGeom prst="straightConnector1">
            <a:avLst/>
          </a:prstGeom>
          <a:noFill/>
          <a:ln cap="flat" cmpd="sng" w="12700">
            <a:solidFill>
              <a:srgbClr val="6E6E73"/>
            </a:solidFill>
            <a:prstDash val="solid"/>
            <a:round/>
            <a:headEnd len="sm" w="sm" type="none"/>
            <a:tailEnd len="med" w="med" type="triangle"/>
          </a:ln>
        </p:spPr>
      </p:cxnSp>
      <p:sp>
        <p:nvSpPr>
          <p:cNvPr id="548" name="Google Shape;548;p25"/>
          <p:cNvSpPr txBox="1"/>
          <p:nvPr/>
        </p:nvSpPr>
        <p:spPr>
          <a:xfrm>
            <a:off x="4416552" y="1755648"/>
            <a:ext cx="457200" cy="182880"/>
          </a:xfrm>
          <a:prstGeom prst="rect">
            <a:avLst/>
          </a:prstGeom>
          <a:noFill/>
          <a:ln>
            <a:noFill/>
          </a:ln>
        </p:spPr>
        <p:txBody>
          <a:bodyPr anchorCtr="0" anchor="ctr" bIns="0" lIns="73150" spcFirstLastPara="1" rIns="73150" wrap="square" tIns="0">
            <a:spAutoFit/>
          </a:bodyPr>
          <a:lstStyle/>
          <a:p>
            <a:pPr indent="0" lvl="0" marL="0" marR="0" rtl="0" algn="l">
              <a:lnSpc>
                <a:spcPct val="100000"/>
              </a:lnSpc>
              <a:spcBef>
                <a:spcPts val="0"/>
              </a:spcBef>
              <a:spcAft>
                <a:spcPts val="0"/>
              </a:spcAft>
              <a:buClr>
                <a:srgbClr val="000000"/>
              </a:buClr>
              <a:buSzPts val="850"/>
              <a:buFont typeface="Arial"/>
              <a:buNone/>
            </a:pPr>
            <a:r>
              <a:rPr b="1" i="0" lang="en-US" spc="0" sz="850" u="none" cap="none" strike="noStrike">
                <a:solidFill>
                  <a:srgbClr val="6E6E73"/>
                </a:solidFill>
                <a:latin typeface="Play"/>
                <a:ea typeface="Play"/>
                <a:cs typeface="Play"/>
                <a:sym typeface="Play"/>
              </a:rPr>
              <a:t>No</a:t>
            </a:r>
            <a:endParaRPr b="0" i="0" spc="0" sz="1400" u="none" cap="none" strike="noStrike">
              <a:solidFill>
                <a:srgbClr val="000000"/>
              </a:solidFill>
              <a:latin typeface="Arial"/>
              <a:ea typeface="Arial"/>
              <a:cs typeface="Arial"/>
              <a:sym typeface="Arial"/>
            </a:endParaRPr>
          </a:p>
        </p:txBody>
      </p:sp>
      <p:sp>
        <p:nvSpPr>
          <p:cNvPr id="549" name="Google Shape;549;p25"/>
          <p:cNvSpPr/>
          <p:nvPr/>
        </p:nvSpPr>
        <p:spPr>
          <a:xfrm>
            <a:off x="411480" y="1938528"/>
            <a:ext cx="8321040" cy="566928"/>
          </a:xfrm>
          <a:prstGeom prst="roundRect">
            <a:avLst>
              <a:gd fmla="val 8000" name="adj"/>
            </a:avLst>
          </a:prstGeom>
          <a:solidFill>
            <a:srgbClr val="0B7A6F"/>
          </a:solidFill>
          <a:ln>
            <a:noFill/>
          </a:ln>
        </p:spPr>
        <p:txBody>
          <a:bodyPr anchorCtr="0" anchor="ctr" bIns="0" lIns="73150" spcFirstLastPara="1" rIns="73150" wrap="square" tIns="0">
            <a:noAutofit/>
          </a:bodyPr>
          <a:lstStyle/>
          <a:p>
            <a:pPr indent="0" lvl="0" marL="0" marR="0" rtl="0" algn="ctr">
              <a:lnSpc>
                <a:spcPct val="100000"/>
              </a:lnSpc>
              <a:spcBef>
                <a:spcPts val="0"/>
              </a:spcBef>
              <a:spcAft>
                <a:spcPts val="0"/>
              </a:spcAft>
              <a:buClr>
                <a:srgbClr val="000000"/>
              </a:buClr>
              <a:buSzPts val="1050"/>
              <a:buFont typeface="Arial"/>
              <a:buNone/>
            </a:pPr>
            <a:r>
              <a:rPr b="1" i="0" lang="en-US" spc="0" sz="1050" u="none" cap="none" strike="noStrike">
                <a:solidFill>
                  <a:srgbClr val="FFFFFF"/>
                </a:solidFill>
                <a:latin typeface="Play"/>
                <a:ea typeface="Play"/>
                <a:cs typeface="Play"/>
                <a:sym typeface="Play"/>
              </a:rPr>
              <a:t>Step 1, on the duplicate:  cancel the FC right away</a:t>
            </a:r>
            <a:endParaRPr b="0" i="0" spc="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900"/>
              <a:buFont typeface="Arial"/>
              <a:buNone/>
            </a:pPr>
            <a:r>
              <a:rPr b="0" i="0" lang="en-US" spc="0" sz="900" u="none" cap="none" strike="noStrike">
                <a:solidFill>
                  <a:srgbClr val="FFFFFF"/>
                </a:solidFill>
                <a:latin typeface="Arial"/>
                <a:ea typeface="Arial"/>
                <a:cs typeface="Arial"/>
                <a:sym typeface="Arial"/>
              </a:rPr>
              <a:t>Cancel upcoming jobs and the RC (unless C wants them)  ·  internal note on both accounts with the other ticket link / C ID</a:t>
            </a:r>
            <a:endParaRPr b="0" i="0" spc="0" sz="1400" u="none" cap="none" strike="noStrike">
              <a:solidFill>
                <a:srgbClr val="000000"/>
              </a:solidFill>
              <a:latin typeface="Arial"/>
              <a:ea typeface="Arial"/>
              <a:cs typeface="Arial"/>
              <a:sym typeface="Arial"/>
            </a:endParaRPr>
          </a:p>
        </p:txBody>
      </p:sp>
      <p:cxnSp>
        <p:nvCxnSpPr>
          <p:cNvPr id="550" name="Google Shape;550;p25"/>
          <p:cNvCxnSpPr/>
          <p:nvPr/>
        </p:nvCxnSpPr>
        <p:spPr>
          <a:xfrm>
            <a:off x="4343400" y="2505456"/>
            <a:ext cx="0" cy="164592"/>
          </a:xfrm>
          <a:prstGeom prst="straightConnector1">
            <a:avLst/>
          </a:prstGeom>
          <a:noFill/>
          <a:ln cap="flat" cmpd="sng" w="12700">
            <a:solidFill>
              <a:srgbClr val="6E6E73"/>
            </a:solidFill>
            <a:prstDash val="solid"/>
            <a:round/>
            <a:headEnd len="sm" w="sm" type="none"/>
            <a:tailEnd len="med" w="med" type="triangle"/>
          </a:ln>
        </p:spPr>
      </p:cxnSp>
      <p:sp>
        <p:nvSpPr>
          <p:cNvPr id="551" name="Google Shape;551;p25"/>
          <p:cNvSpPr/>
          <p:nvPr/>
        </p:nvSpPr>
        <p:spPr>
          <a:xfrm>
            <a:off x="2743200" y="2670048"/>
            <a:ext cx="3200400" cy="365760"/>
          </a:xfrm>
          <a:prstGeom prst="roundRect">
            <a:avLst>
              <a:gd fmla="val 8000" name="adj"/>
            </a:avLst>
          </a:prstGeom>
          <a:solidFill>
            <a:srgbClr val="FFF3D6"/>
          </a:solidFill>
          <a:ln cap="flat" cmpd="sng" w="12700">
            <a:solidFill>
              <a:srgbClr val="9A6410"/>
            </a:solidFill>
            <a:prstDash val="solid"/>
            <a:round/>
            <a:headEnd len="sm" w="sm" type="none"/>
            <a:tailEnd len="sm" w="sm" type="none"/>
          </a:ln>
        </p:spPr>
        <p:txBody>
          <a:bodyPr anchorCtr="0" anchor="ctr" bIns="0" lIns="73150" spcFirstLastPara="1" rIns="7315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pc="0" sz="1000" u="none" cap="none" strike="noStrike">
                <a:solidFill>
                  <a:srgbClr val="9A6410"/>
                </a:solidFill>
                <a:latin typeface="Play"/>
                <a:ea typeface="Play"/>
                <a:cs typeface="Play"/>
                <a:sym typeface="Play"/>
              </a:rPr>
              <a:t>Let C choose</a:t>
            </a:r>
            <a:endParaRPr b="0" i="0" spc="0" sz="1400" u="none" cap="none" strike="noStrike">
              <a:solidFill>
                <a:srgbClr val="000000"/>
              </a:solidFill>
              <a:latin typeface="Arial"/>
              <a:ea typeface="Arial"/>
              <a:cs typeface="Arial"/>
              <a:sym typeface="Arial"/>
            </a:endParaRPr>
          </a:p>
        </p:txBody>
      </p:sp>
      <p:cxnSp>
        <p:nvCxnSpPr>
          <p:cNvPr id="552" name="Google Shape;552;p25"/>
          <p:cNvCxnSpPr/>
          <p:nvPr/>
        </p:nvCxnSpPr>
        <p:spPr>
          <a:xfrm>
            <a:off x="4343400" y="3035808"/>
            <a:ext cx="0" cy="118872"/>
          </a:xfrm>
          <a:prstGeom prst="straightConnector1">
            <a:avLst/>
          </a:prstGeom>
          <a:noFill/>
          <a:ln cap="flat" cmpd="sng" w="12700">
            <a:solidFill>
              <a:srgbClr val="6E6E73"/>
            </a:solidFill>
            <a:prstDash val="solid"/>
            <a:round/>
            <a:headEnd len="sm" w="sm" type="none"/>
            <a:tailEnd len="sm" w="sm" type="none"/>
          </a:ln>
        </p:spPr>
      </p:cxnSp>
      <p:cxnSp>
        <p:nvCxnSpPr>
          <p:cNvPr id="553" name="Google Shape;553;p25"/>
          <p:cNvCxnSpPr/>
          <p:nvPr/>
        </p:nvCxnSpPr>
        <p:spPr>
          <a:xfrm>
            <a:off x="2446020" y="3154680"/>
            <a:ext cx="4251960" cy="0"/>
          </a:xfrm>
          <a:prstGeom prst="straightConnector1">
            <a:avLst/>
          </a:prstGeom>
          <a:noFill/>
          <a:ln cap="flat" cmpd="sng" w="12700">
            <a:solidFill>
              <a:srgbClr val="6E6E73"/>
            </a:solidFill>
            <a:prstDash val="solid"/>
            <a:round/>
            <a:headEnd len="sm" w="sm" type="none"/>
            <a:tailEnd len="sm" w="sm" type="none"/>
          </a:ln>
        </p:spPr>
      </p:cxnSp>
      <p:cxnSp>
        <p:nvCxnSpPr>
          <p:cNvPr id="554" name="Google Shape;554;p25"/>
          <p:cNvCxnSpPr/>
          <p:nvPr/>
        </p:nvCxnSpPr>
        <p:spPr>
          <a:xfrm>
            <a:off x="2446020" y="3154680"/>
            <a:ext cx="0" cy="137160"/>
          </a:xfrm>
          <a:prstGeom prst="straightConnector1">
            <a:avLst/>
          </a:prstGeom>
          <a:noFill/>
          <a:ln cap="flat" cmpd="sng" w="12700">
            <a:solidFill>
              <a:srgbClr val="6E6E73"/>
            </a:solidFill>
            <a:prstDash val="solid"/>
            <a:round/>
            <a:headEnd len="sm" w="sm" type="none"/>
            <a:tailEnd len="med" w="med" type="triangle"/>
          </a:ln>
        </p:spPr>
      </p:cxnSp>
      <p:cxnSp>
        <p:nvCxnSpPr>
          <p:cNvPr id="555" name="Google Shape;555;p25"/>
          <p:cNvCxnSpPr/>
          <p:nvPr/>
        </p:nvCxnSpPr>
        <p:spPr>
          <a:xfrm>
            <a:off x="6697980" y="3154680"/>
            <a:ext cx="0" cy="137160"/>
          </a:xfrm>
          <a:prstGeom prst="straightConnector1">
            <a:avLst/>
          </a:prstGeom>
          <a:noFill/>
          <a:ln cap="flat" cmpd="sng" w="12700">
            <a:solidFill>
              <a:srgbClr val="6E6E73"/>
            </a:solidFill>
            <a:prstDash val="solid"/>
            <a:round/>
            <a:headEnd len="sm" w="sm" type="none"/>
            <a:tailEnd len="med" w="med" type="triangle"/>
          </a:ln>
        </p:spPr>
      </p:cxnSp>
      <p:sp>
        <p:nvSpPr>
          <p:cNvPr id="556" name="Google Shape;556;p25"/>
          <p:cNvSpPr/>
          <p:nvPr/>
        </p:nvSpPr>
        <p:spPr>
          <a:xfrm>
            <a:off x="411480" y="3291840"/>
            <a:ext cx="4069080" cy="1417320"/>
          </a:xfrm>
          <a:prstGeom prst="roundRect">
            <a:avLst>
              <a:gd fmla="val 8000" name="adj"/>
            </a:avLst>
          </a:prstGeom>
          <a:solidFill>
            <a:srgbClr val="E3F4F1"/>
          </a:solidFill>
          <a:ln cap="flat" cmpd="sng" w="12700">
            <a:solidFill>
              <a:srgbClr val="0B7A6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57" name="Google Shape;557;p25"/>
          <p:cNvSpPr/>
          <p:nvPr/>
        </p:nvSpPr>
        <p:spPr>
          <a:xfrm>
            <a:off x="411480" y="3291840"/>
            <a:ext cx="4069080" cy="310896"/>
          </a:xfrm>
          <a:prstGeom prst="roundRect">
            <a:avLst>
              <a:gd fmla="val 15000" name="adj"/>
            </a:avLst>
          </a:prstGeom>
          <a:solidFill>
            <a:srgbClr val="0B7A6F"/>
          </a:solidFill>
          <a:ln>
            <a:noFill/>
          </a:ln>
        </p:spPr>
        <p:txBody>
          <a:bodyPr anchorCtr="0" anchor="ctr" bIns="0" lIns="73150" spcFirstLastPara="1" rIns="73150" wrap="square" tIns="0">
            <a:noAutofit/>
          </a:bodyPr>
          <a:lstStyle/>
          <a:p>
            <a:pPr indent="0" lvl="0" marL="0" marR="0" rtl="0" algn="ctr">
              <a:lnSpc>
                <a:spcPct val="100000"/>
              </a:lnSpc>
              <a:spcBef>
                <a:spcPts val="0"/>
              </a:spcBef>
              <a:spcAft>
                <a:spcPts val="0"/>
              </a:spcAft>
              <a:buClr>
                <a:srgbClr val="000000"/>
              </a:buClr>
              <a:buSzPts val="1050"/>
              <a:buFont typeface="Arial"/>
              <a:buNone/>
            </a:pPr>
            <a:r>
              <a:rPr b="1" i="0" lang="en-US" spc="0" sz="1050" u="none" cap="none" strike="noStrike">
                <a:solidFill>
                  <a:srgbClr val="FFFFFF"/>
                </a:solidFill>
                <a:latin typeface="Play"/>
                <a:ea typeface="Play"/>
                <a:cs typeface="Play"/>
                <a:sym typeface="Play"/>
              </a:rPr>
              <a:t>Offer duplicates MF as Free months</a:t>
            </a:r>
            <a:endParaRPr b="0" i="0" spc="0" sz="1400" u="none" cap="none" strike="noStrike">
              <a:solidFill>
                <a:srgbClr val="000000"/>
              </a:solidFill>
              <a:latin typeface="Arial"/>
              <a:ea typeface="Arial"/>
              <a:cs typeface="Arial"/>
              <a:sym typeface="Arial"/>
            </a:endParaRPr>
          </a:p>
        </p:txBody>
      </p:sp>
      <p:sp>
        <p:nvSpPr>
          <p:cNvPr id="558" name="Google Shape;558;p25"/>
          <p:cNvSpPr txBox="1"/>
          <p:nvPr/>
        </p:nvSpPr>
        <p:spPr>
          <a:xfrm>
            <a:off x="548640" y="3675888"/>
            <a:ext cx="3794700" cy="515700"/>
          </a:xfrm>
          <a:prstGeom prst="rect">
            <a:avLst/>
          </a:prstGeom>
          <a:noFill/>
          <a:ln>
            <a:noFill/>
          </a:ln>
        </p:spPr>
        <p:txBody>
          <a:bodyPr anchorCtr="0" anchor="t" bIns="0" lIns="73150" spcFirstLastPara="1" rIns="73150" wrap="square" tIns="0">
            <a:spAutoFit/>
          </a:bodyPr>
          <a:lstStyle/>
          <a:p>
            <a:pPr indent="0" lvl="0" marL="0" marR="0" rtl="0" algn="l">
              <a:lnSpc>
                <a:spcPct val="100000"/>
              </a:lnSpc>
              <a:spcBef>
                <a:spcPts val="0"/>
              </a:spcBef>
              <a:spcAft>
                <a:spcPts val="0"/>
              </a:spcAft>
              <a:buClr>
                <a:srgbClr val="000000"/>
              </a:buClr>
              <a:buSzPts val="950"/>
              <a:buFont typeface="Arial"/>
              <a:buNone/>
            </a:pPr>
            <a:r>
              <a:rPr b="0" i="0" lang="en-US" spc="0" sz="950" u="none" cap="none" strike="noStrike">
                <a:solidFill>
                  <a:srgbClr val="1D1D1F"/>
                </a:solidFill>
                <a:latin typeface="Arial"/>
                <a:ea typeface="Arial"/>
                <a:cs typeface="Arial"/>
                <a:sym typeface="Arial"/>
              </a:rPr>
              <a:t>•  Up to 3 free months on the main account; adjust the MCT</a:t>
            </a:r>
            <a:endParaRPr b="0" i="0" spc="0" sz="950" u="none" cap="none" strike="noStrike">
              <a:solidFill>
                <a:srgbClr val="1D1D1F"/>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50"/>
              <a:buFont typeface="Arial"/>
              <a:buNone/>
            </a:pPr>
            <a:r>
              <a:rPr b="0" i="0" lang="en-US" spc="0" sz="950" u="none" cap="none" strike="noStrike">
                <a:solidFill>
                  <a:srgbClr val="1D1D1F"/>
                </a:solidFill>
                <a:latin typeface="Arial"/>
                <a:ea typeface="Arial"/>
                <a:cs typeface="Arial"/>
                <a:sym typeface="Arial"/>
              </a:rPr>
              <a:t>•  Contests the charge and chooses free months? +1 bonus month. </a:t>
            </a:r>
            <a:endParaRPr b="0" i="0" spc="0" sz="950" u="none" cap="none" strike="noStrike">
              <a:solidFill>
                <a:srgbClr val="1D1D1F"/>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50"/>
              <a:buFont typeface="Arial"/>
              <a:buNone/>
            </a:pPr>
            <a:r>
              <a:rPr b="0" i="0" lang="en-US" spc="0" sz="950" u="none" cap="none" strike="noStrike">
                <a:solidFill>
                  <a:srgbClr val="1D1D1F"/>
                </a:solidFill>
                <a:latin typeface="Arial"/>
                <a:ea typeface="Arial"/>
                <a:cs typeface="Arial"/>
                <a:sym typeface="Arial"/>
              </a:rPr>
              <a:t>•  Paid months reach 6? MCT effectively fulfilled</a:t>
            </a:r>
            <a:endParaRPr b="0" i="0" spc="0" sz="1400" u="none" cap="none" strike="noStrike">
              <a:solidFill>
                <a:srgbClr val="000000"/>
              </a:solidFill>
              <a:latin typeface="Arial"/>
              <a:ea typeface="Arial"/>
              <a:cs typeface="Arial"/>
              <a:sym typeface="Arial"/>
            </a:endParaRPr>
          </a:p>
        </p:txBody>
      </p:sp>
      <p:sp>
        <p:nvSpPr>
          <p:cNvPr id="559" name="Google Shape;559;p25"/>
          <p:cNvSpPr/>
          <p:nvPr/>
        </p:nvSpPr>
        <p:spPr>
          <a:xfrm>
            <a:off x="4663440" y="3291840"/>
            <a:ext cx="4069080" cy="1417320"/>
          </a:xfrm>
          <a:prstGeom prst="roundRect">
            <a:avLst>
              <a:gd fmla="val 8000" name="adj"/>
            </a:avLst>
          </a:prstGeom>
          <a:solidFill>
            <a:srgbClr val="FFF3D6"/>
          </a:solidFill>
          <a:ln cap="flat" cmpd="sng" w="12700">
            <a:solidFill>
              <a:srgbClr val="9A6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60" name="Google Shape;560;p25"/>
          <p:cNvSpPr/>
          <p:nvPr/>
        </p:nvSpPr>
        <p:spPr>
          <a:xfrm>
            <a:off x="4663440" y="3291840"/>
            <a:ext cx="4069080" cy="310896"/>
          </a:xfrm>
          <a:prstGeom prst="roundRect">
            <a:avLst>
              <a:gd fmla="val 15000" name="adj"/>
            </a:avLst>
          </a:prstGeom>
          <a:solidFill>
            <a:srgbClr val="9A6410"/>
          </a:solidFill>
          <a:ln>
            <a:noFill/>
          </a:ln>
        </p:spPr>
        <p:txBody>
          <a:bodyPr anchorCtr="0" anchor="ctr" bIns="0" lIns="73150" spcFirstLastPara="1" rIns="73150" wrap="square" tIns="0">
            <a:noAutofit/>
          </a:bodyPr>
          <a:lstStyle/>
          <a:p>
            <a:pPr indent="0" lvl="0" marL="0" marR="0" rtl="0" algn="ctr">
              <a:lnSpc>
                <a:spcPct val="100000"/>
              </a:lnSpc>
              <a:spcBef>
                <a:spcPts val="0"/>
              </a:spcBef>
              <a:spcAft>
                <a:spcPts val="0"/>
              </a:spcAft>
              <a:buClr>
                <a:srgbClr val="000000"/>
              </a:buClr>
              <a:buSzPts val="1050"/>
              <a:buFont typeface="Arial"/>
              <a:buNone/>
            </a:pPr>
            <a:r>
              <a:rPr b="1" i="0" lang="en-US" spc="0" sz="1050" u="none" cap="none" strike="noStrike">
                <a:solidFill>
                  <a:srgbClr val="FFFFFF"/>
                </a:solidFill>
                <a:latin typeface="Play"/>
                <a:ea typeface="Play"/>
                <a:cs typeface="Play"/>
                <a:sym typeface="Play"/>
              </a:rPr>
              <a:t>Refund</a:t>
            </a:r>
            <a:endParaRPr b="0" i="0" spc="0" sz="1400" u="none" cap="none" strike="noStrike">
              <a:solidFill>
                <a:srgbClr val="000000"/>
              </a:solidFill>
              <a:latin typeface="Arial"/>
              <a:ea typeface="Arial"/>
              <a:cs typeface="Arial"/>
              <a:sym typeface="Arial"/>
            </a:endParaRPr>
          </a:p>
        </p:txBody>
      </p:sp>
      <p:sp>
        <p:nvSpPr>
          <p:cNvPr id="561" name="Google Shape;561;p25"/>
          <p:cNvSpPr txBox="1"/>
          <p:nvPr/>
        </p:nvSpPr>
        <p:spPr>
          <a:xfrm>
            <a:off x="4800600" y="3675888"/>
            <a:ext cx="3794760" cy="960120"/>
          </a:xfrm>
          <a:prstGeom prst="rect">
            <a:avLst/>
          </a:prstGeom>
          <a:noFill/>
          <a:ln>
            <a:noFill/>
          </a:ln>
        </p:spPr>
        <p:txBody>
          <a:bodyPr anchorCtr="0" anchor="t" bIns="0" lIns="73150" spcFirstLastPara="1" rIns="73150" wrap="square" tIns="0">
            <a:spAutoFit/>
          </a:bodyPr>
          <a:lstStyle/>
          <a:p>
            <a:pPr indent="0" lvl="0" marL="0" marR="0" rtl="0" algn="l">
              <a:lnSpc>
                <a:spcPct val="100000"/>
              </a:lnSpc>
              <a:spcBef>
                <a:spcPts val="0"/>
              </a:spcBef>
              <a:spcAft>
                <a:spcPts val="0"/>
              </a:spcAft>
              <a:buClr>
                <a:srgbClr val="000000"/>
              </a:buClr>
              <a:buSzPts val="950"/>
              <a:buFont typeface="Arial"/>
              <a:buNone/>
            </a:pPr>
            <a:r>
              <a:rPr b="0" i="0" lang="en-US" spc="0" sz="950" u="none" cap="none" strike="noStrike">
                <a:solidFill>
                  <a:srgbClr val="1D1D1F"/>
                </a:solidFill>
                <a:latin typeface="Arial"/>
                <a:ea typeface="Arial"/>
                <a:cs typeface="Arial"/>
                <a:sym typeface="Arial"/>
              </a:rPr>
              <a:t>•  Duplicate charges within 120 days</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50"/>
              <a:buFont typeface="Arial"/>
              <a:buNone/>
            </a:pPr>
            <a:r>
              <a:rPr b="0" i="0" lang="en-US" spc="0" sz="950" u="none" cap="none" strike="noStrike">
                <a:solidFill>
                  <a:srgbClr val="1D1D1F"/>
                </a:solidFill>
                <a:latin typeface="Arial"/>
                <a:ea typeface="Arial"/>
                <a:cs typeface="Arial"/>
                <a:sym typeface="Arial"/>
              </a:rPr>
              <a:t>•  Beyond 120 days: only for a system or agent error</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50"/>
              <a:buFont typeface="Arial"/>
              <a:buNone/>
            </a:pPr>
            <a:r>
              <a:rPr b="0" i="0" lang="en-US" spc="0" sz="950" u="none" cap="none" strike="noStrike">
                <a:solidFill>
                  <a:srgbClr val="1D1D1F"/>
                </a:solidFill>
                <a:latin typeface="Arial"/>
                <a:ea typeface="Arial"/>
                <a:cs typeface="Arial"/>
                <a:sym typeface="Arial"/>
              </a:rPr>
              <a:t>•  No bonus month</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2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DUPLICATE ACCOUNTS  ·  KNOWLEDGE CHECK</a:t>
            </a:r>
            <a:endParaRPr b="0" i="0" spc="0" sz="800" u="none" cap="none" strike="noStrike">
              <a:solidFill>
                <a:schemeClr val="dk1"/>
              </a:solidFill>
              <a:latin typeface="Calibri"/>
              <a:ea typeface="Calibri"/>
              <a:cs typeface="Calibri"/>
              <a:sym typeface="Calibri"/>
            </a:endParaRPr>
          </a:p>
        </p:txBody>
      </p:sp>
      <p:sp>
        <p:nvSpPr>
          <p:cNvPr id="568" name="Google Shape;568;p2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Let’s See What You’ve Got!</a:t>
            </a:r>
            <a:endParaRPr b="0" i="0" spc="0" sz="2400" u="none" cap="none" strike="noStrike">
              <a:solidFill>
                <a:schemeClr val="dk1"/>
              </a:solidFill>
              <a:latin typeface="Calibri"/>
              <a:ea typeface="Calibri"/>
              <a:cs typeface="Calibri"/>
              <a:sym typeface="Calibri"/>
            </a:endParaRPr>
          </a:p>
        </p:txBody>
      </p:sp>
      <p:sp>
        <p:nvSpPr>
          <p:cNvPr id="569" name="Google Shape;569;p26"/>
          <p:cNvSpPr/>
          <p:nvPr/>
        </p:nvSpPr>
        <p:spPr>
          <a:xfrm>
            <a:off x="411480" y="1280160"/>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0" name="Google Shape;570;p26"/>
          <p:cNvSpPr/>
          <p:nvPr/>
        </p:nvSpPr>
        <p:spPr>
          <a:xfrm>
            <a:off x="548640" y="153619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1" name="Google Shape;571;p26"/>
          <p:cNvSpPr txBox="1"/>
          <p:nvPr/>
        </p:nvSpPr>
        <p:spPr>
          <a:xfrm>
            <a:off x="548640" y="153619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572" name="Google Shape;572;p26"/>
          <p:cNvSpPr txBox="1"/>
          <p:nvPr/>
        </p:nvSpPr>
        <p:spPr>
          <a:xfrm>
            <a:off x="960120" y="1280160"/>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C has two accounts: one older, one they actually use. Which is the duplicate?</a:t>
            </a:r>
            <a:endParaRPr b="0" i="0" spc="0" sz="1000" u="none" cap="none" strike="noStrike">
              <a:solidFill>
                <a:schemeClr val="dk1"/>
              </a:solidFill>
              <a:latin typeface="Calibri"/>
              <a:ea typeface="Calibri"/>
              <a:cs typeface="Calibri"/>
              <a:sym typeface="Calibri"/>
            </a:endParaRPr>
          </a:p>
        </p:txBody>
      </p:sp>
      <p:sp>
        <p:nvSpPr>
          <p:cNvPr id="573" name="Google Shape;573;p26"/>
          <p:cNvSpPr/>
          <p:nvPr/>
        </p:nvSpPr>
        <p:spPr>
          <a:xfrm>
            <a:off x="5120640" y="1280160"/>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4" name="Google Shape;574;p26"/>
          <p:cNvSpPr txBox="1"/>
          <p:nvPr/>
        </p:nvSpPr>
        <p:spPr>
          <a:xfrm>
            <a:off x="5257800" y="1280160"/>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The one they aren't using, not the older one.</a:t>
            </a:r>
            <a:endParaRPr b="0" i="0" spc="0" sz="900" u="none" cap="none" strike="noStrike">
              <a:solidFill>
                <a:schemeClr val="dk1"/>
              </a:solidFill>
              <a:latin typeface="Calibri"/>
              <a:ea typeface="Calibri"/>
              <a:cs typeface="Calibri"/>
              <a:sym typeface="Calibri"/>
            </a:endParaRPr>
          </a:p>
        </p:txBody>
      </p:sp>
      <p:sp>
        <p:nvSpPr>
          <p:cNvPr id="575" name="Google Shape;575;p26"/>
          <p:cNvSpPr/>
          <p:nvPr/>
        </p:nvSpPr>
        <p:spPr>
          <a:xfrm>
            <a:off x="411480" y="2139696"/>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6" name="Google Shape;576;p26"/>
          <p:cNvSpPr/>
          <p:nvPr/>
        </p:nvSpPr>
        <p:spPr>
          <a:xfrm>
            <a:off x="548640" y="23957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7" name="Google Shape;577;p26"/>
          <p:cNvSpPr txBox="1"/>
          <p:nvPr/>
        </p:nvSpPr>
        <p:spPr>
          <a:xfrm>
            <a:off x="548640" y="23957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578" name="Google Shape;578;p26"/>
          <p:cNvSpPr txBox="1"/>
          <p:nvPr/>
        </p:nvSpPr>
        <p:spPr>
          <a:xfrm>
            <a:off x="960120" y="2139696"/>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What do you check before anything else?</a:t>
            </a:r>
            <a:endParaRPr b="0" i="0" spc="0" sz="1000" u="none" cap="none" strike="noStrike">
              <a:solidFill>
                <a:schemeClr val="dk1"/>
              </a:solidFill>
              <a:latin typeface="Calibri"/>
              <a:ea typeface="Calibri"/>
              <a:cs typeface="Calibri"/>
              <a:sym typeface="Calibri"/>
            </a:endParaRPr>
          </a:p>
        </p:txBody>
      </p:sp>
      <p:sp>
        <p:nvSpPr>
          <p:cNvPr id="579" name="Google Shape;579;p26"/>
          <p:cNvSpPr/>
          <p:nvPr/>
        </p:nvSpPr>
        <p:spPr>
          <a:xfrm>
            <a:off x="5120640" y="2139696"/>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0" name="Google Shape;580;p26"/>
          <p:cNvSpPr txBox="1"/>
          <p:nvPr/>
        </p:nvSpPr>
        <p:spPr>
          <a:xfrm>
            <a:off x="5257800" y="2139696"/>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The project_thumbtack flag (Legacy CRM › View › Flag). Present? Reassign and stop.</a:t>
            </a:r>
            <a:endParaRPr b="0" i="0" spc="0" sz="900" u="none" cap="none" strike="noStrike">
              <a:solidFill>
                <a:schemeClr val="dk1"/>
              </a:solidFill>
              <a:latin typeface="Calibri"/>
              <a:ea typeface="Calibri"/>
              <a:cs typeface="Calibri"/>
              <a:sym typeface="Calibri"/>
            </a:endParaRPr>
          </a:p>
        </p:txBody>
      </p:sp>
      <p:sp>
        <p:nvSpPr>
          <p:cNvPr id="581" name="Google Shape;581;p26"/>
          <p:cNvSpPr/>
          <p:nvPr/>
        </p:nvSpPr>
        <p:spPr>
          <a:xfrm>
            <a:off x="411480" y="2999232"/>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2" name="Google Shape;582;p26"/>
          <p:cNvSpPr/>
          <p:nvPr/>
        </p:nvSpPr>
        <p:spPr>
          <a:xfrm>
            <a:off x="548640" y="325526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3" name="Google Shape;583;p26"/>
          <p:cNvSpPr txBox="1"/>
          <p:nvPr/>
        </p:nvSpPr>
        <p:spPr>
          <a:xfrm>
            <a:off x="548640" y="325526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584" name="Google Shape;584;p26"/>
          <p:cNvSpPr txBox="1"/>
          <p:nvPr/>
        </p:nvSpPr>
        <p:spPr>
          <a:xfrm>
            <a:off x="960120" y="2999232"/>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What's your first action on the duplicate account?</a:t>
            </a:r>
            <a:endParaRPr b="0" i="0" spc="0" sz="1000" u="none" cap="none" strike="noStrike">
              <a:solidFill>
                <a:schemeClr val="dk1"/>
              </a:solidFill>
              <a:latin typeface="Calibri"/>
              <a:ea typeface="Calibri"/>
              <a:cs typeface="Calibri"/>
              <a:sym typeface="Calibri"/>
            </a:endParaRPr>
          </a:p>
        </p:txBody>
      </p:sp>
      <p:sp>
        <p:nvSpPr>
          <p:cNvPr id="585" name="Google Shape;585;p26"/>
          <p:cNvSpPr/>
          <p:nvPr/>
        </p:nvSpPr>
        <p:spPr>
          <a:xfrm>
            <a:off x="5120640" y="2999232"/>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6" name="Google Shape;586;p26"/>
          <p:cNvSpPr txBox="1"/>
          <p:nvPr/>
        </p:nvSpPr>
        <p:spPr>
          <a:xfrm>
            <a:off x="5257800" y="2999232"/>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Cancel its FC (plus upcoming jobs and RC), and note both accounts.</a:t>
            </a:r>
            <a:endParaRPr b="0" i="0" spc="0" sz="900" u="none" cap="none" strike="noStrike">
              <a:solidFill>
                <a:schemeClr val="dk1"/>
              </a:solidFill>
              <a:latin typeface="Calibri"/>
              <a:ea typeface="Calibri"/>
              <a:cs typeface="Calibri"/>
              <a:sym typeface="Calibri"/>
            </a:endParaRPr>
          </a:p>
        </p:txBody>
      </p:sp>
      <p:sp>
        <p:nvSpPr>
          <p:cNvPr id="587" name="Google Shape;587;p26"/>
          <p:cNvSpPr/>
          <p:nvPr/>
        </p:nvSpPr>
        <p:spPr>
          <a:xfrm>
            <a:off x="411480" y="3858768"/>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8" name="Google Shape;588;p26"/>
          <p:cNvSpPr/>
          <p:nvPr/>
        </p:nvSpPr>
        <p:spPr>
          <a:xfrm>
            <a:off x="548640" y="41148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9" name="Google Shape;589;p26"/>
          <p:cNvSpPr txBox="1"/>
          <p:nvPr/>
        </p:nvSpPr>
        <p:spPr>
          <a:xfrm>
            <a:off x="548640" y="41148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4</a:t>
            </a:r>
            <a:endParaRPr b="0" i="0" spc="0" sz="900" u="none" cap="none" strike="noStrike">
              <a:solidFill>
                <a:schemeClr val="dk1"/>
              </a:solidFill>
              <a:latin typeface="Calibri"/>
              <a:ea typeface="Calibri"/>
              <a:cs typeface="Calibri"/>
              <a:sym typeface="Calibri"/>
            </a:endParaRPr>
          </a:p>
        </p:txBody>
      </p:sp>
      <p:sp>
        <p:nvSpPr>
          <p:cNvPr id="590" name="Google Shape;590;p26"/>
          <p:cNvSpPr txBox="1"/>
          <p:nvPr/>
        </p:nvSpPr>
        <p:spPr>
          <a:xfrm>
            <a:off x="960120" y="3858768"/>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C is contesting the charges and picks free months. Anything extra?</a:t>
            </a:r>
            <a:endParaRPr b="0" i="0" spc="0" sz="1000" u="none" cap="none" strike="noStrike">
              <a:solidFill>
                <a:schemeClr val="dk1"/>
              </a:solidFill>
              <a:latin typeface="Calibri"/>
              <a:ea typeface="Calibri"/>
              <a:cs typeface="Calibri"/>
              <a:sym typeface="Calibri"/>
            </a:endParaRPr>
          </a:p>
        </p:txBody>
      </p:sp>
      <p:sp>
        <p:nvSpPr>
          <p:cNvPr id="591" name="Google Shape;591;p26"/>
          <p:cNvSpPr/>
          <p:nvPr/>
        </p:nvSpPr>
        <p:spPr>
          <a:xfrm>
            <a:off x="5120640" y="3858768"/>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2" name="Google Shape;592;p26"/>
          <p:cNvSpPr txBox="1"/>
          <p:nvPr/>
        </p:nvSpPr>
        <p:spPr>
          <a:xfrm>
            <a:off x="5257800" y="3858768"/>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Yes, 1 bonus month on top. No bonus with a refund.</a:t>
            </a:r>
            <a:endParaRPr b="0" i="0" spc="0" sz="900" u="none" cap="none" strike="noStrike">
              <a:solidFill>
                <a:schemeClr val="dk1"/>
              </a:solidFill>
              <a:latin typeface="Calibri"/>
              <a:ea typeface="Calibri"/>
              <a:cs typeface="Calibri"/>
              <a:sym typeface="Calibri"/>
            </a:endParaRPr>
          </a:p>
        </p:txBody>
      </p:sp>
      <p:sp>
        <p:nvSpPr>
          <p:cNvPr id="593" name="Google Shape;593;p2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600"/>
                                        <p:tgtEl>
                                          <p:spTgt spid="5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600"/>
                                        <p:tgtEl>
                                          <p:spTgt spid="5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
                                        </p:tgtEl>
                                        <p:attrNameLst>
                                          <p:attrName>style.visibility</p:attrName>
                                        </p:attrNameLst>
                                      </p:cBhvr>
                                      <p:to>
                                        <p:strVal val="visible"/>
                                      </p:to>
                                    </p:set>
                                    <p:animEffect filter="fade" transition="in">
                                      <p:cBhvr>
                                        <p:cTn dur="600"/>
                                        <p:tgtEl>
                                          <p:spTgt spid="5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
                                        </p:tgtEl>
                                        <p:attrNameLst>
                                          <p:attrName>style.visibility</p:attrName>
                                        </p:attrNameLst>
                                      </p:cBhvr>
                                      <p:to>
                                        <p:strVal val="visible"/>
                                      </p:to>
                                    </p:set>
                                    <p:animEffect filter="fade" transition="in">
                                      <p:cBhvr>
                                        <p:cTn dur="600"/>
                                        <p:tgtEl>
                                          <p:spTgt spid="5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2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DUPLICATE ACCOUNTS  ·  PRACTICE</a:t>
            </a:r>
            <a:endParaRPr b="0" i="0" spc="0" sz="800" u="none" cap="none" strike="noStrike">
              <a:solidFill>
                <a:schemeClr val="dk1"/>
              </a:solidFill>
              <a:latin typeface="Calibri"/>
              <a:ea typeface="Calibri"/>
              <a:cs typeface="Calibri"/>
              <a:sym typeface="Calibri"/>
            </a:endParaRPr>
          </a:p>
        </p:txBody>
      </p:sp>
      <p:sp>
        <p:nvSpPr>
          <p:cNvPr id="600" name="Google Shape;600;p2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Let's investigate together!</a:t>
            </a:r>
            <a:endParaRPr b="0" i="0" spc="0" sz="2400" u="none" cap="none" strike="noStrike">
              <a:solidFill>
                <a:schemeClr val="dk1"/>
              </a:solidFill>
              <a:latin typeface="Calibri"/>
              <a:ea typeface="Calibri"/>
              <a:cs typeface="Calibri"/>
              <a:sym typeface="Calibri"/>
            </a:endParaRPr>
          </a:p>
        </p:txBody>
      </p:sp>
      <p:sp>
        <p:nvSpPr>
          <p:cNvPr id="601" name="Google Shape;601;p27"/>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Review the live ticket and investigate.</a:t>
            </a:r>
            <a:endParaRPr b="0" i="0" spc="0" sz="1200" u="none" cap="none" strike="noStrike">
              <a:solidFill>
                <a:schemeClr val="dk1"/>
              </a:solidFill>
              <a:latin typeface="Calibri"/>
              <a:ea typeface="Calibri"/>
              <a:cs typeface="Calibri"/>
              <a:sym typeface="Calibri"/>
            </a:endParaRPr>
          </a:p>
        </p:txBody>
      </p:sp>
      <p:sp>
        <p:nvSpPr>
          <p:cNvPr id="602" name="Google Shape;602;p27"/>
          <p:cNvSpPr/>
          <p:nvPr/>
        </p:nvSpPr>
        <p:spPr>
          <a:xfrm>
            <a:off x="411480" y="1298448"/>
            <a:ext cx="3383280" cy="2633472"/>
          </a:xfrm>
          <a:prstGeom prst="roundRect">
            <a:avLst>
              <a:gd fmla="val 27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03" name="Google Shape;603;p27"/>
          <p:cNvSpPr/>
          <p:nvPr/>
        </p:nvSpPr>
        <p:spPr>
          <a:xfrm>
            <a:off x="594360" y="1481328"/>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604" name="Google Shape;604;p27"/>
          <p:cNvPicPr preferRelativeResize="0"/>
          <p:nvPr/>
        </p:nvPicPr>
        <p:blipFill rotWithShape="1">
          <a:blip r:embed="rId3">
            <a:alphaModFix/>
          </a:blip>
          <a:srcRect b="0" l="0" r="0" t="0"/>
          <a:stretch/>
        </p:blipFill>
        <p:spPr>
          <a:xfrm>
            <a:off x="686532" y="1573500"/>
            <a:ext cx="199705" cy="199705"/>
          </a:xfrm>
          <a:prstGeom prst="rect">
            <a:avLst/>
          </a:prstGeom>
          <a:noFill/>
          <a:ln>
            <a:noFill/>
          </a:ln>
        </p:spPr>
      </p:pic>
      <p:sp>
        <p:nvSpPr>
          <p:cNvPr id="605" name="Google Shape;605;p27"/>
          <p:cNvSpPr txBox="1"/>
          <p:nvPr/>
        </p:nvSpPr>
        <p:spPr>
          <a:xfrm>
            <a:off x="594360" y="2011680"/>
            <a:ext cx="301752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US" spc="0" sz="1300" u="none" cap="none" strike="noStrike">
                <a:solidFill>
                  <a:srgbClr val="1D1D1F"/>
                </a:solidFill>
                <a:latin typeface="Play"/>
                <a:ea typeface="Play"/>
                <a:cs typeface="Play"/>
                <a:sym typeface="Play"/>
              </a:rPr>
              <a:t>Live ticket</a:t>
            </a:r>
            <a:endParaRPr b="0" i="0" spc="0" sz="1300" u="none" cap="none" strike="noStrike">
              <a:solidFill>
                <a:schemeClr val="dk1"/>
              </a:solidFill>
              <a:latin typeface="Calibri"/>
              <a:ea typeface="Calibri"/>
              <a:cs typeface="Calibri"/>
              <a:sym typeface="Calibri"/>
            </a:endParaRPr>
          </a:p>
        </p:txBody>
      </p:sp>
      <p:sp>
        <p:nvSpPr>
          <p:cNvPr id="606" name="Google Shape;606;p27"/>
          <p:cNvSpPr txBox="1"/>
          <p:nvPr/>
        </p:nvSpPr>
        <p:spPr>
          <a:xfrm>
            <a:off x="594360" y="2350008"/>
            <a:ext cx="301752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050"/>
              <a:buFont typeface="Arial"/>
              <a:buNone/>
            </a:pPr>
            <a:r>
              <a:rPr b="0" i="0" lang="en-US" spc="0" sz="1050" u="none" cap="none" strike="noStrike">
                <a:solidFill>
                  <a:srgbClr val="6E6E73"/>
                </a:solidFill>
                <a:latin typeface="Arial"/>
                <a:ea typeface="Arial"/>
                <a:cs typeface="Arial"/>
                <a:sym typeface="Arial"/>
              </a:rPr>
              <a:t>Your trainer will provide a live ticket. Review it and investigate before you decide anything.</a:t>
            </a:r>
            <a:endParaRPr b="0" i="0" spc="0" sz="1050" u="none" cap="none" strike="noStrike">
              <a:solidFill>
                <a:schemeClr val="dk1"/>
              </a:solidFill>
              <a:latin typeface="Calibri"/>
              <a:ea typeface="Calibri"/>
              <a:cs typeface="Calibri"/>
              <a:sym typeface="Calibri"/>
            </a:endParaRPr>
          </a:p>
        </p:txBody>
      </p:sp>
      <p:sp>
        <p:nvSpPr>
          <p:cNvPr id="607" name="Google Shape;607;p27"/>
          <p:cNvSpPr/>
          <p:nvPr/>
        </p:nvSpPr>
        <p:spPr>
          <a:xfrm>
            <a:off x="594360" y="3401568"/>
            <a:ext cx="1371600" cy="329184"/>
          </a:xfrm>
          <a:prstGeom prst="roundRect">
            <a:avLst>
              <a:gd fmla="val 22222" name="adj"/>
            </a:avLst>
          </a:prstGeom>
          <a:solidFill>
            <a:srgbClr val="FFF3D6"/>
          </a:solidFill>
          <a:ln cap="flat" cmpd="sng" w="9525">
            <a:solidFill>
              <a:srgbClr val="FFF3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950"/>
              <a:buFont typeface="Arial"/>
              <a:buNone/>
            </a:pPr>
            <a:r>
              <a:rPr b="1" i="0" lang="en-US" spc="0" sz="950" u="none" cap="none" strike="noStrike">
                <a:solidFill>
                  <a:srgbClr val="9A6410"/>
                </a:solidFill>
                <a:latin typeface="Arial"/>
                <a:ea typeface="Arial"/>
                <a:cs typeface="Arial"/>
                <a:sym typeface="Arial"/>
              </a:rPr>
              <a:t>Trainer provides</a:t>
            </a:r>
            <a:endParaRPr b="0" i="0" spc="0" sz="950" u="none" cap="none" strike="noStrike">
              <a:solidFill>
                <a:schemeClr val="dk1"/>
              </a:solidFill>
              <a:latin typeface="Calibri"/>
              <a:ea typeface="Calibri"/>
              <a:cs typeface="Calibri"/>
              <a:sym typeface="Calibri"/>
            </a:endParaRPr>
          </a:p>
        </p:txBody>
      </p:sp>
      <p:sp>
        <p:nvSpPr>
          <p:cNvPr id="608" name="Google Shape;608;p27"/>
          <p:cNvSpPr/>
          <p:nvPr/>
        </p:nvSpPr>
        <p:spPr>
          <a:xfrm>
            <a:off x="3931920" y="1298448"/>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09" name="Google Shape;609;p27"/>
          <p:cNvSpPr/>
          <p:nvPr/>
        </p:nvSpPr>
        <p:spPr>
          <a:xfrm>
            <a:off x="4114800"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0" name="Google Shape;610;p27"/>
          <p:cNvSpPr txBox="1"/>
          <p:nvPr/>
        </p:nvSpPr>
        <p:spPr>
          <a:xfrm>
            <a:off x="4114800" y="15544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611" name="Google Shape;611;p27"/>
          <p:cNvSpPr txBox="1"/>
          <p:nvPr/>
        </p:nvSpPr>
        <p:spPr>
          <a:xfrm>
            <a:off x="4572000" y="1426464"/>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Which account is the duplicate?</a:t>
            </a:r>
            <a:endParaRPr b="0" i="0" spc="0" sz="1250" u="none" cap="none" strike="noStrike">
              <a:solidFill>
                <a:schemeClr val="dk1"/>
              </a:solidFill>
              <a:latin typeface="Calibri"/>
              <a:ea typeface="Calibri"/>
              <a:cs typeface="Calibri"/>
              <a:sym typeface="Calibri"/>
            </a:endParaRPr>
          </a:p>
        </p:txBody>
      </p:sp>
      <p:sp>
        <p:nvSpPr>
          <p:cNvPr id="612" name="Google Shape;612;p27"/>
          <p:cNvSpPr txBox="1"/>
          <p:nvPr/>
        </p:nvSpPr>
        <p:spPr>
          <a:xfrm>
            <a:off x="4572000" y="1737360"/>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Thumbtack flag? Both triggered FCs?</a:t>
            </a:r>
            <a:endParaRPr b="0" i="0" spc="0" sz="1000" u="none" cap="none" strike="noStrike">
              <a:solidFill>
                <a:schemeClr val="dk1"/>
              </a:solidFill>
              <a:latin typeface="Calibri"/>
              <a:ea typeface="Calibri"/>
              <a:cs typeface="Calibri"/>
              <a:sym typeface="Calibri"/>
            </a:endParaRPr>
          </a:p>
        </p:txBody>
      </p:sp>
      <p:sp>
        <p:nvSpPr>
          <p:cNvPr id="613" name="Google Shape;613;p27"/>
          <p:cNvSpPr/>
          <p:nvPr/>
        </p:nvSpPr>
        <p:spPr>
          <a:xfrm>
            <a:off x="3931920" y="2221992"/>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4" name="Google Shape;614;p27"/>
          <p:cNvSpPr/>
          <p:nvPr/>
        </p:nvSpPr>
        <p:spPr>
          <a:xfrm>
            <a:off x="4114800" y="247802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5" name="Google Shape;615;p27"/>
          <p:cNvSpPr txBox="1"/>
          <p:nvPr/>
        </p:nvSpPr>
        <p:spPr>
          <a:xfrm>
            <a:off x="4114800" y="247802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616" name="Google Shape;616;p27"/>
          <p:cNvSpPr txBox="1"/>
          <p:nvPr/>
        </p:nvSpPr>
        <p:spPr>
          <a:xfrm>
            <a:off x="4572000" y="2350008"/>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What actions are you going to take?</a:t>
            </a:r>
            <a:endParaRPr b="0" i="0" spc="0" sz="1250" u="none" cap="none" strike="noStrike">
              <a:solidFill>
                <a:schemeClr val="dk1"/>
              </a:solidFill>
              <a:latin typeface="Calibri"/>
              <a:ea typeface="Calibri"/>
              <a:cs typeface="Calibri"/>
              <a:sym typeface="Calibri"/>
            </a:endParaRPr>
          </a:p>
        </p:txBody>
      </p:sp>
      <p:sp>
        <p:nvSpPr>
          <p:cNvPr id="617" name="Google Shape;617;p27"/>
          <p:cNvSpPr txBox="1"/>
          <p:nvPr/>
        </p:nvSpPr>
        <p:spPr>
          <a:xfrm>
            <a:off x="4572000" y="2660904"/>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Cancel FC, notes, refund or free months.</a:t>
            </a:r>
            <a:endParaRPr b="0" i="0" spc="0" sz="1000" u="none" cap="none" strike="noStrike">
              <a:solidFill>
                <a:schemeClr val="dk1"/>
              </a:solidFill>
              <a:latin typeface="Calibri"/>
              <a:ea typeface="Calibri"/>
              <a:cs typeface="Calibri"/>
              <a:sym typeface="Calibri"/>
            </a:endParaRPr>
          </a:p>
        </p:txBody>
      </p:sp>
      <p:sp>
        <p:nvSpPr>
          <p:cNvPr id="618" name="Google Shape;618;p27"/>
          <p:cNvSpPr/>
          <p:nvPr/>
        </p:nvSpPr>
        <p:spPr>
          <a:xfrm>
            <a:off x="3931920" y="3145536"/>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9" name="Google Shape;619;p27"/>
          <p:cNvSpPr/>
          <p:nvPr/>
        </p:nvSpPr>
        <p:spPr>
          <a:xfrm>
            <a:off x="4114800" y="340156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20" name="Google Shape;620;p27"/>
          <p:cNvSpPr txBox="1"/>
          <p:nvPr/>
        </p:nvSpPr>
        <p:spPr>
          <a:xfrm>
            <a:off x="4114800" y="340156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621" name="Google Shape;621;p27"/>
          <p:cNvSpPr txBox="1"/>
          <p:nvPr/>
        </p:nvSpPr>
        <p:spPr>
          <a:xfrm>
            <a:off x="4572000" y="3273552"/>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5-min writing challenge</a:t>
            </a:r>
            <a:endParaRPr b="0" i="0" spc="0" sz="1250" u="none" cap="none" strike="noStrike">
              <a:solidFill>
                <a:schemeClr val="dk1"/>
              </a:solidFill>
              <a:latin typeface="Calibri"/>
              <a:ea typeface="Calibri"/>
              <a:cs typeface="Calibri"/>
              <a:sym typeface="Calibri"/>
            </a:endParaRPr>
          </a:p>
        </p:txBody>
      </p:sp>
      <p:sp>
        <p:nvSpPr>
          <p:cNvPr id="622" name="Google Shape;622;p27"/>
          <p:cNvSpPr txBox="1"/>
          <p:nvPr/>
        </p:nvSpPr>
        <p:spPr>
          <a:xfrm>
            <a:off x="4572000" y="3584448"/>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Write your reply offering the choice.</a:t>
            </a:r>
            <a:endParaRPr b="0" i="0" spc="0" sz="1000" u="none" cap="none" strike="noStrike">
              <a:solidFill>
                <a:schemeClr val="dk1"/>
              </a:solidFill>
              <a:latin typeface="Calibri"/>
              <a:ea typeface="Calibri"/>
              <a:cs typeface="Calibri"/>
              <a:sym typeface="Calibri"/>
            </a:endParaRPr>
          </a:p>
        </p:txBody>
      </p:sp>
      <p:sp>
        <p:nvSpPr>
          <p:cNvPr id="623" name="Google Shape;623;p27"/>
          <p:cNvSpPr/>
          <p:nvPr/>
        </p:nvSpPr>
        <p:spPr>
          <a:xfrm>
            <a:off x="411480" y="4069080"/>
            <a:ext cx="8321040" cy="502920"/>
          </a:xfrm>
          <a:prstGeom prst="roundRect">
            <a:avLst>
              <a:gd fmla="val 14545"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624" name="Google Shape;624;p27"/>
          <p:cNvPicPr preferRelativeResize="0"/>
          <p:nvPr/>
        </p:nvPicPr>
        <p:blipFill rotWithShape="1">
          <a:blip r:embed="rId4">
            <a:alphaModFix/>
          </a:blip>
          <a:srcRect b="0" l="0" r="0" t="0"/>
          <a:stretch/>
        </p:blipFill>
        <p:spPr>
          <a:xfrm>
            <a:off x="640080" y="4192524"/>
            <a:ext cx="256032" cy="256032"/>
          </a:xfrm>
          <a:prstGeom prst="rect">
            <a:avLst/>
          </a:prstGeom>
          <a:noFill/>
          <a:ln>
            <a:noFill/>
          </a:ln>
        </p:spPr>
      </p:pic>
      <p:sp>
        <p:nvSpPr>
          <p:cNvPr id="625" name="Google Shape;625;p27"/>
          <p:cNvSpPr txBox="1"/>
          <p:nvPr/>
        </p:nvSpPr>
        <p:spPr>
          <a:xfrm>
            <a:off x="1051560" y="4069080"/>
            <a:ext cx="74980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Play"/>
              <a:buNone/>
            </a:pPr>
            <a:r>
              <a:rPr b="1" i="0" lang="en-US" spc="0" sz="1400" u="none" cap="none" strike="noStrike">
                <a:solidFill>
                  <a:srgbClr val="FFFFFF"/>
                </a:solidFill>
                <a:latin typeface="Play"/>
                <a:ea typeface="Play"/>
                <a:cs typeface="Play"/>
                <a:sym typeface="Play"/>
              </a:rPr>
              <a:t>Questions?  </a:t>
            </a:r>
            <a:r>
              <a:rPr b="0" i="0" lang="en-US" spc="0" sz="1100" u="none" cap="none" strike="noStrike">
                <a:solidFill>
                  <a:srgbClr val="FFFFFF"/>
                </a:solidFill>
                <a:latin typeface="Arial"/>
                <a:ea typeface="Arial"/>
                <a:cs typeface="Arial"/>
                <a:sym typeface="Arial"/>
              </a:rPr>
              <a:t>Open the floor before we move to the next topic.</a:t>
            </a:r>
            <a:endParaRPr b="0" i="0" spc="0" sz="1400" u="none" cap="none" strike="noStrike">
              <a:solidFill>
                <a:schemeClr val="dk1"/>
              </a:solidFill>
              <a:latin typeface="Calibri"/>
              <a:ea typeface="Calibri"/>
              <a:cs typeface="Calibri"/>
              <a:sym typeface="Calibri"/>
            </a:endParaRPr>
          </a:p>
        </p:txBody>
      </p:sp>
      <p:sp>
        <p:nvSpPr>
          <p:cNvPr id="626" name="Google Shape;626;p2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28"/>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TOPIC 04 OF 04</a:t>
            </a:r>
            <a:endParaRPr b="0" i="0" spc="0" sz="800" u="none" cap="none" strike="noStrike">
              <a:solidFill>
                <a:schemeClr val="dk1"/>
              </a:solidFill>
              <a:latin typeface="Calibri"/>
              <a:ea typeface="Calibri"/>
              <a:cs typeface="Calibri"/>
              <a:sym typeface="Calibri"/>
            </a:endParaRPr>
          </a:p>
        </p:txBody>
      </p:sp>
      <p:sp>
        <p:nvSpPr>
          <p:cNvPr id="633" name="Google Shape;633;p28"/>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US" spc="0" sz="2800" u="none" cap="none" strike="noStrike">
                <a:solidFill>
                  <a:srgbClr val="1D1D1F"/>
                </a:solidFill>
                <a:latin typeface="Play"/>
                <a:ea typeface="Play"/>
                <a:cs typeface="Play"/>
                <a:sym typeface="Play"/>
              </a:rPr>
              <a:t>Bulk Charges</a:t>
            </a:r>
            <a:endParaRPr b="0" i="0" spc="0" sz="2800" u="none" cap="none" strike="noStrike">
              <a:solidFill>
                <a:schemeClr val="dk1"/>
              </a:solidFill>
              <a:latin typeface="Calibri"/>
              <a:ea typeface="Calibri"/>
              <a:cs typeface="Calibri"/>
              <a:sym typeface="Calibri"/>
            </a:endParaRPr>
          </a:p>
        </p:txBody>
      </p:sp>
      <p:sp>
        <p:nvSpPr>
          <p:cNvPr id="634" name="Google Shape;634;p28"/>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US" spc="0" sz="1150" u="none" cap="none" strike="noStrike">
                <a:solidFill>
                  <a:srgbClr val="6E6E73"/>
                </a:solidFill>
                <a:latin typeface="Arial"/>
                <a:ea typeface="Arial"/>
                <a:cs typeface="Arial"/>
                <a:sym typeface="Arial"/>
              </a:rPr>
              <a:t>Several overdue MFs charged in one go, on the same day.</a:t>
            </a:r>
            <a:endParaRPr b="0" i="0" spc="0" sz="1150" u="none" cap="none" strike="noStrike">
              <a:solidFill>
                <a:schemeClr val="dk1"/>
              </a:solidFill>
              <a:latin typeface="Calibri"/>
              <a:ea typeface="Calibri"/>
              <a:cs typeface="Calibri"/>
              <a:sym typeface="Calibri"/>
            </a:endParaRPr>
          </a:p>
        </p:txBody>
      </p:sp>
      <p:sp>
        <p:nvSpPr>
          <p:cNvPr id="635" name="Google Shape;635;p28"/>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YOU'LL LEARN</a:t>
            </a:r>
            <a:endParaRPr b="0" i="0" spc="0" sz="800" u="none" cap="none" strike="noStrike">
              <a:solidFill>
                <a:schemeClr val="dk1"/>
              </a:solidFill>
              <a:latin typeface="Calibri"/>
              <a:ea typeface="Calibri"/>
              <a:cs typeface="Calibri"/>
              <a:sym typeface="Calibri"/>
            </a:endParaRPr>
          </a:p>
        </p:txBody>
      </p:sp>
      <p:sp>
        <p:nvSpPr>
          <p:cNvPr id="636" name="Google Shape;636;p28"/>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637" name="Google Shape;637;p28"/>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638" name="Google Shape;638;p28"/>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What a bulk charge is (and isn't)</a:t>
            </a:r>
            <a:endParaRPr b="0" i="0" spc="0" sz="1050" u="none" cap="none" strike="noStrike">
              <a:solidFill>
                <a:schemeClr val="dk1"/>
              </a:solidFill>
              <a:latin typeface="Calibri"/>
              <a:ea typeface="Calibri"/>
              <a:cs typeface="Calibri"/>
              <a:sym typeface="Calibri"/>
            </a:endParaRPr>
          </a:p>
        </p:txBody>
      </p:sp>
      <p:sp>
        <p:nvSpPr>
          <p:cNvPr id="639" name="Google Shape;639;p28"/>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640" name="Google Shape;640;p28"/>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641" name="Google Shape;641;p28"/>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The three branches</a:t>
            </a:r>
            <a:endParaRPr b="0" i="0" spc="0" sz="1050" u="none" cap="none" strike="noStrike">
              <a:solidFill>
                <a:schemeClr val="dk1"/>
              </a:solidFill>
              <a:latin typeface="Calibri"/>
              <a:ea typeface="Calibri"/>
              <a:cs typeface="Calibri"/>
              <a:sym typeface="Calibri"/>
            </a:endParaRPr>
          </a:p>
        </p:txBody>
      </p:sp>
      <p:sp>
        <p:nvSpPr>
          <p:cNvPr id="642" name="Google Shape;642;p28"/>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643" name="Google Shape;643;p28"/>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644" name="Google Shape;644;p28"/>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Branch A: head it off with free months</a:t>
            </a:r>
            <a:endParaRPr b="0" i="0" spc="0" sz="1050" u="none" cap="none" strike="noStrike">
              <a:solidFill>
                <a:schemeClr val="dk1"/>
              </a:solidFill>
              <a:latin typeface="Calibri"/>
              <a:ea typeface="Calibri"/>
              <a:cs typeface="Calibri"/>
              <a:sym typeface="Calibri"/>
            </a:endParaRPr>
          </a:p>
        </p:txBody>
      </p:sp>
      <p:sp>
        <p:nvSpPr>
          <p:cNvPr id="645" name="Google Shape;645;p28"/>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646" name="Google Shape;646;p28"/>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647" name="Google Shape;647;p28"/>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Branch C: save mode or exit mode</a:t>
            </a:r>
            <a:endParaRPr b="0" i="0" spc="0" sz="1050" u="none" cap="none" strike="noStrike">
              <a:solidFill>
                <a:schemeClr val="dk1"/>
              </a:solidFill>
              <a:latin typeface="Calibri"/>
              <a:ea typeface="Calibri"/>
              <a:cs typeface="Calibri"/>
              <a:sym typeface="Calibri"/>
            </a:endParaRPr>
          </a:p>
        </p:txBody>
      </p:sp>
      <p:sp>
        <p:nvSpPr>
          <p:cNvPr id="648" name="Google Shape;648;p28"/>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9" name="Google Shape;649;p28"/>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9/ill27.png" id="650" name="Google Shape;650;p28"/>
          <p:cNvPicPr preferRelativeResize="0"/>
          <p:nvPr/>
        </p:nvPicPr>
        <p:blipFill rotWithShape="1">
          <a:blip r:embed="rId4">
            <a:alphaModFix/>
          </a:blip>
          <a:srcRect b="0" l="0" r="0" t="0"/>
          <a:stretch/>
        </p:blipFill>
        <p:spPr>
          <a:xfrm>
            <a:off x="5928845" y="1517904"/>
            <a:ext cx="2150918" cy="2103120"/>
          </a:xfrm>
          <a:prstGeom prst="rect">
            <a:avLst/>
          </a:prstGeom>
          <a:noFill/>
          <a:ln>
            <a:noFill/>
          </a:ln>
        </p:spPr>
      </p:pic>
      <p:sp>
        <p:nvSpPr>
          <p:cNvPr id="651" name="Google Shape;651;p28"/>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2" name="Google Shape;652;p28"/>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3" name="Google Shape;653;p28"/>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4" name="Google Shape;654;p28"/>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5" name="Google Shape;655;p28"/>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6" name="Google Shape;656;p28"/>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7" name="Google Shape;657;p2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2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BULK CHARGES</a:t>
            </a:r>
            <a:endParaRPr b="0" i="0" spc="0" sz="800" u="none" cap="none" strike="noStrike">
              <a:solidFill>
                <a:schemeClr val="dk1"/>
              </a:solidFill>
              <a:latin typeface="Calibri"/>
              <a:ea typeface="Calibri"/>
              <a:cs typeface="Calibri"/>
              <a:sym typeface="Calibri"/>
            </a:endParaRPr>
          </a:p>
        </p:txBody>
      </p:sp>
      <p:sp>
        <p:nvSpPr>
          <p:cNvPr id="664" name="Google Shape;664;p2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What is this?</a:t>
            </a:r>
            <a:endParaRPr b="0" i="0" spc="0" sz="2400" u="none" cap="none" strike="noStrike">
              <a:solidFill>
                <a:schemeClr val="dk1"/>
              </a:solidFill>
              <a:latin typeface="Calibri"/>
              <a:ea typeface="Calibri"/>
              <a:cs typeface="Calibri"/>
              <a:sym typeface="Calibri"/>
            </a:endParaRPr>
          </a:p>
        </p:txBody>
      </p:sp>
      <p:sp>
        <p:nvSpPr>
          <p:cNvPr id="665" name="Google Shape;665;p2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Each charge is a different missed month, not a duplicate.</a:t>
            </a:r>
            <a:endParaRPr b="0" i="0" spc="0" sz="1200" u="none" cap="none" strike="noStrike">
              <a:solidFill>
                <a:schemeClr val="dk1"/>
              </a:solidFill>
              <a:latin typeface="Calibri"/>
              <a:ea typeface="Calibri"/>
              <a:cs typeface="Calibri"/>
              <a:sym typeface="Calibri"/>
            </a:endParaRPr>
          </a:p>
        </p:txBody>
      </p:sp>
      <p:sp>
        <p:nvSpPr>
          <p:cNvPr id="666" name="Google Shape;666;p29"/>
          <p:cNvSpPr txBox="1"/>
          <p:nvPr/>
        </p:nvSpPr>
        <p:spPr>
          <a:xfrm>
            <a:off x="411480" y="3108960"/>
            <a:ext cx="4572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THREE REASONS IT REACHES YOU</a:t>
            </a:r>
            <a:endParaRPr b="0" i="0" spc="0" sz="800" u="none" cap="none" strike="noStrike">
              <a:solidFill>
                <a:schemeClr val="dk1"/>
              </a:solidFill>
              <a:latin typeface="Calibri"/>
              <a:ea typeface="Calibri"/>
              <a:cs typeface="Calibri"/>
              <a:sym typeface="Calibri"/>
            </a:endParaRPr>
          </a:p>
        </p:txBody>
      </p:sp>
      <p:sp>
        <p:nvSpPr>
          <p:cNvPr id="667" name="Google Shape;667;p29"/>
          <p:cNvSpPr/>
          <p:nvPr/>
        </p:nvSpPr>
        <p:spPr>
          <a:xfrm>
            <a:off x="411480" y="3337560"/>
            <a:ext cx="2682240" cy="685800"/>
          </a:xfrm>
          <a:prstGeom prst="roundRect">
            <a:avLst>
              <a:gd fmla="val 10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8" name="Google Shape;668;p29"/>
          <p:cNvSpPr/>
          <p:nvPr/>
        </p:nvSpPr>
        <p:spPr>
          <a:xfrm>
            <a:off x="548640" y="3520440"/>
            <a:ext cx="329184" cy="329184"/>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9" name="Google Shape;669;p29"/>
          <p:cNvSpPr txBox="1"/>
          <p:nvPr/>
        </p:nvSpPr>
        <p:spPr>
          <a:xfrm>
            <a:off x="548640" y="3520440"/>
            <a:ext cx="329184"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Play"/>
              <a:buNone/>
            </a:pPr>
            <a:r>
              <a:rPr b="1" i="0" lang="en-US" spc="0" sz="1100" u="none" cap="none" strike="noStrike">
                <a:solidFill>
                  <a:srgbClr val="FFFFFF"/>
                </a:solidFill>
                <a:latin typeface="Play"/>
                <a:ea typeface="Play"/>
                <a:cs typeface="Play"/>
                <a:sym typeface="Play"/>
              </a:rPr>
              <a:t>A</a:t>
            </a:r>
            <a:endParaRPr b="0" i="0" spc="0" sz="1100" u="none" cap="none" strike="noStrike">
              <a:solidFill>
                <a:schemeClr val="dk1"/>
              </a:solidFill>
              <a:latin typeface="Calibri"/>
              <a:ea typeface="Calibri"/>
              <a:cs typeface="Calibri"/>
              <a:sym typeface="Calibri"/>
            </a:endParaRPr>
          </a:p>
        </p:txBody>
      </p:sp>
      <p:sp>
        <p:nvSpPr>
          <p:cNvPr id="670" name="Google Shape;670;p29"/>
          <p:cNvSpPr txBox="1"/>
          <p:nvPr/>
        </p:nvSpPr>
        <p:spPr>
          <a:xfrm>
            <a:off x="978408" y="3337560"/>
            <a:ext cx="199644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Play"/>
              <a:buNone/>
            </a:pPr>
            <a:r>
              <a:rPr b="1" i="0" lang="en-US" spc="0" sz="1000" u="none" cap="none" strike="noStrike">
                <a:solidFill>
                  <a:srgbClr val="1D1D1F"/>
                </a:solidFill>
                <a:latin typeface="Play"/>
                <a:ea typeface="Play"/>
                <a:cs typeface="Play"/>
                <a:sym typeface="Play"/>
              </a:rPr>
              <a:t>FC overdue, not why C wrote in</a:t>
            </a:r>
            <a:endParaRPr b="0" i="0" spc="0" sz="1000" u="none" cap="none" strike="noStrike">
              <a:solidFill>
                <a:schemeClr val="dk1"/>
              </a:solidFill>
              <a:latin typeface="Calibri"/>
              <a:ea typeface="Calibri"/>
              <a:cs typeface="Calibri"/>
              <a:sym typeface="Calibri"/>
            </a:endParaRPr>
          </a:p>
        </p:txBody>
      </p:sp>
      <p:sp>
        <p:nvSpPr>
          <p:cNvPr id="671" name="Google Shape;671;p29"/>
          <p:cNvSpPr/>
          <p:nvPr/>
        </p:nvSpPr>
        <p:spPr>
          <a:xfrm>
            <a:off x="3230880" y="3337560"/>
            <a:ext cx="2682240" cy="685800"/>
          </a:xfrm>
          <a:prstGeom prst="roundRect">
            <a:avLst>
              <a:gd fmla="val 10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2" name="Google Shape;672;p29"/>
          <p:cNvSpPr/>
          <p:nvPr/>
        </p:nvSpPr>
        <p:spPr>
          <a:xfrm>
            <a:off x="3368040" y="3520440"/>
            <a:ext cx="329184" cy="329184"/>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3" name="Google Shape;673;p29"/>
          <p:cNvSpPr txBox="1"/>
          <p:nvPr/>
        </p:nvSpPr>
        <p:spPr>
          <a:xfrm>
            <a:off x="3368040" y="3520440"/>
            <a:ext cx="329184"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Play"/>
              <a:buNone/>
            </a:pPr>
            <a:r>
              <a:rPr b="1" i="0" lang="en-US" spc="0" sz="1100" u="none" cap="none" strike="noStrike">
                <a:solidFill>
                  <a:srgbClr val="FFFFFF"/>
                </a:solidFill>
                <a:latin typeface="Play"/>
                <a:ea typeface="Play"/>
                <a:cs typeface="Play"/>
                <a:sym typeface="Play"/>
              </a:rPr>
              <a:t>B</a:t>
            </a:r>
            <a:endParaRPr b="0" i="0" spc="0" sz="1100" u="none" cap="none" strike="noStrike">
              <a:solidFill>
                <a:schemeClr val="dk1"/>
              </a:solidFill>
              <a:latin typeface="Calibri"/>
              <a:ea typeface="Calibri"/>
              <a:cs typeface="Calibri"/>
              <a:sym typeface="Calibri"/>
            </a:endParaRPr>
          </a:p>
        </p:txBody>
      </p:sp>
      <p:sp>
        <p:nvSpPr>
          <p:cNvPr id="674" name="Google Shape;674;p29"/>
          <p:cNvSpPr txBox="1"/>
          <p:nvPr/>
        </p:nvSpPr>
        <p:spPr>
          <a:xfrm>
            <a:off x="3797808" y="3337560"/>
            <a:ext cx="199644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Play"/>
              <a:buNone/>
            </a:pPr>
            <a:r>
              <a:rPr b="1" i="0" lang="en-US" spc="0" sz="1000" u="none" cap="none" strike="noStrike">
                <a:solidFill>
                  <a:srgbClr val="1D1D1F"/>
                </a:solidFill>
                <a:latin typeface="Play"/>
                <a:ea typeface="Play"/>
                <a:cs typeface="Play"/>
                <a:sym typeface="Play"/>
              </a:rPr>
              <a:t>FC cancelled, wants a refund</a:t>
            </a:r>
            <a:endParaRPr b="0" i="0" spc="0" sz="1000" u="none" cap="none" strike="noStrike">
              <a:solidFill>
                <a:schemeClr val="dk1"/>
              </a:solidFill>
              <a:latin typeface="Calibri"/>
              <a:ea typeface="Calibri"/>
              <a:cs typeface="Calibri"/>
              <a:sym typeface="Calibri"/>
            </a:endParaRPr>
          </a:p>
        </p:txBody>
      </p:sp>
      <p:sp>
        <p:nvSpPr>
          <p:cNvPr id="675" name="Google Shape;675;p29"/>
          <p:cNvSpPr/>
          <p:nvPr/>
        </p:nvSpPr>
        <p:spPr>
          <a:xfrm>
            <a:off x="6050280" y="3337560"/>
            <a:ext cx="2682240" cy="685800"/>
          </a:xfrm>
          <a:prstGeom prst="roundRect">
            <a:avLst>
              <a:gd fmla="val 10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6" name="Google Shape;676;p29"/>
          <p:cNvSpPr/>
          <p:nvPr/>
        </p:nvSpPr>
        <p:spPr>
          <a:xfrm>
            <a:off x="6187440" y="3520440"/>
            <a:ext cx="329184" cy="329184"/>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7" name="Google Shape;677;p29"/>
          <p:cNvSpPr txBox="1"/>
          <p:nvPr/>
        </p:nvSpPr>
        <p:spPr>
          <a:xfrm>
            <a:off x="6187440" y="3520440"/>
            <a:ext cx="329184"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Play"/>
              <a:buNone/>
            </a:pPr>
            <a:r>
              <a:rPr b="1" i="0" lang="en-US" spc="0" sz="1100" u="none" cap="none" strike="noStrike">
                <a:solidFill>
                  <a:srgbClr val="FFFFFF"/>
                </a:solidFill>
                <a:latin typeface="Play"/>
                <a:ea typeface="Play"/>
                <a:cs typeface="Play"/>
                <a:sym typeface="Play"/>
              </a:rPr>
              <a:t>C</a:t>
            </a:r>
            <a:endParaRPr b="0" i="0" spc="0" sz="1100" u="none" cap="none" strike="noStrike">
              <a:solidFill>
                <a:schemeClr val="dk1"/>
              </a:solidFill>
              <a:latin typeface="Calibri"/>
              <a:ea typeface="Calibri"/>
              <a:cs typeface="Calibri"/>
              <a:sym typeface="Calibri"/>
            </a:endParaRPr>
          </a:p>
        </p:txBody>
      </p:sp>
      <p:sp>
        <p:nvSpPr>
          <p:cNvPr id="678" name="Google Shape;678;p29"/>
          <p:cNvSpPr txBox="1"/>
          <p:nvPr/>
        </p:nvSpPr>
        <p:spPr>
          <a:xfrm>
            <a:off x="6617208" y="3337560"/>
            <a:ext cx="199644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Play"/>
              <a:buNone/>
            </a:pPr>
            <a:r>
              <a:rPr b="1" i="0" lang="en-US" spc="0" sz="1000" u="none" cap="none" strike="noStrike">
                <a:solidFill>
                  <a:srgbClr val="1D1D1F"/>
                </a:solidFill>
                <a:latin typeface="Play"/>
                <a:ea typeface="Play"/>
                <a:cs typeface="Play"/>
                <a:sym typeface="Play"/>
              </a:rPr>
              <a:t>FC active, cancelling over it</a:t>
            </a:r>
            <a:endParaRPr b="0" i="0" spc="0" sz="1000" u="none" cap="none" strike="noStrike">
              <a:solidFill>
                <a:schemeClr val="dk1"/>
              </a:solidFill>
              <a:latin typeface="Calibri"/>
              <a:ea typeface="Calibri"/>
              <a:cs typeface="Calibri"/>
              <a:sym typeface="Calibri"/>
            </a:endParaRPr>
          </a:p>
        </p:txBody>
      </p:sp>
      <p:sp>
        <p:nvSpPr>
          <p:cNvPr id="679" name="Google Shape;679;p2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680" name="Google Shape;680;p29"/>
          <p:cNvSpPr/>
          <p:nvPr/>
        </p:nvSpPr>
        <p:spPr>
          <a:xfrm>
            <a:off x="411480" y="1325880"/>
            <a:ext cx="3520440" cy="475488"/>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681" name="Google Shape;681;p29"/>
          <p:cNvSpPr/>
          <p:nvPr/>
        </p:nvSpPr>
        <p:spPr>
          <a:xfrm>
            <a:off x="521207" y="1426464"/>
            <a:ext cx="274320" cy="274320"/>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900" u="none" cap="none" strike="noStrike">
                <a:solidFill>
                  <a:srgbClr val="0B7A6F"/>
                </a:solidFill>
                <a:latin typeface="Play"/>
                <a:ea typeface="Play"/>
                <a:cs typeface="Play"/>
                <a:sym typeface="Play"/>
              </a:rPr>
              <a:t>1</a:t>
            </a:r>
            <a:endParaRPr/>
          </a:p>
        </p:txBody>
      </p:sp>
      <p:sp>
        <p:nvSpPr>
          <p:cNvPr id="682" name="Google Shape;682;p29"/>
          <p:cNvSpPr txBox="1"/>
          <p:nvPr/>
        </p:nvSpPr>
        <p:spPr>
          <a:xfrm>
            <a:off x="914400" y="1325880"/>
            <a:ext cx="2926080" cy="4754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pc="0" sz="950" u="none" cap="none" strike="noStrike">
                <a:solidFill>
                  <a:srgbClr val="1D1D1F"/>
                </a:solidFill>
                <a:latin typeface="Play"/>
                <a:ea typeface="Play"/>
                <a:cs typeface="Play"/>
                <a:sym typeface="Play"/>
              </a:rPr>
              <a:t>MF overdue</a:t>
            </a:r>
            <a:r>
              <a:rPr b="0" i="0" lang="en-US" spc="0" sz="950" u="none" cap="none" strike="noStrike">
                <a:solidFill>
                  <a:srgbClr val="6E6E73"/>
                </a:solidFill>
                <a:latin typeface="Arial"/>
                <a:ea typeface="Arial"/>
                <a:cs typeface="Arial"/>
                <a:sym typeface="Arial"/>
              </a:rPr>
              <a:t> for several billing cycles</a:t>
            </a:r>
            <a:endParaRPr/>
          </a:p>
        </p:txBody>
      </p:sp>
      <p:sp>
        <p:nvSpPr>
          <p:cNvPr id="683" name="Google Shape;683;p29"/>
          <p:cNvSpPr/>
          <p:nvPr/>
        </p:nvSpPr>
        <p:spPr>
          <a:xfrm>
            <a:off x="411480" y="1874519"/>
            <a:ext cx="3520440" cy="475488"/>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684" name="Google Shape;684;p29"/>
          <p:cNvSpPr/>
          <p:nvPr/>
        </p:nvSpPr>
        <p:spPr>
          <a:xfrm>
            <a:off x="521207" y="1975103"/>
            <a:ext cx="274320" cy="274320"/>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900" u="none" cap="none" strike="noStrike">
                <a:solidFill>
                  <a:srgbClr val="0B7A6F"/>
                </a:solidFill>
                <a:latin typeface="Play"/>
                <a:ea typeface="Play"/>
                <a:cs typeface="Play"/>
                <a:sym typeface="Play"/>
              </a:rPr>
              <a:t>2</a:t>
            </a:r>
            <a:endParaRPr/>
          </a:p>
        </p:txBody>
      </p:sp>
      <p:sp>
        <p:nvSpPr>
          <p:cNvPr id="685" name="Google Shape;685;p29"/>
          <p:cNvSpPr txBox="1"/>
          <p:nvPr/>
        </p:nvSpPr>
        <p:spPr>
          <a:xfrm>
            <a:off x="914400" y="1874519"/>
            <a:ext cx="2926080" cy="4754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pc="0" sz="950" u="none" cap="none" strike="noStrike">
                <a:solidFill>
                  <a:srgbClr val="1D1D1F"/>
                </a:solidFill>
                <a:latin typeface="Play"/>
                <a:ea typeface="Play"/>
                <a:cs typeface="Play"/>
                <a:sym typeface="Play"/>
              </a:rPr>
              <a:t>A payment finally goes through</a:t>
            </a:r>
            <a:endParaRPr/>
          </a:p>
        </p:txBody>
      </p:sp>
      <p:sp>
        <p:nvSpPr>
          <p:cNvPr id="686" name="Google Shape;686;p29"/>
          <p:cNvSpPr/>
          <p:nvPr/>
        </p:nvSpPr>
        <p:spPr>
          <a:xfrm>
            <a:off x="411480" y="2423160"/>
            <a:ext cx="3520440" cy="475488"/>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687" name="Google Shape;687;p29"/>
          <p:cNvSpPr/>
          <p:nvPr/>
        </p:nvSpPr>
        <p:spPr>
          <a:xfrm>
            <a:off x="521207" y="2523744"/>
            <a:ext cx="274320" cy="274320"/>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900" u="none" cap="none" strike="noStrike">
                <a:solidFill>
                  <a:srgbClr val="0B7A6F"/>
                </a:solidFill>
                <a:latin typeface="Play"/>
                <a:ea typeface="Play"/>
                <a:cs typeface="Play"/>
                <a:sym typeface="Play"/>
              </a:rPr>
              <a:t>3</a:t>
            </a:r>
            <a:endParaRPr/>
          </a:p>
        </p:txBody>
      </p:sp>
      <p:sp>
        <p:nvSpPr>
          <p:cNvPr id="688" name="Google Shape;688;p29"/>
          <p:cNvSpPr txBox="1"/>
          <p:nvPr/>
        </p:nvSpPr>
        <p:spPr>
          <a:xfrm>
            <a:off x="914400" y="2423160"/>
            <a:ext cx="2926080" cy="4754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pc="0" sz="950" u="none" cap="none" strike="noStrike">
                <a:solidFill>
                  <a:srgbClr val="1D1D1F"/>
                </a:solidFill>
                <a:latin typeface="Play"/>
                <a:ea typeface="Play"/>
                <a:cs typeface="Play"/>
                <a:sym typeface="Play"/>
              </a:rPr>
              <a:t>Every missed month is charged at once</a:t>
            </a:r>
            <a:r>
              <a:rPr b="0" i="0" lang="en-US" spc="0" sz="950" u="none" cap="none" strike="noStrike">
                <a:solidFill>
                  <a:srgbClr val="6E6E73"/>
                </a:solidFill>
                <a:latin typeface="Arial"/>
                <a:ea typeface="Arial"/>
                <a:cs typeface="Arial"/>
                <a:sym typeface="Arial"/>
              </a:rPr>
              <a:t>: same day or same month</a:t>
            </a:r>
            <a:endParaRPr/>
          </a:p>
        </p:txBody>
      </p:sp>
      <p:sp>
        <p:nvSpPr>
          <p:cNvPr id="689" name="Google Shape;689;p29"/>
          <p:cNvSpPr/>
          <p:nvPr/>
        </p:nvSpPr>
        <p:spPr>
          <a:xfrm>
            <a:off x="4069080" y="1325880"/>
            <a:ext cx="4754879" cy="1387179"/>
          </a:xfrm>
          <a:prstGeom prst="roundRect">
            <a:avLst>
              <a:gd fmla="val 3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pic>
        <p:nvPicPr>
          <p:cNvPr descr="bulk_payment_history.png" id="690" name="Google Shape;690;p29"/>
          <p:cNvPicPr preferRelativeResize="0"/>
          <p:nvPr/>
        </p:nvPicPr>
        <p:blipFill rotWithShape="1">
          <a:blip r:embed="rId3">
            <a:alphaModFix/>
          </a:blip>
          <a:srcRect b="0" l="0" r="0" t="0"/>
          <a:stretch/>
        </p:blipFill>
        <p:spPr>
          <a:xfrm>
            <a:off x="4114800" y="1371600"/>
            <a:ext cx="4663440" cy="1295739"/>
          </a:xfrm>
          <a:prstGeom prst="rect">
            <a:avLst/>
          </a:prstGeom>
          <a:noFill/>
          <a:ln>
            <a:noFill/>
          </a:ln>
        </p:spPr>
      </p:pic>
      <p:sp>
        <p:nvSpPr>
          <p:cNvPr id="691" name="Google Shape;691;p29"/>
          <p:cNvSpPr txBox="1"/>
          <p:nvPr/>
        </p:nvSpPr>
        <p:spPr>
          <a:xfrm>
            <a:off x="4069080" y="2758779"/>
            <a:ext cx="4754879" cy="2743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pc="0" sz="900" u="none" cap="none" strike="noStrike">
                <a:solidFill>
                  <a:srgbClr val="9A6410"/>
                </a:solidFill>
                <a:latin typeface="Play"/>
                <a:ea typeface="Play"/>
                <a:cs typeface="Play"/>
                <a:sym typeface="Play"/>
              </a:rPr>
              <a:t>Four $59 MFs, one day: </a:t>
            </a:r>
            <a:r>
              <a:rPr b="0" i="0" lang="en-US" spc="0" sz="900" u="none" cap="none" strike="noStrike">
                <a:solidFill>
                  <a:srgbClr val="1D1D1F"/>
                </a:solidFill>
                <a:latin typeface="Arial"/>
                <a:ea typeface="Arial"/>
                <a:cs typeface="Arial"/>
                <a:sym typeface="Arial"/>
              </a:rPr>
              <a:t>Jan, Feb, Mar and Apr paid-through. Different months, not duplicates.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3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BULK CHARGES</a:t>
            </a:r>
            <a:endParaRPr b="0" i="0" spc="0" sz="800" u="none" cap="none" strike="noStrike">
              <a:solidFill>
                <a:schemeClr val="dk1"/>
              </a:solidFill>
              <a:latin typeface="Calibri"/>
              <a:ea typeface="Calibri"/>
              <a:cs typeface="Calibri"/>
              <a:sym typeface="Calibri"/>
            </a:endParaRPr>
          </a:p>
        </p:txBody>
      </p:sp>
      <p:sp>
        <p:nvSpPr>
          <p:cNvPr id="698" name="Google Shape;698;p3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Branch A: head it off</a:t>
            </a:r>
            <a:endParaRPr b="0" i="0" spc="0" sz="2400" u="none" cap="none" strike="noStrike">
              <a:solidFill>
                <a:schemeClr val="dk1"/>
              </a:solidFill>
              <a:latin typeface="Calibri"/>
              <a:ea typeface="Calibri"/>
              <a:cs typeface="Calibri"/>
              <a:sym typeface="Calibri"/>
            </a:endParaRPr>
          </a:p>
        </p:txBody>
      </p:sp>
      <p:sp>
        <p:nvSpPr>
          <p:cNvPr id="699" name="Google Shape;699;p3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You spotted an overdue FC on an unrelated ticket.</a:t>
            </a:r>
            <a:endParaRPr b="0" i="0" spc="0" sz="1200" u="none" cap="none" strike="noStrike">
              <a:solidFill>
                <a:schemeClr val="dk1"/>
              </a:solidFill>
              <a:latin typeface="Calibri"/>
              <a:ea typeface="Calibri"/>
              <a:cs typeface="Calibri"/>
              <a:sym typeface="Calibri"/>
            </a:endParaRPr>
          </a:p>
        </p:txBody>
      </p:sp>
      <p:graphicFrame>
        <p:nvGraphicFramePr>
          <p:cNvPr id="700" name="Google Shape;700;p30"/>
          <p:cNvGraphicFramePr/>
          <p:nvPr/>
        </p:nvGraphicFramePr>
        <p:xfrm>
          <a:off x="411480" y="1325880"/>
          <a:ext cx="3000000" cy="3000000"/>
        </p:xfrm>
        <a:graphic>
          <a:graphicData uri="http://schemas.openxmlformats.org/drawingml/2006/table">
            <a:tbl>
              <a:tblPr>
                <a:noFill/>
                <a:tableStyleId>{571C05B3-F2F7-497A-A2A1-7750038E98FB}</a:tableStyleId>
              </a:tblPr>
              <a:tblGrid>
                <a:gridCol w="4389125"/>
                <a:gridCol w="3931925"/>
              </a:tblGrid>
              <a:tr h="365750">
                <a:tc>
                  <a:txBody>
                    <a:bodyPr/>
                    <a:lstStyle/>
                    <a:p>
                      <a:pPr indent="0" lvl="0" marL="0" marR="0" rtl="0" algn="l">
                        <a:lnSpc>
                          <a:spcPct val="100000"/>
                        </a:lnSpc>
                        <a:spcBef>
                          <a:spcPts val="0"/>
                        </a:spcBef>
                        <a:spcAft>
                          <a:spcPts val="0"/>
                        </a:spcAft>
                        <a:buClr>
                          <a:srgbClr val="0B7A6F"/>
                        </a:buClr>
                        <a:buSzPts val="950"/>
                        <a:buFont typeface="Play"/>
                        <a:buNone/>
                      </a:pPr>
                      <a:r>
                        <a:rPr b="1" lang="en-US" spc="0" sz="950" u="none" cap="none" strike="noStrike">
                          <a:solidFill>
                            <a:srgbClr val="0B7A6F"/>
                          </a:solidFill>
                          <a:latin typeface="Play"/>
                          <a:ea typeface="Play"/>
                          <a:cs typeface="Play"/>
                          <a:sym typeface="Play"/>
                        </a:rPr>
                        <a:t>Situation</a:t>
                      </a:r>
                      <a:endParaRPr spc="0"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50"/>
                        <a:buFont typeface="Play"/>
                        <a:buNone/>
                      </a:pPr>
                      <a:r>
                        <a:rPr b="1" lang="en-US" spc="0" sz="950" u="none" cap="none" strike="noStrike">
                          <a:solidFill>
                            <a:srgbClr val="0B7A6F"/>
                          </a:solidFill>
                          <a:latin typeface="Play"/>
                          <a:ea typeface="Play"/>
                          <a:cs typeface="Play"/>
                          <a:sym typeface="Play"/>
                        </a:rPr>
                        <a:t>Action</a:t>
                      </a:r>
                      <a:endParaRPr spc="0"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65750">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Overdue by 1 MF, next charge in 7 days or less</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Issue 1 free month</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65750">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Overdue by 1 MF, next charge more than 7 days out</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No action needed</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65750">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Overdue by 2+ MFs</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Free months/weeks to bring paid-through current</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701" name="Google Shape;701;p30"/>
          <p:cNvSpPr txBox="1"/>
          <p:nvPr/>
        </p:nvSpPr>
        <p:spPr>
          <a:xfrm>
            <a:off x="411480" y="2926080"/>
            <a:ext cx="7315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WORKED EXAMPLE: TODAY IS AUG 24, MF BILLS ON THE 10TH</a:t>
            </a:r>
            <a:endParaRPr b="0" i="0" spc="0" sz="800" u="none" cap="none" strike="noStrike">
              <a:solidFill>
                <a:schemeClr val="dk1"/>
              </a:solidFill>
              <a:latin typeface="Calibri"/>
              <a:ea typeface="Calibri"/>
              <a:cs typeface="Calibri"/>
              <a:sym typeface="Calibri"/>
            </a:endParaRPr>
          </a:p>
        </p:txBody>
      </p:sp>
      <p:sp>
        <p:nvSpPr>
          <p:cNvPr id="702" name="Google Shape;702;p30"/>
          <p:cNvSpPr/>
          <p:nvPr/>
        </p:nvSpPr>
        <p:spPr>
          <a:xfrm>
            <a:off x="411480" y="3154680"/>
            <a:ext cx="1920240" cy="566928"/>
          </a:xfrm>
          <a:prstGeom prst="roundRect">
            <a:avLst>
              <a:gd fmla="val 12903" name="adj"/>
            </a:avLst>
          </a:prstGeom>
          <a:solidFill>
            <a:srgbClr val="FFFFFF"/>
          </a:solidFill>
          <a:ln cap="flat" cmpd="sng" w="12700">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3" name="Google Shape;703;p30"/>
          <p:cNvSpPr txBox="1"/>
          <p:nvPr/>
        </p:nvSpPr>
        <p:spPr>
          <a:xfrm>
            <a:off x="411480" y="3154680"/>
            <a:ext cx="1920240" cy="5669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000"/>
              <a:buFont typeface="Play"/>
              <a:buNone/>
            </a:pPr>
            <a:r>
              <a:rPr b="1" i="0" lang="en-US" spc="0" sz="1000" u="none" cap="none" strike="noStrike">
                <a:solidFill>
                  <a:srgbClr val="1D1D1F"/>
                </a:solidFill>
                <a:latin typeface="Play"/>
                <a:ea typeface="Play"/>
                <a:cs typeface="Play"/>
                <a:sym typeface="Play"/>
              </a:rPr>
              <a:t>Jul 10 + Aug 10 failed</a:t>
            </a:r>
            <a:endParaRPr b="0" i="0" spc="0" sz="1000" u="none" cap="none" strike="noStrike">
              <a:solidFill>
                <a:schemeClr val="dk1"/>
              </a:solidFill>
              <a:latin typeface="Calibri"/>
              <a:ea typeface="Calibri"/>
              <a:cs typeface="Calibri"/>
              <a:sym typeface="Calibri"/>
            </a:endParaRPr>
          </a:p>
        </p:txBody>
      </p:sp>
      <p:cxnSp>
        <p:nvCxnSpPr>
          <p:cNvPr id="704" name="Google Shape;704;p30"/>
          <p:cNvCxnSpPr/>
          <p:nvPr/>
        </p:nvCxnSpPr>
        <p:spPr>
          <a:xfrm>
            <a:off x="2331720" y="3438144"/>
            <a:ext cx="213055" cy="0"/>
          </a:xfrm>
          <a:prstGeom prst="straightConnector1">
            <a:avLst/>
          </a:prstGeom>
          <a:noFill/>
          <a:ln cap="flat" cmpd="sng" w="12700">
            <a:solidFill>
              <a:srgbClr val="6E6E73"/>
            </a:solidFill>
            <a:prstDash val="solid"/>
            <a:round/>
            <a:headEnd len="sm" w="sm" type="none"/>
            <a:tailEnd len="med" w="med" type="triangle"/>
          </a:ln>
        </p:spPr>
      </p:cxnSp>
      <p:sp>
        <p:nvSpPr>
          <p:cNvPr id="705" name="Google Shape;705;p30"/>
          <p:cNvSpPr/>
          <p:nvPr/>
        </p:nvSpPr>
        <p:spPr>
          <a:xfrm>
            <a:off x="2544775" y="3154680"/>
            <a:ext cx="1920240" cy="566928"/>
          </a:xfrm>
          <a:prstGeom prst="roundRect">
            <a:avLst>
              <a:gd fmla="val 12903" name="adj"/>
            </a:avLst>
          </a:prstGeom>
          <a:solidFill>
            <a:srgbClr val="FFF3D6"/>
          </a:solidFill>
          <a:ln cap="flat" cmpd="sng" w="12700">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6" name="Google Shape;706;p30"/>
          <p:cNvSpPr txBox="1"/>
          <p:nvPr/>
        </p:nvSpPr>
        <p:spPr>
          <a:xfrm>
            <a:off x="2544775" y="3154680"/>
            <a:ext cx="1920240" cy="5669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1000"/>
              <a:buFont typeface="Play"/>
              <a:buNone/>
            </a:pPr>
            <a:r>
              <a:rPr b="1" i="0" lang="en-US" spc="0" sz="1000" u="none" cap="none" strike="noStrike">
                <a:solidFill>
                  <a:srgbClr val="9A6410"/>
                </a:solidFill>
                <a:latin typeface="Play"/>
                <a:ea typeface="Play"/>
                <a:cs typeface="Play"/>
                <a:sym typeface="Play"/>
              </a:rPr>
              <a:t>Paid-through: Jun 10</a:t>
            </a:r>
            <a:endParaRPr b="0" i="0" spc="0" sz="1000" u="none" cap="none" strike="noStrike">
              <a:solidFill>
                <a:schemeClr val="dk1"/>
              </a:solidFill>
              <a:latin typeface="Calibri"/>
              <a:ea typeface="Calibri"/>
              <a:cs typeface="Calibri"/>
              <a:sym typeface="Calibri"/>
            </a:endParaRPr>
          </a:p>
        </p:txBody>
      </p:sp>
      <p:cxnSp>
        <p:nvCxnSpPr>
          <p:cNvPr id="707" name="Google Shape;707;p30"/>
          <p:cNvCxnSpPr/>
          <p:nvPr/>
        </p:nvCxnSpPr>
        <p:spPr>
          <a:xfrm>
            <a:off x="4465015" y="3438144"/>
            <a:ext cx="213055" cy="0"/>
          </a:xfrm>
          <a:prstGeom prst="straightConnector1">
            <a:avLst/>
          </a:prstGeom>
          <a:noFill/>
          <a:ln cap="flat" cmpd="sng" w="12700">
            <a:solidFill>
              <a:srgbClr val="6E6E73"/>
            </a:solidFill>
            <a:prstDash val="solid"/>
            <a:round/>
            <a:headEnd len="sm" w="sm" type="none"/>
            <a:tailEnd len="med" w="med" type="triangle"/>
          </a:ln>
        </p:spPr>
      </p:cxnSp>
      <p:sp>
        <p:nvSpPr>
          <p:cNvPr id="708" name="Google Shape;708;p30"/>
          <p:cNvSpPr/>
          <p:nvPr/>
        </p:nvSpPr>
        <p:spPr>
          <a:xfrm>
            <a:off x="4678070" y="3154680"/>
            <a:ext cx="1920240" cy="566928"/>
          </a:xfrm>
          <a:prstGeom prst="roundRect">
            <a:avLst>
              <a:gd fmla="val 12903" name="adj"/>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9" name="Google Shape;709;p30"/>
          <p:cNvSpPr txBox="1"/>
          <p:nvPr/>
        </p:nvSpPr>
        <p:spPr>
          <a:xfrm>
            <a:off x="4678070" y="3154680"/>
            <a:ext cx="1920240" cy="5669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Play"/>
              <a:buNone/>
            </a:pPr>
            <a:r>
              <a:rPr b="1" i="0" lang="en-US" spc="0" sz="1000" u="none" cap="none" strike="noStrike">
                <a:solidFill>
                  <a:srgbClr val="FFFFFF"/>
                </a:solidFill>
                <a:latin typeface="Play"/>
                <a:ea typeface="Play"/>
                <a:cs typeface="Play"/>
                <a:sym typeface="Play"/>
              </a:rPr>
              <a:t>Add 2 free months</a:t>
            </a:r>
            <a:endParaRPr b="0" i="0" spc="0" sz="1000" u="none" cap="none" strike="noStrike">
              <a:solidFill>
                <a:schemeClr val="dk1"/>
              </a:solidFill>
              <a:latin typeface="Calibri"/>
              <a:ea typeface="Calibri"/>
              <a:cs typeface="Calibri"/>
              <a:sym typeface="Calibri"/>
            </a:endParaRPr>
          </a:p>
        </p:txBody>
      </p:sp>
      <p:cxnSp>
        <p:nvCxnSpPr>
          <p:cNvPr id="710" name="Google Shape;710;p30"/>
          <p:cNvCxnSpPr/>
          <p:nvPr/>
        </p:nvCxnSpPr>
        <p:spPr>
          <a:xfrm>
            <a:off x="6598310" y="3438144"/>
            <a:ext cx="213055" cy="0"/>
          </a:xfrm>
          <a:prstGeom prst="straightConnector1">
            <a:avLst/>
          </a:prstGeom>
          <a:noFill/>
          <a:ln cap="flat" cmpd="sng" w="12700">
            <a:solidFill>
              <a:srgbClr val="6E6E73"/>
            </a:solidFill>
            <a:prstDash val="solid"/>
            <a:round/>
            <a:headEnd len="sm" w="sm" type="none"/>
            <a:tailEnd len="med" w="med" type="triangle"/>
          </a:ln>
        </p:spPr>
      </p:cxnSp>
      <p:sp>
        <p:nvSpPr>
          <p:cNvPr id="711" name="Google Shape;711;p30"/>
          <p:cNvSpPr/>
          <p:nvPr/>
        </p:nvSpPr>
        <p:spPr>
          <a:xfrm>
            <a:off x="6811366" y="3154680"/>
            <a:ext cx="1920240" cy="566928"/>
          </a:xfrm>
          <a:prstGeom prst="roundRect">
            <a:avLst>
              <a:gd fmla="val 12903" name="adj"/>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2" name="Google Shape;712;p30"/>
          <p:cNvSpPr txBox="1"/>
          <p:nvPr/>
        </p:nvSpPr>
        <p:spPr>
          <a:xfrm>
            <a:off x="6811366" y="3154680"/>
            <a:ext cx="1920240" cy="5669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Play"/>
              <a:buNone/>
            </a:pPr>
            <a:r>
              <a:rPr b="1" i="0" lang="en-US" spc="0" sz="1000" u="none" cap="none" strike="noStrike">
                <a:solidFill>
                  <a:srgbClr val="FFFFFF"/>
                </a:solidFill>
                <a:latin typeface="Play"/>
                <a:ea typeface="Play"/>
                <a:cs typeface="Play"/>
                <a:sym typeface="Play"/>
              </a:rPr>
              <a:t>Paid-through Aug 10. Next MF Sep 10</a:t>
            </a:r>
            <a:endParaRPr b="0" i="0" spc="0" sz="1000" u="none" cap="none" strike="noStrike">
              <a:solidFill>
                <a:schemeClr val="dk1"/>
              </a:solidFill>
              <a:latin typeface="Calibri"/>
              <a:ea typeface="Calibri"/>
              <a:cs typeface="Calibri"/>
              <a:sym typeface="Calibri"/>
            </a:endParaRPr>
          </a:p>
        </p:txBody>
      </p:sp>
      <p:sp>
        <p:nvSpPr>
          <p:cNvPr id="713" name="Google Shape;713;p30"/>
          <p:cNvSpPr/>
          <p:nvPr/>
        </p:nvSpPr>
        <p:spPr>
          <a:xfrm>
            <a:off x="411480" y="393192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714" name="Google Shape;714;p30"/>
          <p:cNvPicPr preferRelativeResize="0"/>
          <p:nvPr/>
        </p:nvPicPr>
        <p:blipFill rotWithShape="1">
          <a:blip r:embed="rId3">
            <a:alphaModFix/>
          </a:blip>
          <a:srcRect b="0" l="0" r="0" t="0"/>
          <a:stretch/>
        </p:blipFill>
        <p:spPr>
          <a:xfrm>
            <a:off x="566928" y="4041648"/>
            <a:ext cx="164592" cy="164592"/>
          </a:xfrm>
          <a:prstGeom prst="rect">
            <a:avLst/>
          </a:prstGeom>
          <a:noFill/>
          <a:ln>
            <a:noFill/>
          </a:ln>
        </p:spPr>
      </p:pic>
      <p:sp>
        <p:nvSpPr>
          <p:cNvPr id="715" name="Google Shape;715;p30"/>
          <p:cNvSpPr txBox="1"/>
          <p:nvPr/>
        </p:nvSpPr>
        <p:spPr>
          <a:xfrm>
            <a:off x="822960" y="403250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"Current" =  </a:t>
            </a:r>
            <a:r>
              <a:rPr b="0" i="0" lang="en-US" spc="0" sz="1000" u="none" cap="none" strike="noStrike">
                <a:solidFill>
                  <a:srgbClr val="1D1D1F"/>
                </a:solidFill>
                <a:latin typeface="Arial"/>
                <a:ea typeface="Arial"/>
                <a:cs typeface="Arial"/>
                <a:sym typeface="Arial"/>
              </a:rPr>
              <a:t>the last missed billing anchor, not today.</a:t>
            </a:r>
            <a:endParaRPr b="0" i="0" spc="0" sz="1000" u="none" cap="none" strike="noStrike">
              <a:solidFill>
                <a:schemeClr val="dk1"/>
              </a:solidFill>
              <a:latin typeface="Calibri"/>
              <a:ea typeface="Calibri"/>
              <a:cs typeface="Calibri"/>
              <a:sym typeface="Calibri"/>
            </a:endParaRPr>
          </a:p>
        </p:txBody>
      </p:sp>
      <p:sp>
        <p:nvSpPr>
          <p:cNvPr id="716" name="Google Shape;716;p3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3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BULK CHARGES</a:t>
            </a:r>
            <a:endParaRPr b="0" i="0" spc="0" sz="800" u="none" cap="none" strike="noStrike">
              <a:solidFill>
                <a:schemeClr val="dk1"/>
              </a:solidFill>
              <a:latin typeface="Calibri"/>
              <a:ea typeface="Calibri"/>
              <a:cs typeface="Calibri"/>
              <a:sym typeface="Calibri"/>
            </a:endParaRPr>
          </a:p>
        </p:txBody>
      </p:sp>
      <p:sp>
        <p:nvSpPr>
          <p:cNvPr id="723" name="Google Shape;723;p3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Branches B &amp; C</a:t>
            </a:r>
            <a:endParaRPr b="0" i="0" spc="0" sz="2400" u="none" cap="none" strike="noStrike">
              <a:solidFill>
                <a:schemeClr val="dk1"/>
              </a:solidFill>
              <a:latin typeface="Calibri"/>
              <a:ea typeface="Calibri"/>
              <a:cs typeface="Calibri"/>
              <a:sym typeface="Calibri"/>
            </a:endParaRPr>
          </a:p>
        </p:txBody>
      </p:sp>
      <p:sp>
        <p:nvSpPr>
          <p:cNvPr id="724" name="Google Shape;724;p3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Already cancelled, or cancelling because of the bulk charge.</a:t>
            </a:r>
            <a:endParaRPr b="0" i="0" spc="0" sz="1200" u="none" cap="none" strike="noStrike">
              <a:solidFill>
                <a:schemeClr val="dk1"/>
              </a:solidFill>
              <a:latin typeface="Calibri"/>
              <a:ea typeface="Calibri"/>
              <a:cs typeface="Calibri"/>
              <a:sym typeface="Calibri"/>
            </a:endParaRPr>
          </a:p>
        </p:txBody>
      </p:sp>
      <p:sp>
        <p:nvSpPr>
          <p:cNvPr id="725" name="Google Shape;725;p31"/>
          <p:cNvSpPr/>
          <p:nvPr/>
        </p:nvSpPr>
        <p:spPr>
          <a:xfrm>
            <a:off x="411480" y="1325880"/>
            <a:ext cx="2651760" cy="2743200"/>
          </a:xfrm>
          <a:prstGeom prst="roundRect">
            <a:avLst>
              <a:gd fmla="val 2759" name="adj"/>
            </a:avLst>
          </a:prstGeom>
          <a:solidFill>
            <a:srgbClr val="FFFFFF"/>
          </a:solidFill>
          <a:ln cap="flat" cmpd="sng" w="9525">
            <a:solidFill>
              <a:srgbClr val="1D1D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26" name="Google Shape;726;p31"/>
          <p:cNvSpPr/>
          <p:nvPr/>
        </p:nvSpPr>
        <p:spPr>
          <a:xfrm>
            <a:off x="411480" y="1325880"/>
            <a:ext cx="2651760" cy="329184"/>
          </a:xfrm>
          <a:prstGeom prst="roundRect">
            <a:avLst>
              <a:gd fmla="val 16667" name="adj"/>
            </a:avLst>
          </a:prstGeom>
          <a:solidFill>
            <a:srgbClr val="1D1D1F"/>
          </a:solidFill>
          <a:ln cap="flat" cmpd="sng" w="12700">
            <a:solidFill>
              <a:srgbClr val="1D1D1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B: FC already cancelled</a:t>
            </a:r>
            <a:endParaRPr b="0" i="0" spc="0" sz="1050" u="none" cap="none" strike="noStrike">
              <a:solidFill>
                <a:schemeClr val="dk1"/>
              </a:solidFill>
              <a:latin typeface="Calibri"/>
              <a:ea typeface="Calibri"/>
              <a:cs typeface="Calibri"/>
              <a:sym typeface="Calibri"/>
            </a:endParaRPr>
          </a:p>
        </p:txBody>
      </p:sp>
      <p:sp>
        <p:nvSpPr>
          <p:cNvPr id="727" name="Google Shape;727;p31"/>
          <p:cNvSpPr txBox="1"/>
          <p:nvPr/>
        </p:nvSpPr>
        <p:spPr>
          <a:xfrm>
            <a:off x="576072" y="1764792"/>
            <a:ext cx="2322576" cy="223113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Standard refund policy</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Unused MFs beyond MCT, within 120 days</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See MF &amp; ETF Refund Requests</a:t>
            </a:r>
            <a:endParaRPr b="0" i="0" spc="0" sz="900" u="none" cap="none" strike="noStrike">
              <a:solidFill>
                <a:schemeClr val="dk1"/>
              </a:solidFill>
              <a:latin typeface="Calibri"/>
              <a:ea typeface="Calibri"/>
              <a:cs typeface="Calibri"/>
              <a:sym typeface="Calibri"/>
            </a:endParaRPr>
          </a:p>
        </p:txBody>
      </p:sp>
      <p:sp>
        <p:nvSpPr>
          <p:cNvPr id="728" name="Google Shape;728;p31"/>
          <p:cNvSpPr txBox="1"/>
          <p:nvPr/>
        </p:nvSpPr>
        <p:spPr>
          <a:xfrm>
            <a:off x="3200400" y="1298448"/>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C: FC ACTIVE. STILL OVERDUE? THEN CHECK THE MCT</a:t>
            </a:r>
            <a:endParaRPr b="0" i="0" spc="0" sz="800" u="none" cap="none" strike="noStrike">
              <a:solidFill>
                <a:schemeClr val="dk1"/>
              </a:solidFill>
              <a:latin typeface="Calibri"/>
              <a:ea typeface="Calibri"/>
              <a:cs typeface="Calibri"/>
              <a:sym typeface="Calibri"/>
            </a:endParaRPr>
          </a:p>
        </p:txBody>
      </p:sp>
      <p:sp>
        <p:nvSpPr>
          <p:cNvPr id="729" name="Google Shape;729;p31"/>
          <p:cNvSpPr/>
          <p:nvPr/>
        </p:nvSpPr>
        <p:spPr>
          <a:xfrm>
            <a:off x="3200400" y="1536192"/>
            <a:ext cx="2697480" cy="2532888"/>
          </a:xfrm>
          <a:prstGeom prst="roundRect">
            <a:avLst>
              <a:gd fmla="val 2888"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30" name="Google Shape;730;p31"/>
          <p:cNvSpPr/>
          <p:nvPr/>
        </p:nvSpPr>
        <p:spPr>
          <a:xfrm>
            <a:off x="3200400" y="1536192"/>
            <a:ext cx="269748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Beyond MCT: no ETF</a:t>
            </a:r>
            <a:endParaRPr b="0" i="0" spc="0" sz="1050" u="none" cap="none" strike="noStrike">
              <a:solidFill>
                <a:schemeClr val="dk1"/>
              </a:solidFill>
              <a:latin typeface="Calibri"/>
              <a:ea typeface="Calibri"/>
              <a:cs typeface="Calibri"/>
              <a:sym typeface="Calibri"/>
            </a:endParaRPr>
          </a:p>
        </p:txBody>
      </p:sp>
      <p:sp>
        <p:nvSpPr>
          <p:cNvPr id="731" name="Google Shape;731;p31"/>
          <p:cNvSpPr txBox="1"/>
          <p:nvPr/>
        </p:nvSpPr>
        <p:spPr>
          <a:xfrm>
            <a:off x="3364992" y="1975104"/>
            <a:ext cx="2368296" cy="2020824"/>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Free to leave</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Free months give back value for paid, unusable months</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 $20 credit to get them back in</a:t>
            </a:r>
            <a:endParaRPr b="0" i="0" spc="0" sz="900" u="none" cap="none" strike="noStrike">
              <a:solidFill>
                <a:schemeClr val="dk1"/>
              </a:solidFill>
              <a:latin typeface="Calibri"/>
              <a:ea typeface="Calibri"/>
              <a:cs typeface="Calibri"/>
              <a:sym typeface="Calibri"/>
            </a:endParaRPr>
          </a:p>
        </p:txBody>
      </p:sp>
      <p:sp>
        <p:nvSpPr>
          <p:cNvPr id="732" name="Google Shape;732;p31"/>
          <p:cNvSpPr/>
          <p:nvPr/>
        </p:nvSpPr>
        <p:spPr>
          <a:xfrm>
            <a:off x="6035040" y="1536192"/>
            <a:ext cx="2697480" cy="2532888"/>
          </a:xfrm>
          <a:prstGeom prst="roundRect">
            <a:avLst>
              <a:gd fmla="val 2888" name="adj"/>
            </a:avLst>
          </a:prstGeom>
          <a:solidFill>
            <a:srgbClr val="FFF3D6"/>
          </a:solidFill>
          <a:ln cap="flat" cmpd="sng" w="9525">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33" name="Google Shape;733;p31"/>
          <p:cNvSpPr/>
          <p:nvPr/>
        </p:nvSpPr>
        <p:spPr>
          <a:xfrm>
            <a:off x="6035040" y="1536192"/>
            <a:ext cx="2697480" cy="329184"/>
          </a:xfrm>
          <a:prstGeom prst="roundRect">
            <a:avLst>
              <a:gd fmla="val 16667" name="adj"/>
            </a:avLst>
          </a:prstGeom>
          <a:solidFill>
            <a:srgbClr val="9A6410"/>
          </a:solidFill>
          <a:ln cap="flat" cmpd="sng" w="12700">
            <a:solidFill>
              <a:srgbClr val="9A641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Within MCT: ETF applies</a:t>
            </a:r>
            <a:endParaRPr b="0" i="0" spc="0" sz="1050" u="none" cap="none" strike="noStrike">
              <a:solidFill>
                <a:schemeClr val="dk1"/>
              </a:solidFill>
              <a:latin typeface="Calibri"/>
              <a:ea typeface="Calibri"/>
              <a:cs typeface="Calibri"/>
              <a:sym typeface="Calibri"/>
            </a:endParaRPr>
          </a:p>
        </p:txBody>
      </p:sp>
      <p:sp>
        <p:nvSpPr>
          <p:cNvPr id="734" name="Google Shape;734;p31"/>
          <p:cNvSpPr txBox="1"/>
          <p:nvPr/>
        </p:nvSpPr>
        <p:spPr>
          <a:xfrm>
            <a:off x="6199632" y="1975104"/>
            <a:ext cx="2368296" cy="2020824"/>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Retention first</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FCF, no first cleaning: no ETF</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Otherwise the cheaper of: credit bulk MFs to the ETF, or reduce the MCT</a:t>
            </a:r>
            <a:endParaRPr b="0" i="0" spc="0" sz="900" u="none" cap="none" strike="noStrike">
              <a:solidFill>
                <a:schemeClr val="dk1"/>
              </a:solidFill>
              <a:latin typeface="Calibri"/>
              <a:ea typeface="Calibri"/>
              <a:cs typeface="Calibri"/>
              <a:sym typeface="Calibri"/>
            </a:endParaRPr>
          </a:p>
        </p:txBody>
      </p:sp>
      <p:sp>
        <p:nvSpPr>
          <p:cNvPr id="735" name="Google Shape;735;p3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3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BULK CHARGES</a:t>
            </a:r>
            <a:endParaRPr b="0" i="0" spc="0" sz="800" u="none" cap="none" strike="noStrike">
              <a:solidFill>
                <a:schemeClr val="dk1"/>
              </a:solidFill>
              <a:latin typeface="Calibri"/>
              <a:ea typeface="Calibri"/>
              <a:cs typeface="Calibri"/>
              <a:sym typeface="Calibri"/>
            </a:endParaRPr>
          </a:p>
        </p:txBody>
      </p:sp>
      <p:sp>
        <p:nvSpPr>
          <p:cNvPr id="742" name="Google Shape;742;p3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Within MCT: ETF credit or MCT reduction?</a:t>
            </a:r>
            <a:endParaRPr b="0" i="0" spc="0" sz="2400" u="none" cap="none" strike="noStrike">
              <a:solidFill>
                <a:schemeClr val="dk1"/>
              </a:solidFill>
              <a:latin typeface="Calibri"/>
              <a:ea typeface="Calibri"/>
              <a:cs typeface="Calibri"/>
              <a:sym typeface="Calibri"/>
            </a:endParaRPr>
          </a:p>
        </p:txBody>
      </p:sp>
      <p:sp>
        <p:nvSpPr>
          <p:cNvPr id="743" name="Google Shape;743;p3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Near the end of the term, run the comparison.</a:t>
            </a:r>
            <a:endParaRPr b="0" i="0" spc="0" sz="1200" u="none" cap="none" strike="noStrike">
              <a:solidFill>
                <a:schemeClr val="dk1"/>
              </a:solidFill>
              <a:latin typeface="Calibri"/>
              <a:ea typeface="Calibri"/>
              <a:cs typeface="Calibri"/>
              <a:sym typeface="Calibri"/>
            </a:endParaRPr>
          </a:p>
        </p:txBody>
      </p:sp>
      <p:sp>
        <p:nvSpPr>
          <p:cNvPr id="744" name="Google Shape;744;p32"/>
          <p:cNvSpPr/>
          <p:nvPr/>
        </p:nvSpPr>
        <p:spPr>
          <a:xfrm>
            <a:off x="411480" y="1325880"/>
            <a:ext cx="2682240" cy="1005840"/>
          </a:xfrm>
          <a:prstGeom prst="roundRect">
            <a:avLst>
              <a:gd fmla="val 727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5" name="Google Shape;745;p32"/>
          <p:cNvSpPr txBox="1"/>
          <p:nvPr/>
        </p:nvSpPr>
        <p:spPr>
          <a:xfrm>
            <a:off x="411480" y="1490472"/>
            <a:ext cx="268224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3000"/>
              <a:buFont typeface="Play"/>
              <a:buNone/>
            </a:pPr>
            <a:r>
              <a:rPr b="1" i="0" lang="en-US" spc="0" sz="3000" u="none" cap="none" strike="noStrike">
                <a:solidFill>
                  <a:srgbClr val="0B7A6F"/>
                </a:solidFill>
                <a:latin typeface="Play"/>
                <a:ea typeface="Play"/>
                <a:cs typeface="Play"/>
                <a:sym typeface="Play"/>
              </a:rPr>
              <a:t>1</a:t>
            </a:r>
            <a:endParaRPr b="0" i="0" spc="0" sz="3000" u="none" cap="none" strike="noStrike">
              <a:solidFill>
                <a:schemeClr val="dk1"/>
              </a:solidFill>
              <a:latin typeface="Calibri"/>
              <a:ea typeface="Calibri"/>
              <a:cs typeface="Calibri"/>
              <a:sym typeface="Calibri"/>
            </a:endParaRPr>
          </a:p>
        </p:txBody>
      </p:sp>
      <p:sp>
        <p:nvSpPr>
          <p:cNvPr id="746" name="Google Shape;746;p32"/>
          <p:cNvSpPr txBox="1"/>
          <p:nvPr/>
        </p:nvSpPr>
        <p:spPr>
          <a:xfrm>
            <a:off x="594360" y="2148840"/>
            <a:ext cx="2316480" cy="914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month left on MCT</a:t>
            </a:r>
            <a:endParaRPr b="0" i="0" spc="0" sz="1000" u="none" cap="none" strike="noStrike">
              <a:solidFill>
                <a:schemeClr val="dk1"/>
              </a:solidFill>
              <a:latin typeface="Calibri"/>
              <a:ea typeface="Calibri"/>
              <a:cs typeface="Calibri"/>
              <a:sym typeface="Calibri"/>
            </a:endParaRPr>
          </a:p>
        </p:txBody>
      </p:sp>
      <p:sp>
        <p:nvSpPr>
          <p:cNvPr id="747" name="Google Shape;747;p32"/>
          <p:cNvSpPr/>
          <p:nvPr/>
        </p:nvSpPr>
        <p:spPr>
          <a:xfrm>
            <a:off x="3230880" y="1325880"/>
            <a:ext cx="2682240" cy="1005840"/>
          </a:xfrm>
          <a:prstGeom prst="roundRect">
            <a:avLst>
              <a:gd fmla="val 727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8" name="Google Shape;748;p32"/>
          <p:cNvSpPr txBox="1"/>
          <p:nvPr/>
        </p:nvSpPr>
        <p:spPr>
          <a:xfrm>
            <a:off x="3230880" y="1490472"/>
            <a:ext cx="268224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3000"/>
              <a:buFont typeface="Play"/>
              <a:buNone/>
            </a:pPr>
            <a:r>
              <a:rPr b="1" i="0" lang="en-US" spc="0" sz="3000" u="none" cap="none" strike="noStrike">
                <a:solidFill>
                  <a:srgbClr val="0B7A6F"/>
                </a:solidFill>
                <a:latin typeface="Play"/>
                <a:ea typeface="Play"/>
                <a:cs typeface="Play"/>
                <a:sym typeface="Play"/>
              </a:rPr>
              <a:t>$150</a:t>
            </a:r>
            <a:endParaRPr b="0" i="0" spc="0" sz="3000" u="none" cap="none" strike="noStrike">
              <a:solidFill>
                <a:schemeClr val="dk1"/>
              </a:solidFill>
              <a:latin typeface="Calibri"/>
              <a:ea typeface="Calibri"/>
              <a:cs typeface="Calibri"/>
              <a:sym typeface="Calibri"/>
            </a:endParaRPr>
          </a:p>
        </p:txBody>
      </p:sp>
      <p:sp>
        <p:nvSpPr>
          <p:cNvPr id="749" name="Google Shape;749;p32"/>
          <p:cNvSpPr txBox="1"/>
          <p:nvPr/>
        </p:nvSpPr>
        <p:spPr>
          <a:xfrm>
            <a:off x="3413760" y="2148840"/>
            <a:ext cx="2316480" cy="914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ETF owed</a:t>
            </a:r>
            <a:endParaRPr b="0" i="0" spc="0" sz="1000" u="none" cap="none" strike="noStrike">
              <a:solidFill>
                <a:schemeClr val="dk1"/>
              </a:solidFill>
              <a:latin typeface="Calibri"/>
              <a:ea typeface="Calibri"/>
              <a:cs typeface="Calibri"/>
              <a:sym typeface="Calibri"/>
            </a:endParaRPr>
          </a:p>
        </p:txBody>
      </p:sp>
      <p:sp>
        <p:nvSpPr>
          <p:cNvPr id="750" name="Google Shape;750;p32"/>
          <p:cNvSpPr/>
          <p:nvPr/>
        </p:nvSpPr>
        <p:spPr>
          <a:xfrm>
            <a:off x="6050280" y="1325880"/>
            <a:ext cx="2682240" cy="1005840"/>
          </a:xfrm>
          <a:prstGeom prst="roundRect">
            <a:avLst>
              <a:gd fmla="val 727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51" name="Google Shape;751;p32"/>
          <p:cNvSpPr txBox="1"/>
          <p:nvPr/>
        </p:nvSpPr>
        <p:spPr>
          <a:xfrm>
            <a:off x="6050280" y="1490472"/>
            <a:ext cx="268224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3000"/>
              <a:buFont typeface="Play"/>
              <a:buNone/>
            </a:pPr>
            <a:r>
              <a:rPr b="1" i="0" lang="en-US" spc="0" sz="3000" u="none" cap="none" strike="noStrike">
                <a:solidFill>
                  <a:srgbClr val="0B7A6F"/>
                </a:solidFill>
                <a:latin typeface="Play"/>
                <a:ea typeface="Play"/>
                <a:cs typeface="Play"/>
                <a:sym typeface="Play"/>
              </a:rPr>
              <a:t>$100</a:t>
            </a:r>
            <a:endParaRPr b="0" i="0" spc="0" sz="3000" u="none" cap="none" strike="noStrike">
              <a:solidFill>
                <a:schemeClr val="dk1"/>
              </a:solidFill>
              <a:latin typeface="Calibri"/>
              <a:ea typeface="Calibri"/>
              <a:cs typeface="Calibri"/>
              <a:sym typeface="Calibri"/>
            </a:endParaRPr>
          </a:p>
        </p:txBody>
      </p:sp>
      <p:sp>
        <p:nvSpPr>
          <p:cNvPr id="752" name="Google Shape;752;p32"/>
          <p:cNvSpPr txBox="1"/>
          <p:nvPr/>
        </p:nvSpPr>
        <p:spPr>
          <a:xfrm>
            <a:off x="6233160" y="2148840"/>
            <a:ext cx="2316480" cy="914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unused bulk MFs to credit</a:t>
            </a:r>
            <a:endParaRPr b="0" i="0" spc="0" sz="1000" u="none" cap="none" strike="noStrike">
              <a:solidFill>
                <a:schemeClr val="dk1"/>
              </a:solidFill>
              <a:latin typeface="Calibri"/>
              <a:ea typeface="Calibri"/>
              <a:cs typeface="Calibri"/>
              <a:sym typeface="Calibri"/>
            </a:endParaRPr>
          </a:p>
        </p:txBody>
      </p:sp>
      <p:sp>
        <p:nvSpPr>
          <p:cNvPr id="753" name="Google Shape;753;p32"/>
          <p:cNvSpPr/>
          <p:nvPr/>
        </p:nvSpPr>
        <p:spPr>
          <a:xfrm>
            <a:off x="411480" y="2514600"/>
            <a:ext cx="4069080" cy="1325880"/>
          </a:xfrm>
          <a:prstGeom prst="roundRect">
            <a:avLst>
              <a:gd fmla="val 5517" name="adj"/>
            </a:avLst>
          </a:prstGeom>
          <a:solidFill>
            <a:srgbClr val="FFFFFF"/>
          </a:solidFill>
          <a:ln cap="flat" cmpd="sng" w="9525">
            <a:solidFill>
              <a:srgbClr val="1D1D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54" name="Google Shape;754;p32"/>
          <p:cNvSpPr/>
          <p:nvPr/>
        </p:nvSpPr>
        <p:spPr>
          <a:xfrm>
            <a:off x="411480" y="2514600"/>
            <a:ext cx="4069080" cy="329184"/>
          </a:xfrm>
          <a:prstGeom prst="roundRect">
            <a:avLst>
              <a:gd fmla="val 16667" name="adj"/>
            </a:avLst>
          </a:prstGeom>
          <a:solidFill>
            <a:srgbClr val="1D1D1F"/>
          </a:solidFill>
          <a:ln cap="flat" cmpd="sng" w="12700">
            <a:solidFill>
              <a:srgbClr val="1D1D1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ETF credit path</a:t>
            </a:r>
            <a:endParaRPr b="0" i="0" spc="0" sz="1050" u="none" cap="none" strike="noStrike">
              <a:solidFill>
                <a:schemeClr val="dk1"/>
              </a:solidFill>
              <a:latin typeface="Calibri"/>
              <a:ea typeface="Calibri"/>
              <a:cs typeface="Calibri"/>
              <a:sym typeface="Calibri"/>
            </a:endParaRPr>
          </a:p>
        </p:txBody>
      </p:sp>
      <p:sp>
        <p:nvSpPr>
          <p:cNvPr id="755" name="Google Shape;755;p32"/>
          <p:cNvSpPr txBox="1"/>
          <p:nvPr/>
        </p:nvSpPr>
        <p:spPr>
          <a:xfrm>
            <a:off x="576072" y="2953512"/>
            <a:ext cx="3739896" cy="81381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$150 ETF − $100 credit</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$50 still owed</a:t>
            </a:r>
            <a:endParaRPr b="0" i="0" spc="0" sz="950" u="none" cap="none" strike="noStrike">
              <a:solidFill>
                <a:schemeClr val="dk1"/>
              </a:solidFill>
              <a:latin typeface="Calibri"/>
              <a:ea typeface="Calibri"/>
              <a:cs typeface="Calibri"/>
              <a:sym typeface="Calibri"/>
            </a:endParaRPr>
          </a:p>
        </p:txBody>
      </p:sp>
      <p:sp>
        <p:nvSpPr>
          <p:cNvPr id="756" name="Google Shape;756;p32"/>
          <p:cNvSpPr/>
          <p:nvPr/>
        </p:nvSpPr>
        <p:spPr>
          <a:xfrm>
            <a:off x="4663440" y="2514600"/>
            <a:ext cx="4069080" cy="1325880"/>
          </a:xfrm>
          <a:prstGeom prst="roundRect">
            <a:avLst>
              <a:gd fmla="val 5517"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57" name="Google Shape;757;p32"/>
          <p:cNvSpPr/>
          <p:nvPr/>
        </p:nvSpPr>
        <p:spPr>
          <a:xfrm>
            <a:off x="4663440" y="2514600"/>
            <a:ext cx="406908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MCT reduction path: wins</a:t>
            </a:r>
            <a:endParaRPr b="0" i="0" spc="0" sz="1050" u="none" cap="none" strike="noStrike">
              <a:solidFill>
                <a:schemeClr val="dk1"/>
              </a:solidFill>
              <a:latin typeface="Calibri"/>
              <a:ea typeface="Calibri"/>
              <a:cs typeface="Calibri"/>
              <a:sym typeface="Calibri"/>
            </a:endParaRPr>
          </a:p>
        </p:txBody>
      </p:sp>
      <p:sp>
        <p:nvSpPr>
          <p:cNvPr id="758" name="Google Shape;758;p32"/>
          <p:cNvSpPr txBox="1"/>
          <p:nvPr/>
        </p:nvSpPr>
        <p:spPr>
          <a:xfrm>
            <a:off x="4828032" y="2953512"/>
            <a:ext cx="3739896" cy="81381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Reduce the last month: MCT complete</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ETF waived: $0 owed</a:t>
            </a:r>
            <a:endParaRPr b="0" i="0" spc="0" sz="950" u="none" cap="none" strike="noStrike">
              <a:solidFill>
                <a:schemeClr val="dk1"/>
              </a:solidFill>
              <a:latin typeface="Calibri"/>
              <a:ea typeface="Calibri"/>
              <a:cs typeface="Calibri"/>
              <a:sym typeface="Calibri"/>
            </a:endParaRPr>
          </a:p>
        </p:txBody>
      </p:sp>
      <p:sp>
        <p:nvSpPr>
          <p:cNvPr id="759" name="Google Shape;759;p32"/>
          <p:cNvSpPr/>
          <p:nvPr/>
        </p:nvSpPr>
        <p:spPr>
          <a:xfrm>
            <a:off x="411480" y="40233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760" name="Google Shape;760;p32"/>
          <p:cNvPicPr preferRelativeResize="0"/>
          <p:nvPr/>
        </p:nvPicPr>
        <p:blipFill rotWithShape="1">
          <a:blip r:embed="rId3">
            <a:alphaModFix/>
          </a:blip>
          <a:srcRect b="0" l="0" r="0" t="0"/>
          <a:stretch/>
        </p:blipFill>
        <p:spPr>
          <a:xfrm>
            <a:off x="566928" y="4133088"/>
            <a:ext cx="164592" cy="164592"/>
          </a:xfrm>
          <a:prstGeom prst="rect">
            <a:avLst/>
          </a:prstGeom>
          <a:noFill/>
          <a:ln>
            <a:noFill/>
          </a:ln>
        </p:spPr>
      </p:pic>
      <p:sp>
        <p:nvSpPr>
          <p:cNvPr id="761" name="Google Shape;761;p32"/>
          <p:cNvSpPr txBox="1"/>
          <p:nvPr/>
        </p:nvSpPr>
        <p:spPr>
          <a:xfrm>
            <a:off x="822960" y="41239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MCT reduction:  </a:t>
            </a:r>
            <a:r>
              <a:rPr b="0" i="0" lang="en-US" spc="0" sz="1000" u="none" cap="none" strike="noStrike">
                <a:solidFill>
                  <a:srgbClr val="1D1D1F"/>
                </a:solidFill>
                <a:latin typeface="Arial"/>
                <a:ea typeface="Arial"/>
                <a:cs typeface="Arial"/>
                <a:sym typeface="Arial"/>
              </a:rPr>
              <a:t>capped at 2 months, and only when it's cheaper than a reduced ETF.</a:t>
            </a:r>
            <a:endParaRPr b="0" i="0" spc="0" sz="1000" u="none" cap="none" strike="noStrike">
              <a:solidFill>
                <a:schemeClr val="dk1"/>
              </a:solidFill>
              <a:latin typeface="Calibri"/>
              <a:ea typeface="Calibri"/>
              <a:cs typeface="Calibri"/>
              <a:sym typeface="Calibri"/>
            </a:endParaRPr>
          </a:p>
        </p:txBody>
      </p:sp>
      <p:sp>
        <p:nvSpPr>
          <p:cNvPr id="762" name="Google Shape;762;p3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3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BULK CHARGES  ·  KNOWLEDGE CHECK</a:t>
            </a:r>
            <a:endParaRPr b="0" i="0" spc="0" sz="800" u="none" cap="none" strike="noStrike">
              <a:solidFill>
                <a:schemeClr val="dk1"/>
              </a:solidFill>
              <a:latin typeface="Calibri"/>
              <a:ea typeface="Calibri"/>
              <a:cs typeface="Calibri"/>
              <a:sym typeface="Calibri"/>
            </a:endParaRPr>
          </a:p>
        </p:txBody>
      </p:sp>
      <p:sp>
        <p:nvSpPr>
          <p:cNvPr id="769" name="Google Shape;769;p3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Let’s See What You’ve Got!</a:t>
            </a:r>
            <a:endParaRPr b="0" i="0" spc="0" sz="2400" u="none" cap="none" strike="noStrike">
              <a:solidFill>
                <a:schemeClr val="dk1"/>
              </a:solidFill>
              <a:latin typeface="Calibri"/>
              <a:ea typeface="Calibri"/>
              <a:cs typeface="Calibri"/>
              <a:sym typeface="Calibri"/>
            </a:endParaRPr>
          </a:p>
        </p:txBody>
      </p:sp>
      <p:sp>
        <p:nvSpPr>
          <p:cNvPr id="770" name="Google Shape;770;p33"/>
          <p:cNvSpPr/>
          <p:nvPr/>
        </p:nvSpPr>
        <p:spPr>
          <a:xfrm>
            <a:off x="411480" y="1280160"/>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1" name="Google Shape;771;p33"/>
          <p:cNvSpPr/>
          <p:nvPr/>
        </p:nvSpPr>
        <p:spPr>
          <a:xfrm>
            <a:off x="548640" y="153619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2" name="Google Shape;772;p33"/>
          <p:cNvSpPr txBox="1"/>
          <p:nvPr/>
        </p:nvSpPr>
        <p:spPr>
          <a:xfrm>
            <a:off x="548640" y="153619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773" name="Google Shape;773;p33"/>
          <p:cNvSpPr txBox="1"/>
          <p:nvPr/>
        </p:nvSpPr>
        <p:spPr>
          <a:xfrm>
            <a:off x="960120" y="1280160"/>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C sees four MF charges on one day. Duplicates?</a:t>
            </a:r>
            <a:endParaRPr b="0" i="0" spc="0" sz="1000" u="none" cap="none" strike="noStrike">
              <a:solidFill>
                <a:schemeClr val="dk1"/>
              </a:solidFill>
              <a:latin typeface="Calibri"/>
              <a:ea typeface="Calibri"/>
              <a:cs typeface="Calibri"/>
              <a:sym typeface="Calibri"/>
            </a:endParaRPr>
          </a:p>
        </p:txBody>
      </p:sp>
      <p:sp>
        <p:nvSpPr>
          <p:cNvPr id="774" name="Google Shape;774;p33"/>
          <p:cNvSpPr/>
          <p:nvPr/>
        </p:nvSpPr>
        <p:spPr>
          <a:xfrm>
            <a:off x="5120640" y="1280160"/>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5" name="Google Shape;775;p33"/>
          <p:cNvSpPr txBox="1"/>
          <p:nvPr/>
        </p:nvSpPr>
        <p:spPr>
          <a:xfrm>
            <a:off x="5257800" y="1280160"/>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No. Each is a different missed month, billed at once.</a:t>
            </a:r>
            <a:endParaRPr b="0" i="0" spc="0" sz="900" u="none" cap="none" strike="noStrike">
              <a:solidFill>
                <a:schemeClr val="dk1"/>
              </a:solidFill>
              <a:latin typeface="Calibri"/>
              <a:ea typeface="Calibri"/>
              <a:cs typeface="Calibri"/>
              <a:sym typeface="Calibri"/>
            </a:endParaRPr>
          </a:p>
        </p:txBody>
      </p:sp>
      <p:sp>
        <p:nvSpPr>
          <p:cNvPr id="776" name="Google Shape;776;p33"/>
          <p:cNvSpPr/>
          <p:nvPr/>
        </p:nvSpPr>
        <p:spPr>
          <a:xfrm>
            <a:off x="411480" y="2139696"/>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7" name="Google Shape;777;p33"/>
          <p:cNvSpPr/>
          <p:nvPr/>
        </p:nvSpPr>
        <p:spPr>
          <a:xfrm>
            <a:off x="548640" y="23957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8" name="Google Shape;778;p33"/>
          <p:cNvSpPr txBox="1"/>
          <p:nvPr/>
        </p:nvSpPr>
        <p:spPr>
          <a:xfrm>
            <a:off x="548640" y="23957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779" name="Google Shape;779;p33"/>
          <p:cNvSpPr txBox="1"/>
          <p:nvPr/>
        </p:nvSpPr>
        <p:spPr>
          <a:xfrm>
            <a:off x="960120" y="2139696"/>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Unrelated ticket: FC overdue by 1 MF, next charge in 5 days. Action?</a:t>
            </a:r>
            <a:endParaRPr b="0" i="0" spc="0" sz="1000" u="none" cap="none" strike="noStrike">
              <a:solidFill>
                <a:schemeClr val="dk1"/>
              </a:solidFill>
              <a:latin typeface="Calibri"/>
              <a:ea typeface="Calibri"/>
              <a:cs typeface="Calibri"/>
              <a:sym typeface="Calibri"/>
            </a:endParaRPr>
          </a:p>
        </p:txBody>
      </p:sp>
      <p:sp>
        <p:nvSpPr>
          <p:cNvPr id="780" name="Google Shape;780;p33"/>
          <p:cNvSpPr/>
          <p:nvPr/>
        </p:nvSpPr>
        <p:spPr>
          <a:xfrm>
            <a:off x="5120640" y="2139696"/>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81" name="Google Shape;781;p33"/>
          <p:cNvSpPr txBox="1"/>
          <p:nvPr/>
        </p:nvSpPr>
        <p:spPr>
          <a:xfrm>
            <a:off x="5257800" y="2139696"/>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Issue 1 free month.</a:t>
            </a:r>
            <a:endParaRPr b="0" i="0" spc="0" sz="900" u="none" cap="none" strike="noStrike">
              <a:solidFill>
                <a:schemeClr val="dk1"/>
              </a:solidFill>
              <a:latin typeface="Calibri"/>
              <a:ea typeface="Calibri"/>
              <a:cs typeface="Calibri"/>
              <a:sym typeface="Calibri"/>
            </a:endParaRPr>
          </a:p>
        </p:txBody>
      </p:sp>
      <p:sp>
        <p:nvSpPr>
          <p:cNvPr id="782" name="Google Shape;782;p33"/>
          <p:cNvSpPr/>
          <p:nvPr/>
        </p:nvSpPr>
        <p:spPr>
          <a:xfrm>
            <a:off x="411480" y="2999232"/>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83" name="Google Shape;783;p33"/>
          <p:cNvSpPr/>
          <p:nvPr/>
        </p:nvSpPr>
        <p:spPr>
          <a:xfrm>
            <a:off x="548640" y="325526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84" name="Google Shape;784;p33"/>
          <p:cNvSpPr txBox="1"/>
          <p:nvPr/>
        </p:nvSpPr>
        <p:spPr>
          <a:xfrm>
            <a:off x="548640" y="325526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785" name="Google Shape;785;p33"/>
          <p:cNvSpPr txBox="1"/>
          <p:nvPr/>
        </p:nvSpPr>
        <p:spPr>
          <a:xfrm>
            <a:off x="960120" y="2999232"/>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Overdue July 10 and Aug 10, today is Aug 24. Free months? New next MF?</a:t>
            </a:r>
            <a:endParaRPr b="0" i="0" spc="0" sz="1000" u="none" cap="none" strike="noStrike">
              <a:solidFill>
                <a:schemeClr val="dk1"/>
              </a:solidFill>
              <a:latin typeface="Calibri"/>
              <a:ea typeface="Calibri"/>
              <a:cs typeface="Calibri"/>
              <a:sym typeface="Calibri"/>
            </a:endParaRPr>
          </a:p>
        </p:txBody>
      </p:sp>
      <p:sp>
        <p:nvSpPr>
          <p:cNvPr id="786" name="Google Shape;786;p33"/>
          <p:cNvSpPr/>
          <p:nvPr/>
        </p:nvSpPr>
        <p:spPr>
          <a:xfrm>
            <a:off x="5120640" y="2999232"/>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87" name="Google Shape;787;p33"/>
          <p:cNvSpPr txBox="1"/>
          <p:nvPr/>
        </p:nvSpPr>
        <p:spPr>
          <a:xfrm>
            <a:off x="5257800" y="2999232"/>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2 free months. Paid-through Aug 10, next MF Sept 10.</a:t>
            </a:r>
            <a:endParaRPr b="0" i="0" spc="0" sz="900" u="none" cap="none" strike="noStrike">
              <a:solidFill>
                <a:schemeClr val="dk1"/>
              </a:solidFill>
              <a:latin typeface="Calibri"/>
              <a:ea typeface="Calibri"/>
              <a:cs typeface="Calibri"/>
              <a:sym typeface="Calibri"/>
            </a:endParaRPr>
          </a:p>
        </p:txBody>
      </p:sp>
      <p:sp>
        <p:nvSpPr>
          <p:cNvPr id="788" name="Google Shape;788;p33"/>
          <p:cNvSpPr/>
          <p:nvPr/>
        </p:nvSpPr>
        <p:spPr>
          <a:xfrm>
            <a:off x="411480" y="3858768"/>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89" name="Google Shape;789;p33"/>
          <p:cNvSpPr/>
          <p:nvPr/>
        </p:nvSpPr>
        <p:spPr>
          <a:xfrm>
            <a:off x="548640" y="41148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90" name="Google Shape;790;p33"/>
          <p:cNvSpPr txBox="1"/>
          <p:nvPr/>
        </p:nvSpPr>
        <p:spPr>
          <a:xfrm>
            <a:off x="548640" y="41148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4</a:t>
            </a:r>
            <a:endParaRPr b="0" i="0" spc="0" sz="900" u="none" cap="none" strike="noStrike">
              <a:solidFill>
                <a:schemeClr val="dk1"/>
              </a:solidFill>
              <a:latin typeface="Calibri"/>
              <a:ea typeface="Calibri"/>
              <a:cs typeface="Calibri"/>
              <a:sym typeface="Calibri"/>
            </a:endParaRPr>
          </a:p>
        </p:txBody>
      </p:sp>
      <p:sp>
        <p:nvSpPr>
          <p:cNvPr id="791" name="Google Shape;791;p33"/>
          <p:cNvSpPr txBox="1"/>
          <p:nvPr/>
        </p:nvSpPr>
        <p:spPr>
          <a:xfrm>
            <a:off x="960120" y="3858768"/>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1 month left on MCT, $150 ETF, $100 unused bulk MFs. Best exit?</a:t>
            </a:r>
            <a:endParaRPr b="0" i="0" spc="0" sz="1000" u="none" cap="none" strike="noStrike">
              <a:solidFill>
                <a:schemeClr val="dk1"/>
              </a:solidFill>
              <a:latin typeface="Calibri"/>
              <a:ea typeface="Calibri"/>
              <a:cs typeface="Calibri"/>
              <a:sym typeface="Calibri"/>
            </a:endParaRPr>
          </a:p>
        </p:txBody>
      </p:sp>
      <p:sp>
        <p:nvSpPr>
          <p:cNvPr id="792" name="Google Shape;792;p33"/>
          <p:cNvSpPr/>
          <p:nvPr/>
        </p:nvSpPr>
        <p:spPr>
          <a:xfrm>
            <a:off x="5120640" y="3858768"/>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93" name="Google Shape;793;p33"/>
          <p:cNvSpPr txBox="1"/>
          <p:nvPr/>
        </p:nvSpPr>
        <p:spPr>
          <a:xfrm>
            <a:off x="5257800" y="3858768"/>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Reduce the MCT: ETF waived, $0 owed (vs $50).</a:t>
            </a:r>
            <a:endParaRPr b="0" i="0" spc="0" sz="900" u="none" cap="none" strike="noStrike">
              <a:solidFill>
                <a:schemeClr val="dk1"/>
              </a:solidFill>
              <a:latin typeface="Calibri"/>
              <a:ea typeface="Calibri"/>
              <a:cs typeface="Calibri"/>
              <a:sym typeface="Calibri"/>
            </a:endParaRPr>
          </a:p>
        </p:txBody>
      </p:sp>
      <p:sp>
        <p:nvSpPr>
          <p:cNvPr id="794" name="Google Shape;794;p3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5"/>
                                        </p:tgtEl>
                                        <p:attrNameLst>
                                          <p:attrName>style.visibility</p:attrName>
                                        </p:attrNameLst>
                                      </p:cBhvr>
                                      <p:to>
                                        <p:strVal val="visible"/>
                                      </p:to>
                                    </p:set>
                                    <p:animEffect filter="fade" transition="in">
                                      <p:cBhvr>
                                        <p:cTn dur="600"/>
                                        <p:tgtEl>
                                          <p:spTgt spid="7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1"/>
                                        </p:tgtEl>
                                        <p:attrNameLst>
                                          <p:attrName>style.visibility</p:attrName>
                                        </p:attrNameLst>
                                      </p:cBhvr>
                                      <p:to>
                                        <p:strVal val="visible"/>
                                      </p:to>
                                    </p:set>
                                    <p:animEffect filter="fade" transition="in">
                                      <p:cBhvr>
                                        <p:cTn dur="600"/>
                                        <p:tgtEl>
                                          <p:spTgt spid="7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7"/>
                                        </p:tgtEl>
                                        <p:attrNameLst>
                                          <p:attrName>style.visibility</p:attrName>
                                        </p:attrNameLst>
                                      </p:cBhvr>
                                      <p:to>
                                        <p:strVal val="visible"/>
                                      </p:to>
                                    </p:set>
                                    <p:animEffect filter="fade" transition="in">
                                      <p:cBhvr>
                                        <p:cTn dur="600"/>
                                        <p:tgtEl>
                                          <p:spTgt spid="7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3"/>
                                        </p:tgtEl>
                                        <p:attrNameLst>
                                          <p:attrName>style.visibility</p:attrName>
                                        </p:attrNameLst>
                                      </p:cBhvr>
                                      <p:to>
                                        <p:strVal val="visible"/>
                                      </p:to>
                                    </p:set>
                                    <p:animEffect filter="fade" transition="in">
                                      <p:cBhvr>
                                        <p:cTn dur="600"/>
                                        <p:tgtEl>
                                          <p:spTgt spid="7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3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BULK CHARGES  ·  PRACTICE</a:t>
            </a:r>
            <a:endParaRPr b="0" i="0" spc="0" sz="800" u="none" cap="none" strike="noStrike">
              <a:solidFill>
                <a:schemeClr val="dk1"/>
              </a:solidFill>
              <a:latin typeface="Calibri"/>
              <a:ea typeface="Calibri"/>
              <a:cs typeface="Calibri"/>
              <a:sym typeface="Calibri"/>
            </a:endParaRPr>
          </a:p>
        </p:txBody>
      </p:sp>
      <p:sp>
        <p:nvSpPr>
          <p:cNvPr id="801" name="Google Shape;801;p3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Let's investigate together!</a:t>
            </a:r>
            <a:endParaRPr b="0" i="0" spc="0" sz="2400" u="none" cap="none" strike="noStrike">
              <a:solidFill>
                <a:schemeClr val="dk1"/>
              </a:solidFill>
              <a:latin typeface="Calibri"/>
              <a:ea typeface="Calibri"/>
              <a:cs typeface="Calibri"/>
              <a:sym typeface="Calibri"/>
            </a:endParaRPr>
          </a:p>
        </p:txBody>
      </p:sp>
      <p:sp>
        <p:nvSpPr>
          <p:cNvPr id="802" name="Google Shape;802;p3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Review the live ticket and investigate.</a:t>
            </a:r>
            <a:endParaRPr b="0" i="0" spc="0" sz="1200" u="none" cap="none" strike="noStrike">
              <a:solidFill>
                <a:schemeClr val="dk1"/>
              </a:solidFill>
              <a:latin typeface="Calibri"/>
              <a:ea typeface="Calibri"/>
              <a:cs typeface="Calibri"/>
              <a:sym typeface="Calibri"/>
            </a:endParaRPr>
          </a:p>
        </p:txBody>
      </p:sp>
      <p:sp>
        <p:nvSpPr>
          <p:cNvPr id="803" name="Google Shape;803;p34"/>
          <p:cNvSpPr/>
          <p:nvPr/>
        </p:nvSpPr>
        <p:spPr>
          <a:xfrm>
            <a:off x="411480" y="1298448"/>
            <a:ext cx="3383280" cy="2633472"/>
          </a:xfrm>
          <a:prstGeom prst="roundRect">
            <a:avLst>
              <a:gd fmla="val 27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04" name="Google Shape;804;p34"/>
          <p:cNvSpPr/>
          <p:nvPr/>
        </p:nvSpPr>
        <p:spPr>
          <a:xfrm>
            <a:off x="594360" y="1481328"/>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805" name="Google Shape;805;p34"/>
          <p:cNvPicPr preferRelativeResize="0"/>
          <p:nvPr/>
        </p:nvPicPr>
        <p:blipFill rotWithShape="1">
          <a:blip r:embed="rId3">
            <a:alphaModFix/>
          </a:blip>
          <a:srcRect b="0" l="0" r="0" t="0"/>
          <a:stretch/>
        </p:blipFill>
        <p:spPr>
          <a:xfrm>
            <a:off x="686532" y="1573500"/>
            <a:ext cx="199705" cy="199705"/>
          </a:xfrm>
          <a:prstGeom prst="rect">
            <a:avLst/>
          </a:prstGeom>
          <a:noFill/>
          <a:ln>
            <a:noFill/>
          </a:ln>
        </p:spPr>
      </p:pic>
      <p:sp>
        <p:nvSpPr>
          <p:cNvPr id="806" name="Google Shape;806;p34"/>
          <p:cNvSpPr txBox="1"/>
          <p:nvPr/>
        </p:nvSpPr>
        <p:spPr>
          <a:xfrm>
            <a:off x="594360" y="2011680"/>
            <a:ext cx="301752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US" spc="0" sz="1300" u="none" cap="none" strike="noStrike">
                <a:solidFill>
                  <a:srgbClr val="1D1D1F"/>
                </a:solidFill>
                <a:latin typeface="Play"/>
                <a:ea typeface="Play"/>
                <a:cs typeface="Play"/>
                <a:sym typeface="Play"/>
              </a:rPr>
              <a:t>Live ticket</a:t>
            </a:r>
            <a:endParaRPr b="0" i="0" spc="0" sz="1300" u="none" cap="none" strike="noStrike">
              <a:solidFill>
                <a:schemeClr val="dk1"/>
              </a:solidFill>
              <a:latin typeface="Calibri"/>
              <a:ea typeface="Calibri"/>
              <a:cs typeface="Calibri"/>
              <a:sym typeface="Calibri"/>
            </a:endParaRPr>
          </a:p>
        </p:txBody>
      </p:sp>
      <p:sp>
        <p:nvSpPr>
          <p:cNvPr id="807" name="Google Shape;807;p34"/>
          <p:cNvSpPr txBox="1"/>
          <p:nvPr/>
        </p:nvSpPr>
        <p:spPr>
          <a:xfrm>
            <a:off x="594360" y="2350008"/>
            <a:ext cx="301752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050"/>
              <a:buFont typeface="Arial"/>
              <a:buNone/>
            </a:pPr>
            <a:r>
              <a:rPr b="0" i="0" lang="en-US" spc="0" sz="1050" u="none" cap="none" strike="noStrike">
                <a:solidFill>
                  <a:srgbClr val="6E6E73"/>
                </a:solidFill>
                <a:latin typeface="Arial"/>
                <a:ea typeface="Arial"/>
                <a:cs typeface="Arial"/>
                <a:sym typeface="Arial"/>
              </a:rPr>
              <a:t>Your trainer will provide a live ticket. Review it and investigate before you decide anything.</a:t>
            </a:r>
            <a:endParaRPr b="0" i="0" spc="0" sz="1050" u="none" cap="none" strike="noStrike">
              <a:solidFill>
                <a:schemeClr val="dk1"/>
              </a:solidFill>
              <a:latin typeface="Calibri"/>
              <a:ea typeface="Calibri"/>
              <a:cs typeface="Calibri"/>
              <a:sym typeface="Calibri"/>
            </a:endParaRPr>
          </a:p>
        </p:txBody>
      </p:sp>
      <p:sp>
        <p:nvSpPr>
          <p:cNvPr id="808" name="Google Shape;808;p34"/>
          <p:cNvSpPr/>
          <p:nvPr/>
        </p:nvSpPr>
        <p:spPr>
          <a:xfrm>
            <a:off x="594360" y="3401568"/>
            <a:ext cx="1371600" cy="329184"/>
          </a:xfrm>
          <a:prstGeom prst="roundRect">
            <a:avLst>
              <a:gd fmla="val 22222" name="adj"/>
            </a:avLst>
          </a:prstGeom>
          <a:solidFill>
            <a:srgbClr val="FFF3D6"/>
          </a:solidFill>
          <a:ln cap="flat" cmpd="sng" w="9525">
            <a:solidFill>
              <a:srgbClr val="FFF3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950"/>
              <a:buFont typeface="Arial"/>
              <a:buNone/>
            </a:pPr>
            <a:r>
              <a:rPr b="1" i="0" lang="en-US" spc="0" sz="950" u="none" cap="none" strike="noStrike">
                <a:solidFill>
                  <a:srgbClr val="9A6410"/>
                </a:solidFill>
                <a:latin typeface="Arial"/>
                <a:ea typeface="Arial"/>
                <a:cs typeface="Arial"/>
                <a:sym typeface="Arial"/>
              </a:rPr>
              <a:t>Trainer provides</a:t>
            </a:r>
            <a:endParaRPr b="0" i="0" spc="0" sz="950" u="none" cap="none" strike="noStrike">
              <a:solidFill>
                <a:schemeClr val="dk1"/>
              </a:solidFill>
              <a:latin typeface="Calibri"/>
              <a:ea typeface="Calibri"/>
              <a:cs typeface="Calibri"/>
              <a:sym typeface="Calibri"/>
            </a:endParaRPr>
          </a:p>
        </p:txBody>
      </p:sp>
      <p:sp>
        <p:nvSpPr>
          <p:cNvPr id="809" name="Google Shape;809;p34"/>
          <p:cNvSpPr/>
          <p:nvPr/>
        </p:nvSpPr>
        <p:spPr>
          <a:xfrm>
            <a:off x="3931920" y="1298448"/>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0" name="Google Shape;810;p34"/>
          <p:cNvSpPr/>
          <p:nvPr/>
        </p:nvSpPr>
        <p:spPr>
          <a:xfrm>
            <a:off x="4114800"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1" name="Google Shape;811;p34"/>
          <p:cNvSpPr txBox="1"/>
          <p:nvPr/>
        </p:nvSpPr>
        <p:spPr>
          <a:xfrm>
            <a:off x="4114800" y="15544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812" name="Google Shape;812;p34"/>
          <p:cNvSpPr txBox="1"/>
          <p:nvPr/>
        </p:nvSpPr>
        <p:spPr>
          <a:xfrm>
            <a:off x="4572000" y="1426464"/>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Which branch is it?</a:t>
            </a:r>
            <a:endParaRPr b="0" i="0" spc="0" sz="1250" u="none" cap="none" strike="noStrike">
              <a:solidFill>
                <a:schemeClr val="dk1"/>
              </a:solidFill>
              <a:latin typeface="Calibri"/>
              <a:ea typeface="Calibri"/>
              <a:cs typeface="Calibri"/>
              <a:sym typeface="Calibri"/>
            </a:endParaRPr>
          </a:p>
        </p:txBody>
      </p:sp>
      <p:sp>
        <p:nvSpPr>
          <p:cNvPr id="813" name="Google Shape;813;p34"/>
          <p:cNvSpPr txBox="1"/>
          <p:nvPr/>
        </p:nvSpPr>
        <p:spPr>
          <a:xfrm>
            <a:off x="4572000" y="1737360"/>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A, B or C? Still overdue? Within MCT?</a:t>
            </a:r>
            <a:endParaRPr b="0" i="0" spc="0" sz="1000" u="none" cap="none" strike="noStrike">
              <a:solidFill>
                <a:schemeClr val="dk1"/>
              </a:solidFill>
              <a:latin typeface="Calibri"/>
              <a:ea typeface="Calibri"/>
              <a:cs typeface="Calibri"/>
              <a:sym typeface="Calibri"/>
            </a:endParaRPr>
          </a:p>
        </p:txBody>
      </p:sp>
      <p:sp>
        <p:nvSpPr>
          <p:cNvPr id="814" name="Google Shape;814;p34"/>
          <p:cNvSpPr/>
          <p:nvPr/>
        </p:nvSpPr>
        <p:spPr>
          <a:xfrm>
            <a:off x="3931920" y="2221992"/>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5" name="Google Shape;815;p34"/>
          <p:cNvSpPr/>
          <p:nvPr/>
        </p:nvSpPr>
        <p:spPr>
          <a:xfrm>
            <a:off x="4114800" y="247802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6" name="Google Shape;816;p34"/>
          <p:cNvSpPr txBox="1"/>
          <p:nvPr/>
        </p:nvSpPr>
        <p:spPr>
          <a:xfrm>
            <a:off x="4114800" y="247802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817" name="Google Shape;817;p34"/>
          <p:cNvSpPr txBox="1"/>
          <p:nvPr/>
        </p:nvSpPr>
        <p:spPr>
          <a:xfrm>
            <a:off x="4572000" y="2350008"/>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What actions are you going to take?</a:t>
            </a:r>
            <a:endParaRPr b="0" i="0" spc="0" sz="1250" u="none" cap="none" strike="noStrike">
              <a:solidFill>
                <a:schemeClr val="dk1"/>
              </a:solidFill>
              <a:latin typeface="Calibri"/>
              <a:ea typeface="Calibri"/>
              <a:cs typeface="Calibri"/>
              <a:sym typeface="Calibri"/>
            </a:endParaRPr>
          </a:p>
        </p:txBody>
      </p:sp>
      <p:sp>
        <p:nvSpPr>
          <p:cNvPr id="818" name="Google Shape;818;p34"/>
          <p:cNvSpPr txBox="1"/>
          <p:nvPr/>
        </p:nvSpPr>
        <p:spPr>
          <a:xfrm>
            <a:off x="4572000" y="2660904"/>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Free months, refund, $20 credit, ETF vs MCT.</a:t>
            </a:r>
            <a:endParaRPr b="0" i="0" spc="0" sz="1000" u="none" cap="none" strike="noStrike">
              <a:solidFill>
                <a:schemeClr val="dk1"/>
              </a:solidFill>
              <a:latin typeface="Calibri"/>
              <a:ea typeface="Calibri"/>
              <a:cs typeface="Calibri"/>
              <a:sym typeface="Calibri"/>
            </a:endParaRPr>
          </a:p>
        </p:txBody>
      </p:sp>
      <p:sp>
        <p:nvSpPr>
          <p:cNvPr id="819" name="Google Shape;819;p34"/>
          <p:cNvSpPr/>
          <p:nvPr/>
        </p:nvSpPr>
        <p:spPr>
          <a:xfrm>
            <a:off x="3931920" y="3145536"/>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0" name="Google Shape;820;p34"/>
          <p:cNvSpPr/>
          <p:nvPr/>
        </p:nvSpPr>
        <p:spPr>
          <a:xfrm>
            <a:off x="4114800" y="340156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1" name="Google Shape;821;p34"/>
          <p:cNvSpPr txBox="1"/>
          <p:nvPr/>
        </p:nvSpPr>
        <p:spPr>
          <a:xfrm>
            <a:off x="4114800" y="340156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822" name="Google Shape;822;p34"/>
          <p:cNvSpPr txBox="1"/>
          <p:nvPr/>
        </p:nvSpPr>
        <p:spPr>
          <a:xfrm>
            <a:off x="4572000" y="3273552"/>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5-min writing challenge</a:t>
            </a:r>
            <a:endParaRPr b="0" i="0" spc="0" sz="1250" u="none" cap="none" strike="noStrike">
              <a:solidFill>
                <a:schemeClr val="dk1"/>
              </a:solidFill>
              <a:latin typeface="Calibri"/>
              <a:ea typeface="Calibri"/>
              <a:cs typeface="Calibri"/>
              <a:sym typeface="Calibri"/>
            </a:endParaRPr>
          </a:p>
        </p:txBody>
      </p:sp>
      <p:sp>
        <p:nvSpPr>
          <p:cNvPr id="823" name="Google Shape;823;p34"/>
          <p:cNvSpPr txBox="1"/>
          <p:nvPr/>
        </p:nvSpPr>
        <p:spPr>
          <a:xfrm>
            <a:off x="4572000" y="3584448"/>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Explain the charges and your offer.</a:t>
            </a:r>
            <a:endParaRPr b="0" i="0" spc="0" sz="1000" u="none" cap="none" strike="noStrike">
              <a:solidFill>
                <a:schemeClr val="dk1"/>
              </a:solidFill>
              <a:latin typeface="Calibri"/>
              <a:ea typeface="Calibri"/>
              <a:cs typeface="Calibri"/>
              <a:sym typeface="Calibri"/>
            </a:endParaRPr>
          </a:p>
        </p:txBody>
      </p:sp>
      <p:sp>
        <p:nvSpPr>
          <p:cNvPr id="824" name="Google Shape;824;p34"/>
          <p:cNvSpPr/>
          <p:nvPr/>
        </p:nvSpPr>
        <p:spPr>
          <a:xfrm>
            <a:off x="411480" y="4069080"/>
            <a:ext cx="8321040" cy="502920"/>
          </a:xfrm>
          <a:prstGeom prst="roundRect">
            <a:avLst>
              <a:gd fmla="val 14545"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825" name="Google Shape;825;p34"/>
          <p:cNvPicPr preferRelativeResize="0"/>
          <p:nvPr/>
        </p:nvPicPr>
        <p:blipFill rotWithShape="1">
          <a:blip r:embed="rId4">
            <a:alphaModFix/>
          </a:blip>
          <a:srcRect b="0" l="0" r="0" t="0"/>
          <a:stretch/>
        </p:blipFill>
        <p:spPr>
          <a:xfrm>
            <a:off x="640080" y="4192524"/>
            <a:ext cx="256032" cy="256032"/>
          </a:xfrm>
          <a:prstGeom prst="rect">
            <a:avLst/>
          </a:prstGeom>
          <a:noFill/>
          <a:ln>
            <a:noFill/>
          </a:ln>
        </p:spPr>
      </p:pic>
      <p:sp>
        <p:nvSpPr>
          <p:cNvPr id="826" name="Google Shape;826;p34"/>
          <p:cNvSpPr txBox="1"/>
          <p:nvPr/>
        </p:nvSpPr>
        <p:spPr>
          <a:xfrm>
            <a:off x="1051560" y="4069080"/>
            <a:ext cx="74980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Play"/>
              <a:buNone/>
            </a:pPr>
            <a:r>
              <a:rPr b="1" i="0" lang="en-US" spc="0" sz="1400" u="none" cap="none" strike="noStrike">
                <a:solidFill>
                  <a:srgbClr val="FFFFFF"/>
                </a:solidFill>
                <a:latin typeface="Play"/>
                <a:ea typeface="Play"/>
                <a:cs typeface="Play"/>
                <a:sym typeface="Play"/>
              </a:rPr>
              <a:t>Questions?  </a:t>
            </a:r>
            <a:r>
              <a:rPr b="0" i="0" lang="en-US" spc="0" sz="1100" u="none" cap="none" strike="noStrike">
                <a:solidFill>
                  <a:srgbClr val="FFFFFF"/>
                </a:solidFill>
                <a:latin typeface="Arial"/>
                <a:ea typeface="Arial"/>
                <a:cs typeface="Arial"/>
                <a:sym typeface="Arial"/>
              </a:rPr>
              <a:t>Open the floor before we move to the next topic.</a:t>
            </a:r>
            <a:endParaRPr b="0" i="0" spc="0" sz="1400" u="none" cap="none" strike="noStrike">
              <a:solidFill>
                <a:schemeClr val="dk1"/>
              </a:solidFill>
              <a:latin typeface="Calibri"/>
              <a:ea typeface="Calibri"/>
              <a:cs typeface="Calibri"/>
              <a:sym typeface="Calibri"/>
            </a:endParaRPr>
          </a:p>
        </p:txBody>
      </p:sp>
      <p:sp>
        <p:nvSpPr>
          <p:cNvPr id="827" name="Google Shape;827;p3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35"/>
          <p:cNvSpPr txBox="1"/>
          <p:nvPr/>
        </p:nvSpPr>
        <p:spPr>
          <a:xfrm>
            <a:off x="566928" y="1737360"/>
            <a:ext cx="4572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WRAP-UP</a:t>
            </a:r>
            <a:endParaRPr b="0" i="0" spc="0" sz="800" u="none" cap="none" strike="noStrike">
              <a:solidFill>
                <a:schemeClr val="dk1"/>
              </a:solidFill>
              <a:latin typeface="Calibri"/>
              <a:ea typeface="Calibri"/>
              <a:cs typeface="Calibri"/>
              <a:sym typeface="Calibri"/>
            </a:endParaRPr>
          </a:p>
        </p:txBody>
      </p:sp>
      <p:sp>
        <p:nvSpPr>
          <p:cNvPr id="834" name="Google Shape;834;p35"/>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US" spc="0" sz="3400" u="none" cap="none" strike="noStrike">
                <a:solidFill>
                  <a:srgbClr val="1D1D1F"/>
                </a:solidFill>
                <a:latin typeface="Play"/>
                <a:ea typeface="Play"/>
                <a:cs typeface="Play"/>
                <a:sym typeface="Play"/>
              </a:rPr>
              <a:t>Thank you!</a:t>
            </a:r>
            <a:endParaRPr b="0" i="0" spc="0" sz="3400" u="none" cap="none" strike="noStrike">
              <a:solidFill>
                <a:schemeClr val="dk1"/>
              </a:solidFill>
              <a:latin typeface="Calibri"/>
              <a:ea typeface="Calibri"/>
              <a:cs typeface="Calibri"/>
              <a:sym typeface="Calibri"/>
            </a:endParaRPr>
          </a:p>
        </p:txBody>
      </p:sp>
      <p:sp>
        <p:nvSpPr>
          <p:cNvPr id="835" name="Google Shape;835;p35"/>
          <p:cNvSpPr txBox="1"/>
          <p:nvPr/>
        </p:nvSpPr>
        <p:spPr>
          <a:xfrm>
            <a:off x="566928" y="26974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When in doubt, check the Knowledge Library or ask your Trainer or Team Lead.</a:t>
            </a:r>
            <a:endParaRPr b="0" i="0" spc="0" sz="1200" u="none" cap="none" strike="noStrike">
              <a:solidFill>
                <a:schemeClr val="dk1"/>
              </a:solidFill>
              <a:latin typeface="Calibri"/>
              <a:ea typeface="Calibri"/>
              <a:cs typeface="Calibri"/>
              <a:sym typeface="Calibri"/>
            </a:endParaRPr>
          </a:p>
        </p:txBody>
      </p:sp>
      <p:sp>
        <p:nvSpPr>
          <p:cNvPr id="836" name="Google Shape;836;p35"/>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7" name="Google Shape;837;p35"/>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9/ill9.png" id="838" name="Google Shape;838;p35"/>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839" name="Google Shape;839;p35"/>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0" name="Google Shape;840;p35"/>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1" name="Google Shape;841;p35"/>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2" name="Google Shape;842;p35"/>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3" name="Google Shape;843;p35"/>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4" name="Google Shape;844;p35"/>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5" name="Google Shape;845;p3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