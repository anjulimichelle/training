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5143500" cy="9144000"/>
  <p:embeddedFontLst>
    <p:embeddedFont>
      <p:font typeface="Play"/>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5439645-7851-4F04-B77D-6FBB5DB2D7FE}">
  <a:tblStyle styleId="{25439645-7851-4F04-B77D-6FBB5DB2D7F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Play-bold.fntdata"/><Relationship Id="rId27" Type="http://schemas.openxmlformats.org/officeDocument/2006/relationships/font" Target="fonts/Play-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This module covers two Knowledge Library articles from the Retention and Membership Cancellation category: Customer Agreed to Keep MCT (a customer who plans to complete their Minimum Commitment Term and then cancel, to avoid the ETF), and CP Reported C's Home as Biohazardous or Unsanitary (the customer-side actions after a CP's report has been validated). The thread through both: act within the terms the customer agreed to, set the right Timed Reminders, and give the customer a fair chance before closing things out.</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Topic 1 covers customers who agree to complete their MCT and cancel afterwards: what to say (and not say) about the ETF, why not to waive it, and what to do when the Timed Reminder triggers. Topic 2 covers the customer side of a validated CP biohazard or hoarder report: the 1st Response warning, the 2nd Response evaluation, and refunds by membership status. In slideshow mode, click any topic to jump straight to it.</a:t>
            </a:r>
            <a:endParaRPr/>
          </a:p>
        </p:txBody>
      </p:sp>
      <p:sp>
        <p:nvSpPr>
          <p:cNvPr id="37" name="Google Shape;3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Customer Agreed to Keep MCT (Customer Agreed to Fulfill MCT). Category: Retention and Membership Cancellation. This covers a customer who intends to complete their Minimum Commitment Term and then cancel, usually saying so explicitly, sometimes just by not booking any cleanings during that period, in order to avoid paying the Early Termination Fee.</a:t>
            </a:r>
            <a:endParaRPr/>
          </a:p>
        </p:txBody>
      </p:sp>
      <p:sp>
        <p:nvSpPr>
          <p:cNvPr id="52" name="Google Shape;5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What is this: a customer who intends to complete their Minimum Commitment Term and then cancel, usually explicitly stating this, sometimes just by not booking any cleanings during that period, in order to avoid paying the Early Termination Fee. Why this matters: the instinct is tricky in both directions. Trap 1: some agents over-warn the customer about the ETF when they've already made peace with paying off the term, which just sounds naggy. Trap 2: others think "they're not using the service, we've basically already been paid enough" and waive the ETF as the path of least resistance. That's the wrong call. When the customer hasn't booked any jobs on purpose, it requires real judgment, because it's easy to talk yourself into the wrong answer. Example: the customer has 1 invoiced job and 4 paid months, the ETF is $105, and they ask when they'll hit their MCT because they plan to cancel then. The reasoning trap: "the unused monthly fees basically already cover the ETF" or "we've already earned enough from them". Neither is a valid reason to waive the ETF. The customer isn't disputing anything, and nothing unfair has happened to them: they've simply accepted the financial terms and are planning around them. A waiver exists to fix something unfair or relieve a real burden. There's neither here. Don't waive the ETF. Why this matters for the business: MCT and ETF exist to keep terms fair and consistent for everyone. Waiving it here, just because a customer chose not to book and the math looks favorable, undermines the policy and sets an unrealistic precedent for every other customer who did book and is paying the ETF as agreed.</a:t>
            </a:r>
            <a:endParaRPr/>
          </a:p>
        </p:txBody>
      </p:sp>
      <p:sp>
        <p:nvSpPr>
          <p:cNvPr id="83" name="Google Shape;8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the customer explicitly mentions paying off the MCT. Example: "I would like to cancel my membership. The agent who signed me up said she would allow me to cancel in 4 months without penalty. I would like to cancel in the 4th month without penalty as promised." Do: 1) Don't remind or warn about the ETF: since they've already agreed to complete the term, bringing it up again can feel unnecessary or even aggravating. 2) Acknowledge and confirm their intent to fulfill the membership term. 3) Create a Timed Reminder for the day after the MF that fulfills the MCT is charged, so you're prompted to follow up. 4) Advise them plainly: "We've noted your request and will follow up once your minimum commitment term is fulfilled." 5) Still probe to understand what's driving the planned cancellation. Since the customer isn't actually cancelling yet, don't make the probe sound like a cancellation interview or an attempt to talk them out of it. Keep it conversational and caring. Sample probe: "Got it! We can definitely note that for you. Since you're still early in your membership and just planning ahead, can I ask what's making you feel you may not want to continue after the six months? And how was your cleaning with &lt;&lt;cleaner name&gt;&gt;? I just want to make sure everything went well and see if there's anything we can help with."</a:t>
            </a:r>
            <a:endParaRPr/>
          </a:p>
        </p:txBody>
      </p:sp>
      <p:sp>
        <p:nvSpPr>
          <p:cNvPr id="110" name="Google Shape;11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Optional, if you want to try for one more retention attempt anyway. Suggested framing: "I'll make a note in the system to cancel your membership once [MCT is fulfilled]... I know I'm pushing my luck here, but I'd really love to give you a better experience. I can book you with a new cleaner and even apply a $20 credit toward that job." Alternative, if the customer is close to finishing the MCT and seems frustrated: consider offering to charge the remaining month(s) now and cancel immediately. This can de-escalate without actually waiving anything, since they're still paying what they owe, just faster. For reference, see the Notion article PG - Creating Manual Charges.</a:t>
            </a:r>
            <a:endParaRPr/>
          </a:p>
        </p:txBody>
      </p:sp>
      <p:sp>
        <p:nvSpPr>
          <p:cNvPr id="144" name="Google Shape;14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the Timed Reminder for MCT fulfillment triggers, check first: did the customer book again between when you set the reminder and when it triggered? If they did not book again: proactively cancel the membership and send a message confirming it's been closed. Rationale: this typically confirms the customer genuinely intended to leave once the term was up, and was just waiting it out to avoid the ETF. If they did book again: reach out to confirm whether they still want to cancel, then create another TR at least 3 days before the next MF is charged, so the customer isn't charged another MF unless they agreed to continue with the membership. Rationale: continued use during the MCT period is a real signal of retainability, so don't assume the original cancellation intent still holds without checking. Reminder: since the ETF does not apply, clearly confirm no additional MF will be charged unless they explicitly agree to continue.</a:t>
            </a:r>
            <a:endParaRPr/>
          </a:p>
        </p:txBody>
      </p:sp>
      <p:sp>
        <p:nvSpPr>
          <p:cNvPr id="162" name="Google Shape;16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Ask each question and let trainees answer before revealing. Each click reveals the next answer.</a:t>
            </a:r>
            <a:endParaRPr/>
          </a:p>
        </p:txBody>
      </p:sp>
      <p:sp>
        <p:nvSpPr>
          <p:cNvPr id="188" name="Google Shape;18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TRAINER: share a live ticket where a customer plans to finish their MCT and then cancel (or asks when they'll hit their MCT). Give trainees a few minutes to review it on their own, then work through it together. 1) Did the customer say it, or show it by not booking? 2) What actions are you going to take? No ETF warning, confirm their intent, TR for the day after the MCT-fulfilling MF, no ETF waiver, optional retention attempt (new cleaner + $20 credit, or charge the remaining months now and cancel). 3) 5-minute writing challenge: each trainee writes the reply, including a friendly probe. Read a few aloud and compare. Then open the floor for questions.</a:t>
            </a:r>
            <a:endParaRPr/>
          </a:p>
        </p:txBody>
      </p:sp>
      <p:sp>
        <p:nvSpPr>
          <p:cNvPr id="220" name="Google Shape;22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CP Reported C's Home as Biohazardous or Unsanitary (C-Side Action). Category: Retention and Membership Cancellation. This covers what happens on the customer side once a CP has reported that a customer's home is biohazardous or extremely unsanitary: a report serious enough to potentially get the customer's account suspended from booking. It picks up after the CP-side investigation (handled by the Bilingual team) has already validated the CP's evidence.</a:t>
            </a:r>
            <a:endParaRPr/>
          </a:p>
        </p:txBody>
      </p:sp>
      <p:sp>
        <p:nvSpPr>
          <p:cNvPr id="253" name="Google Shape;25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page picks up after the CP-side investigation (handled by the Bilingual team) has already validated the CP's evidence. If you're on a customer-facing ticket and see an action item referencing a biohazard/unsanitary report, these instructions only apply if a CP-side agent already created that action item based on validated CP evidence. Don't act on a raw customer complaint about this without that upstream step having happened. Why this matters: it's a safety issue (a CP shouldn't have to work in a hazardous environment), but it's the customer's account being restricted, not the CP's, and the customer hasn't necessarily done anything malicious. So the tone and offers need to reflect "let's help you fix this," not "you're being punished." Getting the sequencing wrong (e.g. cancelling FC and waiving the ETF before giving the customer a chance to resolve it) skips a real opportunity to retain a customer who just needs time to address a hoarding or pest situation. The process is shared across Legacy DHJ and FCF: a biohazard is a biohazard regardless of which membership model is billing the customer. The only place they diverge is refund mechanics, because FCF customers are charged the MF even with zero completed jobs (the membership starts at sign-up), which a DHJ customer can never be (DHJ doesn't charge any MF until the first completed cleaning).</a:t>
            </a:r>
            <a:endParaRPr/>
          </a:p>
        </p:txBody>
      </p:sp>
      <p:sp>
        <p:nvSpPr>
          <p:cNvPr id="284" name="Google Shape;28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Quick reference. Biohazard conditions: presence of human/animal waste, bodily fluids, mold infestations, hazardous materials, vermin/insect infestations. These must be excessive and pose a direct risk to the CP. Does NOT qualify: normal shower mold; bugs that don't interfere with the CP finishing the job. Hoarder conditions: excessive clutter that blocks access to critical areas (kitchen, bathroom, exits) or creates fire, structural or unsanitary hazards. Does NOT qualify: general clutter that doesn't impact the CP's ability to clean.</a:t>
            </a:r>
            <a:endParaRPr/>
          </a:p>
        </p:txBody>
      </p:sp>
      <p:sp>
        <p:nvSpPr>
          <p:cNvPr id="314" name="Google Shape;31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CP-side context (background only; this part already happened before the ticket reaches you). A CP-side Bilingual agent has already: escalated the CP's report; requested photo/video evidence (with a 72-hour Timed Reminder if it wasn't initially provided); verified the evidence isn't fake (reverse image search); and, if valid, added a known_customer_safety_issue flag and created a Tier 3 action item. The screenshot is a sample T3 action item (cp_biohazard_report): CP ID, job ID and date/time, link to the CP's message with the evidence, and the outcome of the investigation. Everything from here on (1st Response, 2nd Response, scenario notes) is what you actually do on the customer side.</a:t>
            </a:r>
            <a:endParaRPr/>
          </a:p>
        </p:txBody>
      </p:sp>
      <p:sp>
        <p:nvSpPr>
          <p:cNvPr id="334" name="Google Shape;33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1st Response, warning. 1) Cancel the customer's RC and all upcoming jobs, using Escalated Safety Issue as the cancellation reason code. 2) Add the known_customer_fraud flag to prevent further bookings, with the comment format: cp_biohazard_report | C ID | CP ID | J ID. 3) Create an internal note explaining why the account is being restricted: biohazard_1st_response — &lt;CP ID&gt; reported that C's home poses biohazard risks — &lt;link to CP-side action item&gt;. 4) Determine the customer's membership status and respond accordingly (next slide). Note the two flags: known_customer_safety_issue was added on the CP side and stays as a historical flag; known_customer_fraud is the one you add, and it's what blocks booking.</a:t>
            </a:r>
            <a:endParaRPr/>
          </a:p>
        </p:txBody>
      </p:sp>
      <p:sp>
        <p:nvSpPr>
          <p:cNvPr id="368" name="Google Shape;36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Active FC (applies to both DHJ and FCF customers whose FC has started): issue 1 free month to give them time to address the situation, and set a Timed Reminder to trigger the 2nd Response check. Action on: the day before the free month expires. Who should act: any CS. Action: biohazard_followup — CP &lt;CP_ID&gt; reported C &lt;C_ID&gt; for unsanitary/biohazardous home conditions. Follow this article &gt; 2nd Response. Unused DHJ voucher (no FC triggered yet): do not issue any DHJ retention offers. Related macros: "Bio Hazard" (covers Active FC, meaning both DHJ and FCF customers whose FC has started) and "Biohazard – Customer Insists on Booking Despite Safety Issue".</a:t>
            </a:r>
            <a:endParaRPr/>
          </a:p>
        </p:txBody>
      </p:sp>
      <p:sp>
        <p:nvSpPr>
          <p:cNvPr id="404" name="Google Shape;40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2nd Response, evaluation. Customer says the issue is resolved: invalidate known_customer_fraud (but keep known_customer_safety_issue: it stays as a historical flag). Log an internal note, then help them book a new appointment. Important: we take the customer's word for it the first time. However, if the CP of the new appointment reports another biohazard concern after the customer told us it had been taken care of, that's when we ask the customer for proof before allowing them to book again. Review whether the proof reasonably addresses what the CP actually reported. Sufficient: invalidate known_customer_fraud (keep known_customer_safety_issue), log an internal note, then help them book a new appointment. Not sufficient (e.g. the CP reported hoarding, but the photos only show one room cleaned): don't invalidate the flag. If FC has started, issue 1 more free month. Advise the customer the evidence doesn't meet safety standards yet, and ask if they need more time.</a:t>
            </a:r>
            <a:endParaRPr/>
          </a:p>
        </p:txBody>
      </p:sp>
      <p:sp>
        <p:nvSpPr>
          <p:cNvPr id="425" name="Google Shape;42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Customer says they cannot resolve the issue. Active FC: proactively cancel FC and waive the ETF. If they request a refund, we can refund each Monthly Fee where the customer did not receive a cleaning within that MF's paid-through coverage. If they did have a cleaning within that MF's paid-through coverage, there's no refund unless another criterion under the Transformation guidelines makes them eligible (e.g. a Material Legal Threat). Unused DHJ voucher: cancel FC if the table has already triggered; refund and invalidate the voucher via CRM. FCF, no completed job: cancel FC via CRM. The ETF does not apply, since with no completed job it was never live. Refund the $19 base MF and any add-on charge (4hr/6hr upgrade) in full: the customer received zero cleanings, so both charges are refunded regardless of fault. Non-FC member: tell them you can't assist with their request right now, and invite them back once conditions improve. Customer doesn't respond and the Timed Reminder triggers: same as "cannot resolve the issue".</a:t>
            </a:r>
            <a:endParaRPr/>
          </a:p>
        </p:txBody>
      </p:sp>
      <p:sp>
        <p:nvSpPr>
          <p:cNvPr id="455" name="Google Shape;45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Customer needs more time: if the customer's FC membership has already started, issue free weeks/months equivalent to what they requested. Advise them to reach out again once their home condition improves, so we can help them resume services. Customer refuses to provide evidence or won't cooperate: don't invalidate the known_customer_fraud flag. If their FC has already started, issue 1 more free month to give them more time to sort out their home conditions. Explain that we take this seriously and need proof the home meets safety standards. Create another Timed Reminder so the customer isn't charged another MF. If they come back and still refuse after that, treat it the same as "cannot resolve the issue". Customer doesn't respond and the Timed Reminder triggers: same as "cannot resolve the issue".</a:t>
            </a:r>
            <a:endParaRPr/>
          </a:p>
        </p:txBody>
      </p:sp>
      <p:sp>
        <p:nvSpPr>
          <p:cNvPr id="468" name="Google Shape;468;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Ask each question and let trainees answer before revealing. Each click reveals the next answer.</a:t>
            </a:r>
            <a:endParaRPr/>
          </a:p>
        </p:txBody>
      </p:sp>
      <p:sp>
        <p:nvSpPr>
          <p:cNvPr id="495" name="Google Shape;49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TRAINER: share a live ticket with a biohazard/unsanitary T3 action item (or a customer replying after the 1st Response). Give trainees a few minutes to review it on their own, then work through it together. 1) Is it a validated report: is there a CP-side T3 action item, and does it meet the biohazard or hoarder definition? 2) Which response are you on, and what's the membership status (Active FC, unused DHJ voucher, FCF with no completed job, non-FC member)? 3) What actions are you going to take? 1st Response: cancel the RC and upcoming jobs (Escalated Safety Issue), add known_customer_fraud with the comment format, internal note, 1 free month + TR (Active FC), no DHJ retention offers (unused voucher). 2nd Response: resolved, can't fix it, needs more time, or won't cooperate. Then open the floor for questions.</a:t>
            </a:r>
            <a:endParaRPr/>
          </a:p>
        </p:txBody>
      </p:sp>
      <p:sp>
        <p:nvSpPr>
          <p:cNvPr id="533" name="Google Shape;53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5" name="Google Shape;56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the module. Recap: Customer Agreed to Keep MCT (don't warn about the ETF when they've already agreed to finish the term; confirm their intent; TR for the day after the MF that fulfills the MCT; probe kindly; never waive the ETF just because they didn't book; optional retention attempt; when the TR triggers, cancel if they didn't book again, or check in and set a new TR if they did). CP Reported C's Home as Biohazardous or Unsanitary (validated reports only; 1st Response: cancel the RC and jobs, known_customer_fraud flag, internal note, 1 free month + TR for Active FC; 2nd Response: resolved, can't fix it, needs more time, won't cooperate; refunds depend on membership status).</a:t>
            </a:r>
            <a:endParaRPr/>
          </a:p>
        </p:txBody>
      </p:sp>
      <p:sp>
        <p:nvSpPr>
          <p:cNvPr id="566" name="Google Shape;56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bg>
      <p:bgPr>
        <a:solidFill>
          <a:srgbClr val="F6F7F9"/>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6F7F9"/>
        </a:solidFill>
      </p:bgPr>
    </p:bg>
    <p:spTree>
      <p:nvGrpSpPr>
        <p:cNvPr id="12" name="Shape 12"/>
        <p:cNvGrpSpPr/>
        <p:nvPr/>
      </p:nvGrpSpPr>
      <p:grpSpPr>
        <a:xfrm>
          <a:off x="0" y="0"/>
          <a:ext cx="0" cy="0"/>
          <a:chOff x="0" y="0"/>
          <a:chExt cx="0" cy="0"/>
        </a:xfrm>
      </p:grpSpPr>
      <p:sp>
        <p:nvSpPr>
          <p:cNvPr id="13" name="Google Shape;13;p3"/>
          <p:cNvSpPr/>
          <p:nvPr/>
        </p:nvSpPr>
        <p:spPr>
          <a:xfrm>
            <a:off x="438912" y="4800600"/>
            <a:ext cx="36576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73"/>
              </a:buClr>
              <a:buSzPts val="700"/>
              <a:buFont typeface="Arial"/>
              <a:buNone/>
            </a:pPr>
            <a:r>
              <a:rPr b="0" i="0" lang="en-US" sz="700" u="none" cap="none" strike="noStrike">
                <a:solidFill>
                  <a:srgbClr val="6E6E73"/>
                </a:solidFill>
                <a:latin typeface="Arial"/>
                <a:ea typeface="Arial"/>
                <a:cs typeface="Arial"/>
                <a:sym typeface="Arial"/>
              </a:rPr>
              <a:t>Homeaglow  ·  New Hire Care Training</a:t>
            </a:r>
            <a:endParaRPr b="0" i="0" sz="700" u="none" cap="none" strike="noStrike">
              <a:solidFill>
                <a:schemeClr val="dk1"/>
              </a:solidFill>
              <a:latin typeface="Calibri"/>
              <a:ea typeface="Calibri"/>
              <a:cs typeface="Calibri"/>
              <a:sym typeface="Calibri"/>
            </a:endParaRPr>
          </a:p>
        </p:txBody>
      </p:sp>
      <p:sp>
        <p:nvSpPr>
          <p:cNvPr id="14" name="Google Shape;14;p3"/>
          <p:cNvSpPr txBox="1"/>
          <p:nvPr>
            <p:ph idx="12"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700" u="none" cap="none" strike="noStrike">
                <a:solidFill>
                  <a:srgbClr val="6E6E73"/>
                </a:solidFill>
                <a:latin typeface="Arial"/>
                <a:ea typeface="Arial"/>
                <a:cs typeface="Arial"/>
                <a:sym typeface="Arial"/>
              </a:defRPr>
            </a:lvl1pPr>
            <a:lvl2pPr indent="0" lvl="1" marL="0" marR="0" algn="r">
              <a:spcBef>
                <a:spcPts val="0"/>
              </a:spcBef>
              <a:buNone/>
              <a:defRPr b="0" i="0" sz="700" u="none" cap="none" strike="noStrike">
                <a:solidFill>
                  <a:srgbClr val="6E6E73"/>
                </a:solidFill>
                <a:latin typeface="Arial"/>
                <a:ea typeface="Arial"/>
                <a:cs typeface="Arial"/>
                <a:sym typeface="Arial"/>
              </a:defRPr>
            </a:lvl2pPr>
            <a:lvl3pPr indent="0" lvl="2" marL="0" marR="0" algn="r">
              <a:spcBef>
                <a:spcPts val="0"/>
              </a:spcBef>
              <a:buNone/>
              <a:defRPr b="0" i="0" sz="700" u="none" cap="none" strike="noStrike">
                <a:solidFill>
                  <a:srgbClr val="6E6E73"/>
                </a:solidFill>
                <a:latin typeface="Arial"/>
                <a:ea typeface="Arial"/>
                <a:cs typeface="Arial"/>
                <a:sym typeface="Arial"/>
              </a:defRPr>
            </a:lvl3pPr>
            <a:lvl4pPr indent="0" lvl="3" marL="0" marR="0" algn="r">
              <a:spcBef>
                <a:spcPts val="0"/>
              </a:spcBef>
              <a:buNone/>
              <a:defRPr b="0" i="0" sz="700" u="none" cap="none" strike="noStrike">
                <a:solidFill>
                  <a:srgbClr val="6E6E73"/>
                </a:solidFill>
                <a:latin typeface="Arial"/>
                <a:ea typeface="Arial"/>
                <a:cs typeface="Arial"/>
                <a:sym typeface="Arial"/>
              </a:defRPr>
            </a:lvl4pPr>
            <a:lvl5pPr indent="0" lvl="4" marL="0" marR="0" algn="r">
              <a:spcBef>
                <a:spcPts val="0"/>
              </a:spcBef>
              <a:buNone/>
              <a:defRPr b="0" i="0" sz="700" u="none" cap="none" strike="noStrike">
                <a:solidFill>
                  <a:srgbClr val="6E6E73"/>
                </a:solidFill>
                <a:latin typeface="Arial"/>
                <a:ea typeface="Arial"/>
                <a:cs typeface="Arial"/>
                <a:sym typeface="Arial"/>
              </a:defRPr>
            </a:lvl5pPr>
            <a:lvl6pPr indent="0" lvl="5" marL="0" marR="0" algn="r">
              <a:spcBef>
                <a:spcPts val="0"/>
              </a:spcBef>
              <a:buNone/>
              <a:defRPr b="0" i="0" sz="700" u="none" cap="none" strike="noStrike">
                <a:solidFill>
                  <a:srgbClr val="6E6E73"/>
                </a:solidFill>
                <a:latin typeface="Arial"/>
                <a:ea typeface="Arial"/>
                <a:cs typeface="Arial"/>
                <a:sym typeface="Arial"/>
              </a:defRPr>
            </a:lvl6pPr>
            <a:lvl7pPr indent="0" lvl="6" marL="0" marR="0" algn="r">
              <a:spcBef>
                <a:spcPts val="0"/>
              </a:spcBef>
              <a:buNone/>
              <a:defRPr b="0" i="0" sz="700" u="none" cap="none" strike="noStrike">
                <a:solidFill>
                  <a:srgbClr val="6E6E73"/>
                </a:solidFill>
                <a:latin typeface="Arial"/>
                <a:ea typeface="Arial"/>
                <a:cs typeface="Arial"/>
                <a:sym typeface="Arial"/>
              </a:defRPr>
            </a:lvl7pPr>
            <a:lvl8pPr indent="0" lvl="7" marL="0" marR="0" algn="r">
              <a:spcBef>
                <a:spcPts val="0"/>
              </a:spcBef>
              <a:buNone/>
              <a:defRPr b="0" i="0" sz="700" u="none" cap="none" strike="noStrike">
                <a:solidFill>
                  <a:srgbClr val="6E6E73"/>
                </a:solidFill>
                <a:latin typeface="Arial"/>
                <a:ea typeface="Arial"/>
                <a:cs typeface="Arial"/>
                <a:sym typeface="Arial"/>
              </a:defRPr>
            </a:lvl8pPr>
            <a:lvl9pPr indent="0" lvl="8" marL="0" marR="0" algn="r">
              <a:spcBef>
                <a:spcPts val="0"/>
              </a:spcBef>
              <a:buNone/>
              <a:defRPr b="0" i="0" sz="700" u="none" cap="none" strike="noStrike">
                <a:solidFill>
                  <a:srgbClr val="6E6E7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700" u="none" cap="none" strike="noStrike">
                <a:solidFill>
                  <a:srgbClr val="6E6E73"/>
                </a:solidFill>
                <a:latin typeface="Arial"/>
                <a:ea typeface="Arial"/>
                <a:cs typeface="Arial"/>
                <a:sym typeface="Arial"/>
              </a:defRPr>
            </a:lvl1pPr>
            <a:lvl2pPr indent="0" lvl="1" marL="0" marR="0" rtl="0" algn="r">
              <a:spcBef>
                <a:spcPts val="0"/>
              </a:spcBef>
              <a:buNone/>
              <a:defRPr b="0" i="0" sz="700" u="none" cap="none" strike="noStrike">
                <a:solidFill>
                  <a:srgbClr val="6E6E73"/>
                </a:solidFill>
                <a:latin typeface="Arial"/>
                <a:ea typeface="Arial"/>
                <a:cs typeface="Arial"/>
                <a:sym typeface="Arial"/>
              </a:defRPr>
            </a:lvl2pPr>
            <a:lvl3pPr indent="0" lvl="2" marL="0" marR="0" rtl="0" algn="r">
              <a:spcBef>
                <a:spcPts val="0"/>
              </a:spcBef>
              <a:buNone/>
              <a:defRPr b="0" i="0" sz="700" u="none" cap="none" strike="noStrike">
                <a:solidFill>
                  <a:srgbClr val="6E6E73"/>
                </a:solidFill>
                <a:latin typeface="Arial"/>
                <a:ea typeface="Arial"/>
                <a:cs typeface="Arial"/>
                <a:sym typeface="Arial"/>
              </a:defRPr>
            </a:lvl3pPr>
            <a:lvl4pPr indent="0" lvl="3" marL="0" marR="0" rtl="0" algn="r">
              <a:spcBef>
                <a:spcPts val="0"/>
              </a:spcBef>
              <a:buNone/>
              <a:defRPr b="0" i="0" sz="700" u="none" cap="none" strike="noStrike">
                <a:solidFill>
                  <a:srgbClr val="6E6E73"/>
                </a:solidFill>
                <a:latin typeface="Arial"/>
                <a:ea typeface="Arial"/>
                <a:cs typeface="Arial"/>
                <a:sym typeface="Arial"/>
              </a:defRPr>
            </a:lvl4pPr>
            <a:lvl5pPr indent="0" lvl="4" marL="0" marR="0" rtl="0" algn="r">
              <a:spcBef>
                <a:spcPts val="0"/>
              </a:spcBef>
              <a:buNone/>
              <a:defRPr b="0" i="0" sz="700" u="none" cap="none" strike="noStrike">
                <a:solidFill>
                  <a:srgbClr val="6E6E73"/>
                </a:solidFill>
                <a:latin typeface="Arial"/>
                <a:ea typeface="Arial"/>
                <a:cs typeface="Arial"/>
                <a:sym typeface="Arial"/>
              </a:defRPr>
            </a:lvl5pPr>
            <a:lvl6pPr indent="0" lvl="5" marL="0" marR="0" rtl="0" algn="r">
              <a:spcBef>
                <a:spcPts val="0"/>
              </a:spcBef>
              <a:buNone/>
              <a:defRPr b="0" i="0" sz="700" u="none" cap="none" strike="noStrike">
                <a:solidFill>
                  <a:srgbClr val="6E6E73"/>
                </a:solidFill>
                <a:latin typeface="Arial"/>
                <a:ea typeface="Arial"/>
                <a:cs typeface="Arial"/>
                <a:sym typeface="Arial"/>
              </a:defRPr>
            </a:lvl6pPr>
            <a:lvl7pPr indent="0" lvl="6" marL="0" marR="0" rtl="0" algn="r">
              <a:spcBef>
                <a:spcPts val="0"/>
              </a:spcBef>
              <a:buNone/>
              <a:defRPr b="0" i="0" sz="700" u="none" cap="none" strike="noStrike">
                <a:solidFill>
                  <a:srgbClr val="6E6E73"/>
                </a:solidFill>
                <a:latin typeface="Arial"/>
                <a:ea typeface="Arial"/>
                <a:cs typeface="Arial"/>
                <a:sym typeface="Arial"/>
              </a:defRPr>
            </a:lvl7pPr>
            <a:lvl8pPr indent="0" lvl="7" marL="0" marR="0" rtl="0" algn="r">
              <a:spcBef>
                <a:spcPts val="0"/>
              </a:spcBef>
              <a:buNone/>
              <a:defRPr b="0" i="0" sz="700" u="none" cap="none" strike="noStrike">
                <a:solidFill>
                  <a:srgbClr val="6E6E73"/>
                </a:solidFill>
                <a:latin typeface="Arial"/>
                <a:ea typeface="Arial"/>
                <a:cs typeface="Arial"/>
                <a:sym typeface="Arial"/>
              </a:defRPr>
            </a:lvl8pPr>
            <a:lvl9pPr indent="0" lvl="8" marL="0" marR="0" rtl="0" algn="r">
              <a:spcBef>
                <a:spcPts val="0"/>
              </a:spcBef>
              <a:buNone/>
              <a:defRPr b="0" i="0" sz="700" u="none" cap="none" strike="noStrike">
                <a:solidFill>
                  <a:srgbClr val="6E6E7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ppt/slides/slide3.xml"/><Relationship Id="rId4" Type="http://schemas.openxmlformats.org/officeDocument/2006/relationships/slide" Target="/ppt/slides/slide3.xml"/><Relationship Id="rId5" Type="http://schemas.openxmlformats.org/officeDocument/2006/relationships/slide" Target="/ppt/slides/slide3.xml"/><Relationship Id="rId6" Type="http://schemas.openxmlformats.org/officeDocument/2006/relationships/slide" Target="/ppt/slides/slide10.xml"/><Relationship Id="rId7" Type="http://schemas.openxmlformats.org/officeDocument/2006/relationships/slide" Target="/ppt/slides/slide10.xml"/><Relationship Id="rId8" Type="http://schemas.openxmlformats.org/officeDocument/2006/relationships/slide" Target="/ppt/slides/slide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3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4.png"/><Relationship Id="rId5" Type="http://schemas.openxmlformats.org/officeDocument/2006/relationships/image" Target="../media/image25.png"/><Relationship Id="rId6" Type="http://schemas.openxmlformats.org/officeDocument/2006/relationships/image" Target="../media/image33.png"/><Relationship Id="rId7"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27.png"/><Relationship Id="rId5" Type="http://schemas.openxmlformats.org/officeDocument/2006/relationships/image" Target="../media/image21.png"/><Relationship Id="rId6"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 name="Shape 20"/>
        <p:cNvGrpSpPr/>
        <p:nvPr/>
      </p:nvGrpSpPr>
      <p:grpSpPr>
        <a:xfrm>
          <a:off x="0" y="0"/>
          <a:ext cx="0" cy="0"/>
          <a:chOff x="0" y="0"/>
          <a:chExt cx="0" cy="0"/>
        </a:xfrm>
      </p:grpSpPr>
      <p:sp>
        <p:nvSpPr>
          <p:cNvPr id="21" name="Google Shape;21;p5"/>
          <p:cNvSpPr txBox="1"/>
          <p:nvPr/>
        </p:nvSpPr>
        <p:spPr>
          <a:xfrm>
            <a:off x="566928" y="548640"/>
            <a:ext cx="45720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HOMEAGLOW  ·  NEW HIRE CARE TRAINING</a:t>
            </a:r>
            <a:endParaRPr b="0" i="0" sz="800" u="none" cap="none" strike="noStrike">
              <a:solidFill>
                <a:schemeClr val="dk1"/>
              </a:solidFill>
              <a:latin typeface="Calibri"/>
              <a:ea typeface="Calibri"/>
              <a:cs typeface="Calibri"/>
              <a:sym typeface="Calibri"/>
            </a:endParaRPr>
          </a:p>
        </p:txBody>
      </p:sp>
      <p:sp>
        <p:nvSpPr>
          <p:cNvPr id="22" name="Google Shape;22;p5"/>
          <p:cNvSpPr txBox="1"/>
          <p:nvPr/>
        </p:nvSpPr>
        <p:spPr>
          <a:xfrm>
            <a:off x="566928" y="868680"/>
            <a:ext cx="4480560" cy="16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3000"/>
              <a:buFont typeface="Play"/>
              <a:buNone/>
            </a:pPr>
            <a:r>
              <a:rPr b="1" i="0" lang="en-US" sz="3000" u="none" cap="none" strike="noStrike">
                <a:solidFill>
                  <a:srgbClr val="1D1D1F"/>
                </a:solidFill>
                <a:latin typeface="Play"/>
                <a:ea typeface="Play"/>
                <a:cs typeface="Play"/>
                <a:sym typeface="Play"/>
              </a:rPr>
              <a:t>Keep MCT &amp;</a:t>
            </a:r>
            <a:endParaRPr b="0" i="0" sz="3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D1D1F"/>
              </a:buClr>
              <a:buSzPts val="3000"/>
              <a:buFont typeface="Play"/>
              <a:buNone/>
            </a:pPr>
            <a:r>
              <a:rPr b="1" i="0" lang="en-US" sz="3000" u="none" cap="none" strike="noStrike">
                <a:solidFill>
                  <a:srgbClr val="1D1D1F"/>
                </a:solidFill>
                <a:latin typeface="Play"/>
                <a:ea typeface="Play"/>
                <a:cs typeface="Play"/>
                <a:sym typeface="Play"/>
              </a:rPr>
              <a:t>Biohazard</a:t>
            </a:r>
            <a:endParaRPr b="0" i="0" sz="3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D1D1F"/>
              </a:buClr>
              <a:buSzPts val="3000"/>
              <a:buFont typeface="Play"/>
              <a:buNone/>
            </a:pPr>
            <a:r>
              <a:rPr b="1" i="0" lang="en-US" sz="3000" u="none" cap="none" strike="noStrike">
                <a:solidFill>
                  <a:srgbClr val="1D1D1F"/>
                </a:solidFill>
                <a:latin typeface="Play"/>
                <a:ea typeface="Play"/>
                <a:cs typeface="Play"/>
                <a:sym typeface="Play"/>
              </a:rPr>
              <a:t>Reports</a:t>
            </a:r>
            <a:endParaRPr b="0" i="0" sz="3000" u="none" cap="none" strike="noStrike">
              <a:solidFill>
                <a:schemeClr val="dk1"/>
              </a:solidFill>
              <a:latin typeface="Calibri"/>
              <a:ea typeface="Calibri"/>
              <a:cs typeface="Calibri"/>
              <a:sym typeface="Calibri"/>
            </a:endParaRPr>
          </a:p>
        </p:txBody>
      </p:sp>
      <p:sp>
        <p:nvSpPr>
          <p:cNvPr id="23" name="Google Shape;23;p5"/>
          <p:cNvSpPr txBox="1"/>
          <p:nvPr/>
        </p:nvSpPr>
        <p:spPr>
          <a:xfrm>
            <a:off x="566928" y="2468880"/>
            <a:ext cx="42062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1250"/>
              <a:buFont typeface="Arial"/>
              <a:buNone/>
            </a:pPr>
            <a:r>
              <a:rPr b="0" i="0" lang="en-US" sz="1250" u="none" cap="none" strike="noStrike">
                <a:solidFill>
                  <a:srgbClr val="6E6E73"/>
                </a:solidFill>
                <a:latin typeface="Arial"/>
                <a:ea typeface="Arial"/>
                <a:cs typeface="Arial"/>
                <a:sym typeface="Arial"/>
              </a:rPr>
              <a:t>Customers who plan to finish their term, and homes reported as unsafe for cleaners.</a:t>
            </a:r>
            <a:endParaRPr b="0" i="0" sz="1250" u="none" cap="none" strike="noStrike">
              <a:solidFill>
                <a:schemeClr val="dk1"/>
              </a:solidFill>
              <a:latin typeface="Calibri"/>
              <a:ea typeface="Calibri"/>
              <a:cs typeface="Calibri"/>
              <a:sym typeface="Calibri"/>
            </a:endParaRPr>
          </a:p>
        </p:txBody>
      </p:sp>
      <p:sp>
        <p:nvSpPr>
          <p:cNvPr id="24" name="Google Shape;24;p5"/>
          <p:cNvSpPr txBox="1"/>
          <p:nvPr/>
        </p:nvSpPr>
        <p:spPr>
          <a:xfrm>
            <a:off x="566928" y="4572000"/>
            <a:ext cx="27432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700"/>
              <a:buFont typeface="Arial"/>
              <a:buNone/>
            </a:pPr>
            <a:r>
              <a:rPr b="0" i="0" lang="en-US" sz="700" u="none" cap="none" strike="noStrike">
                <a:solidFill>
                  <a:srgbClr val="6E6E73"/>
                </a:solidFill>
                <a:latin typeface="Arial"/>
                <a:ea typeface="Arial"/>
                <a:cs typeface="Arial"/>
                <a:sym typeface="Arial"/>
              </a:rPr>
              <a:t>Internal training material</a:t>
            </a:r>
            <a:endParaRPr b="0" i="0" sz="700" u="none" cap="none" strike="noStrike">
              <a:solidFill>
                <a:schemeClr val="dk1"/>
              </a:solidFill>
              <a:latin typeface="Calibri"/>
              <a:ea typeface="Calibri"/>
              <a:cs typeface="Calibri"/>
              <a:sym typeface="Calibri"/>
            </a:endParaRPr>
          </a:p>
        </p:txBody>
      </p:sp>
      <p:sp>
        <p:nvSpPr>
          <p:cNvPr id="25" name="Google Shape;25;p5"/>
          <p:cNvSpPr/>
          <p:nvPr/>
        </p:nvSpPr>
        <p:spPr>
          <a:xfrm>
            <a:off x="5312664" y="365760"/>
            <a:ext cx="3383280" cy="4407408"/>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mp/claude-0/-workspace-training/3ce5cff6-cccf-5f33-b0ee-0b147a55120e/scratchpad/img8/ill6.png" id="27" name="Google Shape;27;p5"/>
          <p:cNvPicPr preferRelativeResize="0"/>
          <p:nvPr/>
        </p:nvPicPr>
        <p:blipFill rotWithShape="1">
          <a:blip r:embed="rId3">
            <a:alphaModFix/>
          </a:blip>
          <a:srcRect b="0" l="0" r="0" t="0"/>
          <a:stretch/>
        </p:blipFill>
        <p:spPr>
          <a:xfrm>
            <a:off x="5541264" y="1632461"/>
            <a:ext cx="2926080" cy="1874006"/>
          </a:xfrm>
          <a:prstGeom prst="rect">
            <a:avLst/>
          </a:prstGeom>
          <a:noFill/>
          <a:ln>
            <a:noFill/>
          </a:ln>
        </p:spPr>
      </p:pic>
      <p:sp>
        <p:nvSpPr>
          <p:cNvPr id="28" name="Google Shape;28;p5"/>
          <p:cNvSpPr/>
          <p:nvPr/>
        </p:nvSpPr>
        <p:spPr>
          <a:xfrm>
            <a:off x="5522976" y="566928"/>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5"/>
          <p:cNvSpPr/>
          <p:nvPr/>
        </p:nvSpPr>
        <p:spPr>
          <a:xfrm>
            <a:off x="5646420" y="690372"/>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5"/>
          <p:cNvSpPr/>
          <p:nvPr/>
        </p:nvSpPr>
        <p:spPr>
          <a:xfrm>
            <a:off x="8193024" y="566928"/>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5"/>
          <p:cNvSpPr/>
          <p:nvPr/>
        </p:nvSpPr>
        <p:spPr>
          <a:xfrm>
            <a:off x="8316468" y="690372"/>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5"/>
          <p:cNvSpPr/>
          <p:nvPr/>
        </p:nvSpPr>
        <p:spPr>
          <a:xfrm>
            <a:off x="8193024" y="4242816"/>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5"/>
          <p:cNvSpPr/>
          <p:nvPr/>
        </p:nvSpPr>
        <p:spPr>
          <a:xfrm>
            <a:off x="8316468" y="4366260"/>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OVERVIEW</a:t>
            </a:r>
            <a:endParaRPr b="0" i="0" sz="800" u="none" cap="none" strike="noStrike">
              <a:solidFill>
                <a:schemeClr val="dk1"/>
              </a:solidFill>
              <a:latin typeface="Calibri"/>
              <a:ea typeface="Calibri"/>
              <a:cs typeface="Calibri"/>
              <a:sym typeface="Calibri"/>
            </a:endParaRPr>
          </a:p>
        </p:txBody>
      </p:sp>
      <p:sp>
        <p:nvSpPr>
          <p:cNvPr id="40" name="Google Shape;40;p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2400"/>
              <a:buFont typeface="Play"/>
              <a:buNone/>
            </a:pPr>
            <a:r>
              <a:rPr b="1" i="0" lang="en-US" sz="2400" u="none" cap="none" strike="noStrike">
                <a:solidFill>
                  <a:srgbClr val="1D1D1F"/>
                </a:solidFill>
                <a:latin typeface="Play"/>
                <a:ea typeface="Play"/>
                <a:cs typeface="Play"/>
                <a:sym typeface="Play"/>
              </a:rPr>
              <a:t>Agenda</a:t>
            </a:r>
            <a:endParaRPr b="0" i="0" sz="2400" u="none" cap="none" strike="noStrike">
              <a:solidFill>
                <a:schemeClr val="dk1"/>
              </a:solidFill>
              <a:latin typeface="Calibri"/>
              <a:ea typeface="Calibri"/>
              <a:cs typeface="Calibri"/>
              <a:sym typeface="Calibri"/>
            </a:endParaRPr>
          </a:p>
        </p:txBody>
      </p:sp>
      <p:sp>
        <p:nvSpPr>
          <p:cNvPr id="41" name="Google Shape;41;p6"/>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1200"/>
              <a:buFont typeface="Arial"/>
              <a:buNone/>
            </a:pPr>
            <a:r>
              <a:rPr b="0" i="0" lang="en-US" sz="1200" u="none" cap="none" strike="noStrike">
                <a:solidFill>
                  <a:srgbClr val="6E6E73"/>
                </a:solidFill>
                <a:latin typeface="Arial"/>
                <a:ea typeface="Arial"/>
                <a:cs typeface="Arial"/>
                <a:sym typeface="Arial"/>
              </a:rPr>
              <a:t>Two topics. Click a topic to jump to it.</a:t>
            </a:r>
            <a:endParaRPr b="0" i="0" sz="1200" u="none" cap="none" strike="noStrike">
              <a:solidFill>
                <a:schemeClr val="dk1"/>
              </a:solidFill>
              <a:latin typeface="Calibri"/>
              <a:ea typeface="Calibri"/>
              <a:cs typeface="Calibri"/>
              <a:sym typeface="Calibri"/>
            </a:endParaRPr>
          </a:p>
        </p:txBody>
      </p:sp>
      <p:sp>
        <p:nvSpPr>
          <p:cNvPr id="42" name="Google Shape;42;p6">
            <a:hlinkClick action="ppaction://hlinksldjump" r:id="rId3"/>
          </p:cNvPr>
          <p:cNvSpPr/>
          <p:nvPr/>
        </p:nvSpPr>
        <p:spPr>
          <a:xfrm>
            <a:off x="411480" y="1325880"/>
            <a:ext cx="8321040" cy="914400"/>
          </a:xfrm>
          <a:prstGeom prst="roundRect">
            <a:avLst>
              <a:gd fmla="val 6000" name="adj"/>
            </a:avLst>
          </a:prstGeom>
          <a:solidFill>
            <a:srgbClr val="FFFFFF"/>
          </a:solidFill>
          <a:ln cap="flat" cmpd="sng" w="9525">
            <a:solidFill>
              <a:srgbClr val="DCE1E7"/>
            </a:solidFill>
            <a:prstDash val="solid"/>
            <a:round/>
            <a:headEnd len="sm" w="sm" type="none"/>
            <a:tailEnd len="sm" w="sm" type="none"/>
          </a:ln>
        </p:spPr>
        <p:txBody>
          <a:bodyPr anchorCtr="0" anchor="ctr" bIns="0" lIns="711200" spcFirstLastPara="1" rIns="381000" wrap="square" tIns="0">
            <a:noAutofit/>
          </a:bodyPr>
          <a:lstStyle/>
          <a:p>
            <a:pPr indent="0" lvl="0" marL="0" marR="0" rtl="0" algn="l">
              <a:spcBef>
                <a:spcPts val="0"/>
              </a:spcBef>
              <a:spcAft>
                <a:spcPts val="0"/>
              </a:spcAft>
              <a:buClr>
                <a:srgbClr val="1D1D1F"/>
              </a:buClr>
              <a:buSzPts val="1400"/>
              <a:buFont typeface="Play"/>
              <a:buNone/>
            </a:pPr>
            <a:r>
              <a:rPr b="1" i="0" lang="en-US" sz="1400" u="none" cap="none" strike="noStrike">
                <a:solidFill>
                  <a:srgbClr val="1D1D1F"/>
                </a:solidFill>
                <a:latin typeface="Play"/>
                <a:ea typeface="Play"/>
                <a:cs typeface="Play"/>
                <a:sym typeface="Play"/>
              </a:rPr>
              <a:t>Customer Agreed to Keep MCT</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6E73"/>
              </a:buClr>
              <a:buSzPts val="1050"/>
              <a:buFont typeface="Arial"/>
              <a:buNone/>
            </a:pPr>
            <a:r>
              <a:rPr b="0" i="0" lang="en-US" sz="1050" u="none" cap="none" strike="noStrike">
                <a:solidFill>
                  <a:srgbClr val="6E6E73"/>
                </a:solidFill>
                <a:latin typeface="Arial"/>
                <a:ea typeface="Arial"/>
                <a:cs typeface="Arial"/>
                <a:sym typeface="Arial"/>
              </a:rPr>
              <a:t>They'll finish the term, then cancel. No ETF talk, no ETF waiver.</a:t>
            </a:r>
            <a:endParaRPr b="0" i="0" sz="1400" u="none" cap="none" strike="noStrike">
              <a:solidFill>
                <a:schemeClr val="dk1"/>
              </a:solidFill>
              <a:latin typeface="Calibri"/>
              <a:ea typeface="Calibri"/>
              <a:cs typeface="Calibri"/>
              <a:sym typeface="Calibri"/>
            </a:endParaRPr>
          </a:p>
        </p:txBody>
      </p:sp>
      <p:sp>
        <p:nvSpPr>
          <p:cNvPr id="43" name="Google Shape;43;p6">
            <a:hlinkClick action="ppaction://hlinksldjump" r:id="rId4"/>
          </p:cNvPr>
          <p:cNvSpPr/>
          <p:nvPr/>
        </p:nvSpPr>
        <p:spPr>
          <a:xfrm>
            <a:off x="502920" y="1325880"/>
            <a:ext cx="50292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7A6F"/>
              </a:buClr>
              <a:buSzPts val="1600"/>
              <a:buFont typeface="Play"/>
              <a:buNone/>
            </a:pPr>
            <a:r>
              <a:rPr b="1" i="0" lang="en-US" sz="1600" u="none" cap="none" strike="noStrike">
                <a:solidFill>
                  <a:srgbClr val="0B7A6F"/>
                </a:solidFill>
                <a:latin typeface="Play"/>
                <a:ea typeface="Play"/>
                <a:cs typeface="Play"/>
                <a:sym typeface="Play"/>
              </a:rPr>
              <a:t>01</a:t>
            </a:r>
            <a:endParaRPr b="0" i="0" sz="1600" u="none" cap="none" strike="noStrike">
              <a:solidFill>
                <a:schemeClr val="dk1"/>
              </a:solidFill>
              <a:latin typeface="Calibri"/>
              <a:ea typeface="Calibri"/>
              <a:cs typeface="Calibri"/>
              <a:sym typeface="Calibri"/>
            </a:endParaRPr>
          </a:p>
        </p:txBody>
      </p:sp>
      <p:sp>
        <p:nvSpPr>
          <p:cNvPr id="44" name="Google Shape;44;p6">
            <a:hlinkClick action="ppaction://hlinksldjump" r:id="rId5"/>
          </p:cNvPr>
          <p:cNvSpPr/>
          <p:nvPr/>
        </p:nvSpPr>
        <p:spPr>
          <a:xfrm>
            <a:off x="8348472" y="1325880"/>
            <a:ext cx="32004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7A6F"/>
              </a:buClr>
              <a:buSzPts val="2000"/>
              <a:buFont typeface="Play"/>
              <a:buNone/>
            </a:pPr>
            <a:r>
              <a:rPr b="1" i="0" lang="en-US" sz="2000" u="none" cap="none" strike="noStrike">
                <a:solidFill>
                  <a:srgbClr val="0B7A6F"/>
                </a:solidFill>
                <a:latin typeface="Play"/>
                <a:ea typeface="Play"/>
                <a:cs typeface="Play"/>
                <a:sym typeface="Play"/>
              </a:rPr>
              <a:t>›</a:t>
            </a:r>
            <a:endParaRPr b="0" i="0" sz="2000" u="none" cap="none" strike="noStrike">
              <a:solidFill>
                <a:schemeClr val="dk1"/>
              </a:solidFill>
              <a:latin typeface="Calibri"/>
              <a:ea typeface="Calibri"/>
              <a:cs typeface="Calibri"/>
              <a:sym typeface="Calibri"/>
            </a:endParaRPr>
          </a:p>
        </p:txBody>
      </p:sp>
      <p:sp>
        <p:nvSpPr>
          <p:cNvPr id="45" name="Google Shape;45;p6">
            <a:hlinkClick action="ppaction://hlinksldjump" r:id="rId6"/>
          </p:cNvPr>
          <p:cNvSpPr/>
          <p:nvPr/>
        </p:nvSpPr>
        <p:spPr>
          <a:xfrm>
            <a:off x="411480" y="2377440"/>
            <a:ext cx="8321040" cy="914400"/>
          </a:xfrm>
          <a:prstGeom prst="roundRect">
            <a:avLst>
              <a:gd fmla="val 6000" name="adj"/>
            </a:avLst>
          </a:prstGeom>
          <a:solidFill>
            <a:srgbClr val="FFFFFF"/>
          </a:solidFill>
          <a:ln cap="flat" cmpd="sng" w="9525">
            <a:solidFill>
              <a:srgbClr val="DCE1E7"/>
            </a:solidFill>
            <a:prstDash val="solid"/>
            <a:round/>
            <a:headEnd len="sm" w="sm" type="none"/>
            <a:tailEnd len="sm" w="sm" type="none"/>
          </a:ln>
        </p:spPr>
        <p:txBody>
          <a:bodyPr anchorCtr="0" anchor="ctr" bIns="0" lIns="711200" spcFirstLastPara="1" rIns="381000" wrap="square" tIns="0">
            <a:noAutofit/>
          </a:bodyPr>
          <a:lstStyle/>
          <a:p>
            <a:pPr indent="0" lvl="0" marL="0" marR="0" rtl="0" algn="l">
              <a:spcBef>
                <a:spcPts val="0"/>
              </a:spcBef>
              <a:spcAft>
                <a:spcPts val="0"/>
              </a:spcAft>
              <a:buClr>
                <a:srgbClr val="1D1D1F"/>
              </a:buClr>
              <a:buSzPts val="1400"/>
              <a:buFont typeface="Play"/>
              <a:buNone/>
            </a:pPr>
            <a:r>
              <a:rPr b="1" i="0" lang="en-US" sz="1400" u="none" cap="none" strike="noStrike">
                <a:solidFill>
                  <a:srgbClr val="1D1D1F"/>
                </a:solidFill>
                <a:latin typeface="Play"/>
                <a:ea typeface="Play"/>
                <a:cs typeface="Play"/>
                <a:sym typeface="Play"/>
              </a:rPr>
              <a:t>CP Reported C's Home as Biohazardous or Unsanitary</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6E73"/>
              </a:buClr>
              <a:buSzPts val="1050"/>
              <a:buFont typeface="Arial"/>
              <a:buNone/>
            </a:pPr>
            <a:r>
              <a:rPr b="0" i="0" lang="en-US" sz="1050" u="none" cap="none" strike="noStrike">
                <a:solidFill>
                  <a:srgbClr val="6E6E73"/>
                </a:solidFill>
                <a:latin typeface="Arial"/>
                <a:ea typeface="Arial"/>
                <a:cs typeface="Arial"/>
                <a:sym typeface="Arial"/>
              </a:rPr>
              <a:t>Restrict the account, give them time, then evaluate.</a:t>
            </a:r>
            <a:endParaRPr b="0" i="0" sz="1400" u="none" cap="none" strike="noStrike">
              <a:solidFill>
                <a:schemeClr val="dk1"/>
              </a:solidFill>
              <a:latin typeface="Calibri"/>
              <a:ea typeface="Calibri"/>
              <a:cs typeface="Calibri"/>
              <a:sym typeface="Calibri"/>
            </a:endParaRPr>
          </a:p>
        </p:txBody>
      </p:sp>
      <p:sp>
        <p:nvSpPr>
          <p:cNvPr id="46" name="Google Shape;46;p6">
            <a:hlinkClick action="ppaction://hlinksldjump" r:id="rId7"/>
          </p:cNvPr>
          <p:cNvSpPr/>
          <p:nvPr/>
        </p:nvSpPr>
        <p:spPr>
          <a:xfrm>
            <a:off x="502920" y="2377440"/>
            <a:ext cx="50292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7A6F"/>
              </a:buClr>
              <a:buSzPts val="1600"/>
              <a:buFont typeface="Play"/>
              <a:buNone/>
            </a:pPr>
            <a:r>
              <a:rPr b="1" i="0" lang="en-US" sz="1600" u="none" cap="none" strike="noStrike">
                <a:solidFill>
                  <a:srgbClr val="0B7A6F"/>
                </a:solidFill>
                <a:latin typeface="Play"/>
                <a:ea typeface="Play"/>
                <a:cs typeface="Play"/>
                <a:sym typeface="Play"/>
              </a:rPr>
              <a:t>02</a:t>
            </a:r>
            <a:endParaRPr b="0" i="0" sz="1600" u="none" cap="none" strike="noStrike">
              <a:solidFill>
                <a:schemeClr val="dk1"/>
              </a:solidFill>
              <a:latin typeface="Calibri"/>
              <a:ea typeface="Calibri"/>
              <a:cs typeface="Calibri"/>
              <a:sym typeface="Calibri"/>
            </a:endParaRPr>
          </a:p>
        </p:txBody>
      </p:sp>
      <p:sp>
        <p:nvSpPr>
          <p:cNvPr id="47" name="Google Shape;47;p6">
            <a:hlinkClick action="ppaction://hlinksldjump" r:id="rId8"/>
          </p:cNvPr>
          <p:cNvSpPr/>
          <p:nvPr/>
        </p:nvSpPr>
        <p:spPr>
          <a:xfrm>
            <a:off x="8348472" y="2377440"/>
            <a:ext cx="32004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7A6F"/>
              </a:buClr>
              <a:buSzPts val="2000"/>
              <a:buFont typeface="Play"/>
              <a:buNone/>
            </a:pPr>
            <a:r>
              <a:rPr b="1" i="0" lang="en-US" sz="2000" u="none" cap="none" strike="noStrike">
                <a:solidFill>
                  <a:srgbClr val="0B7A6F"/>
                </a:solidFill>
                <a:latin typeface="Play"/>
                <a:ea typeface="Play"/>
                <a:cs typeface="Play"/>
                <a:sym typeface="Play"/>
              </a:rPr>
              <a:t>›</a:t>
            </a:r>
            <a:endParaRPr b="0" i="0" sz="2000" u="none" cap="none" strike="noStrike">
              <a:solidFill>
                <a:schemeClr val="dk1"/>
              </a:solidFill>
              <a:latin typeface="Calibri"/>
              <a:ea typeface="Calibri"/>
              <a:cs typeface="Calibri"/>
              <a:sym typeface="Calibri"/>
            </a:endParaRPr>
          </a:p>
        </p:txBody>
      </p:sp>
      <p:sp>
        <p:nvSpPr>
          <p:cNvPr id="48" name="Google Shape;48;p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7"/>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TOPIC 01 OF 02</a:t>
            </a:r>
            <a:endParaRPr b="0" i="0" sz="800" u="none" cap="none" strike="noStrike">
              <a:solidFill>
                <a:schemeClr val="dk1"/>
              </a:solidFill>
              <a:latin typeface="Calibri"/>
              <a:ea typeface="Calibri"/>
              <a:cs typeface="Calibri"/>
              <a:sym typeface="Calibri"/>
            </a:endParaRPr>
          </a:p>
        </p:txBody>
      </p:sp>
      <p:sp>
        <p:nvSpPr>
          <p:cNvPr id="55" name="Google Shape;55;p7"/>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D1D1F"/>
              </a:buClr>
              <a:buSzPts val="2800"/>
              <a:buFont typeface="Play"/>
              <a:buNone/>
            </a:pPr>
            <a:r>
              <a:rPr b="1" i="0" lang="en-US" sz="2800" u="none" cap="none" strike="noStrike">
                <a:solidFill>
                  <a:srgbClr val="1D1D1F"/>
                </a:solidFill>
                <a:latin typeface="Play"/>
                <a:ea typeface="Play"/>
                <a:cs typeface="Play"/>
                <a:sym typeface="Play"/>
              </a:rPr>
              <a:t>Customer Agreed to Keep MCT</a:t>
            </a:r>
            <a:endParaRPr b="0" i="0" sz="2800" u="none" cap="none" strike="noStrike">
              <a:solidFill>
                <a:schemeClr val="dk1"/>
              </a:solidFill>
              <a:latin typeface="Calibri"/>
              <a:ea typeface="Calibri"/>
              <a:cs typeface="Calibri"/>
              <a:sym typeface="Calibri"/>
            </a:endParaRPr>
          </a:p>
        </p:txBody>
      </p:sp>
      <p:sp>
        <p:nvSpPr>
          <p:cNvPr id="56" name="Google Shape;56;p7"/>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1150"/>
              <a:buFont typeface="Arial"/>
              <a:buNone/>
            </a:pPr>
            <a:r>
              <a:rPr b="0" i="0" lang="en-US" sz="1150" u="none" cap="none" strike="noStrike">
                <a:solidFill>
                  <a:srgbClr val="6E6E73"/>
                </a:solidFill>
                <a:latin typeface="Arial"/>
                <a:ea typeface="Arial"/>
                <a:cs typeface="Arial"/>
                <a:sym typeface="Arial"/>
              </a:rPr>
              <a:t>They plan to finish the term, then cancel, to avoid the ETF.</a:t>
            </a:r>
            <a:endParaRPr b="0" i="0" sz="1150" u="none" cap="none" strike="noStrike">
              <a:solidFill>
                <a:schemeClr val="dk1"/>
              </a:solidFill>
              <a:latin typeface="Calibri"/>
              <a:ea typeface="Calibri"/>
              <a:cs typeface="Calibri"/>
              <a:sym typeface="Calibri"/>
            </a:endParaRPr>
          </a:p>
        </p:txBody>
      </p:sp>
      <p:sp>
        <p:nvSpPr>
          <p:cNvPr id="57" name="Google Shape;57;p7"/>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58" name="Google Shape;58;p7"/>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9" name="Google Shape;59;p7"/>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60" name="Google Shape;60;p7"/>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1050"/>
              <a:buFont typeface="Arial"/>
              <a:buNone/>
            </a:pPr>
            <a:r>
              <a:rPr b="0" i="0" lang="en-US" sz="1050" u="none" cap="none" strike="noStrike">
                <a:solidFill>
                  <a:srgbClr val="1D1D1F"/>
                </a:solidFill>
                <a:latin typeface="Arial"/>
                <a:ea typeface="Arial"/>
                <a:cs typeface="Arial"/>
                <a:sym typeface="Arial"/>
              </a:rPr>
              <a:t>What this pattern looks like</a:t>
            </a:r>
            <a:endParaRPr b="0" i="0" sz="1050" u="none" cap="none" strike="noStrike">
              <a:solidFill>
                <a:schemeClr val="dk1"/>
              </a:solidFill>
              <a:latin typeface="Calibri"/>
              <a:ea typeface="Calibri"/>
              <a:cs typeface="Calibri"/>
              <a:sym typeface="Calibri"/>
            </a:endParaRPr>
          </a:p>
        </p:txBody>
      </p:sp>
      <p:sp>
        <p:nvSpPr>
          <p:cNvPr id="61" name="Google Shape;61;p7"/>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2" name="Google Shape;62;p7"/>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63" name="Google Shape;63;p7"/>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1050"/>
              <a:buFont typeface="Arial"/>
              <a:buNone/>
            </a:pPr>
            <a:r>
              <a:rPr b="0" i="0" lang="en-US" sz="1050" u="none" cap="none" strike="noStrike">
                <a:solidFill>
                  <a:srgbClr val="1D1D1F"/>
                </a:solidFill>
                <a:latin typeface="Arial"/>
                <a:ea typeface="Arial"/>
                <a:cs typeface="Arial"/>
                <a:sym typeface="Arial"/>
              </a:rPr>
              <a:t>The two traps to avoid</a:t>
            </a:r>
            <a:endParaRPr b="0" i="0" sz="1050" u="none" cap="none" strike="noStrike">
              <a:solidFill>
                <a:schemeClr val="dk1"/>
              </a:solidFill>
              <a:latin typeface="Calibri"/>
              <a:ea typeface="Calibri"/>
              <a:cs typeface="Calibri"/>
              <a:sym typeface="Calibri"/>
            </a:endParaRPr>
          </a:p>
        </p:txBody>
      </p:sp>
      <p:sp>
        <p:nvSpPr>
          <p:cNvPr id="64" name="Google Shape;64;p7"/>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5" name="Google Shape;65;p7"/>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66" name="Google Shape;66;p7"/>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1050"/>
              <a:buFont typeface="Arial"/>
              <a:buNone/>
            </a:pPr>
            <a:r>
              <a:rPr b="0" i="0" lang="en-US" sz="1050" u="none" cap="none" strike="noStrike">
                <a:solidFill>
                  <a:srgbClr val="1D1D1F"/>
                </a:solidFill>
                <a:latin typeface="Arial"/>
                <a:ea typeface="Arial"/>
                <a:cs typeface="Arial"/>
                <a:sym typeface="Arial"/>
              </a:rPr>
              <a:t>Said it vs. showed it (no bookings)</a:t>
            </a:r>
            <a:endParaRPr b="0" i="0" sz="1050" u="none" cap="none" strike="noStrike">
              <a:solidFill>
                <a:schemeClr val="dk1"/>
              </a:solidFill>
              <a:latin typeface="Calibri"/>
              <a:ea typeface="Calibri"/>
              <a:cs typeface="Calibri"/>
              <a:sym typeface="Calibri"/>
            </a:endParaRPr>
          </a:p>
        </p:txBody>
      </p:sp>
      <p:sp>
        <p:nvSpPr>
          <p:cNvPr id="67" name="Google Shape;67;p7"/>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8" name="Google Shape;68;p7"/>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69" name="Google Shape;69;p7"/>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1050"/>
              <a:buFont typeface="Arial"/>
              <a:buNone/>
            </a:pPr>
            <a:r>
              <a:rPr b="0" i="0" lang="en-US" sz="1050" u="none" cap="none" strike="noStrike">
                <a:solidFill>
                  <a:srgbClr val="1D1D1F"/>
                </a:solidFill>
                <a:latin typeface="Arial"/>
                <a:ea typeface="Arial"/>
                <a:cs typeface="Arial"/>
                <a:sym typeface="Arial"/>
              </a:rPr>
              <a:t>What to do when the TR triggers</a:t>
            </a:r>
            <a:endParaRPr b="0" i="0" sz="1050" u="none" cap="none" strike="noStrike">
              <a:solidFill>
                <a:schemeClr val="dk1"/>
              </a:solidFill>
              <a:latin typeface="Calibri"/>
              <a:ea typeface="Calibri"/>
              <a:cs typeface="Calibri"/>
              <a:sym typeface="Calibri"/>
            </a:endParaRPr>
          </a:p>
        </p:txBody>
      </p:sp>
      <p:sp>
        <p:nvSpPr>
          <p:cNvPr id="70" name="Google Shape;70;p7"/>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7"/>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mp/claude-0/-workspace-training/3ce5cff6-cccf-5f33-b0ee-0b147a55120e/scratchpad/img8/ill27.png" id="72" name="Google Shape;72;p7"/>
          <p:cNvPicPr preferRelativeResize="0"/>
          <p:nvPr/>
        </p:nvPicPr>
        <p:blipFill rotWithShape="1">
          <a:blip r:embed="rId4">
            <a:alphaModFix/>
          </a:blip>
          <a:srcRect b="0" l="0" r="0" t="0"/>
          <a:stretch/>
        </p:blipFill>
        <p:spPr>
          <a:xfrm>
            <a:off x="5928845" y="1517904"/>
            <a:ext cx="2150918" cy="2103120"/>
          </a:xfrm>
          <a:prstGeom prst="rect">
            <a:avLst/>
          </a:prstGeom>
          <a:noFill/>
          <a:ln>
            <a:noFill/>
          </a:ln>
        </p:spPr>
      </p:pic>
      <p:sp>
        <p:nvSpPr>
          <p:cNvPr id="73" name="Google Shape;73;p7"/>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7"/>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7"/>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7"/>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7"/>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8"/>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KEEP MCT</a:t>
            </a:r>
            <a:endParaRPr b="0" i="0" sz="800" u="none" cap="none" strike="noStrike">
              <a:solidFill>
                <a:schemeClr val="dk1"/>
              </a:solidFill>
              <a:latin typeface="Calibri"/>
              <a:ea typeface="Calibri"/>
              <a:cs typeface="Calibri"/>
              <a:sym typeface="Calibri"/>
            </a:endParaRPr>
          </a:p>
        </p:txBody>
      </p:sp>
      <p:sp>
        <p:nvSpPr>
          <p:cNvPr id="86" name="Google Shape;86;p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2400"/>
              <a:buFont typeface="Play"/>
              <a:buNone/>
            </a:pPr>
            <a:r>
              <a:rPr b="1" i="0" lang="en-US" sz="2400" u="none" cap="none" strike="noStrike">
                <a:solidFill>
                  <a:srgbClr val="1D1D1F"/>
                </a:solidFill>
                <a:latin typeface="Play"/>
                <a:ea typeface="Play"/>
                <a:cs typeface="Play"/>
                <a:sym typeface="Play"/>
              </a:rPr>
              <a:t>What is this?</a:t>
            </a:r>
            <a:endParaRPr b="0" i="0" sz="2400" u="none" cap="none" strike="noStrike">
              <a:solidFill>
                <a:schemeClr val="dk1"/>
              </a:solidFill>
              <a:latin typeface="Calibri"/>
              <a:ea typeface="Calibri"/>
              <a:cs typeface="Calibri"/>
              <a:sym typeface="Calibri"/>
            </a:endParaRPr>
          </a:p>
        </p:txBody>
      </p:sp>
      <p:sp>
        <p:nvSpPr>
          <p:cNvPr id="87" name="Google Shape;87;p8"/>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1200"/>
              <a:buFont typeface="Arial"/>
              <a:buNone/>
            </a:pPr>
            <a:r>
              <a:rPr b="0" i="0" lang="en-US" sz="1200" u="none" cap="none" strike="noStrike">
                <a:solidFill>
                  <a:srgbClr val="6E6E73"/>
                </a:solidFill>
                <a:latin typeface="Arial"/>
                <a:ea typeface="Arial"/>
                <a:cs typeface="Arial"/>
                <a:sym typeface="Arial"/>
              </a:rPr>
              <a:t>C plans to complete their MCT, then cancel, so they don't pay the ETF.</a:t>
            </a:r>
            <a:endParaRPr b="0" i="0" sz="1200" u="none" cap="none" strike="noStrike">
              <a:solidFill>
                <a:schemeClr val="dk1"/>
              </a:solidFill>
              <a:latin typeface="Calibri"/>
              <a:ea typeface="Calibri"/>
              <a:cs typeface="Calibri"/>
              <a:sym typeface="Calibri"/>
            </a:endParaRPr>
          </a:p>
        </p:txBody>
      </p:sp>
      <p:sp>
        <p:nvSpPr>
          <p:cNvPr id="88" name="Google Shape;88;p8"/>
          <p:cNvSpPr/>
          <p:nvPr/>
        </p:nvSpPr>
        <p:spPr>
          <a:xfrm>
            <a:off x="411480" y="1298448"/>
            <a:ext cx="4069080" cy="868680"/>
          </a:xfrm>
          <a:prstGeom prst="roundRect">
            <a:avLst>
              <a:gd fmla="val 842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a:off x="576072" y="1563624"/>
            <a:ext cx="347472" cy="347472"/>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0" name="Google Shape;90;p8"/>
          <p:cNvPicPr preferRelativeResize="0"/>
          <p:nvPr/>
        </p:nvPicPr>
        <p:blipFill rotWithShape="1">
          <a:blip r:embed="rId3">
            <a:alphaModFix/>
          </a:blip>
          <a:srcRect b="0" l="0" r="0" t="0"/>
          <a:stretch/>
        </p:blipFill>
        <p:spPr>
          <a:xfrm>
            <a:off x="659465" y="1647017"/>
            <a:ext cx="180685" cy="180685"/>
          </a:xfrm>
          <a:prstGeom prst="rect">
            <a:avLst/>
          </a:prstGeom>
          <a:noFill/>
          <a:ln>
            <a:noFill/>
          </a:ln>
        </p:spPr>
      </p:pic>
      <p:sp>
        <p:nvSpPr>
          <p:cNvPr id="91" name="Google Shape;91;p8"/>
          <p:cNvSpPr txBox="1"/>
          <p:nvPr/>
        </p:nvSpPr>
        <p:spPr>
          <a:xfrm>
            <a:off x="1069848" y="1298448"/>
            <a:ext cx="329184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200"/>
              <a:buFont typeface="Play"/>
              <a:buNone/>
            </a:pPr>
            <a:r>
              <a:rPr b="1" i="0" lang="en-US" sz="1200" u="none" cap="none" strike="noStrike">
                <a:solidFill>
                  <a:srgbClr val="1D1D1F"/>
                </a:solidFill>
                <a:latin typeface="Play"/>
                <a:ea typeface="Play"/>
                <a:cs typeface="Play"/>
                <a:sym typeface="Play"/>
              </a:rPr>
              <a:t>They say it</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6E6E73"/>
              </a:buClr>
              <a:buSzPts val="950"/>
              <a:buFont typeface="Arial"/>
              <a:buNone/>
            </a:pPr>
            <a:r>
              <a:rPr b="0" i="0" lang="en-US" sz="950" u="none" cap="none" strike="noStrike">
                <a:solidFill>
                  <a:srgbClr val="6E6E73"/>
                </a:solidFill>
                <a:latin typeface="Arial"/>
                <a:ea typeface="Arial"/>
                <a:cs typeface="Arial"/>
                <a:sym typeface="Arial"/>
              </a:rPr>
              <a:t>Tells us they'll cancel once the MCT is done.</a:t>
            </a:r>
            <a:endParaRPr b="0" i="0" sz="1200" u="none" cap="none" strike="noStrike">
              <a:solidFill>
                <a:schemeClr val="dk1"/>
              </a:solidFill>
              <a:latin typeface="Calibri"/>
              <a:ea typeface="Calibri"/>
              <a:cs typeface="Calibri"/>
              <a:sym typeface="Calibri"/>
            </a:endParaRPr>
          </a:p>
        </p:txBody>
      </p:sp>
      <p:sp>
        <p:nvSpPr>
          <p:cNvPr id="92" name="Google Shape;92;p8"/>
          <p:cNvSpPr/>
          <p:nvPr/>
        </p:nvSpPr>
        <p:spPr>
          <a:xfrm>
            <a:off x="4663440" y="1298448"/>
            <a:ext cx="4069080" cy="868680"/>
          </a:xfrm>
          <a:prstGeom prst="roundRect">
            <a:avLst>
              <a:gd fmla="val 842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8"/>
          <p:cNvSpPr/>
          <p:nvPr/>
        </p:nvSpPr>
        <p:spPr>
          <a:xfrm>
            <a:off x="4828032" y="1563624"/>
            <a:ext cx="347472" cy="347472"/>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4" name="Google Shape;94;p8"/>
          <p:cNvPicPr preferRelativeResize="0"/>
          <p:nvPr/>
        </p:nvPicPr>
        <p:blipFill rotWithShape="1">
          <a:blip r:embed="rId4">
            <a:alphaModFix/>
          </a:blip>
          <a:srcRect b="0" l="0" r="0" t="0"/>
          <a:stretch/>
        </p:blipFill>
        <p:spPr>
          <a:xfrm>
            <a:off x="4911425" y="1647017"/>
            <a:ext cx="180685" cy="180685"/>
          </a:xfrm>
          <a:prstGeom prst="rect">
            <a:avLst/>
          </a:prstGeom>
          <a:noFill/>
          <a:ln>
            <a:noFill/>
          </a:ln>
        </p:spPr>
      </p:pic>
      <p:sp>
        <p:nvSpPr>
          <p:cNvPr id="95" name="Google Shape;95;p8"/>
          <p:cNvSpPr txBox="1"/>
          <p:nvPr/>
        </p:nvSpPr>
        <p:spPr>
          <a:xfrm>
            <a:off x="5321808" y="1298448"/>
            <a:ext cx="329184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200"/>
              <a:buFont typeface="Play"/>
              <a:buNone/>
            </a:pPr>
            <a:r>
              <a:rPr b="1" i="0" lang="en-US" sz="1200" u="none" cap="none" strike="noStrike">
                <a:solidFill>
                  <a:srgbClr val="1D1D1F"/>
                </a:solidFill>
                <a:latin typeface="Play"/>
                <a:ea typeface="Play"/>
                <a:cs typeface="Play"/>
                <a:sym typeface="Play"/>
              </a:rPr>
              <a:t>They show it</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6E6E73"/>
              </a:buClr>
              <a:buSzPts val="950"/>
              <a:buFont typeface="Arial"/>
              <a:buNone/>
            </a:pPr>
            <a:r>
              <a:rPr b="0" i="0" lang="en-US" sz="950" u="none" cap="none" strike="noStrike">
                <a:solidFill>
                  <a:srgbClr val="6E6E73"/>
                </a:solidFill>
                <a:latin typeface="Arial"/>
                <a:ea typeface="Arial"/>
                <a:cs typeface="Arial"/>
                <a:sym typeface="Arial"/>
              </a:rPr>
              <a:t>Doesn't book on purpose. Ex: 1 invoiced job, 4 paid MFs, $105 ETF, asks when they'll hit MCT.</a:t>
            </a:r>
            <a:endParaRPr b="0" i="0" sz="1200" u="none" cap="none" strike="noStrike">
              <a:solidFill>
                <a:schemeClr val="dk1"/>
              </a:solidFill>
              <a:latin typeface="Calibri"/>
              <a:ea typeface="Calibri"/>
              <a:cs typeface="Calibri"/>
              <a:sym typeface="Calibri"/>
            </a:endParaRPr>
          </a:p>
        </p:txBody>
      </p:sp>
      <p:sp>
        <p:nvSpPr>
          <p:cNvPr id="96" name="Google Shape;96;p8"/>
          <p:cNvSpPr txBox="1"/>
          <p:nvPr/>
        </p:nvSpPr>
        <p:spPr>
          <a:xfrm>
            <a:off x="411480" y="2304288"/>
            <a:ext cx="36576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3261E"/>
              </a:buClr>
              <a:buSzPts val="800"/>
              <a:buFont typeface="Play"/>
              <a:buNone/>
            </a:pPr>
            <a:r>
              <a:rPr b="1" i="0" lang="en-US" spc="50" sz="800" u="none" cap="none" strike="noStrike">
                <a:solidFill>
                  <a:srgbClr val="B3261E"/>
                </a:solidFill>
                <a:latin typeface="Play"/>
                <a:ea typeface="Play"/>
                <a:cs typeface="Play"/>
                <a:sym typeface="Play"/>
              </a:rPr>
              <a:t>TWO TRAPS TO AVOID</a:t>
            </a:r>
            <a:endParaRPr b="0" i="0" sz="800" u="none" cap="none" strike="noStrike">
              <a:solidFill>
                <a:schemeClr val="dk1"/>
              </a:solidFill>
              <a:latin typeface="Calibri"/>
              <a:ea typeface="Calibri"/>
              <a:cs typeface="Calibri"/>
              <a:sym typeface="Calibri"/>
            </a:endParaRPr>
          </a:p>
        </p:txBody>
      </p:sp>
      <p:sp>
        <p:nvSpPr>
          <p:cNvPr id="97" name="Google Shape;97;p8"/>
          <p:cNvSpPr/>
          <p:nvPr/>
        </p:nvSpPr>
        <p:spPr>
          <a:xfrm>
            <a:off x="411480" y="2514600"/>
            <a:ext cx="4069080" cy="1417320"/>
          </a:xfrm>
          <a:prstGeom prst="roundRect">
            <a:avLst>
              <a:gd fmla="val 5161"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p:nvPr/>
        </p:nvSpPr>
        <p:spPr>
          <a:xfrm>
            <a:off x="411480" y="2514600"/>
            <a:ext cx="4069080" cy="329184"/>
          </a:xfrm>
          <a:prstGeom prst="roundRect">
            <a:avLst>
              <a:gd fmla="val 16667" name="adj"/>
            </a:avLst>
          </a:prstGeom>
          <a:solidFill>
            <a:srgbClr val="B3261E"/>
          </a:solidFill>
          <a:ln cap="flat" cmpd="sng" w="12700">
            <a:solidFill>
              <a:srgbClr val="B3261E"/>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Play"/>
              <a:buNone/>
            </a:pPr>
            <a:r>
              <a:rPr b="1" i="0" lang="en-US" sz="1050" u="none" cap="none" strike="noStrike">
                <a:solidFill>
                  <a:srgbClr val="FFFFFF"/>
                </a:solidFill>
                <a:latin typeface="Play"/>
                <a:ea typeface="Play"/>
                <a:cs typeface="Play"/>
                <a:sym typeface="Play"/>
              </a:rPr>
              <a:t>Trap 1: Over-warning about the ETF</a:t>
            </a:r>
            <a:endParaRPr b="0" i="0" sz="1050" u="none" cap="none" strike="noStrike">
              <a:solidFill>
                <a:schemeClr val="dk1"/>
              </a:solidFill>
              <a:latin typeface="Calibri"/>
              <a:ea typeface="Calibri"/>
              <a:cs typeface="Calibri"/>
              <a:sym typeface="Calibri"/>
            </a:endParaRPr>
          </a:p>
        </p:txBody>
      </p:sp>
      <p:sp>
        <p:nvSpPr>
          <p:cNvPr id="99" name="Google Shape;99;p8"/>
          <p:cNvSpPr txBox="1"/>
          <p:nvPr/>
        </p:nvSpPr>
        <p:spPr>
          <a:xfrm>
            <a:off x="576072" y="2953512"/>
            <a:ext cx="3739896" cy="905256"/>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1D1D1F"/>
              </a:buClr>
              <a:buSzPts val="950"/>
              <a:buFont typeface="Arial"/>
              <a:buChar char="•"/>
            </a:pPr>
            <a:r>
              <a:rPr b="0" i="0" lang="en-US" sz="950" u="none" cap="none" strike="noStrike">
                <a:solidFill>
                  <a:srgbClr val="1D1D1F"/>
                </a:solidFill>
                <a:latin typeface="Arial"/>
                <a:ea typeface="Arial"/>
                <a:cs typeface="Arial"/>
                <a:sym typeface="Arial"/>
              </a:rPr>
              <a:t>They already accepted paying off the term</a:t>
            </a:r>
            <a:endParaRPr b="0" i="0" sz="95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D1D1F"/>
              </a:buClr>
              <a:buSzPts val="950"/>
              <a:buFont typeface="Arial"/>
              <a:buChar char="•"/>
            </a:pPr>
            <a:r>
              <a:rPr b="0" i="0" lang="en-US" sz="950" u="none" cap="none" strike="noStrike">
                <a:solidFill>
                  <a:srgbClr val="1D1D1F"/>
                </a:solidFill>
                <a:latin typeface="Arial"/>
                <a:ea typeface="Arial"/>
                <a:cs typeface="Arial"/>
                <a:sym typeface="Arial"/>
              </a:rPr>
              <a:t>Bringing it up again just sounds naggy</a:t>
            </a:r>
            <a:endParaRPr b="0" i="0" sz="950" u="none" cap="none" strike="noStrike">
              <a:solidFill>
                <a:schemeClr val="dk1"/>
              </a:solidFill>
              <a:latin typeface="Calibri"/>
              <a:ea typeface="Calibri"/>
              <a:cs typeface="Calibri"/>
              <a:sym typeface="Calibri"/>
            </a:endParaRPr>
          </a:p>
        </p:txBody>
      </p:sp>
      <p:sp>
        <p:nvSpPr>
          <p:cNvPr id="100" name="Google Shape;100;p8"/>
          <p:cNvSpPr/>
          <p:nvPr/>
        </p:nvSpPr>
        <p:spPr>
          <a:xfrm>
            <a:off x="4663440" y="2514600"/>
            <a:ext cx="4069080" cy="1417320"/>
          </a:xfrm>
          <a:prstGeom prst="roundRect">
            <a:avLst>
              <a:gd fmla="val 5161"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8"/>
          <p:cNvSpPr/>
          <p:nvPr/>
        </p:nvSpPr>
        <p:spPr>
          <a:xfrm>
            <a:off x="4663440" y="2514600"/>
            <a:ext cx="4069080" cy="329184"/>
          </a:xfrm>
          <a:prstGeom prst="roundRect">
            <a:avLst>
              <a:gd fmla="val 16667" name="adj"/>
            </a:avLst>
          </a:prstGeom>
          <a:solidFill>
            <a:srgbClr val="B3261E"/>
          </a:solidFill>
          <a:ln cap="flat" cmpd="sng" w="12700">
            <a:solidFill>
              <a:srgbClr val="B3261E"/>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Play"/>
              <a:buNone/>
            </a:pPr>
            <a:r>
              <a:rPr b="1" i="0" lang="en-US" sz="1050" u="none" cap="none" strike="noStrike">
                <a:solidFill>
                  <a:srgbClr val="FFFFFF"/>
                </a:solidFill>
                <a:latin typeface="Play"/>
                <a:ea typeface="Play"/>
                <a:cs typeface="Play"/>
                <a:sym typeface="Play"/>
              </a:rPr>
              <a:t>Trap 2: Waiving the ETF</a:t>
            </a:r>
            <a:endParaRPr b="0" i="0" sz="1050" u="none" cap="none" strike="noStrike">
              <a:solidFill>
                <a:schemeClr val="dk1"/>
              </a:solidFill>
              <a:latin typeface="Calibri"/>
              <a:ea typeface="Calibri"/>
              <a:cs typeface="Calibri"/>
              <a:sym typeface="Calibri"/>
            </a:endParaRPr>
          </a:p>
        </p:txBody>
      </p:sp>
      <p:sp>
        <p:nvSpPr>
          <p:cNvPr id="102" name="Google Shape;102;p8"/>
          <p:cNvSpPr txBox="1"/>
          <p:nvPr/>
        </p:nvSpPr>
        <p:spPr>
          <a:xfrm>
            <a:off x="4828032" y="2953512"/>
            <a:ext cx="3739896" cy="905256"/>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1D1D1F"/>
              </a:buClr>
              <a:buSzPts val="900"/>
              <a:buFont typeface="Arial"/>
              <a:buChar char="•"/>
            </a:pPr>
            <a:r>
              <a:rPr b="0" i="0" lang="en-US" sz="900" u="none" cap="none" strike="noStrike">
                <a:solidFill>
                  <a:srgbClr val="1D1D1F"/>
                </a:solidFill>
                <a:latin typeface="Arial"/>
                <a:ea typeface="Arial"/>
                <a:cs typeface="Arial"/>
                <a:sym typeface="Arial"/>
              </a:rPr>
              <a:t>"The unused MFs already cover the ETF"</a:t>
            </a:r>
            <a:endParaRPr b="0" i="0" sz="90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D1D1F"/>
              </a:buClr>
              <a:buSzPts val="900"/>
              <a:buFont typeface="Arial"/>
              <a:buChar char="•"/>
            </a:pPr>
            <a:r>
              <a:rPr b="0" i="0" lang="en-US" sz="900" u="none" cap="none" strike="noStrike">
                <a:solidFill>
                  <a:srgbClr val="1D1D1F"/>
                </a:solidFill>
                <a:latin typeface="Arial"/>
                <a:ea typeface="Arial"/>
                <a:cs typeface="Arial"/>
                <a:sym typeface="Arial"/>
              </a:rPr>
              <a:t>Nothing unfair happened, and nothing is disputed</a:t>
            </a:r>
            <a:endParaRPr b="0" i="0" sz="90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D1D1F"/>
              </a:buClr>
              <a:buSzPts val="900"/>
              <a:buFont typeface="Arial"/>
              <a:buChar char="•"/>
            </a:pPr>
            <a:r>
              <a:rPr b="0" i="0" lang="en-US" sz="900" u="none" cap="none" strike="noStrike">
                <a:solidFill>
                  <a:srgbClr val="1D1D1F"/>
                </a:solidFill>
                <a:latin typeface="Arial"/>
                <a:ea typeface="Arial"/>
                <a:cs typeface="Arial"/>
                <a:sym typeface="Arial"/>
              </a:rPr>
              <a:t>It sets a precedent for customers who pay as agreed</a:t>
            </a:r>
            <a:endParaRPr b="0" i="0" sz="900" u="none" cap="none" strike="noStrike">
              <a:solidFill>
                <a:schemeClr val="dk1"/>
              </a:solidFill>
              <a:latin typeface="Calibri"/>
              <a:ea typeface="Calibri"/>
              <a:cs typeface="Calibri"/>
              <a:sym typeface="Calibri"/>
            </a:endParaRPr>
          </a:p>
        </p:txBody>
      </p:sp>
      <p:sp>
        <p:nvSpPr>
          <p:cNvPr id="103" name="Google Shape;103;p8"/>
          <p:cNvSpPr/>
          <p:nvPr/>
        </p:nvSpPr>
        <p:spPr>
          <a:xfrm>
            <a:off x="411480" y="4069080"/>
            <a:ext cx="8321040" cy="384048"/>
          </a:xfrm>
          <a:prstGeom prst="roundRect">
            <a:avLst>
              <a:gd fmla="val 19048"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4" name="Google Shape;104;p8"/>
          <p:cNvPicPr preferRelativeResize="0"/>
          <p:nvPr/>
        </p:nvPicPr>
        <p:blipFill rotWithShape="1">
          <a:blip r:embed="rId5">
            <a:alphaModFix/>
          </a:blip>
          <a:srcRect b="0" l="0" r="0" t="0"/>
          <a:stretch/>
        </p:blipFill>
        <p:spPr>
          <a:xfrm>
            <a:off x="566928" y="4178808"/>
            <a:ext cx="164592" cy="164592"/>
          </a:xfrm>
          <a:prstGeom prst="rect">
            <a:avLst/>
          </a:prstGeom>
          <a:noFill/>
          <a:ln>
            <a:noFill/>
          </a:ln>
        </p:spPr>
      </p:pic>
      <p:sp>
        <p:nvSpPr>
          <p:cNvPr id="105" name="Google Shape;105;p8"/>
          <p:cNvSpPr txBox="1"/>
          <p:nvPr/>
        </p:nvSpPr>
        <p:spPr>
          <a:xfrm>
            <a:off x="822960" y="4069080"/>
            <a:ext cx="77724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261E"/>
              </a:buClr>
              <a:buSzPts val="1000"/>
              <a:buFont typeface="Arial"/>
              <a:buNone/>
            </a:pPr>
            <a:r>
              <a:rPr b="1" i="0" lang="en-US" sz="1000" u="none" cap="none" strike="noStrike">
                <a:solidFill>
                  <a:srgbClr val="B3261E"/>
                </a:solidFill>
                <a:latin typeface="Arial"/>
                <a:ea typeface="Arial"/>
                <a:cs typeface="Arial"/>
                <a:sym typeface="Arial"/>
              </a:rPr>
              <a:t>Don't waive the ETF:  </a:t>
            </a:r>
            <a:r>
              <a:rPr b="0" i="0" lang="en-US" sz="1000" u="none" cap="none" strike="noStrike">
                <a:solidFill>
                  <a:srgbClr val="1D1D1F"/>
                </a:solidFill>
                <a:latin typeface="Arial"/>
                <a:ea typeface="Arial"/>
                <a:cs typeface="Arial"/>
                <a:sym typeface="Arial"/>
              </a:rPr>
              <a:t>they're working within terms they already agreed to.</a:t>
            </a:r>
            <a:endParaRPr b="0" i="0" sz="1000" u="none" cap="none" strike="noStrike">
              <a:solidFill>
                <a:schemeClr val="dk1"/>
              </a:solidFill>
              <a:latin typeface="Calibri"/>
              <a:ea typeface="Calibri"/>
              <a:cs typeface="Calibri"/>
              <a:sym typeface="Calibri"/>
            </a:endParaRPr>
          </a:p>
        </p:txBody>
      </p:sp>
      <p:sp>
        <p:nvSpPr>
          <p:cNvPr id="106" name="Google Shape;106;p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KEEP MCT</a:t>
            </a:r>
            <a:endParaRPr b="0" i="0" sz="800" u="none" cap="none" strike="noStrike">
              <a:solidFill>
                <a:schemeClr val="dk1"/>
              </a:solidFill>
              <a:latin typeface="Calibri"/>
              <a:ea typeface="Calibri"/>
              <a:cs typeface="Calibri"/>
              <a:sym typeface="Calibri"/>
            </a:endParaRPr>
          </a:p>
        </p:txBody>
      </p:sp>
      <p:sp>
        <p:nvSpPr>
          <p:cNvPr id="113" name="Google Shape;113;p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2400"/>
              <a:buFont typeface="Play"/>
              <a:buNone/>
            </a:pPr>
            <a:r>
              <a:rPr b="1" i="0" lang="en-US" sz="2400" u="none" cap="none" strike="noStrike">
                <a:solidFill>
                  <a:srgbClr val="1D1D1F"/>
                </a:solidFill>
                <a:latin typeface="Play"/>
                <a:ea typeface="Play"/>
                <a:cs typeface="Play"/>
                <a:sym typeface="Play"/>
              </a:rPr>
              <a:t>They say it: "I'll cancel after my MCT"</a:t>
            </a:r>
            <a:endParaRPr b="0" i="0" sz="2400" u="none" cap="none" strike="noStrike">
              <a:solidFill>
                <a:schemeClr val="dk1"/>
              </a:solidFill>
              <a:latin typeface="Calibri"/>
              <a:ea typeface="Calibri"/>
              <a:cs typeface="Calibri"/>
              <a:sym typeface="Calibri"/>
            </a:endParaRPr>
          </a:p>
        </p:txBody>
      </p:sp>
      <p:sp>
        <p:nvSpPr>
          <p:cNvPr id="114" name="Google Shape;114;p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1200"/>
              <a:buFont typeface="Arial"/>
              <a:buNone/>
            </a:pPr>
            <a:r>
              <a:rPr b="0" i="0" lang="en-US" sz="1200" u="none" cap="none" strike="noStrike">
                <a:solidFill>
                  <a:srgbClr val="6E6E73"/>
                </a:solidFill>
                <a:latin typeface="Arial"/>
                <a:ea typeface="Arial"/>
                <a:cs typeface="Arial"/>
                <a:sym typeface="Arial"/>
              </a:rPr>
              <a:t>Confirm their plan, set a TR, and keep the probe friendly.</a:t>
            </a:r>
            <a:endParaRPr b="0" i="0" sz="1200" u="none" cap="none" strike="noStrike">
              <a:solidFill>
                <a:schemeClr val="dk1"/>
              </a:solidFill>
              <a:latin typeface="Calibri"/>
              <a:ea typeface="Calibri"/>
              <a:cs typeface="Calibri"/>
              <a:sym typeface="Calibri"/>
            </a:endParaRPr>
          </a:p>
        </p:txBody>
      </p:sp>
      <p:sp>
        <p:nvSpPr>
          <p:cNvPr id="115" name="Google Shape;115;p9"/>
          <p:cNvSpPr/>
          <p:nvPr/>
        </p:nvSpPr>
        <p:spPr>
          <a:xfrm>
            <a:off x="411480" y="1325880"/>
            <a:ext cx="4069080" cy="548640"/>
          </a:xfrm>
          <a:prstGeom prst="roundRect">
            <a:avLst>
              <a:gd fmla="val 1333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9"/>
          <p:cNvSpPr/>
          <p:nvPr/>
        </p:nvSpPr>
        <p:spPr>
          <a:xfrm>
            <a:off x="539496" y="146304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9"/>
          <p:cNvSpPr txBox="1"/>
          <p:nvPr/>
        </p:nvSpPr>
        <p:spPr>
          <a:xfrm>
            <a:off x="539496" y="146304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118" name="Google Shape;118;p9"/>
          <p:cNvSpPr txBox="1"/>
          <p:nvPr/>
        </p:nvSpPr>
        <p:spPr>
          <a:xfrm>
            <a:off x="923544" y="1325880"/>
            <a:ext cx="3429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950"/>
              <a:buFont typeface="Play"/>
              <a:buNone/>
            </a:pPr>
            <a:r>
              <a:rPr b="1" i="0" lang="en-US" sz="950" u="none" cap="none" strike="noStrike">
                <a:solidFill>
                  <a:srgbClr val="1D1D1F"/>
                </a:solidFill>
                <a:latin typeface="Play"/>
                <a:ea typeface="Play"/>
                <a:cs typeface="Play"/>
                <a:sym typeface="Play"/>
              </a:rPr>
              <a:t>Don't mention the ETF.</a:t>
            </a:r>
            <a:r>
              <a:rPr b="0" i="0" lang="en-US" sz="950" u="none" cap="none" strike="noStrike">
                <a:solidFill>
                  <a:srgbClr val="6E6E73"/>
                </a:solidFill>
                <a:latin typeface="Arial"/>
                <a:ea typeface="Arial"/>
                <a:cs typeface="Arial"/>
                <a:sym typeface="Arial"/>
              </a:rPr>
              <a:t>  They already agreed to the term.</a:t>
            </a:r>
            <a:endParaRPr b="0" i="0" sz="950" u="none" cap="none" strike="noStrike">
              <a:solidFill>
                <a:schemeClr val="dk1"/>
              </a:solidFill>
              <a:latin typeface="Calibri"/>
              <a:ea typeface="Calibri"/>
              <a:cs typeface="Calibri"/>
              <a:sym typeface="Calibri"/>
            </a:endParaRPr>
          </a:p>
        </p:txBody>
      </p:sp>
      <p:sp>
        <p:nvSpPr>
          <p:cNvPr id="119" name="Google Shape;119;p9"/>
          <p:cNvSpPr/>
          <p:nvPr/>
        </p:nvSpPr>
        <p:spPr>
          <a:xfrm>
            <a:off x="411480" y="1947672"/>
            <a:ext cx="4069080" cy="548640"/>
          </a:xfrm>
          <a:prstGeom prst="roundRect">
            <a:avLst>
              <a:gd fmla="val 1333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9"/>
          <p:cNvSpPr/>
          <p:nvPr/>
        </p:nvSpPr>
        <p:spPr>
          <a:xfrm>
            <a:off x="539496" y="2084832"/>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9"/>
          <p:cNvSpPr txBox="1"/>
          <p:nvPr/>
        </p:nvSpPr>
        <p:spPr>
          <a:xfrm>
            <a:off x="539496" y="208483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122" name="Google Shape;122;p9"/>
          <p:cNvSpPr txBox="1"/>
          <p:nvPr/>
        </p:nvSpPr>
        <p:spPr>
          <a:xfrm>
            <a:off x="923544" y="1947672"/>
            <a:ext cx="3429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950"/>
              <a:buFont typeface="Play"/>
              <a:buNone/>
            </a:pPr>
            <a:r>
              <a:rPr b="1" i="0" lang="en-US" sz="950" u="none" cap="none" strike="noStrike">
                <a:solidFill>
                  <a:srgbClr val="1D1D1F"/>
                </a:solidFill>
                <a:latin typeface="Play"/>
                <a:ea typeface="Play"/>
                <a:cs typeface="Play"/>
                <a:sym typeface="Play"/>
              </a:rPr>
              <a:t>Acknowledge and confirm</a:t>
            </a:r>
            <a:r>
              <a:rPr b="0" i="0" lang="en-US" sz="950" u="none" cap="none" strike="noStrike">
                <a:solidFill>
                  <a:srgbClr val="6E6E73"/>
                </a:solidFill>
                <a:latin typeface="Arial"/>
                <a:ea typeface="Arial"/>
                <a:cs typeface="Arial"/>
                <a:sym typeface="Arial"/>
              </a:rPr>
              <a:t>  their plan to finish the term.</a:t>
            </a:r>
            <a:endParaRPr b="0" i="0" sz="950" u="none" cap="none" strike="noStrike">
              <a:solidFill>
                <a:schemeClr val="dk1"/>
              </a:solidFill>
              <a:latin typeface="Calibri"/>
              <a:ea typeface="Calibri"/>
              <a:cs typeface="Calibri"/>
              <a:sym typeface="Calibri"/>
            </a:endParaRPr>
          </a:p>
        </p:txBody>
      </p:sp>
      <p:sp>
        <p:nvSpPr>
          <p:cNvPr id="123" name="Google Shape;123;p9"/>
          <p:cNvSpPr/>
          <p:nvPr/>
        </p:nvSpPr>
        <p:spPr>
          <a:xfrm>
            <a:off x="411480" y="2569464"/>
            <a:ext cx="4069080" cy="548640"/>
          </a:xfrm>
          <a:prstGeom prst="roundRect">
            <a:avLst>
              <a:gd fmla="val 1333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9"/>
          <p:cNvSpPr/>
          <p:nvPr/>
        </p:nvSpPr>
        <p:spPr>
          <a:xfrm>
            <a:off x="539496" y="270662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9"/>
          <p:cNvSpPr txBox="1"/>
          <p:nvPr/>
        </p:nvSpPr>
        <p:spPr>
          <a:xfrm>
            <a:off x="539496" y="270662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3</a:t>
            </a:r>
            <a:endParaRPr b="0" i="0" sz="900" u="none" cap="none" strike="noStrike">
              <a:solidFill>
                <a:schemeClr val="dk1"/>
              </a:solidFill>
              <a:latin typeface="Calibri"/>
              <a:ea typeface="Calibri"/>
              <a:cs typeface="Calibri"/>
              <a:sym typeface="Calibri"/>
            </a:endParaRPr>
          </a:p>
        </p:txBody>
      </p:sp>
      <p:sp>
        <p:nvSpPr>
          <p:cNvPr id="126" name="Google Shape;126;p9"/>
          <p:cNvSpPr txBox="1"/>
          <p:nvPr/>
        </p:nvSpPr>
        <p:spPr>
          <a:xfrm>
            <a:off x="923544" y="2569464"/>
            <a:ext cx="3429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950"/>
              <a:buFont typeface="Play"/>
              <a:buNone/>
            </a:pPr>
            <a:r>
              <a:rPr b="1" i="0" lang="en-US" sz="950" u="none" cap="none" strike="noStrike">
                <a:solidFill>
                  <a:srgbClr val="1D1D1F"/>
                </a:solidFill>
                <a:latin typeface="Play"/>
                <a:ea typeface="Play"/>
                <a:cs typeface="Play"/>
                <a:sym typeface="Play"/>
              </a:rPr>
              <a:t>Set a TR:</a:t>
            </a:r>
            <a:r>
              <a:rPr b="0" i="0" lang="en-US" sz="950" u="none" cap="none" strike="noStrike">
                <a:solidFill>
                  <a:srgbClr val="6E6E73"/>
                </a:solidFill>
                <a:latin typeface="Arial"/>
                <a:ea typeface="Arial"/>
                <a:cs typeface="Arial"/>
                <a:sym typeface="Arial"/>
              </a:rPr>
              <a:t>  the day after the MF that fulfills the MCT is charged.</a:t>
            </a:r>
            <a:endParaRPr b="0" i="0" sz="950" u="none" cap="none" strike="noStrike">
              <a:solidFill>
                <a:schemeClr val="dk1"/>
              </a:solidFill>
              <a:latin typeface="Calibri"/>
              <a:ea typeface="Calibri"/>
              <a:cs typeface="Calibri"/>
              <a:sym typeface="Calibri"/>
            </a:endParaRPr>
          </a:p>
        </p:txBody>
      </p:sp>
      <p:sp>
        <p:nvSpPr>
          <p:cNvPr id="127" name="Google Shape;127;p9"/>
          <p:cNvSpPr/>
          <p:nvPr/>
        </p:nvSpPr>
        <p:spPr>
          <a:xfrm>
            <a:off x="411480" y="3191256"/>
            <a:ext cx="4069080" cy="548640"/>
          </a:xfrm>
          <a:prstGeom prst="roundRect">
            <a:avLst>
              <a:gd fmla="val 1333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9"/>
          <p:cNvSpPr/>
          <p:nvPr/>
        </p:nvSpPr>
        <p:spPr>
          <a:xfrm>
            <a:off x="539496" y="3328416"/>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9"/>
          <p:cNvSpPr txBox="1"/>
          <p:nvPr/>
        </p:nvSpPr>
        <p:spPr>
          <a:xfrm>
            <a:off x="539496" y="332841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4</a:t>
            </a:r>
            <a:endParaRPr b="0" i="0" sz="900" u="none" cap="none" strike="noStrike">
              <a:solidFill>
                <a:schemeClr val="dk1"/>
              </a:solidFill>
              <a:latin typeface="Calibri"/>
              <a:ea typeface="Calibri"/>
              <a:cs typeface="Calibri"/>
              <a:sym typeface="Calibri"/>
            </a:endParaRPr>
          </a:p>
        </p:txBody>
      </p:sp>
      <p:sp>
        <p:nvSpPr>
          <p:cNvPr id="130" name="Google Shape;130;p9"/>
          <p:cNvSpPr txBox="1"/>
          <p:nvPr/>
        </p:nvSpPr>
        <p:spPr>
          <a:xfrm>
            <a:off x="923544" y="3191256"/>
            <a:ext cx="3429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950"/>
              <a:buFont typeface="Play"/>
              <a:buNone/>
            </a:pPr>
            <a:r>
              <a:rPr b="1" i="0" lang="en-US" sz="950" u="none" cap="none" strike="noStrike">
                <a:solidFill>
                  <a:srgbClr val="1D1D1F"/>
                </a:solidFill>
                <a:latin typeface="Play"/>
                <a:ea typeface="Play"/>
                <a:cs typeface="Play"/>
                <a:sym typeface="Play"/>
              </a:rPr>
              <a:t>Advise:</a:t>
            </a:r>
            <a:r>
              <a:rPr b="0" i="0" lang="en-US" sz="950" u="none" cap="none" strike="noStrike">
                <a:solidFill>
                  <a:srgbClr val="6E6E73"/>
                </a:solidFill>
                <a:latin typeface="Arial"/>
                <a:ea typeface="Arial"/>
                <a:cs typeface="Arial"/>
                <a:sym typeface="Arial"/>
              </a:rPr>
              <a:t>  "We've noted your request and will follow up once your MCT is fulfilled."</a:t>
            </a:r>
            <a:endParaRPr b="0" i="0" sz="950" u="none" cap="none" strike="noStrike">
              <a:solidFill>
                <a:schemeClr val="dk1"/>
              </a:solidFill>
              <a:latin typeface="Calibri"/>
              <a:ea typeface="Calibri"/>
              <a:cs typeface="Calibri"/>
              <a:sym typeface="Calibri"/>
            </a:endParaRPr>
          </a:p>
        </p:txBody>
      </p:sp>
      <p:sp>
        <p:nvSpPr>
          <p:cNvPr id="131" name="Google Shape;131;p9"/>
          <p:cNvSpPr/>
          <p:nvPr/>
        </p:nvSpPr>
        <p:spPr>
          <a:xfrm>
            <a:off x="411480" y="3813048"/>
            <a:ext cx="4069080" cy="548640"/>
          </a:xfrm>
          <a:prstGeom prst="roundRect">
            <a:avLst>
              <a:gd fmla="val 1333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9"/>
          <p:cNvSpPr/>
          <p:nvPr/>
        </p:nvSpPr>
        <p:spPr>
          <a:xfrm>
            <a:off x="539496" y="395020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9"/>
          <p:cNvSpPr txBox="1"/>
          <p:nvPr/>
        </p:nvSpPr>
        <p:spPr>
          <a:xfrm>
            <a:off x="539496" y="395020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5</a:t>
            </a:r>
            <a:endParaRPr b="0" i="0" sz="900" u="none" cap="none" strike="noStrike">
              <a:solidFill>
                <a:schemeClr val="dk1"/>
              </a:solidFill>
              <a:latin typeface="Calibri"/>
              <a:ea typeface="Calibri"/>
              <a:cs typeface="Calibri"/>
              <a:sym typeface="Calibri"/>
            </a:endParaRPr>
          </a:p>
        </p:txBody>
      </p:sp>
      <p:sp>
        <p:nvSpPr>
          <p:cNvPr id="134" name="Google Shape;134;p9"/>
          <p:cNvSpPr txBox="1"/>
          <p:nvPr/>
        </p:nvSpPr>
        <p:spPr>
          <a:xfrm>
            <a:off x="923544" y="3813048"/>
            <a:ext cx="3429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950"/>
              <a:buFont typeface="Play"/>
              <a:buNone/>
            </a:pPr>
            <a:r>
              <a:rPr b="1" i="0" lang="en-US" sz="950" u="none" cap="none" strike="noStrike">
                <a:solidFill>
                  <a:srgbClr val="1D1D1F"/>
                </a:solidFill>
                <a:latin typeface="Play"/>
                <a:ea typeface="Play"/>
                <a:cs typeface="Play"/>
                <a:sym typeface="Play"/>
              </a:rPr>
              <a:t>Still probe, kindly.</a:t>
            </a:r>
            <a:r>
              <a:rPr b="0" i="0" lang="en-US" sz="950" u="none" cap="none" strike="noStrike">
                <a:solidFill>
                  <a:srgbClr val="6E6E73"/>
                </a:solidFill>
                <a:latin typeface="Arial"/>
                <a:ea typeface="Arial"/>
                <a:cs typeface="Arial"/>
                <a:sym typeface="Arial"/>
              </a:rPr>
              <a:t>  Not a cancellation interview.</a:t>
            </a:r>
            <a:endParaRPr b="0" i="0" sz="950" u="none" cap="none" strike="noStrike">
              <a:solidFill>
                <a:schemeClr val="dk1"/>
              </a:solidFill>
              <a:latin typeface="Calibri"/>
              <a:ea typeface="Calibri"/>
              <a:cs typeface="Calibri"/>
              <a:sym typeface="Calibri"/>
            </a:endParaRPr>
          </a:p>
        </p:txBody>
      </p:sp>
      <p:sp>
        <p:nvSpPr>
          <p:cNvPr id="135" name="Google Shape;135;p9"/>
          <p:cNvSpPr/>
          <p:nvPr/>
        </p:nvSpPr>
        <p:spPr>
          <a:xfrm>
            <a:off x="4663440" y="1325880"/>
            <a:ext cx="4069080" cy="1097280"/>
          </a:xfrm>
          <a:prstGeom prst="roundRect">
            <a:avLst>
              <a:gd fmla="val 6667" name="adj"/>
            </a:avLst>
          </a:prstGeom>
          <a:solidFill>
            <a:srgbClr val="F6F7F9"/>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9"/>
          <p:cNvSpPr txBox="1"/>
          <p:nvPr/>
        </p:nvSpPr>
        <p:spPr>
          <a:xfrm>
            <a:off x="4809744" y="1325880"/>
            <a:ext cx="3776472"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73"/>
              </a:buClr>
              <a:buSzPts val="750"/>
              <a:buFont typeface="Play"/>
              <a:buNone/>
            </a:pPr>
            <a:r>
              <a:rPr b="1" i="0" lang="en-US" sz="750" u="none" cap="none" strike="noStrike">
                <a:solidFill>
                  <a:srgbClr val="6E6E73"/>
                </a:solidFill>
                <a:latin typeface="Play"/>
                <a:ea typeface="Play"/>
                <a:cs typeface="Play"/>
                <a:sym typeface="Play"/>
              </a:rPr>
              <a:t>CUSTOMER</a:t>
            </a:r>
            <a:endParaRPr b="0" i="0" sz="7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D1D1F"/>
              </a:buClr>
              <a:buSzPts val="950"/>
              <a:buFont typeface="Arial"/>
              <a:buNone/>
            </a:pPr>
            <a:r>
              <a:rPr b="0" i="0" lang="en-US" sz="950" u="none" cap="none" strike="noStrike">
                <a:solidFill>
                  <a:srgbClr val="1D1D1F"/>
                </a:solidFill>
                <a:latin typeface="Arial"/>
                <a:ea typeface="Arial"/>
                <a:cs typeface="Arial"/>
                <a:sym typeface="Arial"/>
              </a:rPr>
              <a:t>“I would like to cancel my membership. The agent who signed me up said she would allow me to cancel in 4 months without penalty. I would like to cancel in the 4th month without penalty as promised.”</a:t>
            </a:r>
            <a:endParaRPr b="0" i="0" sz="750" u="none" cap="none" strike="noStrike">
              <a:solidFill>
                <a:schemeClr val="dk1"/>
              </a:solidFill>
              <a:latin typeface="Calibri"/>
              <a:ea typeface="Calibri"/>
              <a:cs typeface="Calibri"/>
              <a:sym typeface="Calibri"/>
            </a:endParaRPr>
          </a:p>
        </p:txBody>
      </p:sp>
      <p:sp>
        <p:nvSpPr>
          <p:cNvPr id="137" name="Google Shape;137;p9"/>
          <p:cNvSpPr/>
          <p:nvPr/>
        </p:nvSpPr>
        <p:spPr>
          <a:xfrm>
            <a:off x="4663440" y="2560320"/>
            <a:ext cx="4069080" cy="1874520"/>
          </a:xfrm>
          <a:prstGeom prst="roundRect">
            <a:avLst>
              <a:gd fmla="val 39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9"/>
          <p:cNvSpPr/>
          <p:nvPr/>
        </p:nvSpPr>
        <p:spPr>
          <a:xfrm>
            <a:off x="4663440" y="2633472"/>
            <a:ext cx="45720" cy="1728216"/>
          </a:xfrm>
          <a:prstGeom prst="rect">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9"/>
          <p:cNvSpPr txBox="1"/>
          <p:nvPr/>
        </p:nvSpPr>
        <p:spPr>
          <a:xfrm>
            <a:off x="4846320" y="2560320"/>
            <a:ext cx="3749040" cy="1874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7A6F"/>
              </a:buClr>
              <a:buSzPts val="800"/>
              <a:buFont typeface="Play"/>
              <a:buNone/>
            </a:pPr>
            <a:r>
              <a:rPr b="1" i="0" lang="en-US" sz="800" u="none" cap="none" strike="noStrike">
                <a:solidFill>
                  <a:srgbClr val="0B7A6F"/>
                </a:solidFill>
                <a:latin typeface="Play"/>
                <a:ea typeface="Play"/>
                <a:cs typeface="Play"/>
                <a:sym typeface="Play"/>
              </a:rPr>
              <a:t>SAMPLE PROBE</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D1D1F"/>
              </a:buClr>
              <a:buSzPts val="1000"/>
              <a:buFont typeface="Arial"/>
              <a:buNone/>
            </a:pPr>
            <a:r>
              <a:rPr b="0" i="1" lang="en-US" sz="1000" u="none" cap="none" strike="noStrike">
                <a:solidFill>
                  <a:srgbClr val="1D1D1F"/>
                </a:solidFill>
                <a:latin typeface="Arial"/>
                <a:ea typeface="Arial"/>
                <a:cs typeface="Arial"/>
                <a:sym typeface="Arial"/>
              </a:rPr>
              <a:t>“Got it! We can definitely note that for you. Since you're still early in your membership and just planning ahead, can I ask what's making you feel you may not want to continue after the six months? And how was your cleaning with &lt;&lt;cleaner name&gt;&gt;?”</a:t>
            </a:r>
            <a:endParaRPr b="0" i="0" sz="1000" u="none" cap="none" strike="noStrike">
              <a:solidFill>
                <a:schemeClr val="dk1"/>
              </a:solidFill>
              <a:latin typeface="Calibri"/>
              <a:ea typeface="Calibri"/>
              <a:cs typeface="Calibri"/>
              <a:sym typeface="Calibri"/>
            </a:endParaRPr>
          </a:p>
        </p:txBody>
      </p:sp>
      <p:sp>
        <p:nvSpPr>
          <p:cNvPr id="140" name="Google Shape;140;p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KEEP MCT</a:t>
            </a:r>
            <a:endParaRPr b="0" i="0" sz="800" u="none" cap="none" strike="noStrike">
              <a:solidFill>
                <a:schemeClr val="dk1"/>
              </a:solidFill>
              <a:latin typeface="Calibri"/>
              <a:ea typeface="Calibri"/>
              <a:cs typeface="Calibri"/>
              <a:sym typeface="Calibri"/>
            </a:endParaRPr>
          </a:p>
        </p:txBody>
      </p:sp>
      <p:sp>
        <p:nvSpPr>
          <p:cNvPr id="147" name="Google Shape;147;p1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2400"/>
              <a:buFont typeface="Play"/>
              <a:buNone/>
            </a:pPr>
            <a:r>
              <a:rPr b="1" i="0" lang="en-US" sz="2400" u="none" cap="none" strike="noStrike">
                <a:solidFill>
                  <a:srgbClr val="1D1D1F"/>
                </a:solidFill>
                <a:latin typeface="Play"/>
                <a:ea typeface="Play"/>
                <a:cs typeface="Play"/>
                <a:sym typeface="Play"/>
              </a:rPr>
              <a:t>One more retention attempt? (optional)</a:t>
            </a:r>
            <a:endParaRPr b="0" i="0" sz="2400" u="none" cap="none" strike="noStrike">
              <a:solidFill>
                <a:schemeClr val="dk1"/>
              </a:solidFill>
              <a:latin typeface="Calibri"/>
              <a:ea typeface="Calibri"/>
              <a:cs typeface="Calibri"/>
              <a:sym typeface="Calibri"/>
            </a:endParaRPr>
          </a:p>
        </p:txBody>
      </p:sp>
      <p:sp>
        <p:nvSpPr>
          <p:cNvPr id="148" name="Google Shape;148;p1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1200"/>
              <a:buFont typeface="Arial"/>
              <a:buNone/>
            </a:pPr>
            <a:r>
              <a:rPr b="0" i="0" lang="en-US" sz="1200" u="none" cap="none" strike="noStrike">
                <a:solidFill>
                  <a:srgbClr val="6E6E73"/>
                </a:solidFill>
                <a:latin typeface="Arial"/>
                <a:ea typeface="Arial"/>
                <a:cs typeface="Arial"/>
                <a:sym typeface="Arial"/>
              </a:rPr>
              <a:t>Worth a try, as long as nothing gets waived.</a:t>
            </a:r>
            <a:endParaRPr b="0" i="0" sz="1200" u="none" cap="none" strike="noStrike">
              <a:solidFill>
                <a:schemeClr val="dk1"/>
              </a:solidFill>
              <a:latin typeface="Calibri"/>
              <a:ea typeface="Calibri"/>
              <a:cs typeface="Calibri"/>
              <a:sym typeface="Calibri"/>
            </a:endParaRPr>
          </a:p>
        </p:txBody>
      </p:sp>
      <p:sp>
        <p:nvSpPr>
          <p:cNvPr id="149" name="Google Shape;149;p10"/>
          <p:cNvSpPr/>
          <p:nvPr/>
        </p:nvSpPr>
        <p:spPr>
          <a:xfrm>
            <a:off x="411480" y="1325880"/>
            <a:ext cx="4069080" cy="1828800"/>
          </a:xfrm>
          <a:prstGeom prst="roundRect">
            <a:avLst>
              <a:gd fmla="val 4000"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0"/>
          <p:cNvSpPr/>
          <p:nvPr/>
        </p:nvSpPr>
        <p:spPr>
          <a:xfrm>
            <a:off x="411480" y="1399032"/>
            <a:ext cx="45720" cy="1682496"/>
          </a:xfrm>
          <a:prstGeom prst="rect">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0"/>
          <p:cNvSpPr txBox="1"/>
          <p:nvPr/>
        </p:nvSpPr>
        <p:spPr>
          <a:xfrm>
            <a:off x="594360" y="1325880"/>
            <a:ext cx="3749040" cy="182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7A6F"/>
              </a:buClr>
              <a:buSzPts val="800"/>
              <a:buFont typeface="Play"/>
              <a:buNone/>
            </a:pPr>
            <a:r>
              <a:rPr b="1" i="0" lang="en-US" sz="800" u="none" cap="none" strike="noStrike">
                <a:solidFill>
                  <a:srgbClr val="0B7A6F"/>
                </a:solidFill>
                <a:latin typeface="Play"/>
                <a:ea typeface="Play"/>
                <a:cs typeface="Play"/>
                <a:sym typeface="Play"/>
              </a:rPr>
              <a:t>NEW CLEANER + $20 CREDIT</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D1D1F"/>
              </a:buClr>
              <a:buSzPts val="1000"/>
              <a:buFont typeface="Arial"/>
              <a:buNone/>
            </a:pPr>
            <a:r>
              <a:rPr b="0" i="1" lang="en-US" sz="1000" u="none" cap="none" strike="noStrike">
                <a:solidFill>
                  <a:srgbClr val="1D1D1F"/>
                </a:solidFill>
                <a:latin typeface="Arial"/>
                <a:ea typeface="Arial"/>
                <a:cs typeface="Arial"/>
                <a:sym typeface="Arial"/>
              </a:rPr>
              <a:t>“I'll make a note in the system to cancel your membership once your MCT is fulfilled... I know I'm pushing my luck here, but I'd really love to give you a better experience. I can book you with a new cleaner and even apply a $20 credit toward that job.”</a:t>
            </a:r>
            <a:endParaRPr b="0" i="0" sz="1000" u="none" cap="none" strike="noStrike">
              <a:solidFill>
                <a:schemeClr val="dk1"/>
              </a:solidFill>
              <a:latin typeface="Calibri"/>
              <a:ea typeface="Calibri"/>
              <a:cs typeface="Calibri"/>
              <a:sym typeface="Calibri"/>
            </a:endParaRPr>
          </a:p>
        </p:txBody>
      </p:sp>
      <p:sp>
        <p:nvSpPr>
          <p:cNvPr id="152" name="Google Shape;152;p10"/>
          <p:cNvSpPr/>
          <p:nvPr/>
        </p:nvSpPr>
        <p:spPr>
          <a:xfrm>
            <a:off x="4663440" y="1325880"/>
            <a:ext cx="4069080" cy="1828800"/>
          </a:xfrm>
          <a:prstGeom prst="roundRect">
            <a:avLst>
              <a:gd fmla="val 4000" name="adj"/>
            </a:avLst>
          </a:prstGeom>
          <a:solidFill>
            <a:srgbClr val="FFF3D6"/>
          </a:solidFill>
          <a:ln cap="flat" cmpd="sng" w="9525">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0"/>
          <p:cNvSpPr/>
          <p:nvPr/>
        </p:nvSpPr>
        <p:spPr>
          <a:xfrm>
            <a:off x="4663440" y="1325880"/>
            <a:ext cx="4069080" cy="329184"/>
          </a:xfrm>
          <a:prstGeom prst="roundRect">
            <a:avLst>
              <a:gd fmla="val 16667" name="adj"/>
            </a:avLst>
          </a:prstGeom>
          <a:solidFill>
            <a:srgbClr val="9A6410"/>
          </a:solidFill>
          <a:ln cap="flat" cmpd="sng" w="12700">
            <a:solidFill>
              <a:srgbClr val="9A641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Play"/>
              <a:buNone/>
            </a:pPr>
            <a:r>
              <a:rPr b="1" i="0" lang="en-US" sz="1050" u="none" cap="none" strike="noStrike">
                <a:solidFill>
                  <a:srgbClr val="FFFFFF"/>
                </a:solidFill>
                <a:latin typeface="Play"/>
                <a:ea typeface="Play"/>
                <a:cs typeface="Play"/>
                <a:sym typeface="Play"/>
              </a:rPr>
              <a:t>Close to MCT and frustrated?</a:t>
            </a:r>
            <a:endParaRPr b="0" i="0" sz="1050" u="none" cap="none" strike="noStrike">
              <a:solidFill>
                <a:schemeClr val="dk1"/>
              </a:solidFill>
              <a:latin typeface="Calibri"/>
              <a:ea typeface="Calibri"/>
              <a:cs typeface="Calibri"/>
              <a:sym typeface="Calibri"/>
            </a:endParaRPr>
          </a:p>
        </p:txBody>
      </p:sp>
      <p:sp>
        <p:nvSpPr>
          <p:cNvPr id="154" name="Google Shape;154;p10"/>
          <p:cNvSpPr txBox="1"/>
          <p:nvPr/>
        </p:nvSpPr>
        <p:spPr>
          <a:xfrm>
            <a:off x="4828032" y="1764792"/>
            <a:ext cx="3739896" cy="1316736"/>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1D1D1F"/>
              </a:buClr>
              <a:buSzPts val="950"/>
              <a:buFont typeface="Arial"/>
              <a:buChar char="•"/>
            </a:pPr>
            <a:r>
              <a:rPr b="0" i="0" lang="en-US" sz="950" u="none" cap="none" strike="noStrike">
                <a:solidFill>
                  <a:srgbClr val="1D1D1F"/>
                </a:solidFill>
                <a:latin typeface="Arial"/>
                <a:ea typeface="Arial"/>
                <a:cs typeface="Arial"/>
                <a:sym typeface="Arial"/>
              </a:rPr>
              <a:t>Offer to charge the remaining month(s) now</a:t>
            </a:r>
            <a:endParaRPr b="0" i="0" sz="95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D1D1F"/>
              </a:buClr>
              <a:buSzPts val="950"/>
              <a:buFont typeface="Arial"/>
              <a:buChar char="•"/>
            </a:pPr>
            <a:r>
              <a:rPr b="0" i="0" lang="en-US" sz="950" u="none" cap="none" strike="noStrike">
                <a:solidFill>
                  <a:srgbClr val="1D1D1F"/>
                </a:solidFill>
                <a:latin typeface="Arial"/>
                <a:ea typeface="Arial"/>
                <a:cs typeface="Arial"/>
                <a:sym typeface="Arial"/>
              </a:rPr>
              <a:t>Then cancel right away</a:t>
            </a:r>
            <a:endParaRPr b="0" i="0" sz="95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D1D1F"/>
              </a:buClr>
              <a:buSzPts val="950"/>
              <a:buFont typeface="Arial"/>
              <a:buChar char="•"/>
            </a:pPr>
            <a:r>
              <a:rPr b="0" i="0" lang="en-US" sz="950" u="none" cap="none" strike="noStrike">
                <a:solidFill>
                  <a:srgbClr val="1D1D1F"/>
                </a:solidFill>
                <a:latin typeface="Arial"/>
                <a:ea typeface="Arial"/>
                <a:cs typeface="Arial"/>
                <a:sym typeface="Arial"/>
              </a:rPr>
              <a:t>De-escalates without waiving anything: they still pay what they owe, just faster</a:t>
            </a:r>
            <a:endParaRPr b="0" i="0" sz="950" u="none" cap="none" strike="noStrike">
              <a:solidFill>
                <a:schemeClr val="dk1"/>
              </a:solidFill>
              <a:latin typeface="Calibri"/>
              <a:ea typeface="Calibri"/>
              <a:cs typeface="Calibri"/>
              <a:sym typeface="Calibri"/>
            </a:endParaRPr>
          </a:p>
        </p:txBody>
      </p:sp>
      <p:sp>
        <p:nvSpPr>
          <p:cNvPr id="155" name="Google Shape;155;p10"/>
          <p:cNvSpPr/>
          <p:nvPr/>
        </p:nvSpPr>
        <p:spPr>
          <a:xfrm>
            <a:off x="411480" y="333756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6" name="Google Shape;156;p10"/>
          <p:cNvPicPr preferRelativeResize="0"/>
          <p:nvPr/>
        </p:nvPicPr>
        <p:blipFill rotWithShape="1">
          <a:blip r:embed="rId3">
            <a:alphaModFix/>
          </a:blip>
          <a:srcRect b="0" l="0" r="0" t="0"/>
          <a:stretch/>
        </p:blipFill>
        <p:spPr>
          <a:xfrm>
            <a:off x="566928" y="3447288"/>
            <a:ext cx="164592" cy="164592"/>
          </a:xfrm>
          <a:prstGeom prst="rect">
            <a:avLst/>
          </a:prstGeom>
          <a:noFill/>
          <a:ln>
            <a:noFill/>
          </a:ln>
        </p:spPr>
      </p:pic>
      <p:sp>
        <p:nvSpPr>
          <p:cNvPr id="157" name="Google Shape;157;p10"/>
          <p:cNvSpPr txBox="1"/>
          <p:nvPr/>
        </p:nvSpPr>
        <p:spPr>
          <a:xfrm>
            <a:off x="822960" y="3438144"/>
            <a:ext cx="77724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A6410"/>
              </a:buClr>
              <a:buSzPts val="1000"/>
              <a:buFont typeface="Arial"/>
              <a:buNone/>
            </a:pPr>
            <a:r>
              <a:rPr b="1" i="0" lang="en-US" sz="1000" u="none" cap="none" strike="noStrike">
                <a:solidFill>
                  <a:srgbClr val="9A6410"/>
                </a:solidFill>
                <a:latin typeface="Arial"/>
                <a:ea typeface="Arial"/>
                <a:cs typeface="Arial"/>
                <a:sym typeface="Arial"/>
              </a:rPr>
              <a:t>Manual charges:  </a:t>
            </a:r>
            <a:r>
              <a:rPr b="0" i="0" lang="en-US" sz="1000" u="none" cap="none" strike="noStrike">
                <a:solidFill>
                  <a:srgbClr val="1D1D1F"/>
                </a:solidFill>
                <a:latin typeface="Arial"/>
                <a:ea typeface="Arial"/>
                <a:cs typeface="Arial"/>
                <a:sym typeface="Arial"/>
              </a:rPr>
              <a:t>see the Notion article PG - Creating Manual Charges.</a:t>
            </a:r>
            <a:endParaRPr b="0" i="0" sz="1000" u="none" cap="none" strike="noStrike">
              <a:solidFill>
                <a:schemeClr val="dk1"/>
              </a:solidFill>
              <a:latin typeface="Calibri"/>
              <a:ea typeface="Calibri"/>
              <a:cs typeface="Calibri"/>
              <a:sym typeface="Calibri"/>
            </a:endParaRPr>
          </a:p>
        </p:txBody>
      </p:sp>
      <p:sp>
        <p:nvSpPr>
          <p:cNvPr id="158" name="Google Shape;158;p1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KEEP MCT</a:t>
            </a:r>
            <a:endParaRPr b="0" i="0" sz="800" u="none" cap="none" strike="noStrike">
              <a:solidFill>
                <a:schemeClr val="dk1"/>
              </a:solidFill>
              <a:latin typeface="Calibri"/>
              <a:ea typeface="Calibri"/>
              <a:cs typeface="Calibri"/>
              <a:sym typeface="Calibri"/>
            </a:endParaRPr>
          </a:p>
        </p:txBody>
      </p:sp>
      <p:sp>
        <p:nvSpPr>
          <p:cNvPr id="165" name="Google Shape;165;p1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2400"/>
              <a:buFont typeface="Play"/>
              <a:buNone/>
            </a:pPr>
            <a:r>
              <a:rPr b="1" i="0" lang="en-US" sz="2400" u="none" cap="none" strike="noStrike">
                <a:solidFill>
                  <a:srgbClr val="1D1D1F"/>
                </a:solidFill>
                <a:latin typeface="Play"/>
                <a:ea typeface="Play"/>
                <a:cs typeface="Play"/>
                <a:sym typeface="Play"/>
              </a:rPr>
              <a:t>When the TR triggers</a:t>
            </a:r>
            <a:endParaRPr b="0" i="0" sz="2400" u="none" cap="none" strike="noStrike">
              <a:solidFill>
                <a:schemeClr val="dk1"/>
              </a:solidFill>
              <a:latin typeface="Calibri"/>
              <a:ea typeface="Calibri"/>
              <a:cs typeface="Calibri"/>
              <a:sym typeface="Calibri"/>
            </a:endParaRPr>
          </a:p>
        </p:txBody>
      </p:sp>
      <p:sp>
        <p:nvSpPr>
          <p:cNvPr id="166" name="Google Shape;166;p1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1200"/>
              <a:buFont typeface="Arial"/>
              <a:buNone/>
            </a:pPr>
            <a:r>
              <a:rPr b="0" i="0" lang="en-US" sz="1200" u="none" cap="none" strike="noStrike">
                <a:solidFill>
                  <a:srgbClr val="6E6E73"/>
                </a:solidFill>
                <a:latin typeface="Arial"/>
                <a:ea typeface="Arial"/>
                <a:cs typeface="Arial"/>
                <a:sym typeface="Arial"/>
              </a:rPr>
              <a:t>First check: did C book again after you set the reminder?</a:t>
            </a:r>
            <a:endParaRPr b="0" i="0" sz="1200" u="none" cap="none" strike="noStrike">
              <a:solidFill>
                <a:schemeClr val="dk1"/>
              </a:solidFill>
              <a:latin typeface="Calibri"/>
              <a:ea typeface="Calibri"/>
              <a:cs typeface="Calibri"/>
              <a:sym typeface="Calibri"/>
            </a:endParaRPr>
          </a:p>
        </p:txBody>
      </p:sp>
      <p:sp>
        <p:nvSpPr>
          <p:cNvPr id="167" name="Google Shape;167;p11"/>
          <p:cNvSpPr/>
          <p:nvPr/>
        </p:nvSpPr>
        <p:spPr>
          <a:xfrm>
            <a:off x="3200400" y="1298448"/>
            <a:ext cx="2743200" cy="457200"/>
          </a:xfrm>
          <a:prstGeom prst="roundRect">
            <a:avLst>
              <a:gd fmla="val 16000" name="adj"/>
            </a:avLst>
          </a:prstGeom>
          <a:solidFill>
            <a:srgbClr val="FFF3D6"/>
          </a:solidFill>
          <a:ln cap="flat" cmpd="sng" w="12700">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txBox="1"/>
          <p:nvPr/>
        </p:nvSpPr>
        <p:spPr>
          <a:xfrm>
            <a:off x="3200400" y="1298448"/>
            <a:ext cx="2743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6410"/>
              </a:buClr>
              <a:buSzPts val="1000"/>
              <a:buFont typeface="Play"/>
              <a:buNone/>
            </a:pPr>
            <a:r>
              <a:rPr b="1" i="0" lang="en-US" sz="1000" u="none" cap="none" strike="noStrike">
                <a:solidFill>
                  <a:srgbClr val="9A6410"/>
                </a:solidFill>
                <a:latin typeface="Play"/>
                <a:ea typeface="Play"/>
                <a:cs typeface="Play"/>
                <a:sym typeface="Play"/>
              </a:rPr>
              <a:t>Did C book again?</a:t>
            </a:r>
            <a:endParaRPr b="0" i="0" sz="1000" u="none" cap="none" strike="noStrike">
              <a:solidFill>
                <a:schemeClr val="dk1"/>
              </a:solidFill>
              <a:latin typeface="Calibri"/>
              <a:ea typeface="Calibri"/>
              <a:cs typeface="Calibri"/>
              <a:sym typeface="Calibri"/>
            </a:endParaRPr>
          </a:p>
        </p:txBody>
      </p:sp>
      <p:cxnSp>
        <p:nvCxnSpPr>
          <p:cNvPr id="169" name="Google Shape;169;p11"/>
          <p:cNvCxnSpPr/>
          <p:nvPr/>
        </p:nvCxnSpPr>
        <p:spPr>
          <a:xfrm>
            <a:off x="4572000" y="1755648"/>
            <a:ext cx="0" cy="182880"/>
          </a:xfrm>
          <a:prstGeom prst="straightConnector1">
            <a:avLst/>
          </a:prstGeom>
          <a:noFill/>
          <a:ln cap="flat" cmpd="sng" w="12700">
            <a:solidFill>
              <a:srgbClr val="6E6E73"/>
            </a:solidFill>
            <a:prstDash val="solid"/>
            <a:round/>
            <a:headEnd len="sm" w="sm" type="none"/>
            <a:tailEnd len="sm" w="sm" type="none"/>
          </a:ln>
        </p:spPr>
      </p:cxnSp>
      <p:cxnSp>
        <p:nvCxnSpPr>
          <p:cNvPr id="170" name="Google Shape;170;p11"/>
          <p:cNvCxnSpPr/>
          <p:nvPr/>
        </p:nvCxnSpPr>
        <p:spPr>
          <a:xfrm>
            <a:off x="2446020" y="1938528"/>
            <a:ext cx="4251960" cy="0"/>
          </a:xfrm>
          <a:prstGeom prst="straightConnector1">
            <a:avLst/>
          </a:prstGeom>
          <a:noFill/>
          <a:ln cap="flat" cmpd="sng" w="12700">
            <a:solidFill>
              <a:srgbClr val="6E6E73"/>
            </a:solidFill>
            <a:prstDash val="solid"/>
            <a:round/>
            <a:headEnd len="sm" w="sm" type="none"/>
            <a:tailEnd len="sm" w="sm" type="none"/>
          </a:ln>
        </p:spPr>
      </p:cxnSp>
      <p:cxnSp>
        <p:nvCxnSpPr>
          <p:cNvPr id="171" name="Google Shape;171;p11"/>
          <p:cNvCxnSpPr/>
          <p:nvPr/>
        </p:nvCxnSpPr>
        <p:spPr>
          <a:xfrm>
            <a:off x="2446020" y="1938528"/>
            <a:ext cx="0" cy="210312"/>
          </a:xfrm>
          <a:prstGeom prst="straightConnector1">
            <a:avLst/>
          </a:prstGeom>
          <a:noFill/>
          <a:ln cap="flat" cmpd="sng" w="12700">
            <a:solidFill>
              <a:srgbClr val="6E6E73"/>
            </a:solidFill>
            <a:prstDash val="solid"/>
            <a:round/>
            <a:headEnd len="sm" w="sm" type="none"/>
            <a:tailEnd len="med" w="med" type="triangle"/>
          </a:ln>
        </p:spPr>
      </p:cxnSp>
      <p:cxnSp>
        <p:nvCxnSpPr>
          <p:cNvPr id="172" name="Google Shape;172;p11"/>
          <p:cNvCxnSpPr/>
          <p:nvPr/>
        </p:nvCxnSpPr>
        <p:spPr>
          <a:xfrm>
            <a:off x="6697980" y="1938528"/>
            <a:ext cx="0" cy="210312"/>
          </a:xfrm>
          <a:prstGeom prst="straightConnector1">
            <a:avLst/>
          </a:prstGeom>
          <a:noFill/>
          <a:ln cap="flat" cmpd="sng" w="12700">
            <a:solidFill>
              <a:srgbClr val="6E6E73"/>
            </a:solidFill>
            <a:prstDash val="solid"/>
            <a:round/>
            <a:headEnd len="sm" w="sm" type="none"/>
            <a:tailEnd len="med" w="med" type="triangle"/>
          </a:ln>
        </p:spPr>
      </p:cxnSp>
      <p:sp>
        <p:nvSpPr>
          <p:cNvPr id="173" name="Google Shape;173;p11"/>
          <p:cNvSpPr txBox="1"/>
          <p:nvPr/>
        </p:nvSpPr>
        <p:spPr>
          <a:xfrm>
            <a:off x="2519172" y="1956816"/>
            <a:ext cx="54864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850"/>
              <a:buFont typeface="Arial"/>
              <a:buNone/>
            </a:pPr>
            <a:r>
              <a:rPr b="1" i="0" lang="en-US" sz="850" u="none" cap="none" strike="noStrike">
                <a:solidFill>
                  <a:srgbClr val="6E6E73"/>
                </a:solidFill>
                <a:latin typeface="Arial"/>
                <a:ea typeface="Arial"/>
                <a:cs typeface="Arial"/>
                <a:sym typeface="Arial"/>
              </a:rPr>
              <a:t>No</a:t>
            </a:r>
            <a:endParaRPr b="0" i="0" sz="850" u="none" cap="none" strike="noStrike">
              <a:solidFill>
                <a:schemeClr val="dk1"/>
              </a:solidFill>
              <a:latin typeface="Calibri"/>
              <a:ea typeface="Calibri"/>
              <a:cs typeface="Calibri"/>
              <a:sym typeface="Calibri"/>
            </a:endParaRPr>
          </a:p>
        </p:txBody>
      </p:sp>
      <p:sp>
        <p:nvSpPr>
          <p:cNvPr id="174" name="Google Shape;174;p11"/>
          <p:cNvSpPr txBox="1"/>
          <p:nvPr/>
        </p:nvSpPr>
        <p:spPr>
          <a:xfrm>
            <a:off x="6771132" y="1956816"/>
            <a:ext cx="54864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850"/>
              <a:buFont typeface="Arial"/>
              <a:buNone/>
            </a:pPr>
            <a:r>
              <a:rPr b="1" i="0" lang="en-US" sz="850" u="none" cap="none" strike="noStrike">
                <a:solidFill>
                  <a:srgbClr val="6E6E73"/>
                </a:solidFill>
                <a:latin typeface="Arial"/>
                <a:ea typeface="Arial"/>
                <a:cs typeface="Arial"/>
                <a:sym typeface="Arial"/>
              </a:rPr>
              <a:t>Yes</a:t>
            </a:r>
            <a:endParaRPr b="0" i="0" sz="850" u="none" cap="none" strike="noStrike">
              <a:solidFill>
                <a:schemeClr val="dk1"/>
              </a:solidFill>
              <a:latin typeface="Calibri"/>
              <a:ea typeface="Calibri"/>
              <a:cs typeface="Calibri"/>
              <a:sym typeface="Calibri"/>
            </a:endParaRPr>
          </a:p>
        </p:txBody>
      </p:sp>
      <p:sp>
        <p:nvSpPr>
          <p:cNvPr id="175" name="Google Shape;175;p11"/>
          <p:cNvSpPr/>
          <p:nvPr/>
        </p:nvSpPr>
        <p:spPr>
          <a:xfrm>
            <a:off x="411480" y="2148840"/>
            <a:ext cx="4069080" cy="1600200"/>
          </a:xfrm>
          <a:prstGeom prst="roundRect">
            <a:avLst>
              <a:gd fmla="val 4571"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a:off x="411480" y="2148840"/>
            <a:ext cx="406908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Play"/>
              <a:buNone/>
            </a:pPr>
            <a:r>
              <a:rPr b="1" i="0" lang="en-US" sz="1050" u="none" cap="none" strike="noStrike">
                <a:solidFill>
                  <a:srgbClr val="FFFFFF"/>
                </a:solidFill>
                <a:latin typeface="Play"/>
                <a:ea typeface="Play"/>
                <a:cs typeface="Play"/>
                <a:sym typeface="Play"/>
              </a:rPr>
              <a:t>No: they waited it out</a:t>
            </a:r>
            <a:endParaRPr b="0" i="0" sz="1050" u="none" cap="none" strike="noStrike">
              <a:solidFill>
                <a:schemeClr val="dk1"/>
              </a:solidFill>
              <a:latin typeface="Calibri"/>
              <a:ea typeface="Calibri"/>
              <a:cs typeface="Calibri"/>
              <a:sym typeface="Calibri"/>
            </a:endParaRPr>
          </a:p>
        </p:txBody>
      </p:sp>
      <p:sp>
        <p:nvSpPr>
          <p:cNvPr id="177" name="Google Shape;177;p11"/>
          <p:cNvSpPr txBox="1"/>
          <p:nvPr/>
        </p:nvSpPr>
        <p:spPr>
          <a:xfrm>
            <a:off x="576072" y="2587752"/>
            <a:ext cx="3739896" cy="1088136"/>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1D1D1F"/>
              </a:buClr>
              <a:buSzPts val="950"/>
              <a:buFont typeface="Arial"/>
              <a:buChar char="•"/>
            </a:pPr>
            <a:r>
              <a:rPr b="0" i="0" lang="en-US" sz="950" u="none" cap="none" strike="noStrike">
                <a:solidFill>
                  <a:srgbClr val="1D1D1F"/>
                </a:solidFill>
                <a:latin typeface="Arial"/>
                <a:ea typeface="Arial"/>
                <a:cs typeface="Arial"/>
                <a:sym typeface="Arial"/>
              </a:rPr>
              <a:t>Proactively cancel the membership</a:t>
            </a:r>
            <a:endParaRPr b="0" i="0" sz="95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D1D1F"/>
              </a:buClr>
              <a:buSzPts val="950"/>
              <a:buFont typeface="Arial"/>
              <a:buChar char="•"/>
            </a:pPr>
            <a:r>
              <a:rPr b="0" i="0" lang="en-US" sz="950" u="none" cap="none" strike="noStrike">
                <a:solidFill>
                  <a:srgbClr val="1D1D1F"/>
                </a:solidFill>
                <a:latin typeface="Arial"/>
                <a:ea typeface="Arial"/>
                <a:cs typeface="Arial"/>
                <a:sym typeface="Arial"/>
              </a:rPr>
              <a:t>Send a message confirming it's closed</a:t>
            </a:r>
            <a:endParaRPr b="0" i="0" sz="95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D1D1F"/>
              </a:buClr>
              <a:buSzPts val="950"/>
              <a:buFont typeface="Arial"/>
              <a:buChar char="•"/>
            </a:pPr>
            <a:r>
              <a:rPr b="0" i="0" lang="en-US" sz="950" u="none" cap="none" strike="noStrike">
                <a:solidFill>
                  <a:srgbClr val="1D1D1F"/>
                </a:solidFill>
                <a:latin typeface="Arial"/>
                <a:ea typeface="Arial"/>
                <a:cs typeface="Arial"/>
                <a:sym typeface="Arial"/>
              </a:rPr>
              <a:t>They meant to leave once the term was up</a:t>
            </a:r>
            <a:endParaRPr b="0" i="0" sz="950" u="none" cap="none" strike="noStrike">
              <a:solidFill>
                <a:schemeClr val="dk1"/>
              </a:solidFill>
              <a:latin typeface="Calibri"/>
              <a:ea typeface="Calibri"/>
              <a:cs typeface="Calibri"/>
              <a:sym typeface="Calibri"/>
            </a:endParaRPr>
          </a:p>
        </p:txBody>
      </p:sp>
      <p:sp>
        <p:nvSpPr>
          <p:cNvPr id="178" name="Google Shape;178;p11"/>
          <p:cNvSpPr/>
          <p:nvPr/>
        </p:nvSpPr>
        <p:spPr>
          <a:xfrm>
            <a:off x="4663440" y="2148840"/>
            <a:ext cx="4069080" cy="1600200"/>
          </a:xfrm>
          <a:prstGeom prst="roundRect">
            <a:avLst>
              <a:gd fmla="val 4571" name="adj"/>
            </a:avLst>
          </a:prstGeom>
          <a:solidFill>
            <a:srgbClr val="FFF3D6"/>
          </a:solidFill>
          <a:ln cap="flat" cmpd="sng" w="9525">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1"/>
          <p:cNvSpPr/>
          <p:nvPr/>
        </p:nvSpPr>
        <p:spPr>
          <a:xfrm>
            <a:off x="4663440" y="2148840"/>
            <a:ext cx="4069080" cy="329184"/>
          </a:xfrm>
          <a:prstGeom prst="roundRect">
            <a:avLst>
              <a:gd fmla="val 16667" name="adj"/>
            </a:avLst>
          </a:prstGeom>
          <a:solidFill>
            <a:srgbClr val="9A6410"/>
          </a:solidFill>
          <a:ln cap="flat" cmpd="sng" w="12700">
            <a:solidFill>
              <a:srgbClr val="9A641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Play"/>
              <a:buNone/>
            </a:pPr>
            <a:r>
              <a:rPr b="1" i="0" lang="en-US" sz="1050" u="none" cap="none" strike="noStrike">
                <a:solidFill>
                  <a:srgbClr val="FFFFFF"/>
                </a:solidFill>
                <a:latin typeface="Play"/>
                <a:ea typeface="Play"/>
                <a:cs typeface="Play"/>
                <a:sym typeface="Play"/>
              </a:rPr>
              <a:t>Yes: they used it again</a:t>
            </a:r>
            <a:endParaRPr b="0" i="0" sz="1050" u="none" cap="none" strike="noStrike">
              <a:solidFill>
                <a:schemeClr val="dk1"/>
              </a:solidFill>
              <a:latin typeface="Calibri"/>
              <a:ea typeface="Calibri"/>
              <a:cs typeface="Calibri"/>
              <a:sym typeface="Calibri"/>
            </a:endParaRPr>
          </a:p>
        </p:txBody>
      </p:sp>
      <p:sp>
        <p:nvSpPr>
          <p:cNvPr id="180" name="Google Shape;180;p11"/>
          <p:cNvSpPr txBox="1"/>
          <p:nvPr/>
        </p:nvSpPr>
        <p:spPr>
          <a:xfrm>
            <a:off x="4828032" y="2587752"/>
            <a:ext cx="3739896" cy="1088136"/>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1D1D1F"/>
              </a:buClr>
              <a:buSzPts val="950"/>
              <a:buFont typeface="Arial"/>
              <a:buChar char="•"/>
            </a:pPr>
            <a:r>
              <a:rPr b="0" i="0" lang="en-US" sz="950" u="none" cap="none" strike="noStrike">
                <a:solidFill>
                  <a:srgbClr val="1D1D1F"/>
                </a:solidFill>
                <a:latin typeface="Arial"/>
                <a:ea typeface="Arial"/>
                <a:cs typeface="Arial"/>
                <a:sym typeface="Arial"/>
              </a:rPr>
              <a:t>Reach out: do they still want to cancel?</a:t>
            </a:r>
            <a:endParaRPr b="0" i="0" sz="95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D1D1F"/>
              </a:buClr>
              <a:buSzPts val="950"/>
              <a:buFont typeface="Arial"/>
              <a:buChar char="•"/>
            </a:pPr>
            <a:r>
              <a:rPr b="0" i="0" lang="en-US" sz="950" u="none" cap="none" strike="noStrike">
                <a:solidFill>
                  <a:srgbClr val="1D1D1F"/>
                </a:solidFill>
                <a:latin typeface="Arial"/>
                <a:ea typeface="Arial"/>
                <a:cs typeface="Arial"/>
                <a:sym typeface="Arial"/>
              </a:rPr>
              <a:t>New TR at least 3 days before the next MF</a:t>
            </a:r>
            <a:endParaRPr b="0" i="0" sz="95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D1D1F"/>
              </a:buClr>
              <a:buSzPts val="950"/>
              <a:buFont typeface="Arial"/>
              <a:buChar char="•"/>
            </a:pPr>
            <a:r>
              <a:rPr b="0" i="0" lang="en-US" sz="950" u="none" cap="none" strike="noStrike">
                <a:solidFill>
                  <a:srgbClr val="1D1D1F"/>
                </a:solidFill>
                <a:latin typeface="Arial"/>
                <a:ea typeface="Arial"/>
                <a:cs typeface="Arial"/>
                <a:sym typeface="Arial"/>
              </a:rPr>
              <a:t>Continued use is a real retainability signal</a:t>
            </a:r>
            <a:endParaRPr b="0" i="0" sz="950" u="none" cap="none" strike="noStrike">
              <a:solidFill>
                <a:schemeClr val="dk1"/>
              </a:solidFill>
              <a:latin typeface="Calibri"/>
              <a:ea typeface="Calibri"/>
              <a:cs typeface="Calibri"/>
              <a:sym typeface="Calibri"/>
            </a:endParaRPr>
          </a:p>
        </p:txBody>
      </p:sp>
      <p:sp>
        <p:nvSpPr>
          <p:cNvPr id="181" name="Google Shape;181;p11"/>
          <p:cNvSpPr/>
          <p:nvPr/>
        </p:nvSpPr>
        <p:spPr>
          <a:xfrm>
            <a:off x="411480" y="393192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2" name="Google Shape;182;p11"/>
          <p:cNvPicPr preferRelativeResize="0"/>
          <p:nvPr/>
        </p:nvPicPr>
        <p:blipFill rotWithShape="1">
          <a:blip r:embed="rId3">
            <a:alphaModFix/>
          </a:blip>
          <a:srcRect b="0" l="0" r="0" t="0"/>
          <a:stretch/>
        </p:blipFill>
        <p:spPr>
          <a:xfrm>
            <a:off x="566928" y="4041648"/>
            <a:ext cx="164592" cy="164592"/>
          </a:xfrm>
          <a:prstGeom prst="rect">
            <a:avLst/>
          </a:prstGeom>
          <a:noFill/>
          <a:ln>
            <a:noFill/>
          </a:ln>
        </p:spPr>
      </p:pic>
      <p:sp>
        <p:nvSpPr>
          <p:cNvPr id="183" name="Google Shape;183;p11"/>
          <p:cNvSpPr txBox="1"/>
          <p:nvPr/>
        </p:nvSpPr>
        <p:spPr>
          <a:xfrm>
            <a:off x="822960" y="4032504"/>
            <a:ext cx="77724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A6410"/>
              </a:buClr>
              <a:buSzPts val="1000"/>
              <a:buFont typeface="Arial"/>
              <a:buNone/>
            </a:pPr>
            <a:r>
              <a:rPr b="1" i="0" lang="en-US" sz="1000" u="none" cap="none" strike="noStrike">
                <a:solidFill>
                  <a:srgbClr val="9A6410"/>
                </a:solidFill>
                <a:latin typeface="Arial"/>
                <a:ea typeface="Arial"/>
                <a:cs typeface="Arial"/>
                <a:sym typeface="Arial"/>
              </a:rPr>
              <a:t>Reminder:  </a:t>
            </a:r>
            <a:r>
              <a:rPr b="0" i="0" lang="en-US" sz="1000" u="none" cap="none" strike="noStrike">
                <a:solidFill>
                  <a:srgbClr val="1D1D1F"/>
                </a:solidFill>
                <a:latin typeface="Arial"/>
                <a:ea typeface="Arial"/>
                <a:cs typeface="Arial"/>
                <a:sym typeface="Arial"/>
              </a:rPr>
              <a:t>no ETF applies. Confirm no more MFs will be charged unless they agree to continue.</a:t>
            </a:r>
            <a:endParaRPr b="0" i="0" sz="1000" u="none" cap="none" strike="noStrike">
              <a:solidFill>
                <a:schemeClr val="dk1"/>
              </a:solidFill>
              <a:latin typeface="Calibri"/>
              <a:ea typeface="Calibri"/>
              <a:cs typeface="Calibri"/>
              <a:sym typeface="Calibri"/>
            </a:endParaRPr>
          </a:p>
        </p:txBody>
      </p:sp>
      <p:sp>
        <p:nvSpPr>
          <p:cNvPr id="184" name="Google Shape;184;p1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KEEP MCT  ·  KNOWLEDGE CHECK</a:t>
            </a:r>
            <a:endParaRPr b="0" i="0" sz="800" u="none" cap="none" strike="noStrike">
              <a:solidFill>
                <a:schemeClr val="dk1"/>
              </a:solidFill>
              <a:latin typeface="Calibri"/>
              <a:ea typeface="Calibri"/>
              <a:cs typeface="Calibri"/>
              <a:sym typeface="Calibri"/>
            </a:endParaRPr>
          </a:p>
        </p:txBody>
      </p:sp>
      <p:sp>
        <p:nvSpPr>
          <p:cNvPr id="191" name="Google Shape;191;p1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2400"/>
              <a:buFont typeface="Play"/>
              <a:buNone/>
            </a:pPr>
            <a:r>
              <a:rPr b="1" i="0" lang="en-US" sz="2400" u="none" cap="none" strike="noStrike">
                <a:solidFill>
                  <a:srgbClr val="1D1D1F"/>
                </a:solidFill>
                <a:latin typeface="Play"/>
                <a:ea typeface="Play"/>
                <a:cs typeface="Play"/>
                <a:sym typeface="Play"/>
              </a:rPr>
              <a:t>Let’s See What You’ve Got!</a:t>
            </a:r>
            <a:endParaRPr b="0" i="0" sz="2400" u="none" cap="none" strike="noStrike">
              <a:solidFill>
                <a:schemeClr val="dk1"/>
              </a:solidFill>
              <a:latin typeface="Calibri"/>
              <a:ea typeface="Calibri"/>
              <a:cs typeface="Calibri"/>
              <a:sym typeface="Calibri"/>
            </a:endParaRPr>
          </a:p>
        </p:txBody>
      </p:sp>
      <p:sp>
        <p:nvSpPr>
          <p:cNvPr id="192" name="Google Shape;192;p12"/>
          <p:cNvSpPr/>
          <p:nvPr/>
        </p:nvSpPr>
        <p:spPr>
          <a:xfrm>
            <a:off x="411480" y="1280160"/>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2"/>
          <p:cNvSpPr/>
          <p:nvPr/>
        </p:nvSpPr>
        <p:spPr>
          <a:xfrm>
            <a:off x="548640" y="1536192"/>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2"/>
          <p:cNvSpPr txBox="1"/>
          <p:nvPr/>
        </p:nvSpPr>
        <p:spPr>
          <a:xfrm>
            <a:off x="548640" y="153619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195" name="Google Shape;195;p12"/>
          <p:cNvSpPr txBox="1"/>
          <p:nvPr/>
        </p:nvSpPr>
        <p:spPr>
          <a:xfrm>
            <a:off x="960120" y="1280160"/>
            <a:ext cx="397764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000"/>
              <a:buFont typeface="Arial"/>
              <a:buNone/>
            </a:pPr>
            <a:r>
              <a:rPr b="0" i="0" lang="en-US" sz="1000" u="none" cap="none" strike="noStrike">
                <a:solidFill>
                  <a:srgbClr val="1D1D1F"/>
                </a:solidFill>
                <a:latin typeface="Arial"/>
                <a:ea typeface="Arial"/>
                <a:cs typeface="Arial"/>
                <a:sym typeface="Arial"/>
              </a:rPr>
              <a:t>C: "I'll cancel once my 6 months are up." Do you remind them about the ETF?</a:t>
            </a:r>
            <a:endParaRPr b="0" i="0" sz="1000" u="none" cap="none" strike="noStrike">
              <a:solidFill>
                <a:schemeClr val="dk1"/>
              </a:solidFill>
              <a:latin typeface="Calibri"/>
              <a:ea typeface="Calibri"/>
              <a:cs typeface="Calibri"/>
              <a:sym typeface="Calibri"/>
            </a:endParaRPr>
          </a:p>
        </p:txBody>
      </p:sp>
      <p:sp>
        <p:nvSpPr>
          <p:cNvPr id="196" name="Google Shape;196;p12"/>
          <p:cNvSpPr/>
          <p:nvPr/>
        </p:nvSpPr>
        <p:spPr>
          <a:xfrm>
            <a:off x="5120640" y="1280160"/>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2"/>
          <p:cNvSpPr txBox="1"/>
          <p:nvPr/>
        </p:nvSpPr>
        <p:spPr>
          <a:xfrm>
            <a:off x="5257800" y="1280160"/>
            <a:ext cx="338328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900"/>
              <a:buFont typeface="Arial"/>
              <a:buNone/>
            </a:pPr>
            <a:r>
              <a:rPr b="0" i="0" lang="en-US" sz="900" u="none" cap="none" strike="noStrike">
                <a:solidFill>
                  <a:srgbClr val="1D1D1F"/>
                </a:solidFill>
                <a:latin typeface="Arial"/>
                <a:ea typeface="Arial"/>
                <a:cs typeface="Arial"/>
                <a:sym typeface="Arial"/>
              </a:rPr>
              <a:t>No. They already agreed to finish the term. Confirm, set a TR, probe kindly.</a:t>
            </a:r>
            <a:endParaRPr b="0" i="0" sz="900" u="none" cap="none" strike="noStrike">
              <a:solidFill>
                <a:schemeClr val="dk1"/>
              </a:solidFill>
              <a:latin typeface="Calibri"/>
              <a:ea typeface="Calibri"/>
              <a:cs typeface="Calibri"/>
              <a:sym typeface="Calibri"/>
            </a:endParaRPr>
          </a:p>
        </p:txBody>
      </p:sp>
      <p:sp>
        <p:nvSpPr>
          <p:cNvPr id="198" name="Google Shape;198;p12"/>
          <p:cNvSpPr/>
          <p:nvPr/>
        </p:nvSpPr>
        <p:spPr>
          <a:xfrm>
            <a:off x="411480" y="2139696"/>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2"/>
          <p:cNvSpPr/>
          <p:nvPr/>
        </p:nvSpPr>
        <p:spPr>
          <a:xfrm>
            <a:off x="548640" y="23957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2"/>
          <p:cNvSpPr txBox="1"/>
          <p:nvPr/>
        </p:nvSpPr>
        <p:spPr>
          <a:xfrm>
            <a:off x="548640" y="239572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201" name="Google Shape;201;p12"/>
          <p:cNvSpPr txBox="1"/>
          <p:nvPr/>
        </p:nvSpPr>
        <p:spPr>
          <a:xfrm>
            <a:off x="960120" y="2139696"/>
            <a:ext cx="397764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000"/>
              <a:buFont typeface="Arial"/>
              <a:buNone/>
            </a:pPr>
            <a:r>
              <a:rPr b="0" i="0" lang="en-US" sz="1000" u="none" cap="none" strike="noStrike">
                <a:solidFill>
                  <a:srgbClr val="1D1D1F"/>
                </a:solidFill>
                <a:latin typeface="Arial"/>
                <a:ea typeface="Arial"/>
                <a:cs typeface="Arial"/>
                <a:sym typeface="Arial"/>
              </a:rPr>
              <a:t>When should that Timed Reminder be set for?</a:t>
            </a:r>
            <a:endParaRPr b="0" i="0" sz="1000" u="none" cap="none" strike="noStrike">
              <a:solidFill>
                <a:schemeClr val="dk1"/>
              </a:solidFill>
              <a:latin typeface="Calibri"/>
              <a:ea typeface="Calibri"/>
              <a:cs typeface="Calibri"/>
              <a:sym typeface="Calibri"/>
            </a:endParaRPr>
          </a:p>
        </p:txBody>
      </p:sp>
      <p:sp>
        <p:nvSpPr>
          <p:cNvPr id="202" name="Google Shape;202;p12"/>
          <p:cNvSpPr/>
          <p:nvPr/>
        </p:nvSpPr>
        <p:spPr>
          <a:xfrm>
            <a:off x="5120640" y="2139696"/>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2"/>
          <p:cNvSpPr txBox="1"/>
          <p:nvPr/>
        </p:nvSpPr>
        <p:spPr>
          <a:xfrm>
            <a:off x="5257800" y="2139696"/>
            <a:ext cx="338328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900"/>
              <a:buFont typeface="Arial"/>
              <a:buNone/>
            </a:pPr>
            <a:r>
              <a:rPr b="0" i="0" lang="en-US" sz="900" u="none" cap="none" strike="noStrike">
                <a:solidFill>
                  <a:srgbClr val="1D1D1F"/>
                </a:solidFill>
                <a:latin typeface="Arial"/>
                <a:ea typeface="Arial"/>
                <a:cs typeface="Arial"/>
                <a:sym typeface="Arial"/>
              </a:rPr>
              <a:t>The day after the MF that fulfills the MCT is charged.</a:t>
            </a:r>
            <a:endParaRPr b="0" i="0" sz="900" u="none" cap="none" strike="noStrike">
              <a:solidFill>
                <a:schemeClr val="dk1"/>
              </a:solidFill>
              <a:latin typeface="Calibri"/>
              <a:ea typeface="Calibri"/>
              <a:cs typeface="Calibri"/>
              <a:sym typeface="Calibri"/>
            </a:endParaRPr>
          </a:p>
        </p:txBody>
      </p:sp>
      <p:sp>
        <p:nvSpPr>
          <p:cNvPr id="204" name="Google Shape;204;p12"/>
          <p:cNvSpPr/>
          <p:nvPr/>
        </p:nvSpPr>
        <p:spPr>
          <a:xfrm>
            <a:off x="411480" y="2999232"/>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2"/>
          <p:cNvSpPr/>
          <p:nvPr/>
        </p:nvSpPr>
        <p:spPr>
          <a:xfrm>
            <a:off x="548640" y="325526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2"/>
          <p:cNvSpPr txBox="1"/>
          <p:nvPr/>
        </p:nvSpPr>
        <p:spPr>
          <a:xfrm>
            <a:off x="548640" y="325526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3</a:t>
            </a:r>
            <a:endParaRPr b="0" i="0" sz="900" u="none" cap="none" strike="noStrike">
              <a:solidFill>
                <a:schemeClr val="dk1"/>
              </a:solidFill>
              <a:latin typeface="Calibri"/>
              <a:ea typeface="Calibri"/>
              <a:cs typeface="Calibri"/>
              <a:sym typeface="Calibri"/>
            </a:endParaRPr>
          </a:p>
        </p:txBody>
      </p:sp>
      <p:sp>
        <p:nvSpPr>
          <p:cNvPr id="207" name="Google Shape;207;p12"/>
          <p:cNvSpPr txBox="1"/>
          <p:nvPr/>
        </p:nvSpPr>
        <p:spPr>
          <a:xfrm>
            <a:off x="960120" y="2999232"/>
            <a:ext cx="397764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000"/>
              <a:buFont typeface="Arial"/>
              <a:buNone/>
            </a:pPr>
            <a:r>
              <a:rPr b="0" i="0" lang="en-US" sz="1000" u="none" cap="none" strike="noStrike">
                <a:solidFill>
                  <a:srgbClr val="1D1D1F"/>
                </a:solidFill>
                <a:latin typeface="Arial"/>
                <a:ea typeface="Arial"/>
                <a:cs typeface="Arial"/>
                <a:sym typeface="Arial"/>
              </a:rPr>
              <a:t>No bookings, 4 paid MFs, ETF $105. Waive it, since they've paid enough?</a:t>
            </a:r>
            <a:endParaRPr b="0" i="0" sz="1000" u="none" cap="none" strike="noStrike">
              <a:solidFill>
                <a:schemeClr val="dk1"/>
              </a:solidFill>
              <a:latin typeface="Calibri"/>
              <a:ea typeface="Calibri"/>
              <a:cs typeface="Calibri"/>
              <a:sym typeface="Calibri"/>
            </a:endParaRPr>
          </a:p>
        </p:txBody>
      </p:sp>
      <p:sp>
        <p:nvSpPr>
          <p:cNvPr id="208" name="Google Shape;208;p12"/>
          <p:cNvSpPr/>
          <p:nvPr/>
        </p:nvSpPr>
        <p:spPr>
          <a:xfrm>
            <a:off x="5120640" y="2999232"/>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2"/>
          <p:cNvSpPr txBox="1"/>
          <p:nvPr/>
        </p:nvSpPr>
        <p:spPr>
          <a:xfrm>
            <a:off x="5257800" y="2999232"/>
            <a:ext cx="338328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900"/>
              <a:buFont typeface="Arial"/>
              <a:buNone/>
            </a:pPr>
            <a:r>
              <a:rPr b="0" i="0" lang="en-US" sz="900" u="none" cap="none" strike="noStrike">
                <a:solidFill>
                  <a:srgbClr val="1D1D1F"/>
                </a:solidFill>
                <a:latin typeface="Arial"/>
                <a:ea typeface="Arial"/>
                <a:cs typeface="Arial"/>
                <a:sym typeface="Arial"/>
              </a:rPr>
              <a:t>No. Nothing unfair happened; they're working within terms they agreed to.</a:t>
            </a:r>
            <a:endParaRPr b="0" i="0" sz="900" u="none" cap="none" strike="noStrike">
              <a:solidFill>
                <a:schemeClr val="dk1"/>
              </a:solidFill>
              <a:latin typeface="Calibri"/>
              <a:ea typeface="Calibri"/>
              <a:cs typeface="Calibri"/>
              <a:sym typeface="Calibri"/>
            </a:endParaRPr>
          </a:p>
        </p:txBody>
      </p:sp>
      <p:sp>
        <p:nvSpPr>
          <p:cNvPr id="210" name="Google Shape;210;p12"/>
          <p:cNvSpPr/>
          <p:nvPr/>
        </p:nvSpPr>
        <p:spPr>
          <a:xfrm>
            <a:off x="411480" y="3858768"/>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2"/>
          <p:cNvSpPr/>
          <p:nvPr/>
        </p:nvSpPr>
        <p:spPr>
          <a:xfrm>
            <a:off x="548640" y="411480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2"/>
          <p:cNvSpPr txBox="1"/>
          <p:nvPr/>
        </p:nvSpPr>
        <p:spPr>
          <a:xfrm>
            <a:off x="548640" y="411480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4</a:t>
            </a:r>
            <a:endParaRPr b="0" i="0" sz="900" u="none" cap="none" strike="noStrike">
              <a:solidFill>
                <a:schemeClr val="dk1"/>
              </a:solidFill>
              <a:latin typeface="Calibri"/>
              <a:ea typeface="Calibri"/>
              <a:cs typeface="Calibri"/>
              <a:sym typeface="Calibri"/>
            </a:endParaRPr>
          </a:p>
        </p:txBody>
      </p:sp>
      <p:sp>
        <p:nvSpPr>
          <p:cNvPr id="213" name="Google Shape;213;p12"/>
          <p:cNvSpPr txBox="1"/>
          <p:nvPr/>
        </p:nvSpPr>
        <p:spPr>
          <a:xfrm>
            <a:off x="960120" y="3858768"/>
            <a:ext cx="397764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000"/>
              <a:buFont typeface="Arial"/>
              <a:buNone/>
            </a:pPr>
            <a:r>
              <a:rPr b="0" i="0" lang="en-US" sz="1000" u="none" cap="none" strike="noStrike">
                <a:solidFill>
                  <a:srgbClr val="1D1D1F"/>
                </a:solidFill>
                <a:latin typeface="Arial"/>
                <a:ea typeface="Arial"/>
                <a:cs typeface="Arial"/>
                <a:sym typeface="Arial"/>
              </a:rPr>
              <a:t>The TR triggers and C booked again during the term. What now?</a:t>
            </a:r>
            <a:endParaRPr b="0" i="0" sz="1000" u="none" cap="none" strike="noStrike">
              <a:solidFill>
                <a:schemeClr val="dk1"/>
              </a:solidFill>
              <a:latin typeface="Calibri"/>
              <a:ea typeface="Calibri"/>
              <a:cs typeface="Calibri"/>
              <a:sym typeface="Calibri"/>
            </a:endParaRPr>
          </a:p>
        </p:txBody>
      </p:sp>
      <p:sp>
        <p:nvSpPr>
          <p:cNvPr id="214" name="Google Shape;214;p12"/>
          <p:cNvSpPr/>
          <p:nvPr/>
        </p:nvSpPr>
        <p:spPr>
          <a:xfrm>
            <a:off x="5120640" y="3858768"/>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2"/>
          <p:cNvSpPr txBox="1"/>
          <p:nvPr/>
        </p:nvSpPr>
        <p:spPr>
          <a:xfrm>
            <a:off x="5257800" y="3858768"/>
            <a:ext cx="338328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900"/>
              <a:buFont typeface="Arial"/>
              <a:buNone/>
            </a:pPr>
            <a:r>
              <a:rPr b="0" i="0" lang="en-US" sz="900" u="none" cap="none" strike="noStrike">
                <a:solidFill>
                  <a:srgbClr val="1D1D1F"/>
                </a:solidFill>
                <a:latin typeface="Arial"/>
                <a:ea typeface="Arial"/>
                <a:cs typeface="Arial"/>
                <a:sym typeface="Arial"/>
              </a:rPr>
              <a:t>Reach out to confirm they still want to cancel; new TR at least 3 days before the next MF.</a:t>
            </a:r>
            <a:endParaRPr b="0" i="0" sz="900" u="none" cap="none" strike="noStrike">
              <a:solidFill>
                <a:schemeClr val="dk1"/>
              </a:solidFill>
              <a:latin typeface="Calibri"/>
              <a:ea typeface="Calibri"/>
              <a:cs typeface="Calibri"/>
              <a:sym typeface="Calibri"/>
            </a:endParaRPr>
          </a:p>
        </p:txBody>
      </p:sp>
      <p:sp>
        <p:nvSpPr>
          <p:cNvPr id="216" name="Google Shape;216;p1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600"/>
                                        <p:tgtEl>
                                          <p:spTgt spid="1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600"/>
                                        <p:tgtEl>
                                          <p:spTgt spid="2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600"/>
                                        <p:tgtEl>
                                          <p:spTgt spid="2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600"/>
                                        <p:tgtEl>
                                          <p:spTgt spid="2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KEEP MCT  ·  PRACTICE</a:t>
            </a:r>
            <a:endParaRPr b="0" i="0" sz="800" u="none" cap="none" strike="noStrike">
              <a:solidFill>
                <a:schemeClr val="dk1"/>
              </a:solidFill>
              <a:latin typeface="Calibri"/>
              <a:ea typeface="Calibri"/>
              <a:cs typeface="Calibri"/>
              <a:sym typeface="Calibri"/>
            </a:endParaRPr>
          </a:p>
        </p:txBody>
      </p:sp>
      <p:sp>
        <p:nvSpPr>
          <p:cNvPr id="223" name="Google Shape;223;p1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2400"/>
              <a:buFont typeface="Play"/>
              <a:buNone/>
            </a:pPr>
            <a:r>
              <a:rPr b="1" i="0" lang="en-US" sz="2400" u="none" cap="none" strike="noStrike">
                <a:solidFill>
                  <a:srgbClr val="1D1D1F"/>
                </a:solidFill>
                <a:latin typeface="Play"/>
                <a:ea typeface="Play"/>
                <a:cs typeface="Play"/>
                <a:sym typeface="Play"/>
              </a:rPr>
              <a:t>Let's investigate together!</a:t>
            </a:r>
            <a:endParaRPr b="0" i="0" sz="2400" u="none" cap="none" strike="noStrike">
              <a:solidFill>
                <a:schemeClr val="dk1"/>
              </a:solidFill>
              <a:latin typeface="Calibri"/>
              <a:ea typeface="Calibri"/>
              <a:cs typeface="Calibri"/>
              <a:sym typeface="Calibri"/>
            </a:endParaRPr>
          </a:p>
        </p:txBody>
      </p:sp>
      <p:sp>
        <p:nvSpPr>
          <p:cNvPr id="224" name="Google Shape;224;p13"/>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1200"/>
              <a:buFont typeface="Arial"/>
              <a:buNone/>
            </a:pPr>
            <a:r>
              <a:rPr b="0" i="0" lang="en-US" sz="1200" u="none" cap="none" strike="noStrike">
                <a:solidFill>
                  <a:srgbClr val="6E6E73"/>
                </a:solidFill>
                <a:latin typeface="Arial"/>
                <a:ea typeface="Arial"/>
                <a:cs typeface="Arial"/>
                <a:sym typeface="Arial"/>
              </a:rPr>
              <a:t>Review the live ticket and investigate.</a:t>
            </a:r>
            <a:endParaRPr b="0" i="0" sz="1200" u="none" cap="none" strike="noStrike">
              <a:solidFill>
                <a:schemeClr val="dk1"/>
              </a:solidFill>
              <a:latin typeface="Calibri"/>
              <a:ea typeface="Calibri"/>
              <a:cs typeface="Calibri"/>
              <a:sym typeface="Calibri"/>
            </a:endParaRPr>
          </a:p>
        </p:txBody>
      </p:sp>
      <p:sp>
        <p:nvSpPr>
          <p:cNvPr id="225" name="Google Shape;225;p13"/>
          <p:cNvSpPr/>
          <p:nvPr/>
        </p:nvSpPr>
        <p:spPr>
          <a:xfrm>
            <a:off x="411480" y="1298448"/>
            <a:ext cx="3383280" cy="2633472"/>
          </a:xfrm>
          <a:prstGeom prst="roundRect">
            <a:avLst>
              <a:gd fmla="val 277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3"/>
          <p:cNvSpPr/>
          <p:nvPr/>
        </p:nvSpPr>
        <p:spPr>
          <a:xfrm>
            <a:off x="594360" y="1481328"/>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7" name="Google Shape;227;p13"/>
          <p:cNvPicPr preferRelativeResize="0"/>
          <p:nvPr/>
        </p:nvPicPr>
        <p:blipFill rotWithShape="1">
          <a:blip r:embed="rId3">
            <a:alphaModFix/>
          </a:blip>
          <a:srcRect b="0" l="0" r="0" t="0"/>
          <a:stretch/>
        </p:blipFill>
        <p:spPr>
          <a:xfrm>
            <a:off x="686532" y="1573500"/>
            <a:ext cx="199705" cy="199705"/>
          </a:xfrm>
          <a:prstGeom prst="rect">
            <a:avLst/>
          </a:prstGeom>
          <a:noFill/>
          <a:ln>
            <a:noFill/>
          </a:ln>
        </p:spPr>
      </p:pic>
      <p:sp>
        <p:nvSpPr>
          <p:cNvPr id="228" name="Google Shape;228;p13"/>
          <p:cNvSpPr txBox="1"/>
          <p:nvPr/>
        </p:nvSpPr>
        <p:spPr>
          <a:xfrm>
            <a:off x="594360" y="2011680"/>
            <a:ext cx="301752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1300"/>
              <a:buFont typeface="Play"/>
              <a:buNone/>
            </a:pPr>
            <a:r>
              <a:rPr b="1" i="0" lang="en-US" sz="1300" u="none" cap="none" strike="noStrike">
                <a:solidFill>
                  <a:srgbClr val="1D1D1F"/>
                </a:solidFill>
                <a:latin typeface="Play"/>
                <a:ea typeface="Play"/>
                <a:cs typeface="Play"/>
                <a:sym typeface="Play"/>
              </a:rPr>
              <a:t>Live ticket</a:t>
            </a:r>
            <a:endParaRPr b="0" i="0" sz="1300" u="none" cap="none" strike="noStrike">
              <a:solidFill>
                <a:schemeClr val="dk1"/>
              </a:solidFill>
              <a:latin typeface="Calibri"/>
              <a:ea typeface="Calibri"/>
              <a:cs typeface="Calibri"/>
              <a:sym typeface="Calibri"/>
            </a:endParaRPr>
          </a:p>
        </p:txBody>
      </p:sp>
      <p:sp>
        <p:nvSpPr>
          <p:cNvPr id="229" name="Google Shape;229;p13"/>
          <p:cNvSpPr txBox="1"/>
          <p:nvPr/>
        </p:nvSpPr>
        <p:spPr>
          <a:xfrm>
            <a:off x="594360" y="2350008"/>
            <a:ext cx="30175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1050"/>
              <a:buFont typeface="Arial"/>
              <a:buNone/>
            </a:pPr>
            <a:r>
              <a:rPr b="0" i="0" lang="en-US" sz="1050" u="none" cap="none" strike="noStrike">
                <a:solidFill>
                  <a:srgbClr val="6E6E73"/>
                </a:solidFill>
                <a:latin typeface="Arial"/>
                <a:ea typeface="Arial"/>
                <a:cs typeface="Arial"/>
                <a:sym typeface="Arial"/>
              </a:rPr>
              <a:t>Your trainer will provide a live ticket. Review it and investigate before you decide anything.</a:t>
            </a:r>
            <a:endParaRPr b="0" i="0" sz="1050" u="none" cap="none" strike="noStrike">
              <a:solidFill>
                <a:schemeClr val="dk1"/>
              </a:solidFill>
              <a:latin typeface="Calibri"/>
              <a:ea typeface="Calibri"/>
              <a:cs typeface="Calibri"/>
              <a:sym typeface="Calibri"/>
            </a:endParaRPr>
          </a:p>
        </p:txBody>
      </p:sp>
      <p:sp>
        <p:nvSpPr>
          <p:cNvPr id="230" name="Google Shape;230;p13"/>
          <p:cNvSpPr/>
          <p:nvPr/>
        </p:nvSpPr>
        <p:spPr>
          <a:xfrm>
            <a:off x="594360" y="3401568"/>
            <a:ext cx="1371600" cy="329184"/>
          </a:xfrm>
          <a:prstGeom prst="roundRect">
            <a:avLst>
              <a:gd fmla="val 22222" name="adj"/>
            </a:avLst>
          </a:prstGeom>
          <a:solidFill>
            <a:srgbClr val="FFF3D6"/>
          </a:solidFill>
          <a:ln cap="flat" cmpd="sng" w="9525">
            <a:solidFill>
              <a:srgbClr val="FFF3D6"/>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9A6410"/>
              </a:buClr>
              <a:buSzPts val="950"/>
              <a:buFont typeface="Arial"/>
              <a:buNone/>
            </a:pPr>
            <a:r>
              <a:rPr b="1" i="0" lang="en-US" sz="950" u="none" cap="none" strike="noStrike">
                <a:solidFill>
                  <a:srgbClr val="9A6410"/>
                </a:solidFill>
                <a:latin typeface="Arial"/>
                <a:ea typeface="Arial"/>
                <a:cs typeface="Arial"/>
                <a:sym typeface="Arial"/>
              </a:rPr>
              <a:t>Trainer provides</a:t>
            </a:r>
            <a:endParaRPr b="0" i="0" sz="950" u="none" cap="none" strike="noStrike">
              <a:solidFill>
                <a:schemeClr val="dk1"/>
              </a:solidFill>
              <a:latin typeface="Calibri"/>
              <a:ea typeface="Calibri"/>
              <a:cs typeface="Calibri"/>
              <a:sym typeface="Calibri"/>
            </a:endParaRPr>
          </a:p>
        </p:txBody>
      </p:sp>
      <p:sp>
        <p:nvSpPr>
          <p:cNvPr id="231" name="Google Shape;231;p13"/>
          <p:cNvSpPr/>
          <p:nvPr/>
        </p:nvSpPr>
        <p:spPr>
          <a:xfrm>
            <a:off x="3931920" y="1298448"/>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3"/>
          <p:cNvSpPr/>
          <p:nvPr/>
        </p:nvSpPr>
        <p:spPr>
          <a:xfrm>
            <a:off x="4114800"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3"/>
          <p:cNvSpPr txBox="1"/>
          <p:nvPr/>
        </p:nvSpPr>
        <p:spPr>
          <a:xfrm>
            <a:off x="4114800" y="155448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234" name="Google Shape;234;p13"/>
          <p:cNvSpPr txBox="1"/>
          <p:nvPr/>
        </p:nvSpPr>
        <p:spPr>
          <a:xfrm>
            <a:off x="4572000" y="1426464"/>
            <a:ext cx="39776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250"/>
              <a:buFont typeface="Play"/>
              <a:buNone/>
            </a:pPr>
            <a:r>
              <a:rPr b="1" i="0" lang="en-US" sz="1250" u="none" cap="none" strike="noStrike">
                <a:solidFill>
                  <a:srgbClr val="1D1D1F"/>
                </a:solidFill>
                <a:latin typeface="Play"/>
                <a:ea typeface="Play"/>
                <a:cs typeface="Play"/>
                <a:sym typeface="Play"/>
              </a:rPr>
              <a:t>Did C say it, or show it?</a:t>
            </a:r>
            <a:endParaRPr b="0" i="0" sz="1250" u="none" cap="none" strike="noStrike">
              <a:solidFill>
                <a:schemeClr val="dk1"/>
              </a:solidFill>
              <a:latin typeface="Calibri"/>
              <a:ea typeface="Calibri"/>
              <a:cs typeface="Calibri"/>
              <a:sym typeface="Calibri"/>
            </a:endParaRPr>
          </a:p>
        </p:txBody>
      </p:sp>
      <p:sp>
        <p:nvSpPr>
          <p:cNvPr id="235" name="Google Shape;235;p13"/>
          <p:cNvSpPr txBox="1"/>
          <p:nvPr/>
        </p:nvSpPr>
        <p:spPr>
          <a:xfrm>
            <a:off x="4572000" y="1737360"/>
            <a:ext cx="3977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73"/>
              </a:buClr>
              <a:buSzPts val="1000"/>
              <a:buFont typeface="Arial"/>
              <a:buNone/>
            </a:pPr>
            <a:r>
              <a:rPr b="0" i="0" lang="en-US" sz="1000" u="none" cap="none" strike="noStrike">
                <a:solidFill>
                  <a:srgbClr val="6E6E73"/>
                </a:solidFill>
                <a:latin typeface="Arial"/>
                <a:ea typeface="Arial"/>
                <a:cs typeface="Arial"/>
                <a:sym typeface="Arial"/>
              </a:rPr>
              <a:t>Explicit plan, or no bookings on purpose?</a:t>
            </a:r>
            <a:endParaRPr b="0" i="0" sz="1000" u="none" cap="none" strike="noStrike">
              <a:solidFill>
                <a:schemeClr val="dk1"/>
              </a:solidFill>
              <a:latin typeface="Calibri"/>
              <a:ea typeface="Calibri"/>
              <a:cs typeface="Calibri"/>
              <a:sym typeface="Calibri"/>
            </a:endParaRPr>
          </a:p>
        </p:txBody>
      </p:sp>
      <p:sp>
        <p:nvSpPr>
          <p:cNvPr id="236" name="Google Shape;236;p13"/>
          <p:cNvSpPr/>
          <p:nvPr/>
        </p:nvSpPr>
        <p:spPr>
          <a:xfrm>
            <a:off x="3931920" y="2221992"/>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3"/>
          <p:cNvSpPr/>
          <p:nvPr/>
        </p:nvSpPr>
        <p:spPr>
          <a:xfrm>
            <a:off x="4114800" y="247802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3"/>
          <p:cNvSpPr txBox="1"/>
          <p:nvPr/>
        </p:nvSpPr>
        <p:spPr>
          <a:xfrm>
            <a:off x="4114800" y="247802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239" name="Google Shape;239;p13"/>
          <p:cNvSpPr txBox="1"/>
          <p:nvPr/>
        </p:nvSpPr>
        <p:spPr>
          <a:xfrm>
            <a:off x="4572000" y="2350008"/>
            <a:ext cx="39776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250"/>
              <a:buFont typeface="Play"/>
              <a:buNone/>
            </a:pPr>
            <a:r>
              <a:rPr b="1" i="0" lang="en-US" sz="1250" u="none" cap="none" strike="noStrike">
                <a:solidFill>
                  <a:srgbClr val="1D1D1F"/>
                </a:solidFill>
                <a:latin typeface="Play"/>
                <a:ea typeface="Play"/>
                <a:cs typeface="Play"/>
                <a:sym typeface="Play"/>
              </a:rPr>
              <a:t>What actions are you going to take?</a:t>
            </a:r>
            <a:endParaRPr b="0" i="0" sz="1250" u="none" cap="none" strike="noStrike">
              <a:solidFill>
                <a:schemeClr val="dk1"/>
              </a:solidFill>
              <a:latin typeface="Calibri"/>
              <a:ea typeface="Calibri"/>
              <a:cs typeface="Calibri"/>
              <a:sym typeface="Calibri"/>
            </a:endParaRPr>
          </a:p>
        </p:txBody>
      </p:sp>
      <p:sp>
        <p:nvSpPr>
          <p:cNvPr id="240" name="Google Shape;240;p13"/>
          <p:cNvSpPr txBox="1"/>
          <p:nvPr/>
        </p:nvSpPr>
        <p:spPr>
          <a:xfrm>
            <a:off x="4572000" y="2660904"/>
            <a:ext cx="3977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73"/>
              </a:buClr>
              <a:buSzPts val="1000"/>
              <a:buFont typeface="Arial"/>
              <a:buNone/>
            </a:pPr>
            <a:r>
              <a:rPr b="0" i="0" lang="en-US" sz="1000" u="none" cap="none" strike="noStrike">
                <a:solidFill>
                  <a:srgbClr val="6E6E73"/>
                </a:solidFill>
                <a:latin typeface="Arial"/>
                <a:ea typeface="Arial"/>
                <a:cs typeface="Arial"/>
                <a:sym typeface="Arial"/>
              </a:rPr>
              <a:t>TR timing, ETF, one more retention attempt?</a:t>
            </a:r>
            <a:endParaRPr b="0" i="0" sz="1000" u="none" cap="none" strike="noStrike">
              <a:solidFill>
                <a:schemeClr val="dk1"/>
              </a:solidFill>
              <a:latin typeface="Calibri"/>
              <a:ea typeface="Calibri"/>
              <a:cs typeface="Calibri"/>
              <a:sym typeface="Calibri"/>
            </a:endParaRPr>
          </a:p>
        </p:txBody>
      </p:sp>
      <p:sp>
        <p:nvSpPr>
          <p:cNvPr id="241" name="Google Shape;241;p13"/>
          <p:cNvSpPr/>
          <p:nvPr/>
        </p:nvSpPr>
        <p:spPr>
          <a:xfrm>
            <a:off x="3931920" y="3145536"/>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3"/>
          <p:cNvSpPr/>
          <p:nvPr/>
        </p:nvSpPr>
        <p:spPr>
          <a:xfrm>
            <a:off x="4114800" y="340156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3"/>
          <p:cNvSpPr txBox="1"/>
          <p:nvPr/>
        </p:nvSpPr>
        <p:spPr>
          <a:xfrm>
            <a:off x="4114800" y="340156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3</a:t>
            </a:r>
            <a:endParaRPr b="0" i="0" sz="900" u="none" cap="none" strike="noStrike">
              <a:solidFill>
                <a:schemeClr val="dk1"/>
              </a:solidFill>
              <a:latin typeface="Calibri"/>
              <a:ea typeface="Calibri"/>
              <a:cs typeface="Calibri"/>
              <a:sym typeface="Calibri"/>
            </a:endParaRPr>
          </a:p>
        </p:txBody>
      </p:sp>
      <p:sp>
        <p:nvSpPr>
          <p:cNvPr id="244" name="Google Shape;244;p13"/>
          <p:cNvSpPr txBox="1"/>
          <p:nvPr/>
        </p:nvSpPr>
        <p:spPr>
          <a:xfrm>
            <a:off x="4572000" y="3273552"/>
            <a:ext cx="39776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250"/>
              <a:buFont typeface="Play"/>
              <a:buNone/>
            </a:pPr>
            <a:r>
              <a:rPr b="1" i="0" lang="en-US" sz="1250" u="none" cap="none" strike="noStrike">
                <a:solidFill>
                  <a:srgbClr val="1D1D1F"/>
                </a:solidFill>
                <a:latin typeface="Play"/>
                <a:ea typeface="Play"/>
                <a:cs typeface="Play"/>
                <a:sym typeface="Play"/>
              </a:rPr>
              <a:t>5-min writing challenge</a:t>
            </a:r>
            <a:endParaRPr b="0" i="0" sz="1250" u="none" cap="none" strike="noStrike">
              <a:solidFill>
                <a:schemeClr val="dk1"/>
              </a:solidFill>
              <a:latin typeface="Calibri"/>
              <a:ea typeface="Calibri"/>
              <a:cs typeface="Calibri"/>
              <a:sym typeface="Calibri"/>
            </a:endParaRPr>
          </a:p>
        </p:txBody>
      </p:sp>
      <p:sp>
        <p:nvSpPr>
          <p:cNvPr id="245" name="Google Shape;245;p13"/>
          <p:cNvSpPr txBox="1"/>
          <p:nvPr/>
        </p:nvSpPr>
        <p:spPr>
          <a:xfrm>
            <a:off x="4572000" y="3584448"/>
            <a:ext cx="3977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73"/>
              </a:buClr>
              <a:buSzPts val="1000"/>
              <a:buFont typeface="Arial"/>
              <a:buNone/>
            </a:pPr>
            <a:r>
              <a:rPr b="0" i="0" lang="en-US" sz="1000" u="none" cap="none" strike="noStrike">
                <a:solidFill>
                  <a:srgbClr val="6E6E73"/>
                </a:solidFill>
                <a:latin typeface="Arial"/>
                <a:ea typeface="Arial"/>
                <a:cs typeface="Arial"/>
                <a:sym typeface="Arial"/>
              </a:rPr>
              <a:t>Write your reply to the customer.</a:t>
            </a:r>
            <a:endParaRPr b="0" i="0" sz="1000" u="none" cap="none" strike="noStrike">
              <a:solidFill>
                <a:schemeClr val="dk1"/>
              </a:solidFill>
              <a:latin typeface="Calibri"/>
              <a:ea typeface="Calibri"/>
              <a:cs typeface="Calibri"/>
              <a:sym typeface="Calibri"/>
            </a:endParaRPr>
          </a:p>
        </p:txBody>
      </p:sp>
      <p:sp>
        <p:nvSpPr>
          <p:cNvPr id="246" name="Google Shape;246;p13"/>
          <p:cNvSpPr/>
          <p:nvPr/>
        </p:nvSpPr>
        <p:spPr>
          <a:xfrm>
            <a:off x="411480" y="4069080"/>
            <a:ext cx="8321040" cy="502920"/>
          </a:xfrm>
          <a:prstGeom prst="roundRect">
            <a:avLst>
              <a:gd fmla="val 14545" name="adj"/>
            </a:avLst>
          </a:prstGeom>
          <a:solidFill>
            <a:srgbClr val="0B7A6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7" name="Google Shape;247;p13"/>
          <p:cNvPicPr preferRelativeResize="0"/>
          <p:nvPr/>
        </p:nvPicPr>
        <p:blipFill rotWithShape="1">
          <a:blip r:embed="rId4">
            <a:alphaModFix/>
          </a:blip>
          <a:srcRect b="0" l="0" r="0" t="0"/>
          <a:stretch/>
        </p:blipFill>
        <p:spPr>
          <a:xfrm>
            <a:off x="640080" y="4192524"/>
            <a:ext cx="256032" cy="256032"/>
          </a:xfrm>
          <a:prstGeom prst="rect">
            <a:avLst/>
          </a:prstGeom>
          <a:noFill/>
          <a:ln>
            <a:noFill/>
          </a:ln>
        </p:spPr>
      </p:pic>
      <p:sp>
        <p:nvSpPr>
          <p:cNvPr id="248" name="Google Shape;248;p13"/>
          <p:cNvSpPr txBox="1"/>
          <p:nvPr/>
        </p:nvSpPr>
        <p:spPr>
          <a:xfrm>
            <a:off x="1051560" y="4069080"/>
            <a:ext cx="74980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Play"/>
              <a:buNone/>
            </a:pPr>
            <a:r>
              <a:rPr b="1" i="0" lang="en-US" sz="1400" u="none" cap="none" strike="noStrike">
                <a:solidFill>
                  <a:srgbClr val="FFFFFF"/>
                </a:solidFill>
                <a:latin typeface="Play"/>
                <a:ea typeface="Play"/>
                <a:cs typeface="Play"/>
                <a:sym typeface="Play"/>
              </a:rPr>
              <a:t>Questions?  </a:t>
            </a:r>
            <a:r>
              <a:rPr b="0" i="0" lang="en-US" sz="1100" u="none" cap="none" strike="noStrike">
                <a:solidFill>
                  <a:srgbClr val="FFFFFF"/>
                </a:solidFill>
                <a:latin typeface="Arial"/>
                <a:ea typeface="Arial"/>
                <a:cs typeface="Arial"/>
                <a:sym typeface="Arial"/>
              </a:rPr>
              <a:t>Open the floor before we move to the next topic.</a:t>
            </a:r>
            <a:endParaRPr b="0" i="0" sz="1400" u="none" cap="none" strike="noStrike">
              <a:solidFill>
                <a:schemeClr val="dk1"/>
              </a:solidFill>
              <a:latin typeface="Calibri"/>
              <a:ea typeface="Calibri"/>
              <a:cs typeface="Calibri"/>
              <a:sym typeface="Calibri"/>
            </a:endParaRPr>
          </a:p>
        </p:txBody>
      </p:sp>
      <p:sp>
        <p:nvSpPr>
          <p:cNvPr id="249" name="Google Shape;249;p1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4"/>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TOPIC 02 OF 02</a:t>
            </a:r>
            <a:endParaRPr b="0" i="0" sz="800" u="none" cap="none" strike="noStrike">
              <a:solidFill>
                <a:schemeClr val="dk1"/>
              </a:solidFill>
              <a:latin typeface="Calibri"/>
              <a:ea typeface="Calibri"/>
              <a:cs typeface="Calibri"/>
              <a:sym typeface="Calibri"/>
            </a:endParaRPr>
          </a:p>
        </p:txBody>
      </p:sp>
      <p:sp>
        <p:nvSpPr>
          <p:cNvPr id="256" name="Google Shape;256;p14"/>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D1D1F"/>
              </a:buClr>
              <a:buSzPts val="2800"/>
              <a:buFont typeface="Play"/>
              <a:buNone/>
            </a:pPr>
            <a:r>
              <a:rPr b="1" i="0" lang="en-US" sz="2800" u="none" cap="none" strike="noStrike">
                <a:solidFill>
                  <a:srgbClr val="1D1D1F"/>
                </a:solidFill>
                <a:latin typeface="Play"/>
                <a:ea typeface="Play"/>
                <a:cs typeface="Play"/>
                <a:sym typeface="Play"/>
              </a:rPr>
              <a:t>Biohazard &amp; Unsanitary Home Reports</a:t>
            </a:r>
            <a:endParaRPr b="0" i="0" sz="2800" u="none" cap="none" strike="noStrike">
              <a:solidFill>
                <a:schemeClr val="dk1"/>
              </a:solidFill>
              <a:latin typeface="Calibri"/>
              <a:ea typeface="Calibri"/>
              <a:cs typeface="Calibri"/>
              <a:sym typeface="Calibri"/>
            </a:endParaRPr>
          </a:p>
        </p:txBody>
      </p:sp>
      <p:sp>
        <p:nvSpPr>
          <p:cNvPr id="257" name="Google Shape;257;p14"/>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1150"/>
              <a:buFont typeface="Arial"/>
              <a:buNone/>
            </a:pPr>
            <a:r>
              <a:rPr b="0" i="0" lang="en-US" sz="1150" u="none" cap="none" strike="noStrike">
                <a:solidFill>
                  <a:srgbClr val="6E6E73"/>
                </a:solidFill>
                <a:latin typeface="Arial"/>
                <a:ea typeface="Arial"/>
                <a:cs typeface="Arial"/>
                <a:sym typeface="Arial"/>
              </a:rPr>
              <a:t>CP reported C's home as biohazardous or unsanitary. What you do on the customer side once it's validated.</a:t>
            </a:r>
            <a:endParaRPr b="0" i="0" sz="1150" u="none" cap="none" strike="noStrike">
              <a:solidFill>
                <a:schemeClr val="dk1"/>
              </a:solidFill>
              <a:latin typeface="Calibri"/>
              <a:ea typeface="Calibri"/>
              <a:cs typeface="Calibri"/>
              <a:sym typeface="Calibri"/>
            </a:endParaRPr>
          </a:p>
        </p:txBody>
      </p:sp>
      <p:sp>
        <p:nvSpPr>
          <p:cNvPr id="258" name="Google Shape;258;p14"/>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259" name="Google Shape;259;p14"/>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0" name="Google Shape;260;p14"/>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261" name="Google Shape;261;p14"/>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1050"/>
              <a:buFont typeface="Arial"/>
              <a:buNone/>
            </a:pPr>
            <a:r>
              <a:rPr b="0" i="0" lang="en-US" sz="1050" u="none" cap="none" strike="noStrike">
                <a:solidFill>
                  <a:srgbClr val="1D1D1F"/>
                </a:solidFill>
                <a:latin typeface="Arial"/>
                <a:ea typeface="Arial"/>
                <a:cs typeface="Arial"/>
                <a:sym typeface="Arial"/>
              </a:rPr>
              <a:t>What counts, and what doesn't</a:t>
            </a:r>
            <a:endParaRPr b="0" i="0" sz="1050" u="none" cap="none" strike="noStrike">
              <a:solidFill>
                <a:schemeClr val="dk1"/>
              </a:solidFill>
              <a:latin typeface="Calibri"/>
              <a:ea typeface="Calibri"/>
              <a:cs typeface="Calibri"/>
              <a:sym typeface="Calibri"/>
            </a:endParaRPr>
          </a:p>
        </p:txBody>
      </p:sp>
      <p:sp>
        <p:nvSpPr>
          <p:cNvPr id="262" name="Google Shape;262;p14"/>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3" name="Google Shape;263;p14"/>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264" name="Google Shape;264;p14"/>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1050"/>
              <a:buFont typeface="Arial"/>
              <a:buNone/>
            </a:pPr>
            <a:r>
              <a:rPr b="0" i="0" lang="en-US" sz="1050" u="none" cap="none" strike="noStrike">
                <a:solidFill>
                  <a:srgbClr val="1D1D1F"/>
                </a:solidFill>
                <a:latin typeface="Arial"/>
                <a:ea typeface="Arial"/>
                <a:cs typeface="Arial"/>
                <a:sym typeface="Arial"/>
              </a:rPr>
              <a:t>What happened before it reached you</a:t>
            </a:r>
            <a:endParaRPr b="0" i="0" sz="1050" u="none" cap="none" strike="noStrike">
              <a:solidFill>
                <a:schemeClr val="dk1"/>
              </a:solidFill>
              <a:latin typeface="Calibri"/>
              <a:ea typeface="Calibri"/>
              <a:cs typeface="Calibri"/>
              <a:sym typeface="Calibri"/>
            </a:endParaRPr>
          </a:p>
        </p:txBody>
      </p:sp>
      <p:sp>
        <p:nvSpPr>
          <p:cNvPr id="265" name="Google Shape;265;p14"/>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6" name="Google Shape;266;p14"/>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267" name="Google Shape;267;p14"/>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1050"/>
              <a:buFont typeface="Arial"/>
              <a:buNone/>
            </a:pPr>
            <a:r>
              <a:rPr b="0" i="0" lang="en-US" sz="1050" u="none" cap="none" strike="noStrike">
                <a:solidFill>
                  <a:srgbClr val="1D1D1F"/>
                </a:solidFill>
                <a:latin typeface="Arial"/>
                <a:ea typeface="Arial"/>
                <a:cs typeface="Arial"/>
                <a:sym typeface="Arial"/>
              </a:rPr>
              <a:t>1st Response: the warning</a:t>
            </a:r>
            <a:endParaRPr b="0" i="0" sz="1050" u="none" cap="none" strike="noStrike">
              <a:solidFill>
                <a:schemeClr val="dk1"/>
              </a:solidFill>
              <a:latin typeface="Calibri"/>
              <a:ea typeface="Calibri"/>
              <a:cs typeface="Calibri"/>
              <a:sym typeface="Calibri"/>
            </a:endParaRPr>
          </a:p>
        </p:txBody>
      </p:sp>
      <p:sp>
        <p:nvSpPr>
          <p:cNvPr id="268" name="Google Shape;268;p14"/>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9" name="Google Shape;269;p14"/>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270" name="Google Shape;270;p14"/>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1050"/>
              <a:buFont typeface="Arial"/>
              <a:buNone/>
            </a:pPr>
            <a:r>
              <a:rPr b="0" i="0" lang="en-US" sz="1050" u="none" cap="none" strike="noStrike">
                <a:solidFill>
                  <a:srgbClr val="1D1D1F"/>
                </a:solidFill>
                <a:latin typeface="Arial"/>
                <a:ea typeface="Arial"/>
                <a:cs typeface="Arial"/>
                <a:sym typeface="Arial"/>
              </a:rPr>
              <a:t>2nd Response: evaluate and resolve</a:t>
            </a:r>
            <a:endParaRPr b="0" i="0" sz="1050" u="none" cap="none" strike="noStrike">
              <a:solidFill>
                <a:schemeClr val="dk1"/>
              </a:solidFill>
              <a:latin typeface="Calibri"/>
              <a:ea typeface="Calibri"/>
              <a:cs typeface="Calibri"/>
              <a:sym typeface="Calibri"/>
            </a:endParaRPr>
          </a:p>
        </p:txBody>
      </p:sp>
      <p:sp>
        <p:nvSpPr>
          <p:cNvPr id="271" name="Google Shape;271;p14"/>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4"/>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mp/claude-0/-workspace-training/3ce5cff6-cccf-5f33-b0ee-0b147a55120e/scratchpad/img8/ill7.png" id="273" name="Google Shape;273;p14"/>
          <p:cNvPicPr preferRelativeResize="0"/>
          <p:nvPr/>
        </p:nvPicPr>
        <p:blipFill rotWithShape="1">
          <a:blip r:embed="rId4">
            <a:alphaModFix/>
          </a:blip>
          <a:srcRect b="0" l="0" r="0" t="0"/>
          <a:stretch/>
        </p:blipFill>
        <p:spPr>
          <a:xfrm>
            <a:off x="5541264" y="1783080"/>
            <a:ext cx="2926080" cy="1572768"/>
          </a:xfrm>
          <a:prstGeom prst="rect">
            <a:avLst/>
          </a:prstGeom>
          <a:noFill/>
          <a:ln>
            <a:noFill/>
          </a:ln>
        </p:spPr>
      </p:pic>
      <p:sp>
        <p:nvSpPr>
          <p:cNvPr id="274" name="Google Shape;274;p14"/>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4"/>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4"/>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4"/>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4"/>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4"/>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BIOHAZARD REPORT</a:t>
            </a:r>
            <a:endParaRPr b="0" i="0" sz="800" u="none" cap="none" strike="noStrike">
              <a:solidFill>
                <a:schemeClr val="dk1"/>
              </a:solidFill>
              <a:latin typeface="Calibri"/>
              <a:ea typeface="Calibri"/>
              <a:cs typeface="Calibri"/>
              <a:sym typeface="Calibri"/>
            </a:endParaRPr>
          </a:p>
        </p:txBody>
      </p:sp>
      <p:sp>
        <p:nvSpPr>
          <p:cNvPr id="287" name="Google Shape;287;p1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2400"/>
              <a:buFont typeface="Play"/>
              <a:buNone/>
            </a:pPr>
            <a:r>
              <a:rPr b="1" i="0" lang="en-US" sz="2400" u="none" cap="none" strike="noStrike">
                <a:solidFill>
                  <a:srgbClr val="1D1D1F"/>
                </a:solidFill>
                <a:latin typeface="Play"/>
                <a:ea typeface="Play"/>
                <a:cs typeface="Play"/>
                <a:sym typeface="Play"/>
              </a:rPr>
              <a:t>What is this?</a:t>
            </a:r>
            <a:endParaRPr b="0" i="0" sz="2400" u="none" cap="none" strike="noStrike">
              <a:solidFill>
                <a:schemeClr val="dk1"/>
              </a:solidFill>
              <a:latin typeface="Calibri"/>
              <a:ea typeface="Calibri"/>
              <a:cs typeface="Calibri"/>
              <a:sym typeface="Calibri"/>
            </a:endParaRPr>
          </a:p>
        </p:txBody>
      </p:sp>
      <p:sp>
        <p:nvSpPr>
          <p:cNvPr id="288" name="Google Shape;288;p15"/>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1200"/>
              <a:buFont typeface="Arial"/>
              <a:buNone/>
            </a:pPr>
            <a:r>
              <a:rPr b="0" i="0" lang="en-US" sz="1200" u="none" cap="none" strike="noStrike">
                <a:solidFill>
                  <a:srgbClr val="6E6E73"/>
                </a:solidFill>
                <a:latin typeface="Arial"/>
                <a:ea typeface="Arial"/>
                <a:cs typeface="Arial"/>
                <a:sym typeface="Arial"/>
              </a:rPr>
              <a:t>A validated CP report that can suspend the customer from booking.</a:t>
            </a:r>
            <a:endParaRPr b="0" i="0" sz="1200" u="none" cap="none" strike="noStrike">
              <a:solidFill>
                <a:schemeClr val="dk1"/>
              </a:solidFill>
              <a:latin typeface="Calibri"/>
              <a:ea typeface="Calibri"/>
              <a:cs typeface="Calibri"/>
              <a:sym typeface="Calibri"/>
            </a:endParaRPr>
          </a:p>
        </p:txBody>
      </p:sp>
      <p:sp>
        <p:nvSpPr>
          <p:cNvPr id="289" name="Google Shape;289;p15"/>
          <p:cNvSpPr/>
          <p:nvPr/>
        </p:nvSpPr>
        <p:spPr>
          <a:xfrm>
            <a:off x="411480" y="1325880"/>
            <a:ext cx="2682240" cy="1417320"/>
          </a:xfrm>
          <a:prstGeom prst="roundRect">
            <a:avLst>
              <a:gd fmla="val 516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5"/>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1" name="Google Shape;291;p15"/>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292" name="Google Shape;292;p15"/>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1200"/>
              <a:buFont typeface="Play"/>
              <a:buNone/>
            </a:pPr>
            <a:r>
              <a:rPr b="1" i="0" lang="en-US" sz="1200" u="none" cap="none" strike="noStrike">
                <a:solidFill>
                  <a:srgbClr val="1D1D1F"/>
                </a:solidFill>
                <a:latin typeface="Play"/>
                <a:ea typeface="Play"/>
                <a:cs typeface="Play"/>
                <a:sym typeface="Play"/>
              </a:rPr>
              <a:t>Safety first</a:t>
            </a:r>
            <a:endParaRPr b="0" i="0" sz="1200" u="none" cap="none" strike="noStrike">
              <a:solidFill>
                <a:schemeClr val="dk1"/>
              </a:solidFill>
              <a:latin typeface="Calibri"/>
              <a:ea typeface="Calibri"/>
              <a:cs typeface="Calibri"/>
              <a:sym typeface="Calibri"/>
            </a:endParaRPr>
          </a:p>
        </p:txBody>
      </p:sp>
      <p:sp>
        <p:nvSpPr>
          <p:cNvPr id="293" name="Google Shape;293;p15"/>
          <p:cNvSpPr txBox="1"/>
          <p:nvPr/>
        </p:nvSpPr>
        <p:spPr>
          <a:xfrm>
            <a:off x="576072" y="2221992"/>
            <a:ext cx="2353056" cy="4297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950"/>
              <a:buFont typeface="Arial"/>
              <a:buNone/>
            </a:pPr>
            <a:r>
              <a:rPr b="0" i="0" lang="en-US" sz="950" u="none" cap="none" strike="noStrike">
                <a:solidFill>
                  <a:srgbClr val="6E6E73"/>
                </a:solidFill>
                <a:latin typeface="Arial"/>
                <a:ea typeface="Arial"/>
                <a:cs typeface="Arial"/>
                <a:sym typeface="Arial"/>
              </a:rPr>
              <a:t>A CP shouldn't have to work in a hazardous home.</a:t>
            </a:r>
            <a:endParaRPr b="0" i="0" sz="950" u="none" cap="none" strike="noStrike">
              <a:solidFill>
                <a:schemeClr val="dk1"/>
              </a:solidFill>
              <a:latin typeface="Calibri"/>
              <a:ea typeface="Calibri"/>
              <a:cs typeface="Calibri"/>
              <a:sym typeface="Calibri"/>
            </a:endParaRPr>
          </a:p>
        </p:txBody>
      </p:sp>
      <p:sp>
        <p:nvSpPr>
          <p:cNvPr id="294" name="Google Shape;294;p15"/>
          <p:cNvSpPr/>
          <p:nvPr/>
        </p:nvSpPr>
        <p:spPr>
          <a:xfrm>
            <a:off x="3230880" y="1325880"/>
            <a:ext cx="2682240" cy="1417320"/>
          </a:xfrm>
          <a:prstGeom prst="roundRect">
            <a:avLst>
              <a:gd fmla="val 516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5"/>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6" name="Google Shape;296;p15"/>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297" name="Google Shape;297;p15"/>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1200"/>
              <a:buFont typeface="Play"/>
              <a:buNone/>
            </a:pPr>
            <a:r>
              <a:rPr b="1" i="0" lang="en-US" sz="1200" u="none" cap="none" strike="noStrike">
                <a:solidFill>
                  <a:srgbClr val="1D1D1F"/>
                </a:solidFill>
                <a:latin typeface="Play"/>
                <a:ea typeface="Play"/>
                <a:cs typeface="Play"/>
                <a:sym typeface="Play"/>
              </a:rPr>
              <a:t>Help, don't punish</a:t>
            </a:r>
            <a:endParaRPr b="0" i="0" sz="1200" u="none" cap="none" strike="noStrike">
              <a:solidFill>
                <a:schemeClr val="dk1"/>
              </a:solidFill>
              <a:latin typeface="Calibri"/>
              <a:ea typeface="Calibri"/>
              <a:cs typeface="Calibri"/>
              <a:sym typeface="Calibri"/>
            </a:endParaRPr>
          </a:p>
        </p:txBody>
      </p:sp>
      <p:sp>
        <p:nvSpPr>
          <p:cNvPr id="298" name="Google Shape;298;p15"/>
          <p:cNvSpPr txBox="1"/>
          <p:nvPr/>
        </p:nvSpPr>
        <p:spPr>
          <a:xfrm>
            <a:off x="3395472" y="2221992"/>
            <a:ext cx="2353056" cy="4297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950"/>
              <a:buFont typeface="Arial"/>
              <a:buNone/>
            </a:pPr>
            <a:r>
              <a:rPr b="0" i="0" lang="en-US" sz="950" u="none" cap="none" strike="noStrike">
                <a:solidFill>
                  <a:srgbClr val="6E6E73"/>
                </a:solidFill>
                <a:latin typeface="Arial"/>
                <a:ea typeface="Arial"/>
                <a:cs typeface="Arial"/>
                <a:sym typeface="Arial"/>
              </a:rPr>
              <a:t>"Let's help you fix this." C may just need time to deal with hoarding or pests.</a:t>
            </a:r>
            <a:endParaRPr b="0" i="0" sz="950" u="none" cap="none" strike="noStrike">
              <a:solidFill>
                <a:schemeClr val="dk1"/>
              </a:solidFill>
              <a:latin typeface="Calibri"/>
              <a:ea typeface="Calibri"/>
              <a:cs typeface="Calibri"/>
              <a:sym typeface="Calibri"/>
            </a:endParaRPr>
          </a:p>
        </p:txBody>
      </p:sp>
      <p:sp>
        <p:nvSpPr>
          <p:cNvPr id="299" name="Google Shape;299;p15"/>
          <p:cNvSpPr/>
          <p:nvPr/>
        </p:nvSpPr>
        <p:spPr>
          <a:xfrm>
            <a:off x="6050280" y="1325880"/>
            <a:ext cx="2682240" cy="1417320"/>
          </a:xfrm>
          <a:prstGeom prst="roundRect">
            <a:avLst>
              <a:gd fmla="val 516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5"/>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1" name="Google Shape;301;p15"/>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302" name="Google Shape;302;p15"/>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1200"/>
              <a:buFont typeface="Play"/>
              <a:buNone/>
            </a:pPr>
            <a:r>
              <a:rPr b="1" i="0" lang="en-US" sz="1200" u="none" cap="none" strike="noStrike">
                <a:solidFill>
                  <a:srgbClr val="1D1D1F"/>
                </a:solidFill>
                <a:latin typeface="Play"/>
                <a:ea typeface="Play"/>
                <a:cs typeface="Play"/>
                <a:sym typeface="Play"/>
              </a:rPr>
              <a:t>DHJ and FCF alike</a:t>
            </a:r>
            <a:endParaRPr b="0" i="0" sz="1200" u="none" cap="none" strike="noStrike">
              <a:solidFill>
                <a:schemeClr val="dk1"/>
              </a:solidFill>
              <a:latin typeface="Calibri"/>
              <a:ea typeface="Calibri"/>
              <a:cs typeface="Calibri"/>
              <a:sym typeface="Calibri"/>
            </a:endParaRPr>
          </a:p>
        </p:txBody>
      </p:sp>
      <p:sp>
        <p:nvSpPr>
          <p:cNvPr id="303" name="Google Shape;303;p15"/>
          <p:cNvSpPr txBox="1"/>
          <p:nvPr/>
        </p:nvSpPr>
        <p:spPr>
          <a:xfrm>
            <a:off x="6214872" y="2221992"/>
            <a:ext cx="2353056" cy="4297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950"/>
              <a:buFont typeface="Arial"/>
              <a:buNone/>
            </a:pPr>
            <a:r>
              <a:rPr b="0" i="0" lang="en-US" sz="950" u="none" cap="none" strike="noStrike">
                <a:solidFill>
                  <a:srgbClr val="6E6E73"/>
                </a:solidFill>
                <a:latin typeface="Arial"/>
                <a:ea typeface="Arial"/>
                <a:cs typeface="Arial"/>
                <a:sym typeface="Arial"/>
              </a:rPr>
              <a:t>One process for both. Only the refund mechanics differ.</a:t>
            </a:r>
            <a:endParaRPr b="0" i="0" sz="950" u="none" cap="none" strike="noStrike">
              <a:solidFill>
                <a:schemeClr val="dk1"/>
              </a:solidFill>
              <a:latin typeface="Calibri"/>
              <a:ea typeface="Calibri"/>
              <a:cs typeface="Calibri"/>
              <a:sym typeface="Calibri"/>
            </a:endParaRPr>
          </a:p>
        </p:txBody>
      </p:sp>
      <p:sp>
        <p:nvSpPr>
          <p:cNvPr id="304" name="Google Shape;304;p15"/>
          <p:cNvSpPr/>
          <p:nvPr/>
        </p:nvSpPr>
        <p:spPr>
          <a:xfrm>
            <a:off x="411480" y="2926080"/>
            <a:ext cx="8321040" cy="384048"/>
          </a:xfrm>
          <a:prstGeom prst="roundRect">
            <a:avLst>
              <a:gd fmla="val 19048"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5" name="Google Shape;305;p15"/>
          <p:cNvPicPr preferRelativeResize="0"/>
          <p:nvPr/>
        </p:nvPicPr>
        <p:blipFill rotWithShape="1">
          <a:blip r:embed="rId6">
            <a:alphaModFix/>
          </a:blip>
          <a:srcRect b="0" l="0" r="0" t="0"/>
          <a:stretch/>
        </p:blipFill>
        <p:spPr>
          <a:xfrm>
            <a:off x="566928" y="3035808"/>
            <a:ext cx="164592" cy="164592"/>
          </a:xfrm>
          <a:prstGeom prst="rect">
            <a:avLst/>
          </a:prstGeom>
          <a:noFill/>
          <a:ln>
            <a:noFill/>
          </a:ln>
        </p:spPr>
      </p:pic>
      <p:sp>
        <p:nvSpPr>
          <p:cNvPr id="306" name="Google Shape;306;p15"/>
          <p:cNvSpPr txBox="1"/>
          <p:nvPr/>
        </p:nvSpPr>
        <p:spPr>
          <a:xfrm>
            <a:off x="822960" y="2926080"/>
            <a:ext cx="77724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261E"/>
              </a:buClr>
              <a:buSzPts val="1000"/>
              <a:buFont typeface="Arial"/>
              <a:buNone/>
            </a:pPr>
            <a:r>
              <a:rPr b="1" i="0" lang="en-US" sz="1000" u="none" cap="none" strike="noStrike">
                <a:solidFill>
                  <a:srgbClr val="B3261E"/>
                </a:solidFill>
                <a:latin typeface="Arial"/>
                <a:ea typeface="Arial"/>
                <a:cs typeface="Arial"/>
                <a:sym typeface="Arial"/>
              </a:rPr>
              <a:t>Validated reports only:  </a:t>
            </a:r>
            <a:r>
              <a:rPr b="0" i="0" lang="en-US" sz="1000" u="none" cap="none" strike="noStrike">
                <a:solidFill>
                  <a:srgbClr val="1D1D1F"/>
                </a:solidFill>
                <a:latin typeface="Arial"/>
                <a:ea typeface="Arial"/>
                <a:cs typeface="Arial"/>
                <a:sym typeface="Arial"/>
              </a:rPr>
              <a:t>a CP-side agent must have created the action item. Never act on a raw complaint.</a:t>
            </a:r>
            <a:endParaRPr b="0" i="0" sz="1000" u="none" cap="none" strike="noStrike">
              <a:solidFill>
                <a:schemeClr val="dk1"/>
              </a:solidFill>
              <a:latin typeface="Calibri"/>
              <a:ea typeface="Calibri"/>
              <a:cs typeface="Calibri"/>
              <a:sym typeface="Calibri"/>
            </a:endParaRPr>
          </a:p>
        </p:txBody>
      </p:sp>
      <p:sp>
        <p:nvSpPr>
          <p:cNvPr id="307" name="Google Shape;307;p15"/>
          <p:cNvSpPr/>
          <p:nvPr/>
        </p:nvSpPr>
        <p:spPr>
          <a:xfrm>
            <a:off x="411480" y="3447288"/>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8" name="Google Shape;308;p15"/>
          <p:cNvPicPr preferRelativeResize="0"/>
          <p:nvPr/>
        </p:nvPicPr>
        <p:blipFill rotWithShape="1">
          <a:blip r:embed="rId7">
            <a:alphaModFix/>
          </a:blip>
          <a:srcRect b="0" l="0" r="0" t="0"/>
          <a:stretch/>
        </p:blipFill>
        <p:spPr>
          <a:xfrm>
            <a:off x="566928" y="3557016"/>
            <a:ext cx="164592" cy="164592"/>
          </a:xfrm>
          <a:prstGeom prst="rect">
            <a:avLst/>
          </a:prstGeom>
          <a:noFill/>
          <a:ln>
            <a:noFill/>
          </a:ln>
        </p:spPr>
      </p:pic>
      <p:sp>
        <p:nvSpPr>
          <p:cNvPr id="309" name="Google Shape;309;p15"/>
          <p:cNvSpPr txBox="1"/>
          <p:nvPr/>
        </p:nvSpPr>
        <p:spPr>
          <a:xfrm>
            <a:off x="822960" y="3547872"/>
            <a:ext cx="77724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A6410"/>
              </a:buClr>
              <a:buSzPts val="1000"/>
              <a:buFont typeface="Arial"/>
              <a:buNone/>
            </a:pPr>
            <a:r>
              <a:rPr b="1" i="0" lang="en-US" sz="1000" u="none" cap="none" strike="noStrike">
                <a:solidFill>
                  <a:srgbClr val="9A6410"/>
                </a:solidFill>
                <a:latin typeface="Arial"/>
                <a:ea typeface="Arial"/>
                <a:cs typeface="Arial"/>
                <a:sym typeface="Arial"/>
              </a:rPr>
              <a:t>Order matters:  </a:t>
            </a:r>
            <a:r>
              <a:rPr b="0" i="0" lang="en-US" sz="1000" u="none" cap="none" strike="noStrike">
                <a:solidFill>
                  <a:srgbClr val="1D1D1F"/>
                </a:solidFill>
                <a:latin typeface="Arial"/>
                <a:ea typeface="Arial"/>
                <a:cs typeface="Arial"/>
                <a:sym typeface="Arial"/>
              </a:rPr>
              <a:t>don't cancel FC or waive the ETF before C has had a chance to fix it.</a:t>
            </a:r>
            <a:endParaRPr b="0" i="0" sz="1000" u="none" cap="none" strike="noStrike">
              <a:solidFill>
                <a:schemeClr val="dk1"/>
              </a:solidFill>
              <a:latin typeface="Calibri"/>
              <a:ea typeface="Calibri"/>
              <a:cs typeface="Calibri"/>
              <a:sym typeface="Calibri"/>
            </a:endParaRPr>
          </a:p>
        </p:txBody>
      </p:sp>
      <p:sp>
        <p:nvSpPr>
          <p:cNvPr id="310" name="Google Shape;310;p1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BIOHAZARD REPORT</a:t>
            </a:r>
            <a:endParaRPr b="0" i="0" sz="800" u="none" cap="none" strike="noStrike">
              <a:solidFill>
                <a:schemeClr val="dk1"/>
              </a:solidFill>
              <a:latin typeface="Calibri"/>
              <a:ea typeface="Calibri"/>
              <a:cs typeface="Calibri"/>
              <a:sym typeface="Calibri"/>
            </a:endParaRPr>
          </a:p>
        </p:txBody>
      </p:sp>
      <p:sp>
        <p:nvSpPr>
          <p:cNvPr id="317" name="Google Shape;317;p1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2400"/>
              <a:buFont typeface="Play"/>
              <a:buNone/>
            </a:pPr>
            <a:r>
              <a:rPr b="1" i="0" lang="en-US" sz="2400" u="none" cap="none" strike="noStrike">
                <a:solidFill>
                  <a:srgbClr val="1D1D1F"/>
                </a:solidFill>
                <a:latin typeface="Play"/>
                <a:ea typeface="Play"/>
                <a:cs typeface="Play"/>
                <a:sym typeface="Play"/>
              </a:rPr>
              <a:t>What counts?</a:t>
            </a:r>
            <a:endParaRPr b="0" i="0" sz="2400" u="none" cap="none" strike="noStrike">
              <a:solidFill>
                <a:schemeClr val="dk1"/>
              </a:solidFill>
              <a:latin typeface="Calibri"/>
              <a:ea typeface="Calibri"/>
              <a:cs typeface="Calibri"/>
              <a:sym typeface="Calibri"/>
            </a:endParaRPr>
          </a:p>
        </p:txBody>
      </p:sp>
      <p:sp>
        <p:nvSpPr>
          <p:cNvPr id="318" name="Google Shape;318;p16"/>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1200"/>
              <a:buFont typeface="Arial"/>
              <a:buNone/>
            </a:pPr>
            <a:r>
              <a:rPr b="0" i="0" lang="en-US" sz="1200" u="none" cap="none" strike="noStrike">
                <a:solidFill>
                  <a:srgbClr val="6E6E73"/>
                </a:solidFill>
                <a:latin typeface="Arial"/>
                <a:ea typeface="Arial"/>
                <a:cs typeface="Arial"/>
                <a:sym typeface="Arial"/>
              </a:rPr>
              <a:t>It has to be excessive and a direct risk to the CP.</a:t>
            </a:r>
            <a:endParaRPr b="0" i="0" sz="1200" u="none" cap="none" strike="noStrike">
              <a:solidFill>
                <a:schemeClr val="dk1"/>
              </a:solidFill>
              <a:latin typeface="Calibri"/>
              <a:ea typeface="Calibri"/>
              <a:cs typeface="Calibri"/>
              <a:sym typeface="Calibri"/>
            </a:endParaRPr>
          </a:p>
        </p:txBody>
      </p:sp>
      <p:sp>
        <p:nvSpPr>
          <p:cNvPr id="319" name="Google Shape;319;p16"/>
          <p:cNvSpPr/>
          <p:nvPr/>
        </p:nvSpPr>
        <p:spPr>
          <a:xfrm>
            <a:off x="411480" y="1325880"/>
            <a:ext cx="4069080" cy="1737360"/>
          </a:xfrm>
          <a:prstGeom prst="roundRect">
            <a:avLst>
              <a:gd fmla="val 4211"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6"/>
          <p:cNvSpPr/>
          <p:nvPr/>
        </p:nvSpPr>
        <p:spPr>
          <a:xfrm>
            <a:off x="411480" y="1325880"/>
            <a:ext cx="4069080" cy="329184"/>
          </a:xfrm>
          <a:prstGeom prst="roundRect">
            <a:avLst>
              <a:gd fmla="val 16667" name="adj"/>
            </a:avLst>
          </a:prstGeom>
          <a:solidFill>
            <a:srgbClr val="B3261E"/>
          </a:solidFill>
          <a:ln cap="flat" cmpd="sng" w="12700">
            <a:solidFill>
              <a:srgbClr val="B3261E"/>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Play"/>
              <a:buNone/>
            </a:pPr>
            <a:r>
              <a:rPr b="1" i="0" lang="en-US" sz="1050" u="none" cap="none" strike="noStrike">
                <a:solidFill>
                  <a:srgbClr val="FFFFFF"/>
                </a:solidFill>
                <a:latin typeface="Play"/>
                <a:ea typeface="Play"/>
                <a:cs typeface="Play"/>
                <a:sym typeface="Play"/>
              </a:rPr>
              <a:t>Biohazard</a:t>
            </a:r>
            <a:endParaRPr b="0" i="0" sz="1050" u="none" cap="none" strike="noStrike">
              <a:solidFill>
                <a:schemeClr val="dk1"/>
              </a:solidFill>
              <a:latin typeface="Calibri"/>
              <a:ea typeface="Calibri"/>
              <a:cs typeface="Calibri"/>
              <a:sym typeface="Calibri"/>
            </a:endParaRPr>
          </a:p>
        </p:txBody>
      </p:sp>
      <p:sp>
        <p:nvSpPr>
          <p:cNvPr id="321" name="Google Shape;321;p16"/>
          <p:cNvSpPr txBox="1"/>
          <p:nvPr/>
        </p:nvSpPr>
        <p:spPr>
          <a:xfrm>
            <a:off x="576072" y="1764792"/>
            <a:ext cx="3739896" cy="1225296"/>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1D1D1F"/>
              </a:buClr>
              <a:buSzPts val="950"/>
              <a:buFont typeface="Arial"/>
              <a:buChar char="•"/>
            </a:pPr>
            <a:r>
              <a:rPr b="0" i="0" lang="en-US" sz="950" u="none" cap="none" strike="noStrike">
                <a:solidFill>
                  <a:srgbClr val="1D1D1F"/>
                </a:solidFill>
                <a:latin typeface="Arial"/>
                <a:ea typeface="Arial"/>
                <a:cs typeface="Arial"/>
                <a:sym typeface="Arial"/>
              </a:rPr>
              <a:t>Human or animal waste, bodily fluids</a:t>
            </a:r>
            <a:endParaRPr b="0" i="0" sz="95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D1D1F"/>
              </a:buClr>
              <a:buSzPts val="950"/>
              <a:buFont typeface="Arial"/>
              <a:buChar char="•"/>
            </a:pPr>
            <a:r>
              <a:rPr b="0" i="0" lang="en-US" sz="950" u="none" cap="none" strike="noStrike">
                <a:solidFill>
                  <a:srgbClr val="1D1D1F"/>
                </a:solidFill>
                <a:latin typeface="Arial"/>
                <a:ea typeface="Arial"/>
                <a:cs typeface="Arial"/>
                <a:sym typeface="Arial"/>
              </a:rPr>
              <a:t>Mold infestations</a:t>
            </a:r>
            <a:endParaRPr b="0" i="0" sz="95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D1D1F"/>
              </a:buClr>
              <a:buSzPts val="950"/>
              <a:buFont typeface="Arial"/>
              <a:buChar char="•"/>
            </a:pPr>
            <a:r>
              <a:rPr b="0" i="0" lang="en-US" sz="950" u="none" cap="none" strike="noStrike">
                <a:solidFill>
                  <a:srgbClr val="1D1D1F"/>
                </a:solidFill>
                <a:latin typeface="Arial"/>
                <a:ea typeface="Arial"/>
                <a:cs typeface="Arial"/>
                <a:sym typeface="Arial"/>
              </a:rPr>
              <a:t>Hazardous materials</a:t>
            </a:r>
            <a:endParaRPr b="0" i="0" sz="95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D1D1F"/>
              </a:buClr>
              <a:buSzPts val="950"/>
              <a:buFont typeface="Arial"/>
              <a:buChar char="•"/>
            </a:pPr>
            <a:r>
              <a:rPr b="0" i="0" lang="en-US" sz="950" u="none" cap="none" strike="noStrike">
                <a:solidFill>
                  <a:srgbClr val="1D1D1F"/>
                </a:solidFill>
                <a:latin typeface="Arial"/>
                <a:ea typeface="Arial"/>
                <a:cs typeface="Arial"/>
                <a:sym typeface="Arial"/>
              </a:rPr>
              <a:t>Vermin or insect infestations</a:t>
            </a:r>
            <a:endParaRPr b="0" i="0" sz="950" u="none" cap="none" strike="noStrike">
              <a:solidFill>
                <a:schemeClr val="dk1"/>
              </a:solidFill>
              <a:latin typeface="Calibri"/>
              <a:ea typeface="Calibri"/>
              <a:cs typeface="Calibri"/>
              <a:sym typeface="Calibri"/>
            </a:endParaRPr>
          </a:p>
        </p:txBody>
      </p:sp>
      <p:sp>
        <p:nvSpPr>
          <p:cNvPr id="322" name="Google Shape;322;p16"/>
          <p:cNvSpPr/>
          <p:nvPr/>
        </p:nvSpPr>
        <p:spPr>
          <a:xfrm>
            <a:off x="4663440" y="1325880"/>
            <a:ext cx="4069080" cy="1737360"/>
          </a:xfrm>
          <a:prstGeom prst="roundRect">
            <a:avLst>
              <a:gd fmla="val 4211" name="adj"/>
            </a:avLst>
          </a:prstGeom>
          <a:solidFill>
            <a:srgbClr val="FFF3D6"/>
          </a:solidFill>
          <a:ln cap="flat" cmpd="sng" w="9525">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6"/>
          <p:cNvSpPr/>
          <p:nvPr/>
        </p:nvSpPr>
        <p:spPr>
          <a:xfrm>
            <a:off x="4663440" y="1325880"/>
            <a:ext cx="4069080" cy="329184"/>
          </a:xfrm>
          <a:prstGeom prst="roundRect">
            <a:avLst>
              <a:gd fmla="val 16667" name="adj"/>
            </a:avLst>
          </a:prstGeom>
          <a:solidFill>
            <a:srgbClr val="9A6410"/>
          </a:solidFill>
          <a:ln cap="flat" cmpd="sng" w="12700">
            <a:solidFill>
              <a:srgbClr val="9A641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Play"/>
              <a:buNone/>
            </a:pPr>
            <a:r>
              <a:rPr b="1" i="0" lang="en-US" sz="1050" u="none" cap="none" strike="noStrike">
                <a:solidFill>
                  <a:srgbClr val="FFFFFF"/>
                </a:solidFill>
                <a:latin typeface="Play"/>
                <a:ea typeface="Play"/>
                <a:cs typeface="Play"/>
                <a:sym typeface="Play"/>
              </a:rPr>
              <a:t>Hoarder</a:t>
            </a:r>
            <a:endParaRPr b="0" i="0" sz="1050" u="none" cap="none" strike="noStrike">
              <a:solidFill>
                <a:schemeClr val="dk1"/>
              </a:solidFill>
              <a:latin typeface="Calibri"/>
              <a:ea typeface="Calibri"/>
              <a:cs typeface="Calibri"/>
              <a:sym typeface="Calibri"/>
            </a:endParaRPr>
          </a:p>
        </p:txBody>
      </p:sp>
      <p:sp>
        <p:nvSpPr>
          <p:cNvPr id="324" name="Google Shape;324;p16"/>
          <p:cNvSpPr txBox="1"/>
          <p:nvPr/>
        </p:nvSpPr>
        <p:spPr>
          <a:xfrm>
            <a:off x="4828032" y="1764792"/>
            <a:ext cx="3739896" cy="1225296"/>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1D1D1F"/>
              </a:buClr>
              <a:buSzPts val="950"/>
              <a:buFont typeface="Arial"/>
              <a:buChar char="•"/>
            </a:pPr>
            <a:r>
              <a:rPr b="0" i="0" lang="en-US" sz="950" u="none" cap="none" strike="noStrike">
                <a:solidFill>
                  <a:srgbClr val="1D1D1F"/>
                </a:solidFill>
                <a:latin typeface="Arial"/>
                <a:ea typeface="Arial"/>
                <a:cs typeface="Arial"/>
                <a:sym typeface="Arial"/>
              </a:rPr>
              <a:t>Clutter that blocks the kitchen, bathroom or exits</a:t>
            </a:r>
            <a:endParaRPr b="0" i="0" sz="95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D1D1F"/>
              </a:buClr>
              <a:buSzPts val="950"/>
              <a:buFont typeface="Arial"/>
              <a:buChar char="•"/>
            </a:pPr>
            <a:r>
              <a:rPr b="0" i="0" lang="en-US" sz="950" u="none" cap="none" strike="noStrike">
                <a:solidFill>
                  <a:srgbClr val="1D1D1F"/>
                </a:solidFill>
                <a:latin typeface="Arial"/>
                <a:ea typeface="Arial"/>
                <a:cs typeface="Arial"/>
                <a:sym typeface="Arial"/>
              </a:rPr>
              <a:t>Clutter that creates fire, structural or unsanitary hazards</a:t>
            </a:r>
            <a:endParaRPr b="0" i="0" sz="950" u="none" cap="none" strike="noStrike">
              <a:solidFill>
                <a:schemeClr val="dk1"/>
              </a:solidFill>
              <a:latin typeface="Calibri"/>
              <a:ea typeface="Calibri"/>
              <a:cs typeface="Calibri"/>
              <a:sym typeface="Calibri"/>
            </a:endParaRPr>
          </a:p>
        </p:txBody>
      </p:sp>
      <p:sp>
        <p:nvSpPr>
          <p:cNvPr id="325" name="Google Shape;325;p16"/>
          <p:cNvSpPr/>
          <p:nvPr/>
        </p:nvSpPr>
        <p:spPr>
          <a:xfrm>
            <a:off x="411480" y="3200400"/>
            <a:ext cx="4069080" cy="384048"/>
          </a:xfrm>
          <a:prstGeom prst="roundRect">
            <a:avLst>
              <a:gd fmla="val 19048" name="adj"/>
            </a:avLst>
          </a:prstGeom>
          <a:solidFill>
            <a:srgbClr val="FFFFFF"/>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6E6E73"/>
              </a:buClr>
              <a:buSzPts val="900"/>
              <a:buFont typeface="Arial"/>
              <a:buNone/>
            </a:pPr>
            <a:r>
              <a:rPr b="1" i="0" lang="en-US" sz="900" u="none" cap="none" strike="noStrike">
                <a:solidFill>
                  <a:srgbClr val="6E6E73"/>
                </a:solidFill>
                <a:latin typeface="Arial"/>
                <a:ea typeface="Arial"/>
                <a:cs typeface="Arial"/>
                <a:sym typeface="Arial"/>
              </a:rPr>
              <a:t>✕  Doesn't count: normal shower mold, bugs that don't stop the CP</a:t>
            </a:r>
            <a:endParaRPr b="0" i="0" sz="900" u="none" cap="none" strike="noStrike">
              <a:solidFill>
                <a:schemeClr val="dk1"/>
              </a:solidFill>
              <a:latin typeface="Calibri"/>
              <a:ea typeface="Calibri"/>
              <a:cs typeface="Calibri"/>
              <a:sym typeface="Calibri"/>
            </a:endParaRPr>
          </a:p>
        </p:txBody>
      </p:sp>
      <p:sp>
        <p:nvSpPr>
          <p:cNvPr id="326" name="Google Shape;326;p16"/>
          <p:cNvSpPr/>
          <p:nvPr/>
        </p:nvSpPr>
        <p:spPr>
          <a:xfrm>
            <a:off x="4663440" y="3200400"/>
            <a:ext cx="4069080" cy="384048"/>
          </a:xfrm>
          <a:prstGeom prst="roundRect">
            <a:avLst>
              <a:gd fmla="val 19048" name="adj"/>
            </a:avLst>
          </a:prstGeom>
          <a:solidFill>
            <a:srgbClr val="FFFFFF"/>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6E6E73"/>
              </a:buClr>
              <a:buSzPts val="900"/>
              <a:buFont typeface="Arial"/>
              <a:buNone/>
            </a:pPr>
            <a:r>
              <a:rPr b="1" i="0" lang="en-US" sz="900" u="none" cap="none" strike="noStrike">
                <a:solidFill>
                  <a:srgbClr val="6E6E73"/>
                </a:solidFill>
                <a:latin typeface="Arial"/>
                <a:ea typeface="Arial"/>
                <a:cs typeface="Arial"/>
                <a:sym typeface="Arial"/>
              </a:rPr>
              <a:t>✕  Doesn't count: general clutter that doesn't affect cleaning</a:t>
            </a:r>
            <a:endParaRPr b="0" i="0" sz="900" u="none" cap="none" strike="noStrike">
              <a:solidFill>
                <a:schemeClr val="dk1"/>
              </a:solidFill>
              <a:latin typeface="Calibri"/>
              <a:ea typeface="Calibri"/>
              <a:cs typeface="Calibri"/>
              <a:sym typeface="Calibri"/>
            </a:endParaRPr>
          </a:p>
        </p:txBody>
      </p:sp>
      <p:sp>
        <p:nvSpPr>
          <p:cNvPr id="327" name="Google Shape;327;p16"/>
          <p:cNvSpPr/>
          <p:nvPr/>
        </p:nvSpPr>
        <p:spPr>
          <a:xfrm>
            <a:off x="411480" y="379476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8" name="Google Shape;328;p16"/>
          <p:cNvPicPr preferRelativeResize="0"/>
          <p:nvPr/>
        </p:nvPicPr>
        <p:blipFill rotWithShape="1">
          <a:blip r:embed="rId3">
            <a:alphaModFix/>
          </a:blip>
          <a:srcRect b="0" l="0" r="0" t="0"/>
          <a:stretch/>
        </p:blipFill>
        <p:spPr>
          <a:xfrm>
            <a:off x="566928" y="3904488"/>
            <a:ext cx="164592" cy="164592"/>
          </a:xfrm>
          <a:prstGeom prst="rect">
            <a:avLst/>
          </a:prstGeom>
          <a:noFill/>
          <a:ln>
            <a:noFill/>
          </a:ln>
        </p:spPr>
      </p:pic>
      <p:sp>
        <p:nvSpPr>
          <p:cNvPr id="329" name="Google Shape;329;p16"/>
          <p:cNvSpPr txBox="1"/>
          <p:nvPr/>
        </p:nvSpPr>
        <p:spPr>
          <a:xfrm>
            <a:off x="822960" y="3895344"/>
            <a:ext cx="77724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A6410"/>
              </a:buClr>
              <a:buSzPts val="1000"/>
              <a:buFont typeface="Arial"/>
              <a:buNone/>
            </a:pPr>
            <a:r>
              <a:rPr b="1" i="0" lang="en-US" sz="1000" u="none" cap="none" strike="noStrike">
                <a:solidFill>
                  <a:srgbClr val="9A6410"/>
                </a:solidFill>
                <a:latin typeface="Arial"/>
                <a:ea typeface="Arial"/>
                <a:cs typeface="Arial"/>
                <a:sym typeface="Arial"/>
              </a:rPr>
              <a:t>Rule of thumb:  </a:t>
            </a:r>
            <a:r>
              <a:rPr b="0" i="0" lang="en-US" sz="1000" u="none" cap="none" strike="noStrike">
                <a:solidFill>
                  <a:srgbClr val="1D1D1F"/>
                </a:solidFill>
                <a:latin typeface="Arial"/>
                <a:ea typeface="Arial"/>
                <a:cs typeface="Arial"/>
                <a:sym typeface="Arial"/>
              </a:rPr>
              <a:t>excessive, and a direct risk to the CP.</a:t>
            </a:r>
            <a:endParaRPr b="0" i="0" sz="1000" u="none" cap="none" strike="noStrike">
              <a:solidFill>
                <a:schemeClr val="dk1"/>
              </a:solidFill>
              <a:latin typeface="Calibri"/>
              <a:ea typeface="Calibri"/>
              <a:cs typeface="Calibri"/>
              <a:sym typeface="Calibri"/>
            </a:endParaRPr>
          </a:p>
        </p:txBody>
      </p:sp>
      <p:sp>
        <p:nvSpPr>
          <p:cNvPr id="330" name="Google Shape;330;p1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7"/>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BIOHAZARD REPORT</a:t>
            </a:r>
            <a:endParaRPr b="0" i="0" sz="800" u="none" cap="none" strike="noStrike">
              <a:solidFill>
                <a:schemeClr val="dk1"/>
              </a:solidFill>
              <a:latin typeface="Calibri"/>
              <a:ea typeface="Calibri"/>
              <a:cs typeface="Calibri"/>
              <a:sym typeface="Calibri"/>
            </a:endParaRPr>
          </a:p>
        </p:txBody>
      </p:sp>
      <p:sp>
        <p:nvSpPr>
          <p:cNvPr id="337" name="Google Shape;337;p17"/>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2400"/>
              <a:buFont typeface="Play"/>
              <a:buNone/>
            </a:pPr>
            <a:r>
              <a:rPr b="1" i="0" lang="en-US" sz="2400" u="none" cap="none" strike="noStrike">
                <a:solidFill>
                  <a:srgbClr val="1D1D1F"/>
                </a:solidFill>
                <a:latin typeface="Play"/>
                <a:ea typeface="Play"/>
                <a:cs typeface="Play"/>
                <a:sym typeface="Play"/>
              </a:rPr>
              <a:t>Before it reaches you</a:t>
            </a:r>
            <a:endParaRPr b="0" i="0" sz="2400" u="none" cap="none" strike="noStrike">
              <a:solidFill>
                <a:schemeClr val="dk1"/>
              </a:solidFill>
              <a:latin typeface="Calibri"/>
              <a:ea typeface="Calibri"/>
              <a:cs typeface="Calibri"/>
              <a:sym typeface="Calibri"/>
            </a:endParaRPr>
          </a:p>
        </p:txBody>
      </p:sp>
      <p:sp>
        <p:nvSpPr>
          <p:cNvPr id="338" name="Google Shape;338;p17"/>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1200"/>
              <a:buFont typeface="Arial"/>
              <a:buNone/>
            </a:pPr>
            <a:r>
              <a:rPr b="0" i="0" lang="en-US" sz="1200" u="none" cap="none" strike="noStrike">
                <a:solidFill>
                  <a:srgbClr val="6E6E73"/>
                </a:solidFill>
                <a:latin typeface="Arial"/>
                <a:ea typeface="Arial"/>
                <a:cs typeface="Arial"/>
                <a:sym typeface="Arial"/>
              </a:rPr>
              <a:t>A CP-side Bilingual agent has already done this. Background only.</a:t>
            </a:r>
            <a:endParaRPr b="0" i="0" sz="1200" u="none" cap="none" strike="noStrike">
              <a:solidFill>
                <a:schemeClr val="dk1"/>
              </a:solidFill>
              <a:latin typeface="Calibri"/>
              <a:ea typeface="Calibri"/>
              <a:cs typeface="Calibri"/>
              <a:sym typeface="Calibri"/>
            </a:endParaRPr>
          </a:p>
        </p:txBody>
      </p:sp>
      <p:sp>
        <p:nvSpPr>
          <p:cNvPr id="339" name="Google Shape;339;p17"/>
          <p:cNvSpPr/>
          <p:nvPr/>
        </p:nvSpPr>
        <p:spPr>
          <a:xfrm>
            <a:off x="411480" y="1325880"/>
            <a:ext cx="1977390" cy="731520"/>
          </a:xfrm>
          <a:prstGeom prst="roundRect">
            <a:avLst>
              <a:gd fmla="val 10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7"/>
          <p:cNvSpPr/>
          <p:nvPr/>
        </p:nvSpPr>
        <p:spPr>
          <a:xfrm>
            <a:off x="521208"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7"/>
          <p:cNvSpPr txBox="1"/>
          <p:nvPr/>
        </p:nvSpPr>
        <p:spPr>
          <a:xfrm>
            <a:off x="521208" y="155448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342" name="Google Shape;342;p17"/>
          <p:cNvSpPr txBox="1"/>
          <p:nvPr/>
        </p:nvSpPr>
        <p:spPr>
          <a:xfrm>
            <a:off x="886968" y="1325880"/>
            <a:ext cx="142875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950"/>
              <a:buFont typeface="Play"/>
              <a:buNone/>
            </a:pPr>
            <a:r>
              <a:rPr b="1" i="0" lang="en-US" sz="950" u="none" cap="none" strike="noStrike">
                <a:solidFill>
                  <a:srgbClr val="1D1D1F"/>
                </a:solidFill>
                <a:latin typeface="Play"/>
                <a:ea typeface="Play"/>
                <a:cs typeface="Play"/>
                <a:sym typeface="Play"/>
              </a:rPr>
              <a:t>Escalated</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6E73"/>
              </a:buClr>
              <a:buSzPts val="850"/>
              <a:buFont typeface="Arial"/>
              <a:buNone/>
            </a:pPr>
            <a:r>
              <a:rPr b="0" i="0" lang="en-US" sz="850" u="none" cap="none" strike="noStrike">
                <a:solidFill>
                  <a:srgbClr val="6E6E73"/>
                </a:solidFill>
                <a:latin typeface="Arial"/>
                <a:ea typeface="Arial"/>
                <a:cs typeface="Arial"/>
                <a:sym typeface="Arial"/>
              </a:rPr>
              <a:t>the CP's report</a:t>
            </a:r>
            <a:endParaRPr b="0" i="0" sz="950" u="none" cap="none" strike="noStrike">
              <a:solidFill>
                <a:schemeClr val="dk1"/>
              </a:solidFill>
              <a:latin typeface="Calibri"/>
              <a:ea typeface="Calibri"/>
              <a:cs typeface="Calibri"/>
              <a:sym typeface="Calibri"/>
            </a:endParaRPr>
          </a:p>
        </p:txBody>
      </p:sp>
      <p:cxnSp>
        <p:nvCxnSpPr>
          <p:cNvPr id="343" name="Google Shape;343;p17"/>
          <p:cNvCxnSpPr/>
          <p:nvPr/>
        </p:nvCxnSpPr>
        <p:spPr>
          <a:xfrm>
            <a:off x="2388870" y="1691640"/>
            <a:ext cx="137160" cy="0"/>
          </a:xfrm>
          <a:prstGeom prst="straightConnector1">
            <a:avLst/>
          </a:prstGeom>
          <a:noFill/>
          <a:ln cap="flat" cmpd="sng" w="12700">
            <a:solidFill>
              <a:srgbClr val="6E6E73"/>
            </a:solidFill>
            <a:prstDash val="solid"/>
            <a:round/>
            <a:headEnd len="sm" w="sm" type="none"/>
            <a:tailEnd len="med" w="med" type="triangle"/>
          </a:ln>
        </p:spPr>
      </p:cxnSp>
      <p:sp>
        <p:nvSpPr>
          <p:cNvPr id="344" name="Google Shape;344;p17"/>
          <p:cNvSpPr/>
          <p:nvPr/>
        </p:nvSpPr>
        <p:spPr>
          <a:xfrm>
            <a:off x="2526030" y="1325880"/>
            <a:ext cx="1977390" cy="731520"/>
          </a:xfrm>
          <a:prstGeom prst="roundRect">
            <a:avLst>
              <a:gd fmla="val 10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7"/>
          <p:cNvSpPr/>
          <p:nvPr/>
        </p:nvSpPr>
        <p:spPr>
          <a:xfrm>
            <a:off x="2635758"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7"/>
          <p:cNvSpPr txBox="1"/>
          <p:nvPr/>
        </p:nvSpPr>
        <p:spPr>
          <a:xfrm>
            <a:off x="2635758" y="155448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347" name="Google Shape;347;p17"/>
          <p:cNvSpPr txBox="1"/>
          <p:nvPr/>
        </p:nvSpPr>
        <p:spPr>
          <a:xfrm>
            <a:off x="3001518" y="1325880"/>
            <a:ext cx="142875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950"/>
              <a:buFont typeface="Play"/>
              <a:buNone/>
            </a:pPr>
            <a:r>
              <a:rPr b="1" i="0" lang="en-US" sz="950" u="none" cap="none" strike="noStrike">
                <a:solidFill>
                  <a:srgbClr val="1D1D1F"/>
                </a:solidFill>
                <a:latin typeface="Play"/>
                <a:ea typeface="Play"/>
                <a:cs typeface="Play"/>
                <a:sym typeface="Play"/>
              </a:rPr>
              <a:t>Requested evidence</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6E73"/>
              </a:buClr>
              <a:buSzPts val="850"/>
              <a:buFont typeface="Arial"/>
              <a:buNone/>
            </a:pPr>
            <a:r>
              <a:rPr b="0" i="0" lang="en-US" sz="850" u="none" cap="none" strike="noStrike">
                <a:solidFill>
                  <a:srgbClr val="6E6E73"/>
                </a:solidFill>
                <a:latin typeface="Arial"/>
                <a:ea typeface="Arial"/>
                <a:cs typeface="Arial"/>
                <a:sym typeface="Arial"/>
              </a:rPr>
              <a:t>photos/videos (72-hr TR if missing)</a:t>
            </a:r>
            <a:endParaRPr b="0" i="0" sz="950" u="none" cap="none" strike="noStrike">
              <a:solidFill>
                <a:schemeClr val="dk1"/>
              </a:solidFill>
              <a:latin typeface="Calibri"/>
              <a:ea typeface="Calibri"/>
              <a:cs typeface="Calibri"/>
              <a:sym typeface="Calibri"/>
            </a:endParaRPr>
          </a:p>
        </p:txBody>
      </p:sp>
      <p:cxnSp>
        <p:nvCxnSpPr>
          <p:cNvPr id="348" name="Google Shape;348;p17"/>
          <p:cNvCxnSpPr/>
          <p:nvPr/>
        </p:nvCxnSpPr>
        <p:spPr>
          <a:xfrm>
            <a:off x="4503420" y="1691640"/>
            <a:ext cx="137160" cy="0"/>
          </a:xfrm>
          <a:prstGeom prst="straightConnector1">
            <a:avLst/>
          </a:prstGeom>
          <a:noFill/>
          <a:ln cap="flat" cmpd="sng" w="12700">
            <a:solidFill>
              <a:srgbClr val="6E6E73"/>
            </a:solidFill>
            <a:prstDash val="solid"/>
            <a:round/>
            <a:headEnd len="sm" w="sm" type="none"/>
            <a:tailEnd len="med" w="med" type="triangle"/>
          </a:ln>
        </p:spPr>
      </p:cxnSp>
      <p:sp>
        <p:nvSpPr>
          <p:cNvPr id="349" name="Google Shape;349;p17"/>
          <p:cNvSpPr/>
          <p:nvPr/>
        </p:nvSpPr>
        <p:spPr>
          <a:xfrm>
            <a:off x="4640580" y="1325880"/>
            <a:ext cx="1977390" cy="731520"/>
          </a:xfrm>
          <a:prstGeom prst="roundRect">
            <a:avLst>
              <a:gd fmla="val 10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7"/>
          <p:cNvSpPr/>
          <p:nvPr/>
        </p:nvSpPr>
        <p:spPr>
          <a:xfrm>
            <a:off x="4750308"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7"/>
          <p:cNvSpPr txBox="1"/>
          <p:nvPr/>
        </p:nvSpPr>
        <p:spPr>
          <a:xfrm>
            <a:off x="4750308" y="155448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3</a:t>
            </a:r>
            <a:endParaRPr b="0" i="0" sz="900" u="none" cap="none" strike="noStrike">
              <a:solidFill>
                <a:schemeClr val="dk1"/>
              </a:solidFill>
              <a:latin typeface="Calibri"/>
              <a:ea typeface="Calibri"/>
              <a:cs typeface="Calibri"/>
              <a:sym typeface="Calibri"/>
            </a:endParaRPr>
          </a:p>
        </p:txBody>
      </p:sp>
      <p:sp>
        <p:nvSpPr>
          <p:cNvPr id="352" name="Google Shape;352;p17"/>
          <p:cNvSpPr txBox="1"/>
          <p:nvPr/>
        </p:nvSpPr>
        <p:spPr>
          <a:xfrm>
            <a:off x="5116068" y="1325880"/>
            <a:ext cx="142875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950"/>
              <a:buFont typeface="Play"/>
              <a:buNone/>
            </a:pPr>
            <a:r>
              <a:rPr b="1" i="0" lang="en-US" sz="950" u="none" cap="none" strike="noStrike">
                <a:solidFill>
                  <a:srgbClr val="1D1D1F"/>
                </a:solidFill>
                <a:latin typeface="Play"/>
                <a:ea typeface="Play"/>
                <a:cs typeface="Play"/>
                <a:sym typeface="Play"/>
              </a:rPr>
              <a:t>Verified it</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6E73"/>
              </a:buClr>
              <a:buSzPts val="850"/>
              <a:buFont typeface="Arial"/>
              <a:buNone/>
            </a:pPr>
            <a:r>
              <a:rPr b="0" i="0" lang="en-US" sz="850" u="none" cap="none" strike="noStrike">
                <a:solidFill>
                  <a:srgbClr val="6E6E73"/>
                </a:solidFill>
                <a:latin typeface="Arial"/>
                <a:ea typeface="Arial"/>
                <a:cs typeface="Arial"/>
                <a:sym typeface="Arial"/>
              </a:rPr>
              <a:t>reverse image search</a:t>
            </a:r>
            <a:endParaRPr b="0" i="0" sz="950" u="none" cap="none" strike="noStrike">
              <a:solidFill>
                <a:schemeClr val="dk1"/>
              </a:solidFill>
              <a:latin typeface="Calibri"/>
              <a:ea typeface="Calibri"/>
              <a:cs typeface="Calibri"/>
              <a:sym typeface="Calibri"/>
            </a:endParaRPr>
          </a:p>
        </p:txBody>
      </p:sp>
      <p:cxnSp>
        <p:nvCxnSpPr>
          <p:cNvPr id="353" name="Google Shape;353;p17"/>
          <p:cNvCxnSpPr/>
          <p:nvPr/>
        </p:nvCxnSpPr>
        <p:spPr>
          <a:xfrm>
            <a:off x="6617970" y="1691640"/>
            <a:ext cx="137160" cy="0"/>
          </a:xfrm>
          <a:prstGeom prst="straightConnector1">
            <a:avLst/>
          </a:prstGeom>
          <a:noFill/>
          <a:ln cap="flat" cmpd="sng" w="12700">
            <a:solidFill>
              <a:srgbClr val="6E6E73"/>
            </a:solidFill>
            <a:prstDash val="solid"/>
            <a:round/>
            <a:headEnd len="sm" w="sm" type="none"/>
            <a:tailEnd len="med" w="med" type="triangle"/>
          </a:ln>
        </p:spPr>
      </p:cxnSp>
      <p:sp>
        <p:nvSpPr>
          <p:cNvPr id="354" name="Google Shape;354;p17"/>
          <p:cNvSpPr/>
          <p:nvPr/>
        </p:nvSpPr>
        <p:spPr>
          <a:xfrm>
            <a:off x="6755130" y="1325880"/>
            <a:ext cx="1977390" cy="731520"/>
          </a:xfrm>
          <a:prstGeom prst="roundRect">
            <a:avLst>
              <a:gd fmla="val 10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7"/>
          <p:cNvSpPr/>
          <p:nvPr/>
        </p:nvSpPr>
        <p:spPr>
          <a:xfrm>
            <a:off x="6864858"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7"/>
          <p:cNvSpPr txBox="1"/>
          <p:nvPr/>
        </p:nvSpPr>
        <p:spPr>
          <a:xfrm>
            <a:off x="6864858" y="155448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4</a:t>
            </a:r>
            <a:endParaRPr b="0" i="0" sz="900" u="none" cap="none" strike="noStrike">
              <a:solidFill>
                <a:schemeClr val="dk1"/>
              </a:solidFill>
              <a:latin typeface="Calibri"/>
              <a:ea typeface="Calibri"/>
              <a:cs typeface="Calibri"/>
              <a:sym typeface="Calibri"/>
            </a:endParaRPr>
          </a:p>
        </p:txBody>
      </p:sp>
      <p:sp>
        <p:nvSpPr>
          <p:cNvPr id="357" name="Google Shape;357;p17"/>
          <p:cNvSpPr txBox="1"/>
          <p:nvPr/>
        </p:nvSpPr>
        <p:spPr>
          <a:xfrm>
            <a:off x="7230618" y="1325880"/>
            <a:ext cx="142875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950"/>
              <a:buFont typeface="Play"/>
              <a:buNone/>
            </a:pPr>
            <a:r>
              <a:rPr b="1" i="0" lang="en-US" sz="950" u="none" cap="none" strike="noStrike">
                <a:solidFill>
                  <a:srgbClr val="1D1D1F"/>
                </a:solidFill>
                <a:latin typeface="Play"/>
                <a:ea typeface="Play"/>
                <a:cs typeface="Play"/>
                <a:sym typeface="Play"/>
              </a:rPr>
              <a:t>Valid?</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6E73"/>
              </a:buClr>
              <a:buSzPts val="850"/>
              <a:buFont typeface="Arial"/>
              <a:buNone/>
            </a:pPr>
            <a:r>
              <a:rPr b="0" i="0" lang="en-US" sz="850" u="none" cap="none" strike="noStrike">
                <a:solidFill>
                  <a:srgbClr val="6E6E73"/>
                </a:solidFill>
                <a:latin typeface="Arial"/>
                <a:ea typeface="Arial"/>
                <a:cs typeface="Arial"/>
                <a:sym typeface="Arial"/>
              </a:rPr>
              <a:t>safety flag + T3 action item</a:t>
            </a:r>
            <a:endParaRPr b="0" i="0" sz="950" u="none" cap="none" strike="noStrike">
              <a:solidFill>
                <a:schemeClr val="dk1"/>
              </a:solidFill>
              <a:latin typeface="Calibri"/>
              <a:ea typeface="Calibri"/>
              <a:cs typeface="Calibri"/>
              <a:sym typeface="Calibri"/>
            </a:endParaRPr>
          </a:p>
        </p:txBody>
      </p:sp>
      <p:sp>
        <p:nvSpPr>
          <p:cNvPr id="358" name="Google Shape;358;p17"/>
          <p:cNvSpPr txBox="1"/>
          <p:nvPr/>
        </p:nvSpPr>
        <p:spPr>
          <a:xfrm>
            <a:off x="411480" y="2212848"/>
            <a:ext cx="54864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SAMPLE T3 ACTION ITEM (WHAT YOU'LL SEE ON THE TICKET)</a:t>
            </a:r>
            <a:endParaRPr b="0" i="0" sz="800" u="none" cap="none" strike="noStrike">
              <a:solidFill>
                <a:schemeClr val="dk1"/>
              </a:solidFill>
              <a:latin typeface="Calibri"/>
              <a:ea typeface="Calibri"/>
              <a:cs typeface="Calibri"/>
              <a:sym typeface="Calibri"/>
            </a:endParaRPr>
          </a:p>
        </p:txBody>
      </p:sp>
      <p:sp>
        <p:nvSpPr>
          <p:cNvPr id="359" name="Google Shape;359;p17"/>
          <p:cNvSpPr/>
          <p:nvPr/>
        </p:nvSpPr>
        <p:spPr>
          <a:xfrm>
            <a:off x="411480" y="2423160"/>
            <a:ext cx="5943600" cy="2011680"/>
          </a:xfrm>
          <a:prstGeom prst="roundRect">
            <a:avLst>
              <a:gd fmla="val 363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mp/claude-0/-workspace-training/3ce5cff6-cccf-5f33-b0ee-0b147a55120e/scratchpad/img8/bio_ticket.png" id="360" name="Google Shape;360;p17"/>
          <p:cNvPicPr preferRelativeResize="0"/>
          <p:nvPr/>
        </p:nvPicPr>
        <p:blipFill rotWithShape="1">
          <a:blip r:embed="rId3">
            <a:alphaModFix/>
          </a:blip>
          <a:srcRect b="0" l="0" r="0" t="0"/>
          <a:stretch/>
        </p:blipFill>
        <p:spPr>
          <a:xfrm>
            <a:off x="526923" y="2496312"/>
            <a:ext cx="5712714" cy="1865376"/>
          </a:xfrm>
          <a:prstGeom prst="rect">
            <a:avLst/>
          </a:prstGeom>
          <a:noFill/>
          <a:ln>
            <a:noFill/>
          </a:ln>
        </p:spPr>
      </p:pic>
      <p:sp>
        <p:nvSpPr>
          <p:cNvPr id="361" name="Google Shape;361;p17"/>
          <p:cNvSpPr/>
          <p:nvPr/>
        </p:nvSpPr>
        <p:spPr>
          <a:xfrm>
            <a:off x="6492240" y="2423160"/>
            <a:ext cx="2240280" cy="2011680"/>
          </a:xfrm>
          <a:prstGeom prst="roundRect">
            <a:avLst>
              <a:gd fmla="val 3636"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7"/>
          <p:cNvSpPr/>
          <p:nvPr/>
        </p:nvSpPr>
        <p:spPr>
          <a:xfrm>
            <a:off x="6492240" y="2423160"/>
            <a:ext cx="224028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Play"/>
              <a:buNone/>
            </a:pPr>
            <a:r>
              <a:rPr b="1" i="0" lang="en-US" sz="1050" u="none" cap="none" strike="noStrike">
                <a:solidFill>
                  <a:srgbClr val="FFFFFF"/>
                </a:solidFill>
                <a:latin typeface="Play"/>
                <a:ea typeface="Play"/>
                <a:cs typeface="Play"/>
                <a:sym typeface="Play"/>
              </a:rPr>
              <a:t>cp_biohazard_report</a:t>
            </a:r>
            <a:endParaRPr b="0" i="0" sz="1050" u="none" cap="none" strike="noStrike">
              <a:solidFill>
                <a:schemeClr val="dk1"/>
              </a:solidFill>
              <a:latin typeface="Calibri"/>
              <a:ea typeface="Calibri"/>
              <a:cs typeface="Calibri"/>
              <a:sym typeface="Calibri"/>
            </a:endParaRPr>
          </a:p>
        </p:txBody>
      </p:sp>
      <p:sp>
        <p:nvSpPr>
          <p:cNvPr id="363" name="Google Shape;363;p17"/>
          <p:cNvSpPr txBox="1"/>
          <p:nvPr/>
        </p:nvSpPr>
        <p:spPr>
          <a:xfrm>
            <a:off x="6656832" y="2862072"/>
            <a:ext cx="1911096" cy="1499616"/>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1D1D1F"/>
              </a:buClr>
              <a:buSzPts val="900"/>
              <a:buFont typeface="Arial"/>
              <a:buChar char="•"/>
            </a:pPr>
            <a:r>
              <a:rPr b="0" i="0" lang="en-US" sz="900" u="none" cap="none" strike="noStrike">
                <a:solidFill>
                  <a:srgbClr val="1D1D1F"/>
                </a:solidFill>
                <a:latin typeface="Arial"/>
                <a:ea typeface="Arial"/>
                <a:cs typeface="Arial"/>
                <a:sym typeface="Arial"/>
              </a:rPr>
              <a:t>CP ID</a:t>
            </a:r>
            <a:endParaRPr b="0" i="0" sz="90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D1D1F"/>
              </a:buClr>
              <a:buSzPts val="900"/>
              <a:buFont typeface="Arial"/>
              <a:buChar char="•"/>
            </a:pPr>
            <a:r>
              <a:rPr b="0" i="0" lang="en-US" sz="900" u="none" cap="none" strike="noStrike">
                <a:solidFill>
                  <a:srgbClr val="1D1D1F"/>
                </a:solidFill>
                <a:latin typeface="Arial"/>
                <a:ea typeface="Arial"/>
                <a:cs typeface="Arial"/>
                <a:sym typeface="Arial"/>
              </a:rPr>
              <a:t>Job ID + date/time</a:t>
            </a:r>
            <a:endParaRPr b="0" i="0" sz="90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D1D1F"/>
              </a:buClr>
              <a:buSzPts val="900"/>
              <a:buFont typeface="Arial"/>
              <a:buChar char="•"/>
            </a:pPr>
            <a:r>
              <a:rPr b="0" i="0" lang="en-US" sz="900" u="none" cap="none" strike="noStrike">
                <a:solidFill>
                  <a:srgbClr val="1D1D1F"/>
                </a:solidFill>
                <a:latin typeface="Arial"/>
                <a:ea typeface="Arial"/>
                <a:cs typeface="Arial"/>
                <a:sym typeface="Arial"/>
              </a:rPr>
              <a:t>Link to the CP's evidence</a:t>
            </a:r>
            <a:endParaRPr b="0" i="0" sz="90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D1D1F"/>
              </a:buClr>
              <a:buSzPts val="900"/>
              <a:buFont typeface="Arial"/>
              <a:buChar char="•"/>
            </a:pPr>
            <a:r>
              <a:rPr b="0" i="0" lang="en-US" sz="900" u="none" cap="none" strike="noStrike">
                <a:solidFill>
                  <a:srgbClr val="1D1D1F"/>
                </a:solidFill>
                <a:latin typeface="Arial"/>
                <a:ea typeface="Arial"/>
                <a:cs typeface="Arial"/>
                <a:sym typeface="Arial"/>
              </a:rPr>
              <a:t>Outcome of the investigation</a:t>
            </a:r>
            <a:endParaRPr b="0" i="0" sz="900" u="none" cap="none" strike="noStrike">
              <a:solidFill>
                <a:schemeClr val="dk1"/>
              </a:solidFill>
              <a:latin typeface="Calibri"/>
              <a:ea typeface="Calibri"/>
              <a:cs typeface="Calibri"/>
              <a:sym typeface="Calibri"/>
            </a:endParaRPr>
          </a:p>
        </p:txBody>
      </p:sp>
      <p:sp>
        <p:nvSpPr>
          <p:cNvPr id="364" name="Google Shape;364;p1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18"/>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BIOHAZARD REPORT</a:t>
            </a:r>
            <a:endParaRPr b="0" i="0" sz="800" u="none" cap="none" strike="noStrike">
              <a:solidFill>
                <a:schemeClr val="dk1"/>
              </a:solidFill>
              <a:latin typeface="Calibri"/>
              <a:ea typeface="Calibri"/>
              <a:cs typeface="Calibri"/>
              <a:sym typeface="Calibri"/>
            </a:endParaRPr>
          </a:p>
        </p:txBody>
      </p:sp>
      <p:sp>
        <p:nvSpPr>
          <p:cNvPr id="371" name="Google Shape;371;p1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2400"/>
              <a:buFont typeface="Play"/>
              <a:buNone/>
            </a:pPr>
            <a:r>
              <a:rPr b="1" i="0" lang="en-US" sz="2400" u="none" cap="none" strike="noStrike">
                <a:solidFill>
                  <a:srgbClr val="1D1D1F"/>
                </a:solidFill>
                <a:latin typeface="Play"/>
                <a:ea typeface="Play"/>
                <a:cs typeface="Play"/>
                <a:sym typeface="Play"/>
              </a:rPr>
              <a:t>1st Response: the warning</a:t>
            </a:r>
            <a:endParaRPr b="0" i="0" sz="2400" u="none" cap="none" strike="noStrike">
              <a:solidFill>
                <a:schemeClr val="dk1"/>
              </a:solidFill>
              <a:latin typeface="Calibri"/>
              <a:ea typeface="Calibri"/>
              <a:cs typeface="Calibri"/>
              <a:sym typeface="Calibri"/>
            </a:endParaRPr>
          </a:p>
        </p:txBody>
      </p:sp>
      <p:sp>
        <p:nvSpPr>
          <p:cNvPr id="372" name="Google Shape;372;p18"/>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1200"/>
              <a:buFont typeface="Arial"/>
              <a:buNone/>
            </a:pPr>
            <a:r>
              <a:rPr b="0" i="0" lang="en-US" sz="1200" u="none" cap="none" strike="noStrike">
                <a:solidFill>
                  <a:srgbClr val="6E6E73"/>
                </a:solidFill>
                <a:latin typeface="Arial"/>
                <a:ea typeface="Arial"/>
                <a:cs typeface="Arial"/>
                <a:sym typeface="Arial"/>
              </a:rPr>
              <a:t>Restrict the account, then respond based on membership status.</a:t>
            </a:r>
            <a:endParaRPr b="0" i="0" sz="1200" u="none" cap="none" strike="noStrike">
              <a:solidFill>
                <a:schemeClr val="dk1"/>
              </a:solidFill>
              <a:latin typeface="Calibri"/>
              <a:ea typeface="Calibri"/>
              <a:cs typeface="Calibri"/>
              <a:sym typeface="Calibri"/>
            </a:endParaRPr>
          </a:p>
        </p:txBody>
      </p:sp>
      <p:sp>
        <p:nvSpPr>
          <p:cNvPr id="373" name="Google Shape;373;p18"/>
          <p:cNvSpPr/>
          <p:nvPr/>
        </p:nvSpPr>
        <p:spPr>
          <a:xfrm>
            <a:off x="411480" y="1325880"/>
            <a:ext cx="3017520" cy="548640"/>
          </a:xfrm>
          <a:prstGeom prst="roundRect">
            <a:avLst>
              <a:gd fmla="val 13333"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8"/>
          <p:cNvSpPr/>
          <p:nvPr/>
        </p:nvSpPr>
        <p:spPr>
          <a:xfrm>
            <a:off x="530352" y="146304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8"/>
          <p:cNvSpPr txBox="1"/>
          <p:nvPr/>
        </p:nvSpPr>
        <p:spPr>
          <a:xfrm>
            <a:off x="530352" y="146304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376" name="Google Shape;376;p18"/>
          <p:cNvSpPr txBox="1"/>
          <p:nvPr/>
        </p:nvSpPr>
        <p:spPr>
          <a:xfrm>
            <a:off x="914400" y="1325880"/>
            <a:ext cx="24688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050"/>
              <a:buFont typeface="Play"/>
              <a:buNone/>
            </a:pPr>
            <a:r>
              <a:rPr b="1" i="0" lang="en-US" sz="1050" u="none" cap="none" strike="noStrike">
                <a:solidFill>
                  <a:srgbClr val="1D1D1F"/>
                </a:solidFill>
                <a:latin typeface="Play"/>
                <a:ea typeface="Play"/>
                <a:cs typeface="Play"/>
                <a:sym typeface="Play"/>
              </a:rPr>
              <a:t>Cancel the RC + all upcoming jobs</a:t>
            </a:r>
            <a:endParaRPr b="0" i="0" sz="1050" u="none" cap="none" strike="noStrike">
              <a:solidFill>
                <a:schemeClr val="dk1"/>
              </a:solidFill>
              <a:latin typeface="Calibri"/>
              <a:ea typeface="Calibri"/>
              <a:cs typeface="Calibri"/>
              <a:sym typeface="Calibri"/>
            </a:endParaRPr>
          </a:p>
        </p:txBody>
      </p:sp>
      <p:sp>
        <p:nvSpPr>
          <p:cNvPr id="377" name="Google Shape;377;p18"/>
          <p:cNvSpPr/>
          <p:nvPr/>
        </p:nvSpPr>
        <p:spPr>
          <a:xfrm>
            <a:off x="3520440" y="1325880"/>
            <a:ext cx="5212080" cy="548640"/>
          </a:xfrm>
          <a:prstGeom prst="roundRect">
            <a:avLst>
              <a:gd fmla="val 1333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8"/>
          <p:cNvSpPr txBox="1"/>
          <p:nvPr/>
        </p:nvSpPr>
        <p:spPr>
          <a:xfrm>
            <a:off x="3657600" y="1325880"/>
            <a:ext cx="49834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900"/>
              <a:buFont typeface="Arial"/>
              <a:buNone/>
            </a:pPr>
            <a:r>
              <a:rPr b="0" i="0" lang="en-US" sz="900" u="none" cap="none" strike="noStrike">
                <a:solidFill>
                  <a:srgbClr val="1D1D1F"/>
                </a:solidFill>
                <a:latin typeface="Arial"/>
                <a:ea typeface="Arial"/>
                <a:cs typeface="Arial"/>
                <a:sym typeface="Arial"/>
              </a:rPr>
              <a:t>Cancellation reason code: Escalated Safety Issue</a:t>
            </a:r>
            <a:endParaRPr b="0" i="0" sz="900" u="none" cap="none" strike="noStrike">
              <a:solidFill>
                <a:schemeClr val="dk1"/>
              </a:solidFill>
              <a:latin typeface="Calibri"/>
              <a:ea typeface="Calibri"/>
              <a:cs typeface="Calibri"/>
              <a:sym typeface="Calibri"/>
            </a:endParaRPr>
          </a:p>
        </p:txBody>
      </p:sp>
      <p:sp>
        <p:nvSpPr>
          <p:cNvPr id="379" name="Google Shape;379;p18"/>
          <p:cNvSpPr/>
          <p:nvPr/>
        </p:nvSpPr>
        <p:spPr>
          <a:xfrm>
            <a:off x="411480" y="1947672"/>
            <a:ext cx="3017520" cy="548640"/>
          </a:xfrm>
          <a:prstGeom prst="roundRect">
            <a:avLst>
              <a:gd fmla="val 13333"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8"/>
          <p:cNvSpPr/>
          <p:nvPr/>
        </p:nvSpPr>
        <p:spPr>
          <a:xfrm>
            <a:off x="530352" y="2084832"/>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8"/>
          <p:cNvSpPr txBox="1"/>
          <p:nvPr/>
        </p:nvSpPr>
        <p:spPr>
          <a:xfrm>
            <a:off x="530352" y="208483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382" name="Google Shape;382;p18"/>
          <p:cNvSpPr txBox="1"/>
          <p:nvPr/>
        </p:nvSpPr>
        <p:spPr>
          <a:xfrm>
            <a:off x="914400" y="1947672"/>
            <a:ext cx="24688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050"/>
              <a:buFont typeface="Play"/>
              <a:buNone/>
            </a:pPr>
            <a:r>
              <a:rPr b="1" i="0" lang="en-US" sz="1050" u="none" cap="none" strike="noStrike">
                <a:solidFill>
                  <a:srgbClr val="1D1D1F"/>
                </a:solidFill>
                <a:latin typeface="Play"/>
                <a:ea typeface="Play"/>
                <a:cs typeface="Play"/>
                <a:sym typeface="Play"/>
              </a:rPr>
              <a:t>Add the known_customer_fraud flag</a:t>
            </a:r>
            <a:endParaRPr b="0" i="0" sz="1050" u="none" cap="none" strike="noStrike">
              <a:solidFill>
                <a:schemeClr val="dk1"/>
              </a:solidFill>
              <a:latin typeface="Calibri"/>
              <a:ea typeface="Calibri"/>
              <a:cs typeface="Calibri"/>
              <a:sym typeface="Calibri"/>
            </a:endParaRPr>
          </a:p>
        </p:txBody>
      </p:sp>
      <p:sp>
        <p:nvSpPr>
          <p:cNvPr id="383" name="Google Shape;383;p18"/>
          <p:cNvSpPr/>
          <p:nvPr/>
        </p:nvSpPr>
        <p:spPr>
          <a:xfrm>
            <a:off x="3520440" y="1947672"/>
            <a:ext cx="5212080" cy="548640"/>
          </a:xfrm>
          <a:prstGeom prst="roundRect">
            <a:avLst>
              <a:gd fmla="val 1333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8"/>
          <p:cNvSpPr txBox="1"/>
          <p:nvPr/>
        </p:nvSpPr>
        <p:spPr>
          <a:xfrm>
            <a:off x="3657600" y="1947672"/>
            <a:ext cx="49834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900"/>
              <a:buFont typeface="Arial"/>
              <a:buNone/>
            </a:pPr>
            <a:r>
              <a:rPr b="0" i="0" lang="en-US" sz="900" u="none" cap="none" strike="noStrike">
                <a:solidFill>
                  <a:srgbClr val="1D1D1F"/>
                </a:solidFill>
                <a:latin typeface="Arial"/>
                <a:ea typeface="Arial"/>
                <a:cs typeface="Arial"/>
                <a:sym typeface="Arial"/>
              </a:rPr>
              <a:t>Blocks bookings. Comment: cp_biohazard_report | C ID | CP ID | J ID</a:t>
            </a:r>
            <a:endParaRPr b="0" i="0" sz="900" u="none" cap="none" strike="noStrike">
              <a:solidFill>
                <a:schemeClr val="dk1"/>
              </a:solidFill>
              <a:latin typeface="Calibri"/>
              <a:ea typeface="Calibri"/>
              <a:cs typeface="Calibri"/>
              <a:sym typeface="Calibri"/>
            </a:endParaRPr>
          </a:p>
        </p:txBody>
      </p:sp>
      <p:sp>
        <p:nvSpPr>
          <p:cNvPr id="385" name="Google Shape;385;p18"/>
          <p:cNvSpPr/>
          <p:nvPr/>
        </p:nvSpPr>
        <p:spPr>
          <a:xfrm>
            <a:off x="411480" y="2569464"/>
            <a:ext cx="3017520" cy="548640"/>
          </a:xfrm>
          <a:prstGeom prst="roundRect">
            <a:avLst>
              <a:gd fmla="val 13333"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8"/>
          <p:cNvSpPr/>
          <p:nvPr/>
        </p:nvSpPr>
        <p:spPr>
          <a:xfrm>
            <a:off x="530352" y="270662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8"/>
          <p:cNvSpPr txBox="1"/>
          <p:nvPr/>
        </p:nvSpPr>
        <p:spPr>
          <a:xfrm>
            <a:off x="530352" y="270662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3</a:t>
            </a:r>
            <a:endParaRPr b="0" i="0" sz="900" u="none" cap="none" strike="noStrike">
              <a:solidFill>
                <a:schemeClr val="dk1"/>
              </a:solidFill>
              <a:latin typeface="Calibri"/>
              <a:ea typeface="Calibri"/>
              <a:cs typeface="Calibri"/>
              <a:sym typeface="Calibri"/>
            </a:endParaRPr>
          </a:p>
        </p:txBody>
      </p:sp>
      <p:sp>
        <p:nvSpPr>
          <p:cNvPr id="388" name="Google Shape;388;p18"/>
          <p:cNvSpPr txBox="1"/>
          <p:nvPr/>
        </p:nvSpPr>
        <p:spPr>
          <a:xfrm>
            <a:off x="914400" y="2569464"/>
            <a:ext cx="24688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050"/>
              <a:buFont typeface="Play"/>
              <a:buNone/>
            </a:pPr>
            <a:r>
              <a:rPr b="1" i="0" lang="en-US" sz="1050" u="none" cap="none" strike="noStrike">
                <a:solidFill>
                  <a:srgbClr val="1D1D1F"/>
                </a:solidFill>
                <a:latin typeface="Play"/>
                <a:ea typeface="Play"/>
                <a:cs typeface="Play"/>
                <a:sym typeface="Play"/>
              </a:rPr>
              <a:t>Create an internal note</a:t>
            </a:r>
            <a:endParaRPr b="0" i="0" sz="1050" u="none" cap="none" strike="noStrike">
              <a:solidFill>
                <a:schemeClr val="dk1"/>
              </a:solidFill>
              <a:latin typeface="Calibri"/>
              <a:ea typeface="Calibri"/>
              <a:cs typeface="Calibri"/>
              <a:sym typeface="Calibri"/>
            </a:endParaRPr>
          </a:p>
        </p:txBody>
      </p:sp>
      <p:sp>
        <p:nvSpPr>
          <p:cNvPr id="389" name="Google Shape;389;p18"/>
          <p:cNvSpPr/>
          <p:nvPr/>
        </p:nvSpPr>
        <p:spPr>
          <a:xfrm>
            <a:off x="3520440" y="2569464"/>
            <a:ext cx="5212080" cy="548640"/>
          </a:xfrm>
          <a:prstGeom prst="roundRect">
            <a:avLst>
              <a:gd fmla="val 1333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8"/>
          <p:cNvSpPr txBox="1"/>
          <p:nvPr/>
        </p:nvSpPr>
        <p:spPr>
          <a:xfrm>
            <a:off x="3657600" y="2569464"/>
            <a:ext cx="49834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900"/>
              <a:buFont typeface="Arial"/>
              <a:buNone/>
            </a:pPr>
            <a:r>
              <a:rPr b="0" i="0" lang="en-US" sz="900" u="none" cap="none" strike="noStrike">
                <a:solidFill>
                  <a:srgbClr val="1D1D1F"/>
                </a:solidFill>
                <a:latin typeface="Arial"/>
                <a:ea typeface="Arial"/>
                <a:cs typeface="Arial"/>
                <a:sym typeface="Arial"/>
              </a:rPr>
              <a:t>biohazard_1st_response — &lt;CP ID&gt; reported that C's home poses biohazard risks — &lt;link to CP-side action item&gt;</a:t>
            </a:r>
            <a:endParaRPr b="0" i="0" sz="900" u="none" cap="none" strike="noStrike">
              <a:solidFill>
                <a:schemeClr val="dk1"/>
              </a:solidFill>
              <a:latin typeface="Calibri"/>
              <a:ea typeface="Calibri"/>
              <a:cs typeface="Calibri"/>
              <a:sym typeface="Calibri"/>
            </a:endParaRPr>
          </a:p>
        </p:txBody>
      </p:sp>
      <p:sp>
        <p:nvSpPr>
          <p:cNvPr id="391" name="Google Shape;391;p18"/>
          <p:cNvSpPr/>
          <p:nvPr/>
        </p:nvSpPr>
        <p:spPr>
          <a:xfrm>
            <a:off x="411480" y="3191256"/>
            <a:ext cx="3017520" cy="548640"/>
          </a:xfrm>
          <a:prstGeom prst="roundRect">
            <a:avLst>
              <a:gd fmla="val 13333"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8"/>
          <p:cNvSpPr/>
          <p:nvPr/>
        </p:nvSpPr>
        <p:spPr>
          <a:xfrm>
            <a:off x="530352" y="3328416"/>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8"/>
          <p:cNvSpPr txBox="1"/>
          <p:nvPr/>
        </p:nvSpPr>
        <p:spPr>
          <a:xfrm>
            <a:off x="530352" y="332841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4</a:t>
            </a:r>
            <a:endParaRPr b="0" i="0" sz="900" u="none" cap="none" strike="noStrike">
              <a:solidFill>
                <a:schemeClr val="dk1"/>
              </a:solidFill>
              <a:latin typeface="Calibri"/>
              <a:ea typeface="Calibri"/>
              <a:cs typeface="Calibri"/>
              <a:sym typeface="Calibri"/>
            </a:endParaRPr>
          </a:p>
        </p:txBody>
      </p:sp>
      <p:sp>
        <p:nvSpPr>
          <p:cNvPr id="394" name="Google Shape;394;p18"/>
          <p:cNvSpPr txBox="1"/>
          <p:nvPr/>
        </p:nvSpPr>
        <p:spPr>
          <a:xfrm>
            <a:off x="914400" y="3191256"/>
            <a:ext cx="24688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050"/>
              <a:buFont typeface="Play"/>
              <a:buNone/>
            </a:pPr>
            <a:r>
              <a:rPr b="1" i="0" lang="en-US" sz="1050" u="none" cap="none" strike="noStrike">
                <a:solidFill>
                  <a:srgbClr val="1D1D1F"/>
                </a:solidFill>
                <a:latin typeface="Play"/>
                <a:ea typeface="Play"/>
                <a:cs typeface="Play"/>
                <a:sym typeface="Play"/>
              </a:rPr>
              <a:t>Check the membership status</a:t>
            </a:r>
            <a:endParaRPr b="0" i="0" sz="1050" u="none" cap="none" strike="noStrike">
              <a:solidFill>
                <a:schemeClr val="dk1"/>
              </a:solidFill>
              <a:latin typeface="Calibri"/>
              <a:ea typeface="Calibri"/>
              <a:cs typeface="Calibri"/>
              <a:sym typeface="Calibri"/>
            </a:endParaRPr>
          </a:p>
        </p:txBody>
      </p:sp>
      <p:sp>
        <p:nvSpPr>
          <p:cNvPr id="395" name="Google Shape;395;p18"/>
          <p:cNvSpPr/>
          <p:nvPr/>
        </p:nvSpPr>
        <p:spPr>
          <a:xfrm>
            <a:off x="3520440" y="3191256"/>
            <a:ext cx="5212080" cy="548640"/>
          </a:xfrm>
          <a:prstGeom prst="roundRect">
            <a:avLst>
              <a:gd fmla="val 1333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8"/>
          <p:cNvSpPr txBox="1"/>
          <p:nvPr/>
        </p:nvSpPr>
        <p:spPr>
          <a:xfrm>
            <a:off x="3657600" y="3191256"/>
            <a:ext cx="49834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900"/>
              <a:buFont typeface="Arial"/>
              <a:buNone/>
            </a:pPr>
            <a:r>
              <a:rPr b="0" i="0" lang="en-US" sz="900" u="none" cap="none" strike="noStrike">
                <a:solidFill>
                  <a:srgbClr val="1D1D1F"/>
                </a:solidFill>
                <a:latin typeface="Arial"/>
                <a:ea typeface="Arial"/>
                <a:cs typeface="Arial"/>
                <a:sym typeface="Arial"/>
              </a:rPr>
              <a:t>Then respond accordingly (next slide).</a:t>
            </a:r>
            <a:endParaRPr b="0" i="0" sz="900" u="none" cap="none" strike="noStrike">
              <a:solidFill>
                <a:schemeClr val="dk1"/>
              </a:solidFill>
              <a:latin typeface="Calibri"/>
              <a:ea typeface="Calibri"/>
              <a:cs typeface="Calibri"/>
              <a:sym typeface="Calibri"/>
            </a:endParaRPr>
          </a:p>
        </p:txBody>
      </p:sp>
      <p:sp>
        <p:nvSpPr>
          <p:cNvPr id="397" name="Google Shape;397;p18"/>
          <p:cNvSpPr/>
          <p:nvPr/>
        </p:nvSpPr>
        <p:spPr>
          <a:xfrm>
            <a:off x="411480" y="393192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8" name="Google Shape;398;p18"/>
          <p:cNvPicPr preferRelativeResize="0"/>
          <p:nvPr/>
        </p:nvPicPr>
        <p:blipFill rotWithShape="1">
          <a:blip r:embed="rId3">
            <a:alphaModFix/>
          </a:blip>
          <a:srcRect b="0" l="0" r="0" t="0"/>
          <a:stretch/>
        </p:blipFill>
        <p:spPr>
          <a:xfrm>
            <a:off x="566928" y="4041648"/>
            <a:ext cx="164592" cy="164592"/>
          </a:xfrm>
          <a:prstGeom prst="rect">
            <a:avLst/>
          </a:prstGeom>
          <a:noFill/>
          <a:ln>
            <a:noFill/>
          </a:ln>
        </p:spPr>
      </p:pic>
      <p:sp>
        <p:nvSpPr>
          <p:cNvPr id="399" name="Google Shape;399;p18"/>
          <p:cNvSpPr txBox="1"/>
          <p:nvPr/>
        </p:nvSpPr>
        <p:spPr>
          <a:xfrm>
            <a:off x="822960" y="4032504"/>
            <a:ext cx="77724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A6410"/>
              </a:buClr>
              <a:buSzPts val="1000"/>
              <a:buFont typeface="Arial"/>
              <a:buNone/>
            </a:pPr>
            <a:r>
              <a:rPr b="1" i="0" lang="en-US" sz="1000" u="none" cap="none" strike="noStrike">
                <a:solidFill>
                  <a:srgbClr val="9A6410"/>
                </a:solidFill>
                <a:latin typeface="Arial"/>
                <a:ea typeface="Arial"/>
                <a:cs typeface="Arial"/>
                <a:sym typeface="Arial"/>
              </a:rPr>
              <a:t>Two flags:  </a:t>
            </a:r>
            <a:r>
              <a:rPr b="0" i="0" lang="en-US" sz="1000" u="none" cap="none" strike="noStrike">
                <a:solidFill>
                  <a:srgbClr val="1D1D1F"/>
                </a:solidFill>
                <a:latin typeface="Arial"/>
                <a:ea typeface="Arial"/>
                <a:cs typeface="Arial"/>
                <a:sym typeface="Arial"/>
              </a:rPr>
              <a:t>known_customer_safety_issue (CP side, stays) and known_customer_fraud (yours, blocks booking).</a:t>
            </a:r>
            <a:endParaRPr b="0" i="0" sz="1000" u="none" cap="none" strike="noStrike">
              <a:solidFill>
                <a:schemeClr val="dk1"/>
              </a:solidFill>
              <a:latin typeface="Calibri"/>
              <a:ea typeface="Calibri"/>
              <a:cs typeface="Calibri"/>
              <a:sym typeface="Calibri"/>
            </a:endParaRPr>
          </a:p>
        </p:txBody>
      </p:sp>
      <p:sp>
        <p:nvSpPr>
          <p:cNvPr id="400" name="Google Shape;400;p1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1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BIOHAZARD REPORT</a:t>
            </a:r>
            <a:endParaRPr b="0" i="0" sz="800" u="none" cap="none" strike="noStrike">
              <a:solidFill>
                <a:schemeClr val="dk1"/>
              </a:solidFill>
              <a:latin typeface="Calibri"/>
              <a:ea typeface="Calibri"/>
              <a:cs typeface="Calibri"/>
              <a:sym typeface="Calibri"/>
            </a:endParaRPr>
          </a:p>
        </p:txBody>
      </p:sp>
      <p:sp>
        <p:nvSpPr>
          <p:cNvPr id="407" name="Google Shape;407;p1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2400"/>
              <a:buFont typeface="Play"/>
              <a:buNone/>
            </a:pPr>
            <a:r>
              <a:rPr b="1" i="0" lang="en-US" sz="2400" u="none" cap="none" strike="noStrike">
                <a:solidFill>
                  <a:srgbClr val="1D1D1F"/>
                </a:solidFill>
                <a:latin typeface="Play"/>
                <a:ea typeface="Play"/>
                <a:cs typeface="Play"/>
                <a:sym typeface="Play"/>
              </a:rPr>
              <a:t>1st Response by membership status</a:t>
            </a:r>
            <a:endParaRPr b="0" i="0" sz="2400" u="none" cap="none" strike="noStrike">
              <a:solidFill>
                <a:schemeClr val="dk1"/>
              </a:solidFill>
              <a:latin typeface="Calibri"/>
              <a:ea typeface="Calibri"/>
              <a:cs typeface="Calibri"/>
              <a:sym typeface="Calibri"/>
            </a:endParaRPr>
          </a:p>
        </p:txBody>
      </p:sp>
      <p:sp>
        <p:nvSpPr>
          <p:cNvPr id="408" name="Google Shape;408;p1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1200"/>
              <a:buFont typeface="Arial"/>
              <a:buNone/>
            </a:pPr>
            <a:r>
              <a:rPr b="0" i="0" lang="en-US" sz="1200" u="none" cap="none" strike="noStrike">
                <a:solidFill>
                  <a:srgbClr val="6E6E73"/>
                </a:solidFill>
                <a:latin typeface="Arial"/>
                <a:ea typeface="Arial"/>
                <a:cs typeface="Arial"/>
                <a:sym typeface="Arial"/>
              </a:rPr>
              <a:t>Give them time to fix it.</a:t>
            </a:r>
            <a:endParaRPr b="0" i="0" sz="1200" u="none" cap="none" strike="noStrike">
              <a:solidFill>
                <a:schemeClr val="dk1"/>
              </a:solidFill>
              <a:latin typeface="Calibri"/>
              <a:ea typeface="Calibri"/>
              <a:cs typeface="Calibri"/>
              <a:sym typeface="Calibri"/>
            </a:endParaRPr>
          </a:p>
        </p:txBody>
      </p:sp>
      <p:sp>
        <p:nvSpPr>
          <p:cNvPr id="409" name="Google Shape;409;p19"/>
          <p:cNvSpPr/>
          <p:nvPr/>
        </p:nvSpPr>
        <p:spPr>
          <a:xfrm>
            <a:off x="411480" y="1325880"/>
            <a:ext cx="4937760" cy="1051560"/>
          </a:xfrm>
          <a:prstGeom prst="roundRect">
            <a:avLst>
              <a:gd fmla="val 6957"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9"/>
          <p:cNvSpPr/>
          <p:nvPr/>
        </p:nvSpPr>
        <p:spPr>
          <a:xfrm>
            <a:off x="411480" y="1325880"/>
            <a:ext cx="493776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Play"/>
              <a:buNone/>
            </a:pPr>
            <a:r>
              <a:rPr b="1" i="0" lang="en-US" sz="1050" u="none" cap="none" strike="noStrike">
                <a:solidFill>
                  <a:srgbClr val="FFFFFF"/>
                </a:solidFill>
                <a:latin typeface="Play"/>
                <a:ea typeface="Play"/>
                <a:cs typeface="Play"/>
                <a:sym typeface="Play"/>
              </a:rPr>
              <a:t>Active FC (DHJ and FCF)</a:t>
            </a:r>
            <a:endParaRPr b="0" i="0" sz="1050" u="none" cap="none" strike="noStrike">
              <a:solidFill>
                <a:schemeClr val="dk1"/>
              </a:solidFill>
              <a:latin typeface="Calibri"/>
              <a:ea typeface="Calibri"/>
              <a:cs typeface="Calibri"/>
              <a:sym typeface="Calibri"/>
            </a:endParaRPr>
          </a:p>
        </p:txBody>
      </p:sp>
      <p:sp>
        <p:nvSpPr>
          <p:cNvPr id="411" name="Google Shape;411;p19"/>
          <p:cNvSpPr txBox="1"/>
          <p:nvPr/>
        </p:nvSpPr>
        <p:spPr>
          <a:xfrm>
            <a:off x="576072" y="1764792"/>
            <a:ext cx="4608576" cy="539496"/>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1D1D1F"/>
              </a:buClr>
              <a:buSzPts val="950"/>
              <a:buFont typeface="Arial"/>
              <a:buChar char="•"/>
            </a:pPr>
            <a:r>
              <a:rPr b="0" i="0" lang="en-US" sz="950" u="none" cap="none" strike="noStrike">
                <a:solidFill>
                  <a:srgbClr val="1D1D1F"/>
                </a:solidFill>
                <a:latin typeface="Arial"/>
                <a:ea typeface="Arial"/>
                <a:cs typeface="Arial"/>
                <a:sym typeface="Arial"/>
              </a:rPr>
              <a:t>Issue 1 free month to give them time</a:t>
            </a:r>
            <a:endParaRPr b="0" i="0" sz="95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D1D1F"/>
              </a:buClr>
              <a:buSzPts val="950"/>
              <a:buFont typeface="Arial"/>
              <a:buChar char="•"/>
            </a:pPr>
            <a:r>
              <a:rPr b="0" i="0" lang="en-US" sz="950" u="none" cap="none" strike="noStrike">
                <a:solidFill>
                  <a:srgbClr val="1D1D1F"/>
                </a:solidFill>
                <a:latin typeface="Arial"/>
                <a:ea typeface="Arial"/>
                <a:cs typeface="Arial"/>
                <a:sym typeface="Arial"/>
              </a:rPr>
              <a:t>Set a Timed Reminder for the 2nd Response</a:t>
            </a:r>
            <a:endParaRPr b="0" i="0" sz="950" u="none" cap="none" strike="noStrike">
              <a:solidFill>
                <a:schemeClr val="dk1"/>
              </a:solidFill>
              <a:latin typeface="Calibri"/>
              <a:ea typeface="Calibri"/>
              <a:cs typeface="Calibri"/>
              <a:sym typeface="Calibri"/>
            </a:endParaRPr>
          </a:p>
        </p:txBody>
      </p:sp>
      <p:sp>
        <p:nvSpPr>
          <p:cNvPr id="412" name="Google Shape;412;p19"/>
          <p:cNvSpPr/>
          <p:nvPr/>
        </p:nvSpPr>
        <p:spPr>
          <a:xfrm>
            <a:off x="411480" y="2487168"/>
            <a:ext cx="4937760" cy="1508760"/>
          </a:xfrm>
          <a:prstGeom prst="roundRect">
            <a:avLst>
              <a:gd fmla="val 484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9"/>
          <p:cNvSpPr txBox="1"/>
          <p:nvPr/>
        </p:nvSpPr>
        <p:spPr>
          <a:xfrm>
            <a:off x="594360" y="2606040"/>
            <a:ext cx="27432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TIMED REMINDER</a:t>
            </a:r>
            <a:endParaRPr b="0" i="0" sz="800" u="none" cap="none" strike="noStrike">
              <a:solidFill>
                <a:schemeClr val="dk1"/>
              </a:solidFill>
              <a:latin typeface="Calibri"/>
              <a:ea typeface="Calibri"/>
              <a:cs typeface="Calibri"/>
              <a:sym typeface="Calibri"/>
            </a:endParaRPr>
          </a:p>
        </p:txBody>
      </p:sp>
      <p:sp>
        <p:nvSpPr>
          <p:cNvPr id="414" name="Google Shape;414;p19"/>
          <p:cNvSpPr txBox="1"/>
          <p:nvPr/>
        </p:nvSpPr>
        <p:spPr>
          <a:xfrm>
            <a:off x="594360" y="2834640"/>
            <a:ext cx="457200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950"/>
              <a:buFont typeface="Play"/>
              <a:buNone/>
            </a:pPr>
            <a:r>
              <a:rPr b="1" i="0" lang="en-US" sz="950" u="none" cap="none" strike="noStrike">
                <a:solidFill>
                  <a:srgbClr val="1D1D1F"/>
                </a:solidFill>
                <a:latin typeface="Play"/>
                <a:ea typeface="Play"/>
                <a:cs typeface="Play"/>
                <a:sym typeface="Play"/>
              </a:rPr>
              <a:t>Action on:  </a:t>
            </a:r>
            <a:r>
              <a:rPr b="0" i="0" lang="en-US" sz="950" u="none" cap="none" strike="noStrike">
                <a:solidFill>
                  <a:srgbClr val="1D1D1F"/>
                </a:solidFill>
                <a:latin typeface="Arial"/>
                <a:ea typeface="Arial"/>
                <a:cs typeface="Arial"/>
                <a:sym typeface="Arial"/>
              </a:rPr>
              <a:t>the day before the free month expires</a:t>
            </a:r>
            <a:endParaRPr b="0" i="0" sz="9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D1D1F"/>
              </a:buClr>
              <a:buSzPts val="950"/>
              <a:buFont typeface="Play"/>
              <a:buNone/>
            </a:pPr>
            <a:r>
              <a:rPr b="1" i="0" lang="en-US" sz="950" u="none" cap="none" strike="noStrike">
                <a:solidFill>
                  <a:srgbClr val="1D1D1F"/>
                </a:solidFill>
                <a:latin typeface="Play"/>
                <a:ea typeface="Play"/>
                <a:cs typeface="Play"/>
                <a:sym typeface="Play"/>
              </a:rPr>
              <a:t>Who:  </a:t>
            </a:r>
            <a:r>
              <a:rPr b="0" i="0" lang="en-US" sz="950" u="none" cap="none" strike="noStrike">
                <a:solidFill>
                  <a:srgbClr val="1D1D1F"/>
                </a:solidFill>
                <a:latin typeface="Arial"/>
                <a:ea typeface="Arial"/>
                <a:cs typeface="Arial"/>
                <a:sym typeface="Arial"/>
              </a:rPr>
              <a:t>any CS</a:t>
            </a:r>
            <a:endParaRPr b="0" i="0" sz="9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D1D1F"/>
              </a:buClr>
              <a:buSzPts val="950"/>
              <a:buFont typeface="Play"/>
              <a:buNone/>
            </a:pPr>
            <a:r>
              <a:rPr b="1" i="0" lang="en-US" sz="950" u="none" cap="none" strike="noStrike">
                <a:solidFill>
                  <a:srgbClr val="1D1D1F"/>
                </a:solidFill>
                <a:latin typeface="Play"/>
                <a:ea typeface="Play"/>
                <a:cs typeface="Play"/>
                <a:sym typeface="Play"/>
              </a:rPr>
              <a:t>Action:  </a:t>
            </a:r>
            <a:r>
              <a:rPr b="0" i="0" lang="en-US" sz="950" u="none" cap="none" strike="noStrike">
                <a:solidFill>
                  <a:srgbClr val="1D1D1F"/>
                </a:solidFill>
                <a:latin typeface="Arial"/>
                <a:ea typeface="Arial"/>
                <a:cs typeface="Arial"/>
                <a:sym typeface="Arial"/>
              </a:rPr>
              <a:t>biohazard_followup — CP &lt;CP_ID&gt; reported C &lt;C_ID&gt; for unsanitary/biohazardous home conditions. Follow this article &gt; 2nd Response.</a:t>
            </a:r>
            <a:endParaRPr b="0" i="0" sz="950" u="none" cap="none" strike="noStrike">
              <a:solidFill>
                <a:schemeClr val="dk1"/>
              </a:solidFill>
              <a:latin typeface="Calibri"/>
              <a:ea typeface="Calibri"/>
              <a:cs typeface="Calibri"/>
              <a:sym typeface="Calibri"/>
            </a:endParaRPr>
          </a:p>
        </p:txBody>
      </p:sp>
      <p:sp>
        <p:nvSpPr>
          <p:cNvPr id="415" name="Google Shape;415;p19"/>
          <p:cNvSpPr/>
          <p:nvPr/>
        </p:nvSpPr>
        <p:spPr>
          <a:xfrm>
            <a:off x="5486400" y="1325880"/>
            <a:ext cx="3246120" cy="1051560"/>
          </a:xfrm>
          <a:prstGeom prst="roundRect">
            <a:avLst>
              <a:gd fmla="val 6957" name="adj"/>
            </a:avLst>
          </a:prstGeom>
          <a:solidFill>
            <a:srgbClr val="FFF3D6"/>
          </a:solidFill>
          <a:ln cap="flat" cmpd="sng" w="9525">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9"/>
          <p:cNvSpPr/>
          <p:nvPr/>
        </p:nvSpPr>
        <p:spPr>
          <a:xfrm>
            <a:off x="5486400" y="1325880"/>
            <a:ext cx="3246120" cy="329184"/>
          </a:xfrm>
          <a:prstGeom prst="roundRect">
            <a:avLst>
              <a:gd fmla="val 16667" name="adj"/>
            </a:avLst>
          </a:prstGeom>
          <a:solidFill>
            <a:srgbClr val="9A6410"/>
          </a:solidFill>
          <a:ln cap="flat" cmpd="sng" w="12700">
            <a:solidFill>
              <a:srgbClr val="9A641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Play"/>
              <a:buNone/>
            </a:pPr>
            <a:r>
              <a:rPr b="1" i="0" lang="en-US" sz="1050" u="none" cap="none" strike="noStrike">
                <a:solidFill>
                  <a:srgbClr val="FFFFFF"/>
                </a:solidFill>
                <a:latin typeface="Play"/>
                <a:ea typeface="Play"/>
                <a:cs typeface="Play"/>
                <a:sym typeface="Play"/>
              </a:rPr>
              <a:t>Unused DHJ voucher</a:t>
            </a:r>
            <a:endParaRPr b="0" i="0" sz="1050" u="none" cap="none" strike="noStrike">
              <a:solidFill>
                <a:schemeClr val="dk1"/>
              </a:solidFill>
              <a:latin typeface="Calibri"/>
              <a:ea typeface="Calibri"/>
              <a:cs typeface="Calibri"/>
              <a:sym typeface="Calibri"/>
            </a:endParaRPr>
          </a:p>
        </p:txBody>
      </p:sp>
      <p:sp>
        <p:nvSpPr>
          <p:cNvPr id="417" name="Google Shape;417;p19"/>
          <p:cNvSpPr txBox="1"/>
          <p:nvPr/>
        </p:nvSpPr>
        <p:spPr>
          <a:xfrm>
            <a:off x="5650992" y="1764792"/>
            <a:ext cx="2916936" cy="539496"/>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1D1D1F"/>
              </a:buClr>
              <a:buSzPts val="950"/>
              <a:buFont typeface="Arial"/>
              <a:buChar char="•"/>
            </a:pPr>
            <a:r>
              <a:rPr b="0" i="0" lang="en-US" sz="950" u="none" cap="none" strike="noStrike">
                <a:solidFill>
                  <a:srgbClr val="1D1D1F"/>
                </a:solidFill>
                <a:latin typeface="Arial"/>
                <a:ea typeface="Arial"/>
                <a:cs typeface="Arial"/>
                <a:sym typeface="Arial"/>
              </a:rPr>
              <a:t>No FC triggered yet</a:t>
            </a:r>
            <a:endParaRPr b="0" i="0" sz="95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D1D1F"/>
              </a:buClr>
              <a:buSzPts val="950"/>
              <a:buFont typeface="Arial"/>
              <a:buChar char="•"/>
            </a:pPr>
            <a:r>
              <a:rPr b="0" i="0" lang="en-US" sz="950" u="none" cap="none" strike="noStrike">
                <a:solidFill>
                  <a:srgbClr val="1D1D1F"/>
                </a:solidFill>
                <a:latin typeface="Arial"/>
                <a:ea typeface="Arial"/>
                <a:cs typeface="Arial"/>
                <a:sym typeface="Arial"/>
              </a:rPr>
              <a:t>Don't issue any DHJ retention offers</a:t>
            </a:r>
            <a:endParaRPr b="0" i="0" sz="950" u="none" cap="none" strike="noStrike">
              <a:solidFill>
                <a:schemeClr val="dk1"/>
              </a:solidFill>
              <a:latin typeface="Calibri"/>
              <a:ea typeface="Calibri"/>
              <a:cs typeface="Calibri"/>
              <a:sym typeface="Calibri"/>
            </a:endParaRPr>
          </a:p>
        </p:txBody>
      </p:sp>
      <p:sp>
        <p:nvSpPr>
          <p:cNvPr id="418" name="Google Shape;418;p19"/>
          <p:cNvSpPr/>
          <p:nvPr/>
        </p:nvSpPr>
        <p:spPr>
          <a:xfrm>
            <a:off x="5486400" y="2487168"/>
            <a:ext cx="3246120" cy="1508760"/>
          </a:xfrm>
          <a:prstGeom prst="roundRect">
            <a:avLst>
              <a:gd fmla="val 4848" name="adj"/>
            </a:avLst>
          </a:prstGeom>
          <a:solidFill>
            <a:srgbClr val="FFF3D6"/>
          </a:solidFill>
          <a:ln cap="flat" cmpd="sng" w="9525">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9" name="Google Shape;419;p19"/>
          <p:cNvPicPr preferRelativeResize="0"/>
          <p:nvPr/>
        </p:nvPicPr>
        <p:blipFill rotWithShape="1">
          <a:blip r:embed="rId3">
            <a:alphaModFix/>
          </a:blip>
          <a:srcRect b="0" l="0" r="0" t="0"/>
          <a:stretch/>
        </p:blipFill>
        <p:spPr>
          <a:xfrm>
            <a:off x="5650992" y="2633472"/>
            <a:ext cx="164592" cy="164592"/>
          </a:xfrm>
          <a:prstGeom prst="rect">
            <a:avLst/>
          </a:prstGeom>
          <a:noFill/>
          <a:ln>
            <a:noFill/>
          </a:ln>
        </p:spPr>
      </p:pic>
      <p:sp>
        <p:nvSpPr>
          <p:cNvPr id="420" name="Google Shape;420;p19"/>
          <p:cNvSpPr txBox="1"/>
          <p:nvPr/>
        </p:nvSpPr>
        <p:spPr>
          <a:xfrm>
            <a:off x="5897880" y="2578608"/>
            <a:ext cx="2697480" cy="1325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A6410"/>
              </a:buClr>
              <a:buSzPts val="950"/>
              <a:buFont typeface="Play"/>
              <a:buNone/>
            </a:pPr>
            <a:r>
              <a:rPr b="1" i="0" lang="en-US" sz="950" u="none" cap="none" strike="noStrike">
                <a:solidFill>
                  <a:srgbClr val="9A6410"/>
                </a:solidFill>
                <a:latin typeface="Play"/>
                <a:ea typeface="Play"/>
                <a:cs typeface="Play"/>
                <a:sym typeface="Play"/>
              </a:rPr>
              <a:t>Macros</a:t>
            </a:r>
            <a:endParaRPr b="0" i="0" sz="95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1D1D1F"/>
              </a:buClr>
              <a:buSzPts val="950"/>
              <a:buFont typeface="Play"/>
              <a:buNone/>
            </a:pPr>
            <a:r>
              <a:rPr b="1" i="0" lang="en-US" sz="950" u="none" cap="none" strike="noStrike">
                <a:solidFill>
                  <a:srgbClr val="1D1D1F"/>
                </a:solidFill>
                <a:latin typeface="Play"/>
                <a:ea typeface="Play"/>
                <a:cs typeface="Play"/>
                <a:sym typeface="Play"/>
              </a:rPr>
              <a:t>Bio Hazard</a:t>
            </a:r>
            <a:endParaRPr b="0" i="0" sz="95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6E6E73"/>
              </a:buClr>
              <a:buSzPts val="950"/>
              <a:buFont typeface="Arial"/>
              <a:buNone/>
            </a:pPr>
            <a:r>
              <a:rPr b="0" i="0" lang="en-US" sz="950" u="none" cap="none" strike="noStrike">
                <a:solidFill>
                  <a:srgbClr val="6E6E73"/>
                </a:solidFill>
                <a:latin typeface="Arial"/>
                <a:ea typeface="Arial"/>
                <a:cs typeface="Arial"/>
                <a:sym typeface="Arial"/>
              </a:rPr>
              <a:t>Active FC (DHJ or FCF)</a:t>
            </a:r>
            <a:endParaRPr b="0" i="0" sz="95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1D1D1F"/>
              </a:buClr>
              <a:buSzPts val="950"/>
              <a:buFont typeface="Play"/>
              <a:buNone/>
            </a:pPr>
            <a:r>
              <a:rPr b="1" i="0" lang="en-US" sz="950" u="none" cap="none" strike="noStrike">
                <a:solidFill>
                  <a:srgbClr val="1D1D1F"/>
                </a:solidFill>
                <a:latin typeface="Play"/>
                <a:ea typeface="Play"/>
                <a:cs typeface="Play"/>
                <a:sym typeface="Play"/>
              </a:rPr>
              <a:t>Biohazard – Customer Insists on Booking Despite Safety Issue</a:t>
            </a:r>
            <a:endParaRPr b="0" i="0" sz="950" u="none" cap="none" strike="noStrike">
              <a:solidFill>
                <a:schemeClr val="dk1"/>
              </a:solidFill>
              <a:latin typeface="Calibri"/>
              <a:ea typeface="Calibri"/>
              <a:cs typeface="Calibri"/>
              <a:sym typeface="Calibri"/>
            </a:endParaRPr>
          </a:p>
        </p:txBody>
      </p:sp>
      <p:sp>
        <p:nvSpPr>
          <p:cNvPr id="421" name="Google Shape;421;p1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2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BIOHAZARD REPORT</a:t>
            </a:r>
            <a:endParaRPr b="0" i="0" sz="800" u="none" cap="none" strike="noStrike">
              <a:solidFill>
                <a:schemeClr val="dk1"/>
              </a:solidFill>
              <a:latin typeface="Calibri"/>
              <a:ea typeface="Calibri"/>
              <a:cs typeface="Calibri"/>
              <a:sym typeface="Calibri"/>
            </a:endParaRPr>
          </a:p>
        </p:txBody>
      </p:sp>
      <p:sp>
        <p:nvSpPr>
          <p:cNvPr id="428" name="Google Shape;428;p2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2400"/>
              <a:buFont typeface="Play"/>
              <a:buNone/>
            </a:pPr>
            <a:r>
              <a:rPr b="1" i="0" lang="en-US" sz="2400" u="none" cap="none" strike="noStrike">
                <a:solidFill>
                  <a:srgbClr val="1D1D1F"/>
                </a:solidFill>
                <a:latin typeface="Play"/>
                <a:ea typeface="Play"/>
                <a:cs typeface="Play"/>
                <a:sym typeface="Play"/>
              </a:rPr>
              <a:t>2nd Response: they say it's fixed</a:t>
            </a:r>
            <a:endParaRPr b="0" i="0" sz="2400" u="none" cap="none" strike="noStrike">
              <a:solidFill>
                <a:schemeClr val="dk1"/>
              </a:solidFill>
              <a:latin typeface="Calibri"/>
              <a:ea typeface="Calibri"/>
              <a:cs typeface="Calibri"/>
              <a:sym typeface="Calibri"/>
            </a:endParaRPr>
          </a:p>
        </p:txBody>
      </p:sp>
      <p:sp>
        <p:nvSpPr>
          <p:cNvPr id="429" name="Google Shape;429;p2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1200"/>
              <a:buFont typeface="Arial"/>
              <a:buNone/>
            </a:pPr>
            <a:r>
              <a:rPr b="0" i="0" lang="en-US" sz="1200" u="none" cap="none" strike="noStrike">
                <a:solidFill>
                  <a:srgbClr val="6E6E73"/>
                </a:solidFill>
                <a:latin typeface="Arial"/>
                <a:ea typeface="Arial"/>
                <a:cs typeface="Arial"/>
                <a:sym typeface="Arial"/>
              </a:rPr>
              <a:t>Take their word for it the first time.</a:t>
            </a:r>
            <a:endParaRPr b="0" i="0" sz="1200" u="none" cap="none" strike="noStrike">
              <a:solidFill>
                <a:schemeClr val="dk1"/>
              </a:solidFill>
              <a:latin typeface="Calibri"/>
              <a:ea typeface="Calibri"/>
              <a:cs typeface="Calibri"/>
              <a:sym typeface="Calibri"/>
            </a:endParaRPr>
          </a:p>
        </p:txBody>
      </p:sp>
      <p:sp>
        <p:nvSpPr>
          <p:cNvPr id="430" name="Google Shape;430;p20"/>
          <p:cNvSpPr/>
          <p:nvPr/>
        </p:nvSpPr>
        <p:spPr>
          <a:xfrm>
            <a:off x="411480" y="1325880"/>
            <a:ext cx="1920240" cy="548640"/>
          </a:xfrm>
          <a:prstGeom prst="roundRect">
            <a:avLst>
              <a:gd fmla="val 13333" name="adj"/>
            </a:avLst>
          </a:prstGeom>
          <a:solidFill>
            <a:srgbClr val="FFFFFF"/>
          </a:solidFill>
          <a:ln cap="flat" cmpd="sng" w="12700">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0"/>
          <p:cNvSpPr txBox="1"/>
          <p:nvPr/>
        </p:nvSpPr>
        <p:spPr>
          <a:xfrm>
            <a:off x="411480" y="1325880"/>
            <a:ext cx="19202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1000"/>
              <a:buFont typeface="Play"/>
              <a:buNone/>
            </a:pPr>
            <a:r>
              <a:rPr b="1" i="0" lang="en-US" sz="1000" u="none" cap="none" strike="noStrike">
                <a:solidFill>
                  <a:srgbClr val="1D1D1F"/>
                </a:solidFill>
                <a:latin typeface="Play"/>
                <a:ea typeface="Play"/>
                <a:cs typeface="Play"/>
                <a:sym typeface="Play"/>
              </a:rPr>
              <a:t>C says it's resolved</a:t>
            </a:r>
            <a:endParaRPr b="0" i="0" sz="1000" u="none" cap="none" strike="noStrike">
              <a:solidFill>
                <a:schemeClr val="dk1"/>
              </a:solidFill>
              <a:latin typeface="Calibri"/>
              <a:ea typeface="Calibri"/>
              <a:cs typeface="Calibri"/>
              <a:sym typeface="Calibri"/>
            </a:endParaRPr>
          </a:p>
        </p:txBody>
      </p:sp>
      <p:cxnSp>
        <p:nvCxnSpPr>
          <p:cNvPr id="432" name="Google Shape;432;p20"/>
          <p:cNvCxnSpPr/>
          <p:nvPr/>
        </p:nvCxnSpPr>
        <p:spPr>
          <a:xfrm>
            <a:off x="2331720" y="1600200"/>
            <a:ext cx="213055" cy="0"/>
          </a:xfrm>
          <a:prstGeom prst="straightConnector1">
            <a:avLst/>
          </a:prstGeom>
          <a:noFill/>
          <a:ln cap="flat" cmpd="sng" w="12700">
            <a:solidFill>
              <a:srgbClr val="6E6E73"/>
            </a:solidFill>
            <a:prstDash val="solid"/>
            <a:round/>
            <a:headEnd len="sm" w="sm" type="none"/>
            <a:tailEnd len="med" w="med" type="triangle"/>
          </a:ln>
        </p:spPr>
      </p:cxnSp>
      <p:sp>
        <p:nvSpPr>
          <p:cNvPr id="433" name="Google Shape;433;p20"/>
          <p:cNvSpPr/>
          <p:nvPr/>
        </p:nvSpPr>
        <p:spPr>
          <a:xfrm>
            <a:off x="2544775" y="1325880"/>
            <a:ext cx="1920240" cy="548640"/>
          </a:xfrm>
          <a:prstGeom prst="roundRect">
            <a:avLst>
              <a:gd fmla="val 13333" name="adj"/>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0"/>
          <p:cNvSpPr txBox="1"/>
          <p:nvPr/>
        </p:nvSpPr>
        <p:spPr>
          <a:xfrm>
            <a:off x="2544775" y="1325880"/>
            <a:ext cx="19202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Play"/>
              <a:buNone/>
            </a:pPr>
            <a:r>
              <a:rPr b="1" i="0" lang="en-US" sz="1000" u="none" cap="none" strike="noStrike">
                <a:solidFill>
                  <a:srgbClr val="FFFFFF"/>
                </a:solidFill>
                <a:latin typeface="Play"/>
                <a:ea typeface="Play"/>
                <a:cs typeface="Play"/>
                <a:sym typeface="Play"/>
              </a:rPr>
              <a:t>Invalidate known_customer_fraud</a:t>
            </a:r>
            <a:endParaRPr b="0" i="0" sz="1000" u="none" cap="none" strike="noStrike">
              <a:solidFill>
                <a:schemeClr val="dk1"/>
              </a:solidFill>
              <a:latin typeface="Calibri"/>
              <a:ea typeface="Calibri"/>
              <a:cs typeface="Calibri"/>
              <a:sym typeface="Calibri"/>
            </a:endParaRPr>
          </a:p>
        </p:txBody>
      </p:sp>
      <p:cxnSp>
        <p:nvCxnSpPr>
          <p:cNvPr id="435" name="Google Shape;435;p20"/>
          <p:cNvCxnSpPr/>
          <p:nvPr/>
        </p:nvCxnSpPr>
        <p:spPr>
          <a:xfrm>
            <a:off x="4465015" y="1600200"/>
            <a:ext cx="213055" cy="0"/>
          </a:xfrm>
          <a:prstGeom prst="straightConnector1">
            <a:avLst/>
          </a:prstGeom>
          <a:noFill/>
          <a:ln cap="flat" cmpd="sng" w="12700">
            <a:solidFill>
              <a:srgbClr val="6E6E73"/>
            </a:solidFill>
            <a:prstDash val="solid"/>
            <a:round/>
            <a:headEnd len="sm" w="sm" type="none"/>
            <a:tailEnd len="med" w="med" type="triangle"/>
          </a:ln>
        </p:spPr>
      </p:cxnSp>
      <p:sp>
        <p:nvSpPr>
          <p:cNvPr id="436" name="Google Shape;436;p20"/>
          <p:cNvSpPr/>
          <p:nvPr/>
        </p:nvSpPr>
        <p:spPr>
          <a:xfrm>
            <a:off x="4678070" y="1325880"/>
            <a:ext cx="1920240" cy="548640"/>
          </a:xfrm>
          <a:prstGeom prst="roundRect">
            <a:avLst>
              <a:gd fmla="val 13333" name="adj"/>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0"/>
          <p:cNvSpPr txBox="1"/>
          <p:nvPr/>
        </p:nvSpPr>
        <p:spPr>
          <a:xfrm>
            <a:off x="4678070" y="1325880"/>
            <a:ext cx="19202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Play"/>
              <a:buNone/>
            </a:pPr>
            <a:r>
              <a:rPr b="1" i="0" lang="en-US" sz="1000" u="none" cap="none" strike="noStrike">
                <a:solidFill>
                  <a:srgbClr val="FFFFFF"/>
                </a:solidFill>
                <a:latin typeface="Play"/>
                <a:ea typeface="Play"/>
                <a:cs typeface="Play"/>
                <a:sym typeface="Play"/>
              </a:rPr>
              <a:t>Log an internal note</a:t>
            </a:r>
            <a:endParaRPr b="0" i="0" sz="1000" u="none" cap="none" strike="noStrike">
              <a:solidFill>
                <a:schemeClr val="dk1"/>
              </a:solidFill>
              <a:latin typeface="Calibri"/>
              <a:ea typeface="Calibri"/>
              <a:cs typeface="Calibri"/>
              <a:sym typeface="Calibri"/>
            </a:endParaRPr>
          </a:p>
        </p:txBody>
      </p:sp>
      <p:cxnSp>
        <p:nvCxnSpPr>
          <p:cNvPr id="438" name="Google Shape;438;p20"/>
          <p:cNvCxnSpPr/>
          <p:nvPr/>
        </p:nvCxnSpPr>
        <p:spPr>
          <a:xfrm>
            <a:off x="6598310" y="1600200"/>
            <a:ext cx="213055" cy="0"/>
          </a:xfrm>
          <a:prstGeom prst="straightConnector1">
            <a:avLst/>
          </a:prstGeom>
          <a:noFill/>
          <a:ln cap="flat" cmpd="sng" w="12700">
            <a:solidFill>
              <a:srgbClr val="6E6E73"/>
            </a:solidFill>
            <a:prstDash val="solid"/>
            <a:round/>
            <a:headEnd len="sm" w="sm" type="none"/>
            <a:tailEnd len="med" w="med" type="triangle"/>
          </a:ln>
        </p:spPr>
      </p:cxnSp>
      <p:sp>
        <p:nvSpPr>
          <p:cNvPr id="439" name="Google Shape;439;p20"/>
          <p:cNvSpPr/>
          <p:nvPr/>
        </p:nvSpPr>
        <p:spPr>
          <a:xfrm>
            <a:off x="6811366" y="1325880"/>
            <a:ext cx="1920240" cy="548640"/>
          </a:xfrm>
          <a:prstGeom prst="roundRect">
            <a:avLst>
              <a:gd fmla="val 13333" name="adj"/>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0"/>
          <p:cNvSpPr txBox="1"/>
          <p:nvPr/>
        </p:nvSpPr>
        <p:spPr>
          <a:xfrm>
            <a:off x="6811366" y="1325880"/>
            <a:ext cx="19202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Play"/>
              <a:buNone/>
            </a:pPr>
            <a:r>
              <a:rPr b="1" i="0" lang="en-US" sz="1000" u="none" cap="none" strike="noStrike">
                <a:solidFill>
                  <a:srgbClr val="FFFFFF"/>
                </a:solidFill>
                <a:latin typeface="Play"/>
                <a:ea typeface="Play"/>
                <a:cs typeface="Play"/>
                <a:sym typeface="Play"/>
              </a:rPr>
              <a:t>Help them book</a:t>
            </a:r>
            <a:endParaRPr b="0" i="0" sz="1000" u="none" cap="none" strike="noStrike">
              <a:solidFill>
                <a:schemeClr val="dk1"/>
              </a:solidFill>
              <a:latin typeface="Calibri"/>
              <a:ea typeface="Calibri"/>
              <a:cs typeface="Calibri"/>
              <a:sym typeface="Calibri"/>
            </a:endParaRPr>
          </a:p>
        </p:txBody>
      </p:sp>
      <p:sp>
        <p:nvSpPr>
          <p:cNvPr id="441" name="Google Shape;441;p20"/>
          <p:cNvSpPr/>
          <p:nvPr/>
        </p:nvSpPr>
        <p:spPr>
          <a:xfrm>
            <a:off x="2270455" y="1947672"/>
            <a:ext cx="2468880" cy="274320"/>
          </a:xfrm>
          <a:prstGeom prst="roundRect">
            <a:avLst>
              <a:gd fmla="val 26667" name="adj"/>
            </a:avLst>
          </a:prstGeom>
          <a:solidFill>
            <a:srgbClr val="FFF3D6"/>
          </a:solidFill>
          <a:ln cap="flat" cmpd="sng" w="9525">
            <a:solidFill>
              <a:srgbClr val="FFF3D6"/>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9A6410"/>
              </a:buClr>
              <a:buSzPts val="900"/>
              <a:buFont typeface="Arial"/>
              <a:buNone/>
            </a:pPr>
            <a:r>
              <a:rPr b="1" i="0" lang="en-US" sz="900" u="none" cap="none" strike="noStrike">
                <a:solidFill>
                  <a:srgbClr val="9A6410"/>
                </a:solidFill>
                <a:latin typeface="Arial"/>
                <a:ea typeface="Arial"/>
                <a:cs typeface="Arial"/>
                <a:sym typeface="Arial"/>
              </a:rPr>
              <a:t>Keep known_customer_safety_issue</a:t>
            </a:r>
            <a:endParaRPr b="0" i="0" sz="900" u="none" cap="none" strike="noStrike">
              <a:solidFill>
                <a:schemeClr val="dk1"/>
              </a:solidFill>
              <a:latin typeface="Calibri"/>
              <a:ea typeface="Calibri"/>
              <a:cs typeface="Calibri"/>
              <a:sym typeface="Calibri"/>
            </a:endParaRPr>
          </a:p>
        </p:txBody>
      </p:sp>
      <p:sp>
        <p:nvSpPr>
          <p:cNvPr id="442" name="Google Shape;442;p20"/>
          <p:cNvSpPr txBox="1"/>
          <p:nvPr/>
        </p:nvSpPr>
        <p:spPr>
          <a:xfrm>
            <a:off x="411480" y="2468880"/>
            <a:ext cx="54864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3261E"/>
              </a:buClr>
              <a:buSzPts val="800"/>
              <a:buFont typeface="Play"/>
              <a:buNone/>
            </a:pPr>
            <a:r>
              <a:rPr b="1" i="0" lang="en-US" spc="50" sz="800" u="none" cap="none" strike="noStrike">
                <a:solidFill>
                  <a:srgbClr val="B3261E"/>
                </a:solidFill>
                <a:latin typeface="Play"/>
                <a:ea typeface="Play"/>
                <a:cs typeface="Play"/>
                <a:sym typeface="Play"/>
              </a:rPr>
              <a:t>THE NEW CP REPORTS IT AGAIN?</a:t>
            </a:r>
            <a:endParaRPr b="0" i="0" sz="800" u="none" cap="none" strike="noStrike">
              <a:solidFill>
                <a:schemeClr val="dk1"/>
              </a:solidFill>
              <a:latin typeface="Calibri"/>
              <a:ea typeface="Calibri"/>
              <a:cs typeface="Calibri"/>
              <a:sym typeface="Calibri"/>
            </a:endParaRPr>
          </a:p>
        </p:txBody>
      </p:sp>
      <p:sp>
        <p:nvSpPr>
          <p:cNvPr id="443" name="Google Shape;443;p20"/>
          <p:cNvSpPr/>
          <p:nvPr/>
        </p:nvSpPr>
        <p:spPr>
          <a:xfrm>
            <a:off x="411480" y="2697480"/>
            <a:ext cx="2514600" cy="1783080"/>
          </a:xfrm>
          <a:prstGeom prst="roundRect">
            <a:avLst>
              <a:gd fmla="val 4103" name="adj"/>
            </a:avLst>
          </a:prstGeom>
          <a:solidFill>
            <a:srgbClr val="FFF3D6"/>
          </a:solidFill>
          <a:ln cap="flat" cmpd="sng" w="9525">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0"/>
          <p:cNvSpPr txBox="1"/>
          <p:nvPr/>
        </p:nvSpPr>
        <p:spPr>
          <a:xfrm>
            <a:off x="566928" y="2697480"/>
            <a:ext cx="2240280" cy="1783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6410"/>
              </a:buClr>
              <a:buSzPts val="1200"/>
              <a:buFont typeface="Play"/>
              <a:buNone/>
            </a:pPr>
            <a:r>
              <a:rPr b="1" i="0" lang="en-US" sz="1200" u="none" cap="none" strike="noStrike">
                <a:solidFill>
                  <a:srgbClr val="9A6410"/>
                </a:solidFill>
                <a:latin typeface="Play"/>
                <a:ea typeface="Play"/>
                <a:cs typeface="Play"/>
                <a:sym typeface="Play"/>
              </a:rPr>
              <a:t>Ask C for proof</a:t>
            </a:r>
            <a:endParaRPr b="0" i="0" sz="12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D1D1F"/>
              </a:buClr>
              <a:buSzPts val="950"/>
              <a:buFont typeface="Arial"/>
              <a:buNone/>
            </a:pPr>
            <a:r>
              <a:rPr b="0" i="0" lang="en-US" sz="950" u="none" cap="none" strike="noStrike">
                <a:solidFill>
                  <a:srgbClr val="1D1D1F"/>
                </a:solidFill>
                <a:latin typeface="Arial"/>
                <a:ea typeface="Arial"/>
                <a:cs typeface="Arial"/>
                <a:sym typeface="Arial"/>
              </a:rPr>
              <a:t>before they can book again. Does it reasonably address what the CP reported?</a:t>
            </a:r>
            <a:endParaRPr b="0" i="0" sz="1200" u="none" cap="none" strike="noStrike">
              <a:solidFill>
                <a:schemeClr val="dk1"/>
              </a:solidFill>
              <a:latin typeface="Calibri"/>
              <a:ea typeface="Calibri"/>
              <a:cs typeface="Calibri"/>
              <a:sym typeface="Calibri"/>
            </a:endParaRPr>
          </a:p>
        </p:txBody>
      </p:sp>
      <p:sp>
        <p:nvSpPr>
          <p:cNvPr id="445" name="Google Shape;445;p20"/>
          <p:cNvSpPr/>
          <p:nvPr/>
        </p:nvSpPr>
        <p:spPr>
          <a:xfrm>
            <a:off x="3063240" y="2697480"/>
            <a:ext cx="2743200" cy="1783080"/>
          </a:xfrm>
          <a:prstGeom prst="roundRect">
            <a:avLst>
              <a:gd fmla="val 4103"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0"/>
          <p:cNvSpPr/>
          <p:nvPr/>
        </p:nvSpPr>
        <p:spPr>
          <a:xfrm>
            <a:off x="3063240" y="2697480"/>
            <a:ext cx="274320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Play"/>
              <a:buNone/>
            </a:pPr>
            <a:r>
              <a:rPr b="1" i="0" lang="en-US" sz="1050" u="none" cap="none" strike="noStrike">
                <a:solidFill>
                  <a:srgbClr val="FFFFFF"/>
                </a:solidFill>
                <a:latin typeface="Play"/>
                <a:ea typeface="Play"/>
                <a:cs typeface="Play"/>
                <a:sym typeface="Play"/>
              </a:rPr>
              <a:t>Sufficient</a:t>
            </a:r>
            <a:endParaRPr b="0" i="0" sz="1050" u="none" cap="none" strike="noStrike">
              <a:solidFill>
                <a:schemeClr val="dk1"/>
              </a:solidFill>
              <a:latin typeface="Calibri"/>
              <a:ea typeface="Calibri"/>
              <a:cs typeface="Calibri"/>
              <a:sym typeface="Calibri"/>
            </a:endParaRPr>
          </a:p>
        </p:txBody>
      </p:sp>
      <p:sp>
        <p:nvSpPr>
          <p:cNvPr id="447" name="Google Shape;447;p20"/>
          <p:cNvSpPr txBox="1"/>
          <p:nvPr/>
        </p:nvSpPr>
        <p:spPr>
          <a:xfrm>
            <a:off x="3227832" y="3136392"/>
            <a:ext cx="2414016" cy="1271016"/>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1D1D1F"/>
              </a:buClr>
              <a:buSzPts val="900"/>
              <a:buFont typeface="Arial"/>
              <a:buChar char="•"/>
            </a:pPr>
            <a:r>
              <a:rPr b="0" i="0" lang="en-US" sz="900" u="none" cap="none" strike="noStrike">
                <a:solidFill>
                  <a:srgbClr val="1D1D1F"/>
                </a:solidFill>
                <a:latin typeface="Arial"/>
                <a:ea typeface="Arial"/>
                <a:cs typeface="Arial"/>
                <a:sym typeface="Arial"/>
              </a:rPr>
              <a:t>Invalidate known_customer_fraud</a:t>
            </a:r>
            <a:endParaRPr b="0" i="0" sz="90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D1D1F"/>
              </a:buClr>
              <a:buSzPts val="900"/>
              <a:buFont typeface="Arial"/>
              <a:buChar char="•"/>
            </a:pPr>
            <a:r>
              <a:rPr b="0" i="0" lang="en-US" sz="900" u="none" cap="none" strike="noStrike">
                <a:solidFill>
                  <a:srgbClr val="1D1D1F"/>
                </a:solidFill>
                <a:latin typeface="Arial"/>
                <a:ea typeface="Arial"/>
                <a:cs typeface="Arial"/>
                <a:sym typeface="Arial"/>
              </a:rPr>
              <a:t>Log a note, help them book</a:t>
            </a:r>
            <a:endParaRPr b="0" i="0" sz="900" u="none" cap="none" strike="noStrike">
              <a:solidFill>
                <a:schemeClr val="dk1"/>
              </a:solidFill>
              <a:latin typeface="Calibri"/>
              <a:ea typeface="Calibri"/>
              <a:cs typeface="Calibri"/>
              <a:sym typeface="Calibri"/>
            </a:endParaRPr>
          </a:p>
        </p:txBody>
      </p:sp>
      <p:sp>
        <p:nvSpPr>
          <p:cNvPr id="448" name="Google Shape;448;p20"/>
          <p:cNvSpPr/>
          <p:nvPr/>
        </p:nvSpPr>
        <p:spPr>
          <a:xfrm>
            <a:off x="5943600" y="2697480"/>
            <a:ext cx="2788920" cy="1783080"/>
          </a:xfrm>
          <a:prstGeom prst="roundRect">
            <a:avLst>
              <a:gd fmla="val 4103"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0"/>
          <p:cNvSpPr/>
          <p:nvPr/>
        </p:nvSpPr>
        <p:spPr>
          <a:xfrm>
            <a:off x="5943600" y="2697480"/>
            <a:ext cx="2788920" cy="329184"/>
          </a:xfrm>
          <a:prstGeom prst="roundRect">
            <a:avLst>
              <a:gd fmla="val 16667" name="adj"/>
            </a:avLst>
          </a:prstGeom>
          <a:solidFill>
            <a:srgbClr val="B3261E"/>
          </a:solidFill>
          <a:ln cap="flat" cmpd="sng" w="12700">
            <a:solidFill>
              <a:srgbClr val="B3261E"/>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Play"/>
              <a:buNone/>
            </a:pPr>
            <a:r>
              <a:rPr b="1" i="0" lang="en-US" sz="1050" u="none" cap="none" strike="noStrike">
                <a:solidFill>
                  <a:srgbClr val="FFFFFF"/>
                </a:solidFill>
                <a:latin typeface="Play"/>
                <a:ea typeface="Play"/>
                <a:cs typeface="Play"/>
                <a:sym typeface="Play"/>
              </a:rPr>
              <a:t>Not sufficient</a:t>
            </a:r>
            <a:endParaRPr b="0" i="0" sz="1050" u="none" cap="none" strike="noStrike">
              <a:solidFill>
                <a:schemeClr val="dk1"/>
              </a:solidFill>
              <a:latin typeface="Calibri"/>
              <a:ea typeface="Calibri"/>
              <a:cs typeface="Calibri"/>
              <a:sym typeface="Calibri"/>
            </a:endParaRPr>
          </a:p>
        </p:txBody>
      </p:sp>
      <p:sp>
        <p:nvSpPr>
          <p:cNvPr id="450" name="Google Shape;450;p20"/>
          <p:cNvSpPr txBox="1"/>
          <p:nvPr/>
        </p:nvSpPr>
        <p:spPr>
          <a:xfrm>
            <a:off x="6108192" y="3136392"/>
            <a:ext cx="2459736" cy="1271016"/>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1D1D1F"/>
              </a:buClr>
              <a:buSzPts val="900"/>
              <a:buFont typeface="Arial"/>
              <a:buChar char="•"/>
            </a:pPr>
            <a:r>
              <a:rPr b="0" i="0" lang="en-US" sz="900" u="none" cap="none" strike="noStrike">
                <a:solidFill>
                  <a:srgbClr val="1D1D1F"/>
                </a:solidFill>
                <a:latin typeface="Arial"/>
                <a:ea typeface="Arial"/>
                <a:cs typeface="Arial"/>
                <a:sym typeface="Arial"/>
              </a:rPr>
              <a:t>Keep the flag</a:t>
            </a:r>
            <a:endParaRPr b="0" i="0" sz="90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D1D1F"/>
              </a:buClr>
              <a:buSzPts val="900"/>
              <a:buFont typeface="Arial"/>
              <a:buChar char="•"/>
            </a:pPr>
            <a:r>
              <a:rPr b="0" i="0" lang="en-US" sz="900" u="none" cap="none" strike="noStrike">
                <a:solidFill>
                  <a:srgbClr val="1D1D1F"/>
                </a:solidFill>
                <a:latin typeface="Arial"/>
                <a:ea typeface="Arial"/>
                <a:cs typeface="Arial"/>
                <a:sym typeface="Arial"/>
              </a:rPr>
              <a:t>FC started? 1 more free month</a:t>
            </a:r>
            <a:endParaRPr b="0" i="0" sz="90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D1D1F"/>
              </a:buClr>
              <a:buSzPts val="900"/>
              <a:buFont typeface="Arial"/>
              <a:buChar char="•"/>
            </a:pPr>
            <a:r>
              <a:rPr b="0" i="0" lang="en-US" sz="900" u="none" cap="none" strike="noStrike">
                <a:solidFill>
                  <a:srgbClr val="1D1D1F"/>
                </a:solidFill>
                <a:latin typeface="Arial"/>
                <a:ea typeface="Arial"/>
                <a:cs typeface="Arial"/>
                <a:sym typeface="Arial"/>
              </a:rPr>
              <a:t>Not up to safety standards yet. Need more time?</a:t>
            </a:r>
            <a:endParaRPr b="0" i="0" sz="900" u="none" cap="none" strike="noStrike">
              <a:solidFill>
                <a:schemeClr val="dk1"/>
              </a:solidFill>
              <a:latin typeface="Calibri"/>
              <a:ea typeface="Calibri"/>
              <a:cs typeface="Calibri"/>
              <a:sym typeface="Calibri"/>
            </a:endParaRPr>
          </a:p>
        </p:txBody>
      </p:sp>
      <p:sp>
        <p:nvSpPr>
          <p:cNvPr id="451" name="Google Shape;451;p2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2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BIOHAZARD REPORT</a:t>
            </a:r>
            <a:endParaRPr b="0" i="0" sz="800" u="none" cap="none" strike="noStrike">
              <a:solidFill>
                <a:schemeClr val="dk1"/>
              </a:solidFill>
              <a:latin typeface="Calibri"/>
              <a:ea typeface="Calibri"/>
              <a:cs typeface="Calibri"/>
              <a:sym typeface="Calibri"/>
            </a:endParaRPr>
          </a:p>
        </p:txBody>
      </p:sp>
      <p:sp>
        <p:nvSpPr>
          <p:cNvPr id="458" name="Google Shape;458;p2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2400"/>
              <a:buFont typeface="Play"/>
              <a:buNone/>
            </a:pPr>
            <a:r>
              <a:rPr b="1" i="0" lang="en-US" sz="2400" u="none" cap="none" strike="noStrike">
                <a:solidFill>
                  <a:srgbClr val="1D1D1F"/>
                </a:solidFill>
                <a:latin typeface="Play"/>
                <a:ea typeface="Play"/>
                <a:cs typeface="Play"/>
                <a:sym typeface="Play"/>
              </a:rPr>
              <a:t>2nd Response: they can't fix it</a:t>
            </a:r>
            <a:endParaRPr b="0" i="0" sz="2400" u="none" cap="none" strike="noStrike">
              <a:solidFill>
                <a:schemeClr val="dk1"/>
              </a:solidFill>
              <a:latin typeface="Calibri"/>
              <a:ea typeface="Calibri"/>
              <a:cs typeface="Calibri"/>
              <a:sym typeface="Calibri"/>
            </a:endParaRPr>
          </a:p>
        </p:txBody>
      </p:sp>
      <p:sp>
        <p:nvSpPr>
          <p:cNvPr id="459" name="Google Shape;459;p2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1200"/>
              <a:buFont typeface="Arial"/>
              <a:buNone/>
            </a:pPr>
            <a:r>
              <a:rPr b="0" i="0" lang="en-US" sz="1200" u="none" cap="none" strike="noStrike">
                <a:solidFill>
                  <a:srgbClr val="6E6E73"/>
                </a:solidFill>
                <a:latin typeface="Arial"/>
                <a:ea typeface="Arial"/>
                <a:cs typeface="Arial"/>
                <a:sym typeface="Arial"/>
              </a:rPr>
              <a:t>What you do depends on the membership status.</a:t>
            </a:r>
            <a:endParaRPr b="0" i="0" sz="1200" u="none" cap="none" strike="noStrike">
              <a:solidFill>
                <a:schemeClr val="dk1"/>
              </a:solidFill>
              <a:latin typeface="Calibri"/>
              <a:ea typeface="Calibri"/>
              <a:cs typeface="Calibri"/>
              <a:sym typeface="Calibri"/>
            </a:endParaRPr>
          </a:p>
        </p:txBody>
      </p:sp>
      <p:graphicFrame>
        <p:nvGraphicFramePr>
          <p:cNvPr id="460" name="Google Shape;460;p21"/>
          <p:cNvGraphicFramePr/>
          <p:nvPr/>
        </p:nvGraphicFramePr>
        <p:xfrm>
          <a:off x="411480" y="1325880"/>
          <a:ext cx="3000000" cy="3000000"/>
        </p:xfrm>
        <a:graphic>
          <a:graphicData uri="http://schemas.openxmlformats.org/drawingml/2006/table">
            <a:tbl>
              <a:tblPr>
                <a:noFill/>
                <a:tableStyleId>{25439645-7851-4F04-B77D-6FBB5DB2D7FE}</a:tableStyleId>
              </a:tblPr>
              <a:tblGrid>
                <a:gridCol w="1600200"/>
                <a:gridCol w="2788925"/>
                <a:gridCol w="3931925"/>
              </a:tblGrid>
              <a:tr h="502925">
                <a:tc>
                  <a:txBody>
                    <a:bodyPr/>
                    <a:lstStyle/>
                    <a:p>
                      <a:pPr indent="0" lvl="0" marL="0" marR="0" rtl="0" algn="l">
                        <a:spcBef>
                          <a:spcPts val="0"/>
                        </a:spcBef>
                        <a:spcAft>
                          <a:spcPts val="0"/>
                        </a:spcAft>
                        <a:buClr>
                          <a:srgbClr val="0B7A6F"/>
                        </a:buClr>
                        <a:buSzPts val="900"/>
                        <a:buFont typeface="Play"/>
                        <a:buNone/>
                      </a:pPr>
                      <a:r>
                        <a:rPr b="1" lang="en-US" sz="900" u="none" cap="none" strike="noStrike">
                          <a:solidFill>
                            <a:srgbClr val="0B7A6F"/>
                          </a:solidFill>
                          <a:latin typeface="Play"/>
                          <a:ea typeface="Play"/>
                          <a:cs typeface="Play"/>
                          <a:sym typeface="Play"/>
                        </a:rPr>
                        <a:t>Membership status</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spcBef>
                          <a:spcPts val="0"/>
                        </a:spcBef>
                        <a:spcAft>
                          <a:spcPts val="0"/>
                        </a:spcAft>
                        <a:buClr>
                          <a:srgbClr val="0B7A6F"/>
                        </a:buClr>
                        <a:buSzPts val="900"/>
                        <a:buFont typeface="Play"/>
                        <a:buNone/>
                      </a:pPr>
                      <a:r>
                        <a:rPr b="1" lang="en-US" sz="900" u="none" cap="none" strike="noStrike">
                          <a:solidFill>
                            <a:srgbClr val="0B7A6F"/>
                          </a:solidFill>
                          <a:latin typeface="Play"/>
                          <a:ea typeface="Play"/>
                          <a:cs typeface="Play"/>
                          <a:sym typeface="Play"/>
                        </a:rPr>
                        <a:t>Action</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spcBef>
                          <a:spcPts val="0"/>
                        </a:spcBef>
                        <a:spcAft>
                          <a:spcPts val="0"/>
                        </a:spcAft>
                        <a:buClr>
                          <a:srgbClr val="0B7A6F"/>
                        </a:buClr>
                        <a:buSzPts val="900"/>
                        <a:buFont typeface="Play"/>
                        <a:buNone/>
                      </a:pPr>
                      <a:r>
                        <a:rPr b="1" lang="en-US" sz="900" u="none" cap="none" strike="noStrike">
                          <a:solidFill>
                            <a:srgbClr val="0B7A6F"/>
                          </a:solidFill>
                          <a:latin typeface="Play"/>
                          <a:ea typeface="Play"/>
                          <a:cs typeface="Play"/>
                          <a:sym typeface="Play"/>
                        </a:rPr>
                        <a:t>If C asks for a refund</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502925">
                <a:tc>
                  <a:txBody>
                    <a:bodyPr/>
                    <a:lstStyle/>
                    <a:p>
                      <a:pPr indent="0" lvl="0" marL="0" marR="0" rtl="0" algn="l">
                        <a:spcBef>
                          <a:spcPts val="0"/>
                        </a:spcBef>
                        <a:spcAft>
                          <a:spcPts val="0"/>
                        </a:spcAft>
                        <a:buClr>
                          <a:srgbClr val="1D1D1F"/>
                        </a:buClr>
                        <a:buSzPts val="900"/>
                        <a:buFont typeface="Arial"/>
                        <a:buNone/>
                      </a:pPr>
                      <a:r>
                        <a:rPr b="1" lang="en-US" sz="900" u="none" cap="none" strike="noStrike">
                          <a:solidFill>
                            <a:srgbClr val="1D1D1F"/>
                          </a:solidFill>
                          <a:latin typeface="Arial"/>
                          <a:ea typeface="Arial"/>
                          <a:cs typeface="Arial"/>
                          <a:sym typeface="Arial"/>
                        </a:rPr>
                        <a:t>Active FC</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E6E73"/>
                        </a:buClr>
                        <a:buSzPts val="900"/>
                        <a:buFont typeface="Arial"/>
                        <a:buNone/>
                      </a:pPr>
                      <a:r>
                        <a:rPr lang="en-US" sz="900" u="none" cap="none" strike="noStrike">
                          <a:solidFill>
                            <a:srgbClr val="6E6E73"/>
                          </a:solidFill>
                          <a:latin typeface="Arial"/>
                          <a:ea typeface="Arial"/>
                          <a:cs typeface="Arial"/>
                          <a:sym typeface="Arial"/>
                        </a:rPr>
                        <a:t>Proactively cancel FC and waive the ETF</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E6E73"/>
                        </a:buClr>
                        <a:buSzPts val="900"/>
                        <a:buFont typeface="Arial"/>
                        <a:buNone/>
                      </a:pPr>
                      <a:r>
                        <a:rPr lang="en-US" sz="900" u="none" cap="none" strike="noStrike">
                          <a:solidFill>
                            <a:srgbClr val="6E6E73"/>
                          </a:solidFill>
                          <a:latin typeface="Arial"/>
                          <a:ea typeface="Arial"/>
                          <a:cs typeface="Arial"/>
                          <a:sym typeface="Arial"/>
                        </a:rPr>
                        <a:t>Refund MFs with no cleaning in their paid-through coverage. Had a cleaning? No refund, unless another guideline applies (e.g. Material Legal Threat)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D1D1F"/>
                        </a:buClr>
                        <a:buSzPts val="900"/>
                        <a:buFont typeface="Arial"/>
                        <a:buNone/>
                      </a:pPr>
                      <a:r>
                        <a:rPr b="1" lang="en-US" sz="900" u="none" cap="none" strike="noStrike">
                          <a:solidFill>
                            <a:srgbClr val="1D1D1F"/>
                          </a:solidFill>
                          <a:latin typeface="Arial"/>
                          <a:ea typeface="Arial"/>
                          <a:cs typeface="Arial"/>
                          <a:sym typeface="Arial"/>
                        </a:rPr>
                        <a:t>Unused DHJ voucher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E6E73"/>
                        </a:buClr>
                        <a:buSzPts val="900"/>
                        <a:buFont typeface="Arial"/>
                        <a:buNone/>
                      </a:pPr>
                      <a:r>
                        <a:rPr lang="en-US" sz="900" u="none" cap="none" strike="noStrike">
                          <a:solidFill>
                            <a:srgbClr val="6E6E73"/>
                          </a:solidFill>
                          <a:latin typeface="Arial"/>
                          <a:ea typeface="Arial"/>
                          <a:cs typeface="Arial"/>
                          <a:sym typeface="Arial"/>
                        </a:rPr>
                        <a:t>Cancel FC if the table already triggered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E6E73"/>
                        </a:buClr>
                        <a:buSzPts val="900"/>
                        <a:buFont typeface="Arial"/>
                        <a:buNone/>
                      </a:pPr>
                      <a:r>
                        <a:rPr lang="en-US" sz="900" u="none" cap="none" strike="noStrike">
                          <a:solidFill>
                            <a:srgbClr val="6E6E73"/>
                          </a:solidFill>
                          <a:latin typeface="Arial"/>
                          <a:ea typeface="Arial"/>
                          <a:cs typeface="Arial"/>
                          <a:sym typeface="Arial"/>
                        </a:rPr>
                        <a:t>Refund and invalidate the voucher via CRM</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D1D1F"/>
                        </a:buClr>
                        <a:buSzPts val="900"/>
                        <a:buFont typeface="Arial"/>
                        <a:buNone/>
                      </a:pPr>
                      <a:r>
                        <a:rPr b="1" lang="en-US" sz="900" u="none" cap="none" strike="noStrike">
                          <a:solidFill>
                            <a:srgbClr val="1D1D1F"/>
                          </a:solidFill>
                          <a:latin typeface="Arial"/>
                          <a:ea typeface="Arial"/>
                          <a:cs typeface="Arial"/>
                          <a:sym typeface="Arial"/>
                        </a:rPr>
                        <a:t>FCF, no completed job</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E6E73"/>
                        </a:buClr>
                        <a:buSzPts val="900"/>
                        <a:buFont typeface="Arial"/>
                        <a:buNone/>
                      </a:pPr>
                      <a:r>
                        <a:rPr lang="en-US" sz="900" u="none" cap="none" strike="noStrike">
                          <a:solidFill>
                            <a:srgbClr val="6E6E73"/>
                          </a:solidFill>
                          <a:latin typeface="Arial"/>
                          <a:ea typeface="Arial"/>
                          <a:cs typeface="Arial"/>
                          <a:sym typeface="Arial"/>
                        </a:rPr>
                        <a:t>Cancel FC via CRM. No ETF: it was never live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E6E73"/>
                        </a:buClr>
                        <a:buSzPts val="900"/>
                        <a:buFont typeface="Arial"/>
                        <a:buNone/>
                      </a:pPr>
                      <a:r>
                        <a:rPr lang="en-US" sz="900" u="none" cap="none" strike="noStrike">
                          <a:solidFill>
                            <a:srgbClr val="6E6E73"/>
                          </a:solidFill>
                          <a:latin typeface="Arial"/>
                          <a:ea typeface="Arial"/>
                          <a:cs typeface="Arial"/>
                          <a:sym typeface="Arial"/>
                        </a:rPr>
                        <a:t>Refund the $19 base MF + any 4hr/6hr add-on in full</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D1D1F"/>
                        </a:buClr>
                        <a:buSzPts val="900"/>
                        <a:buFont typeface="Arial"/>
                        <a:buNone/>
                      </a:pPr>
                      <a:r>
                        <a:rPr b="1" lang="en-US" sz="900" u="none" cap="none" strike="noStrike">
                          <a:solidFill>
                            <a:srgbClr val="1D1D1F"/>
                          </a:solidFill>
                          <a:latin typeface="Arial"/>
                          <a:ea typeface="Arial"/>
                          <a:cs typeface="Arial"/>
                          <a:sym typeface="Arial"/>
                        </a:rPr>
                        <a:t>Non-FC member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E6E73"/>
                        </a:buClr>
                        <a:buSzPts val="900"/>
                        <a:buFont typeface="Arial"/>
                        <a:buNone/>
                      </a:pPr>
                      <a:r>
                        <a:rPr lang="en-US" sz="900" u="none" cap="none" strike="noStrike">
                          <a:solidFill>
                            <a:srgbClr val="6E6E73"/>
                          </a:solidFill>
                          <a:latin typeface="Arial"/>
                          <a:ea typeface="Arial"/>
                          <a:cs typeface="Arial"/>
                          <a:sym typeface="Arial"/>
                        </a:rPr>
                        <a:t>Can't assist right now. Invite them back once conditions improve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E6E73"/>
                        </a:buClr>
                        <a:buSzPts val="900"/>
                        <a:buFont typeface="Arial"/>
                        <a:buNone/>
                      </a:pPr>
                      <a:r>
                        <a:rPr lang="en-US" sz="900" u="none" cap="none" strike="noStrike">
                          <a:solidFill>
                            <a:srgbClr val="6E6E73"/>
                          </a:solidFill>
                          <a:latin typeface="Arial"/>
                          <a:ea typeface="Arial"/>
                          <a:cs typeface="Arial"/>
                          <a:sym typeface="Arial"/>
                        </a:rPr>
                        <a:t>N/A</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461" name="Google Shape;461;p21"/>
          <p:cNvSpPr/>
          <p:nvPr/>
        </p:nvSpPr>
        <p:spPr>
          <a:xfrm>
            <a:off x="411480" y="406908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62" name="Google Shape;462;p21"/>
          <p:cNvPicPr preferRelativeResize="0"/>
          <p:nvPr/>
        </p:nvPicPr>
        <p:blipFill rotWithShape="1">
          <a:blip r:embed="rId3">
            <a:alphaModFix/>
          </a:blip>
          <a:srcRect b="0" l="0" r="0" t="0"/>
          <a:stretch/>
        </p:blipFill>
        <p:spPr>
          <a:xfrm>
            <a:off x="566928" y="4178808"/>
            <a:ext cx="164592" cy="164592"/>
          </a:xfrm>
          <a:prstGeom prst="rect">
            <a:avLst/>
          </a:prstGeom>
          <a:noFill/>
          <a:ln>
            <a:noFill/>
          </a:ln>
        </p:spPr>
      </p:pic>
      <p:sp>
        <p:nvSpPr>
          <p:cNvPr id="463" name="Google Shape;463;p21"/>
          <p:cNvSpPr txBox="1"/>
          <p:nvPr/>
        </p:nvSpPr>
        <p:spPr>
          <a:xfrm>
            <a:off x="822960" y="4169664"/>
            <a:ext cx="77724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A6410"/>
              </a:buClr>
              <a:buSzPts val="1000"/>
              <a:buFont typeface="Arial"/>
              <a:buNone/>
            </a:pPr>
            <a:r>
              <a:rPr b="1" i="0" lang="en-US" sz="1000" u="none" cap="none" strike="noStrike">
                <a:solidFill>
                  <a:srgbClr val="9A6410"/>
                </a:solidFill>
                <a:latin typeface="Arial"/>
                <a:ea typeface="Arial"/>
                <a:cs typeface="Arial"/>
                <a:sym typeface="Arial"/>
              </a:rPr>
              <a:t>No reply when the TR triggers?  </a:t>
            </a:r>
            <a:r>
              <a:rPr b="0" i="0" lang="en-US" sz="1000" u="none" cap="none" strike="noStrike">
                <a:solidFill>
                  <a:srgbClr val="1D1D1F"/>
                </a:solidFill>
                <a:latin typeface="Arial"/>
                <a:ea typeface="Arial"/>
                <a:cs typeface="Arial"/>
                <a:sym typeface="Arial"/>
              </a:rPr>
              <a:t>handle it the same as "can't fix it".</a:t>
            </a:r>
            <a:endParaRPr b="0" i="0" sz="1000" u="none" cap="none" strike="noStrike">
              <a:solidFill>
                <a:schemeClr val="dk1"/>
              </a:solidFill>
              <a:latin typeface="Calibri"/>
              <a:ea typeface="Calibri"/>
              <a:cs typeface="Calibri"/>
              <a:sym typeface="Calibri"/>
            </a:endParaRPr>
          </a:p>
        </p:txBody>
      </p:sp>
      <p:sp>
        <p:nvSpPr>
          <p:cNvPr id="464" name="Google Shape;464;p2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2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BIOHAZARD REPORT</a:t>
            </a:r>
            <a:endParaRPr b="0" i="0" sz="800" u="none" cap="none" strike="noStrike">
              <a:solidFill>
                <a:schemeClr val="dk1"/>
              </a:solidFill>
              <a:latin typeface="Calibri"/>
              <a:ea typeface="Calibri"/>
              <a:cs typeface="Calibri"/>
              <a:sym typeface="Calibri"/>
            </a:endParaRPr>
          </a:p>
        </p:txBody>
      </p:sp>
      <p:sp>
        <p:nvSpPr>
          <p:cNvPr id="471" name="Google Shape;471;p2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2400"/>
              <a:buFont typeface="Play"/>
              <a:buNone/>
            </a:pPr>
            <a:r>
              <a:rPr b="1" i="0" lang="en-US" sz="2400" u="none" cap="none" strike="noStrike">
                <a:solidFill>
                  <a:srgbClr val="1D1D1F"/>
                </a:solidFill>
                <a:latin typeface="Play"/>
                <a:ea typeface="Play"/>
                <a:cs typeface="Play"/>
                <a:sym typeface="Play"/>
              </a:rPr>
              <a:t>Needs more time, or won't cooperate?</a:t>
            </a:r>
            <a:endParaRPr b="0" i="0" sz="2400" u="none" cap="none" strike="noStrike">
              <a:solidFill>
                <a:schemeClr val="dk1"/>
              </a:solidFill>
              <a:latin typeface="Calibri"/>
              <a:ea typeface="Calibri"/>
              <a:cs typeface="Calibri"/>
              <a:sym typeface="Calibri"/>
            </a:endParaRPr>
          </a:p>
        </p:txBody>
      </p:sp>
      <p:sp>
        <p:nvSpPr>
          <p:cNvPr id="472" name="Google Shape;472;p2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1200"/>
              <a:buFont typeface="Arial"/>
              <a:buNone/>
            </a:pPr>
            <a:r>
              <a:rPr b="0" i="0" lang="en-US" sz="1200" u="none" cap="none" strike="noStrike">
                <a:solidFill>
                  <a:srgbClr val="6E6E73"/>
                </a:solidFill>
                <a:latin typeface="Arial"/>
                <a:ea typeface="Arial"/>
                <a:cs typeface="Arial"/>
                <a:sym typeface="Arial"/>
              </a:rPr>
              <a:t>Keep the booking block in place and give them room.</a:t>
            </a:r>
            <a:endParaRPr b="0" i="0" sz="1200" u="none" cap="none" strike="noStrike">
              <a:solidFill>
                <a:schemeClr val="dk1"/>
              </a:solidFill>
              <a:latin typeface="Calibri"/>
              <a:ea typeface="Calibri"/>
              <a:cs typeface="Calibri"/>
              <a:sym typeface="Calibri"/>
            </a:endParaRPr>
          </a:p>
        </p:txBody>
      </p:sp>
      <p:sp>
        <p:nvSpPr>
          <p:cNvPr id="473" name="Google Shape;473;p22"/>
          <p:cNvSpPr/>
          <p:nvPr/>
        </p:nvSpPr>
        <p:spPr>
          <a:xfrm>
            <a:off x="411480" y="1325880"/>
            <a:ext cx="2682240" cy="2103120"/>
          </a:xfrm>
          <a:prstGeom prst="roundRect">
            <a:avLst>
              <a:gd fmla="val 347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2"/>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75" name="Google Shape;475;p22"/>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476" name="Google Shape;476;p22"/>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1200"/>
              <a:buFont typeface="Play"/>
              <a:buNone/>
            </a:pPr>
            <a:r>
              <a:rPr b="1" i="0" lang="en-US" sz="1200" u="none" cap="none" strike="noStrike">
                <a:solidFill>
                  <a:srgbClr val="1D1D1F"/>
                </a:solidFill>
                <a:latin typeface="Play"/>
                <a:ea typeface="Play"/>
                <a:cs typeface="Play"/>
                <a:sym typeface="Play"/>
              </a:rPr>
              <a:t>Needs more time</a:t>
            </a:r>
            <a:endParaRPr b="0" i="0" sz="1200" u="none" cap="none" strike="noStrike">
              <a:solidFill>
                <a:schemeClr val="dk1"/>
              </a:solidFill>
              <a:latin typeface="Calibri"/>
              <a:ea typeface="Calibri"/>
              <a:cs typeface="Calibri"/>
              <a:sym typeface="Calibri"/>
            </a:endParaRPr>
          </a:p>
        </p:txBody>
      </p:sp>
      <p:sp>
        <p:nvSpPr>
          <p:cNvPr id="477" name="Google Shape;477;p22"/>
          <p:cNvSpPr txBox="1"/>
          <p:nvPr/>
        </p:nvSpPr>
        <p:spPr>
          <a:xfrm>
            <a:off x="576072" y="2221992"/>
            <a:ext cx="2353056" cy="11155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950"/>
              <a:buFont typeface="Arial"/>
              <a:buNone/>
            </a:pPr>
            <a:r>
              <a:rPr b="0" i="0" lang="en-US" sz="950" u="none" cap="none" strike="noStrike">
                <a:solidFill>
                  <a:srgbClr val="6E6E73"/>
                </a:solidFill>
                <a:latin typeface="Arial"/>
                <a:ea typeface="Arial"/>
                <a:cs typeface="Arial"/>
                <a:sym typeface="Arial"/>
              </a:rPr>
              <a:t>FC started? Issue free weeks or months matching what they asked for. Ask them to reach out once conditions improve.</a:t>
            </a:r>
            <a:endParaRPr b="0" i="0" sz="950" u="none" cap="none" strike="noStrike">
              <a:solidFill>
                <a:schemeClr val="dk1"/>
              </a:solidFill>
              <a:latin typeface="Calibri"/>
              <a:ea typeface="Calibri"/>
              <a:cs typeface="Calibri"/>
              <a:sym typeface="Calibri"/>
            </a:endParaRPr>
          </a:p>
        </p:txBody>
      </p:sp>
      <p:sp>
        <p:nvSpPr>
          <p:cNvPr id="478" name="Google Shape;478;p22"/>
          <p:cNvSpPr/>
          <p:nvPr/>
        </p:nvSpPr>
        <p:spPr>
          <a:xfrm>
            <a:off x="3230880" y="1325880"/>
            <a:ext cx="2682240" cy="2103120"/>
          </a:xfrm>
          <a:prstGeom prst="roundRect">
            <a:avLst>
              <a:gd fmla="val 347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2"/>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80" name="Google Shape;480;p22"/>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481" name="Google Shape;481;p22"/>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1200"/>
              <a:buFont typeface="Play"/>
              <a:buNone/>
            </a:pPr>
            <a:r>
              <a:rPr b="1" i="0" lang="en-US" sz="1200" u="none" cap="none" strike="noStrike">
                <a:solidFill>
                  <a:srgbClr val="1D1D1F"/>
                </a:solidFill>
                <a:latin typeface="Play"/>
                <a:ea typeface="Play"/>
                <a:cs typeface="Play"/>
                <a:sym typeface="Play"/>
              </a:rPr>
              <a:t>Won't give evidence</a:t>
            </a:r>
            <a:endParaRPr b="0" i="0" sz="1200" u="none" cap="none" strike="noStrike">
              <a:solidFill>
                <a:schemeClr val="dk1"/>
              </a:solidFill>
              <a:latin typeface="Calibri"/>
              <a:ea typeface="Calibri"/>
              <a:cs typeface="Calibri"/>
              <a:sym typeface="Calibri"/>
            </a:endParaRPr>
          </a:p>
        </p:txBody>
      </p:sp>
      <p:sp>
        <p:nvSpPr>
          <p:cNvPr id="482" name="Google Shape;482;p22"/>
          <p:cNvSpPr txBox="1"/>
          <p:nvPr/>
        </p:nvSpPr>
        <p:spPr>
          <a:xfrm>
            <a:off x="3395472" y="2221992"/>
            <a:ext cx="2353056" cy="11155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950"/>
              <a:buFont typeface="Arial"/>
              <a:buNone/>
            </a:pPr>
            <a:r>
              <a:rPr b="0" i="0" lang="en-US" sz="950" u="none" cap="none" strike="noStrike">
                <a:solidFill>
                  <a:srgbClr val="6E6E73"/>
                </a:solidFill>
                <a:latin typeface="Arial"/>
                <a:ea typeface="Arial"/>
                <a:cs typeface="Arial"/>
                <a:sym typeface="Arial"/>
              </a:rPr>
              <a:t>Keep known_customer_fraud. FC started? 1 more free month. Explain we need proof the home is safe. New TR so no MF is charged.</a:t>
            </a:r>
            <a:endParaRPr b="0" i="0" sz="950" u="none" cap="none" strike="noStrike">
              <a:solidFill>
                <a:schemeClr val="dk1"/>
              </a:solidFill>
              <a:latin typeface="Calibri"/>
              <a:ea typeface="Calibri"/>
              <a:cs typeface="Calibri"/>
              <a:sym typeface="Calibri"/>
            </a:endParaRPr>
          </a:p>
        </p:txBody>
      </p:sp>
      <p:sp>
        <p:nvSpPr>
          <p:cNvPr id="483" name="Google Shape;483;p22"/>
          <p:cNvSpPr/>
          <p:nvPr/>
        </p:nvSpPr>
        <p:spPr>
          <a:xfrm>
            <a:off x="6050280" y="1325880"/>
            <a:ext cx="2682240" cy="2103120"/>
          </a:xfrm>
          <a:prstGeom prst="roundRect">
            <a:avLst>
              <a:gd fmla="val 347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2"/>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85" name="Google Shape;485;p22"/>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486" name="Google Shape;486;p22"/>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1200"/>
              <a:buFont typeface="Play"/>
              <a:buNone/>
            </a:pPr>
            <a:r>
              <a:rPr b="1" i="0" lang="en-US" sz="1200" u="none" cap="none" strike="noStrike">
                <a:solidFill>
                  <a:srgbClr val="1D1D1F"/>
                </a:solidFill>
                <a:latin typeface="Play"/>
                <a:ea typeface="Play"/>
                <a:cs typeface="Play"/>
                <a:sym typeface="Play"/>
              </a:rPr>
              <a:t>No response</a:t>
            </a:r>
            <a:endParaRPr b="0" i="0" sz="1200" u="none" cap="none" strike="noStrike">
              <a:solidFill>
                <a:schemeClr val="dk1"/>
              </a:solidFill>
              <a:latin typeface="Calibri"/>
              <a:ea typeface="Calibri"/>
              <a:cs typeface="Calibri"/>
              <a:sym typeface="Calibri"/>
            </a:endParaRPr>
          </a:p>
        </p:txBody>
      </p:sp>
      <p:sp>
        <p:nvSpPr>
          <p:cNvPr id="487" name="Google Shape;487;p22"/>
          <p:cNvSpPr txBox="1"/>
          <p:nvPr/>
        </p:nvSpPr>
        <p:spPr>
          <a:xfrm>
            <a:off x="6214872" y="2221992"/>
            <a:ext cx="2353056" cy="11155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950"/>
              <a:buFont typeface="Arial"/>
              <a:buNone/>
            </a:pPr>
            <a:r>
              <a:rPr b="0" i="0" lang="en-US" sz="950" u="none" cap="none" strike="noStrike">
                <a:solidFill>
                  <a:srgbClr val="6E6E73"/>
                </a:solidFill>
                <a:latin typeface="Arial"/>
                <a:ea typeface="Arial"/>
                <a:cs typeface="Arial"/>
                <a:sym typeface="Arial"/>
              </a:rPr>
              <a:t>The TR triggers with no reply: handle it as "can't fix it".</a:t>
            </a:r>
            <a:endParaRPr b="0" i="0" sz="950" u="none" cap="none" strike="noStrike">
              <a:solidFill>
                <a:schemeClr val="dk1"/>
              </a:solidFill>
              <a:latin typeface="Calibri"/>
              <a:ea typeface="Calibri"/>
              <a:cs typeface="Calibri"/>
              <a:sym typeface="Calibri"/>
            </a:endParaRPr>
          </a:p>
        </p:txBody>
      </p:sp>
      <p:sp>
        <p:nvSpPr>
          <p:cNvPr id="488" name="Google Shape;488;p22"/>
          <p:cNvSpPr/>
          <p:nvPr/>
        </p:nvSpPr>
        <p:spPr>
          <a:xfrm>
            <a:off x="411480" y="3611880"/>
            <a:ext cx="8321040" cy="384048"/>
          </a:xfrm>
          <a:prstGeom prst="roundRect">
            <a:avLst>
              <a:gd fmla="val 19048"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89" name="Google Shape;489;p22"/>
          <p:cNvPicPr preferRelativeResize="0"/>
          <p:nvPr/>
        </p:nvPicPr>
        <p:blipFill rotWithShape="1">
          <a:blip r:embed="rId6">
            <a:alphaModFix/>
          </a:blip>
          <a:srcRect b="0" l="0" r="0" t="0"/>
          <a:stretch/>
        </p:blipFill>
        <p:spPr>
          <a:xfrm>
            <a:off x="566928" y="3721608"/>
            <a:ext cx="164592" cy="164592"/>
          </a:xfrm>
          <a:prstGeom prst="rect">
            <a:avLst/>
          </a:prstGeom>
          <a:noFill/>
          <a:ln>
            <a:noFill/>
          </a:ln>
        </p:spPr>
      </p:pic>
      <p:sp>
        <p:nvSpPr>
          <p:cNvPr id="490" name="Google Shape;490;p22"/>
          <p:cNvSpPr txBox="1"/>
          <p:nvPr/>
        </p:nvSpPr>
        <p:spPr>
          <a:xfrm>
            <a:off x="822960" y="3611880"/>
            <a:ext cx="77724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261E"/>
              </a:buClr>
              <a:buSzPts val="1000"/>
              <a:buFont typeface="Arial"/>
              <a:buNone/>
            </a:pPr>
            <a:r>
              <a:rPr b="1" i="0" lang="en-US" sz="1000" u="none" cap="none" strike="noStrike">
                <a:solidFill>
                  <a:srgbClr val="B3261E"/>
                </a:solidFill>
                <a:latin typeface="Arial"/>
                <a:ea typeface="Arial"/>
                <a:cs typeface="Arial"/>
                <a:sym typeface="Arial"/>
              </a:rPr>
              <a:t>Still refusing after the extra time?  </a:t>
            </a:r>
            <a:r>
              <a:rPr b="0" i="0" lang="en-US" sz="1000" u="none" cap="none" strike="noStrike">
                <a:solidFill>
                  <a:srgbClr val="1D1D1F"/>
                </a:solidFill>
                <a:latin typeface="Arial"/>
                <a:ea typeface="Arial"/>
                <a:cs typeface="Arial"/>
                <a:sym typeface="Arial"/>
              </a:rPr>
              <a:t>treat it as "can't fix it".</a:t>
            </a:r>
            <a:endParaRPr b="0" i="0" sz="1000" u="none" cap="none" strike="noStrike">
              <a:solidFill>
                <a:schemeClr val="dk1"/>
              </a:solidFill>
              <a:latin typeface="Calibri"/>
              <a:ea typeface="Calibri"/>
              <a:cs typeface="Calibri"/>
              <a:sym typeface="Calibri"/>
            </a:endParaRPr>
          </a:p>
        </p:txBody>
      </p:sp>
      <p:sp>
        <p:nvSpPr>
          <p:cNvPr id="491" name="Google Shape;491;p2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2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BIOHAZARD REPORT  ·  KNOWLEDGE CHECK</a:t>
            </a:r>
            <a:endParaRPr b="0" i="0" sz="800" u="none" cap="none" strike="noStrike">
              <a:solidFill>
                <a:schemeClr val="dk1"/>
              </a:solidFill>
              <a:latin typeface="Calibri"/>
              <a:ea typeface="Calibri"/>
              <a:cs typeface="Calibri"/>
              <a:sym typeface="Calibri"/>
            </a:endParaRPr>
          </a:p>
        </p:txBody>
      </p:sp>
      <p:sp>
        <p:nvSpPr>
          <p:cNvPr id="498" name="Google Shape;498;p2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2400"/>
              <a:buFont typeface="Play"/>
              <a:buNone/>
            </a:pPr>
            <a:r>
              <a:rPr b="1" i="0" lang="en-US" sz="2400" u="none" cap="none" strike="noStrike">
                <a:solidFill>
                  <a:srgbClr val="1D1D1F"/>
                </a:solidFill>
                <a:latin typeface="Play"/>
                <a:ea typeface="Play"/>
                <a:cs typeface="Play"/>
                <a:sym typeface="Play"/>
              </a:rPr>
              <a:t>Let’s See What You’ve Got!</a:t>
            </a:r>
            <a:endParaRPr b="0" i="0" sz="2400" u="none" cap="none" strike="noStrike">
              <a:solidFill>
                <a:schemeClr val="dk1"/>
              </a:solidFill>
              <a:latin typeface="Calibri"/>
              <a:ea typeface="Calibri"/>
              <a:cs typeface="Calibri"/>
              <a:sym typeface="Calibri"/>
            </a:endParaRPr>
          </a:p>
        </p:txBody>
      </p:sp>
      <p:sp>
        <p:nvSpPr>
          <p:cNvPr id="499" name="Google Shape;499;p23"/>
          <p:cNvSpPr/>
          <p:nvPr/>
        </p:nvSpPr>
        <p:spPr>
          <a:xfrm>
            <a:off x="411480" y="1280160"/>
            <a:ext cx="4617720" cy="627278"/>
          </a:xfrm>
          <a:prstGeom prst="roundRect">
            <a:avLst>
              <a:gd fmla="val 1166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3"/>
          <p:cNvSpPr/>
          <p:nvPr/>
        </p:nvSpPr>
        <p:spPr>
          <a:xfrm>
            <a:off x="548640" y="1456639"/>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3"/>
          <p:cNvSpPr txBox="1"/>
          <p:nvPr/>
        </p:nvSpPr>
        <p:spPr>
          <a:xfrm>
            <a:off x="548640" y="1456639"/>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502" name="Google Shape;502;p23"/>
          <p:cNvSpPr txBox="1"/>
          <p:nvPr/>
        </p:nvSpPr>
        <p:spPr>
          <a:xfrm>
            <a:off x="960120" y="1280160"/>
            <a:ext cx="3977640" cy="62727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000"/>
              <a:buFont typeface="Arial"/>
              <a:buNone/>
            </a:pPr>
            <a:r>
              <a:rPr b="0" i="0" lang="en-US" sz="1000" u="none" cap="none" strike="noStrike">
                <a:solidFill>
                  <a:srgbClr val="1D1D1F"/>
                </a:solidFill>
                <a:latin typeface="Arial"/>
                <a:ea typeface="Arial"/>
                <a:cs typeface="Arial"/>
                <a:sym typeface="Arial"/>
              </a:rPr>
              <a:t>C says a CP called their home dirty. No CP-side action item. Restrict the account?</a:t>
            </a:r>
            <a:endParaRPr b="0" i="0" sz="1000" u="none" cap="none" strike="noStrike">
              <a:solidFill>
                <a:schemeClr val="dk1"/>
              </a:solidFill>
              <a:latin typeface="Calibri"/>
              <a:ea typeface="Calibri"/>
              <a:cs typeface="Calibri"/>
              <a:sym typeface="Calibri"/>
            </a:endParaRPr>
          </a:p>
        </p:txBody>
      </p:sp>
      <p:sp>
        <p:nvSpPr>
          <p:cNvPr id="503" name="Google Shape;503;p23"/>
          <p:cNvSpPr/>
          <p:nvPr/>
        </p:nvSpPr>
        <p:spPr>
          <a:xfrm>
            <a:off x="5120640" y="1280160"/>
            <a:ext cx="3611880" cy="627278"/>
          </a:xfrm>
          <a:prstGeom prst="roundRect">
            <a:avLst>
              <a:gd fmla="val 116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3"/>
          <p:cNvSpPr txBox="1"/>
          <p:nvPr/>
        </p:nvSpPr>
        <p:spPr>
          <a:xfrm>
            <a:off x="5257800" y="1280160"/>
            <a:ext cx="3383280" cy="62727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900"/>
              <a:buFont typeface="Arial"/>
              <a:buNone/>
            </a:pPr>
            <a:r>
              <a:rPr b="0" i="0" lang="en-US" sz="900" u="none" cap="none" strike="noStrike">
                <a:solidFill>
                  <a:srgbClr val="1D1D1F"/>
                </a:solidFill>
                <a:latin typeface="Arial"/>
                <a:ea typeface="Arial"/>
                <a:cs typeface="Arial"/>
                <a:sym typeface="Arial"/>
              </a:rPr>
              <a:t>No. Only act once a CP-side agent validated the evidence and created the action item.</a:t>
            </a:r>
            <a:endParaRPr b="0" i="0" sz="900" u="none" cap="none" strike="noStrike">
              <a:solidFill>
                <a:schemeClr val="dk1"/>
              </a:solidFill>
              <a:latin typeface="Calibri"/>
              <a:ea typeface="Calibri"/>
              <a:cs typeface="Calibri"/>
              <a:sym typeface="Calibri"/>
            </a:endParaRPr>
          </a:p>
        </p:txBody>
      </p:sp>
      <p:sp>
        <p:nvSpPr>
          <p:cNvPr id="505" name="Google Shape;505;p23"/>
          <p:cNvSpPr/>
          <p:nvPr/>
        </p:nvSpPr>
        <p:spPr>
          <a:xfrm>
            <a:off x="411480" y="1980590"/>
            <a:ext cx="4617720" cy="627278"/>
          </a:xfrm>
          <a:prstGeom prst="roundRect">
            <a:avLst>
              <a:gd fmla="val 1166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3"/>
          <p:cNvSpPr/>
          <p:nvPr/>
        </p:nvSpPr>
        <p:spPr>
          <a:xfrm>
            <a:off x="548640" y="215707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3"/>
          <p:cNvSpPr txBox="1"/>
          <p:nvPr/>
        </p:nvSpPr>
        <p:spPr>
          <a:xfrm>
            <a:off x="548640" y="215707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508" name="Google Shape;508;p23"/>
          <p:cNvSpPr txBox="1"/>
          <p:nvPr/>
        </p:nvSpPr>
        <p:spPr>
          <a:xfrm>
            <a:off x="960120" y="1980590"/>
            <a:ext cx="3977640" cy="62727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000"/>
              <a:buFont typeface="Arial"/>
              <a:buNone/>
            </a:pPr>
            <a:r>
              <a:rPr b="0" i="0" lang="en-US" sz="1000" u="none" cap="none" strike="noStrike">
                <a:solidFill>
                  <a:srgbClr val="1D1D1F"/>
                </a:solidFill>
                <a:latin typeface="Arial"/>
                <a:ea typeface="Arial"/>
                <a:cs typeface="Arial"/>
                <a:sym typeface="Arial"/>
              </a:rPr>
              <a:t>Which cancellation reason code do you use for the RC and upcoming jobs?</a:t>
            </a:r>
            <a:endParaRPr b="0" i="0" sz="1000" u="none" cap="none" strike="noStrike">
              <a:solidFill>
                <a:schemeClr val="dk1"/>
              </a:solidFill>
              <a:latin typeface="Calibri"/>
              <a:ea typeface="Calibri"/>
              <a:cs typeface="Calibri"/>
              <a:sym typeface="Calibri"/>
            </a:endParaRPr>
          </a:p>
        </p:txBody>
      </p:sp>
      <p:sp>
        <p:nvSpPr>
          <p:cNvPr id="509" name="Google Shape;509;p23"/>
          <p:cNvSpPr/>
          <p:nvPr/>
        </p:nvSpPr>
        <p:spPr>
          <a:xfrm>
            <a:off x="5120640" y="1980590"/>
            <a:ext cx="3611880" cy="627278"/>
          </a:xfrm>
          <a:prstGeom prst="roundRect">
            <a:avLst>
              <a:gd fmla="val 116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3"/>
          <p:cNvSpPr txBox="1"/>
          <p:nvPr/>
        </p:nvSpPr>
        <p:spPr>
          <a:xfrm>
            <a:off x="5257800" y="1980590"/>
            <a:ext cx="3383280" cy="62727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900"/>
              <a:buFont typeface="Arial"/>
              <a:buNone/>
            </a:pPr>
            <a:r>
              <a:rPr b="0" i="0" lang="en-US" sz="900" u="none" cap="none" strike="noStrike">
                <a:solidFill>
                  <a:srgbClr val="1D1D1F"/>
                </a:solidFill>
                <a:latin typeface="Arial"/>
                <a:ea typeface="Arial"/>
                <a:cs typeface="Arial"/>
                <a:sym typeface="Arial"/>
              </a:rPr>
              <a:t>Escalated Safety Issue.</a:t>
            </a:r>
            <a:endParaRPr b="0" i="0" sz="900" u="none" cap="none" strike="noStrike">
              <a:solidFill>
                <a:schemeClr val="dk1"/>
              </a:solidFill>
              <a:latin typeface="Calibri"/>
              <a:ea typeface="Calibri"/>
              <a:cs typeface="Calibri"/>
              <a:sym typeface="Calibri"/>
            </a:endParaRPr>
          </a:p>
        </p:txBody>
      </p:sp>
      <p:sp>
        <p:nvSpPr>
          <p:cNvPr id="511" name="Google Shape;511;p23"/>
          <p:cNvSpPr/>
          <p:nvPr/>
        </p:nvSpPr>
        <p:spPr>
          <a:xfrm>
            <a:off x="411480" y="2681021"/>
            <a:ext cx="4617720" cy="627278"/>
          </a:xfrm>
          <a:prstGeom prst="roundRect">
            <a:avLst>
              <a:gd fmla="val 1166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3"/>
          <p:cNvSpPr/>
          <p:nvPr/>
        </p:nvSpPr>
        <p:spPr>
          <a:xfrm>
            <a:off x="548640" y="285750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3"/>
          <p:cNvSpPr txBox="1"/>
          <p:nvPr/>
        </p:nvSpPr>
        <p:spPr>
          <a:xfrm>
            <a:off x="548640" y="285750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3</a:t>
            </a:r>
            <a:endParaRPr b="0" i="0" sz="900" u="none" cap="none" strike="noStrike">
              <a:solidFill>
                <a:schemeClr val="dk1"/>
              </a:solidFill>
              <a:latin typeface="Calibri"/>
              <a:ea typeface="Calibri"/>
              <a:cs typeface="Calibri"/>
              <a:sym typeface="Calibri"/>
            </a:endParaRPr>
          </a:p>
        </p:txBody>
      </p:sp>
      <p:sp>
        <p:nvSpPr>
          <p:cNvPr id="514" name="Google Shape;514;p23"/>
          <p:cNvSpPr txBox="1"/>
          <p:nvPr/>
        </p:nvSpPr>
        <p:spPr>
          <a:xfrm>
            <a:off x="960120" y="2681021"/>
            <a:ext cx="3977640" cy="62727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000"/>
              <a:buFont typeface="Arial"/>
              <a:buNone/>
            </a:pPr>
            <a:r>
              <a:rPr b="0" i="0" lang="en-US" sz="1000" u="none" cap="none" strike="noStrike">
                <a:solidFill>
                  <a:srgbClr val="1D1D1F"/>
                </a:solidFill>
                <a:latin typeface="Arial"/>
                <a:ea typeface="Arial"/>
                <a:cs typeface="Arial"/>
                <a:sym typeface="Arial"/>
              </a:rPr>
              <a:t>Active FC, 1st Response. What do you give C, and when does the TR fire?</a:t>
            </a:r>
            <a:endParaRPr b="0" i="0" sz="1000" u="none" cap="none" strike="noStrike">
              <a:solidFill>
                <a:schemeClr val="dk1"/>
              </a:solidFill>
              <a:latin typeface="Calibri"/>
              <a:ea typeface="Calibri"/>
              <a:cs typeface="Calibri"/>
              <a:sym typeface="Calibri"/>
            </a:endParaRPr>
          </a:p>
        </p:txBody>
      </p:sp>
      <p:sp>
        <p:nvSpPr>
          <p:cNvPr id="515" name="Google Shape;515;p23"/>
          <p:cNvSpPr/>
          <p:nvPr/>
        </p:nvSpPr>
        <p:spPr>
          <a:xfrm>
            <a:off x="5120640" y="2681021"/>
            <a:ext cx="3611880" cy="627278"/>
          </a:xfrm>
          <a:prstGeom prst="roundRect">
            <a:avLst>
              <a:gd fmla="val 116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3"/>
          <p:cNvSpPr txBox="1"/>
          <p:nvPr/>
        </p:nvSpPr>
        <p:spPr>
          <a:xfrm>
            <a:off x="5257800" y="2681021"/>
            <a:ext cx="3383280" cy="62727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900"/>
              <a:buFont typeface="Arial"/>
              <a:buNone/>
            </a:pPr>
            <a:r>
              <a:rPr b="0" i="0" lang="en-US" sz="900" u="none" cap="none" strike="noStrike">
                <a:solidFill>
                  <a:srgbClr val="1D1D1F"/>
                </a:solidFill>
                <a:latin typeface="Arial"/>
                <a:ea typeface="Arial"/>
                <a:cs typeface="Arial"/>
                <a:sym typeface="Arial"/>
              </a:rPr>
              <a:t>1 free month. TR the day before the free month expires (any CS).</a:t>
            </a:r>
            <a:endParaRPr b="0" i="0" sz="900" u="none" cap="none" strike="noStrike">
              <a:solidFill>
                <a:schemeClr val="dk1"/>
              </a:solidFill>
              <a:latin typeface="Calibri"/>
              <a:ea typeface="Calibri"/>
              <a:cs typeface="Calibri"/>
              <a:sym typeface="Calibri"/>
            </a:endParaRPr>
          </a:p>
        </p:txBody>
      </p:sp>
      <p:sp>
        <p:nvSpPr>
          <p:cNvPr id="517" name="Google Shape;517;p23"/>
          <p:cNvSpPr/>
          <p:nvPr/>
        </p:nvSpPr>
        <p:spPr>
          <a:xfrm>
            <a:off x="411480" y="3381451"/>
            <a:ext cx="4617720" cy="627278"/>
          </a:xfrm>
          <a:prstGeom prst="roundRect">
            <a:avLst>
              <a:gd fmla="val 1166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3"/>
          <p:cNvSpPr/>
          <p:nvPr/>
        </p:nvSpPr>
        <p:spPr>
          <a:xfrm>
            <a:off x="548640" y="355793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3"/>
          <p:cNvSpPr txBox="1"/>
          <p:nvPr/>
        </p:nvSpPr>
        <p:spPr>
          <a:xfrm>
            <a:off x="548640" y="355793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4</a:t>
            </a:r>
            <a:endParaRPr b="0" i="0" sz="900" u="none" cap="none" strike="noStrike">
              <a:solidFill>
                <a:schemeClr val="dk1"/>
              </a:solidFill>
              <a:latin typeface="Calibri"/>
              <a:ea typeface="Calibri"/>
              <a:cs typeface="Calibri"/>
              <a:sym typeface="Calibri"/>
            </a:endParaRPr>
          </a:p>
        </p:txBody>
      </p:sp>
      <p:sp>
        <p:nvSpPr>
          <p:cNvPr id="520" name="Google Shape;520;p23"/>
          <p:cNvSpPr txBox="1"/>
          <p:nvPr/>
        </p:nvSpPr>
        <p:spPr>
          <a:xfrm>
            <a:off x="960120" y="3381451"/>
            <a:ext cx="3977640" cy="62727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000"/>
              <a:buFont typeface="Arial"/>
              <a:buNone/>
            </a:pPr>
            <a:r>
              <a:rPr b="0" i="0" lang="en-US" sz="1000" u="none" cap="none" strike="noStrike">
                <a:solidFill>
                  <a:srgbClr val="1D1D1F"/>
                </a:solidFill>
                <a:latin typeface="Arial"/>
                <a:ea typeface="Arial"/>
                <a:cs typeface="Arial"/>
                <a:sym typeface="Arial"/>
              </a:rPr>
              <a:t>C says it's resolved. Which flag do you invalidate?</a:t>
            </a:r>
            <a:endParaRPr b="0" i="0" sz="1000" u="none" cap="none" strike="noStrike">
              <a:solidFill>
                <a:schemeClr val="dk1"/>
              </a:solidFill>
              <a:latin typeface="Calibri"/>
              <a:ea typeface="Calibri"/>
              <a:cs typeface="Calibri"/>
              <a:sym typeface="Calibri"/>
            </a:endParaRPr>
          </a:p>
        </p:txBody>
      </p:sp>
      <p:sp>
        <p:nvSpPr>
          <p:cNvPr id="521" name="Google Shape;521;p23"/>
          <p:cNvSpPr/>
          <p:nvPr/>
        </p:nvSpPr>
        <p:spPr>
          <a:xfrm>
            <a:off x="5120640" y="3381451"/>
            <a:ext cx="3611880" cy="627278"/>
          </a:xfrm>
          <a:prstGeom prst="roundRect">
            <a:avLst>
              <a:gd fmla="val 116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3"/>
          <p:cNvSpPr txBox="1"/>
          <p:nvPr/>
        </p:nvSpPr>
        <p:spPr>
          <a:xfrm>
            <a:off x="5257800" y="3381451"/>
            <a:ext cx="3383280" cy="62727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900"/>
              <a:buFont typeface="Arial"/>
              <a:buNone/>
            </a:pPr>
            <a:r>
              <a:rPr b="0" i="0" lang="en-US" sz="900" u="none" cap="none" strike="noStrike">
                <a:solidFill>
                  <a:srgbClr val="1D1D1F"/>
                </a:solidFill>
                <a:latin typeface="Arial"/>
                <a:ea typeface="Arial"/>
                <a:cs typeface="Arial"/>
                <a:sym typeface="Arial"/>
              </a:rPr>
              <a:t>known_customer_fraud only. known_customer_safety_issue stays.</a:t>
            </a:r>
            <a:endParaRPr b="0" i="0" sz="900" u="none" cap="none" strike="noStrike">
              <a:solidFill>
                <a:schemeClr val="dk1"/>
              </a:solidFill>
              <a:latin typeface="Calibri"/>
              <a:ea typeface="Calibri"/>
              <a:cs typeface="Calibri"/>
              <a:sym typeface="Calibri"/>
            </a:endParaRPr>
          </a:p>
        </p:txBody>
      </p:sp>
      <p:sp>
        <p:nvSpPr>
          <p:cNvPr id="523" name="Google Shape;523;p23"/>
          <p:cNvSpPr/>
          <p:nvPr/>
        </p:nvSpPr>
        <p:spPr>
          <a:xfrm>
            <a:off x="411480" y="4081882"/>
            <a:ext cx="4617720" cy="627278"/>
          </a:xfrm>
          <a:prstGeom prst="roundRect">
            <a:avLst>
              <a:gd fmla="val 1166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3"/>
          <p:cNvSpPr/>
          <p:nvPr/>
        </p:nvSpPr>
        <p:spPr>
          <a:xfrm>
            <a:off x="548640" y="4258361"/>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3"/>
          <p:cNvSpPr txBox="1"/>
          <p:nvPr/>
        </p:nvSpPr>
        <p:spPr>
          <a:xfrm>
            <a:off x="548640" y="4258361"/>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5</a:t>
            </a:r>
            <a:endParaRPr b="0" i="0" sz="900" u="none" cap="none" strike="noStrike">
              <a:solidFill>
                <a:schemeClr val="dk1"/>
              </a:solidFill>
              <a:latin typeface="Calibri"/>
              <a:ea typeface="Calibri"/>
              <a:cs typeface="Calibri"/>
              <a:sym typeface="Calibri"/>
            </a:endParaRPr>
          </a:p>
        </p:txBody>
      </p:sp>
      <p:sp>
        <p:nvSpPr>
          <p:cNvPr id="526" name="Google Shape;526;p23"/>
          <p:cNvSpPr txBox="1"/>
          <p:nvPr/>
        </p:nvSpPr>
        <p:spPr>
          <a:xfrm>
            <a:off x="960120" y="4081882"/>
            <a:ext cx="3977640" cy="62727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000"/>
              <a:buFont typeface="Arial"/>
              <a:buNone/>
            </a:pPr>
            <a:r>
              <a:rPr b="0" i="0" lang="en-US" sz="1000" u="none" cap="none" strike="noStrike">
                <a:solidFill>
                  <a:srgbClr val="1D1D1F"/>
                </a:solidFill>
                <a:latin typeface="Arial"/>
                <a:ea typeface="Arial"/>
                <a:cs typeface="Arial"/>
                <a:sym typeface="Arial"/>
              </a:rPr>
              <a:t>FCF, no completed job, can't fix it, wants a refund. What happens?</a:t>
            </a:r>
            <a:endParaRPr b="0" i="0" sz="1000" u="none" cap="none" strike="noStrike">
              <a:solidFill>
                <a:schemeClr val="dk1"/>
              </a:solidFill>
              <a:latin typeface="Calibri"/>
              <a:ea typeface="Calibri"/>
              <a:cs typeface="Calibri"/>
              <a:sym typeface="Calibri"/>
            </a:endParaRPr>
          </a:p>
        </p:txBody>
      </p:sp>
      <p:sp>
        <p:nvSpPr>
          <p:cNvPr id="527" name="Google Shape;527;p23"/>
          <p:cNvSpPr/>
          <p:nvPr/>
        </p:nvSpPr>
        <p:spPr>
          <a:xfrm>
            <a:off x="5120640" y="4081882"/>
            <a:ext cx="3611880" cy="627278"/>
          </a:xfrm>
          <a:prstGeom prst="roundRect">
            <a:avLst>
              <a:gd fmla="val 116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3"/>
          <p:cNvSpPr txBox="1"/>
          <p:nvPr/>
        </p:nvSpPr>
        <p:spPr>
          <a:xfrm>
            <a:off x="5257800" y="4081882"/>
            <a:ext cx="3383280" cy="62727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900"/>
              <a:buFont typeface="Arial"/>
              <a:buNone/>
            </a:pPr>
            <a:r>
              <a:rPr b="0" i="0" lang="en-US" sz="900" u="none" cap="none" strike="noStrike">
                <a:solidFill>
                  <a:srgbClr val="1D1D1F"/>
                </a:solidFill>
                <a:latin typeface="Arial"/>
                <a:ea typeface="Arial"/>
                <a:cs typeface="Arial"/>
                <a:sym typeface="Arial"/>
              </a:rPr>
              <a:t>Cancel FC (no ETF). Refund the $19 base MF + any add-on in full.</a:t>
            </a:r>
            <a:endParaRPr b="0" i="0" sz="900" u="none" cap="none" strike="noStrike">
              <a:solidFill>
                <a:schemeClr val="dk1"/>
              </a:solidFill>
              <a:latin typeface="Calibri"/>
              <a:ea typeface="Calibri"/>
              <a:cs typeface="Calibri"/>
              <a:sym typeface="Calibri"/>
            </a:endParaRPr>
          </a:p>
        </p:txBody>
      </p:sp>
      <p:sp>
        <p:nvSpPr>
          <p:cNvPr id="529" name="Google Shape;529;p2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4"/>
                                        </p:tgtEl>
                                        <p:attrNameLst>
                                          <p:attrName>style.visibility</p:attrName>
                                        </p:attrNameLst>
                                      </p:cBhvr>
                                      <p:to>
                                        <p:strVal val="visible"/>
                                      </p:to>
                                    </p:set>
                                    <p:animEffect filter="fade" transition="in">
                                      <p:cBhvr>
                                        <p:cTn dur="600"/>
                                        <p:tgtEl>
                                          <p:spTgt spid="5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600"/>
                                        <p:tgtEl>
                                          <p:spTgt spid="5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600"/>
                                        <p:tgtEl>
                                          <p:spTgt spid="5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
                                        </p:tgtEl>
                                        <p:attrNameLst>
                                          <p:attrName>style.visibility</p:attrName>
                                        </p:attrNameLst>
                                      </p:cBhvr>
                                      <p:to>
                                        <p:strVal val="visible"/>
                                      </p:to>
                                    </p:set>
                                    <p:animEffect filter="fade" transition="in">
                                      <p:cBhvr>
                                        <p:cTn dur="600"/>
                                        <p:tgtEl>
                                          <p:spTgt spid="5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8"/>
                                        </p:tgtEl>
                                        <p:attrNameLst>
                                          <p:attrName>style.visibility</p:attrName>
                                        </p:attrNameLst>
                                      </p:cBhvr>
                                      <p:to>
                                        <p:strVal val="visible"/>
                                      </p:to>
                                    </p:set>
                                    <p:animEffect filter="fade" transition="in">
                                      <p:cBhvr>
                                        <p:cTn dur="600"/>
                                        <p:tgtEl>
                                          <p:spTgt spid="5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2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BIOHAZARD REPORT  ·  PRACTICE</a:t>
            </a:r>
            <a:endParaRPr b="0" i="0" sz="800" u="none" cap="none" strike="noStrike">
              <a:solidFill>
                <a:schemeClr val="dk1"/>
              </a:solidFill>
              <a:latin typeface="Calibri"/>
              <a:ea typeface="Calibri"/>
              <a:cs typeface="Calibri"/>
              <a:sym typeface="Calibri"/>
            </a:endParaRPr>
          </a:p>
        </p:txBody>
      </p:sp>
      <p:sp>
        <p:nvSpPr>
          <p:cNvPr id="536" name="Google Shape;536;p2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2400"/>
              <a:buFont typeface="Play"/>
              <a:buNone/>
            </a:pPr>
            <a:r>
              <a:rPr b="1" i="0" lang="en-US" sz="2400" u="none" cap="none" strike="noStrike">
                <a:solidFill>
                  <a:srgbClr val="1D1D1F"/>
                </a:solidFill>
                <a:latin typeface="Play"/>
                <a:ea typeface="Play"/>
                <a:cs typeface="Play"/>
                <a:sym typeface="Play"/>
              </a:rPr>
              <a:t>Let's investigate together!</a:t>
            </a:r>
            <a:endParaRPr b="0" i="0" sz="2400" u="none" cap="none" strike="noStrike">
              <a:solidFill>
                <a:schemeClr val="dk1"/>
              </a:solidFill>
              <a:latin typeface="Calibri"/>
              <a:ea typeface="Calibri"/>
              <a:cs typeface="Calibri"/>
              <a:sym typeface="Calibri"/>
            </a:endParaRPr>
          </a:p>
        </p:txBody>
      </p:sp>
      <p:sp>
        <p:nvSpPr>
          <p:cNvPr id="537" name="Google Shape;537;p24"/>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1200"/>
              <a:buFont typeface="Arial"/>
              <a:buNone/>
            </a:pPr>
            <a:r>
              <a:rPr b="0" i="0" lang="en-US" sz="1200" u="none" cap="none" strike="noStrike">
                <a:solidFill>
                  <a:srgbClr val="6E6E73"/>
                </a:solidFill>
                <a:latin typeface="Arial"/>
                <a:ea typeface="Arial"/>
                <a:cs typeface="Arial"/>
                <a:sym typeface="Arial"/>
              </a:rPr>
              <a:t>Review the live ticket and investigate.</a:t>
            </a:r>
            <a:endParaRPr b="0" i="0" sz="1200" u="none" cap="none" strike="noStrike">
              <a:solidFill>
                <a:schemeClr val="dk1"/>
              </a:solidFill>
              <a:latin typeface="Calibri"/>
              <a:ea typeface="Calibri"/>
              <a:cs typeface="Calibri"/>
              <a:sym typeface="Calibri"/>
            </a:endParaRPr>
          </a:p>
        </p:txBody>
      </p:sp>
      <p:sp>
        <p:nvSpPr>
          <p:cNvPr id="538" name="Google Shape;538;p24"/>
          <p:cNvSpPr/>
          <p:nvPr/>
        </p:nvSpPr>
        <p:spPr>
          <a:xfrm>
            <a:off x="411480" y="1298448"/>
            <a:ext cx="3383280" cy="2633472"/>
          </a:xfrm>
          <a:prstGeom prst="roundRect">
            <a:avLst>
              <a:gd fmla="val 277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4"/>
          <p:cNvSpPr/>
          <p:nvPr/>
        </p:nvSpPr>
        <p:spPr>
          <a:xfrm>
            <a:off x="594360" y="1481328"/>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40" name="Google Shape;540;p24"/>
          <p:cNvPicPr preferRelativeResize="0"/>
          <p:nvPr/>
        </p:nvPicPr>
        <p:blipFill rotWithShape="1">
          <a:blip r:embed="rId3">
            <a:alphaModFix/>
          </a:blip>
          <a:srcRect b="0" l="0" r="0" t="0"/>
          <a:stretch/>
        </p:blipFill>
        <p:spPr>
          <a:xfrm>
            <a:off x="686532" y="1573500"/>
            <a:ext cx="199705" cy="199705"/>
          </a:xfrm>
          <a:prstGeom prst="rect">
            <a:avLst/>
          </a:prstGeom>
          <a:noFill/>
          <a:ln>
            <a:noFill/>
          </a:ln>
        </p:spPr>
      </p:pic>
      <p:sp>
        <p:nvSpPr>
          <p:cNvPr id="541" name="Google Shape;541;p24"/>
          <p:cNvSpPr txBox="1"/>
          <p:nvPr/>
        </p:nvSpPr>
        <p:spPr>
          <a:xfrm>
            <a:off x="594360" y="2011680"/>
            <a:ext cx="301752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1300"/>
              <a:buFont typeface="Play"/>
              <a:buNone/>
            </a:pPr>
            <a:r>
              <a:rPr b="1" i="0" lang="en-US" sz="1300" u="none" cap="none" strike="noStrike">
                <a:solidFill>
                  <a:srgbClr val="1D1D1F"/>
                </a:solidFill>
                <a:latin typeface="Play"/>
                <a:ea typeface="Play"/>
                <a:cs typeface="Play"/>
                <a:sym typeface="Play"/>
              </a:rPr>
              <a:t>Live ticket</a:t>
            </a:r>
            <a:endParaRPr b="0" i="0" sz="1300" u="none" cap="none" strike="noStrike">
              <a:solidFill>
                <a:schemeClr val="dk1"/>
              </a:solidFill>
              <a:latin typeface="Calibri"/>
              <a:ea typeface="Calibri"/>
              <a:cs typeface="Calibri"/>
              <a:sym typeface="Calibri"/>
            </a:endParaRPr>
          </a:p>
        </p:txBody>
      </p:sp>
      <p:sp>
        <p:nvSpPr>
          <p:cNvPr id="542" name="Google Shape;542;p24"/>
          <p:cNvSpPr txBox="1"/>
          <p:nvPr/>
        </p:nvSpPr>
        <p:spPr>
          <a:xfrm>
            <a:off x="594360" y="2350008"/>
            <a:ext cx="30175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1050"/>
              <a:buFont typeface="Arial"/>
              <a:buNone/>
            </a:pPr>
            <a:r>
              <a:rPr b="0" i="0" lang="en-US" sz="1050" u="none" cap="none" strike="noStrike">
                <a:solidFill>
                  <a:srgbClr val="6E6E73"/>
                </a:solidFill>
                <a:latin typeface="Arial"/>
                <a:ea typeface="Arial"/>
                <a:cs typeface="Arial"/>
                <a:sym typeface="Arial"/>
              </a:rPr>
              <a:t>Your trainer will provide a live ticket. Review it and investigate before you decide anything.</a:t>
            </a:r>
            <a:endParaRPr b="0" i="0" sz="1050" u="none" cap="none" strike="noStrike">
              <a:solidFill>
                <a:schemeClr val="dk1"/>
              </a:solidFill>
              <a:latin typeface="Calibri"/>
              <a:ea typeface="Calibri"/>
              <a:cs typeface="Calibri"/>
              <a:sym typeface="Calibri"/>
            </a:endParaRPr>
          </a:p>
        </p:txBody>
      </p:sp>
      <p:sp>
        <p:nvSpPr>
          <p:cNvPr id="543" name="Google Shape;543;p24"/>
          <p:cNvSpPr/>
          <p:nvPr/>
        </p:nvSpPr>
        <p:spPr>
          <a:xfrm>
            <a:off x="594360" y="3401568"/>
            <a:ext cx="1371600" cy="329184"/>
          </a:xfrm>
          <a:prstGeom prst="roundRect">
            <a:avLst>
              <a:gd fmla="val 22222" name="adj"/>
            </a:avLst>
          </a:prstGeom>
          <a:solidFill>
            <a:srgbClr val="FFF3D6"/>
          </a:solidFill>
          <a:ln cap="flat" cmpd="sng" w="9525">
            <a:solidFill>
              <a:srgbClr val="FFF3D6"/>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9A6410"/>
              </a:buClr>
              <a:buSzPts val="950"/>
              <a:buFont typeface="Arial"/>
              <a:buNone/>
            </a:pPr>
            <a:r>
              <a:rPr b="1" i="0" lang="en-US" sz="950" u="none" cap="none" strike="noStrike">
                <a:solidFill>
                  <a:srgbClr val="9A6410"/>
                </a:solidFill>
                <a:latin typeface="Arial"/>
                <a:ea typeface="Arial"/>
                <a:cs typeface="Arial"/>
                <a:sym typeface="Arial"/>
              </a:rPr>
              <a:t>Trainer provides</a:t>
            </a:r>
            <a:endParaRPr b="0" i="0" sz="950" u="none" cap="none" strike="noStrike">
              <a:solidFill>
                <a:schemeClr val="dk1"/>
              </a:solidFill>
              <a:latin typeface="Calibri"/>
              <a:ea typeface="Calibri"/>
              <a:cs typeface="Calibri"/>
              <a:sym typeface="Calibri"/>
            </a:endParaRPr>
          </a:p>
        </p:txBody>
      </p:sp>
      <p:sp>
        <p:nvSpPr>
          <p:cNvPr id="544" name="Google Shape;544;p24"/>
          <p:cNvSpPr/>
          <p:nvPr/>
        </p:nvSpPr>
        <p:spPr>
          <a:xfrm>
            <a:off x="3931920" y="1298448"/>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4"/>
          <p:cNvSpPr/>
          <p:nvPr/>
        </p:nvSpPr>
        <p:spPr>
          <a:xfrm>
            <a:off x="4114800"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4"/>
          <p:cNvSpPr txBox="1"/>
          <p:nvPr/>
        </p:nvSpPr>
        <p:spPr>
          <a:xfrm>
            <a:off x="4114800" y="155448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547" name="Google Shape;547;p24"/>
          <p:cNvSpPr txBox="1"/>
          <p:nvPr/>
        </p:nvSpPr>
        <p:spPr>
          <a:xfrm>
            <a:off x="4572000" y="1426464"/>
            <a:ext cx="39776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250"/>
              <a:buFont typeface="Play"/>
              <a:buNone/>
            </a:pPr>
            <a:r>
              <a:rPr b="1" i="0" lang="en-US" sz="1250" u="none" cap="none" strike="noStrike">
                <a:solidFill>
                  <a:srgbClr val="1D1D1F"/>
                </a:solidFill>
                <a:latin typeface="Play"/>
                <a:ea typeface="Play"/>
                <a:cs typeface="Play"/>
                <a:sym typeface="Play"/>
              </a:rPr>
              <a:t>Is it a valid biohazard or hoarder report?</a:t>
            </a:r>
            <a:endParaRPr b="0" i="0" sz="1250" u="none" cap="none" strike="noStrike">
              <a:solidFill>
                <a:schemeClr val="dk1"/>
              </a:solidFill>
              <a:latin typeface="Calibri"/>
              <a:ea typeface="Calibri"/>
              <a:cs typeface="Calibri"/>
              <a:sym typeface="Calibri"/>
            </a:endParaRPr>
          </a:p>
        </p:txBody>
      </p:sp>
      <p:sp>
        <p:nvSpPr>
          <p:cNvPr id="548" name="Google Shape;548;p24"/>
          <p:cNvSpPr txBox="1"/>
          <p:nvPr/>
        </p:nvSpPr>
        <p:spPr>
          <a:xfrm>
            <a:off x="4572000" y="1737360"/>
            <a:ext cx="3977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73"/>
              </a:buClr>
              <a:buSzPts val="1000"/>
              <a:buFont typeface="Arial"/>
              <a:buNone/>
            </a:pPr>
            <a:r>
              <a:rPr b="0" i="0" lang="en-US" sz="1000" u="none" cap="none" strike="noStrike">
                <a:solidFill>
                  <a:srgbClr val="6E6E73"/>
                </a:solidFill>
                <a:latin typeface="Arial"/>
                <a:ea typeface="Arial"/>
                <a:cs typeface="Arial"/>
                <a:sym typeface="Arial"/>
              </a:rPr>
              <a:t>Is there a CP-side T3 action item?</a:t>
            </a:r>
            <a:endParaRPr b="0" i="0" sz="1000" u="none" cap="none" strike="noStrike">
              <a:solidFill>
                <a:schemeClr val="dk1"/>
              </a:solidFill>
              <a:latin typeface="Calibri"/>
              <a:ea typeface="Calibri"/>
              <a:cs typeface="Calibri"/>
              <a:sym typeface="Calibri"/>
            </a:endParaRPr>
          </a:p>
        </p:txBody>
      </p:sp>
      <p:sp>
        <p:nvSpPr>
          <p:cNvPr id="549" name="Google Shape;549;p24"/>
          <p:cNvSpPr/>
          <p:nvPr/>
        </p:nvSpPr>
        <p:spPr>
          <a:xfrm>
            <a:off x="3931920" y="2221992"/>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4"/>
          <p:cNvSpPr/>
          <p:nvPr/>
        </p:nvSpPr>
        <p:spPr>
          <a:xfrm>
            <a:off x="4114800" y="247802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4"/>
          <p:cNvSpPr txBox="1"/>
          <p:nvPr/>
        </p:nvSpPr>
        <p:spPr>
          <a:xfrm>
            <a:off x="4114800" y="247802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552" name="Google Shape;552;p24"/>
          <p:cNvSpPr txBox="1"/>
          <p:nvPr/>
        </p:nvSpPr>
        <p:spPr>
          <a:xfrm>
            <a:off x="4572000" y="2350008"/>
            <a:ext cx="39776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250"/>
              <a:buFont typeface="Play"/>
              <a:buNone/>
            </a:pPr>
            <a:r>
              <a:rPr b="1" i="0" lang="en-US" sz="1250" u="none" cap="none" strike="noStrike">
                <a:solidFill>
                  <a:srgbClr val="1D1D1F"/>
                </a:solidFill>
                <a:latin typeface="Play"/>
                <a:ea typeface="Play"/>
                <a:cs typeface="Play"/>
                <a:sym typeface="Play"/>
              </a:rPr>
              <a:t>Which response are you on?</a:t>
            </a:r>
            <a:endParaRPr b="0" i="0" sz="1250" u="none" cap="none" strike="noStrike">
              <a:solidFill>
                <a:schemeClr val="dk1"/>
              </a:solidFill>
              <a:latin typeface="Calibri"/>
              <a:ea typeface="Calibri"/>
              <a:cs typeface="Calibri"/>
              <a:sym typeface="Calibri"/>
            </a:endParaRPr>
          </a:p>
        </p:txBody>
      </p:sp>
      <p:sp>
        <p:nvSpPr>
          <p:cNvPr id="553" name="Google Shape;553;p24"/>
          <p:cNvSpPr txBox="1"/>
          <p:nvPr/>
        </p:nvSpPr>
        <p:spPr>
          <a:xfrm>
            <a:off x="4572000" y="2660904"/>
            <a:ext cx="3977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73"/>
              </a:buClr>
              <a:buSzPts val="1000"/>
              <a:buFont typeface="Arial"/>
              <a:buNone/>
            </a:pPr>
            <a:r>
              <a:rPr b="0" i="0" lang="en-US" sz="1000" u="none" cap="none" strike="noStrike">
                <a:solidFill>
                  <a:srgbClr val="6E6E73"/>
                </a:solidFill>
                <a:latin typeface="Arial"/>
                <a:ea typeface="Arial"/>
                <a:cs typeface="Arial"/>
                <a:sym typeface="Arial"/>
              </a:rPr>
              <a:t>1st or 2nd? What's the membership status?</a:t>
            </a:r>
            <a:endParaRPr b="0" i="0" sz="1000" u="none" cap="none" strike="noStrike">
              <a:solidFill>
                <a:schemeClr val="dk1"/>
              </a:solidFill>
              <a:latin typeface="Calibri"/>
              <a:ea typeface="Calibri"/>
              <a:cs typeface="Calibri"/>
              <a:sym typeface="Calibri"/>
            </a:endParaRPr>
          </a:p>
        </p:txBody>
      </p:sp>
      <p:sp>
        <p:nvSpPr>
          <p:cNvPr id="554" name="Google Shape;554;p24"/>
          <p:cNvSpPr/>
          <p:nvPr/>
        </p:nvSpPr>
        <p:spPr>
          <a:xfrm>
            <a:off x="3931920" y="3145536"/>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4"/>
          <p:cNvSpPr/>
          <p:nvPr/>
        </p:nvSpPr>
        <p:spPr>
          <a:xfrm>
            <a:off x="4114800" y="340156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4"/>
          <p:cNvSpPr txBox="1"/>
          <p:nvPr/>
        </p:nvSpPr>
        <p:spPr>
          <a:xfrm>
            <a:off x="4114800" y="340156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6F"/>
              </a:buClr>
              <a:buSzPts val="900"/>
              <a:buFont typeface="Play"/>
              <a:buNone/>
            </a:pPr>
            <a:r>
              <a:rPr b="1" i="0" lang="en-US" sz="900" u="none" cap="none" strike="noStrike">
                <a:solidFill>
                  <a:srgbClr val="0B7A6F"/>
                </a:solidFill>
                <a:latin typeface="Play"/>
                <a:ea typeface="Play"/>
                <a:cs typeface="Play"/>
                <a:sym typeface="Play"/>
              </a:rPr>
              <a:t>3</a:t>
            </a:r>
            <a:endParaRPr b="0" i="0" sz="900" u="none" cap="none" strike="noStrike">
              <a:solidFill>
                <a:schemeClr val="dk1"/>
              </a:solidFill>
              <a:latin typeface="Calibri"/>
              <a:ea typeface="Calibri"/>
              <a:cs typeface="Calibri"/>
              <a:sym typeface="Calibri"/>
            </a:endParaRPr>
          </a:p>
        </p:txBody>
      </p:sp>
      <p:sp>
        <p:nvSpPr>
          <p:cNvPr id="557" name="Google Shape;557;p24"/>
          <p:cNvSpPr txBox="1"/>
          <p:nvPr/>
        </p:nvSpPr>
        <p:spPr>
          <a:xfrm>
            <a:off x="4572000" y="3273552"/>
            <a:ext cx="39776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250"/>
              <a:buFont typeface="Play"/>
              <a:buNone/>
            </a:pPr>
            <a:r>
              <a:rPr b="1" i="0" lang="en-US" sz="1250" u="none" cap="none" strike="noStrike">
                <a:solidFill>
                  <a:srgbClr val="1D1D1F"/>
                </a:solidFill>
                <a:latin typeface="Play"/>
                <a:ea typeface="Play"/>
                <a:cs typeface="Play"/>
                <a:sym typeface="Play"/>
              </a:rPr>
              <a:t>What actions are you going to take?</a:t>
            </a:r>
            <a:endParaRPr b="0" i="0" sz="1250" u="none" cap="none" strike="noStrike">
              <a:solidFill>
                <a:schemeClr val="dk1"/>
              </a:solidFill>
              <a:latin typeface="Calibri"/>
              <a:ea typeface="Calibri"/>
              <a:cs typeface="Calibri"/>
              <a:sym typeface="Calibri"/>
            </a:endParaRPr>
          </a:p>
        </p:txBody>
      </p:sp>
      <p:sp>
        <p:nvSpPr>
          <p:cNvPr id="558" name="Google Shape;558;p24"/>
          <p:cNvSpPr txBox="1"/>
          <p:nvPr/>
        </p:nvSpPr>
        <p:spPr>
          <a:xfrm>
            <a:off x="4572000" y="3584448"/>
            <a:ext cx="3977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73"/>
              </a:buClr>
              <a:buSzPts val="1000"/>
              <a:buFont typeface="Arial"/>
              <a:buNone/>
            </a:pPr>
            <a:r>
              <a:rPr b="0" i="0" lang="en-US" sz="1000" u="none" cap="none" strike="noStrike">
                <a:solidFill>
                  <a:srgbClr val="6E6E73"/>
                </a:solidFill>
                <a:latin typeface="Arial"/>
                <a:ea typeface="Arial"/>
                <a:cs typeface="Arial"/>
                <a:sym typeface="Arial"/>
              </a:rPr>
              <a:t>Jobs, flags, note, free month, TR, refund.</a:t>
            </a:r>
            <a:endParaRPr b="0" i="0" sz="1000" u="none" cap="none" strike="noStrike">
              <a:solidFill>
                <a:schemeClr val="dk1"/>
              </a:solidFill>
              <a:latin typeface="Calibri"/>
              <a:ea typeface="Calibri"/>
              <a:cs typeface="Calibri"/>
              <a:sym typeface="Calibri"/>
            </a:endParaRPr>
          </a:p>
        </p:txBody>
      </p:sp>
      <p:sp>
        <p:nvSpPr>
          <p:cNvPr id="559" name="Google Shape;559;p24"/>
          <p:cNvSpPr/>
          <p:nvPr/>
        </p:nvSpPr>
        <p:spPr>
          <a:xfrm>
            <a:off x="411480" y="4069080"/>
            <a:ext cx="8321040" cy="502920"/>
          </a:xfrm>
          <a:prstGeom prst="roundRect">
            <a:avLst>
              <a:gd fmla="val 14545" name="adj"/>
            </a:avLst>
          </a:prstGeom>
          <a:solidFill>
            <a:srgbClr val="0B7A6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60" name="Google Shape;560;p24"/>
          <p:cNvPicPr preferRelativeResize="0"/>
          <p:nvPr/>
        </p:nvPicPr>
        <p:blipFill rotWithShape="1">
          <a:blip r:embed="rId4">
            <a:alphaModFix/>
          </a:blip>
          <a:srcRect b="0" l="0" r="0" t="0"/>
          <a:stretch/>
        </p:blipFill>
        <p:spPr>
          <a:xfrm>
            <a:off x="640080" y="4192524"/>
            <a:ext cx="256032" cy="256032"/>
          </a:xfrm>
          <a:prstGeom prst="rect">
            <a:avLst/>
          </a:prstGeom>
          <a:noFill/>
          <a:ln>
            <a:noFill/>
          </a:ln>
        </p:spPr>
      </p:pic>
      <p:sp>
        <p:nvSpPr>
          <p:cNvPr id="561" name="Google Shape;561;p24"/>
          <p:cNvSpPr txBox="1"/>
          <p:nvPr/>
        </p:nvSpPr>
        <p:spPr>
          <a:xfrm>
            <a:off x="1051560" y="4069080"/>
            <a:ext cx="74980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Play"/>
              <a:buNone/>
            </a:pPr>
            <a:r>
              <a:rPr b="1" i="0" lang="en-US" sz="1400" u="none" cap="none" strike="noStrike">
                <a:solidFill>
                  <a:srgbClr val="FFFFFF"/>
                </a:solidFill>
                <a:latin typeface="Play"/>
                <a:ea typeface="Play"/>
                <a:cs typeface="Play"/>
                <a:sym typeface="Play"/>
              </a:rPr>
              <a:t>Questions?  </a:t>
            </a:r>
            <a:r>
              <a:rPr b="0" i="0" lang="en-US" sz="1100" u="none" cap="none" strike="noStrike">
                <a:solidFill>
                  <a:srgbClr val="FFFFFF"/>
                </a:solidFill>
                <a:latin typeface="Arial"/>
                <a:ea typeface="Arial"/>
                <a:cs typeface="Arial"/>
                <a:sym typeface="Arial"/>
              </a:rPr>
              <a:t>Open the floor before we move to the next topic.</a:t>
            </a:r>
            <a:endParaRPr b="0" i="0" sz="1400" u="none" cap="none" strike="noStrike">
              <a:solidFill>
                <a:schemeClr val="dk1"/>
              </a:solidFill>
              <a:latin typeface="Calibri"/>
              <a:ea typeface="Calibri"/>
              <a:cs typeface="Calibri"/>
              <a:sym typeface="Calibri"/>
            </a:endParaRPr>
          </a:p>
        </p:txBody>
      </p:sp>
      <p:sp>
        <p:nvSpPr>
          <p:cNvPr id="562" name="Google Shape;562;p2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25"/>
          <p:cNvSpPr txBox="1"/>
          <p:nvPr/>
        </p:nvSpPr>
        <p:spPr>
          <a:xfrm>
            <a:off x="566928" y="1737360"/>
            <a:ext cx="45720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569" name="Google Shape;569;p25"/>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D1D1F"/>
              </a:buClr>
              <a:buSzPts val="3400"/>
              <a:buFont typeface="Play"/>
              <a:buNone/>
            </a:pPr>
            <a:r>
              <a:rPr b="1" i="0" lang="en-US" sz="3400" u="none" cap="none" strike="noStrike">
                <a:solidFill>
                  <a:srgbClr val="1D1D1F"/>
                </a:solidFill>
                <a:latin typeface="Play"/>
                <a:ea typeface="Play"/>
                <a:cs typeface="Play"/>
                <a:sym typeface="Play"/>
              </a:rPr>
              <a:t>Thank you!</a:t>
            </a:r>
            <a:endParaRPr b="0" i="0" sz="3400" u="none" cap="none" strike="noStrike">
              <a:solidFill>
                <a:schemeClr val="dk1"/>
              </a:solidFill>
              <a:latin typeface="Calibri"/>
              <a:ea typeface="Calibri"/>
              <a:cs typeface="Calibri"/>
              <a:sym typeface="Calibri"/>
            </a:endParaRPr>
          </a:p>
        </p:txBody>
      </p:sp>
      <p:sp>
        <p:nvSpPr>
          <p:cNvPr id="570" name="Google Shape;570;p25"/>
          <p:cNvSpPr txBox="1"/>
          <p:nvPr/>
        </p:nvSpPr>
        <p:spPr>
          <a:xfrm>
            <a:off x="566928" y="2697480"/>
            <a:ext cx="42062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E73"/>
              </a:buClr>
              <a:buSzPts val="1200"/>
              <a:buFont typeface="Arial"/>
              <a:buNone/>
            </a:pPr>
            <a:r>
              <a:rPr b="0" i="0" lang="en-US"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571" name="Google Shape;571;p25"/>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5"/>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mp/claude-0/-workspace-training/3ce5cff6-cccf-5f33-b0ee-0b147a55120e/scratchpad/img8/ill9.png" id="573" name="Google Shape;573;p25"/>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574" name="Google Shape;574;p25"/>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5"/>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5"/>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5"/>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5"/>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5"/>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