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Offering something small, the customer declines, offering more, repeat: this creates a transactional, pushy experience that reduces trust. It also teaches customers that declining gets them a better offer, which isn't fair to customers who accept the first reasonable one. The fix isn't "never increase an offer"; any stronger offer must be tied to the customer's specific reason for wanting to cancel, not offered just because they said no to the last one. Also: an offer that doesn't address the customer's actual concern is unlikely to retain them and can cheapen the perceived value of the 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customer already mentioned their cancellation reason to someone else (told the CP, not you), still probe. This isn't ignoring information you have; it gives the customer the chance to express it directly to you. Customers given the opportunity to explain their own situation are more likely to be retained. Weak (assumption-based): "I'm sorry to hear you want to cancel, do you mind sharing why?" Strong (customer-led): "Your cleaner mentioned you want to cancel the service, but I'd like to hear directly from you. Would you mind sharing what led you to consider canceling?"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if the customer already gave a reason. If they did, go to the Retention Strategy Table for the applicable offer. If not, probe first; don't skip straight to offers. Then: acknowledge as necessary. Address the actual issue: a service issue means blocking the C/CP pairing and coaching or penalizing the CP as needed; a membership-terms issue means checking the Retention Strategy Table. Present retention offers where applicable. Remind them the voucher is valid for a year, so they can use it later. Remind them the voucher comes with a membership. If they have refund intent specifically, provide the self-refund link, and only then: tell them to enter the voucher code before clicking "Refund Voucher", and double-check the code in your message, since a wrong code breaks the refund. Check upcoming appointments and an active RC plan; if there's no sign they want to keep them, cancel via CRM with the correct cancellation reason code. If they decline and insist on a refund: refund the voucher through CRM (CRM &gt; voucher &gt; refund DHJ/FC) and invalidate it right away, advise the 5–10 business day timeframe, and deactivate the FC table if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2.xml"/><Relationship Id="rId5" Type="http://schemas.openxmlformats.org/officeDocument/2006/relationships/slide" Target="slide12.xml"/><Relationship Id="rId6" Type="http://schemas.openxmlformats.org/officeDocument/2006/relationships/slide" Target="slide12.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3.xml"/><Relationship Id="rId11" Type="http://schemas.openxmlformats.org/officeDocument/2006/relationships/slide" Target="slide33.xml"/><Relationship Id="rId12" Type="http://schemas.openxmlformats.org/officeDocument/2006/relationships/slide" Target="slide33.xml"/><Relationship Id="rId13" Type="http://schemas.openxmlformats.org/officeDocument/2006/relationships/slide" Target="slide51.xml"/><Relationship Id="rId14" Type="http://schemas.openxmlformats.org/officeDocument/2006/relationships/slide" Target="slide51.xml"/><Relationship Id="rId15" Type="http://schemas.openxmlformats.org/officeDocument/2006/relationships/slide" Target="slide51.xml"/><Relationship Id="rId16" Type="http://schemas.openxmlformats.org/officeDocument/2006/relationships/slide" Target="slide61.xml"/><Relationship Id="rId17" Type="http://schemas.openxmlformats.org/officeDocument/2006/relationships/slide" Target="slide61.xml"/><Relationship Id="rId18" Type="http://schemas.openxmlformats.org/officeDocument/2006/relationships/slide" Target="slide61.xml"/><Relationship Id="rId19" Type="http://schemas.openxmlformats.org/officeDocument/2006/relationships/slide" Target="slide70.xml"/><Relationship Id="rId20" Type="http://schemas.openxmlformats.org/officeDocument/2006/relationships/slide" Target="slide70.xml"/><Relationship Id="rId21" Type="http://schemas.openxmlformats.org/officeDocument/2006/relationships/slide" Target="slide70.xml"/><Relationship Id="rId22" Type="http://schemas.openxmlformats.org/officeDocument/2006/relationships/slideLayout" Target="../slideLayouts/slideLayout2.xml"/><Relationship Id="rId2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rive.google.com/file/d/1FNrb0bVkfw4z9XO_nxwU_teVxbLA2VtL/view?usp=sharing"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2.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2.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2.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2.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2.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slideLayout" Target="../slideLayouts/slideLayout2.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2.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2.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slideLayout" Target="../slideLayouts/slideLayout2.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slideLayout" Target="../slideLayouts/slideLayout2.xml"/><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slideLayout" Target="../slideLayouts/slideLayout2.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2.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slideLayout" Target="../slideLayouts/slideLayout2.xm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slideLayout" Target="../slideLayouts/slideLayout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Retention &amp;</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Membership</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Cancellation</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we decide when to retain, when to make an offer, and how to let a customer go fairly.</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7/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Click a topic to jump to it.</a:t>
            </a:r>
            <a:endParaRPr lang="en-US" sz="1200" dirty="0"/>
          </a:p>
        </p:txBody>
      </p:sp>
      <p:sp>
        <p:nvSpPr>
          <p:cNvPr id="6" name="Text 3">
            <a:hlinkClick r:id="rId1" tooltip="Go to Washington State: FC Cancellation" action="ppaction://hlinksldjump"/>
          </p:cNvPr>
          <p:cNvSpPr/>
          <p:nvPr/>
        </p:nvSpPr>
        <p:spPr>
          <a:xfrm>
            <a:off x="411480" y="129844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Washington State: FC Cancellation</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ETF $0, MCT 0. Cancel right away, no retention.</a:t>
            </a:r>
            <a:endParaRPr lang="en-US" sz="1300" dirty="0"/>
          </a:p>
        </p:txBody>
      </p:sp>
      <p:sp>
        <p:nvSpPr>
          <p:cNvPr id="7" name="Text 4">
            <a:hlinkClick r:id="rId2" tooltip="Go to Washington State: FC Cancellation" action="ppaction://hlinksldjump"/>
          </p:cNvPr>
          <p:cNvSpPr/>
          <p:nvPr/>
        </p:nvSpPr>
        <p:spPr>
          <a:xfrm>
            <a:off x="502920" y="129844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Washington State: FC Cancellation" action="ppaction://hlinksldjump"/>
          </p:cNvPr>
          <p:cNvSpPr/>
          <p:nvPr/>
        </p:nvSpPr>
        <p:spPr>
          <a:xfrm>
            <a:off x="4119372" y="129844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Understanding Offer Logic" action="ppaction://hlinksldjump"/>
          </p:cNvPr>
          <p:cNvSpPr/>
          <p:nvPr/>
        </p:nvSpPr>
        <p:spPr>
          <a:xfrm>
            <a:off x="411480" y="212140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Understanding Offer Logic</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What each offer is built to do, and when to use it.</a:t>
            </a:r>
            <a:endParaRPr lang="en-US" sz="1300" dirty="0"/>
          </a:p>
        </p:txBody>
      </p:sp>
      <p:sp>
        <p:nvSpPr>
          <p:cNvPr id="10" name="Text 7">
            <a:hlinkClick r:id="rId5" tooltip="Go to Understanding Offer Logic" action="ppaction://hlinksldjump"/>
          </p:cNvPr>
          <p:cNvSpPr/>
          <p:nvPr/>
        </p:nvSpPr>
        <p:spPr>
          <a:xfrm>
            <a:off x="502920" y="212140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Understanding Offer Logic" action="ppaction://hlinksldjump"/>
          </p:cNvPr>
          <p:cNvSpPr/>
          <p:nvPr/>
        </p:nvSpPr>
        <p:spPr>
          <a:xfrm>
            <a:off x="4119372" y="212140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Cancellation Intent in C/CP Comms" action="ppaction://hlinksldjump"/>
          </p:cNvPr>
          <p:cNvSpPr/>
          <p:nvPr/>
        </p:nvSpPr>
        <p:spPr>
          <a:xfrm>
            <a:off x="411480" y="294436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Cancellation Intent in C/CP Comms</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The customer told the CP, not us. Reach out first.</a:t>
            </a:r>
            <a:endParaRPr lang="en-US" sz="1300" dirty="0"/>
          </a:p>
        </p:txBody>
      </p:sp>
      <p:sp>
        <p:nvSpPr>
          <p:cNvPr id="13" name="Text 10">
            <a:hlinkClick r:id="rId8" tooltip="Go to Cancellation Intent in C/CP Comms" action="ppaction://hlinksldjump"/>
          </p:cNvPr>
          <p:cNvSpPr/>
          <p:nvPr/>
        </p:nvSpPr>
        <p:spPr>
          <a:xfrm>
            <a:off x="502920" y="294436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Cancellation Intent in C/CP Comms" action="ppaction://hlinksldjump"/>
          </p:cNvPr>
          <p:cNvSpPr/>
          <p:nvPr/>
        </p:nvSpPr>
        <p:spPr>
          <a:xfrm>
            <a:off x="4119372" y="294436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General Retention Playbook" action="ppaction://hlinksldjump"/>
          </p:cNvPr>
          <p:cNvSpPr/>
          <p:nvPr/>
        </p:nvSpPr>
        <p:spPr>
          <a:xfrm>
            <a:off x="411480" y="376732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General Retention Playbook</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Fix the real problem. Weigh the five key factors.</a:t>
            </a:r>
            <a:endParaRPr lang="en-US" sz="1300" dirty="0"/>
          </a:p>
        </p:txBody>
      </p:sp>
      <p:sp>
        <p:nvSpPr>
          <p:cNvPr id="16" name="Text 13">
            <a:hlinkClick r:id="rId11" tooltip="Go to General Retention Playbook" action="ppaction://hlinksldjump"/>
          </p:cNvPr>
          <p:cNvSpPr/>
          <p:nvPr/>
        </p:nvSpPr>
        <p:spPr>
          <a:xfrm>
            <a:off x="502920" y="376732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General Retention Playbook" action="ppaction://hlinksldjump"/>
          </p:cNvPr>
          <p:cNvSpPr/>
          <p:nvPr/>
        </p:nvSpPr>
        <p:spPr>
          <a:xfrm>
            <a:off x="4119372" y="376732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Unused DHJ Voucher" action="ppaction://hlinksldjump"/>
          </p:cNvPr>
          <p:cNvSpPr/>
          <p:nvPr/>
        </p:nvSpPr>
        <p:spPr>
          <a:xfrm>
            <a:off x="4640580" y="129844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Unused DHJ Voucher</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Bought, not used. Sort the request, then act.</a:t>
            </a:r>
            <a:endParaRPr lang="en-US" sz="1300" dirty="0"/>
          </a:p>
        </p:txBody>
      </p:sp>
      <p:sp>
        <p:nvSpPr>
          <p:cNvPr id="19" name="Text 16">
            <a:hlinkClick r:id="rId14" tooltip="Go to Unused DHJ Voucher" action="ppaction://hlinksldjump"/>
          </p:cNvPr>
          <p:cNvSpPr/>
          <p:nvPr/>
        </p:nvSpPr>
        <p:spPr>
          <a:xfrm>
            <a:off x="4732020" y="129844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Unused DHJ Voucher" action="ppaction://hlinksldjump"/>
          </p:cNvPr>
          <p:cNvSpPr/>
          <p:nvPr/>
        </p:nvSpPr>
        <p:spPr>
          <a:xfrm>
            <a:off x="8348472" y="129844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FCF Pre-Invoice Cancellation" action="ppaction://hlinksldjump"/>
          </p:cNvPr>
          <p:cNvSpPr/>
          <p:nvPr/>
        </p:nvSpPr>
        <p:spPr>
          <a:xfrm>
            <a:off x="4640580" y="212140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FCF Pre-Invoice Cancellation</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No completed job yet. Which refund applies?</a:t>
            </a:r>
            <a:endParaRPr lang="en-US" sz="1300" dirty="0"/>
          </a:p>
        </p:txBody>
      </p:sp>
      <p:sp>
        <p:nvSpPr>
          <p:cNvPr id="22" name="Text 19">
            <a:hlinkClick r:id="rId17" tooltip="Go to FCF Pre-Invoice Cancellation" action="ppaction://hlinksldjump"/>
          </p:cNvPr>
          <p:cNvSpPr/>
          <p:nvPr/>
        </p:nvSpPr>
        <p:spPr>
          <a:xfrm>
            <a:off x="4732020" y="212140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FCF Pre-Invoice Cancellation" action="ppaction://hlinksldjump"/>
          </p:cNvPr>
          <p:cNvSpPr/>
          <p:nvPr/>
        </p:nvSpPr>
        <p:spPr>
          <a:xfrm>
            <a:off x="8348472" y="212140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4" name="Text 21">
            <a:hlinkClick r:id="rId19" tooltip="Go to Trial &amp; One-Time Cleaning" action="ppaction://hlinksldjump"/>
          </p:cNvPr>
          <p:cNvSpPr/>
          <p:nvPr/>
        </p:nvSpPr>
        <p:spPr>
          <a:xfrm>
            <a:off x="4640580" y="2944368"/>
            <a:ext cx="4091940" cy="731520"/>
          </a:xfrm>
          <a:prstGeom prst="roundRect">
            <a:avLst>
              <a:gd name="adj" fmla="val 7500"/>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Trial &amp; One-Time Cleaning</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Alternatives to a full membership.</a:t>
            </a:r>
            <a:endParaRPr lang="en-US" sz="1300" dirty="0"/>
          </a:p>
        </p:txBody>
      </p:sp>
      <p:sp>
        <p:nvSpPr>
          <p:cNvPr id="25" name="Text 22">
            <a:hlinkClick r:id="rId20" tooltip="Go to Trial &amp; One-Time Cleaning" action="ppaction://hlinksldjump"/>
          </p:cNvPr>
          <p:cNvSpPr/>
          <p:nvPr/>
        </p:nvSpPr>
        <p:spPr>
          <a:xfrm>
            <a:off x="4732020" y="2944368"/>
            <a:ext cx="502920" cy="73152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07</a:t>
            </a:r>
            <a:endParaRPr lang="en-US" sz="1600" dirty="0"/>
          </a:p>
        </p:txBody>
      </p:sp>
      <p:sp>
        <p:nvSpPr>
          <p:cNvPr id="26" name="Text 23">
            <a:hlinkClick r:id="rId21" tooltip="Go to Trial &amp; One-Time Cleaning" action="ppaction://hlinksldjump"/>
          </p:cNvPr>
          <p:cNvSpPr/>
          <p:nvPr/>
        </p:nvSpPr>
        <p:spPr>
          <a:xfrm>
            <a:off x="8348472" y="2944368"/>
            <a:ext cx="320040" cy="73152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Washington State: FC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temporary, state-specific override of standard ETF and MCT handling.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it applies to</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there's no ETF talk and no retention</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5-step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Edge cases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For WA customers, the system already set the fee and the term to zero.</a:t>
            </a:r>
            <a:endParaRPr lang="en-US" sz="1200" dirty="0"/>
          </a:p>
        </p:txBody>
      </p:sp>
      <p:sp>
        <p:nvSpPr>
          <p:cNvPr id="6" name="Shape 3"/>
          <p:cNvSpPr/>
          <p:nvPr/>
        </p:nvSpPr>
        <p:spPr>
          <a:xfrm>
            <a:off x="411480" y="1325880"/>
            <a:ext cx="26822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$0</a:t>
            </a:r>
            <a:endParaRPr lang="en-US" sz="3000" dirty="0"/>
          </a:p>
        </p:txBody>
      </p:sp>
      <p:sp>
        <p:nvSpPr>
          <p:cNvPr id="8" name="Text 5"/>
          <p:cNvSpPr txBox="1"/>
          <p:nvPr/>
        </p:nvSpPr>
        <p:spPr>
          <a:xfrm>
            <a:off x="594360" y="2148840"/>
            <a:ext cx="23164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ETF for every WA customer</a:t>
            </a:r>
            <a:endParaRPr lang="en-US" sz="1000" dirty="0"/>
          </a:p>
        </p:txBody>
      </p:sp>
      <p:sp>
        <p:nvSpPr>
          <p:cNvPr id="9" name="Shape 6"/>
          <p:cNvSpPr/>
          <p:nvPr/>
        </p:nvSpPr>
        <p:spPr>
          <a:xfrm>
            <a:off x="3230880" y="1325880"/>
            <a:ext cx="26822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0</a:t>
            </a:r>
            <a:endParaRPr lang="en-US" sz="3000" dirty="0"/>
          </a:p>
        </p:txBody>
      </p:sp>
      <p:sp>
        <p:nvSpPr>
          <p:cNvPr id="11" name="Text 8"/>
          <p:cNvSpPr txBox="1"/>
          <p:nvPr/>
        </p:nvSpPr>
        <p:spPr>
          <a:xfrm>
            <a:off x="3413760" y="2148840"/>
            <a:ext cx="23164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months of MCT</a:t>
            </a:r>
            <a:endParaRPr lang="en-US" sz="1000" dirty="0"/>
          </a:p>
        </p:txBody>
      </p:sp>
      <p:sp>
        <p:nvSpPr>
          <p:cNvPr id="12" name="Shape 9"/>
          <p:cNvSpPr/>
          <p:nvPr/>
        </p:nvSpPr>
        <p:spPr>
          <a:xfrm>
            <a:off x="6050280" y="1325880"/>
            <a:ext cx="2682240" cy="1325880"/>
          </a:xfrm>
          <a:prstGeom prst="roundRect">
            <a:avLst>
              <a:gd name="adj" fmla="val 5517"/>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May 11</a:t>
            </a:r>
            <a:endParaRPr lang="en-US" sz="3000" dirty="0"/>
          </a:p>
        </p:txBody>
      </p:sp>
      <p:sp>
        <p:nvSpPr>
          <p:cNvPr id="14" name="Text 11"/>
          <p:cNvSpPr txBox="1"/>
          <p:nvPr/>
        </p:nvSpPr>
        <p:spPr>
          <a:xfrm>
            <a:off x="6233160" y="2148840"/>
            <a:ext cx="23164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Effective 2026. Existing and new customers, any membership type</a:t>
            </a:r>
            <a:endParaRPr lang="en-US" sz="1000" dirty="0"/>
          </a:p>
        </p:txBody>
      </p:sp>
      <p:sp>
        <p:nvSpPr>
          <p:cNvPr id="15" name="Shape 12"/>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7" name="Text 13"/>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 residency first:  </a:t>
            </a:r>
            <a:r>
              <a:rPr lang="en-US" sz="1000" dirty="0">
                <a:solidFill>
                  <a:srgbClr val="1D1D1F"/>
                </a:solidFill>
                <a:latin typeface="SF Pro Text" pitchFamily="34" charset="0"/>
                <a:ea typeface="SF Pro Text" pitchFamily="34" charset="-122"/>
                <a:cs typeface="SF Pro Text" pitchFamily="34" charset="-120"/>
              </a:rPr>
              <a:t>mentioning the WA lawsuit isn't enough. Only where they live counts.</a:t>
            </a:r>
            <a:endParaRPr lang="en-US" sz="1000" dirty="0"/>
          </a:p>
        </p:txBody>
      </p:sp>
      <p:sp>
        <p:nvSpPr>
          <p:cNvPr id="18" name="Shape 14"/>
          <p:cNvSpPr/>
          <p:nvPr/>
        </p:nvSpPr>
        <p:spPr>
          <a:xfrm>
            <a:off x="411480" y="3401568"/>
            <a:ext cx="8321040" cy="384048"/>
          </a:xfrm>
          <a:prstGeom prst="roundRect">
            <a:avLst>
              <a:gd name="adj" fmla="val 19048"/>
            </a:avLst>
          </a:prstGeom>
          <a:solidFill>
            <a:srgbClr val="FCEBEA"/>
          </a:solidFill>
          <a:ln w="9525">
            <a:solidFill>
              <a:srgbClr val="B3261E"/>
            </a:solidFill>
            <a:prstDash val="solid"/>
          </a:ln>
        </p:spPr>
      </p:sp>
      <p:pic>
        <p:nvPicPr>
          <p:cNvPr id="19" name="Image 1" descr="preencoded.png">    </p:cNvPr>
          <p:cNvPicPr>
            <a:picLocks noChangeAspect="1"/>
          </p:cNvPicPr>
          <p:nvPr/>
        </p:nvPicPr>
        <p:blipFill>
          <a:blip r:embed="rId2"/>
          <a:stretch>
            <a:fillRect/>
          </a:stretch>
        </p:blipFill>
        <p:spPr>
          <a:xfrm>
            <a:off x="566928" y="3511296"/>
            <a:ext cx="164592" cy="164592"/>
          </a:xfrm>
          <a:prstGeom prst="rect">
            <a:avLst/>
          </a:prstGeom>
        </p:spPr>
      </p:pic>
      <p:sp>
        <p:nvSpPr>
          <p:cNvPr id="20" name="Text 15"/>
          <p:cNvSpPr txBox="1"/>
          <p:nvPr/>
        </p:nvSpPr>
        <p:spPr>
          <a:xfrm>
            <a:off x="822960" y="3401568"/>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Zero Tolerance Policy:  </a:t>
            </a:r>
            <a:r>
              <a:rPr lang="en-US" sz="1000" dirty="0">
                <a:solidFill>
                  <a:srgbClr val="1D1D1F"/>
                </a:solidFill>
                <a:latin typeface="SF Pro Text" pitchFamily="34" charset="0"/>
                <a:ea typeface="SF Pro Text" pitchFamily="34" charset="-122"/>
                <a:cs typeface="SF Pro Text" pitchFamily="34" charset="-120"/>
              </a:rPr>
              <a:t>mishandling a WA cancellation request is a ZTP violation.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it's handled differently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legal and regulatory situation, not a more sympathetic customer.</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waived</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ETF $0 and MCT 0 are set on the account. You confirm it and act on it.</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mention the ETF</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 to explain it, not to say it's waived. Nothing to discuss.</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retention</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path to cancel must be as friction-free as possible.</a:t>
            </a:r>
            <a:endParaRPr lang="en-US" sz="950" dirty="0"/>
          </a:p>
        </p:txBody>
      </p:sp>
      <p:sp>
        <p:nvSpPr>
          <p:cNvPr id="21" name="Text 15"/>
          <p:cNvSpPr txBox="1"/>
          <p:nvPr/>
        </p:nvSpPr>
        <p:spPr>
          <a:xfrm>
            <a:off x="411480" y="3383280"/>
            <a:ext cx="3657600" cy="182880"/>
          </a:xfrm>
          <a:prstGeom prst="rect">
            <a:avLst/>
          </a:prstGeom>
          <a:noFill/>
          <a:ln/>
        </p:spPr>
        <p:txBody>
          <a:bodyPr wrap="square" lIns="0" tIns="0" rIns="0" bIns="0" rtlCol="0" anchor="t"/>
          <a:lstStyle/>
          <a:p>
            <a:pPr indent="0" marL="0">
              <a:buNone/>
            </a:pPr>
            <a:r>
              <a:rPr lang="en-US" sz="800" b="1" spc="50" kern="0" dirty="0">
                <a:solidFill>
                  <a:srgbClr val="B3261E"/>
                </a:solidFill>
                <a:latin typeface="SF Pro Display" pitchFamily="34" charset="0"/>
                <a:ea typeface="SF Pro Display" pitchFamily="34" charset="-122"/>
                <a:cs typeface="SF Pro Display" pitchFamily="34" charset="-120"/>
              </a:rPr>
              <a:t>ZTP VIOLATIONS</a:t>
            </a:r>
            <a:endParaRPr lang="en-US" sz="800" dirty="0"/>
          </a:p>
        </p:txBody>
      </p:sp>
      <p:sp>
        <p:nvSpPr>
          <p:cNvPr id="22" name="Text 16"/>
          <p:cNvSpPr/>
          <p:nvPr/>
        </p:nvSpPr>
        <p:spPr>
          <a:xfrm>
            <a:off x="41148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Applying an ETF</a:t>
            </a:r>
            <a:endParaRPr lang="en-US" sz="900" dirty="0"/>
          </a:p>
        </p:txBody>
      </p:sp>
      <p:sp>
        <p:nvSpPr>
          <p:cNvPr id="23" name="Text 17"/>
          <p:cNvSpPr/>
          <p:nvPr/>
        </p:nvSpPr>
        <p:spPr>
          <a:xfrm>
            <a:off x="251460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Citing MCT to delay</a:t>
            </a:r>
            <a:endParaRPr lang="en-US" sz="900" dirty="0"/>
          </a:p>
        </p:txBody>
      </p:sp>
      <p:sp>
        <p:nvSpPr>
          <p:cNvPr id="24" name="Text 18"/>
          <p:cNvSpPr/>
          <p:nvPr/>
        </p:nvSpPr>
        <p:spPr>
          <a:xfrm>
            <a:off x="461772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Retention offers before cancelling</a:t>
            </a:r>
            <a:endParaRPr lang="en-US" sz="900" dirty="0"/>
          </a:p>
        </p:txBody>
      </p:sp>
      <p:sp>
        <p:nvSpPr>
          <p:cNvPr id="25" name="Text 19"/>
          <p:cNvSpPr/>
          <p:nvPr/>
        </p:nvSpPr>
        <p:spPr>
          <a:xfrm>
            <a:off x="672084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Disclosing ETF/MCT as if they apply</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 - Steps 1-2</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then cancel immediately.</a:t>
            </a:r>
            <a:endParaRPr lang="en-US" sz="1200" dirty="0"/>
          </a:p>
        </p:txBody>
      </p:sp>
      <p:sp>
        <p:nvSpPr>
          <p:cNvPr id="6" name="Shape 3"/>
          <p:cNvSpPr/>
          <p:nvPr/>
        </p:nvSpPr>
        <p:spPr>
          <a:xfrm>
            <a:off x="411480" y="1325880"/>
            <a:ext cx="1920240" cy="548640"/>
          </a:xfrm>
          <a:prstGeom prst="roundRect">
            <a:avLst>
              <a:gd name="adj" fmla="val 13333"/>
            </a:avLst>
          </a:prstGeom>
          <a:solidFill>
            <a:srgbClr val="FFFFFF"/>
          </a:solidFill>
          <a:ln w="12700">
            <a:solidFill>
              <a:srgbClr val="DCE1E7"/>
            </a:solidFill>
            <a:prstDash val="solid"/>
          </a:ln>
        </p:spPr>
      </p:sp>
      <p:sp>
        <p:nvSpPr>
          <p:cNvPr id="7" name="Text 4"/>
          <p:cNvSpPr txBox="1"/>
          <p:nvPr/>
        </p:nvSpPr>
        <p:spPr>
          <a:xfrm>
            <a:off x="411480" y="132588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they live in WA</a:t>
            </a:r>
            <a:endParaRPr lang="en-US" sz="1000" dirty="0"/>
          </a:p>
        </p:txBody>
      </p:sp>
      <p:sp>
        <p:nvSpPr>
          <p:cNvPr id="8" name="Shape 5"/>
          <p:cNvSpPr/>
          <p:nvPr/>
        </p:nvSpPr>
        <p:spPr>
          <a:xfrm>
            <a:off x="2331720" y="1600200"/>
            <a:ext cx="213055" cy="0"/>
          </a:xfrm>
          <a:prstGeom prst="line">
            <a:avLst/>
          </a:prstGeom>
          <a:noFill/>
          <a:ln w="12700">
            <a:solidFill>
              <a:srgbClr val="6E6E73"/>
            </a:solidFill>
            <a:prstDash val="solid"/>
            <a:tailEnd type="triangle"/>
          </a:ln>
        </p:spPr>
      </p:sp>
      <p:sp>
        <p:nvSpPr>
          <p:cNvPr id="9" name="Shape 6"/>
          <p:cNvSpPr/>
          <p:nvPr/>
        </p:nvSpPr>
        <p:spPr>
          <a:xfrm>
            <a:off x="2544775" y="1325880"/>
            <a:ext cx="1920240" cy="548640"/>
          </a:xfrm>
          <a:prstGeom prst="roundRect">
            <a:avLst>
              <a:gd name="adj" fmla="val 13333"/>
            </a:avLst>
          </a:prstGeom>
          <a:solidFill>
            <a:srgbClr val="FFF3D6"/>
          </a:solidFill>
          <a:ln w="12700">
            <a:solidFill>
              <a:srgbClr val="9A6410"/>
            </a:solidFill>
            <a:prstDash val="solid"/>
          </a:ln>
        </p:spPr>
      </p:sp>
      <p:sp>
        <p:nvSpPr>
          <p:cNvPr id="10" name="Text 7"/>
          <p:cNvSpPr txBox="1"/>
          <p:nvPr/>
        </p:nvSpPr>
        <p:spPr>
          <a:xfrm>
            <a:off x="2544775" y="1325880"/>
            <a:ext cx="192024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MCT 0, ETF $0</a:t>
            </a:r>
            <a:endParaRPr lang="en-US" sz="1000" dirty="0"/>
          </a:p>
        </p:txBody>
      </p:sp>
      <p:sp>
        <p:nvSpPr>
          <p:cNvPr id="11" name="Shape 8"/>
          <p:cNvSpPr/>
          <p:nvPr/>
        </p:nvSpPr>
        <p:spPr>
          <a:xfrm>
            <a:off x="4465015" y="1600200"/>
            <a:ext cx="213055" cy="0"/>
          </a:xfrm>
          <a:prstGeom prst="line">
            <a:avLst/>
          </a:prstGeom>
          <a:noFill/>
          <a:ln w="12700">
            <a:solidFill>
              <a:srgbClr val="6E6E73"/>
            </a:solidFill>
            <a:prstDash val="solid"/>
            <a:tailEnd type="triangle"/>
          </a:ln>
        </p:spPr>
      </p:sp>
      <p:sp>
        <p:nvSpPr>
          <p:cNvPr id="12" name="Shape 9"/>
          <p:cNvSpPr/>
          <p:nvPr/>
        </p:nvSpPr>
        <p:spPr>
          <a:xfrm>
            <a:off x="4678070" y="1325880"/>
            <a:ext cx="1920240" cy="548640"/>
          </a:xfrm>
          <a:prstGeom prst="roundRect">
            <a:avLst>
              <a:gd name="adj" fmla="val 13333"/>
            </a:avLst>
          </a:prstGeom>
          <a:solidFill>
            <a:srgbClr val="FFFFFF"/>
          </a:solidFill>
          <a:ln w="12700">
            <a:solidFill>
              <a:srgbClr val="DCE1E7"/>
            </a:solidFill>
            <a:prstDash val="solid"/>
          </a:ln>
        </p:spPr>
      </p:sp>
      <p:sp>
        <p:nvSpPr>
          <p:cNvPr id="13" name="Text 10"/>
          <p:cNvSpPr txBox="1"/>
          <p:nvPr/>
        </p:nvSpPr>
        <p:spPr>
          <a:xfrm>
            <a:off x="4678070" y="132588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intent. No retention</a:t>
            </a:r>
            <a:endParaRPr lang="en-US" sz="1000" dirty="0"/>
          </a:p>
        </p:txBody>
      </p:sp>
      <p:sp>
        <p:nvSpPr>
          <p:cNvPr id="14" name="Shape 11"/>
          <p:cNvSpPr/>
          <p:nvPr/>
        </p:nvSpPr>
        <p:spPr>
          <a:xfrm>
            <a:off x="6598310" y="1600200"/>
            <a:ext cx="213055" cy="0"/>
          </a:xfrm>
          <a:prstGeom prst="line">
            <a:avLst/>
          </a:prstGeom>
          <a:noFill/>
          <a:ln w="12700">
            <a:solidFill>
              <a:srgbClr val="6E6E73"/>
            </a:solidFill>
            <a:prstDash val="solid"/>
            <a:tailEnd type="triangle"/>
          </a:ln>
        </p:spPr>
      </p:sp>
      <p:sp>
        <p:nvSpPr>
          <p:cNvPr id="15" name="Shape 12"/>
          <p:cNvSpPr/>
          <p:nvPr/>
        </p:nvSpPr>
        <p:spPr>
          <a:xfrm>
            <a:off x="6811366" y="1325880"/>
            <a:ext cx="1920240" cy="548640"/>
          </a:xfrm>
          <a:prstGeom prst="roundRect">
            <a:avLst>
              <a:gd name="adj" fmla="val 13333"/>
            </a:avLst>
          </a:prstGeom>
          <a:solidFill>
            <a:srgbClr val="0B7A6F"/>
          </a:solidFill>
          <a:ln w="12700">
            <a:solidFill>
              <a:srgbClr val="0B7A6F"/>
            </a:solidFill>
            <a:prstDash val="solid"/>
          </a:ln>
        </p:spPr>
      </p:sp>
      <p:sp>
        <p:nvSpPr>
          <p:cNvPr id="16" name="Text 13"/>
          <p:cNvSpPr txBox="1"/>
          <p:nvPr/>
        </p:nvSpPr>
        <p:spPr>
          <a:xfrm>
            <a:off x="6811366" y="1325880"/>
            <a:ext cx="1920240" cy="548640"/>
          </a:xfrm>
          <a:prstGeom prst="rect">
            <a:avLst/>
          </a:prstGeom>
          <a:noFill/>
          <a:ln/>
        </p:spPr>
        <p:txBody>
          <a:bodyPr wrap="square" lIns="0" tIns="0" rIns="0" bIns="0" rtlCol="0" anchor="ctr"/>
          <a:lstStyle/>
          <a:p>
            <a:pPr algn="ctr" indent="0" marL="0">
              <a:buNone/>
            </a:pPr>
            <a:endParaRPr lang="en-US" sz="1000" dirty="0"/>
          </a:p>
        </p:txBody>
      </p:sp>
      <p:sp>
        <p:nvSpPr>
          <p:cNvPr id="17" name="Text 14"/>
          <p:cNvSpPr txBox="1"/>
          <p:nvPr/>
        </p:nvSpPr>
        <p:spPr>
          <a:xfrm>
            <a:off x="6811366" y="1344168"/>
            <a:ext cx="1920240" cy="301752"/>
          </a:xfrm>
          <a:prstGeom prst="rect">
            <a:avLst/>
          </a:prstGeom>
          <a:noFill/>
          <a:ln/>
        </p:spPr>
        <p:txBody>
          <a:bodyPr wrap="square" lIns="0" tIns="0" rIns="0" bIns="0" rtlCol="0" anchor="b"/>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 FC immediately</a:t>
            </a:r>
            <a:endParaRPr lang="en-US" sz="1000" dirty="0"/>
          </a:p>
        </p:txBody>
      </p:sp>
      <p:sp>
        <p:nvSpPr>
          <p:cNvPr id="18" name="keepU_watch">
            <a:hlinkClick r:id="rId1" tooltip="Play: cancel FC for a WA customer"/>
          </p:cNvPr>
          <p:cNvSpPr/>
          <p:nvPr/>
        </p:nvSpPr>
        <p:spPr>
          <a:xfrm>
            <a:off x="7222846" y="1673352"/>
            <a:ext cx="1097280" cy="164592"/>
          </a:xfrm>
          <a:prstGeom prst="rect">
            <a:avLst/>
          </a:prstGeom>
          <a:noFill/>
          <a:ln/>
        </p:spPr>
        <p:txBody>
          <a:bodyPr wrap="square" lIns="0" tIns="0" rIns="0" bIns="0" rtlCol="0" anchor="ctr"/>
          <a:lstStyle/>
          <a:p>
            <a:pPr algn="ctr" indent="0" marL="0">
              <a:buNone/>
            </a:pPr>
            <a:r>
              <a:rPr lang="en-US" sz="900" b="1" u="sng" dirty="0">
                <a:solidFill>
                  <a:srgbClr val="B6D7A8"/>
                </a:solidFill>
                <a:latin typeface="SF Pro Text" pitchFamily="34" charset="0"/>
                <a:ea typeface="SF Pro Text" pitchFamily="34" charset="-122"/>
                <a:cs typeface="SF Pro Text" pitchFamily="34" charset="-120"/>
              </a:rPr>
              <a:t>▷ Watch &amp; Learn</a:t>
            </a:r>
            <a:endParaRPr lang="en-US" sz="900" dirty="0"/>
          </a:p>
        </p:txBody>
      </p:sp>
      <p:sp>
        <p:nvSpPr>
          <p:cNvPr id="19" name="Shape 16"/>
          <p:cNvSpPr/>
          <p:nvPr/>
        </p:nvSpPr>
        <p:spPr>
          <a:xfrm>
            <a:off x="3504895" y="1874520"/>
            <a:ext cx="0" cy="228600"/>
          </a:xfrm>
          <a:prstGeom prst="line">
            <a:avLst/>
          </a:prstGeom>
          <a:noFill/>
          <a:ln w="12700">
            <a:solidFill>
              <a:srgbClr val="6E6E73"/>
            </a:solidFill>
            <a:prstDash val="solid"/>
            <a:tailEnd type="triangle"/>
          </a:ln>
        </p:spPr>
      </p:sp>
      <p:sp>
        <p:nvSpPr>
          <p:cNvPr id="20" name="Text 17"/>
          <p:cNvSpPr/>
          <p:nvPr/>
        </p:nvSpPr>
        <p:spPr>
          <a:xfrm>
            <a:off x="2133295" y="2103120"/>
            <a:ext cx="2743200" cy="365760"/>
          </a:xfrm>
          <a:prstGeom prst="roundRect">
            <a:avLst>
              <a:gd name="adj" fmla="val 20000"/>
            </a:avLst>
          </a:prstGeom>
          <a:solidFill>
            <a:srgbClr val="FCEBEA"/>
          </a:solidFill>
          <a:ln w="9525">
            <a:solidFill>
              <a:srgbClr val="B3261E"/>
            </a:solidFill>
          </a:ln>
        </p:spPr>
        <p:txBody>
          <a:bodyPr wrap="square" lIns="0" tIns="0" rIns="0" bIns="0" rtlCol="0" anchor="ctr"/>
          <a:lstStyle/>
          <a:p>
            <a:pPr algn="ctr" indent="0" marL="0">
              <a:buNone/>
            </a:pPr>
            <a:r>
              <a:rPr lang="en-US" sz="900" b="1" dirty="0">
                <a:solidFill>
                  <a:srgbClr val="B3261E"/>
                </a:solidFill>
                <a:latin typeface="SF Pro Display" pitchFamily="34" charset="0"/>
                <a:ea typeface="SF Pro Display" pitchFamily="34" charset="-122"/>
                <a:cs typeface="SF Pro Display" pitchFamily="34" charset="-120"/>
              </a:rPr>
              <a:t>Not set? Escalate to TL/Support. Don't fix it yourself.</a:t>
            </a:r>
            <a:endParaRPr lang="en-US" sz="900" dirty="0"/>
          </a:p>
        </p:txBody>
      </p:sp>
      <p:sp>
        <p:nvSpPr>
          <p:cNvPr id="21" name="Text 18"/>
          <p:cNvSpPr txBox="1"/>
          <p:nvPr/>
        </p:nvSpPr>
        <p:spPr>
          <a:xfrm>
            <a:off x="411480" y="2670048"/>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IN YOUR REPLY</a:t>
            </a:r>
            <a:endParaRPr lang="en-US" sz="800" dirty="0"/>
          </a:p>
        </p:txBody>
      </p:sp>
      <p:sp>
        <p:nvSpPr>
          <p:cNvPr id="22" name="Shape 19"/>
          <p:cNvSpPr/>
          <p:nvPr/>
        </p:nvSpPr>
        <p:spPr>
          <a:xfrm>
            <a:off x="411480" y="2880360"/>
            <a:ext cx="4160520" cy="457200"/>
          </a:xfrm>
          <a:prstGeom prst="roundRect">
            <a:avLst>
              <a:gd name="adj" fmla="val 16000"/>
            </a:avLst>
          </a:prstGeom>
          <a:solidFill>
            <a:srgbClr val="FFFFFF"/>
          </a:solidFill>
          <a:ln w="9525">
            <a:solidFill>
              <a:srgbClr val="DCE1E7"/>
            </a:solidFill>
            <a:prstDash val="solid"/>
          </a:ln>
        </p:spPr>
      </p:sp>
      <p:sp>
        <p:nvSpPr>
          <p:cNvPr id="23" name="Shape 20"/>
          <p:cNvSpPr/>
          <p:nvPr/>
        </p:nvSpPr>
        <p:spPr>
          <a:xfrm>
            <a:off x="530352" y="2971800"/>
            <a:ext cx="274320" cy="274320"/>
          </a:xfrm>
          <a:prstGeom prst="ellipse">
            <a:avLst/>
          </a:prstGeom>
          <a:solidFill>
            <a:srgbClr val="E3F4F1"/>
          </a:solidFill>
          <a:ln w="12700">
            <a:solidFill>
              <a:srgbClr val="E3F4F1"/>
            </a:solidFill>
            <a:prstDash val="solid"/>
          </a:ln>
        </p:spPr>
      </p:sp>
      <p:sp>
        <p:nvSpPr>
          <p:cNvPr id="24" name="Text 21"/>
          <p:cNvSpPr txBox="1"/>
          <p:nvPr/>
        </p:nvSpPr>
        <p:spPr>
          <a:xfrm>
            <a:off x="530352" y="2971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25" name="Text 22"/>
          <p:cNvSpPr txBox="1"/>
          <p:nvPr/>
        </p:nvSpPr>
        <p:spPr>
          <a:xfrm>
            <a:off x="914400" y="2880360"/>
            <a:ext cx="35661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Confirm it's cancelled  </a:t>
            </a:r>
            <a:r>
              <a:rPr lang="en-US" sz="900" dirty="0">
                <a:solidFill>
                  <a:srgbClr val="6E6E73"/>
                </a:solidFill>
                <a:latin typeface="SF Pro Text" pitchFamily="34" charset="0"/>
                <a:ea typeface="SF Pro Text" pitchFamily="34" charset="-122"/>
                <a:cs typeface="SF Pro Text" pitchFamily="34" charset="-120"/>
              </a:rPr>
              <a:t>Say the membership is cancelled.</a:t>
            </a:r>
            <a:endParaRPr lang="en-US" sz="1050" dirty="0"/>
          </a:p>
        </p:txBody>
      </p:sp>
      <p:sp>
        <p:nvSpPr>
          <p:cNvPr id="26" name="Shape 23"/>
          <p:cNvSpPr/>
          <p:nvPr/>
        </p:nvSpPr>
        <p:spPr>
          <a:xfrm>
            <a:off x="411480" y="3410712"/>
            <a:ext cx="4160520" cy="457200"/>
          </a:xfrm>
          <a:prstGeom prst="roundRect">
            <a:avLst>
              <a:gd name="adj" fmla="val 16000"/>
            </a:avLst>
          </a:prstGeom>
          <a:solidFill>
            <a:srgbClr val="FFFFFF"/>
          </a:solidFill>
          <a:ln w="9525">
            <a:solidFill>
              <a:srgbClr val="DCE1E7"/>
            </a:solidFill>
            <a:prstDash val="solid"/>
          </a:ln>
        </p:spPr>
      </p:sp>
      <p:sp>
        <p:nvSpPr>
          <p:cNvPr id="27" name="Shape 24"/>
          <p:cNvSpPr/>
          <p:nvPr/>
        </p:nvSpPr>
        <p:spPr>
          <a:xfrm>
            <a:off x="530352" y="3502152"/>
            <a:ext cx="274320" cy="274320"/>
          </a:xfrm>
          <a:prstGeom prst="ellipse">
            <a:avLst/>
          </a:prstGeom>
          <a:solidFill>
            <a:srgbClr val="E3F4F1"/>
          </a:solidFill>
          <a:ln w="12700">
            <a:solidFill>
              <a:srgbClr val="E3F4F1"/>
            </a:solidFill>
            <a:prstDash val="solid"/>
          </a:ln>
        </p:spPr>
      </p:sp>
      <p:sp>
        <p:nvSpPr>
          <p:cNvPr id="28" name="Text 25"/>
          <p:cNvSpPr txBox="1"/>
          <p:nvPr/>
        </p:nvSpPr>
        <p:spPr>
          <a:xfrm>
            <a:off x="530352" y="350215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9" name="Text 26"/>
          <p:cNvSpPr txBox="1"/>
          <p:nvPr/>
        </p:nvSpPr>
        <p:spPr>
          <a:xfrm>
            <a:off x="914400" y="3410712"/>
            <a:ext cx="35661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ETF, at all  </a:t>
            </a:r>
            <a:r>
              <a:rPr lang="en-US" sz="900" dirty="0">
                <a:solidFill>
                  <a:srgbClr val="6E6E73"/>
                </a:solidFill>
                <a:latin typeface="SF Pro Text" pitchFamily="34" charset="0"/>
                <a:ea typeface="SF Pro Text" pitchFamily="34" charset="-122"/>
                <a:cs typeface="SF Pro Text" pitchFamily="34" charset="-120"/>
              </a:rPr>
              <a:t>Not to explain it, not to say it's waived.</a:t>
            </a:r>
            <a:endParaRPr lang="en-US" sz="1050" dirty="0"/>
          </a:p>
        </p:txBody>
      </p:sp>
      <p:sp>
        <p:nvSpPr>
          <p:cNvPr id="30" name="Shape 27"/>
          <p:cNvSpPr/>
          <p:nvPr/>
        </p:nvSpPr>
        <p:spPr>
          <a:xfrm>
            <a:off x="4754880" y="2880360"/>
            <a:ext cx="3977640" cy="987552"/>
          </a:xfrm>
          <a:prstGeom prst="roundRect">
            <a:avLst>
              <a:gd name="adj" fmla="val 7407"/>
            </a:avLst>
          </a:prstGeom>
          <a:solidFill>
            <a:srgbClr val="E3F4F1"/>
          </a:solidFill>
          <a:ln w="9525">
            <a:solidFill>
              <a:srgbClr val="E3F4F1"/>
            </a:solidFill>
            <a:prstDash val="solid"/>
          </a:ln>
        </p:spPr>
      </p:sp>
      <p:sp>
        <p:nvSpPr>
          <p:cNvPr id="31" name="Shape 28"/>
          <p:cNvSpPr/>
          <p:nvPr/>
        </p:nvSpPr>
        <p:spPr>
          <a:xfrm>
            <a:off x="4754880" y="2953512"/>
            <a:ext cx="45720" cy="841248"/>
          </a:xfrm>
          <a:prstGeom prst="rect">
            <a:avLst/>
          </a:prstGeom>
          <a:solidFill>
            <a:srgbClr val="0B7A6F"/>
          </a:solidFill>
          <a:ln w="12700">
            <a:solidFill>
              <a:srgbClr val="0B7A6F"/>
            </a:solidFill>
            <a:prstDash val="solid"/>
          </a:ln>
        </p:spPr>
      </p:sp>
      <p:sp>
        <p:nvSpPr>
          <p:cNvPr id="32" name="Text 29"/>
          <p:cNvSpPr txBox="1"/>
          <p:nvPr/>
        </p:nvSpPr>
        <p:spPr>
          <a:xfrm>
            <a:off x="4937760" y="2880360"/>
            <a:ext cx="3657600" cy="987552"/>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SOFT RE-ENGAGEMENT NOTE</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“If you change your mind, reach out and we can explore alternative pricing options that might fit better.”</a:t>
            </a:r>
            <a:endParaRPr lang="en-US" sz="1000" dirty="0"/>
          </a:p>
        </p:txBody>
      </p:sp>
      <p:sp>
        <p:nvSpPr>
          <p:cNvPr id="33" name="Shape 30"/>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4" name="Image 0" descr="preencoded.png">    </p:cNvPr>
          <p:cNvPicPr>
            <a:picLocks noChangeAspect="1"/>
          </p:cNvPicPr>
          <p:nvPr/>
        </p:nvPicPr>
        <p:blipFill>
          <a:blip r:embed="rId2"/>
          <a:stretch>
            <a:fillRect/>
          </a:stretch>
        </p:blipFill>
        <p:spPr>
          <a:xfrm>
            <a:off x="566928" y="4178808"/>
            <a:ext cx="164592" cy="164592"/>
          </a:xfrm>
          <a:prstGeom prst="rect">
            <a:avLst/>
          </a:prstGeom>
        </p:spPr>
      </p:pic>
      <p:sp>
        <p:nvSpPr>
          <p:cNvPr id="35" name="Text 31"/>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ETF charged anyway?  </a:t>
            </a:r>
            <a:r>
              <a:rPr lang="en-US" sz="1000" dirty="0">
                <a:solidFill>
                  <a:srgbClr val="1D1D1F"/>
                </a:solidFill>
                <a:latin typeface="SF Pro Text" pitchFamily="34" charset="0"/>
                <a:ea typeface="SF Pro Text" pitchFamily="34" charset="-122"/>
                <a:cs typeface="SF Pro Text" pitchFamily="34" charset="-120"/>
              </a:rPr>
              <a:t>refund it right away. Don't wait for the customer to ask.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MF refund requests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one place WA customers are treated more conservatively, not less.</a:t>
            </a:r>
            <a:endParaRPr lang="en-US" sz="1200" dirty="0"/>
          </a:p>
        </p:txBody>
      </p:sp>
      <p:sp>
        <p:nvSpPr>
          <p:cNvPr id="6" name="Shape 3"/>
          <p:cNvSpPr/>
          <p:nvPr/>
        </p:nvSpPr>
        <p:spPr>
          <a:xfrm>
            <a:off x="411480" y="1325880"/>
            <a:ext cx="4069080" cy="1600200"/>
          </a:xfrm>
          <a:prstGeom prst="roundRect">
            <a:avLst>
              <a:gd name="adj" fmla="val 4571"/>
            </a:avLst>
          </a:prstGeom>
          <a:solidFill>
            <a:srgbClr val="FFFFFF"/>
          </a:solidFill>
          <a:ln w="9525">
            <a:solidFill>
              <a:srgbClr val="1D1D1F"/>
            </a:solidFill>
            <a:prstDash val="solid"/>
          </a:ln>
        </p:spPr>
      </p:sp>
      <p:sp>
        <p:nvSpPr>
          <p:cNvPr id="7" name="Text 4"/>
          <p:cNvSpPr/>
          <p:nvPr/>
        </p:nvSpPr>
        <p:spPr>
          <a:xfrm>
            <a:off x="41148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Default: no MF refund</a:t>
            </a:r>
            <a:endParaRPr lang="en-US" sz="1050" dirty="0"/>
          </a:p>
        </p:txBody>
      </p:sp>
      <p:sp>
        <p:nvSpPr>
          <p:cNvPr id="8" name="Text 5"/>
          <p:cNvSpPr txBox="1"/>
          <p:nvPr/>
        </p:nvSpPr>
        <p:spPr>
          <a:xfrm>
            <a:off x="576072" y="1764792"/>
            <a:ext cx="3739896" cy="10881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Cancel FC proactively</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Explain the MF isn't refundable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Unless another policy makes them eligible anyway</a:t>
            </a:r>
            <a:endParaRPr lang="en-US" sz="950" dirty="0"/>
          </a:p>
        </p:txBody>
      </p:sp>
      <p:sp>
        <p:nvSpPr>
          <p:cNvPr id="9" name="Shape 6"/>
          <p:cNvSpPr/>
          <p:nvPr/>
        </p:nvSpPr>
        <p:spPr>
          <a:xfrm>
            <a:off x="4663440" y="1325880"/>
            <a:ext cx="4069080" cy="1600200"/>
          </a:xfrm>
          <a:prstGeom prst="roundRect">
            <a:avLst>
              <a:gd name="adj" fmla="val 4571"/>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Cites the WA AG notice?</a:t>
            </a:r>
            <a:endParaRPr lang="en-US" sz="1050" dirty="0"/>
          </a:p>
        </p:txBody>
      </p:sp>
      <p:sp>
        <p:nvSpPr>
          <p:cNvPr id="11" name="Text 8"/>
          <p:cNvSpPr txBox="1"/>
          <p:nvPr/>
        </p:nvSpPr>
        <p:spPr>
          <a:xfrm>
            <a:off x="4828032" y="1764792"/>
            <a:ext cx="3739896" cy="10881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Consent Decree alone: handle as BAU</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Refund only if </a:t>
            </a:r>
            <a:r>
              <a:rPr lang="en-US" sz="950" b="1" dirty="0">
                <a:solidFill>
                  <a:srgbClr val="1D1D1F"/>
                </a:solidFill>
                <a:latin typeface="SF Pro Text" pitchFamily="34" charset="0"/>
                <a:ea typeface="SF Pro Text" pitchFamily="34" charset="-122"/>
                <a:cs typeface="SF Pro Text" pitchFamily="34" charset="-120"/>
              </a:rPr>
              <a:t>we were too slow</a:t>
            </a:r>
            <a:r>
              <a:rPr lang="en-US" sz="950" dirty="0">
                <a:solidFill>
                  <a:srgbClr val="1D1D1F"/>
                </a:solidFill>
                <a:latin typeface="SF Pro Text" pitchFamily="34" charset="0"/>
                <a:ea typeface="SF Pro Text" pitchFamily="34" charset="-122"/>
                <a:cs typeface="SF Pro Text" pitchFamily="34" charset="-120"/>
              </a:rPr>
              <a:t> to cancel before the latest MF</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Or </a:t>
            </a:r>
            <a:r>
              <a:rPr lang="en-US" sz="950" b="1" dirty="0">
                <a:solidFill>
                  <a:srgbClr val="1D1D1F"/>
                </a:solidFill>
                <a:latin typeface="SF Pro Text" pitchFamily="34" charset="0"/>
                <a:ea typeface="SF Pro Text" pitchFamily="34" charset="-122"/>
                <a:cs typeface="SF Pro Text" pitchFamily="34" charset="-120"/>
              </a:rPr>
              <a:t>we made cancelling harder</a:t>
            </a:r>
            <a:r>
              <a:rPr lang="en-US" sz="950" dirty="0">
                <a:solidFill>
                  <a:srgbClr val="1D1D1F"/>
                </a:solidFill>
                <a:latin typeface="SF Pro Text" pitchFamily="34" charset="0"/>
                <a:ea typeface="SF Pro Text" pitchFamily="34" charset="-122"/>
                <a:cs typeface="SF Pro Text" pitchFamily="34" charset="-120"/>
              </a:rPr>
              <a:t> (retention push, slow replies)</a:t>
            </a:r>
            <a:endParaRPr lang="en-US" sz="950" dirty="0"/>
          </a:p>
        </p:txBody>
      </p:sp>
      <p:sp>
        <p:nvSpPr>
          <p:cNvPr id="12" name="Shape 9"/>
          <p:cNvSpPr/>
          <p:nvPr/>
        </p:nvSpPr>
        <p:spPr>
          <a:xfrm>
            <a:off x="411480" y="3108960"/>
            <a:ext cx="8321040" cy="868680"/>
          </a:xfrm>
          <a:prstGeom prst="roundRect">
            <a:avLst>
              <a:gd name="adj" fmla="val 8421"/>
            </a:avLst>
          </a:prstGeom>
          <a:solidFill>
            <a:srgbClr val="E3F4F1"/>
          </a:solidFill>
          <a:ln w="9525">
            <a:solidFill>
              <a:srgbClr val="E3F4F1"/>
            </a:solidFill>
            <a:prstDash val="solid"/>
          </a:ln>
        </p:spPr>
      </p:sp>
      <p:sp>
        <p:nvSpPr>
          <p:cNvPr id="13" name="Shape 10"/>
          <p:cNvSpPr/>
          <p:nvPr/>
        </p:nvSpPr>
        <p:spPr>
          <a:xfrm>
            <a:off x="411480" y="3182112"/>
            <a:ext cx="45720" cy="722376"/>
          </a:xfrm>
          <a:prstGeom prst="rect">
            <a:avLst/>
          </a:prstGeom>
          <a:solidFill>
            <a:srgbClr val="0B7A6F"/>
          </a:solidFill>
          <a:ln w="12700">
            <a:solidFill>
              <a:srgbClr val="0B7A6F"/>
            </a:solidFill>
            <a:prstDash val="solid"/>
          </a:ln>
        </p:spPr>
      </p:sp>
      <p:sp>
        <p:nvSpPr>
          <p:cNvPr id="14" name="Text 11"/>
          <p:cNvSpPr txBox="1"/>
          <p:nvPr/>
        </p:nvSpPr>
        <p:spPr>
          <a:xfrm>
            <a:off x="594360" y="3108960"/>
            <a:ext cx="8001000" cy="86868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SUGGESTED COMMS</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Steps 4–5: Vouchers &amp; CP reports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retention attempt in either case.</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Step 4: Unused DHJ voucher</a:t>
            </a:r>
            <a:endParaRPr lang="en-US" sz="1200" dirty="0"/>
          </a:p>
        </p:txBody>
      </p:sp>
      <p:sp>
        <p:nvSpPr>
          <p:cNvPr id="10" name="Text 6"/>
          <p:cNvSpPr txBox="1"/>
          <p:nvPr/>
        </p:nvSpPr>
        <p:spPr>
          <a:xfrm>
            <a:off x="576072" y="2221992"/>
            <a:ext cx="3762756" cy="11155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membership not started, wants a refund: refund and invalidate the voucher, deactivate the FC table.</a:t>
            </a:r>
            <a:endParaRPr lang="en-US" sz="95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Step 5: They told the CP they want to cancel, not HG</a:t>
            </a:r>
            <a:endParaRPr lang="en-US" sz="1200" dirty="0"/>
          </a:p>
        </p:txBody>
      </p:sp>
      <p:sp>
        <p:nvSpPr>
          <p:cNvPr id="15" name="Text 10"/>
          <p:cNvSpPr txBox="1"/>
          <p:nvPr/>
        </p:nvSpPr>
        <p:spPr>
          <a:xfrm>
            <a:off x="4805172" y="2221992"/>
            <a:ext cx="3762756" cy="11155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still active? Reach out first. Send the self-cancel link, no ETF mention. They self-cancel, or you do it.</a:t>
            </a:r>
            <a:endParaRPr lang="en-US" sz="95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Both cases:  </a:t>
            </a:r>
            <a:r>
              <a:rPr lang="en-US" sz="1000" dirty="0">
                <a:solidFill>
                  <a:srgbClr val="1D1D1F"/>
                </a:solidFill>
                <a:latin typeface="SF Pro Text" pitchFamily="34" charset="0"/>
                <a:ea typeface="SF Pro Text" pitchFamily="34" charset="-122"/>
                <a:cs typeface="SF Pro Text" pitchFamily="34" charset="-120"/>
              </a:rPr>
              <a:t>no retention attempt needed.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Edge cases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was the ETF charged, and does the customer actually live in WA?</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4206240"/>
                <a:gridCol w="4114800"/>
              </a:tblGrid>
              <a:tr h="36576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What you do</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Self-cancelled and was charged an ETF</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Refund it</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ETF charged before May 11, 2026</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Don't refund: it predates the change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ETF charged after go-live, no refund asked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Refund it proactively</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Non-WA customer mentions the WA lawsuit</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Handle as BAU (no material legal threat)</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WA customer asks to cancel. Do you mention the ETF is waived?</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Don't reference the ETF at all.</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account shows ETF $140 for a WA customer. Fix it yourself?</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Escalate to TL/Support, who raise it to get it fixed.</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WA customer cites the AG notice and wants their MF back. We cancelled on time.</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No refund on the Consent Decree alone.</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Texas customer mentions the WA lawsuit. Apply this process?</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residency-based. Handle as BAU.</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Does the WA process apply?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Confirm residency and the account state.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 refund, escalate, or BAU?</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Offer Logic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and how should I make an offer?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 don't need cancellation intent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Retention, Exit and Make-Right offers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offer is built to do</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Caps, existing offers and guardrails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 cancellation intent needed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But offers aren't rewards, apologies, or something we issue just because we can.</a:t>
            </a:r>
            <a:endParaRPr lang="en-US" sz="1200" dirty="0"/>
          </a:p>
        </p:txBody>
      </p:sp>
      <p:sp>
        <p:nvSpPr>
          <p:cNvPr id="6" name="Shape 3"/>
          <p:cNvSpPr/>
          <p:nvPr/>
        </p:nvSpPr>
        <p:spPr>
          <a:xfrm>
            <a:off x="411480" y="1325880"/>
            <a:ext cx="3108960" cy="2331720"/>
          </a:xfrm>
          <a:prstGeom prst="roundRect">
            <a:avLst>
              <a:gd name="adj" fmla="val 3137"/>
            </a:avLst>
          </a:prstGeom>
          <a:solidFill>
            <a:srgbClr val="0B7A6F"/>
          </a:solidFill>
          <a:ln w="9525">
            <a:solidFill>
              <a:srgbClr val="0B7A6F"/>
            </a:solidFill>
            <a:prstDash val="solid"/>
          </a:ln>
        </p:spPr>
      </p:sp>
      <p:sp>
        <p:nvSpPr>
          <p:cNvPr id="7" name="Text 4"/>
          <p:cNvSpPr txBox="1"/>
          <p:nvPr/>
        </p:nvSpPr>
        <p:spPr>
          <a:xfrm>
            <a:off x="640080" y="1325880"/>
            <a:ext cx="2697480" cy="2331720"/>
          </a:xfrm>
          <a:prstGeom prst="rect">
            <a:avLst/>
          </a:prstGeom>
          <a:noFill/>
          <a:ln/>
        </p:spPr>
        <p:txBody>
          <a:bodyPr wrap="square" lIns="0" tIns="0" rIns="0" bIns="0" rtlCol="0" anchor="ctr"/>
          <a:lstStyle/>
          <a:p>
            <a:pPr indent="0" marL="0">
              <a:buNone/>
            </a:pPr>
            <a:r>
              <a:rPr lang="en-US" sz="1500" b="1" dirty="0">
                <a:solidFill>
                  <a:srgbClr val="FFFFFF"/>
                </a:solidFill>
                <a:latin typeface="SF Pro Display" pitchFamily="34" charset="0"/>
                <a:ea typeface="SF Pro Display" pitchFamily="34" charset="-122"/>
                <a:cs typeface="SF Pro Display" pitchFamily="34" charset="-120"/>
              </a:rPr>
              <a:t>Offer in your first response</a:t>
            </a:r>
            <a:endParaRPr lang="en-US" sz="1500" dirty="0"/>
          </a:p>
          <a:p>
            <a:pPr indent="0" marL="0">
              <a:buNone/>
            </a:pPr>
            <a:r>
              <a:rPr lang="en-US" sz="1050" dirty="0">
                <a:solidFill>
                  <a:srgbClr val="FFFFFF"/>
                </a:solidFill>
                <a:latin typeface="SF Pro Text" pitchFamily="34" charset="0"/>
                <a:ea typeface="SF Pro Text" pitchFamily="34" charset="-122"/>
                <a:cs typeface="SF Pro Text" pitchFamily="34" charset="-120"/>
              </a:rPr>
              <a:t>if the situation calls for it. The easiest customers to retain haven't decided to leave yet.</a:t>
            </a:r>
            <a:endParaRPr lang="en-US" sz="1500" dirty="0"/>
          </a:p>
        </p:txBody>
      </p:sp>
      <p:sp>
        <p:nvSpPr>
          <p:cNvPr id="8" name="Text 5"/>
          <p:cNvSpPr txBox="1"/>
          <p:nvPr/>
        </p:nvSpPr>
        <p:spPr>
          <a:xfrm>
            <a:off x="3703320"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EVERY OFFER HAS A JOB</a:t>
            </a:r>
            <a:endParaRPr lang="en-US" sz="800" dirty="0"/>
          </a:p>
        </p:txBody>
      </p:sp>
      <p:sp>
        <p:nvSpPr>
          <p:cNvPr id="9" name="Shape 6"/>
          <p:cNvSpPr/>
          <p:nvPr/>
        </p:nvSpPr>
        <p:spPr>
          <a:xfrm>
            <a:off x="3703320" y="1572768"/>
            <a:ext cx="5029200" cy="457200"/>
          </a:xfrm>
          <a:prstGeom prst="roundRect">
            <a:avLst>
              <a:gd name="adj" fmla="val 16000"/>
            </a:avLst>
          </a:prstGeom>
          <a:solidFill>
            <a:srgbClr val="FFFFFF"/>
          </a:solidFill>
          <a:ln w="9525">
            <a:solidFill>
              <a:srgbClr val="DCE1E7"/>
            </a:solidFill>
            <a:prstDash val="solid"/>
          </a:ln>
        </p:spPr>
      </p:sp>
      <p:sp>
        <p:nvSpPr>
          <p:cNvPr id="10" name="Shape 7"/>
          <p:cNvSpPr/>
          <p:nvPr/>
        </p:nvSpPr>
        <p:spPr>
          <a:xfrm>
            <a:off x="3813048" y="1636776"/>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892052" y="1715780"/>
            <a:ext cx="171176" cy="171176"/>
          </a:xfrm>
          <a:prstGeom prst="rect">
            <a:avLst/>
          </a:prstGeom>
        </p:spPr>
      </p:pic>
      <p:sp>
        <p:nvSpPr>
          <p:cNvPr id="12" name="Text 8"/>
          <p:cNvSpPr txBox="1"/>
          <p:nvPr/>
        </p:nvSpPr>
        <p:spPr>
          <a:xfrm>
            <a:off x="4251960" y="1572768"/>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Rebuild trust after a bad experience</a:t>
            </a:r>
            <a:endParaRPr lang="en-US" sz="1100" dirty="0"/>
          </a:p>
        </p:txBody>
      </p:sp>
      <p:sp>
        <p:nvSpPr>
          <p:cNvPr id="13" name="Shape 9"/>
          <p:cNvSpPr/>
          <p:nvPr/>
        </p:nvSpPr>
        <p:spPr>
          <a:xfrm>
            <a:off x="3703320" y="2103120"/>
            <a:ext cx="5029200" cy="457200"/>
          </a:xfrm>
          <a:prstGeom prst="roundRect">
            <a:avLst>
              <a:gd name="adj" fmla="val 16000"/>
            </a:avLst>
          </a:prstGeom>
          <a:solidFill>
            <a:srgbClr val="FFFFFF"/>
          </a:solidFill>
          <a:ln w="9525">
            <a:solidFill>
              <a:srgbClr val="DCE1E7"/>
            </a:solidFill>
            <a:prstDash val="solid"/>
          </a:ln>
        </p:spPr>
      </p:sp>
      <p:sp>
        <p:nvSpPr>
          <p:cNvPr id="14" name="Shape 10"/>
          <p:cNvSpPr/>
          <p:nvPr/>
        </p:nvSpPr>
        <p:spPr>
          <a:xfrm>
            <a:off x="3813048" y="2167128"/>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892052" y="2246132"/>
            <a:ext cx="171176" cy="171176"/>
          </a:xfrm>
          <a:prstGeom prst="rect">
            <a:avLst/>
          </a:prstGeom>
        </p:spPr>
      </p:pic>
      <p:sp>
        <p:nvSpPr>
          <p:cNvPr id="16" name="Text 11"/>
          <p:cNvSpPr txBox="1"/>
          <p:nvPr/>
        </p:nvSpPr>
        <p:spPr>
          <a:xfrm>
            <a:off x="4251960" y="2103120"/>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Remove a financial barrier</a:t>
            </a:r>
            <a:endParaRPr lang="en-US" sz="1100" dirty="0"/>
          </a:p>
        </p:txBody>
      </p:sp>
      <p:sp>
        <p:nvSpPr>
          <p:cNvPr id="17" name="Shape 12"/>
          <p:cNvSpPr/>
          <p:nvPr/>
        </p:nvSpPr>
        <p:spPr>
          <a:xfrm>
            <a:off x="3703320" y="2633472"/>
            <a:ext cx="5029200" cy="457200"/>
          </a:xfrm>
          <a:prstGeom prst="roundRect">
            <a:avLst>
              <a:gd name="adj" fmla="val 16000"/>
            </a:avLst>
          </a:prstGeom>
          <a:solidFill>
            <a:srgbClr val="FFFFFF"/>
          </a:solidFill>
          <a:ln w="9525">
            <a:solidFill>
              <a:srgbClr val="DCE1E7"/>
            </a:solidFill>
            <a:prstDash val="solid"/>
          </a:ln>
        </p:spPr>
      </p:sp>
      <p:sp>
        <p:nvSpPr>
          <p:cNvPr id="18" name="Shape 13"/>
          <p:cNvSpPr/>
          <p:nvPr/>
        </p:nvSpPr>
        <p:spPr>
          <a:xfrm>
            <a:off x="3813048" y="2697480"/>
            <a:ext cx="329184" cy="329184"/>
          </a:xfrm>
          <a:prstGeom prst="ellipse">
            <a:avLst/>
          </a:prstGeom>
          <a:solidFill>
            <a:srgbClr val="E3F4F1"/>
          </a:solidFill>
          <a:ln w="12700">
            <a:solidFill>
              <a:srgbClr val="E3F4F1"/>
            </a:solidFill>
            <a:prstDash val="solid"/>
          </a:ln>
        </p:spPr>
      </p:sp>
      <p:pic>
        <p:nvPicPr>
          <p:cNvPr id="19" name="Image 2" descr="preencoded.png">    </p:cNvPr>
          <p:cNvPicPr>
            <a:picLocks noChangeAspect="1"/>
          </p:cNvPicPr>
          <p:nvPr/>
        </p:nvPicPr>
        <p:blipFill>
          <a:blip r:embed="rId3"/>
          <a:stretch>
            <a:fillRect/>
          </a:stretch>
        </p:blipFill>
        <p:spPr>
          <a:xfrm>
            <a:off x="3892052" y="2776484"/>
            <a:ext cx="171176" cy="171176"/>
          </a:xfrm>
          <a:prstGeom prst="rect">
            <a:avLst/>
          </a:prstGeom>
        </p:spPr>
      </p:pic>
      <p:sp>
        <p:nvSpPr>
          <p:cNvPr id="20" name="Text 14"/>
          <p:cNvSpPr txBox="1"/>
          <p:nvPr/>
        </p:nvSpPr>
        <p:spPr>
          <a:xfrm>
            <a:off x="4251960" y="2633472"/>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Make it easier to keep using Homeaglow</a:t>
            </a:r>
            <a:endParaRPr lang="en-US" sz="1100" dirty="0"/>
          </a:p>
        </p:txBody>
      </p:sp>
      <p:sp>
        <p:nvSpPr>
          <p:cNvPr id="21" name="Shape 15"/>
          <p:cNvSpPr/>
          <p:nvPr/>
        </p:nvSpPr>
        <p:spPr>
          <a:xfrm>
            <a:off x="3703320" y="3163824"/>
            <a:ext cx="5029200" cy="457200"/>
          </a:xfrm>
          <a:prstGeom prst="roundRect">
            <a:avLst>
              <a:gd name="adj" fmla="val 16000"/>
            </a:avLst>
          </a:prstGeom>
          <a:solidFill>
            <a:srgbClr val="FFFFFF"/>
          </a:solidFill>
          <a:ln w="9525">
            <a:solidFill>
              <a:srgbClr val="DCE1E7"/>
            </a:solidFill>
            <a:prstDash val="solid"/>
          </a:ln>
        </p:spPr>
      </p:sp>
      <p:sp>
        <p:nvSpPr>
          <p:cNvPr id="22" name="Shape 16"/>
          <p:cNvSpPr/>
          <p:nvPr/>
        </p:nvSpPr>
        <p:spPr>
          <a:xfrm>
            <a:off x="3813048" y="322783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3892052" y="3306836"/>
            <a:ext cx="171176" cy="171176"/>
          </a:xfrm>
          <a:prstGeom prst="rect">
            <a:avLst/>
          </a:prstGeom>
        </p:spPr>
      </p:pic>
      <p:sp>
        <p:nvSpPr>
          <p:cNvPr id="24" name="Text 17"/>
          <p:cNvSpPr txBox="1"/>
          <p:nvPr/>
        </p:nvSpPr>
        <p:spPr>
          <a:xfrm>
            <a:off x="4251960" y="3163824"/>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Close out a membership fairly</a:t>
            </a:r>
            <a:endParaRPr lang="en-US" sz="1100" dirty="0"/>
          </a:p>
        </p:txBody>
      </p:sp>
      <p:sp>
        <p:nvSpPr>
          <p:cNvPr id="25" name="Shape 18"/>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950208"/>
            <a:ext cx="164592" cy="164592"/>
          </a:xfrm>
          <a:prstGeom prst="rect">
            <a:avLst/>
          </a:prstGeom>
        </p:spPr>
      </p:pic>
      <p:sp>
        <p:nvSpPr>
          <p:cNvPr id="27" name="Text 19"/>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Ask:  </a:t>
            </a:r>
            <a:r>
              <a:rPr lang="en-US" sz="1000" dirty="0">
                <a:solidFill>
                  <a:srgbClr val="1D1D1F"/>
                </a:solidFill>
                <a:latin typeface="SF Pro Text" pitchFamily="34" charset="0"/>
                <a:ea typeface="SF Pro Text" pitchFamily="34" charset="-122"/>
                <a:cs typeface="SF Pro Text" pitchFamily="34" charset="-120"/>
              </a:rPr>
              <a:t>"Is this the problem this offer was designed to solve?" Not "Am I allowed to use this?"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kinds of offers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offer does one of three jobs.</a:t>
            </a:r>
            <a:endParaRPr lang="en-US" sz="1200" dirty="0"/>
          </a:p>
        </p:txBody>
      </p:sp>
      <p:sp>
        <p:nvSpPr>
          <p:cNvPr id="6" name="Shape 3"/>
          <p:cNvSpPr/>
          <p:nvPr/>
        </p:nvSpPr>
        <p:spPr>
          <a:xfrm>
            <a:off x="411480" y="1325880"/>
            <a:ext cx="2682240" cy="2743200"/>
          </a:xfrm>
          <a:prstGeom prst="roundRect">
            <a:avLst>
              <a:gd name="adj" fmla="val 2727"/>
            </a:avLst>
          </a:prstGeom>
          <a:solidFill>
            <a:srgbClr val="E3F4F1"/>
          </a:solidFill>
          <a:ln w="9525">
            <a:solidFill>
              <a:srgbClr val="0B7A6F"/>
            </a:solidFill>
            <a:prstDash val="solid"/>
          </a:ln>
        </p:spPr>
      </p:sp>
      <p:sp>
        <p:nvSpPr>
          <p:cNvPr id="7" name="Text 4"/>
          <p:cNvSpPr/>
          <p:nvPr/>
        </p:nvSpPr>
        <p:spPr>
          <a:xfrm>
            <a:off x="411480" y="1325880"/>
            <a:ext cx="2682240" cy="384048"/>
          </a:xfrm>
          <a:prstGeom prst="roundRect">
            <a:avLst>
              <a:gd name="adj" fmla="val 14286"/>
            </a:avLst>
          </a:prstGeom>
          <a:solidFill>
            <a:srgbClr val="0B7A6F"/>
          </a:solidFill>
          <a:ln>
            <a:solidFill>
              <a:srgbClr val="0B7A6F"/>
            </a:solidFill>
          </a:ln>
        </p:spPr>
        <p:txBody>
          <a:bodyPr wrap="square" lIns="0" tIns="0" rIns="0" bIns="0" rtlCol="0" anchor="ctr"/>
          <a:lstStyle/>
          <a:p>
            <a:pPr algn="ctr" indent="0" marL="0">
              <a:buNone/>
            </a:pPr>
            <a:r>
              <a:rPr lang="en-US" sz="1300" b="1" dirty="0">
                <a:solidFill>
                  <a:srgbClr val="FFFFFF"/>
                </a:solidFill>
                <a:latin typeface="SF Pro Display" pitchFamily="34" charset="0"/>
                <a:ea typeface="SF Pro Display" pitchFamily="34" charset="-122"/>
                <a:cs typeface="SF Pro Display" pitchFamily="34" charset="-120"/>
              </a:rPr>
              <a:t>Retention</a:t>
            </a:r>
            <a:endParaRPr lang="en-US" sz="1300" dirty="0"/>
          </a:p>
        </p:txBody>
      </p:sp>
      <p:sp>
        <p:nvSpPr>
          <p:cNvPr id="8" name="Text 5"/>
          <p:cNvSpPr txBox="1"/>
          <p:nvPr/>
        </p:nvSpPr>
        <p:spPr>
          <a:xfrm>
            <a:off x="576072" y="1828800"/>
            <a:ext cx="2353056" cy="2148840"/>
          </a:xfrm>
          <a:prstGeom prst="rect">
            <a:avLst/>
          </a:prstGeom>
          <a:noFill/>
          <a:ln/>
        </p:spPr>
        <p:txBody>
          <a:bodyPr wrap="square" lIns="0" tIns="0" rIns="0" bIns="0" rtlCol="0" anchor="t"/>
          <a:lstStyle/>
          <a:p>
            <a:pPr indent="0" marL="0">
              <a:buNone/>
            </a:pPr>
            <a:r>
              <a:rPr lang="en-US" sz="750" b="1" dirty="0">
                <a:solidFill>
                  <a:srgbClr val="6E6E73"/>
                </a:solidFill>
                <a:latin typeface="SF Pro Display" pitchFamily="34" charset="0"/>
                <a:ea typeface="SF Pro Display" pitchFamily="34" charset="-122"/>
                <a:cs typeface="SF Pro Display" pitchFamily="34" charset="-120"/>
              </a:rPr>
              <a:t>GOAL</a:t>
            </a:r>
            <a:endParaRPr lang="en-US" sz="750" dirty="0"/>
          </a:p>
          <a:p>
            <a:pPr indent="0" marL="0">
              <a:buNone/>
            </a:pPr>
            <a:r>
              <a:rPr lang="en-US" sz="1100" b="1" dirty="0">
                <a:solidFill>
                  <a:srgbClr val="1D1D1F"/>
                </a:solidFill>
                <a:latin typeface="SF Pro Display" pitchFamily="34" charset="0"/>
                <a:ea typeface="SF Pro Display" pitchFamily="34" charset="-122"/>
                <a:cs typeface="SF Pro Display" pitchFamily="34" charset="-120"/>
              </a:rPr>
              <a:t>Keep the membership active</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ASK</a:t>
            </a:r>
            <a:endParaRPr lang="en-US" sz="750" dirty="0"/>
          </a:p>
          <a:p>
            <a:pPr indent="0" marL="0">
              <a:buNone/>
            </a:pPr>
            <a:r>
              <a:rPr lang="en-US" sz="1000" i="1" dirty="0">
                <a:solidFill>
                  <a:srgbClr val="1D1D1F"/>
                </a:solidFill>
                <a:latin typeface="SF Pro Text" pitchFamily="34" charset="0"/>
                <a:ea typeface="SF Pro Text" pitchFamily="34" charset="-122"/>
                <a:cs typeface="SF Pro Text" pitchFamily="34" charset="-120"/>
              </a:rPr>
              <a:t>What's standing in the way of them staying?</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TOOLS</a:t>
            </a:r>
            <a:endParaRPr lang="en-US" sz="750" dirty="0"/>
          </a:p>
          <a:p>
            <a:pPr indent="0" marL="0">
              <a:buNone/>
            </a:pPr>
            <a:r>
              <a:rPr lang="en-US" sz="950" dirty="0">
                <a:solidFill>
                  <a:srgbClr val="1D1D1F"/>
                </a:solidFill>
                <a:latin typeface="SF Pro Text" pitchFamily="34" charset="0"/>
                <a:ea typeface="SF Pro Text" pitchFamily="34" charset="-122"/>
                <a:cs typeface="SF Pro Text" pitchFamily="34" charset="-120"/>
              </a:rPr>
              <a:t>Vouchers &amp; credits, MF reduction, MCT reduction (Job 1), free months</a:t>
            </a:r>
            <a:endParaRPr lang="en-US" sz="750" dirty="0"/>
          </a:p>
        </p:txBody>
      </p:sp>
      <p:sp>
        <p:nvSpPr>
          <p:cNvPr id="9" name="Shape 6"/>
          <p:cNvSpPr/>
          <p:nvPr/>
        </p:nvSpPr>
        <p:spPr>
          <a:xfrm>
            <a:off x="3230880" y="1325880"/>
            <a:ext cx="2682240" cy="2743200"/>
          </a:xfrm>
          <a:prstGeom prst="roundRect">
            <a:avLst>
              <a:gd name="adj" fmla="val 2727"/>
            </a:avLst>
          </a:prstGeom>
          <a:solidFill>
            <a:srgbClr val="FFFFFF"/>
          </a:solidFill>
          <a:ln w="9525">
            <a:solidFill>
              <a:srgbClr val="1D1D1F"/>
            </a:solidFill>
            <a:prstDash val="solid"/>
          </a:ln>
        </p:spPr>
      </p:sp>
      <p:sp>
        <p:nvSpPr>
          <p:cNvPr id="10" name="Text 7"/>
          <p:cNvSpPr/>
          <p:nvPr/>
        </p:nvSpPr>
        <p:spPr>
          <a:xfrm>
            <a:off x="3230880" y="1325880"/>
            <a:ext cx="2682240" cy="384048"/>
          </a:xfrm>
          <a:prstGeom prst="roundRect">
            <a:avLst>
              <a:gd name="adj" fmla="val 14286"/>
            </a:avLst>
          </a:prstGeom>
          <a:solidFill>
            <a:srgbClr val="1D1D1F"/>
          </a:solidFill>
          <a:ln>
            <a:solidFill>
              <a:srgbClr val="1D1D1F"/>
            </a:solidFill>
          </a:ln>
        </p:spPr>
        <p:txBody>
          <a:bodyPr wrap="square" lIns="0" tIns="0" rIns="0" bIns="0" rtlCol="0" anchor="ctr"/>
          <a:lstStyle/>
          <a:p>
            <a:pPr algn="ctr" indent="0" marL="0">
              <a:buNone/>
            </a:pPr>
            <a:r>
              <a:rPr lang="en-US" sz="1300" b="1" dirty="0">
                <a:solidFill>
                  <a:srgbClr val="FFFFFF"/>
                </a:solidFill>
                <a:latin typeface="SF Pro Display" pitchFamily="34" charset="0"/>
                <a:ea typeface="SF Pro Display" pitchFamily="34" charset="-122"/>
                <a:cs typeface="SF Pro Display" pitchFamily="34" charset="-120"/>
              </a:rPr>
              <a:t>Exit</a:t>
            </a:r>
            <a:endParaRPr lang="en-US" sz="1300" dirty="0"/>
          </a:p>
        </p:txBody>
      </p:sp>
      <p:sp>
        <p:nvSpPr>
          <p:cNvPr id="11" name="Text 8"/>
          <p:cNvSpPr txBox="1"/>
          <p:nvPr/>
        </p:nvSpPr>
        <p:spPr>
          <a:xfrm>
            <a:off x="3395472" y="1828800"/>
            <a:ext cx="2353056" cy="2148840"/>
          </a:xfrm>
          <a:prstGeom prst="rect">
            <a:avLst/>
          </a:prstGeom>
          <a:noFill/>
          <a:ln/>
        </p:spPr>
        <p:txBody>
          <a:bodyPr wrap="square" lIns="0" tIns="0" rIns="0" bIns="0" rtlCol="0" anchor="t"/>
          <a:lstStyle/>
          <a:p>
            <a:pPr indent="0" marL="0">
              <a:buNone/>
            </a:pPr>
            <a:r>
              <a:rPr lang="en-US" sz="750" b="1" dirty="0">
                <a:solidFill>
                  <a:srgbClr val="6E6E73"/>
                </a:solidFill>
                <a:latin typeface="SF Pro Display" pitchFamily="34" charset="0"/>
                <a:ea typeface="SF Pro Display" pitchFamily="34" charset="-122"/>
                <a:cs typeface="SF Pro Display" pitchFamily="34" charset="-120"/>
              </a:rPr>
              <a:t>GOAL</a:t>
            </a:r>
            <a:endParaRPr lang="en-US" sz="750" dirty="0"/>
          </a:p>
          <a:p>
            <a:pPr indent="0" marL="0">
              <a:buNone/>
            </a:pPr>
            <a:r>
              <a:rPr lang="en-US" sz="1100" b="1" dirty="0">
                <a:solidFill>
                  <a:srgbClr val="1D1D1F"/>
                </a:solidFill>
                <a:latin typeface="SF Pro Display" pitchFamily="34" charset="0"/>
                <a:ea typeface="SF Pro Display" pitchFamily="34" charset="-122"/>
                <a:cs typeface="SF Pro Display" pitchFamily="34" charset="-120"/>
              </a:rPr>
              <a:t>Close the membership out fairly</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ASK</a:t>
            </a:r>
            <a:endParaRPr lang="en-US" sz="750" dirty="0"/>
          </a:p>
          <a:p>
            <a:pPr indent="0" marL="0">
              <a:buNone/>
            </a:pPr>
            <a:r>
              <a:rPr lang="en-US" sz="1000" i="1" dirty="0">
                <a:solidFill>
                  <a:srgbClr val="1D1D1F"/>
                </a:solidFill>
                <a:latin typeface="SF Pro Text" pitchFamily="34" charset="0"/>
                <a:ea typeface="SF Pro Text" pitchFamily="34" charset="-122"/>
                <a:cs typeface="SF Pro Text" pitchFamily="34" charset="-120"/>
              </a:rPr>
              <a:t>What's the lowest-cost way for them to leave?</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TOOLS</a:t>
            </a:r>
            <a:endParaRPr lang="en-US" sz="750" dirty="0"/>
          </a:p>
          <a:p>
            <a:pPr indent="0" marL="0">
              <a:buNone/>
            </a:pPr>
            <a:r>
              <a:rPr lang="en-US" sz="950" dirty="0">
                <a:solidFill>
                  <a:srgbClr val="1D1D1F"/>
                </a:solidFill>
                <a:latin typeface="SF Pro Text" pitchFamily="34" charset="0"/>
                <a:ea typeface="SF Pro Text" pitchFamily="34" charset="-122"/>
                <a:cs typeface="SF Pro Text" pitchFamily="34" charset="-120"/>
              </a:rPr>
              <a:t>MCT reduction (Job 2), ETF reduction</a:t>
            </a:r>
            <a:endParaRPr lang="en-US" sz="750" dirty="0"/>
          </a:p>
        </p:txBody>
      </p:sp>
      <p:sp>
        <p:nvSpPr>
          <p:cNvPr id="12" name="Shape 9"/>
          <p:cNvSpPr/>
          <p:nvPr/>
        </p:nvSpPr>
        <p:spPr>
          <a:xfrm>
            <a:off x="6050280" y="1325880"/>
            <a:ext cx="2682240" cy="2743200"/>
          </a:xfrm>
          <a:prstGeom prst="roundRect">
            <a:avLst>
              <a:gd name="adj" fmla="val 2727"/>
            </a:avLst>
          </a:prstGeom>
          <a:solidFill>
            <a:srgbClr val="FFF3D6"/>
          </a:solidFill>
          <a:ln w="9525">
            <a:solidFill>
              <a:srgbClr val="9A6410"/>
            </a:solidFill>
            <a:prstDash val="solid"/>
          </a:ln>
        </p:spPr>
      </p:sp>
      <p:sp>
        <p:nvSpPr>
          <p:cNvPr id="13" name="Text 10"/>
          <p:cNvSpPr/>
          <p:nvPr/>
        </p:nvSpPr>
        <p:spPr>
          <a:xfrm>
            <a:off x="6050280" y="1325880"/>
            <a:ext cx="2682240" cy="384048"/>
          </a:xfrm>
          <a:prstGeom prst="roundRect">
            <a:avLst>
              <a:gd name="adj" fmla="val 14286"/>
            </a:avLst>
          </a:prstGeom>
          <a:solidFill>
            <a:srgbClr val="9A6410"/>
          </a:solidFill>
          <a:ln>
            <a:solidFill>
              <a:srgbClr val="9A6410"/>
            </a:solidFill>
          </a:ln>
        </p:spPr>
        <p:txBody>
          <a:bodyPr wrap="square" lIns="0" tIns="0" rIns="0" bIns="0" rtlCol="0" anchor="ctr"/>
          <a:lstStyle/>
          <a:p>
            <a:pPr algn="ctr" indent="0" marL="0">
              <a:buNone/>
            </a:pPr>
            <a:r>
              <a:rPr lang="en-US" sz="1300" b="1" dirty="0">
                <a:solidFill>
                  <a:srgbClr val="FFFFFF"/>
                </a:solidFill>
                <a:latin typeface="SF Pro Display" pitchFamily="34" charset="0"/>
                <a:ea typeface="SF Pro Display" pitchFamily="34" charset="-122"/>
                <a:cs typeface="SF Pro Display" pitchFamily="34" charset="-120"/>
              </a:rPr>
              <a:t>Make-Right</a:t>
            </a:r>
            <a:endParaRPr lang="en-US" sz="1300" dirty="0"/>
          </a:p>
        </p:txBody>
      </p:sp>
      <p:sp>
        <p:nvSpPr>
          <p:cNvPr id="14" name="Text 11"/>
          <p:cNvSpPr txBox="1"/>
          <p:nvPr/>
        </p:nvSpPr>
        <p:spPr>
          <a:xfrm>
            <a:off x="6214872" y="1828800"/>
            <a:ext cx="2353056" cy="2148840"/>
          </a:xfrm>
          <a:prstGeom prst="rect">
            <a:avLst/>
          </a:prstGeom>
          <a:noFill/>
          <a:ln/>
        </p:spPr>
        <p:txBody>
          <a:bodyPr wrap="square" lIns="0" tIns="0" rIns="0" bIns="0" rtlCol="0" anchor="t"/>
          <a:lstStyle/>
          <a:p>
            <a:pPr indent="0" marL="0">
              <a:buNone/>
            </a:pPr>
            <a:r>
              <a:rPr lang="en-US" sz="750" b="1" dirty="0">
                <a:solidFill>
                  <a:srgbClr val="6E6E73"/>
                </a:solidFill>
                <a:latin typeface="SF Pro Display" pitchFamily="34" charset="0"/>
                <a:ea typeface="SF Pro Display" pitchFamily="34" charset="-122"/>
                <a:cs typeface="SF Pro Display" pitchFamily="34" charset="-120"/>
              </a:rPr>
              <a:t>GOAL</a:t>
            </a:r>
            <a:endParaRPr lang="en-US" sz="750" dirty="0"/>
          </a:p>
          <a:p>
            <a:pPr indent="0" marL="0">
              <a:buNone/>
            </a:pPr>
            <a:r>
              <a:rPr lang="en-US" sz="1100" b="1" dirty="0">
                <a:solidFill>
                  <a:srgbClr val="1D1D1F"/>
                </a:solidFill>
                <a:latin typeface="SF Pro Display" pitchFamily="34" charset="0"/>
                <a:ea typeface="SF Pro Display" pitchFamily="34" charset="-122"/>
                <a:cs typeface="SF Pro Display" pitchFamily="34" charset="-120"/>
              </a:rPr>
              <a:t>Correct a Homeaglow or system error</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ASK</a:t>
            </a:r>
            <a:endParaRPr lang="en-US" sz="750" dirty="0"/>
          </a:p>
          <a:p>
            <a:pPr indent="0" marL="0">
              <a:buNone/>
            </a:pPr>
            <a:r>
              <a:rPr lang="en-US" sz="1000" i="1" dirty="0">
                <a:solidFill>
                  <a:srgbClr val="1D1D1F"/>
                </a:solidFill>
                <a:latin typeface="SF Pro Text" pitchFamily="34" charset="0"/>
                <a:ea typeface="SF Pro Text" pitchFamily="34" charset="-122"/>
                <a:cs typeface="SF Pro Text" pitchFamily="34" charset="-120"/>
              </a:rPr>
              <a:t>What did we cause, and what makes it right?</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TOOLS</a:t>
            </a:r>
            <a:endParaRPr lang="en-US" sz="750" dirty="0"/>
          </a:p>
          <a:p>
            <a:pPr indent="0" marL="0">
              <a:buNone/>
            </a:pPr>
            <a:r>
              <a:rPr lang="en-US" sz="950" dirty="0">
                <a:solidFill>
                  <a:srgbClr val="1D1D1F"/>
                </a:solidFill>
                <a:latin typeface="SF Pro Text" pitchFamily="34" charset="0"/>
                <a:ea typeface="SF Pro Text" pitchFamily="34" charset="-122"/>
                <a:cs typeface="SF Pro Text" pitchFamily="34" charset="-120"/>
              </a:rPr>
              <a:t>The individual charge and refund pages (LMC, Lockout, Priority Fee…)</a:t>
            </a:r>
            <a:endParaRPr lang="en-US" sz="750" dirty="0"/>
          </a:p>
        </p:txBody>
      </p:sp>
      <p:sp>
        <p:nvSpPr>
          <p:cNvPr id="15" name="Shape 1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17" name="Text 1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line:  </a:t>
            </a:r>
            <a:r>
              <a:rPr lang="en-US" sz="1000" dirty="0">
                <a:solidFill>
                  <a:srgbClr val="1D1D1F"/>
                </a:solidFill>
                <a:latin typeface="SF Pro Text" pitchFamily="34" charset="0"/>
                <a:ea typeface="SF Pro Text" pitchFamily="34" charset="-122"/>
                <a:cs typeface="SF Pro Text" pitchFamily="34" charset="-120"/>
              </a:rPr>
              <a:t>not "did they ask to cancel?" but "have I assessed them as unretainable?"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choose an offer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Run the quick test, then three questions.</a:t>
            </a:r>
            <a:endParaRPr lang="en-US" sz="1200" dirty="0"/>
          </a:p>
        </p:txBody>
      </p:sp>
      <p:sp>
        <p:nvSpPr>
          <p:cNvPr id="6" name="Text 3"/>
          <p:cNvSpPr txBox="1"/>
          <p:nvPr/>
        </p:nvSpPr>
        <p:spPr>
          <a:xfrm>
            <a:off x="411480" y="1298448"/>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QUICK TEST</a:t>
            </a:r>
            <a:endParaRPr lang="en-US" sz="800" dirty="0"/>
          </a:p>
        </p:txBody>
      </p:sp>
      <p:sp>
        <p:nvSpPr>
          <p:cNvPr id="7" name="Shape 4"/>
          <p:cNvSpPr/>
          <p:nvPr/>
        </p:nvSpPr>
        <p:spPr>
          <a:xfrm>
            <a:off x="411480" y="1508760"/>
            <a:ext cx="3291840" cy="457200"/>
          </a:xfrm>
          <a:prstGeom prst="roundRect">
            <a:avLst>
              <a:gd name="adj" fmla="val 16000"/>
            </a:avLst>
          </a:prstGeom>
          <a:solidFill>
            <a:srgbClr val="FFF3D6"/>
          </a:solidFill>
          <a:ln w="12700">
            <a:solidFill>
              <a:srgbClr val="9A6410"/>
            </a:solidFill>
            <a:prstDash val="solid"/>
          </a:ln>
        </p:spPr>
      </p:sp>
      <p:sp>
        <p:nvSpPr>
          <p:cNvPr id="8" name="Text 5"/>
          <p:cNvSpPr txBox="1"/>
          <p:nvPr/>
        </p:nvSpPr>
        <p:spPr>
          <a:xfrm>
            <a:off x="411480" y="1508760"/>
            <a:ext cx="329184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Account error or system-caused charge?</a:t>
            </a:r>
            <a:endParaRPr lang="en-US" sz="1000" dirty="0"/>
          </a:p>
        </p:txBody>
      </p:sp>
      <p:sp>
        <p:nvSpPr>
          <p:cNvPr id="9" name="Shape 6"/>
          <p:cNvSpPr/>
          <p:nvPr/>
        </p:nvSpPr>
        <p:spPr>
          <a:xfrm>
            <a:off x="3703320" y="1737360"/>
            <a:ext cx="228600" cy="0"/>
          </a:xfrm>
          <a:prstGeom prst="line">
            <a:avLst/>
          </a:prstGeom>
          <a:noFill/>
          <a:ln w="12700">
            <a:solidFill>
              <a:srgbClr val="6E6E73"/>
            </a:solidFill>
            <a:prstDash val="solid"/>
            <a:tailEnd type="triangle"/>
          </a:ln>
        </p:spPr>
      </p:sp>
      <p:sp>
        <p:nvSpPr>
          <p:cNvPr id="10" name="Shape 7"/>
          <p:cNvSpPr/>
          <p:nvPr/>
        </p:nvSpPr>
        <p:spPr>
          <a:xfrm>
            <a:off x="3931920" y="1536192"/>
            <a:ext cx="960120" cy="402336"/>
          </a:xfrm>
          <a:prstGeom prst="roundRect">
            <a:avLst>
              <a:gd name="adj" fmla="val 18182"/>
            </a:avLst>
          </a:prstGeom>
          <a:solidFill>
            <a:srgbClr val="FFFFFF"/>
          </a:solidFill>
          <a:ln w="12700">
            <a:solidFill>
              <a:srgbClr val="DCE1E7"/>
            </a:solidFill>
            <a:prstDash val="solid"/>
          </a:ln>
        </p:spPr>
      </p:sp>
      <p:sp>
        <p:nvSpPr>
          <p:cNvPr id="11" name="Text 8"/>
          <p:cNvSpPr txBox="1"/>
          <p:nvPr/>
        </p:nvSpPr>
        <p:spPr>
          <a:xfrm>
            <a:off x="3931920" y="1536192"/>
            <a:ext cx="960120" cy="40233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Make-Right</a:t>
            </a:r>
            <a:endParaRPr lang="en-US" sz="1000" dirty="0"/>
          </a:p>
        </p:txBody>
      </p:sp>
      <p:sp>
        <p:nvSpPr>
          <p:cNvPr id="12" name="Text 9"/>
          <p:cNvSpPr txBox="1"/>
          <p:nvPr/>
        </p:nvSpPr>
        <p:spPr>
          <a:xfrm>
            <a:off x="3730752" y="1554480"/>
            <a:ext cx="274320" cy="164592"/>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3" name="Shape 10"/>
          <p:cNvSpPr/>
          <p:nvPr/>
        </p:nvSpPr>
        <p:spPr>
          <a:xfrm>
            <a:off x="2057400" y="1965960"/>
            <a:ext cx="0" cy="228600"/>
          </a:xfrm>
          <a:prstGeom prst="line">
            <a:avLst/>
          </a:prstGeom>
          <a:noFill/>
          <a:ln w="12700">
            <a:solidFill>
              <a:srgbClr val="6E6E73"/>
            </a:solidFill>
            <a:prstDash val="solid"/>
            <a:tailEnd type="triangle"/>
          </a:ln>
        </p:spPr>
      </p:sp>
      <p:sp>
        <p:nvSpPr>
          <p:cNvPr id="14" name="Text 11"/>
          <p:cNvSpPr txBox="1"/>
          <p:nvPr/>
        </p:nvSpPr>
        <p:spPr>
          <a:xfrm>
            <a:off x="2121408" y="1984248"/>
            <a:ext cx="365760" cy="182880"/>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5" name="Shape 12"/>
          <p:cNvSpPr/>
          <p:nvPr/>
        </p:nvSpPr>
        <p:spPr>
          <a:xfrm>
            <a:off x="411480" y="2194560"/>
            <a:ext cx="3291840" cy="457200"/>
          </a:xfrm>
          <a:prstGeom prst="roundRect">
            <a:avLst>
              <a:gd name="adj" fmla="val 16000"/>
            </a:avLst>
          </a:prstGeom>
          <a:solidFill>
            <a:srgbClr val="FFF3D6"/>
          </a:solidFill>
          <a:ln w="12700">
            <a:solidFill>
              <a:srgbClr val="9A6410"/>
            </a:solidFill>
            <a:prstDash val="solid"/>
          </a:ln>
        </p:spPr>
      </p:sp>
      <p:sp>
        <p:nvSpPr>
          <p:cNvPr id="16" name="Text 13"/>
          <p:cNvSpPr txBox="1"/>
          <p:nvPr/>
        </p:nvSpPr>
        <p:spPr>
          <a:xfrm>
            <a:off x="411480" y="2194560"/>
            <a:ext cx="329184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assessed as unretainable?</a:t>
            </a:r>
            <a:endParaRPr lang="en-US" sz="1000" dirty="0"/>
          </a:p>
        </p:txBody>
      </p:sp>
      <p:sp>
        <p:nvSpPr>
          <p:cNvPr id="17" name="Shape 14"/>
          <p:cNvSpPr/>
          <p:nvPr/>
        </p:nvSpPr>
        <p:spPr>
          <a:xfrm>
            <a:off x="2057400" y="2651760"/>
            <a:ext cx="0" cy="137160"/>
          </a:xfrm>
          <a:prstGeom prst="line">
            <a:avLst/>
          </a:prstGeom>
          <a:noFill/>
          <a:ln w="12700">
            <a:solidFill>
              <a:srgbClr val="6E6E73"/>
            </a:solidFill>
            <a:prstDash val="solid"/>
          </a:ln>
        </p:spPr>
      </p:sp>
      <p:sp>
        <p:nvSpPr>
          <p:cNvPr id="18" name="Shape 15"/>
          <p:cNvSpPr/>
          <p:nvPr/>
        </p:nvSpPr>
        <p:spPr>
          <a:xfrm>
            <a:off x="1051560" y="2788920"/>
            <a:ext cx="2011680" cy="0"/>
          </a:xfrm>
          <a:prstGeom prst="line">
            <a:avLst/>
          </a:prstGeom>
          <a:noFill/>
          <a:ln w="12700">
            <a:solidFill>
              <a:srgbClr val="6E6E73"/>
            </a:solidFill>
            <a:prstDash val="solid"/>
          </a:ln>
        </p:spPr>
      </p:sp>
      <p:sp>
        <p:nvSpPr>
          <p:cNvPr id="19" name="Shape 16"/>
          <p:cNvSpPr/>
          <p:nvPr/>
        </p:nvSpPr>
        <p:spPr>
          <a:xfrm>
            <a:off x="1051560" y="2788920"/>
            <a:ext cx="0" cy="137160"/>
          </a:xfrm>
          <a:prstGeom prst="line">
            <a:avLst/>
          </a:prstGeom>
          <a:noFill/>
          <a:ln w="12700">
            <a:solidFill>
              <a:srgbClr val="6E6E73"/>
            </a:solidFill>
            <a:prstDash val="solid"/>
            <a:tailEnd type="triangle"/>
          </a:ln>
        </p:spPr>
      </p:sp>
      <p:sp>
        <p:nvSpPr>
          <p:cNvPr id="20" name="Shape 17"/>
          <p:cNvSpPr/>
          <p:nvPr/>
        </p:nvSpPr>
        <p:spPr>
          <a:xfrm>
            <a:off x="3063240" y="2788920"/>
            <a:ext cx="0" cy="137160"/>
          </a:xfrm>
          <a:prstGeom prst="line">
            <a:avLst/>
          </a:prstGeom>
          <a:noFill/>
          <a:ln w="12700">
            <a:solidFill>
              <a:srgbClr val="6E6E73"/>
            </a:solidFill>
            <a:prstDash val="solid"/>
            <a:tailEnd type="triangle"/>
          </a:ln>
        </p:spPr>
      </p:sp>
      <p:sp>
        <p:nvSpPr>
          <p:cNvPr id="21" name="Text 18"/>
          <p:cNvSpPr txBox="1"/>
          <p:nvPr/>
        </p:nvSpPr>
        <p:spPr>
          <a:xfrm>
            <a:off x="1124712" y="28072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2" name="Text 19"/>
          <p:cNvSpPr txBox="1"/>
          <p:nvPr/>
        </p:nvSpPr>
        <p:spPr>
          <a:xfrm>
            <a:off x="3136392" y="28072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3" name="Shape 20"/>
          <p:cNvSpPr/>
          <p:nvPr/>
        </p:nvSpPr>
        <p:spPr>
          <a:xfrm>
            <a:off x="411480" y="2926080"/>
            <a:ext cx="1280160" cy="402336"/>
          </a:xfrm>
          <a:prstGeom prst="roundRect">
            <a:avLst>
              <a:gd name="adj" fmla="val 18182"/>
            </a:avLst>
          </a:prstGeom>
          <a:solidFill>
            <a:srgbClr val="0B7A6F"/>
          </a:solidFill>
          <a:ln w="12700">
            <a:solidFill>
              <a:srgbClr val="0B7A6F"/>
            </a:solidFill>
            <a:prstDash val="solid"/>
          </a:ln>
        </p:spPr>
      </p:sp>
      <p:sp>
        <p:nvSpPr>
          <p:cNvPr id="24" name="Text 21"/>
          <p:cNvSpPr txBox="1"/>
          <p:nvPr/>
        </p:nvSpPr>
        <p:spPr>
          <a:xfrm>
            <a:off x="411480" y="2926080"/>
            <a:ext cx="128016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Retention</a:t>
            </a:r>
            <a:endParaRPr lang="en-US" sz="1000" dirty="0"/>
          </a:p>
        </p:txBody>
      </p:sp>
      <p:sp>
        <p:nvSpPr>
          <p:cNvPr id="25" name="Shape 22"/>
          <p:cNvSpPr/>
          <p:nvPr/>
        </p:nvSpPr>
        <p:spPr>
          <a:xfrm>
            <a:off x="2423160" y="2926080"/>
            <a:ext cx="1280160" cy="402336"/>
          </a:xfrm>
          <a:prstGeom prst="roundRect">
            <a:avLst>
              <a:gd name="adj" fmla="val 18182"/>
            </a:avLst>
          </a:prstGeom>
          <a:solidFill>
            <a:srgbClr val="1D1D1F"/>
          </a:solidFill>
          <a:ln w="12700">
            <a:solidFill>
              <a:srgbClr val="1D1D1F"/>
            </a:solidFill>
            <a:prstDash val="solid"/>
          </a:ln>
        </p:spPr>
      </p:sp>
      <p:sp>
        <p:nvSpPr>
          <p:cNvPr id="26" name="Text 23"/>
          <p:cNvSpPr txBox="1"/>
          <p:nvPr/>
        </p:nvSpPr>
        <p:spPr>
          <a:xfrm>
            <a:off x="2423160" y="2926080"/>
            <a:ext cx="128016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Exit</a:t>
            </a:r>
            <a:endParaRPr lang="en-US" sz="1000" dirty="0"/>
          </a:p>
        </p:txBody>
      </p:sp>
      <p:sp>
        <p:nvSpPr>
          <p:cNvPr id="27" name="Shape 24"/>
          <p:cNvSpPr/>
          <p:nvPr/>
        </p:nvSpPr>
        <p:spPr>
          <a:xfrm>
            <a:off x="5120640" y="1325880"/>
            <a:ext cx="3611880" cy="603504"/>
          </a:xfrm>
          <a:prstGeom prst="roundRect">
            <a:avLst>
              <a:gd name="adj" fmla="val 12121"/>
            </a:avLst>
          </a:prstGeom>
          <a:solidFill>
            <a:srgbClr val="FFFFFF"/>
          </a:solidFill>
          <a:ln w="9525">
            <a:solidFill>
              <a:srgbClr val="DCE1E7"/>
            </a:solidFill>
            <a:prstDash val="solid"/>
          </a:ln>
        </p:spPr>
      </p:sp>
      <p:sp>
        <p:nvSpPr>
          <p:cNvPr id="28" name="Shape 25"/>
          <p:cNvSpPr/>
          <p:nvPr/>
        </p:nvSpPr>
        <p:spPr>
          <a:xfrm>
            <a:off x="5230368" y="1490472"/>
            <a:ext cx="274320" cy="274320"/>
          </a:xfrm>
          <a:prstGeom prst="ellipse">
            <a:avLst/>
          </a:prstGeom>
          <a:solidFill>
            <a:srgbClr val="E3F4F1"/>
          </a:solidFill>
          <a:ln w="12700">
            <a:solidFill>
              <a:srgbClr val="E3F4F1"/>
            </a:solidFill>
            <a:prstDash val="solid"/>
          </a:ln>
        </p:spPr>
      </p:sp>
      <p:sp>
        <p:nvSpPr>
          <p:cNvPr id="29" name="Text 26"/>
          <p:cNvSpPr txBox="1"/>
          <p:nvPr/>
        </p:nvSpPr>
        <p:spPr>
          <a:xfrm>
            <a:off x="5230368" y="14904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30" name="Text 27"/>
          <p:cNvSpPr txBox="1"/>
          <p:nvPr/>
        </p:nvSpPr>
        <p:spPr>
          <a:xfrm>
            <a:off x="5596128" y="1325880"/>
            <a:ext cx="30632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What problem are they really solving?</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Why they ask, not what they ask for.</a:t>
            </a:r>
            <a:endParaRPr lang="en-US" sz="1050" dirty="0"/>
          </a:p>
        </p:txBody>
      </p:sp>
      <p:sp>
        <p:nvSpPr>
          <p:cNvPr id="31" name="Shape 28"/>
          <p:cNvSpPr/>
          <p:nvPr/>
        </p:nvSpPr>
        <p:spPr>
          <a:xfrm>
            <a:off x="5120640" y="2011680"/>
            <a:ext cx="3611880" cy="603504"/>
          </a:xfrm>
          <a:prstGeom prst="roundRect">
            <a:avLst>
              <a:gd name="adj" fmla="val 12121"/>
            </a:avLst>
          </a:prstGeom>
          <a:solidFill>
            <a:srgbClr val="FFFFFF"/>
          </a:solidFill>
          <a:ln w="9525">
            <a:solidFill>
              <a:srgbClr val="DCE1E7"/>
            </a:solidFill>
            <a:prstDash val="solid"/>
          </a:ln>
        </p:spPr>
      </p:sp>
      <p:sp>
        <p:nvSpPr>
          <p:cNvPr id="32" name="Shape 29"/>
          <p:cNvSpPr/>
          <p:nvPr/>
        </p:nvSpPr>
        <p:spPr>
          <a:xfrm>
            <a:off x="5230368" y="2176272"/>
            <a:ext cx="274320" cy="274320"/>
          </a:xfrm>
          <a:prstGeom prst="ellipse">
            <a:avLst/>
          </a:prstGeom>
          <a:solidFill>
            <a:srgbClr val="E3F4F1"/>
          </a:solidFill>
          <a:ln w="12700">
            <a:solidFill>
              <a:srgbClr val="E3F4F1"/>
            </a:solidFill>
            <a:prstDash val="solid"/>
          </a:ln>
        </p:spPr>
      </p:sp>
      <p:sp>
        <p:nvSpPr>
          <p:cNvPr id="33" name="Text 30"/>
          <p:cNvSpPr txBox="1"/>
          <p:nvPr/>
        </p:nvSpPr>
        <p:spPr>
          <a:xfrm>
            <a:off x="5230368" y="21762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34" name="Text 31"/>
          <p:cNvSpPr txBox="1"/>
          <p:nvPr/>
        </p:nvSpPr>
        <p:spPr>
          <a:xfrm>
            <a:off x="5596128" y="2011680"/>
            <a:ext cx="30632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Does an offer solve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Sometimes they just want an explanation.</a:t>
            </a:r>
            <a:endParaRPr lang="en-US" sz="1050" dirty="0"/>
          </a:p>
        </p:txBody>
      </p:sp>
      <p:sp>
        <p:nvSpPr>
          <p:cNvPr id="35" name="Shape 32"/>
          <p:cNvSpPr/>
          <p:nvPr/>
        </p:nvSpPr>
        <p:spPr>
          <a:xfrm>
            <a:off x="5120640" y="2697480"/>
            <a:ext cx="3611880" cy="603504"/>
          </a:xfrm>
          <a:prstGeom prst="roundRect">
            <a:avLst>
              <a:gd name="adj" fmla="val 12121"/>
            </a:avLst>
          </a:prstGeom>
          <a:solidFill>
            <a:srgbClr val="FFFFFF"/>
          </a:solidFill>
          <a:ln w="9525">
            <a:solidFill>
              <a:srgbClr val="DCE1E7"/>
            </a:solidFill>
            <a:prstDash val="solid"/>
          </a:ln>
        </p:spPr>
      </p:sp>
      <p:sp>
        <p:nvSpPr>
          <p:cNvPr id="36" name="Shape 33"/>
          <p:cNvSpPr/>
          <p:nvPr/>
        </p:nvSpPr>
        <p:spPr>
          <a:xfrm>
            <a:off x="5230368" y="2862072"/>
            <a:ext cx="274320" cy="274320"/>
          </a:xfrm>
          <a:prstGeom prst="ellipse">
            <a:avLst/>
          </a:prstGeom>
          <a:solidFill>
            <a:srgbClr val="E3F4F1"/>
          </a:solidFill>
          <a:ln w="12700">
            <a:solidFill>
              <a:srgbClr val="E3F4F1"/>
            </a:solidFill>
            <a:prstDash val="solid"/>
          </a:ln>
        </p:spPr>
      </p:sp>
      <p:sp>
        <p:nvSpPr>
          <p:cNvPr id="37" name="Text 34"/>
          <p:cNvSpPr txBox="1"/>
          <p:nvPr/>
        </p:nvSpPr>
        <p:spPr>
          <a:xfrm>
            <a:off x="5230368" y="28620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38" name="Text 35"/>
          <p:cNvSpPr txBox="1"/>
          <p:nvPr/>
        </p:nvSpPr>
        <p:spPr>
          <a:xfrm>
            <a:off x="5596128" y="2697480"/>
            <a:ext cx="30632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Already addressed?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Use the existing offer, or upgrade it.</a:t>
            </a:r>
            <a:endParaRPr lang="en-US" sz="1050" dirty="0"/>
          </a:p>
        </p:txBody>
      </p:sp>
      <p:sp>
        <p:nvSpPr>
          <p:cNvPr id="39" name="Shape 36"/>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40" name="Image 0" descr="preencoded.png">    </p:cNvPr>
          <p:cNvPicPr>
            <a:picLocks noChangeAspect="1"/>
          </p:cNvPicPr>
          <p:nvPr/>
        </p:nvPicPr>
        <p:blipFill>
          <a:blip r:embed="rId1"/>
          <a:stretch>
            <a:fillRect/>
          </a:stretch>
        </p:blipFill>
        <p:spPr>
          <a:xfrm>
            <a:off x="566928" y="3721608"/>
            <a:ext cx="164592" cy="164592"/>
          </a:xfrm>
          <a:prstGeom prst="rect">
            <a:avLst/>
          </a:prstGeom>
        </p:spPr>
      </p:pic>
      <p:sp>
        <p:nvSpPr>
          <p:cNvPr id="41" name="Text 37"/>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the count:  </a:t>
            </a:r>
            <a:r>
              <a:rPr lang="en-US" sz="1000" dirty="0">
                <a:solidFill>
                  <a:srgbClr val="1D1D1F"/>
                </a:solidFill>
                <a:latin typeface="SF Pro Text" pitchFamily="34" charset="0"/>
                <a:ea typeface="SF Pro Text" pitchFamily="34" charset="-122"/>
                <a:cs typeface="SF Pro Text" pitchFamily="34" charset="-120"/>
              </a:rPr>
              <a:t>what matters is whether their current concern is already addressed.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Vouchers &amp; credits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Retention offer. Two separate jobs.</a:t>
            </a:r>
            <a:endParaRPr lang="en-US" sz="1200" dirty="0"/>
          </a:p>
        </p:txBody>
      </p:sp>
      <p:sp>
        <p:nvSpPr>
          <p:cNvPr id="6" name="Shape 3"/>
          <p:cNvSpPr/>
          <p:nvPr/>
        </p:nvSpPr>
        <p:spPr>
          <a:xfrm>
            <a:off x="411480" y="1325880"/>
            <a:ext cx="4091940" cy="1280160"/>
          </a:xfrm>
          <a:prstGeom prst="roundRect">
            <a:avLst>
              <a:gd name="adj" fmla="val 571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1: book again</a:t>
            </a:r>
            <a:endParaRPr lang="en-US" sz="1200" dirty="0"/>
          </a:p>
        </p:txBody>
      </p:sp>
      <p:sp>
        <p:nvSpPr>
          <p:cNvPr id="10" name="Text 6"/>
          <p:cNvSpPr txBox="1"/>
          <p:nvPr/>
        </p:nvSpPr>
        <p:spPr>
          <a:xfrm>
            <a:off x="576072" y="2221992"/>
            <a:ext cx="3762756" cy="2926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Get the customer booking their next cleaning.</a:t>
            </a:r>
            <a:endParaRPr lang="en-US" sz="950" dirty="0"/>
          </a:p>
        </p:txBody>
      </p:sp>
      <p:sp>
        <p:nvSpPr>
          <p:cNvPr id="11" name="Shape 7"/>
          <p:cNvSpPr/>
          <p:nvPr/>
        </p:nvSpPr>
        <p:spPr>
          <a:xfrm>
            <a:off x="4640580" y="1325880"/>
            <a:ext cx="4091940" cy="1280160"/>
          </a:xfrm>
          <a:prstGeom prst="roundRect">
            <a:avLst>
              <a:gd name="adj" fmla="val 571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2: repair trust</a:t>
            </a:r>
            <a:endParaRPr lang="en-US" sz="1200" dirty="0"/>
          </a:p>
        </p:txBody>
      </p:sp>
      <p:sp>
        <p:nvSpPr>
          <p:cNvPr id="15" name="Text 10"/>
          <p:cNvSpPr txBox="1"/>
          <p:nvPr/>
        </p:nvSpPr>
        <p:spPr>
          <a:xfrm>
            <a:off x="4805172" y="2221992"/>
            <a:ext cx="3762756" cy="2926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Make up for an issue still sitting with them. Ready to book ≠ resolved.</a:t>
            </a:r>
            <a:endParaRPr lang="en-US" sz="950" dirty="0"/>
          </a:p>
        </p:txBody>
      </p:sp>
      <p:sp>
        <p:nvSpPr>
          <p:cNvPr id="16" name="Text 11"/>
          <p:cNvSpPr txBox="1"/>
          <p:nvPr/>
        </p:nvSpPr>
        <p:spPr>
          <a:xfrm>
            <a:off x="411480" y="2761488"/>
            <a:ext cx="54864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FOR AN UNUSED ONE FIRST</a:t>
            </a:r>
            <a:endParaRPr lang="en-US" sz="800" dirty="0"/>
          </a:p>
        </p:txBody>
      </p:sp>
      <p:sp>
        <p:nvSpPr>
          <p:cNvPr id="17" name="Shape 12"/>
          <p:cNvSpPr/>
          <p:nvPr/>
        </p:nvSpPr>
        <p:spPr>
          <a:xfrm>
            <a:off x="411480" y="2990088"/>
            <a:ext cx="2682240" cy="566928"/>
          </a:xfrm>
          <a:prstGeom prst="roundRect">
            <a:avLst>
              <a:gd name="adj" fmla="val 12903"/>
            </a:avLst>
          </a:prstGeom>
          <a:solidFill>
            <a:srgbClr val="E3F4F1"/>
          </a:solidFill>
          <a:ln w="9525">
            <a:solidFill>
              <a:srgbClr val="E3F4F1"/>
            </a:solidFill>
            <a:prstDash val="solid"/>
          </a:ln>
        </p:spPr>
      </p:sp>
      <p:sp>
        <p:nvSpPr>
          <p:cNvPr id="18" name="Text 13"/>
          <p:cNvSpPr txBox="1"/>
          <p:nvPr/>
        </p:nvSpPr>
        <p:spPr>
          <a:xfrm>
            <a:off x="548640" y="2990088"/>
            <a:ext cx="2407920" cy="566928"/>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Less than appropriate</a:t>
            </a:r>
            <a:endParaRPr lang="en-US" sz="900" dirty="0"/>
          </a:p>
          <a:p>
            <a:pPr indent="0" marL="0">
              <a:buNone/>
            </a:pPr>
            <a:r>
              <a:rPr lang="en-US" sz="1100" b="1" dirty="0">
                <a:solidFill>
                  <a:srgbClr val="0B7A6F"/>
                </a:solidFill>
                <a:latin typeface="SF Pro Display" pitchFamily="34" charset="0"/>
                <a:ea typeface="SF Pro Display" pitchFamily="34" charset="-122"/>
                <a:cs typeface="SF Pro Display" pitchFamily="34" charset="-120"/>
              </a:rPr>
              <a:t>→ Top it up</a:t>
            </a:r>
            <a:endParaRPr lang="en-US" sz="900" dirty="0"/>
          </a:p>
        </p:txBody>
      </p:sp>
      <p:sp>
        <p:nvSpPr>
          <p:cNvPr id="19" name="Shape 14"/>
          <p:cNvSpPr/>
          <p:nvPr/>
        </p:nvSpPr>
        <p:spPr>
          <a:xfrm>
            <a:off x="3230880" y="2990088"/>
            <a:ext cx="2682240" cy="566928"/>
          </a:xfrm>
          <a:prstGeom prst="roundRect">
            <a:avLst>
              <a:gd name="adj" fmla="val 12903"/>
            </a:avLst>
          </a:prstGeom>
          <a:solidFill>
            <a:srgbClr val="E3F4F1"/>
          </a:solidFill>
          <a:ln w="9525">
            <a:solidFill>
              <a:srgbClr val="E3F4F1"/>
            </a:solidFill>
            <a:prstDash val="solid"/>
          </a:ln>
        </p:spPr>
      </p:sp>
      <p:sp>
        <p:nvSpPr>
          <p:cNvPr id="20" name="Text 15"/>
          <p:cNvSpPr txBox="1"/>
          <p:nvPr/>
        </p:nvSpPr>
        <p:spPr>
          <a:xfrm>
            <a:off x="3368040" y="2990088"/>
            <a:ext cx="2407920" cy="566928"/>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Meets or exceeds</a:t>
            </a:r>
            <a:endParaRPr lang="en-US" sz="900" dirty="0"/>
          </a:p>
          <a:p>
            <a:pPr indent="0" marL="0">
              <a:buNone/>
            </a:pPr>
            <a:r>
              <a:rPr lang="en-US" sz="1100" b="1" dirty="0">
                <a:solidFill>
                  <a:srgbClr val="0B7A6F"/>
                </a:solidFill>
                <a:latin typeface="SF Pro Display" pitchFamily="34" charset="0"/>
                <a:ea typeface="SF Pro Display" pitchFamily="34" charset="-122"/>
                <a:cs typeface="SF Pro Display" pitchFamily="34" charset="-120"/>
              </a:rPr>
              <a:t>→ Use that one</a:t>
            </a:r>
            <a:endParaRPr lang="en-US" sz="900" dirty="0"/>
          </a:p>
        </p:txBody>
      </p:sp>
      <p:sp>
        <p:nvSpPr>
          <p:cNvPr id="21" name="Shape 16"/>
          <p:cNvSpPr/>
          <p:nvPr/>
        </p:nvSpPr>
        <p:spPr>
          <a:xfrm>
            <a:off x="6050280" y="2990088"/>
            <a:ext cx="2682240" cy="566928"/>
          </a:xfrm>
          <a:prstGeom prst="roundRect">
            <a:avLst>
              <a:gd name="adj" fmla="val 12903"/>
            </a:avLst>
          </a:prstGeom>
          <a:solidFill>
            <a:srgbClr val="E3F4F1"/>
          </a:solidFill>
          <a:ln w="9525">
            <a:solidFill>
              <a:srgbClr val="E3F4F1"/>
            </a:solidFill>
            <a:prstDash val="solid"/>
          </a:ln>
        </p:spPr>
      </p:sp>
      <p:sp>
        <p:nvSpPr>
          <p:cNvPr id="22" name="Text 17"/>
          <p:cNvSpPr txBox="1"/>
          <p:nvPr/>
        </p:nvSpPr>
        <p:spPr>
          <a:xfrm>
            <a:off x="6187440" y="2990088"/>
            <a:ext cx="2407920" cy="566928"/>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Already used</a:t>
            </a:r>
            <a:endParaRPr lang="en-US" sz="900" dirty="0"/>
          </a:p>
          <a:p>
            <a:pPr indent="0" marL="0">
              <a:buNone/>
            </a:pPr>
            <a:r>
              <a:rPr lang="en-US" sz="1100" b="1" dirty="0">
                <a:solidFill>
                  <a:srgbClr val="0B7A6F"/>
                </a:solidFill>
                <a:latin typeface="SF Pro Display" pitchFamily="34" charset="0"/>
                <a:ea typeface="SF Pro Display" pitchFamily="34" charset="-122"/>
                <a:cs typeface="SF Pro Display" pitchFamily="34" charset="-120"/>
              </a:rPr>
              <a:t>→ Issue new, if it qualifies</a:t>
            </a:r>
            <a:endParaRPr lang="en-US" sz="900" dirty="0"/>
          </a:p>
        </p:txBody>
      </p:sp>
      <p:sp>
        <p:nvSpPr>
          <p:cNvPr id="23" name="Shape 18"/>
          <p:cNvSpPr/>
          <p:nvPr/>
        </p:nvSpPr>
        <p:spPr>
          <a:xfrm>
            <a:off x="411480" y="3730752"/>
            <a:ext cx="8321040" cy="384048"/>
          </a:xfrm>
          <a:prstGeom prst="roundRect">
            <a:avLst>
              <a:gd name="adj" fmla="val 19048"/>
            </a:avLst>
          </a:prstGeom>
          <a:solidFill>
            <a:srgbClr val="FCEBEA"/>
          </a:solidFill>
          <a:ln w="9525">
            <a:solidFill>
              <a:srgbClr val="B3261E"/>
            </a:solidFill>
            <a:prstDash val="solid"/>
          </a:ln>
        </p:spPr>
      </p:sp>
      <p:pic>
        <p:nvPicPr>
          <p:cNvPr id="24" name="Image 2" descr="preencoded.png">    </p:cNvPr>
          <p:cNvPicPr>
            <a:picLocks noChangeAspect="1"/>
          </p:cNvPicPr>
          <p:nvPr/>
        </p:nvPicPr>
        <p:blipFill>
          <a:blip r:embed="rId3"/>
          <a:stretch>
            <a:fillRect/>
          </a:stretch>
        </p:blipFill>
        <p:spPr>
          <a:xfrm>
            <a:off x="566928" y="3840480"/>
            <a:ext cx="164592" cy="164592"/>
          </a:xfrm>
          <a:prstGeom prst="rect">
            <a:avLst/>
          </a:prstGeom>
        </p:spPr>
      </p:pic>
      <p:sp>
        <p:nvSpPr>
          <p:cNvPr id="25" name="Text 19"/>
          <p:cNvSpPr txBox="1"/>
          <p:nvPr/>
        </p:nvSpPr>
        <p:spPr>
          <a:xfrm>
            <a:off x="822960" y="3730752"/>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Possible abuse?  </a:t>
            </a:r>
            <a:r>
              <a:rPr lang="en-US" sz="1000" dirty="0">
                <a:solidFill>
                  <a:srgbClr val="1D1D1F"/>
                </a:solidFill>
                <a:latin typeface="SF Pro Text" pitchFamily="34" charset="0"/>
                <a:ea typeface="SF Pro Text" pitchFamily="34" charset="-122"/>
                <a:cs typeface="SF Pro Text" pitchFamily="34" charset="-120"/>
              </a:rPr>
              <a:t>don't issue another right away. Confirm the current complaint qualifies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MF reduction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Retention offer for when the membership fee itself feels too costly.</a:t>
            </a:r>
            <a:endParaRPr lang="en-US" sz="1200" dirty="0"/>
          </a:p>
        </p:txBody>
      </p:sp>
      <p:sp>
        <p:nvSpPr>
          <p:cNvPr id="6" name="Shape 3"/>
          <p:cNvSpPr/>
          <p:nvPr/>
        </p:nvSpPr>
        <p:spPr>
          <a:xfrm>
            <a:off x="411480" y="1325880"/>
            <a:ext cx="4069080" cy="1188720"/>
          </a:xfrm>
          <a:prstGeom prst="roundRect">
            <a:avLst>
              <a:gd name="adj" fmla="val 6154"/>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Membership cost</a:t>
            </a:r>
            <a:endParaRPr lang="en-US" sz="1050" dirty="0"/>
          </a:p>
        </p:txBody>
      </p:sp>
      <p:sp>
        <p:nvSpPr>
          <p:cNvPr id="8" name="Text 5"/>
          <p:cNvSpPr txBox="1"/>
          <p:nvPr/>
        </p:nvSpPr>
        <p:spPr>
          <a:xfrm>
            <a:off x="576072" y="1764792"/>
            <a:ext cx="3739896" cy="67665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"It isn't worth it" / "I can't afford it"</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MF reduction is your default</a:t>
            </a:r>
            <a:endParaRPr lang="en-US" sz="950" dirty="0"/>
          </a:p>
        </p:txBody>
      </p:sp>
      <p:sp>
        <p:nvSpPr>
          <p:cNvPr id="9" name="Shape 6"/>
          <p:cNvSpPr/>
          <p:nvPr/>
        </p:nvSpPr>
        <p:spPr>
          <a:xfrm>
            <a:off x="4663440" y="1325880"/>
            <a:ext cx="4069080" cy="1188720"/>
          </a:xfrm>
          <a:prstGeom prst="roundRect">
            <a:avLst>
              <a:gd name="adj" fmla="val 6154"/>
            </a:avLst>
          </a:prstGeom>
          <a:solidFill>
            <a:srgbClr val="FFFFFF"/>
          </a:solidFill>
          <a:ln w="9525">
            <a:solidFill>
              <a:srgbClr val="1D1D1F"/>
            </a:solidFill>
            <a:prstDash val="solid"/>
          </a:ln>
        </p:spPr>
      </p:sp>
      <p:sp>
        <p:nvSpPr>
          <p:cNvPr id="10" name="Text 7"/>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Cleaner's rate too high</a:t>
            </a:r>
            <a:endParaRPr lang="en-US" sz="1050" dirty="0"/>
          </a:p>
        </p:txBody>
      </p:sp>
      <p:sp>
        <p:nvSpPr>
          <p:cNvPr id="11" name="Text 8"/>
          <p:cNvSpPr txBox="1"/>
          <p:nvPr/>
        </p:nvSpPr>
        <p:spPr>
          <a:xfrm>
            <a:off x="4828032" y="1764792"/>
            <a:ext cx="3739896" cy="67665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 per-cleaning cost problem</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See Setting Max CP Rate</a:t>
            </a:r>
            <a:endParaRPr lang="en-US" sz="950" dirty="0"/>
          </a:p>
        </p:txBody>
      </p:sp>
      <p:sp>
        <p:nvSpPr>
          <p:cNvPr id="12" name="Shape 9"/>
          <p:cNvSpPr/>
          <p:nvPr/>
        </p:nvSpPr>
        <p:spPr>
          <a:xfrm>
            <a:off x="411480" y="2697480"/>
            <a:ext cx="2651760" cy="1188720"/>
          </a:xfrm>
          <a:prstGeom prst="roundRect">
            <a:avLst>
              <a:gd name="adj" fmla="val 6154"/>
            </a:avLst>
          </a:prstGeom>
          <a:solidFill>
            <a:srgbClr val="FFFFFF"/>
          </a:solidFill>
          <a:ln w="9525">
            <a:solidFill>
              <a:srgbClr val="DCE1E7"/>
            </a:solidFill>
            <a:prstDash val="solid"/>
          </a:ln>
        </p:spPr>
      </p:sp>
      <p:sp>
        <p:nvSpPr>
          <p:cNvPr id="13" name="Text 10"/>
          <p:cNvSpPr txBox="1"/>
          <p:nvPr/>
        </p:nvSpPr>
        <p:spPr>
          <a:xfrm>
            <a:off x="411480" y="2862072"/>
            <a:ext cx="265176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$10–$15</a:t>
            </a:r>
            <a:endParaRPr lang="en-US" sz="3000" dirty="0"/>
          </a:p>
        </p:txBody>
      </p:sp>
      <p:sp>
        <p:nvSpPr>
          <p:cNvPr id="14" name="Text 11"/>
          <p:cNvSpPr txBox="1"/>
          <p:nvPr/>
        </p:nvSpPr>
        <p:spPr>
          <a:xfrm>
            <a:off x="594360" y="3520440"/>
            <a:ext cx="228600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common, 1 to 5 months paid</a:t>
            </a:r>
            <a:endParaRPr lang="en-US" sz="1000" dirty="0"/>
          </a:p>
        </p:txBody>
      </p:sp>
      <p:sp>
        <p:nvSpPr>
          <p:cNvPr id="15" name="Shape 12"/>
          <p:cNvSpPr/>
          <p:nvPr/>
        </p:nvSpPr>
        <p:spPr>
          <a:xfrm>
            <a:off x="3200400" y="2697480"/>
            <a:ext cx="2651760" cy="1188720"/>
          </a:xfrm>
          <a:prstGeom prst="roundRect">
            <a:avLst>
              <a:gd name="adj" fmla="val 6154"/>
            </a:avLst>
          </a:prstGeom>
          <a:solidFill>
            <a:srgbClr val="FFFFFF"/>
          </a:solidFill>
          <a:ln w="9525">
            <a:solidFill>
              <a:srgbClr val="DCE1E7"/>
            </a:solidFill>
            <a:prstDash val="solid"/>
          </a:ln>
        </p:spPr>
      </p:sp>
      <p:sp>
        <p:nvSpPr>
          <p:cNvPr id="16" name="Text 13"/>
          <p:cNvSpPr txBox="1"/>
          <p:nvPr/>
        </p:nvSpPr>
        <p:spPr>
          <a:xfrm>
            <a:off x="3200400" y="2862072"/>
            <a:ext cx="265176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Up to 50%</a:t>
            </a:r>
            <a:endParaRPr lang="en-US" sz="3000" dirty="0"/>
          </a:p>
        </p:txBody>
      </p:sp>
      <p:sp>
        <p:nvSpPr>
          <p:cNvPr id="17" name="Text 14"/>
          <p:cNvSpPr txBox="1"/>
          <p:nvPr/>
        </p:nvSpPr>
        <p:spPr>
          <a:xfrm>
            <a:off x="3383280" y="3520440"/>
            <a:ext cx="228600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rare cases, usually with Support approval</a:t>
            </a:r>
            <a:endParaRPr lang="en-US" sz="1000" dirty="0"/>
          </a:p>
        </p:txBody>
      </p:sp>
      <p:sp>
        <p:nvSpPr>
          <p:cNvPr id="18" name="Shape 15"/>
          <p:cNvSpPr/>
          <p:nvPr/>
        </p:nvSpPr>
        <p:spPr>
          <a:xfrm>
            <a:off x="5989320" y="2697480"/>
            <a:ext cx="2743200" cy="1188720"/>
          </a:xfrm>
          <a:prstGeom prst="roundRect">
            <a:avLst>
              <a:gd name="adj" fmla="val 6154"/>
            </a:avLst>
          </a:prstGeom>
          <a:solidFill>
            <a:srgbClr val="FFFFFF"/>
          </a:solidFill>
          <a:ln w="9525">
            <a:solidFill>
              <a:srgbClr val="DCE1E7"/>
            </a:solidFill>
            <a:prstDash val="solid"/>
          </a:ln>
        </p:spPr>
      </p:sp>
      <p:sp>
        <p:nvSpPr>
          <p:cNvPr id="19" name="Text 16"/>
          <p:cNvSpPr txBox="1"/>
          <p:nvPr/>
        </p:nvSpPr>
        <p:spPr>
          <a:xfrm>
            <a:off x="6126480" y="2697480"/>
            <a:ext cx="2514600" cy="1188720"/>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 from $59</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On $49, now qualifies for $15:</a:t>
            </a:r>
            <a:endParaRPr lang="en-US" sz="1200" dirty="0"/>
          </a:p>
          <a:p>
            <a:pPr indent="0" marL="0">
              <a:buNone/>
            </a:pPr>
            <a:r>
              <a:rPr lang="en-US" sz="1100" b="1" dirty="0">
                <a:solidFill>
                  <a:srgbClr val="1D1D1F"/>
                </a:solidFill>
                <a:latin typeface="SF Pro Text" pitchFamily="34" charset="0"/>
                <a:ea typeface="SF Pro Text" pitchFamily="34" charset="-122"/>
                <a:cs typeface="SF Pro Text" pitchFamily="34" charset="-120"/>
              </a:rPr>
              <a:t>$59 − $15 = $44</a:t>
            </a:r>
            <a:endParaRPr lang="en-US" sz="1200" dirty="0"/>
          </a:p>
          <a:p>
            <a:pPr indent="0" marL="0">
              <a:buNone/>
            </a:pPr>
            <a:r>
              <a:rPr lang="en-US" sz="900" dirty="0">
                <a:solidFill>
                  <a:srgbClr val="B3261E"/>
                </a:solidFill>
                <a:latin typeface="SF Pro Text" pitchFamily="34" charset="0"/>
                <a:ea typeface="SF Pro Text" pitchFamily="34" charset="-122"/>
                <a:cs typeface="SF Pro Text" pitchFamily="34" charset="-120"/>
              </a:rPr>
              <a:t>not $34</a:t>
            </a:r>
            <a:endParaRPr lang="en-US" sz="1200" dirty="0"/>
          </a:p>
        </p:txBody>
      </p:sp>
      <p:sp>
        <p:nvSpPr>
          <p:cNvPr id="20" name="Shape 17"/>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22" name="Text 18"/>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Don't shorten the cleaning:  </a:t>
            </a:r>
            <a:r>
              <a:rPr lang="en-US" sz="1000" dirty="0">
                <a:solidFill>
                  <a:srgbClr val="1D1D1F"/>
                </a:solidFill>
                <a:latin typeface="SF Pro Text" pitchFamily="34" charset="0"/>
                <a:ea typeface="SF Pro Text" pitchFamily="34" charset="-122"/>
                <a:cs typeface="SF Pro Text" pitchFamily="34" charset="-120"/>
              </a:rPr>
              <a:t>it trades a cost complaint for a quality complaint.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MCT reduction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jobs. Cap: 2 months off the original 6-month MCT.</a:t>
            </a:r>
            <a:endParaRPr lang="en-US" sz="1200" dirty="0"/>
          </a:p>
        </p:txBody>
      </p:sp>
      <p:sp>
        <p:nvSpPr>
          <p:cNvPr id="6" name="Shape 3"/>
          <p:cNvSpPr/>
          <p:nvPr/>
        </p:nvSpPr>
        <p:spPr>
          <a:xfrm>
            <a:off x="411480" y="1325880"/>
            <a:ext cx="4069080" cy="1280160"/>
          </a:xfrm>
          <a:prstGeom prst="roundRect">
            <a:avLst>
              <a:gd name="adj" fmla="val 5714"/>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Job 1: Retention</a:t>
            </a:r>
            <a:endParaRPr lang="en-US" sz="1050" dirty="0"/>
          </a:p>
        </p:txBody>
      </p:sp>
      <p:sp>
        <p:nvSpPr>
          <p:cNvPr id="8" name="Text 5"/>
          <p:cNvSpPr txBox="1"/>
          <p:nvPr/>
        </p:nvSpPr>
        <p:spPr>
          <a:xfrm>
            <a:off x="576072" y="1764792"/>
            <a:ext cx="3739896" cy="76809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"Six months is too long"</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Vague concern: start with 1 month</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Concrete reason: go straight to 2</a:t>
            </a:r>
            <a:endParaRPr lang="en-US" sz="950" dirty="0"/>
          </a:p>
        </p:txBody>
      </p:sp>
      <p:sp>
        <p:nvSpPr>
          <p:cNvPr id="9" name="Shape 6"/>
          <p:cNvSpPr/>
          <p:nvPr/>
        </p:nvSpPr>
        <p:spPr>
          <a:xfrm>
            <a:off x="4663440" y="1325880"/>
            <a:ext cx="4069080" cy="1280160"/>
          </a:xfrm>
          <a:prstGeom prst="roundRect">
            <a:avLst>
              <a:gd name="adj" fmla="val 5714"/>
            </a:avLst>
          </a:prstGeom>
          <a:solidFill>
            <a:srgbClr val="FFFFFF"/>
          </a:solidFill>
          <a:ln w="9525">
            <a:solidFill>
              <a:srgbClr val="1D1D1F"/>
            </a:solidFill>
            <a:prstDash val="solid"/>
          </a:ln>
        </p:spPr>
      </p:sp>
      <p:sp>
        <p:nvSpPr>
          <p:cNvPr id="10" name="Text 7"/>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Job 2: Exit</a:t>
            </a:r>
            <a:endParaRPr lang="en-US" sz="1050" dirty="0"/>
          </a:p>
        </p:txBody>
      </p:sp>
      <p:sp>
        <p:nvSpPr>
          <p:cNvPr id="11" name="Text 8"/>
          <p:cNvSpPr txBox="1"/>
          <p:nvPr/>
        </p:nvSpPr>
        <p:spPr>
          <a:xfrm>
            <a:off x="4828032" y="1764792"/>
            <a:ext cx="3739896" cy="76809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isn't retainable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2 months if incredibly escalated</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Or it's the most amicable close</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011680"/>
                <a:gridCol w="6309360"/>
              </a:tblGrid>
              <a:tr h="29260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Months paid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MCT reduction</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1–3 months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1–2 months off the original MCT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4 months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 month off (ETF still applies). 2 only if incredibly escalated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5 months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 month off: effectively waives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3" name="Shape 9"/>
          <p:cNvSpPr/>
          <p:nvPr/>
        </p:nvSpPr>
        <p:spPr>
          <a:xfrm>
            <a:off x="411480" y="4160520"/>
            <a:ext cx="8321040" cy="384048"/>
          </a:xfrm>
          <a:prstGeom prst="roundRect">
            <a:avLst>
              <a:gd name="adj" fmla="val 19048"/>
            </a:avLst>
          </a:prstGeom>
          <a:solidFill>
            <a:srgbClr val="FFF3D6"/>
          </a:solidFill>
          <a:ln w="9525">
            <a:solidFill>
              <a:srgbClr val="FFF3D6"/>
            </a:solidFill>
            <a:prstDash val="solid"/>
          </a:ln>
        </p:spPr>
      </p:sp>
      <p:pic>
        <p:nvPicPr>
          <p:cNvPr id="14" name="Image 0" descr="preencoded.png">    </p:cNvPr>
          <p:cNvPicPr>
            <a:picLocks noChangeAspect="1"/>
          </p:cNvPicPr>
          <p:nvPr/>
        </p:nvPicPr>
        <p:blipFill>
          <a:blip r:embed="rId1"/>
          <a:stretch>
            <a:fillRect/>
          </a:stretch>
        </p:blipFill>
        <p:spPr>
          <a:xfrm>
            <a:off x="566928" y="4270248"/>
            <a:ext cx="164592" cy="164592"/>
          </a:xfrm>
          <a:prstGeom prst="rect">
            <a:avLst/>
          </a:prstGeom>
        </p:spPr>
      </p:pic>
      <p:sp>
        <p:nvSpPr>
          <p:cNvPr id="15" name="Text 10"/>
          <p:cNvSpPr txBox="1"/>
          <p:nvPr/>
        </p:nvSpPr>
        <p:spPr>
          <a:xfrm>
            <a:off x="822960" y="4261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Decide upfront:  </a:t>
            </a:r>
            <a:r>
              <a:rPr lang="en-US" sz="1000" dirty="0">
                <a:solidFill>
                  <a:srgbClr val="1D1D1F"/>
                </a:solidFill>
                <a:latin typeface="SF Pro Text" pitchFamily="34" charset="0"/>
                <a:ea typeface="SF Pro Text" pitchFamily="34" charset="-122"/>
                <a:cs typeface="SF Pro Text" pitchFamily="34" charset="-120"/>
              </a:rPr>
              <a:t>don't offer 1 month and upgrade when they push back.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Free months: two jobs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Retention offer. Give back paid time, or block a badly timed charge.</a:t>
            </a:r>
            <a:endParaRPr lang="en-US" sz="1200" dirty="0"/>
          </a:p>
        </p:txBody>
      </p:sp>
      <p:sp>
        <p:nvSpPr>
          <p:cNvPr id="6" name="Shape 3"/>
          <p:cNvSpPr/>
          <p:nvPr/>
        </p:nvSpPr>
        <p:spPr>
          <a:xfrm>
            <a:off x="411480" y="1325880"/>
            <a:ext cx="3657600" cy="2514600"/>
          </a:xfrm>
          <a:prstGeom prst="roundRect">
            <a:avLst>
              <a:gd name="adj" fmla="val 2909"/>
            </a:avLst>
          </a:prstGeom>
          <a:solidFill>
            <a:srgbClr val="E3F4F1"/>
          </a:solidFill>
          <a:ln w="9525">
            <a:solidFill>
              <a:srgbClr val="0B7A6F"/>
            </a:solidFill>
            <a:prstDash val="solid"/>
          </a:ln>
        </p:spPr>
      </p:sp>
      <p:sp>
        <p:nvSpPr>
          <p:cNvPr id="7" name="Text 4"/>
          <p:cNvSpPr/>
          <p:nvPr/>
        </p:nvSpPr>
        <p:spPr>
          <a:xfrm>
            <a:off x="411480" y="1325880"/>
            <a:ext cx="365760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Job 1: Give back paid time</a:t>
            </a:r>
            <a:endParaRPr lang="en-US" sz="1050" dirty="0"/>
          </a:p>
        </p:txBody>
      </p:sp>
      <p:sp>
        <p:nvSpPr>
          <p:cNvPr id="8" name="Text 5"/>
          <p:cNvSpPr txBox="1"/>
          <p:nvPr/>
        </p:nvSpPr>
        <p:spPr>
          <a:xfrm>
            <a:off x="576072" y="1764792"/>
            <a:ext cx="3328416" cy="20025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Unused MF within the 120-day window</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Doesn't need to be recent or in a row</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Check by month, not by customer</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Older than 120 days: </a:t>
            </a:r>
            <a:r>
              <a:rPr lang="en-US" sz="950" dirty="0">
                <a:solidFill>
                  <a:srgbClr val="1D1D1F"/>
                </a:solidFill>
                <a:latin typeface="SF Pro Text" pitchFamily="34" charset="0"/>
                <a:ea typeface="SF Pro Text" pitchFamily="34" charset="-122"/>
                <a:cs typeface="SF Pro Text" pitchFamily="34" charset="-120"/>
              </a:rPr>
              <a:t>Support approves first</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206240" y="1325880"/>
          <a:ext cx="4526280" cy="914400"/>
        </p:xfrm>
        <a:graphic>
          <a:graphicData uri="http://schemas.openxmlformats.org/drawingml/2006/table">
            <a:tbl>
              <a:tblPr/>
              <a:tblGrid>
                <a:gridCol w="3246120"/>
                <a:gridCol w="1280160"/>
              </a:tblGrid>
              <a:tr h="310896">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Job 2: charge coming at a bad time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Give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Legacy DHJ: cancelling, ≤3 weeks into the MF cycle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Free month</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FCF: cancelling over a service issue AND MF due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Free month</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Cancelling, next MF in ~5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Free time now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Cancelling, MF already overdue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Bring MF current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Not cancelling, 2+ overdue MFs (or within 7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Bring MF current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0" name="Shape 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1" name="Image 0" descr="preencoded.png">    </p:cNvPr>
          <p:cNvPicPr>
            <a:picLocks noChangeAspect="1"/>
          </p:cNvPicPr>
          <p:nvPr/>
        </p:nvPicPr>
        <p:blipFill>
          <a:blip r:embed="rId1"/>
          <a:stretch>
            <a:fillRect/>
          </a:stretch>
        </p:blipFill>
        <p:spPr>
          <a:xfrm>
            <a:off x="566928" y="4087368"/>
            <a:ext cx="164592" cy="164592"/>
          </a:xfrm>
          <a:prstGeom prst="rect">
            <a:avLst/>
          </a:prstGeom>
        </p:spPr>
      </p:pic>
      <p:sp>
        <p:nvSpPr>
          <p:cNvPr id="12" name="Text 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Job 2:  </a:t>
            </a:r>
            <a:r>
              <a:rPr lang="en-US" sz="1000" dirty="0">
                <a:solidFill>
                  <a:srgbClr val="1D1D1F"/>
                </a:solidFill>
                <a:latin typeface="SF Pro Text" pitchFamily="34" charset="0"/>
                <a:ea typeface="SF Pro Text" pitchFamily="34" charset="-122"/>
                <a:cs typeface="SF Pro Text" pitchFamily="34" charset="-120"/>
              </a:rPr>
              <a:t>give it now. Don't offer and wait, or they may be charged before they reply.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Free month caps &amp; repeat pauses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Free months only work while FC is active.</a:t>
            </a:r>
            <a:endParaRPr lang="en-US" sz="1200" dirty="0"/>
          </a:p>
        </p:txBody>
      </p:sp>
      <p:sp>
        <p:nvSpPr>
          <p:cNvPr id="6" name="Shape 3"/>
          <p:cNvSpPr/>
          <p:nvPr/>
        </p:nvSpPr>
        <p:spPr>
          <a:xfrm>
            <a:off x="411480" y="1325880"/>
            <a:ext cx="2682240" cy="1143000"/>
          </a:xfrm>
          <a:prstGeom prst="roundRect">
            <a:avLst>
              <a:gd name="adj" fmla="val 6400"/>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3 months</a:t>
            </a:r>
            <a:endParaRPr lang="en-US" sz="3000" dirty="0"/>
          </a:p>
        </p:txBody>
      </p:sp>
      <p:sp>
        <p:nvSpPr>
          <p:cNvPr id="8" name="Text 5"/>
          <p:cNvSpPr txBox="1"/>
          <p:nvPr/>
        </p:nvSpPr>
        <p:spPr>
          <a:xfrm>
            <a:off x="594360" y="2148840"/>
            <a:ext cx="2316480" cy="22860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Standard cap</a:t>
            </a:r>
            <a:endParaRPr lang="en-US" sz="1000" dirty="0"/>
          </a:p>
        </p:txBody>
      </p:sp>
      <p:sp>
        <p:nvSpPr>
          <p:cNvPr id="9" name="Shape 6"/>
          <p:cNvSpPr/>
          <p:nvPr/>
        </p:nvSpPr>
        <p:spPr>
          <a:xfrm>
            <a:off x="3230880" y="1325880"/>
            <a:ext cx="2682240" cy="1143000"/>
          </a:xfrm>
          <a:prstGeom prst="roundRect">
            <a:avLst>
              <a:gd name="adj" fmla="val 6400"/>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6 months</a:t>
            </a:r>
            <a:endParaRPr lang="en-US" sz="3000" dirty="0"/>
          </a:p>
        </p:txBody>
      </p:sp>
      <p:sp>
        <p:nvSpPr>
          <p:cNvPr id="11" name="Text 8"/>
          <p:cNvSpPr txBox="1"/>
          <p:nvPr/>
        </p:nvSpPr>
        <p:spPr>
          <a:xfrm>
            <a:off x="3413760" y="2148840"/>
            <a:ext cx="2316480" cy="22860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Pausing. More needs Support</a:t>
            </a:r>
            <a:endParaRPr lang="en-US" sz="1000" dirty="0"/>
          </a:p>
        </p:txBody>
      </p:sp>
      <p:sp>
        <p:nvSpPr>
          <p:cNvPr id="12" name="Shape 9"/>
          <p:cNvSpPr/>
          <p:nvPr/>
        </p:nvSpPr>
        <p:spPr>
          <a:xfrm>
            <a:off x="6050280" y="1325880"/>
            <a:ext cx="2682240" cy="1143000"/>
          </a:xfrm>
          <a:prstGeom prst="roundRect">
            <a:avLst>
              <a:gd name="adj" fmla="val 6400"/>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As needed</a:t>
            </a:r>
            <a:endParaRPr lang="en-US" sz="3000" dirty="0"/>
          </a:p>
        </p:txBody>
      </p:sp>
      <p:sp>
        <p:nvSpPr>
          <p:cNvPr id="14" name="Text 11"/>
          <p:cNvSpPr txBox="1"/>
          <p:nvPr/>
        </p:nvSpPr>
        <p:spPr>
          <a:xfrm>
            <a:off x="6233160" y="2148840"/>
            <a:ext cx="2316480" cy="22860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Bulk overdue charges</a:t>
            </a:r>
            <a:endParaRPr lang="en-US" sz="1000" dirty="0"/>
          </a:p>
        </p:txBody>
      </p:sp>
      <p:sp>
        <p:nvSpPr>
          <p:cNvPr id="15" name="Text 12"/>
          <p:cNvSpPr txBox="1"/>
          <p:nvPr/>
        </p:nvSpPr>
        <p:spPr>
          <a:xfrm>
            <a:off x="411480" y="2633472"/>
            <a:ext cx="64008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ASKS TO PAUSE AGAIN? ALL THREE MUST BE TRUE</a:t>
            </a:r>
            <a:endParaRPr lang="en-US" sz="800" dirty="0"/>
          </a:p>
        </p:txBody>
      </p:sp>
      <p:sp>
        <p:nvSpPr>
          <p:cNvPr id="16" name="Shape 13"/>
          <p:cNvSpPr/>
          <p:nvPr/>
        </p:nvSpPr>
        <p:spPr>
          <a:xfrm>
            <a:off x="411480" y="2852928"/>
            <a:ext cx="2682240" cy="658368"/>
          </a:xfrm>
          <a:prstGeom prst="roundRect">
            <a:avLst>
              <a:gd name="adj" fmla="val 11111"/>
            </a:avLst>
          </a:prstGeom>
          <a:solidFill>
            <a:srgbClr val="FFFFFF"/>
          </a:solidFill>
          <a:ln w="9525">
            <a:solidFill>
              <a:srgbClr val="DCE1E7"/>
            </a:solidFill>
            <a:prstDash val="solid"/>
          </a:ln>
        </p:spPr>
      </p:sp>
      <p:sp>
        <p:nvSpPr>
          <p:cNvPr id="17" name="Shape 14"/>
          <p:cNvSpPr/>
          <p:nvPr/>
        </p:nvSpPr>
        <p:spPr>
          <a:xfrm>
            <a:off x="539496" y="3017520"/>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18500" y="3096524"/>
            <a:ext cx="171176" cy="171176"/>
          </a:xfrm>
          <a:prstGeom prst="rect">
            <a:avLst/>
          </a:prstGeom>
        </p:spPr>
      </p:pic>
      <p:sp>
        <p:nvSpPr>
          <p:cNvPr id="19" name="Text 15"/>
          <p:cNvSpPr txBox="1"/>
          <p:nvPr/>
        </p:nvSpPr>
        <p:spPr>
          <a:xfrm>
            <a:off x="960120" y="2852928"/>
            <a:ext cx="2042160" cy="658368"/>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2+ MFs charged and paid</a:t>
            </a:r>
            <a:endParaRPr lang="en-US" sz="1000" dirty="0"/>
          </a:p>
          <a:p>
            <a:pPr indent="0" marL="0">
              <a:buNone/>
            </a:pPr>
            <a:r>
              <a:rPr lang="en-US" sz="850" dirty="0">
                <a:solidFill>
                  <a:srgbClr val="6E6E73"/>
                </a:solidFill>
                <a:latin typeface="SF Pro Text" pitchFamily="34" charset="0"/>
                <a:ea typeface="SF Pro Text" pitchFamily="34" charset="-122"/>
                <a:cs typeface="SF Pro Text" pitchFamily="34" charset="-120"/>
              </a:rPr>
              <a:t>since the last pause ended</a:t>
            </a:r>
            <a:endParaRPr lang="en-US" sz="1000" dirty="0"/>
          </a:p>
        </p:txBody>
      </p:sp>
      <p:sp>
        <p:nvSpPr>
          <p:cNvPr id="20" name="Shape 16"/>
          <p:cNvSpPr/>
          <p:nvPr/>
        </p:nvSpPr>
        <p:spPr>
          <a:xfrm>
            <a:off x="3230880" y="2852928"/>
            <a:ext cx="268224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3358896" y="3017520"/>
            <a:ext cx="329184" cy="329184"/>
          </a:xfrm>
          <a:prstGeom prst="ellipse">
            <a:avLst/>
          </a:prstGeom>
          <a:solidFill>
            <a:srgbClr val="E3F4F1"/>
          </a:solidFill>
          <a:ln w="12700">
            <a:solidFill>
              <a:srgbClr val="E3F4F1"/>
            </a:solidFill>
            <a:prstDash val="solid"/>
          </a:ln>
        </p:spPr>
      </p:sp>
      <p:pic>
        <p:nvPicPr>
          <p:cNvPr id="22" name="Image 1" descr="preencoded.png">    </p:cNvPr>
          <p:cNvPicPr>
            <a:picLocks noChangeAspect="1"/>
          </p:cNvPicPr>
          <p:nvPr/>
        </p:nvPicPr>
        <p:blipFill>
          <a:blip r:embed="rId2"/>
          <a:stretch>
            <a:fillRect/>
          </a:stretch>
        </p:blipFill>
        <p:spPr>
          <a:xfrm>
            <a:off x="3437900" y="3096524"/>
            <a:ext cx="171176" cy="171176"/>
          </a:xfrm>
          <a:prstGeom prst="rect">
            <a:avLst/>
          </a:prstGeom>
        </p:spPr>
      </p:pic>
      <p:sp>
        <p:nvSpPr>
          <p:cNvPr id="23" name="Text 18"/>
          <p:cNvSpPr txBox="1"/>
          <p:nvPr/>
        </p:nvSpPr>
        <p:spPr>
          <a:xfrm>
            <a:off x="3779520" y="2852928"/>
            <a:ext cx="2042160" cy="658368"/>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Actually using the service</a:t>
            </a:r>
            <a:endParaRPr lang="en-US" sz="1000" dirty="0"/>
          </a:p>
          <a:p>
            <a:pPr indent="0" marL="0">
              <a:buNone/>
            </a:pPr>
            <a:r>
              <a:rPr lang="en-US" sz="850" dirty="0">
                <a:solidFill>
                  <a:srgbClr val="6E6E73"/>
                </a:solidFill>
                <a:latin typeface="SF Pro Text" pitchFamily="34" charset="0"/>
                <a:ea typeface="SF Pro Text" pitchFamily="34" charset="-122"/>
                <a:cs typeface="SF Pro Text" pitchFamily="34" charset="-120"/>
              </a:rPr>
              <a:t>booked or completed cleanings</a:t>
            </a:r>
            <a:endParaRPr lang="en-US" sz="1000" dirty="0"/>
          </a:p>
        </p:txBody>
      </p:sp>
      <p:sp>
        <p:nvSpPr>
          <p:cNvPr id="24" name="Shape 19"/>
          <p:cNvSpPr/>
          <p:nvPr/>
        </p:nvSpPr>
        <p:spPr>
          <a:xfrm>
            <a:off x="6050280" y="2852928"/>
            <a:ext cx="2682240" cy="658368"/>
          </a:xfrm>
          <a:prstGeom prst="roundRect">
            <a:avLst>
              <a:gd name="adj" fmla="val 11111"/>
            </a:avLst>
          </a:prstGeom>
          <a:solidFill>
            <a:srgbClr val="FFFFFF"/>
          </a:solidFill>
          <a:ln w="9525">
            <a:solidFill>
              <a:srgbClr val="DCE1E7"/>
            </a:solidFill>
            <a:prstDash val="solid"/>
          </a:ln>
        </p:spPr>
      </p:sp>
      <p:sp>
        <p:nvSpPr>
          <p:cNvPr id="25" name="Shape 20"/>
          <p:cNvSpPr/>
          <p:nvPr/>
        </p:nvSpPr>
        <p:spPr>
          <a:xfrm>
            <a:off x="6178296" y="3017520"/>
            <a:ext cx="329184" cy="329184"/>
          </a:xfrm>
          <a:prstGeom prst="ellipse">
            <a:avLst/>
          </a:prstGeom>
          <a:solidFill>
            <a:srgbClr val="E3F4F1"/>
          </a:solidFill>
          <a:ln w="12700">
            <a:solidFill>
              <a:srgbClr val="E3F4F1"/>
            </a:solidFill>
            <a:prstDash val="solid"/>
          </a:ln>
        </p:spPr>
      </p:sp>
      <p:pic>
        <p:nvPicPr>
          <p:cNvPr id="26" name="Image 2" descr="preencoded.png">    </p:cNvPr>
          <p:cNvPicPr>
            <a:picLocks noChangeAspect="1"/>
          </p:cNvPicPr>
          <p:nvPr/>
        </p:nvPicPr>
        <p:blipFill>
          <a:blip r:embed="rId3"/>
          <a:stretch>
            <a:fillRect/>
          </a:stretch>
        </p:blipFill>
        <p:spPr>
          <a:xfrm>
            <a:off x="6257300" y="3096524"/>
            <a:ext cx="171176" cy="171176"/>
          </a:xfrm>
          <a:prstGeom prst="rect">
            <a:avLst/>
          </a:prstGeom>
        </p:spPr>
      </p:pic>
      <p:sp>
        <p:nvSpPr>
          <p:cNvPr id="27" name="Text 21"/>
          <p:cNvSpPr txBox="1"/>
          <p:nvPr/>
        </p:nvSpPr>
        <p:spPr>
          <a:xfrm>
            <a:off x="6598920" y="2852928"/>
            <a:ext cx="2042160" cy="658368"/>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Not asking for a refund</a:t>
            </a:r>
            <a:endParaRPr lang="en-US" sz="1000" dirty="0"/>
          </a:p>
          <a:p>
            <a:pPr indent="0" marL="0">
              <a:buNone/>
            </a:pPr>
            <a:r>
              <a:rPr lang="en-US" sz="850" dirty="0">
                <a:solidFill>
                  <a:srgbClr val="6E6E73"/>
                </a:solidFill>
                <a:latin typeface="SF Pro Text" pitchFamily="34" charset="0"/>
                <a:ea typeface="SF Pro Text" pitchFamily="34" charset="-122"/>
                <a:cs typeface="SF Pro Text" pitchFamily="34" charset="-120"/>
              </a:rPr>
              <a:t>at the same time</a:t>
            </a:r>
            <a:endParaRPr lang="en-US" sz="1000" dirty="0"/>
          </a:p>
        </p:txBody>
      </p:sp>
      <p:sp>
        <p:nvSpPr>
          <p:cNvPr id="28" name="Shape 22"/>
          <p:cNvSpPr/>
          <p:nvPr/>
        </p:nvSpPr>
        <p:spPr>
          <a:xfrm>
            <a:off x="411480" y="3657600"/>
            <a:ext cx="8321040" cy="384048"/>
          </a:xfrm>
          <a:prstGeom prst="roundRect">
            <a:avLst>
              <a:gd name="adj" fmla="val 19048"/>
            </a:avLst>
          </a:prstGeom>
          <a:solidFill>
            <a:srgbClr val="FCEBEA"/>
          </a:solidFill>
          <a:ln w="9525">
            <a:solidFill>
              <a:srgbClr val="B3261E"/>
            </a:solidFill>
            <a:prstDash val="solid"/>
          </a:ln>
        </p:spPr>
      </p:sp>
      <p:pic>
        <p:nvPicPr>
          <p:cNvPr id="29" name="Image 3" descr="preencoded.png">    </p:cNvPr>
          <p:cNvPicPr>
            <a:picLocks noChangeAspect="1"/>
          </p:cNvPicPr>
          <p:nvPr/>
        </p:nvPicPr>
        <p:blipFill>
          <a:blip r:embed="rId4"/>
          <a:stretch>
            <a:fillRect/>
          </a:stretch>
        </p:blipFill>
        <p:spPr>
          <a:xfrm>
            <a:off x="566928" y="3767328"/>
            <a:ext cx="164592" cy="164592"/>
          </a:xfrm>
          <a:prstGeom prst="rect">
            <a:avLst/>
          </a:prstGeom>
        </p:spPr>
      </p:pic>
      <p:sp>
        <p:nvSpPr>
          <p:cNvPr id="30" name="Text 23"/>
          <p:cNvSpPr txBox="1"/>
          <p:nvPr/>
        </p:nvSpPr>
        <p:spPr>
          <a:xfrm>
            <a:off x="822960" y="3657600"/>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Any one missing?  </a:t>
            </a:r>
            <a:r>
              <a:rPr lang="en-US" sz="1000" dirty="0">
                <a:solidFill>
                  <a:srgbClr val="1D1D1F"/>
                </a:solidFill>
                <a:latin typeface="SF Pro Text" pitchFamily="34" charset="0"/>
                <a:ea typeface="SF Pro Text" pitchFamily="34" charset="-122"/>
                <a:cs typeface="SF Pro Text" pitchFamily="34" charset="-120"/>
              </a:rPr>
              <a:t>Support approval first. It could be abuse, not a real need for a pause.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cancel anyway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Invalidate the retention offer, with two exemptions.</a:t>
            </a:r>
            <a:endParaRPr lang="en-US" sz="1200" dirty="0"/>
          </a:p>
        </p:txBody>
      </p:sp>
      <p:sp>
        <p:nvSpPr>
          <p:cNvPr id="6" name="Shape 3"/>
          <p:cNvSpPr/>
          <p:nvPr/>
        </p:nvSpPr>
        <p:spPr>
          <a:xfrm>
            <a:off x="411480" y="1325880"/>
            <a:ext cx="8321040" cy="548640"/>
          </a:xfrm>
          <a:prstGeom prst="roundRect">
            <a:avLst>
              <a:gd name="adj" fmla="val 13333"/>
            </a:avLst>
          </a:prstGeom>
          <a:solidFill>
            <a:srgbClr val="1D1D1F"/>
          </a:solidFill>
          <a:ln w="9525">
            <a:solidFill>
              <a:srgbClr val="1D1D1F"/>
            </a:solidFill>
            <a:prstDash val="solid"/>
          </a:ln>
        </p:spPr>
      </p:sp>
      <p:sp>
        <p:nvSpPr>
          <p:cNvPr id="7" name="Text 4"/>
          <p:cNvSpPr txBox="1"/>
          <p:nvPr/>
        </p:nvSpPr>
        <p:spPr>
          <a:xfrm>
            <a:off x="640080" y="1325880"/>
            <a:ext cx="7955280" cy="548640"/>
          </a:xfrm>
          <a:prstGeom prst="rect">
            <a:avLst/>
          </a:prstGeom>
          <a:noFill/>
          <a:ln/>
        </p:spPr>
        <p:txBody>
          <a:bodyPr wrap="square" lIns="0" tIns="0" rIns="0" bIns="0" rtlCol="0" anchor="ctr"/>
          <a:lstStyle/>
          <a:p>
            <a:pPr indent="0" marL="0">
              <a:buNone/>
            </a:pPr>
            <a:r>
              <a:rPr lang="en-US" sz="1200" b="1" dirty="0">
                <a:solidFill>
                  <a:srgbClr val="FFFFFF"/>
                </a:solidFill>
                <a:latin typeface="SF Pro Display" pitchFamily="34" charset="0"/>
                <a:ea typeface="SF Pro Display" pitchFamily="34" charset="-122"/>
                <a:cs typeface="SF Pro Display" pitchFamily="34" charset="-120"/>
              </a:rPr>
              <a:t>Default: invalidate the retention offer when you process the cancellation.</a:t>
            </a:r>
            <a:endParaRPr lang="en-US" sz="1200" dirty="0"/>
          </a:p>
        </p:txBody>
      </p:sp>
      <p:sp>
        <p:nvSpPr>
          <p:cNvPr id="8" name="Shape 5"/>
          <p:cNvSpPr/>
          <p:nvPr/>
        </p:nvSpPr>
        <p:spPr>
          <a:xfrm>
            <a:off x="411480" y="201168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1762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255276"/>
            <a:ext cx="171176" cy="171176"/>
          </a:xfrm>
          <a:prstGeom prst="rect">
            <a:avLst/>
          </a:prstGeom>
        </p:spPr>
      </p:pic>
      <p:sp>
        <p:nvSpPr>
          <p:cNvPr id="11" name="Text 7"/>
          <p:cNvSpPr txBox="1"/>
          <p:nvPr/>
        </p:nvSpPr>
        <p:spPr>
          <a:xfrm>
            <a:off x="576072" y="26151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Paid for: keep it</a:t>
            </a:r>
            <a:endParaRPr lang="en-US" sz="1200" dirty="0"/>
          </a:p>
        </p:txBody>
      </p:sp>
      <p:sp>
        <p:nvSpPr>
          <p:cNvPr id="12" name="Text 8"/>
          <p:cNvSpPr txBox="1"/>
          <p:nvPr/>
        </p:nvSpPr>
        <p:spPr>
          <a:xfrm>
            <a:off x="576072" y="290779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Admin courtesy voucher for the unused hours of a partly used Legacy DHJ voucher.</a:t>
            </a:r>
            <a:endParaRPr lang="en-US" sz="950" dirty="0"/>
          </a:p>
        </p:txBody>
      </p:sp>
      <p:sp>
        <p:nvSpPr>
          <p:cNvPr id="13" name="Shape 9"/>
          <p:cNvSpPr/>
          <p:nvPr/>
        </p:nvSpPr>
        <p:spPr>
          <a:xfrm>
            <a:off x="4640580" y="201168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17627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255276"/>
            <a:ext cx="171176" cy="171176"/>
          </a:xfrm>
          <a:prstGeom prst="rect">
            <a:avLst/>
          </a:prstGeom>
        </p:spPr>
      </p:pic>
      <p:sp>
        <p:nvSpPr>
          <p:cNvPr id="16" name="Text 11"/>
          <p:cNvSpPr txBox="1"/>
          <p:nvPr/>
        </p:nvSpPr>
        <p:spPr>
          <a:xfrm>
            <a:off x="4805172" y="26151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Earned: keep it</a:t>
            </a:r>
            <a:endParaRPr lang="en-US" sz="1200" dirty="0"/>
          </a:p>
        </p:txBody>
      </p:sp>
      <p:sp>
        <p:nvSpPr>
          <p:cNvPr id="17" name="Text 12"/>
          <p:cNvSpPr txBox="1"/>
          <p:nvPr/>
        </p:nvSpPr>
        <p:spPr>
          <a:xfrm>
            <a:off x="4805172" y="290779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accepted inside MCT, then MCT completed. Refund or reissue what the system stripped.</a:t>
            </a:r>
            <a:endParaRPr lang="en-US" sz="950" dirty="0"/>
          </a:p>
        </p:txBody>
      </p:sp>
      <p:sp>
        <p:nvSpPr>
          <p:cNvPr id="18" name="Shape 13"/>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20" name="Text 14"/>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Ask:  </a:t>
            </a:r>
            <a:r>
              <a:rPr lang="en-US" sz="1000" dirty="0">
                <a:solidFill>
                  <a:srgbClr val="1D1D1F"/>
                </a:solidFill>
                <a:latin typeface="SF Pro Text" pitchFamily="34" charset="0"/>
                <a:ea typeface="SF Pro Text" pitchFamily="34" charset="-122"/>
                <a:cs typeface="SF Pro Text" pitchFamily="34" charset="-120"/>
              </a:rPr>
              <a:t>did the customer pay for it, or earn it by staying? Then it survives the cancellation.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Exit offers: MCT or ETF reduction?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whichever gets the customer out for less.</a:t>
            </a:r>
            <a:endParaRPr lang="en-US" sz="1200" dirty="0"/>
          </a:p>
        </p:txBody>
      </p:sp>
      <p:sp>
        <p:nvSpPr>
          <p:cNvPr id="6" name="Shape 3"/>
          <p:cNvSpPr/>
          <p:nvPr/>
        </p:nvSpPr>
        <p:spPr>
          <a:xfrm>
            <a:off x="411480" y="1325880"/>
            <a:ext cx="4069080" cy="1371600"/>
          </a:xfrm>
          <a:prstGeom prst="roundRect">
            <a:avLst>
              <a:gd name="adj" fmla="val 5333"/>
            </a:avLst>
          </a:prstGeom>
          <a:solidFill>
            <a:srgbClr val="FFFFFF"/>
          </a:solidFill>
          <a:ln w="9525">
            <a:solidFill>
              <a:srgbClr val="DCE1E7"/>
            </a:solidFill>
            <a:prstDash val="solid"/>
          </a:ln>
        </p:spPr>
      </p:sp>
      <p:sp>
        <p:nvSpPr>
          <p:cNvPr id="7" name="Text 4"/>
          <p:cNvSpPr txBox="1"/>
          <p:nvPr/>
        </p:nvSpPr>
        <p:spPr>
          <a:xfrm>
            <a:off x="594360" y="1325880"/>
            <a:ext cx="3749040" cy="1371600"/>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Fix the first job first</a:t>
            </a:r>
            <a:endParaRPr lang="en-US" sz="1200" dirty="0"/>
          </a:p>
          <a:p>
            <a:pPr indent="0" marL="0">
              <a:buNone/>
            </a:pPr>
            <a:r>
              <a:rPr lang="en-US" sz="1050" b="1" dirty="0">
                <a:solidFill>
                  <a:srgbClr val="1D1D1F"/>
                </a:solidFill>
                <a:latin typeface="SF Pro Text" pitchFamily="34" charset="0"/>
                <a:ea typeface="SF Pro Text" pitchFamily="34" charset="-122"/>
                <a:cs typeface="SF Pro Text" pitchFamily="34" charset="-120"/>
              </a:rPr>
              <a:t>ETF = $35/hr × first-cleaning hours</a:t>
            </a:r>
            <a:endParaRPr lang="en-US" sz="1200" dirty="0"/>
          </a:p>
          <a:p>
            <a:pPr indent="0" marL="0">
              <a:buNone/>
            </a:pPr>
            <a:r>
              <a:rPr lang="en-US" sz="950" dirty="0">
                <a:solidFill>
                  <a:srgbClr val="6E6E73"/>
                </a:solidFill>
                <a:latin typeface="SF Pro Text" pitchFamily="34" charset="0"/>
                <a:ea typeface="SF Pro Text" pitchFamily="34" charset="-122"/>
                <a:cs typeface="SF Pro Text" pitchFamily="34" charset="-120"/>
              </a:rPr>
              <a:t>Invoiced 4 hrs, CP messages show 2.5 → refund 1.5 hrs</a:t>
            </a:r>
            <a:endParaRPr lang="en-US" sz="1200" dirty="0"/>
          </a:p>
          <a:p>
            <a:pPr indent="0" marL="0">
              <a:buNone/>
            </a:pPr>
            <a:r>
              <a:rPr lang="en-US" sz="1200" b="1" dirty="0">
                <a:solidFill>
                  <a:srgbClr val="0B7A6F"/>
                </a:solidFill>
                <a:latin typeface="SF Pro Text" pitchFamily="34" charset="0"/>
                <a:ea typeface="SF Pro Text" pitchFamily="34" charset="-122"/>
                <a:cs typeface="SF Pro Text" pitchFamily="34" charset="-120"/>
              </a:rPr>
              <a:t>ETF $140 → $87.50</a:t>
            </a:r>
            <a:endParaRPr lang="en-US" sz="1200" dirty="0"/>
          </a:p>
        </p:txBody>
      </p:sp>
      <p:sp>
        <p:nvSpPr>
          <p:cNvPr id="8" name="Shape 5"/>
          <p:cNvSpPr/>
          <p:nvPr/>
        </p:nvSpPr>
        <p:spPr>
          <a:xfrm>
            <a:off x="4663440" y="1325880"/>
            <a:ext cx="4069080" cy="1371600"/>
          </a:xfrm>
          <a:prstGeom prst="roundRect">
            <a:avLst>
              <a:gd name="adj" fmla="val 5333"/>
            </a:avLst>
          </a:prstGeom>
          <a:solidFill>
            <a:srgbClr val="FFFFFF"/>
          </a:solidFill>
          <a:ln w="9525">
            <a:solidFill>
              <a:srgbClr val="1D1D1F"/>
            </a:solidFill>
            <a:prstDash val="solid"/>
          </a:ln>
        </p:spPr>
      </p:sp>
      <p:sp>
        <p:nvSpPr>
          <p:cNvPr id="9" name="Text 6"/>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Which tool?</a:t>
            </a:r>
            <a:endParaRPr lang="en-US" sz="1050" dirty="0"/>
          </a:p>
        </p:txBody>
      </p:sp>
      <p:sp>
        <p:nvSpPr>
          <p:cNvPr id="10" name="Text 7"/>
          <p:cNvSpPr txBox="1"/>
          <p:nvPr/>
        </p:nvSpPr>
        <p:spPr>
          <a:xfrm>
            <a:off x="4828032" y="1764792"/>
            <a:ext cx="3739896" cy="8595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Not retainable, no ETF waiver</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Compare MCT vs ETF reduction</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Use whichever costs the customer less</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2834640"/>
          <a:ext cx="8321040" cy="914400"/>
        </p:xfrm>
        <a:graphic>
          <a:graphicData uri="http://schemas.openxmlformats.org/drawingml/2006/table">
            <a:tbl>
              <a:tblPr/>
              <a:tblGrid>
                <a:gridCol w="3657600"/>
                <a:gridCol w="4663440"/>
              </a:tblGrid>
              <a:tr h="29260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Why they're cancelling</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ETF reduction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Unawareness only (or "one-time cleaning")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Don't offer proactively. Wait for a hint they'd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Any other reason mixed in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Standard exit tool once retention is exhausted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Extreme financial hardship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50% off. Declines? Waive the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ETF reduction: the 50% cap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Deductions change how you get there, not the ceiling.</a:t>
            </a:r>
            <a:endParaRPr lang="en-US" sz="1200" dirty="0"/>
          </a:p>
        </p:txBody>
      </p:sp>
      <p:sp>
        <p:nvSpPr>
          <p:cNvPr id="6" name="Shape 3"/>
          <p:cNvSpPr/>
          <p:nvPr/>
        </p:nvSpPr>
        <p:spPr>
          <a:xfrm>
            <a:off x="411480" y="1325880"/>
            <a:ext cx="2377440" cy="2103120"/>
          </a:xfrm>
          <a:prstGeom prst="roundRect">
            <a:avLst>
              <a:gd name="adj" fmla="val 3478"/>
            </a:avLst>
          </a:prstGeom>
          <a:solidFill>
            <a:srgbClr val="FFFFFF"/>
          </a:solidFill>
          <a:ln w="9525">
            <a:solidFill>
              <a:srgbClr val="DCE1E7"/>
            </a:solidFill>
            <a:prstDash val="solid"/>
          </a:ln>
        </p:spPr>
      </p:sp>
      <p:sp>
        <p:nvSpPr>
          <p:cNvPr id="7" name="Text 4"/>
          <p:cNvSpPr txBox="1"/>
          <p:nvPr/>
        </p:nvSpPr>
        <p:spPr>
          <a:xfrm>
            <a:off x="411480" y="1490472"/>
            <a:ext cx="23774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50%</a:t>
            </a:r>
            <a:endParaRPr lang="en-US" sz="3000" dirty="0"/>
          </a:p>
        </p:txBody>
      </p:sp>
      <p:sp>
        <p:nvSpPr>
          <p:cNvPr id="8" name="Text 5"/>
          <p:cNvSpPr txBox="1"/>
          <p:nvPr/>
        </p:nvSpPr>
        <p:spPr>
          <a:xfrm>
            <a:off x="594360" y="2148840"/>
            <a:ext cx="2011680" cy="11887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off the original ETF, whatever is deducted</a:t>
            </a:r>
            <a:endParaRPr lang="en-US" sz="1000" dirty="0"/>
          </a:p>
        </p:txBody>
      </p:sp>
      <p:sp>
        <p:nvSpPr>
          <p:cNvPr id="9" name="Text 6"/>
          <p:cNvSpPr txBox="1"/>
          <p:nvPr/>
        </p:nvSpPr>
        <p:spPr>
          <a:xfrm>
            <a:off x="2971800"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WHAT CAN BE DEDUCTED</a:t>
            </a:r>
            <a:endParaRPr lang="en-US" sz="800" dirty="0"/>
          </a:p>
        </p:txBody>
      </p:sp>
      <p:sp>
        <p:nvSpPr>
          <p:cNvPr id="10" name="Shape 7"/>
          <p:cNvSpPr/>
          <p:nvPr/>
        </p:nvSpPr>
        <p:spPr>
          <a:xfrm>
            <a:off x="2971800" y="1572768"/>
            <a:ext cx="5760720" cy="603504"/>
          </a:xfrm>
          <a:prstGeom prst="roundRect">
            <a:avLst>
              <a:gd name="adj" fmla="val 12121"/>
            </a:avLst>
          </a:prstGeom>
          <a:solidFill>
            <a:srgbClr val="FFFFFF"/>
          </a:solidFill>
          <a:ln w="9525">
            <a:solidFill>
              <a:srgbClr val="DCE1E7"/>
            </a:solidFill>
            <a:prstDash val="solid"/>
          </a:ln>
        </p:spPr>
      </p:sp>
      <p:sp>
        <p:nvSpPr>
          <p:cNvPr id="11" name="Shape 8"/>
          <p:cNvSpPr/>
          <p:nvPr/>
        </p:nvSpPr>
        <p:spPr>
          <a:xfrm>
            <a:off x="3090672" y="1709928"/>
            <a:ext cx="329184" cy="329184"/>
          </a:xfrm>
          <a:prstGeom prst="ellipse">
            <a:avLst/>
          </a:prstGeom>
          <a:solidFill>
            <a:srgbClr val="E3F4F1"/>
          </a:solidFill>
          <a:ln w="12700">
            <a:solidFill>
              <a:srgbClr val="E3F4F1"/>
            </a:solidFill>
            <a:prstDash val="solid"/>
          </a:ln>
        </p:spPr>
      </p:sp>
      <p:pic>
        <p:nvPicPr>
          <p:cNvPr id="12" name="Image 0" descr="preencoded.png">    </p:cNvPr>
          <p:cNvPicPr>
            <a:picLocks noChangeAspect="1"/>
          </p:cNvPicPr>
          <p:nvPr/>
        </p:nvPicPr>
        <p:blipFill>
          <a:blip r:embed="rId1"/>
          <a:stretch>
            <a:fillRect/>
          </a:stretch>
        </p:blipFill>
        <p:spPr>
          <a:xfrm>
            <a:off x="3169676" y="1788932"/>
            <a:ext cx="171176" cy="171176"/>
          </a:xfrm>
          <a:prstGeom prst="rect">
            <a:avLst/>
          </a:prstGeom>
        </p:spPr>
      </p:pic>
      <p:sp>
        <p:nvSpPr>
          <p:cNvPr id="13" name="Text 9"/>
          <p:cNvSpPr txBox="1"/>
          <p:nvPr/>
        </p:nvSpPr>
        <p:spPr>
          <a:xfrm>
            <a:off x="3520440" y="1572768"/>
            <a:ext cx="51206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MF and/or voucher price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Standard. Stack only when justified.</a:t>
            </a:r>
            <a:endParaRPr lang="en-US" sz="1050" dirty="0"/>
          </a:p>
        </p:txBody>
      </p:sp>
      <p:sp>
        <p:nvSpPr>
          <p:cNvPr id="14" name="Shape 10"/>
          <p:cNvSpPr/>
          <p:nvPr/>
        </p:nvSpPr>
        <p:spPr>
          <a:xfrm>
            <a:off x="2971800" y="2258568"/>
            <a:ext cx="5760720" cy="603504"/>
          </a:xfrm>
          <a:prstGeom prst="roundRect">
            <a:avLst>
              <a:gd name="adj" fmla="val 12121"/>
            </a:avLst>
          </a:prstGeom>
          <a:solidFill>
            <a:srgbClr val="FFFFFF"/>
          </a:solidFill>
          <a:ln w="9525">
            <a:solidFill>
              <a:srgbClr val="DCE1E7"/>
            </a:solidFill>
            <a:prstDash val="solid"/>
          </a:ln>
        </p:spPr>
      </p:sp>
      <p:sp>
        <p:nvSpPr>
          <p:cNvPr id="15" name="Shape 11"/>
          <p:cNvSpPr/>
          <p:nvPr/>
        </p:nvSpPr>
        <p:spPr>
          <a:xfrm>
            <a:off x="3090672" y="2395728"/>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3169676" y="2474732"/>
            <a:ext cx="171176" cy="171176"/>
          </a:xfrm>
          <a:prstGeom prst="rect">
            <a:avLst/>
          </a:prstGeom>
        </p:spPr>
      </p:pic>
      <p:sp>
        <p:nvSpPr>
          <p:cNvPr id="17" name="Text 12"/>
          <p:cNvSpPr txBox="1"/>
          <p:nvPr/>
        </p:nvSpPr>
        <p:spPr>
          <a:xfrm>
            <a:off x="3520440" y="2258568"/>
            <a:ext cx="51206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Additional-hours charge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If the FC-triggering job ran over the voucher's hours.</a:t>
            </a:r>
            <a:endParaRPr lang="en-US" sz="10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Internal note:  </a:t>
            </a:r>
            <a:r>
              <a:rPr lang="en-US" sz="1000" dirty="0">
                <a:solidFill>
                  <a:srgbClr val="1D1D1F"/>
                </a:solidFill>
                <a:latin typeface="SF Pro Text" pitchFamily="34" charset="0"/>
                <a:ea typeface="SF Pro Text" pitchFamily="34" charset="-122"/>
                <a:cs typeface="SF Pro Text" pitchFamily="34" charset="-120"/>
              </a:rPr>
              <a:t>record the customer's LTNR. Context only, not a limit.</a:t>
            </a:r>
            <a:endParaRPr lang="en-US" sz="1000" dirty="0"/>
          </a:p>
        </p:txBody>
      </p:sp>
      <p:sp>
        <p:nvSpPr>
          <p:cNvPr id="21" name="Shape 15"/>
          <p:cNvSpPr/>
          <p:nvPr/>
        </p:nvSpPr>
        <p:spPr>
          <a:xfrm>
            <a:off x="411480" y="4087368"/>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4197096"/>
            <a:ext cx="164592" cy="164592"/>
          </a:xfrm>
          <a:prstGeom prst="rect">
            <a:avLst/>
          </a:prstGeom>
        </p:spPr>
      </p:pic>
      <p:sp>
        <p:nvSpPr>
          <p:cNvPr id="23" name="Text 16"/>
          <p:cNvSpPr txBox="1"/>
          <p:nvPr/>
        </p:nvSpPr>
        <p:spPr>
          <a:xfrm>
            <a:off x="822960" y="41879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from the original ETF:  </a:t>
            </a:r>
            <a:r>
              <a:rPr lang="en-US" sz="1000" dirty="0">
                <a:solidFill>
                  <a:srgbClr val="1D1D1F"/>
                </a:solidFill>
                <a:latin typeface="SF Pro Text" pitchFamily="34" charset="0"/>
                <a:ea typeface="SF Pro Text" pitchFamily="34" charset="-122"/>
                <a:cs typeface="SF Pro Text" pitchFamily="34" charset="-120"/>
              </a:rPr>
              <a:t>never an already-discounted amount. Check for an existing reduction.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complains about a poor cleaning but hasn't mentioned cancelling. Can you offer a voucher?</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You don't need cancellation intent if an offer fixes the problem.</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Customer is on $49 (a $10 reduction) and now qualifies for $15. New fee?</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$44: always from $59. $59 − $15.</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 was cancelled, but RC ran and charged a Lockout fee. What kind of offer is the refund?</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Make-Right: we caused it, whatever their status.</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Cancelling only because they were unaware of FC. Offer an ETF reduction?</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 proactively. Wait for a hint they'd pay a reduced ETF.</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problem is the customer solving?</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And which kind of offer fits: Retention, Exit or Make-Right?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Which offer, how much, and any existing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Cancellation Intent in C/CP Comms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told their CP they want to cancel. They haven't told us yet.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reach out first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Opening the conversation the right way</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5-step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Routing to the right playbook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spotted it in C/CP messages while investigating something else.</a:t>
            </a:r>
            <a:endParaRPr lang="en-US" sz="1200" dirty="0"/>
          </a:p>
        </p:txBody>
      </p:sp>
      <p:sp>
        <p:nvSpPr>
          <p:cNvPr id="6" name="Shape 3"/>
          <p:cNvSpPr/>
          <p:nvPr/>
        </p:nvSpPr>
        <p:spPr>
          <a:xfrm>
            <a:off x="411480" y="1508760"/>
            <a:ext cx="251460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508760"/>
            <a:ext cx="251460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tells the CP: "I want to cancel"</a:t>
            </a:r>
            <a:endParaRPr lang="en-US" sz="1000" dirty="0"/>
          </a:p>
        </p:txBody>
      </p:sp>
      <p:sp>
        <p:nvSpPr>
          <p:cNvPr id="8" name="Shape 5"/>
          <p:cNvSpPr/>
          <p:nvPr/>
        </p:nvSpPr>
        <p:spPr>
          <a:xfrm>
            <a:off x="2926080" y="1828800"/>
            <a:ext cx="388620" cy="0"/>
          </a:xfrm>
          <a:prstGeom prst="line">
            <a:avLst/>
          </a:prstGeom>
          <a:noFill/>
          <a:ln w="12700">
            <a:solidFill>
              <a:srgbClr val="6E6E73"/>
            </a:solidFill>
            <a:prstDash val="solid"/>
            <a:tailEnd type="triangle"/>
          </a:ln>
        </p:spPr>
      </p:sp>
      <p:sp>
        <p:nvSpPr>
          <p:cNvPr id="9" name="Shape 6"/>
          <p:cNvSpPr/>
          <p:nvPr/>
        </p:nvSpPr>
        <p:spPr>
          <a:xfrm>
            <a:off x="3314700" y="1508760"/>
            <a:ext cx="2514600" cy="640080"/>
          </a:xfrm>
          <a:prstGeom prst="roundRect">
            <a:avLst>
              <a:gd name="adj" fmla="val 11429"/>
            </a:avLst>
          </a:prstGeom>
          <a:solidFill>
            <a:srgbClr val="FFF3D6"/>
          </a:solidFill>
          <a:ln w="12700">
            <a:solidFill>
              <a:srgbClr val="9A6410"/>
            </a:solidFill>
            <a:prstDash val="solid"/>
          </a:ln>
        </p:spPr>
      </p:sp>
      <p:sp>
        <p:nvSpPr>
          <p:cNvPr id="10" name="Text 7"/>
          <p:cNvSpPr txBox="1"/>
          <p:nvPr/>
        </p:nvSpPr>
        <p:spPr>
          <a:xfrm>
            <a:off x="3314700" y="1508760"/>
            <a:ext cx="251460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can cancel a job, not FC</a:t>
            </a:r>
            <a:endParaRPr lang="en-US" sz="1000" dirty="0"/>
          </a:p>
        </p:txBody>
      </p:sp>
      <p:sp>
        <p:nvSpPr>
          <p:cNvPr id="11" name="Shape 8"/>
          <p:cNvSpPr/>
          <p:nvPr/>
        </p:nvSpPr>
        <p:spPr>
          <a:xfrm>
            <a:off x="5829300" y="1828800"/>
            <a:ext cx="388620" cy="0"/>
          </a:xfrm>
          <a:prstGeom prst="line">
            <a:avLst/>
          </a:prstGeom>
          <a:noFill/>
          <a:ln w="12700">
            <a:solidFill>
              <a:srgbClr val="6E6E73"/>
            </a:solidFill>
            <a:prstDash val="solid"/>
            <a:tailEnd type="triangle"/>
          </a:ln>
        </p:spPr>
      </p:sp>
      <p:sp>
        <p:nvSpPr>
          <p:cNvPr id="12" name="Shape 9"/>
          <p:cNvSpPr/>
          <p:nvPr/>
        </p:nvSpPr>
        <p:spPr>
          <a:xfrm>
            <a:off x="6217920" y="1508760"/>
            <a:ext cx="2514600" cy="640080"/>
          </a:xfrm>
          <a:prstGeom prst="roundRect">
            <a:avLst>
              <a:gd name="adj" fmla="val 11429"/>
            </a:avLst>
          </a:prstGeom>
          <a:solidFill>
            <a:srgbClr val="1D1D1F"/>
          </a:solidFill>
          <a:ln w="12700">
            <a:solidFill>
              <a:srgbClr val="1D1D1F"/>
            </a:solidFill>
            <a:prstDash val="solid"/>
          </a:ln>
        </p:spPr>
      </p:sp>
      <p:sp>
        <p:nvSpPr>
          <p:cNvPr id="13" name="Text 10"/>
          <p:cNvSpPr txBox="1"/>
          <p:nvPr/>
        </p:nvSpPr>
        <p:spPr>
          <a:xfrm>
            <a:off x="6217920" y="1508760"/>
            <a:ext cx="25146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The MF hits again. Frustration</a:t>
            </a:r>
            <a:endParaRPr lang="en-US" sz="1000" dirty="0"/>
          </a:p>
        </p:txBody>
      </p:sp>
      <p:sp>
        <p:nvSpPr>
          <p:cNvPr id="14" name="Text 11"/>
          <p:cNvSpPr txBox="1"/>
          <p:nvPr/>
        </p:nvSpPr>
        <p:spPr>
          <a:xfrm>
            <a:off x="411480" y="1298448"/>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IF WE DO NOTHING</a:t>
            </a:r>
            <a:endParaRPr lang="en-US" sz="800" dirty="0"/>
          </a:p>
        </p:txBody>
      </p:sp>
      <p:sp>
        <p:nvSpPr>
          <p:cNvPr id="15" name="Shape 12"/>
          <p:cNvSpPr/>
          <p:nvPr/>
        </p:nvSpPr>
        <p:spPr>
          <a:xfrm>
            <a:off x="411480" y="2377440"/>
            <a:ext cx="8321040" cy="868680"/>
          </a:xfrm>
          <a:prstGeom prst="roundRect">
            <a:avLst>
              <a:gd name="adj" fmla="val 8421"/>
            </a:avLst>
          </a:prstGeom>
          <a:solidFill>
            <a:srgbClr val="0B7A6F"/>
          </a:solidFill>
          <a:ln w="9525">
            <a:solidFill>
              <a:srgbClr val="0B7A6F"/>
            </a:solidFill>
            <a:prstDash val="solid"/>
          </a:ln>
        </p:spPr>
      </p:sp>
      <p:pic>
        <p:nvPicPr>
          <p:cNvPr id="16" name="Image 0" descr="preencoded.png">    </p:cNvPr>
          <p:cNvPicPr>
            <a:picLocks noChangeAspect="1"/>
          </p:cNvPicPr>
          <p:nvPr/>
        </p:nvPicPr>
        <p:blipFill>
          <a:blip r:embed="rId1"/>
          <a:stretch>
            <a:fillRect/>
          </a:stretch>
        </p:blipFill>
        <p:spPr>
          <a:xfrm>
            <a:off x="685800" y="2633472"/>
            <a:ext cx="347472" cy="347472"/>
          </a:xfrm>
          <a:prstGeom prst="rect">
            <a:avLst/>
          </a:prstGeom>
        </p:spPr>
      </p:pic>
      <p:sp>
        <p:nvSpPr>
          <p:cNvPr id="17" name="Text 13"/>
          <p:cNvSpPr txBox="1"/>
          <p:nvPr/>
        </p:nvSpPr>
        <p:spPr>
          <a:xfrm>
            <a:off x="1234440" y="2377440"/>
            <a:ext cx="7315200" cy="868680"/>
          </a:xfrm>
          <a:prstGeom prst="rect">
            <a:avLst/>
          </a:prstGeom>
          <a:noFill/>
          <a:ln/>
        </p:spPr>
        <p:txBody>
          <a:bodyPr wrap="square" lIns="0" tIns="0" rIns="0" bIns="0" rtlCol="0" anchor="ctr"/>
          <a:lstStyle/>
          <a:p>
            <a:pPr indent="0" marL="0">
              <a:buNone/>
            </a:pPr>
            <a:r>
              <a:rPr lang="en-US" sz="1500" b="1" dirty="0">
                <a:solidFill>
                  <a:srgbClr val="FFFFFF"/>
                </a:solidFill>
                <a:latin typeface="SF Pro Display" pitchFamily="34" charset="0"/>
                <a:ea typeface="SF Pro Display" pitchFamily="34" charset="-122"/>
                <a:cs typeface="SF Pro Display" pitchFamily="34" charset="-120"/>
              </a:rPr>
              <a:t>So we reach out first</a:t>
            </a:r>
            <a:endParaRPr lang="en-US" sz="1500" dirty="0"/>
          </a:p>
          <a:p>
            <a:pPr indent="0" marL="0">
              <a:buNone/>
            </a:pPr>
            <a:r>
              <a:rPr lang="en-US" sz="1050" dirty="0">
                <a:solidFill>
                  <a:srgbClr val="FFFFFF"/>
                </a:solidFill>
                <a:latin typeface="SF Pro Text" pitchFamily="34" charset="0"/>
                <a:ea typeface="SF Pro Text" pitchFamily="34" charset="-122"/>
                <a:cs typeface="SF Pro Text" pitchFamily="34" charset="-120"/>
              </a:rPr>
              <a:t>It reads as attentive, not intrusive, if we open it the right way.</a:t>
            </a:r>
            <a:endParaRPr lang="en-US" sz="1500" dirty="0"/>
          </a:p>
        </p:txBody>
      </p:sp>
      <p:sp>
        <p:nvSpPr>
          <p:cNvPr id="18" name="Shape 14"/>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9" name="Image 1" descr="preencoded.png">    </p:cNvPr>
          <p:cNvPicPr>
            <a:picLocks noChangeAspect="1"/>
          </p:cNvPicPr>
          <p:nvPr/>
        </p:nvPicPr>
        <p:blipFill>
          <a:blip r:embed="rId2"/>
          <a:stretch>
            <a:fillRect/>
          </a:stretch>
        </p:blipFill>
        <p:spPr>
          <a:xfrm>
            <a:off x="566928" y="3538728"/>
            <a:ext cx="164592" cy="164592"/>
          </a:xfrm>
          <a:prstGeom prst="rect">
            <a:avLst/>
          </a:prstGeom>
        </p:spPr>
      </p:pic>
      <p:sp>
        <p:nvSpPr>
          <p:cNvPr id="20" name="Text 15"/>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contacted us about cancelling?  </a:t>
            </a:r>
            <a:r>
              <a:rPr lang="en-US" sz="1000" dirty="0">
                <a:solidFill>
                  <a:srgbClr val="1D1D1F"/>
                </a:solidFill>
                <a:latin typeface="SF Pro Text" pitchFamily="34" charset="0"/>
                <a:ea typeface="SF Pro Text" pitchFamily="34" charset="-122"/>
                <a:cs typeface="SF Pro Text" pitchFamily="34" charset="-120"/>
              </a:rPr>
              <a:t>that's a normal retention conversation. Go to the Retention Playbook.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Get the opening right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Know something, not everything.</a:t>
            </a:r>
            <a:endParaRPr lang="en-US" sz="1200" dirty="0"/>
          </a:p>
        </p:txBody>
      </p:sp>
      <p:sp>
        <p:nvSpPr>
          <p:cNvPr id="6" name="Shape 3"/>
          <p:cNvSpPr/>
          <p:nvPr/>
        </p:nvSpPr>
        <p:spPr>
          <a:xfrm>
            <a:off x="411480" y="1325880"/>
            <a:ext cx="2682240" cy="2011680"/>
          </a:xfrm>
          <a:prstGeom prst="roundRect">
            <a:avLst>
              <a:gd name="adj" fmla="val 3636"/>
            </a:avLst>
          </a:prstGeom>
          <a:solidFill>
            <a:srgbClr val="FCEBEA"/>
          </a:solidFill>
          <a:ln w="9525">
            <a:solidFill>
              <a:srgbClr val="B3261E"/>
            </a:solidFill>
            <a:prstDash val="solid"/>
          </a:ln>
        </p:spPr>
      </p:sp>
      <p:sp>
        <p:nvSpPr>
          <p:cNvPr id="7" name="Shape 4"/>
          <p:cNvSpPr/>
          <p:nvPr/>
        </p:nvSpPr>
        <p:spPr>
          <a:xfrm>
            <a:off x="594360" y="1508760"/>
            <a:ext cx="384048" cy="384048"/>
          </a:xfrm>
          <a:prstGeom prst="ellipse">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2590800" y="1481328"/>
            <a:ext cx="365760" cy="411480"/>
          </a:xfrm>
          <a:prstGeom prst="rect">
            <a:avLst/>
          </a:prstGeom>
          <a:noFill/>
          <a:ln/>
        </p:spPr>
        <p:txBody>
          <a:bodyPr wrap="square" lIns="0" tIns="0" rIns="0" bIns="0" rtlCol="0" anchor="t"/>
          <a:lstStyle/>
          <a:p>
            <a:pPr algn="ctr" indent="0" marL="0">
              <a:buNone/>
            </a:pPr>
            <a:r>
              <a:rPr lang="en-US" sz="2000" b="1" dirty="0">
                <a:solidFill>
                  <a:srgbClr val="B3261E"/>
                </a:solidFill>
                <a:latin typeface="SF Pro Display" pitchFamily="34" charset="0"/>
                <a:ea typeface="SF Pro Display" pitchFamily="34" charset="-122"/>
                <a:cs typeface="SF Pro Display" pitchFamily="34" charset="-120"/>
              </a:rPr>
              <a:t>✕</a:t>
            </a:r>
            <a:endParaRPr lang="en-US" sz="2000" dirty="0"/>
          </a:p>
        </p:txBody>
      </p:sp>
      <p:sp>
        <p:nvSpPr>
          <p:cNvPr id="10" name="Text 6"/>
          <p:cNvSpPr txBox="1"/>
          <p:nvPr/>
        </p:nvSpPr>
        <p:spPr>
          <a:xfrm>
            <a:off x="594360" y="2011680"/>
            <a:ext cx="2316480" cy="45720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Pretend you don't know</a:t>
            </a:r>
            <a:endParaRPr lang="en-US" sz="1200" dirty="0"/>
          </a:p>
        </p:txBody>
      </p:sp>
      <p:sp>
        <p:nvSpPr>
          <p:cNvPr id="11" name="Text 7"/>
          <p:cNvSpPr txBox="1"/>
          <p:nvPr/>
        </p:nvSpPr>
        <p:spPr>
          <a:xfrm>
            <a:off x="594360" y="2514600"/>
            <a:ext cx="2316480"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Looks like we ignored a clear signal, and delays what they want.</a:t>
            </a:r>
            <a:endParaRPr lang="en-US" sz="950" dirty="0"/>
          </a:p>
        </p:txBody>
      </p:sp>
      <p:sp>
        <p:nvSpPr>
          <p:cNvPr id="12" name="Shape 8"/>
          <p:cNvSpPr/>
          <p:nvPr/>
        </p:nvSpPr>
        <p:spPr>
          <a:xfrm>
            <a:off x="3230880" y="1325880"/>
            <a:ext cx="2682240" cy="2011680"/>
          </a:xfrm>
          <a:prstGeom prst="roundRect">
            <a:avLst>
              <a:gd name="adj" fmla="val 3636"/>
            </a:avLst>
          </a:prstGeom>
          <a:solidFill>
            <a:srgbClr val="E3F4F1"/>
          </a:solidFill>
          <a:ln w="9525">
            <a:solidFill>
              <a:srgbClr val="0B7A6F"/>
            </a:solidFill>
            <a:prstDash val="solid"/>
          </a:ln>
        </p:spPr>
      </p:sp>
      <p:sp>
        <p:nvSpPr>
          <p:cNvPr id="13" name="Shape 9"/>
          <p:cNvSpPr/>
          <p:nvPr/>
        </p:nvSpPr>
        <p:spPr>
          <a:xfrm>
            <a:off x="3413760" y="1508760"/>
            <a:ext cx="384048" cy="384048"/>
          </a:xfrm>
          <a:prstGeom prst="ellipse">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3505932" y="1600932"/>
            <a:ext cx="199705" cy="199705"/>
          </a:xfrm>
          <a:prstGeom prst="rect">
            <a:avLst/>
          </a:prstGeom>
        </p:spPr>
      </p:pic>
      <p:sp>
        <p:nvSpPr>
          <p:cNvPr id="15" name="Text 10"/>
          <p:cNvSpPr txBox="1"/>
          <p:nvPr/>
        </p:nvSpPr>
        <p:spPr>
          <a:xfrm>
            <a:off x="5410200" y="1481328"/>
            <a:ext cx="365760" cy="411480"/>
          </a:xfrm>
          <a:prstGeom prst="rect">
            <a:avLst/>
          </a:prstGeom>
          <a:noFill/>
          <a:ln/>
        </p:spPr>
        <p:txBody>
          <a:bodyPr wrap="square" lIns="0" tIns="0" rIns="0" bIns="0" rtlCol="0" anchor="t"/>
          <a:lstStyle/>
          <a:p>
            <a:pPr algn="ctr" indent="0" marL="0">
              <a:buNone/>
            </a:pPr>
            <a:r>
              <a:rPr lang="en-US" sz="2000" b="1"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6" name="Text 11"/>
          <p:cNvSpPr txBox="1"/>
          <p:nvPr/>
        </p:nvSpPr>
        <p:spPr>
          <a:xfrm>
            <a:off x="3413760" y="2011680"/>
            <a:ext cx="2316480" cy="45720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something, not everything</a:t>
            </a:r>
            <a:endParaRPr lang="en-US" sz="1200" dirty="0"/>
          </a:p>
        </p:txBody>
      </p:sp>
      <p:sp>
        <p:nvSpPr>
          <p:cNvPr id="17" name="Text 12"/>
          <p:cNvSpPr txBox="1"/>
          <p:nvPr/>
        </p:nvSpPr>
        <p:spPr>
          <a:xfrm>
            <a:off x="3413760" y="2514600"/>
            <a:ext cx="2316480"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awkward pretending, and they still tell it in their own words.</a:t>
            </a:r>
            <a:endParaRPr lang="en-US" sz="950" dirty="0"/>
          </a:p>
        </p:txBody>
      </p:sp>
      <p:sp>
        <p:nvSpPr>
          <p:cNvPr id="18" name="Shape 13"/>
          <p:cNvSpPr/>
          <p:nvPr/>
        </p:nvSpPr>
        <p:spPr>
          <a:xfrm>
            <a:off x="6050280" y="1325880"/>
            <a:ext cx="2682240" cy="2011680"/>
          </a:xfrm>
          <a:prstGeom prst="roundRect">
            <a:avLst>
              <a:gd name="adj" fmla="val 3636"/>
            </a:avLst>
          </a:prstGeom>
          <a:solidFill>
            <a:srgbClr val="FCEBEA"/>
          </a:solidFill>
          <a:ln w="9525">
            <a:solidFill>
              <a:srgbClr val="B3261E"/>
            </a:solidFill>
            <a:prstDash val="solid"/>
          </a:ln>
        </p:spPr>
      </p:sp>
      <p:sp>
        <p:nvSpPr>
          <p:cNvPr id="19" name="Shape 14"/>
          <p:cNvSpPr/>
          <p:nvPr/>
        </p:nvSpPr>
        <p:spPr>
          <a:xfrm>
            <a:off x="6233160" y="1508760"/>
            <a:ext cx="384048" cy="384048"/>
          </a:xfrm>
          <a:prstGeom prst="ellipse">
            <a:avLst/>
          </a:prstGeom>
          <a:solidFill>
            <a:srgbClr val="FFFFFF"/>
          </a:solidFill>
          <a:ln w="127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6325332" y="1600932"/>
            <a:ext cx="199705" cy="199705"/>
          </a:xfrm>
          <a:prstGeom prst="rect">
            <a:avLst/>
          </a:prstGeom>
        </p:spPr>
      </p:pic>
      <p:sp>
        <p:nvSpPr>
          <p:cNvPr id="21" name="Text 15"/>
          <p:cNvSpPr txBox="1"/>
          <p:nvPr/>
        </p:nvSpPr>
        <p:spPr>
          <a:xfrm>
            <a:off x="8229600" y="1481328"/>
            <a:ext cx="365760" cy="411480"/>
          </a:xfrm>
          <a:prstGeom prst="rect">
            <a:avLst/>
          </a:prstGeom>
          <a:noFill/>
          <a:ln/>
        </p:spPr>
        <p:txBody>
          <a:bodyPr wrap="square" lIns="0" tIns="0" rIns="0" bIns="0" rtlCol="0" anchor="t"/>
          <a:lstStyle/>
          <a:p>
            <a:pPr algn="ctr" indent="0" marL="0">
              <a:buNone/>
            </a:pPr>
            <a:r>
              <a:rPr lang="en-US" sz="2000" b="1" dirty="0">
                <a:solidFill>
                  <a:srgbClr val="B3261E"/>
                </a:solidFill>
                <a:latin typeface="SF Pro Display" pitchFamily="34" charset="0"/>
                <a:ea typeface="SF Pro Display" pitchFamily="34" charset="-122"/>
                <a:cs typeface="SF Pro Display" pitchFamily="34" charset="-120"/>
              </a:rPr>
              <a:t>✕</a:t>
            </a:r>
            <a:endParaRPr lang="en-US" sz="2000" dirty="0"/>
          </a:p>
        </p:txBody>
      </p:sp>
      <p:sp>
        <p:nvSpPr>
          <p:cNvPr id="22" name="Text 16"/>
          <p:cNvSpPr txBox="1"/>
          <p:nvPr/>
        </p:nvSpPr>
        <p:spPr>
          <a:xfrm>
            <a:off x="6233160" y="2011680"/>
            <a:ext cx="2316480" cy="45720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Recite everything they told the CP</a:t>
            </a:r>
            <a:endParaRPr lang="en-US" sz="1200" dirty="0"/>
          </a:p>
        </p:txBody>
      </p:sp>
      <p:sp>
        <p:nvSpPr>
          <p:cNvPr id="23" name="Text 17"/>
          <p:cNvSpPr txBox="1"/>
          <p:nvPr/>
        </p:nvSpPr>
        <p:spPr>
          <a:xfrm>
            <a:off x="6233160" y="2514600"/>
            <a:ext cx="2316480"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Feels like we were reading over their shoulder.</a:t>
            </a:r>
            <a:endParaRPr lang="en-US" sz="950" dirty="0"/>
          </a:p>
        </p:txBody>
      </p:sp>
      <p:sp>
        <p:nvSpPr>
          <p:cNvPr id="24" name="Shape 18"/>
          <p:cNvSpPr/>
          <p:nvPr/>
        </p:nvSpPr>
        <p:spPr>
          <a:xfrm>
            <a:off x="411480" y="3520440"/>
            <a:ext cx="8321040" cy="548640"/>
          </a:xfrm>
          <a:prstGeom prst="roundRect">
            <a:avLst>
              <a:gd name="adj" fmla="val 13333"/>
            </a:avLst>
          </a:prstGeom>
          <a:solidFill>
            <a:srgbClr val="E3F4F1"/>
          </a:solidFill>
          <a:ln w="9525">
            <a:solidFill>
              <a:srgbClr val="E3F4F1"/>
            </a:solidFill>
            <a:prstDash val="solid"/>
          </a:ln>
        </p:spPr>
      </p:sp>
      <p:sp>
        <p:nvSpPr>
          <p:cNvPr id="25" name="Shape 19"/>
          <p:cNvSpPr/>
          <p:nvPr/>
        </p:nvSpPr>
        <p:spPr>
          <a:xfrm>
            <a:off x="411480" y="3593592"/>
            <a:ext cx="45720" cy="402336"/>
          </a:xfrm>
          <a:prstGeom prst="rect">
            <a:avLst/>
          </a:prstGeom>
          <a:solidFill>
            <a:srgbClr val="0B7A6F"/>
          </a:solidFill>
          <a:ln w="12700">
            <a:solidFill>
              <a:srgbClr val="0B7A6F"/>
            </a:solidFill>
            <a:prstDash val="solid"/>
          </a:ln>
        </p:spPr>
      </p:sp>
      <p:sp>
        <p:nvSpPr>
          <p:cNvPr id="26" name="Text 20"/>
          <p:cNvSpPr txBox="1"/>
          <p:nvPr/>
        </p:nvSpPr>
        <p:spPr>
          <a:xfrm>
            <a:off x="594360" y="3520440"/>
            <a:ext cx="8001000" cy="54864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OPEN WITH</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“Hey [Name], your cleaner mentioned you might be looking to cancel your membership. Wanted to check in directly.”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Reach out, let them explain, then it's a normal retention conversation.</a:t>
            </a:r>
            <a:endParaRPr lang="en-US" sz="1200" dirty="0"/>
          </a:p>
        </p:txBody>
      </p:sp>
      <p:sp>
        <p:nvSpPr>
          <p:cNvPr id="6" name="Shape 3"/>
          <p:cNvSpPr/>
          <p:nvPr/>
        </p:nvSpPr>
        <p:spPr>
          <a:xfrm>
            <a:off x="411480" y="1325880"/>
            <a:ext cx="1591056" cy="1691640"/>
          </a:xfrm>
          <a:prstGeom prst="roundRect">
            <a:avLst>
              <a:gd name="adj" fmla="val 4598"/>
            </a:avLst>
          </a:prstGeom>
          <a:solidFill>
            <a:srgbClr val="FFFFFF"/>
          </a:solidFill>
          <a:ln w="9525">
            <a:solidFill>
              <a:srgbClr val="DCE1E7"/>
            </a:solidFill>
            <a:prstDash val="solid"/>
          </a:ln>
        </p:spPr>
      </p:sp>
      <p:sp>
        <p:nvSpPr>
          <p:cNvPr id="7" name="Shape 4"/>
          <p:cNvSpPr/>
          <p:nvPr/>
        </p:nvSpPr>
        <p:spPr>
          <a:xfrm>
            <a:off x="521208" y="1435608"/>
            <a:ext cx="274320" cy="274320"/>
          </a:xfrm>
          <a:prstGeom prst="ellipse">
            <a:avLst/>
          </a:prstGeom>
          <a:solidFill>
            <a:srgbClr val="E3F4F1"/>
          </a:solidFill>
          <a:ln w="12700">
            <a:solidFill>
              <a:srgbClr val="E3F4F1"/>
            </a:solidFill>
            <a:prstDash val="solid"/>
          </a:ln>
        </p:spPr>
      </p:sp>
      <p:sp>
        <p:nvSpPr>
          <p:cNvPr id="8" name="Text 5"/>
          <p:cNvSpPr txBox="1"/>
          <p:nvPr/>
        </p:nvSpPr>
        <p:spPr>
          <a:xfrm>
            <a:off x="521208"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Shape 6"/>
          <p:cNvSpPr/>
          <p:nvPr/>
        </p:nvSpPr>
        <p:spPr>
          <a:xfrm>
            <a:off x="1545336" y="1417320"/>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1624340" y="1496324"/>
            <a:ext cx="171176" cy="171176"/>
          </a:xfrm>
          <a:prstGeom prst="rect">
            <a:avLst/>
          </a:prstGeom>
        </p:spPr>
      </p:pic>
      <p:sp>
        <p:nvSpPr>
          <p:cNvPr id="11" name="Text 7"/>
          <p:cNvSpPr txBox="1"/>
          <p:nvPr/>
        </p:nvSpPr>
        <p:spPr>
          <a:xfrm>
            <a:off x="521208"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Reach out</a:t>
            </a:r>
            <a:endParaRPr lang="en-US" sz="1100" dirty="0"/>
          </a:p>
        </p:txBody>
      </p:sp>
      <p:sp>
        <p:nvSpPr>
          <p:cNvPr id="12" name="Text 8"/>
          <p:cNvSpPr txBox="1"/>
          <p:nvPr/>
        </p:nvSpPr>
        <p:spPr>
          <a:xfrm>
            <a:off x="521208"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Don't wait for them to raise it.</a:t>
            </a:r>
            <a:endParaRPr lang="en-US" sz="900" dirty="0"/>
          </a:p>
        </p:txBody>
      </p:sp>
      <p:sp>
        <p:nvSpPr>
          <p:cNvPr id="13" name="Shape 9"/>
          <p:cNvSpPr/>
          <p:nvPr/>
        </p:nvSpPr>
        <p:spPr>
          <a:xfrm>
            <a:off x="2093976" y="1325880"/>
            <a:ext cx="1591056" cy="1691640"/>
          </a:xfrm>
          <a:prstGeom prst="roundRect">
            <a:avLst>
              <a:gd name="adj" fmla="val 4598"/>
            </a:avLst>
          </a:prstGeom>
          <a:solidFill>
            <a:srgbClr val="FFFFFF"/>
          </a:solidFill>
          <a:ln w="9525">
            <a:solidFill>
              <a:srgbClr val="DCE1E7"/>
            </a:solidFill>
            <a:prstDash val="solid"/>
          </a:ln>
        </p:spPr>
      </p:sp>
      <p:sp>
        <p:nvSpPr>
          <p:cNvPr id="14" name="Shape 10"/>
          <p:cNvSpPr/>
          <p:nvPr/>
        </p:nvSpPr>
        <p:spPr>
          <a:xfrm>
            <a:off x="2203704" y="1435608"/>
            <a:ext cx="274320" cy="274320"/>
          </a:xfrm>
          <a:prstGeom prst="ellipse">
            <a:avLst/>
          </a:prstGeom>
          <a:solidFill>
            <a:srgbClr val="E3F4F1"/>
          </a:solidFill>
          <a:ln w="12700">
            <a:solidFill>
              <a:srgbClr val="E3F4F1"/>
            </a:solidFill>
            <a:prstDash val="solid"/>
          </a:ln>
        </p:spPr>
      </p:sp>
      <p:sp>
        <p:nvSpPr>
          <p:cNvPr id="15" name="Text 11"/>
          <p:cNvSpPr txBox="1"/>
          <p:nvPr/>
        </p:nvSpPr>
        <p:spPr>
          <a:xfrm>
            <a:off x="2203704"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Shape 12"/>
          <p:cNvSpPr/>
          <p:nvPr/>
        </p:nvSpPr>
        <p:spPr>
          <a:xfrm>
            <a:off x="3227832" y="1417320"/>
            <a:ext cx="329184" cy="329184"/>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3306836" y="1496324"/>
            <a:ext cx="171176" cy="171176"/>
          </a:xfrm>
          <a:prstGeom prst="rect">
            <a:avLst/>
          </a:prstGeom>
        </p:spPr>
      </p:pic>
      <p:sp>
        <p:nvSpPr>
          <p:cNvPr id="18" name="Text 13"/>
          <p:cNvSpPr txBox="1"/>
          <p:nvPr/>
        </p:nvSpPr>
        <p:spPr>
          <a:xfrm>
            <a:off x="2203704"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Probe</a:t>
            </a:r>
            <a:endParaRPr lang="en-US" sz="1100" dirty="0"/>
          </a:p>
        </p:txBody>
      </p:sp>
      <p:sp>
        <p:nvSpPr>
          <p:cNvPr id="19" name="Text 14"/>
          <p:cNvSpPr txBox="1"/>
          <p:nvPr/>
        </p:nvSpPr>
        <p:spPr>
          <a:xfrm>
            <a:off x="2203704"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Let them explain in their own words.</a:t>
            </a:r>
            <a:endParaRPr lang="en-US" sz="900" dirty="0"/>
          </a:p>
        </p:txBody>
      </p:sp>
      <p:sp>
        <p:nvSpPr>
          <p:cNvPr id="20" name="Shape 15"/>
          <p:cNvSpPr/>
          <p:nvPr/>
        </p:nvSpPr>
        <p:spPr>
          <a:xfrm>
            <a:off x="3776472" y="1325880"/>
            <a:ext cx="1591056" cy="1691640"/>
          </a:xfrm>
          <a:prstGeom prst="roundRect">
            <a:avLst>
              <a:gd name="adj" fmla="val 4598"/>
            </a:avLst>
          </a:prstGeom>
          <a:solidFill>
            <a:srgbClr val="FFFFFF"/>
          </a:solidFill>
          <a:ln w="9525">
            <a:solidFill>
              <a:srgbClr val="DCE1E7"/>
            </a:solidFill>
            <a:prstDash val="solid"/>
          </a:ln>
        </p:spPr>
      </p:sp>
      <p:sp>
        <p:nvSpPr>
          <p:cNvPr id="21" name="Shape 16"/>
          <p:cNvSpPr/>
          <p:nvPr/>
        </p:nvSpPr>
        <p:spPr>
          <a:xfrm>
            <a:off x="3886200" y="1435608"/>
            <a:ext cx="274320" cy="274320"/>
          </a:xfrm>
          <a:prstGeom prst="ellipse">
            <a:avLst/>
          </a:prstGeom>
          <a:solidFill>
            <a:srgbClr val="E3F4F1"/>
          </a:solidFill>
          <a:ln w="12700">
            <a:solidFill>
              <a:srgbClr val="E3F4F1"/>
            </a:solidFill>
            <a:prstDash val="solid"/>
          </a:ln>
        </p:spPr>
      </p:sp>
      <p:sp>
        <p:nvSpPr>
          <p:cNvPr id="22" name="Text 17"/>
          <p:cNvSpPr txBox="1"/>
          <p:nvPr/>
        </p:nvSpPr>
        <p:spPr>
          <a:xfrm>
            <a:off x="3886200"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3" name="Shape 18"/>
          <p:cNvSpPr/>
          <p:nvPr/>
        </p:nvSpPr>
        <p:spPr>
          <a:xfrm>
            <a:off x="4910328" y="1417320"/>
            <a:ext cx="329184" cy="329184"/>
          </a:xfrm>
          <a:prstGeom prst="ellipse">
            <a:avLst/>
          </a:prstGeom>
          <a:solidFill>
            <a:srgbClr val="E3F4F1"/>
          </a:solidFill>
          <a:ln w="12700">
            <a:solidFill>
              <a:srgbClr val="E3F4F1"/>
            </a:solidFill>
            <a:prstDash val="solid"/>
          </a:ln>
        </p:spPr>
      </p:sp>
      <p:pic>
        <p:nvPicPr>
          <p:cNvPr id="24" name="Image 2" descr="preencoded.png">    </p:cNvPr>
          <p:cNvPicPr>
            <a:picLocks noChangeAspect="1"/>
          </p:cNvPicPr>
          <p:nvPr/>
        </p:nvPicPr>
        <p:blipFill>
          <a:blip r:embed="rId3"/>
          <a:stretch>
            <a:fillRect/>
          </a:stretch>
        </p:blipFill>
        <p:spPr>
          <a:xfrm>
            <a:off x="4989332" y="1496324"/>
            <a:ext cx="171176" cy="171176"/>
          </a:xfrm>
          <a:prstGeom prst="rect">
            <a:avLst/>
          </a:prstGeom>
        </p:spPr>
      </p:pic>
      <p:sp>
        <p:nvSpPr>
          <p:cNvPr id="25" name="Text 19"/>
          <p:cNvSpPr txBox="1"/>
          <p:nvPr/>
        </p:nvSpPr>
        <p:spPr>
          <a:xfrm>
            <a:off x="3886200"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Explain FC &amp; ETF</a:t>
            </a:r>
            <a:endParaRPr lang="en-US" sz="1100" dirty="0"/>
          </a:p>
        </p:txBody>
      </p:sp>
      <p:sp>
        <p:nvSpPr>
          <p:cNvPr id="26" name="Text 20"/>
          <p:cNvSpPr txBox="1"/>
          <p:nvPr/>
        </p:nvSpPr>
        <p:spPr>
          <a:xfrm>
            <a:off x="3886200"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If the ETF applies. Don't skip it.</a:t>
            </a:r>
            <a:endParaRPr lang="en-US" sz="900" dirty="0"/>
          </a:p>
        </p:txBody>
      </p:sp>
      <p:sp>
        <p:nvSpPr>
          <p:cNvPr id="27" name="Shape 21"/>
          <p:cNvSpPr/>
          <p:nvPr/>
        </p:nvSpPr>
        <p:spPr>
          <a:xfrm>
            <a:off x="5458968" y="1325880"/>
            <a:ext cx="1591056" cy="1691640"/>
          </a:xfrm>
          <a:prstGeom prst="roundRect">
            <a:avLst>
              <a:gd name="adj" fmla="val 4598"/>
            </a:avLst>
          </a:prstGeom>
          <a:solidFill>
            <a:srgbClr val="FFFFFF"/>
          </a:solidFill>
          <a:ln w="9525">
            <a:solidFill>
              <a:srgbClr val="DCE1E7"/>
            </a:solidFill>
            <a:prstDash val="solid"/>
          </a:ln>
        </p:spPr>
      </p:sp>
      <p:sp>
        <p:nvSpPr>
          <p:cNvPr id="28" name="Shape 22"/>
          <p:cNvSpPr/>
          <p:nvPr/>
        </p:nvSpPr>
        <p:spPr>
          <a:xfrm>
            <a:off x="5568696" y="1435608"/>
            <a:ext cx="274320" cy="274320"/>
          </a:xfrm>
          <a:prstGeom prst="ellipse">
            <a:avLst/>
          </a:prstGeom>
          <a:solidFill>
            <a:srgbClr val="E3F4F1"/>
          </a:solidFill>
          <a:ln w="12700">
            <a:solidFill>
              <a:srgbClr val="E3F4F1"/>
            </a:solidFill>
            <a:prstDash val="solid"/>
          </a:ln>
        </p:spPr>
      </p:sp>
      <p:sp>
        <p:nvSpPr>
          <p:cNvPr id="29" name="Text 23"/>
          <p:cNvSpPr txBox="1"/>
          <p:nvPr/>
        </p:nvSpPr>
        <p:spPr>
          <a:xfrm>
            <a:off x="5568696"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30" name="Shape 24"/>
          <p:cNvSpPr/>
          <p:nvPr/>
        </p:nvSpPr>
        <p:spPr>
          <a:xfrm>
            <a:off x="6592824" y="1417320"/>
            <a:ext cx="329184" cy="329184"/>
          </a:xfrm>
          <a:prstGeom prst="ellipse">
            <a:avLst/>
          </a:prstGeom>
          <a:solidFill>
            <a:srgbClr val="E3F4F1"/>
          </a:solidFill>
          <a:ln w="12700">
            <a:solidFill>
              <a:srgbClr val="E3F4F1"/>
            </a:solidFill>
            <a:prstDash val="solid"/>
          </a:ln>
        </p:spPr>
      </p:sp>
      <p:pic>
        <p:nvPicPr>
          <p:cNvPr id="31" name="Image 3" descr="preencoded.png">    </p:cNvPr>
          <p:cNvPicPr>
            <a:picLocks noChangeAspect="1"/>
          </p:cNvPicPr>
          <p:nvPr/>
        </p:nvPicPr>
        <p:blipFill>
          <a:blip r:embed="rId4"/>
          <a:stretch>
            <a:fillRect/>
          </a:stretch>
        </p:blipFill>
        <p:spPr>
          <a:xfrm>
            <a:off x="6671828" y="1496324"/>
            <a:ext cx="171176" cy="171176"/>
          </a:xfrm>
          <a:prstGeom prst="rect">
            <a:avLst/>
          </a:prstGeom>
        </p:spPr>
      </p:pic>
      <p:sp>
        <p:nvSpPr>
          <p:cNvPr id="32" name="Text 25"/>
          <p:cNvSpPr txBox="1"/>
          <p:nvPr/>
        </p:nvSpPr>
        <p:spPr>
          <a:xfrm>
            <a:off x="5568696"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Appointments &amp; RC</a:t>
            </a:r>
            <a:endParaRPr lang="en-US" sz="1100" dirty="0"/>
          </a:p>
        </p:txBody>
      </p:sp>
      <p:sp>
        <p:nvSpPr>
          <p:cNvPr id="33" name="Text 26"/>
          <p:cNvSpPr txBox="1"/>
          <p:nvPr/>
        </p:nvSpPr>
        <p:spPr>
          <a:xfrm>
            <a:off x="5568696"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Cancel by default, unless they want to keep them.</a:t>
            </a:r>
            <a:endParaRPr lang="en-US" sz="900" dirty="0"/>
          </a:p>
        </p:txBody>
      </p:sp>
      <p:sp>
        <p:nvSpPr>
          <p:cNvPr id="34" name="Shape 27"/>
          <p:cNvSpPr/>
          <p:nvPr/>
        </p:nvSpPr>
        <p:spPr>
          <a:xfrm>
            <a:off x="7141464" y="1325880"/>
            <a:ext cx="1591056" cy="1691640"/>
          </a:xfrm>
          <a:prstGeom prst="roundRect">
            <a:avLst>
              <a:gd name="adj" fmla="val 4598"/>
            </a:avLst>
          </a:prstGeom>
          <a:solidFill>
            <a:srgbClr val="FFFFFF"/>
          </a:solidFill>
          <a:ln w="9525">
            <a:solidFill>
              <a:srgbClr val="DCE1E7"/>
            </a:solidFill>
            <a:prstDash val="solid"/>
          </a:ln>
        </p:spPr>
      </p:sp>
      <p:sp>
        <p:nvSpPr>
          <p:cNvPr id="35" name="Shape 28"/>
          <p:cNvSpPr/>
          <p:nvPr/>
        </p:nvSpPr>
        <p:spPr>
          <a:xfrm>
            <a:off x="7251192" y="1435608"/>
            <a:ext cx="274320" cy="274320"/>
          </a:xfrm>
          <a:prstGeom prst="ellipse">
            <a:avLst/>
          </a:prstGeom>
          <a:solidFill>
            <a:srgbClr val="E3F4F1"/>
          </a:solidFill>
          <a:ln w="12700">
            <a:solidFill>
              <a:srgbClr val="E3F4F1"/>
            </a:solidFill>
            <a:prstDash val="solid"/>
          </a:ln>
        </p:spPr>
      </p:sp>
      <p:sp>
        <p:nvSpPr>
          <p:cNvPr id="36" name="Text 29"/>
          <p:cNvSpPr txBox="1"/>
          <p:nvPr/>
        </p:nvSpPr>
        <p:spPr>
          <a:xfrm>
            <a:off x="7251192"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7" name="Shape 30"/>
          <p:cNvSpPr/>
          <p:nvPr/>
        </p:nvSpPr>
        <p:spPr>
          <a:xfrm>
            <a:off x="8275320" y="1417320"/>
            <a:ext cx="329184" cy="329184"/>
          </a:xfrm>
          <a:prstGeom prst="ellipse">
            <a:avLst/>
          </a:prstGeom>
          <a:solidFill>
            <a:srgbClr val="E3F4F1"/>
          </a:solidFill>
          <a:ln w="12700">
            <a:solidFill>
              <a:srgbClr val="E3F4F1"/>
            </a:solidFill>
            <a:prstDash val="solid"/>
          </a:ln>
        </p:spPr>
      </p:sp>
      <p:pic>
        <p:nvPicPr>
          <p:cNvPr id="38" name="Image 4" descr="preencoded.png">    </p:cNvPr>
          <p:cNvPicPr>
            <a:picLocks noChangeAspect="1"/>
          </p:cNvPicPr>
          <p:nvPr/>
        </p:nvPicPr>
        <p:blipFill>
          <a:blip r:embed="rId5"/>
          <a:stretch>
            <a:fillRect/>
          </a:stretch>
        </p:blipFill>
        <p:spPr>
          <a:xfrm>
            <a:off x="8354324" y="1496324"/>
            <a:ext cx="171176" cy="171176"/>
          </a:xfrm>
          <a:prstGeom prst="rect">
            <a:avLst/>
          </a:prstGeom>
        </p:spPr>
      </p:pic>
      <p:sp>
        <p:nvSpPr>
          <p:cNvPr id="39" name="Text 31"/>
          <p:cNvSpPr txBox="1"/>
          <p:nvPr/>
        </p:nvSpPr>
        <p:spPr>
          <a:xfrm>
            <a:off x="7251192"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Route</a:t>
            </a:r>
            <a:endParaRPr lang="en-US" sz="1100" dirty="0"/>
          </a:p>
        </p:txBody>
      </p:sp>
      <p:sp>
        <p:nvSpPr>
          <p:cNvPr id="40" name="Text 32"/>
          <p:cNvSpPr txBox="1"/>
          <p:nvPr/>
        </p:nvSpPr>
        <p:spPr>
          <a:xfrm>
            <a:off x="7251192"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Address pain points, then the right playbook.</a:t>
            </a:r>
            <a:endParaRPr lang="en-US" sz="900" dirty="0"/>
          </a:p>
        </p:txBody>
      </p:sp>
      <p:sp>
        <p:nvSpPr>
          <p:cNvPr id="41" name="Shape 33"/>
          <p:cNvSpPr/>
          <p:nvPr/>
        </p:nvSpPr>
        <p:spPr>
          <a:xfrm>
            <a:off x="411480" y="3200400"/>
            <a:ext cx="8321040" cy="548640"/>
          </a:xfrm>
          <a:prstGeom prst="roundRect">
            <a:avLst>
              <a:gd name="adj" fmla="val 13333"/>
            </a:avLst>
          </a:prstGeom>
          <a:solidFill>
            <a:srgbClr val="E3F4F1"/>
          </a:solidFill>
          <a:ln w="9525">
            <a:solidFill>
              <a:srgbClr val="E3F4F1"/>
            </a:solidFill>
            <a:prstDash val="solid"/>
          </a:ln>
        </p:spPr>
      </p:sp>
      <p:sp>
        <p:nvSpPr>
          <p:cNvPr id="42" name="Shape 34"/>
          <p:cNvSpPr/>
          <p:nvPr/>
        </p:nvSpPr>
        <p:spPr>
          <a:xfrm>
            <a:off x="411480" y="3273552"/>
            <a:ext cx="45720" cy="402336"/>
          </a:xfrm>
          <a:prstGeom prst="rect">
            <a:avLst/>
          </a:prstGeom>
          <a:solidFill>
            <a:srgbClr val="0B7A6F"/>
          </a:solidFill>
          <a:ln w="12700">
            <a:solidFill>
              <a:srgbClr val="0B7A6F"/>
            </a:solidFill>
            <a:prstDash val="solid"/>
          </a:ln>
        </p:spPr>
      </p:sp>
      <p:sp>
        <p:nvSpPr>
          <p:cNvPr id="43" name="Text 35"/>
          <p:cNvSpPr txBox="1"/>
          <p:nvPr/>
        </p:nvSpPr>
        <p:spPr>
          <a:xfrm>
            <a:off x="594360" y="3200400"/>
            <a:ext cx="8001000" cy="54864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STEP 2: PROBE</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“Do you mind sharing why? That'll help me figure out the best way to handle this for you.”</a:t>
            </a:r>
            <a:endParaRPr lang="en-US" sz="1000" dirty="0"/>
          </a:p>
        </p:txBody>
      </p:sp>
      <p:sp>
        <p:nvSpPr>
          <p:cNvPr id="44" name="Shape 36"/>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45" name="Image 5" descr="preencoded.png">    </p:cNvPr>
          <p:cNvPicPr>
            <a:picLocks noChangeAspect="1"/>
          </p:cNvPicPr>
          <p:nvPr/>
        </p:nvPicPr>
        <p:blipFill>
          <a:blip r:embed="rId6"/>
          <a:stretch>
            <a:fillRect/>
          </a:stretch>
        </p:blipFill>
        <p:spPr>
          <a:xfrm>
            <a:off x="566928" y="3995928"/>
            <a:ext cx="164592" cy="164592"/>
          </a:xfrm>
          <a:prstGeom prst="rect">
            <a:avLst/>
          </a:prstGeom>
        </p:spPr>
      </p:pic>
      <p:sp>
        <p:nvSpPr>
          <p:cNvPr id="46" name="Text 37"/>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macro yet:  </a:t>
            </a:r>
            <a:r>
              <a:rPr lang="en-US" sz="1000" dirty="0">
                <a:solidFill>
                  <a:srgbClr val="1D1D1F"/>
                </a:solidFill>
                <a:latin typeface="SF Pro Text" pitchFamily="34" charset="0"/>
                <a:ea typeface="SF Pro Text" pitchFamily="34" charset="-122"/>
                <a:cs typeface="SF Pro Text" pitchFamily="34" charset="-120"/>
              </a:rPr>
              <a:t>use the Step 1–2 language. It's flagged for the Comms Kit.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Route to the right playbook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they've told you why, follow the root cause.</a:t>
            </a:r>
            <a:endParaRPr lang="en-US" sz="1200" dirty="0"/>
          </a:p>
        </p:txBody>
      </p:sp>
      <p:sp>
        <p:nvSpPr>
          <p:cNvPr id="6" name="Shape 3"/>
          <p:cNvSpPr/>
          <p:nvPr/>
        </p:nvSpPr>
        <p:spPr>
          <a:xfrm>
            <a:off x="411480" y="1325880"/>
            <a:ext cx="3749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30352" y="1472184"/>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09356" y="1551188"/>
            <a:ext cx="171176" cy="171176"/>
          </a:xfrm>
          <a:prstGeom prst="rect">
            <a:avLst/>
          </a:prstGeom>
        </p:spPr>
      </p:pic>
      <p:sp>
        <p:nvSpPr>
          <p:cNvPr id="9" name="Text 5"/>
          <p:cNvSpPr txBox="1"/>
          <p:nvPr/>
        </p:nvSpPr>
        <p:spPr>
          <a:xfrm>
            <a:off x="960120" y="1325880"/>
            <a:ext cx="3108960" cy="621792"/>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Membership terms</a:t>
            </a:r>
            <a:endParaRPr lang="en-US" sz="1100" dirty="0"/>
          </a:p>
          <a:p>
            <a:pPr indent="0" marL="0">
              <a:buNone/>
            </a:pPr>
            <a:r>
              <a:rPr lang="en-US" sz="900" dirty="0">
                <a:solidFill>
                  <a:srgbClr val="6E6E73"/>
                </a:solidFill>
                <a:latin typeface="SF Pro Text" pitchFamily="34" charset="0"/>
                <a:ea typeface="SF Pro Text" pitchFamily="34" charset="-122"/>
                <a:cs typeface="SF Pro Text" pitchFamily="34" charset="-120"/>
              </a:rPr>
              <a:t>Unaware, cost, MCT length</a:t>
            </a:r>
            <a:endParaRPr lang="en-US" sz="1100" dirty="0"/>
          </a:p>
        </p:txBody>
      </p:sp>
      <p:sp>
        <p:nvSpPr>
          <p:cNvPr id="10" name="Shape 6"/>
          <p:cNvSpPr/>
          <p:nvPr/>
        </p:nvSpPr>
        <p:spPr>
          <a:xfrm>
            <a:off x="4160520" y="1636776"/>
            <a:ext cx="411480" cy="0"/>
          </a:xfrm>
          <a:prstGeom prst="line">
            <a:avLst/>
          </a:prstGeom>
          <a:noFill/>
          <a:ln w="12700">
            <a:solidFill>
              <a:srgbClr val="6E6E73"/>
            </a:solidFill>
            <a:prstDash val="solid"/>
            <a:tailEnd type="triangle"/>
          </a:ln>
        </p:spPr>
      </p:sp>
      <p:sp>
        <p:nvSpPr>
          <p:cNvPr id="11" name="Text 7"/>
          <p:cNvSpPr/>
          <p:nvPr/>
        </p:nvSpPr>
        <p:spPr>
          <a:xfrm>
            <a:off x="4572000" y="1325880"/>
            <a:ext cx="4160520" cy="621792"/>
          </a:xfrm>
          <a:prstGeom prst="roundRect">
            <a:avLst>
              <a:gd name="adj" fmla="val 11765"/>
            </a:avLst>
          </a:prstGeom>
          <a:solidFill>
            <a:srgbClr val="0B7A6F"/>
          </a:solidFill>
          <a:ln>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Membership Retention Playbook</a:t>
            </a:r>
            <a:endParaRPr lang="en-US" sz="1050" dirty="0"/>
          </a:p>
        </p:txBody>
      </p:sp>
      <p:sp>
        <p:nvSpPr>
          <p:cNvPr id="12" name="Shape 8"/>
          <p:cNvSpPr/>
          <p:nvPr/>
        </p:nvSpPr>
        <p:spPr>
          <a:xfrm>
            <a:off x="411480" y="2039112"/>
            <a:ext cx="3749040" cy="621792"/>
          </a:xfrm>
          <a:prstGeom prst="roundRect">
            <a:avLst>
              <a:gd name="adj" fmla="val 11765"/>
            </a:avLst>
          </a:prstGeom>
          <a:solidFill>
            <a:srgbClr val="FFFFFF"/>
          </a:solidFill>
          <a:ln w="9525">
            <a:solidFill>
              <a:srgbClr val="DCE1E7"/>
            </a:solidFill>
            <a:prstDash val="solid"/>
          </a:ln>
        </p:spPr>
      </p:sp>
      <p:sp>
        <p:nvSpPr>
          <p:cNvPr id="13" name="Shape 9"/>
          <p:cNvSpPr/>
          <p:nvPr/>
        </p:nvSpPr>
        <p:spPr>
          <a:xfrm>
            <a:off x="530352" y="2185416"/>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09356" y="2264420"/>
            <a:ext cx="171176" cy="171176"/>
          </a:xfrm>
          <a:prstGeom prst="rect">
            <a:avLst/>
          </a:prstGeom>
        </p:spPr>
      </p:pic>
      <p:sp>
        <p:nvSpPr>
          <p:cNvPr id="15" name="Text 10"/>
          <p:cNvSpPr txBox="1"/>
          <p:nvPr/>
        </p:nvSpPr>
        <p:spPr>
          <a:xfrm>
            <a:off x="960120" y="2039112"/>
            <a:ext cx="3108960" cy="621792"/>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Service issue</a:t>
            </a:r>
            <a:endParaRPr lang="en-US" sz="1100" dirty="0"/>
          </a:p>
          <a:p>
            <a:pPr indent="0" marL="0">
              <a:buNone/>
            </a:pPr>
            <a:r>
              <a:rPr lang="en-US" sz="900" dirty="0">
                <a:solidFill>
                  <a:srgbClr val="6E6E73"/>
                </a:solidFill>
                <a:latin typeface="SF Pro Text" pitchFamily="34" charset="0"/>
                <a:ea typeface="SF Pro Text" pitchFamily="34" charset="-122"/>
                <a:cs typeface="SF Pro Text" pitchFamily="34" charset="-120"/>
              </a:rPr>
              <a:t>Quality or reliability</a:t>
            </a:r>
            <a:endParaRPr lang="en-US" sz="1100" dirty="0"/>
          </a:p>
        </p:txBody>
      </p:sp>
      <p:sp>
        <p:nvSpPr>
          <p:cNvPr id="16" name="Shape 11"/>
          <p:cNvSpPr/>
          <p:nvPr/>
        </p:nvSpPr>
        <p:spPr>
          <a:xfrm>
            <a:off x="4160520" y="2350008"/>
            <a:ext cx="411480" cy="0"/>
          </a:xfrm>
          <a:prstGeom prst="line">
            <a:avLst/>
          </a:prstGeom>
          <a:noFill/>
          <a:ln w="12700">
            <a:solidFill>
              <a:srgbClr val="6E6E73"/>
            </a:solidFill>
            <a:prstDash val="solid"/>
            <a:tailEnd type="triangle"/>
          </a:ln>
        </p:spPr>
      </p:sp>
      <p:sp>
        <p:nvSpPr>
          <p:cNvPr id="17" name="Text 12"/>
          <p:cNvSpPr/>
          <p:nvPr/>
        </p:nvSpPr>
        <p:spPr>
          <a:xfrm>
            <a:off x="4572000" y="2039112"/>
            <a:ext cx="4160520" cy="621792"/>
          </a:xfrm>
          <a:prstGeom prst="roundRect">
            <a:avLst>
              <a:gd name="adj" fmla="val 11765"/>
            </a:avLst>
          </a:prstGeom>
          <a:solidFill>
            <a:srgbClr val="0B7A6F"/>
          </a:solidFill>
          <a:ln>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PCQ or Service Reliability Retention Playbook</a:t>
            </a:r>
            <a:endParaRPr lang="en-US" sz="1050" dirty="0"/>
          </a:p>
        </p:txBody>
      </p:sp>
      <p:sp>
        <p:nvSpPr>
          <p:cNvPr id="18" name="Shape 13"/>
          <p:cNvSpPr/>
          <p:nvPr/>
        </p:nvSpPr>
        <p:spPr>
          <a:xfrm>
            <a:off x="411480" y="2752344"/>
            <a:ext cx="3749040" cy="621792"/>
          </a:xfrm>
          <a:prstGeom prst="roundRect">
            <a:avLst>
              <a:gd name="adj" fmla="val 11765"/>
            </a:avLst>
          </a:prstGeom>
          <a:solidFill>
            <a:srgbClr val="FFFFFF"/>
          </a:solidFill>
          <a:ln w="9525">
            <a:solidFill>
              <a:srgbClr val="DCE1E7"/>
            </a:solidFill>
            <a:prstDash val="solid"/>
          </a:ln>
        </p:spPr>
      </p:sp>
      <p:sp>
        <p:nvSpPr>
          <p:cNvPr id="19" name="Shape 14"/>
          <p:cNvSpPr/>
          <p:nvPr/>
        </p:nvSpPr>
        <p:spPr>
          <a:xfrm>
            <a:off x="530352" y="2898648"/>
            <a:ext cx="329184" cy="329184"/>
          </a:xfrm>
          <a:prstGeom prst="ellipse">
            <a:avLst/>
          </a:prstGeom>
          <a:solidFill>
            <a:srgbClr val="E3F4F1"/>
          </a:solidFill>
          <a:ln w="12700">
            <a:solidFill>
              <a:srgbClr val="E3F4F1"/>
            </a:solidFill>
            <a:prstDash val="solid"/>
          </a:ln>
        </p:spPr>
      </p:sp>
      <p:pic>
        <p:nvPicPr>
          <p:cNvPr id="20" name="Image 2" descr="preencoded.png">    </p:cNvPr>
          <p:cNvPicPr>
            <a:picLocks noChangeAspect="1"/>
          </p:cNvPicPr>
          <p:nvPr/>
        </p:nvPicPr>
        <p:blipFill>
          <a:blip r:embed="rId3"/>
          <a:stretch>
            <a:fillRect/>
          </a:stretch>
        </p:blipFill>
        <p:spPr>
          <a:xfrm>
            <a:off x="609356" y="2977652"/>
            <a:ext cx="171176" cy="171176"/>
          </a:xfrm>
          <a:prstGeom prst="rect">
            <a:avLst/>
          </a:prstGeom>
        </p:spPr>
      </p:pic>
      <p:sp>
        <p:nvSpPr>
          <p:cNvPr id="21" name="Text 15"/>
          <p:cNvSpPr txBox="1"/>
          <p:nvPr/>
        </p:nvSpPr>
        <p:spPr>
          <a:xfrm>
            <a:off x="960120" y="2752344"/>
            <a:ext cx="3108960" cy="621792"/>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Is this customer retainable?</a:t>
            </a:r>
            <a:endParaRPr lang="en-US" sz="1100" dirty="0"/>
          </a:p>
          <a:p>
            <a:pPr indent="0" marL="0">
              <a:buNone/>
            </a:pPr>
            <a:r>
              <a:rPr lang="en-US" sz="900" dirty="0">
                <a:solidFill>
                  <a:srgbClr val="6E6E73"/>
                </a:solidFill>
                <a:latin typeface="SF Pro Text" pitchFamily="34" charset="0"/>
                <a:ea typeface="SF Pro Text" pitchFamily="34" charset="-122"/>
                <a:cs typeface="SF Pro Text" pitchFamily="34" charset="-120"/>
              </a:rPr>
              <a:t>The five key factors</a:t>
            </a:r>
            <a:endParaRPr lang="en-US" sz="1100" dirty="0"/>
          </a:p>
        </p:txBody>
      </p:sp>
      <p:sp>
        <p:nvSpPr>
          <p:cNvPr id="22" name="Shape 16"/>
          <p:cNvSpPr/>
          <p:nvPr/>
        </p:nvSpPr>
        <p:spPr>
          <a:xfrm>
            <a:off x="4160520" y="3063240"/>
            <a:ext cx="411480" cy="0"/>
          </a:xfrm>
          <a:prstGeom prst="line">
            <a:avLst/>
          </a:prstGeom>
          <a:noFill/>
          <a:ln w="12700">
            <a:solidFill>
              <a:srgbClr val="6E6E73"/>
            </a:solidFill>
            <a:prstDash val="solid"/>
            <a:tailEnd type="triangle"/>
          </a:ln>
        </p:spPr>
      </p:sp>
      <p:sp>
        <p:nvSpPr>
          <p:cNvPr id="23" name="Text 17"/>
          <p:cNvSpPr/>
          <p:nvPr/>
        </p:nvSpPr>
        <p:spPr>
          <a:xfrm>
            <a:off x="4572000" y="2752344"/>
            <a:ext cx="4160520" cy="621792"/>
          </a:xfrm>
          <a:prstGeom prst="roundRect">
            <a:avLst>
              <a:gd name="adj" fmla="val 11765"/>
            </a:avLst>
          </a:prstGeom>
          <a:solidFill>
            <a:srgbClr val="0B7A6F"/>
          </a:solidFill>
          <a:ln>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General Retention Playbook</a:t>
            </a:r>
            <a:endParaRPr lang="en-US" sz="1050" dirty="0"/>
          </a:p>
        </p:txBody>
      </p:sp>
      <p:sp>
        <p:nvSpPr>
          <p:cNvPr id="24" name="Shape 18"/>
          <p:cNvSpPr/>
          <p:nvPr/>
        </p:nvSpPr>
        <p:spPr>
          <a:xfrm>
            <a:off x="411480" y="3520440"/>
            <a:ext cx="8321040" cy="384048"/>
          </a:xfrm>
          <a:prstGeom prst="roundRect">
            <a:avLst>
              <a:gd name="adj" fmla="val 19048"/>
            </a:avLst>
          </a:prstGeom>
          <a:solidFill>
            <a:srgbClr val="FCEBEA"/>
          </a:solidFill>
          <a:ln w="9525">
            <a:solidFill>
              <a:srgbClr val="B3261E"/>
            </a:solidFill>
            <a:prstDash val="solid"/>
          </a:ln>
        </p:spPr>
      </p:sp>
      <p:pic>
        <p:nvPicPr>
          <p:cNvPr id="25" name="Image 3" descr="preencoded.png">    </p:cNvPr>
          <p:cNvPicPr>
            <a:picLocks noChangeAspect="1"/>
          </p:cNvPicPr>
          <p:nvPr/>
        </p:nvPicPr>
        <p:blipFill>
          <a:blip r:embed="rId4"/>
          <a:stretch>
            <a:fillRect/>
          </a:stretch>
        </p:blipFill>
        <p:spPr>
          <a:xfrm>
            <a:off x="566928" y="3630168"/>
            <a:ext cx="164592" cy="164592"/>
          </a:xfrm>
          <a:prstGeom prst="rect">
            <a:avLst/>
          </a:prstGeom>
        </p:spPr>
      </p:pic>
      <p:sp>
        <p:nvSpPr>
          <p:cNvPr id="26" name="Text 19"/>
          <p:cNvSpPr txBox="1"/>
          <p:nvPr/>
        </p:nvSpPr>
        <p:spPr>
          <a:xfrm>
            <a:off x="822960" y="3520440"/>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Washington customer?  </a:t>
            </a:r>
            <a:r>
              <a:rPr lang="en-US" sz="1000" dirty="0">
                <a:solidFill>
                  <a:srgbClr val="1D1D1F"/>
                </a:solidFill>
                <a:latin typeface="SF Pro Text" pitchFamily="34" charset="0"/>
                <a:ea typeface="SF Pro Text" pitchFamily="34" charset="-122"/>
                <a:cs typeface="SF Pro Text" pitchFamily="34" charset="-120"/>
              </a:rPr>
              <a:t>use the WA process: send the self-cancel link and never mention the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While checking a PCQ, you see the C told the CP they want to cancel. Wait for them to contact us?</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Reach out proactively.</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do you open the conversation?</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Know something, not everything: "Your cleaner mentioned you might be looking to cancel…"</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sounds set on cancelling. Skip explaining the ETF?</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If it applies, explain FC and ETF terms.</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happens to upcoming appointments and RC?</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by default, unless they clearly want to keep them.</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Where did the cancellation intent come from?</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And what is the customer's real reason?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Opening, probe, terms, appointments, playbook.</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outreach message.</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General Retention Playbook</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thinking behind every retention conversation.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Fix the real problem, not just offer something</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5 key factors: weigh, don't count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Matching and presenting the offer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retention isn't the right call</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Fix the real problem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just offer something.</a:t>
            </a:r>
            <a:endParaRPr lang="en-US" sz="1200" dirty="0"/>
          </a:p>
        </p:txBody>
      </p:sp>
      <p:sp>
        <p:nvSpPr>
          <p:cNvPr id="6" name="Shape 3"/>
          <p:cNvSpPr/>
          <p:nvPr/>
        </p:nvSpPr>
        <p:spPr>
          <a:xfrm>
            <a:off x="411480" y="1325880"/>
            <a:ext cx="4069080" cy="1920240"/>
          </a:xfrm>
          <a:prstGeom prst="roundRect">
            <a:avLst>
              <a:gd name="adj" fmla="val 3810"/>
            </a:avLst>
          </a:prstGeom>
          <a:solidFill>
            <a:srgbClr val="FFFFFF"/>
          </a:solidFill>
          <a:ln w="9525">
            <a:solidFill>
              <a:srgbClr val="1D1D1F"/>
            </a:solidFill>
            <a:prstDash val="solid"/>
          </a:ln>
        </p:spPr>
      </p:sp>
      <p:sp>
        <p:nvSpPr>
          <p:cNvPr id="7" name="Text 4"/>
          <p:cNvSpPr/>
          <p:nvPr/>
        </p:nvSpPr>
        <p:spPr>
          <a:xfrm>
            <a:off x="41148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Old: the retention ladder</a:t>
            </a:r>
            <a:endParaRPr lang="en-US" sz="1050" dirty="0"/>
          </a:p>
        </p:txBody>
      </p:sp>
      <p:sp>
        <p:nvSpPr>
          <p:cNvPr id="8" name="Text 5"/>
          <p:cNvSpPr txBox="1"/>
          <p:nvPr/>
        </p:nvSpPr>
        <p:spPr>
          <a:xfrm>
            <a:off x="576072" y="1764792"/>
            <a:ext cx="3739896" cy="1408176"/>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Start small</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Escalate only if they push back</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Feels like being managed with incentives</a:t>
            </a:r>
            <a:endParaRPr lang="en-US" sz="1050" dirty="0"/>
          </a:p>
        </p:txBody>
      </p:sp>
      <p:sp>
        <p:nvSpPr>
          <p:cNvPr id="9" name="Shape 6"/>
          <p:cNvSpPr/>
          <p:nvPr/>
        </p:nvSpPr>
        <p:spPr>
          <a:xfrm>
            <a:off x="4663440" y="1325880"/>
            <a:ext cx="4069080" cy="1920240"/>
          </a:xfrm>
          <a:prstGeom prst="roundRect">
            <a:avLst>
              <a:gd name="adj" fmla="val 3810"/>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Now: root cause first</a:t>
            </a:r>
            <a:endParaRPr lang="en-US" sz="1050" dirty="0"/>
          </a:p>
        </p:txBody>
      </p:sp>
      <p:sp>
        <p:nvSpPr>
          <p:cNvPr id="11" name="Text 8"/>
          <p:cNvSpPr txBox="1"/>
          <p:nvPr/>
        </p:nvSpPr>
        <p:spPr>
          <a:xfrm>
            <a:off x="4828032" y="1764792"/>
            <a:ext cx="3739896" cy="1408176"/>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Find why they want to leave</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Match the offer to that reason</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Show its value clearly</a:t>
            </a:r>
            <a:endParaRPr lang="en-US" sz="1050" dirty="0"/>
          </a:p>
        </p:txBody>
      </p:sp>
      <p:sp>
        <p:nvSpPr>
          <p:cNvPr id="12" name="Shape 9"/>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3584448"/>
            <a:ext cx="164592" cy="164592"/>
          </a:xfrm>
          <a:prstGeom prst="rect">
            <a:avLst/>
          </a:prstGeom>
        </p:spPr>
      </p:pic>
      <p:sp>
        <p:nvSpPr>
          <p:cNvPr id="14" name="Text 10"/>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goal:  </a:t>
            </a:r>
            <a:r>
              <a:rPr lang="en-US" sz="1000" dirty="0">
                <a:solidFill>
                  <a:srgbClr val="1D1D1F"/>
                </a:solidFill>
                <a:latin typeface="SF Pro Text" pitchFamily="34" charset="0"/>
                <a:ea typeface="SF Pro Text" pitchFamily="34" charset="-122"/>
                <a:cs typeface="SF Pro Text" pitchFamily="34" charset="-120"/>
              </a:rPr>
              <a:t>the customer feels understood, and their specific problem gets solved.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5 key factors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at all five together.</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463040"/>
                <a:gridCol w="3200400"/>
                <a:gridCol w="3657600"/>
              </a:tblGrid>
              <a:tr h="38404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Factor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Retainable signal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B3261E"/>
                          </a:solidFill>
                          <a:latin typeface="SF Pro Display" pitchFamily="34" charset="0"/>
                          <a:ea typeface="SF Pro Display" pitchFamily="34" charset="-122"/>
                          <a:cs typeface="SF Pro Display" pitchFamily="34" charset="-120"/>
                        </a:rPr>
                        <a:t>Harder to retain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CEBEA"/>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Intent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Asking for help or clarification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decided. Not automatically unretainable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Issue type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Fixable: quality, scheduling, confusion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failures, broken promises. Still try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Emotion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Mild frustration, wants it fixed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Strong, final language: slow down, test openness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Escalation risk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Frustrated, no material legal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 threat, legal letter, lawyer: cancel +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History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First occurrence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bad experiences. Still worth a try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9" name="Text 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History:  </a:t>
            </a:r>
            <a:r>
              <a:rPr lang="en-US" sz="1000" dirty="0">
                <a:solidFill>
                  <a:srgbClr val="1D1D1F"/>
                </a:solidFill>
                <a:latin typeface="SF Pro Text" pitchFamily="34" charset="0"/>
                <a:ea typeface="SF Pro Text" pitchFamily="34" charset="-122"/>
                <a:cs typeface="SF Pro Text" pitchFamily="34" charset="-120"/>
              </a:rPr>
              <a:t>only stop after two consecutive job problems and the customer declined help.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Weigh, don't count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situation, not the scoreboard.</a:t>
            </a:r>
            <a:endParaRPr lang="en-US" sz="1200" dirty="0"/>
          </a:p>
        </p:txBody>
      </p:sp>
      <p:sp>
        <p:nvSpPr>
          <p:cNvPr id="6" name="Shape 3"/>
          <p:cNvSpPr/>
          <p:nvPr/>
        </p:nvSpPr>
        <p:spPr>
          <a:xfrm>
            <a:off x="411480" y="1325880"/>
            <a:ext cx="4069080" cy="1828800"/>
          </a:xfrm>
          <a:prstGeom prst="roundRect">
            <a:avLst>
              <a:gd name="adj" fmla="val 4000"/>
            </a:avLst>
          </a:prstGeom>
          <a:solidFill>
            <a:srgbClr val="FCEBEA"/>
          </a:solidFill>
          <a:ln w="9525">
            <a:solidFill>
              <a:srgbClr val="B3261E"/>
            </a:solidFill>
            <a:prstDash val="solid"/>
          </a:ln>
        </p:spPr>
      </p:sp>
      <p:sp>
        <p:nvSpPr>
          <p:cNvPr id="7" name="Text 4"/>
          <p:cNvSpPr/>
          <p:nvPr/>
        </p:nvSpPr>
        <p:spPr>
          <a:xfrm>
            <a:off x="411480" y="1325880"/>
            <a:ext cx="406908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Hard overrides: this alone decides</a:t>
            </a:r>
            <a:endParaRPr lang="en-US" sz="1050" dirty="0"/>
          </a:p>
        </p:txBody>
      </p:sp>
      <p:sp>
        <p:nvSpPr>
          <p:cNvPr id="8" name="Text 5"/>
          <p:cNvSpPr txBox="1"/>
          <p:nvPr/>
        </p:nvSpPr>
        <p:spPr>
          <a:xfrm>
            <a:off x="576072" y="1764792"/>
            <a:ext cx="3739896" cy="131673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Material legal threat</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Confirmed abuse toward a cleaner</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is off the table, whatever the other factors say</a:t>
            </a:r>
            <a:endParaRPr lang="en-US" sz="1000" dirty="0"/>
          </a:p>
        </p:txBody>
      </p:sp>
      <p:sp>
        <p:nvSpPr>
          <p:cNvPr id="9" name="Shape 6"/>
          <p:cNvSpPr/>
          <p:nvPr/>
        </p:nvSpPr>
        <p:spPr>
          <a:xfrm>
            <a:off x="4663440" y="1325880"/>
            <a:ext cx="4069080" cy="1828800"/>
          </a:xfrm>
          <a:prstGeom prst="roundRect">
            <a:avLst>
              <a:gd name="adj" fmla="val 4000"/>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Weigh it: a signal to slow down</a:t>
            </a:r>
            <a:endParaRPr lang="en-US" sz="1050" dirty="0"/>
          </a:p>
        </p:txBody>
      </p:sp>
      <p:sp>
        <p:nvSpPr>
          <p:cNvPr id="11" name="Text 8"/>
          <p:cNvSpPr txBox="1"/>
          <p:nvPr/>
        </p:nvSpPr>
        <p:spPr>
          <a:xfrm>
            <a:off x="4828032" y="1764792"/>
            <a:ext cx="3739896" cy="131673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Strong, final language</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decided to cancel</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Repeated failures</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Test openness. Not a disqualifier</a:t>
            </a:r>
            <a:endParaRPr lang="en-US" sz="1000" dirty="0"/>
          </a:p>
        </p:txBody>
      </p:sp>
      <p:sp>
        <p:nvSpPr>
          <p:cNvPr id="12" name="Shape 9"/>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3447288"/>
            <a:ext cx="164592" cy="164592"/>
          </a:xfrm>
          <a:prstGeom prst="rect">
            <a:avLst/>
          </a:prstGeom>
        </p:spPr>
      </p:pic>
      <p:sp>
        <p:nvSpPr>
          <p:cNvPr id="14" name="Text 10"/>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3 of 5 "harder"?  </a:t>
            </a:r>
            <a:r>
              <a:rPr lang="en-US" sz="1000" dirty="0">
                <a:solidFill>
                  <a:srgbClr val="1D1D1F"/>
                </a:solidFill>
                <a:latin typeface="SF Pro Text" pitchFamily="34" charset="0"/>
                <a:ea typeface="SF Pro Text" pitchFamily="34" charset="-122"/>
                <a:cs typeface="SF Pro Text" pitchFamily="34" charset="-120"/>
              </a:rPr>
              <a:t>can still be worth a real attempt. 4 of 5 "retainable" can still be a no.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Four steps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Acknowledge, understand, align, then offer with purpose.</a:t>
            </a:r>
            <a:endParaRPr lang="en-US" sz="1200" dirty="0"/>
          </a:p>
        </p:txBody>
      </p:sp>
      <p:sp>
        <p:nvSpPr>
          <p:cNvPr id="6" name="Shape 3"/>
          <p:cNvSpPr/>
          <p:nvPr/>
        </p:nvSpPr>
        <p:spPr>
          <a:xfrm>
            <a:off x="411480" y="1325880"/>
            <a:ext cx="197739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Acknowledge</a:t>
            </a:r>
            <a:endParaRPr lang="en-US" sz="1200" dirty="0"/>
          </a:p>
        </p:txBody>
      </p:sp>
      <p:sp>
        <p:nvSpPr>
          <p:cNvPr id="10" name="Text 7"/>
          <p:cNvSpPr txBox="1"/>
          <p:nvPr/>
        </p:nvSpPr>
        <p:spPr>
          <a:xfrm>
            <a:off x="57607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Make them feel heard. Acknowledge the request, then probe.</a:t>
            </a:r>
            <a:endParaRPr lang="en-US" sz="950" dirty="0"/>
          </a:p>
        </p:txBody>
      </p:sp>
      <p:sp>
        <p:nvSpPr>
          <p:cNvPr id="11" name="Shape 8"/>
          <p:cNvSpPr/>
          <p:nvPr/>
        </p:nvSpPr>
        <p:spPr>
          <a:xfrm>
            <a:off x="2526030" y="1325880"/>
            <a:ext cx="1977390" cy="1554480"/>
          </a:xfrm>
          <a:prstGeom prst="roundRect">
            <a:avLst>
              <a:gd name="adj" fmla="val 4706"/>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root cause</a:t>
            </a:r>
            <a:endParaRPr lang="en-US" sz="1200" dirty="0"/>
          </a:p>
        </p:txBody>
      </p:sp>
      <p:sp>
        <p:nvSpPr>
          <p:cNvPr id="15" name="Text 12"/>
          <p:cNvSpPr txBox="1"/>
          <p:nvPr/>
        </p:nvSpPr>
        <p:spPr>
          <a:xfrm>
            <a:off x="269062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Unaware of FC? Explain FC &amp; ETF first. No discount yet.</a:t>
            </a:r>
            <a:endParaRPr lang="en-US" sz="950" dirty="0"/>
          </a:p>
        </p:txBody>
      </p:sp>
      <p:sp>
        <p:nvSpPr>
          <p:cNvPr id="16" name="Shape 13"/>
          <p:cNvSpPr/>
          <p:nvPr/>
        </p:nvSpPr>
        <p:spPr>
          <a:xfrm>
            <a:off x="4640580" y="1325880"/>
            <a:ext cx="1977390" cy="1554480"/>
          </a:xfrm>
          <a:prstGeom prst="roundRect">
            <a:avLst>
              <a:gd name="adj" fmla="val 4706"/>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Align the offer</a:t>
            </a:r>
            <a:endParaRPr lang="en-US" sz="1200" dirty="0"/>
          </a:p>
        </p:txBody>
      </p:sp>
      <p:sp>
        <p:nvSpPr>
          <p:cNvPr id="20" name="Text 17"/>
          <p:cNvSpPr txBox="1"/>
          <p:nvPr/>
        </p:nvSpPr>
        <p:spPr>
          <a:xfrm>
            <a:off x="480517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Match the offer to the reason they want to leave.</a:t>
            </a:r>
            <a:endParaRPr lang="en-US" sz="950" dirty="0"/>
          </a:p>
        </p:txBody>
      </p:sp>
      <p:sp>
        <p:nvSpPr>
          <p:cNvPr id="21" name="Shape 18"/>
          <p:cNvSpPr/>
          <p:nvPr/>
        </p:nvSpPr>
        <p:spPr>
          <a:xfrm>
            <a:off x="6755130" y="1325880"/>
            <a:ext cx="1977390" cy="1554480"/>
          </a:xfrm>
          <a:prstGeom prst="roundRect">
            <a:avLst>
              <a:gd name="adj" fmla="val 4706"/>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Tools, not defaults</a:t>
            </a:r>
            <a:endParaRPr lang="en-US" sz="1200" dirty="0"/>
          </a:p>
        </p:txBody>
      </p:sp>
      <p:sp>
        <p:nvSpPr>
          <p:cNvPr id="25" name="Text 22"/>
          <p:cNvSpPr txBox="1"/>
          <p:nvPr/>
        </p:nvSpPr>
        <p:spPr>
          <a:xfrm>
            <a:off x="691972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Does this offer answer their specific reason?</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3063240"/>
          <a:ext cx="8321040" cy="914400"/>
        </p:xfrm>
        <a:graphic>
          <a:graphicData uri="http://schemas.openxmlformats.org/drawingml/2006/table">
            <a:tbl>
              <a:tblPr/>
              <a:tblGrid>
                <a:gridCol w="3291840"/>
                <a:gridCol w="502920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Root cause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Right move on first response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Service-related (e.g. PCQ)</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a voucher or credit right away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Cost or commitment (MF or MCT)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a reduction right away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7" name="Shape 2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9" name="Text 2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Unaware of the membership?  </a:t>
            </a:r>
            <a:r>
              <a:rPr lang="en-US" sz="1000" dirty="0">
                <a:solidFill>
                  <a:srgbClr val="1D1D1F"/>
                </a:solidFill>
                <a:latin typeface="SF Pro Text" pitchFamily="34" charset="0"/>
                <a:ea typeface="SF Pro Text" pitchFamily="34" charset="-122"/>
                <a:cs typeface="SF Pro Text" pitchFamily="34" charset="-120"/>
              </a:rPr>
              <a:t>MF/MCT reductions don't fix that. Explain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the ladder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stronger offer must be tied to their reason, not to their "no".</a:t>
            </a:r>
            <a:endParaRPr lang="en-US" sz="1200" dirty="0"/>
          </a:p>
        </p:txBody>
      </p:sp>
      <p:sp>
        <p:nvSpPr>
          <p:cNvPr id="6" name="Shape 3"/>
          <p:cNvSpPr/>
          <p:nvPr/>
        </p:nvSpPr>
        <p:spPr>
          <a:xfrm>
            <a:off x="411480" y="1371600"/>
            <a:ext cx="1920240" cy="502920"/>
          </a:xfrm>
          <a:prstGeom prst="roundRect">
            <a:avLst>
              <a:gd name="adj" fmla="val 14545"/>
            </a:avLst>
          </a:prstGeom>
          <a:solidFill>
            <a:srgbClr val="FFFFFF"/>
          </a:solidFill>
          <a:ln w="12700">
            <a:solidFill>
              <a:srgbClr val="DCE1E7"/>
            </a:solidFill>
            <a:prstDash val="solid"/>
          </a:ln>
        </p:spPr>
      </p:sp>
      <p:sp>
        <p:nvSpPr>
          <p:cNvPr id="7" name="Text 4"/>
          <p:cNvSpPr txBox="1"/>
          <p:nvPr/>
        </p:nvSpPr>
        <p:spPr>
          <a:xfrm>
            <a:off x="411480" y="1371600"/>
            <a:ext cx="192024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Small offer</a:t>
            </a:r>
            <a:endParaRPr lang="en-US" sz="1000" dirty="0"/>
          </a:p>
        </p:txBody>
      </p:sp>
      <p:sp>
        <p:nvSpPr>
          <p:cNvPr id="8" name="Shape 5"/>
          <p:cNvSpPr/>
          <p:nvPr/>
        </p:nvSpPr>
        <p:spPr>
          <a:xfrm>
            <a:off x="2331720" y="1623060"/>
            <a:ext cx="213055" cy="0"/>
          </a:xfrm>
          <a:prstGeom prst="line">
            <a:avLst/>
          </a:prstGeom>
          <a:noFill/>
          <a:ln w="12700">
            <a:solidFill>
              <a:srgbClr val="6E6E73"/>
            </a:solidFill>
            <a:prstDash val="solid"/>
            <a:tailEnd type="triangle"/>
          </a:ln>
        </p:spPr>
      </p:sp>
      <p:sp>
        <p:nvSpPr>
          <p:cNvPr id="9" name="Shape 6"/>
          <p:cNvSpPr/>
          <p:nvPr/>
        </p:nvSpPr>
        <p:spPr>
          <a:xfrm>
            <a:off x="2544775" y="1371600"/>
            <a:ext cx="1920240" cy="502920"/>
          </a:xfrm>
          <a:prstGeom prst="roundRect">
            <a:avLst>
              <a:gd name="adj" fmla="val 14545"/>
            </a:avLst>
          </a:prstGeom>
          <a:solidFill>
            <a:srgbClr val="FFF3D6"/>
          </a:solidFill>
          <a:ln w="12700">
            <a:solidFill>
              <a:srgbClr val="9A6410"/>
            </a:solidFill>
            <a:prstDash val="solid"/>
          </a:ln>
        </p:spPr>
      </p:sp>
      <p:sp>
        <p:nvSpPr>
          <p:cNvPr id="10" name="Text 7"/>
          <p:cNvSpPr txBox="1"/>
          <p:nvPr/>
        </p:nvSpPr>
        <p:spPr>
          <a:xfrm>
            <a:off x="2544775" y="1371600"/>
            <a:ext cx="192024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They decline</a:t>
            </a:r>
            <a:endParaRPr lang="en-US" sz="1000" dirty="0"/>
          </a:p>
        </p:txBody>
      </p:sp>
      <p:sp>
        <p:nvSpPr>
          <p:cNvPr id="11" name="Shape 8"/>
          <p:cNvSpPr/>
          <p:nvPr/>
        </p:nvSpPr>
        <p:spPr>
          <a:xfrm>
            <a:off x="4465015" y="1623060"/>
            <a:ext cx="213055" cy="0"/>
          </a:xfrm>
          <a:prstGeom prst="line">
            <a:avLst/>
          </a:prstGeom>
          <a:noFill/>
          <a:ln w="12700">
            <a:solidFill>
              <a:srgbClr val="6E6E73"/>
            </a:solidFill>
            <a:prstDash val="solid"/>
            <a:tailEnd type="triangle"/>
          </a:ln>
        </p:spPr>
      </p:sp>
      <p:sp>
        <p:nvSpPr>
          <p:cNvPr id="12" name="Shape 9"/>
          <p:cNvSpPr/>
          <p:nvPr/>
        </p:nvSpPr>
        <p:spPr>
          <a:xfrm>
            <a:off x="4678070" y="1371600"/>
            <a:ext cx="1920240" cy="502920"/>
          </a:xfrm>
          <a:prstGeom prst="roundRect">
            <a:avLst>
              <a:gd name="adj" fmla="val 14545"/>
            </a:avLst>
          </a:prstGeom>
          <a:solidFill>
            <a:srgbClr val="FFFFFF"/>
          </a:solidFill>
          <a:ln w="12700">
            <a:solidFill>
              <a:srgbClr val="DCE1E7"/>
            </a:solidFill>
            <a:prstDash val="solid"/>
          </a:ln>
        </p:spPr>
      </p:sp>
      <p:sp>
        <p:nvSpPr>
          <p:cNvPr id="13" name="Text 10"/>
          <p:cNvSpPr txBox="1"/>
          <p:nvPr/>
        </p:nvSpPr>
        <p:spPr>
          <a:xfrm>
            <a:off x="4678070" y="1371600"/>
            <a:ext cx="192024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Bigger offer</a:t>
            </a:r>
            <a:endParaRPr lang="en-US" sz="1000" dirty="0"/>
          </a:p>
        </p:txBody>
      </p:sp>
      <p:sp>
        <p:nvSpPr>
          <p:cNvPr id="14" name="Shape 11"/>
          <p:cNvSpPr/>
          <p:nvPr/>
        </p:nvSpPr>
        <p:spPr>
          <a:xfrm>
            <a:off x="6598310" y="1623060"/>
            <a:ext cx="213055" cy="0"/>
          </a:xfrm>
          <a:prstGeom prst="line">
            <a:avLst/>
          </a:prstGeom>
          <a:noFill/>
          <a:ln w="12700">
            <a:solidFill>
              <a:srgbClr val="6E6E73"/>
            </a:solidFill>
            <a:prstDash val="solid"/>
            <a:tailEnd type="triangle"/>
          </a:ln>
        </p:spPr>
      </p:sp>
      <p:sp>
        <p:nvSpPr>
          <p:cNvPr id="15" name="Shape 12"/>
          <p:cNvSpPr/>
          <p:nvPr/>
        </p:nvSpPr>
        <p:spPr>
          <a:xfrm>
            <a:off x="6811366" y="1371600"/>
            <a:ext cx="1920240" cy="502920"/>
          </a:xfrm>
          <a:prstGeom prst="roundRect">
            <a:avLst>
              <a:gd name="adj" fmla="val 14545"/>
            </a:avLst>
          </a:prstGeom>
          <a:solidFill>
            <a:srgbClr val="1D1D1F"/>
          </a:solidFill>
          <a:ln w="12700">
            <a:solidFill>
              <a:srgbClr val="1D1D1F"/>
            </a:solidFill>
            <a:prstDash val="solid"/>
          </a:ln>
        </p:spPr>
      </p:sp>
      <p:sp>
        <p:nvSpPr>
          <p:cNvPr id="16" name="Text 13"/>
          <p:cNvSpPr txBox="1"/>
          <p:nvPr/>
        </p:nvSpPr>
        <p:spPr>
          <a:xfrm>
            <a:off x="6811366" y="1371600"/>
            <a:ext cx="19202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Repeat…</a:t>
            </a:r>
            <a:endParaRPr lang="en-US" sz="1000" dirty="0"/>
          </a:p>
        </p:txBody>
      </p:sp>
      <p:sp>
        <p:nvSpPr>
          <p:cNvPr id="17" name="Shape 14"/>
          <p:cNvSpPr/>
          <p:nvPr/>
        </p:nvSpPr>
        <p:spPr>
          <a:xfrm>
            <a:off x="411480" y="2103120"/>
            <a:ext cx="268224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576072" y="226771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655076" y="2346716"/>
            <a:ext cx="171176" cy="171176"/>
          </a:xfrm>
          <a:prstGeom prst="rect">
            <a:avLst/>
          </a:prstGeom>
        </p:spPr>
      </p:pic>
      <p:sp>
        <p:nvSpPr>
          <p:cNvPr id="20" name="Text 16"/>
          <p:cNvSpPr txBox="1"/>
          <p:nvPr/>
        </p:nvSpPr>
        <p:spPr>
          <a:xfrm>
            <a:off x="576072" y="27066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Feels pushy</a:t>
            </a:r>
            <a:endParaRPr lang="en-US" sz="1200" dirty="0"/>
          </a:p>
        </p:txBody>
      </p:sp>
      <p:sp>
        <p:nvSpPr>
          <p:cNvPr id="21" name="Text 17"/>
          <p:cNvSpPr txBox="1"/>
          <p:nvPr/>
        </p:nvSpPr>
        <p:spPr>
          <a:xfrm>
            <a:off x="576072" y="299923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Transactional, and it reduces trust.</a:t>
            </a:r>
            <a:endParaRPr lang="en-US" sz="950" dirty="0"/>
          </a:p>
        </p:txBody>
      </p:sp>
      <p:sp>
        <p:nvSpPr>
          <p:cNvPr id="22" name="Shape 18"/>
          <p:cNvSpPr/>
          <p:nvPr/>
        </p:nvSpPr>
        <p:spPr>
          <a:xfrm>
            <a:off x="3230880" y="2103120"/>
            <a:ext cx="268224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3395472" y="226771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3474476" y="2346716"/>
            <a:ext cx="171176" cy="171176"/>
          </a:xfrm>
          <a:prstGeom prst="rect">
            <a:avLst/>
          </a:prstGeom>
        </p:spPr>
      </p:pic>
      <p:sp>
        <p:nvSpPr>
          <p:cNvPr id="25" name="Text 20"/>
          <p:cNvSpPr txBox="1"/>
          <p:nvPr/>
        </p:nvSpPr>
        <p:spPr>
          <a:xfrm>
            <a:off x="3395472" y="27066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Rewards saying no</a:t>
            </a:r>
            <a:endParaRPr lang="en-US" sz="1200" dirty="0"/>
          </a:p>
        </p:txBody>
      </p:sp>
      <p:sp>
        <p:nvSpPr>
          <p:cNvPr id="26" name="Text 21"/>
          <p:cNvSpPr txBox="1"/>
          <p:nvPr/>
        </p:nvSpPr>
        <p:spPr>
          <a:xfrm>
            <a:off x="3395472" y="299923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Unfair to customers who accept the first reasonable offer.</a:t>
            </a:r>
            <a:endParaRPr lang="en-US" sz="950" dirty="0"/>
          </a:p>
        </p:txBody>
      </p:sp>
      <p:sp>
        <p:nvSpPr>
          <p:cNvPr id="27" name="Shape 22"/>
          <p:cNvSpPr/>
          <p:nvPr/>
        </p:nvSpPr>
        <p:spPr>
          <a:xfrm>
            <a:off x="6050280" y="2103120"/>
            <a:ext cx="2682240" cy="1325880"/>
          </a:xfrm>
          <a:prstGeom prst="roundRect">
            <a:avLst>
              <a:gd name="adj" fmla="val 5517"/>
            </a:avLst>
          </a:prstGeom>
          <a:solidFill>
            <a:srgbClr val="FFFFFF"/>
          </a:solidFill>
          <a:ln w="9525">
            <a:solidFill>
              <a:srgbClr val="DCE1E7"/>
            </a:solidFill>
            <a:prstDash val="solid"/>
          </a:ln>
        </p:spPr>
      </p:sp>
      <p:sp>
        <p:nvSpPr>
          <p:cNvPr id="28" name="Shape 23"/>
          <p:cNvSpPr/>
          <p:nvPr/>
        </p:nvSpPr>
        <p:spPr>
          <a:xfrm>
            <a:off x="6214872" y="2267712"/>
            <a:ext cx="329184" cy="329184"/>
          </a:xfrm>
          <a:prstGeom prst="ellipse">
            <a:avLst/>
          </a:prstGeom>
          <a:solidFill>
            <a:srgbClr val="E3F4F1"/>
          </a:solidFill>
          <a:ln w="12700">
            <a:solidFill>
              <a:srgbClr val="E3F4F1"/>
            </a:solidFill>
            <a:prstDash val="solid"/>
          </a:ln>
        </p:spPr>
      </p:sp>
      <p:pic>
        <p:nvPicPr>
          <p:cNvPr id="29" name="Image 2" descr="preencoded.png">    </p:cNvPr>
          <p:cNvPicPr>
            <a:picLocks noChangeAspect="1"/>
          </p:cNvPicPr>
          <p:nvPr/>
        </p:nvPicPr>
        <p:blipFill>
          <a:blip r:embed="rId3"/>
          <a:stretch>
            <a:fillRect/>
          </a:stretch>
        </p:blipFill>
        <p:spPr>
          <a:xfrm>
            <a:off x="6293876" y="2346716"/>
            <a:ext cx="171176" cy="171176"/>
          </a:xfrm>
          <a:prstGeom prst="rect">
            <a:avLst/>
          </a:prstGeom>
        </p:spPr>
      </p:pic>
      <p:sp>
        <p:nvSpPr>
          <p:cNvPr id="30" name="Text 24"/>
          <p:cNvSpPr txBox="1"/>
          <p:nvPr/>
        </p:nvSpPr>
        <p:spPr>
          <a:xfrm>
            <a:off x="6214872" y="27066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Cheapens FC</a:t>
            </a:r>
            <a:endParaRPr lang="en-US" sz="1200" dirty="0"/>
          </a:p>
        </p:txBody>
      </p:sp>
      <p:sp>
        <p:nvSpPr>
          <p:cNvPr id="31" name="Text 25"/>
          <p:cNvSpPr txBox="1"/>
          <p:nvPr/>
        </p:nvSpPr>
        <p:spPr>
          <a:xfrm>
            <a:off x="6214872" y="299923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offer that misses their concern lowers its value.</a:t>
            </a:r>
            <a:endParaRPr lang="en-US" sz="950" dirty="0"/>
          </a:p>
        </p:txBody>
      </p:sp>
      <p:sp>
        <p:nvSpPr>
          <p:cNvPr id="32" name="Shape 26"/>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33" name="Image 3" descr="preencoded.png">    </p:cNvPr>
          <p:cNvPicPr>
            <a:picLocks noChangeAspect="1"/>
          </p:cNvPicPr>
          <p:nvPr/>
        </p:nvPicPr>
        <p:blipFill>
          <a:blip r:embed="rId4"/>
          <a:stretch>
            <a:fillRect/>
          </a:stretch>
        </p:blipFill>
        <p:spPr>
          <a:xfrm>
            <a:off x="566928" y="3721608"/>
            <a:ext cx="164592" cy="164592"/>
          </a:xfrm>
          <a:prstGeom prst="rect">
            <a:avLst/>
          </a:prstGeom>
        </p:spPr>
      </p:pic>
      <p:sp>
        <p:nvSpPr>
          <p:cNvPr id="34" name="Text 27"/>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Stronger offer?  </a:t>
            </a:r>
            <a:r>
              <a:rPr lang="en-US" sz="1000" dirty="0">
                <a:solidFill>
                  <a:srgbClr val="1D1D1F"/>
                </a:solidFill>
                <a:latin typeface="SF Pro Text" pitchFamily="34" charset="0"/>
                <a:ea typeface="SF Pro Text" pitchFamily="34" charset="-122"/>
                <a:cs typeface="SF Pro Text" pitchFamily="34" charset="-120"/>
              </a:rPr>
              <a:t>only when it's tied to their specific reason, not because they said no.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Presenting an offer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Present it and wait, or issue it right away. Just be clear which.</a:t>
            </a:r>
            <a:endParaRPr lang="en-US" sz="1200" dirty="0"/>
          </a:p>
        </p:txBody>
      </p:sp>
      <p:sp>
        <p:nvSpPr>
          <p:cNvPr id="6" name="Shape 3"/>
          <p:cNvSpPr/>
          <p:nvPr/>
        </p:nvSpPr>
        <p:spPr>
          <a:xfrm>
            <a:off x="411480" y="1325880"/>
            <a:ext cx="4069080" cy="1325880"/>
          </a:xfrm>
          <a:prstGeom prst="roundRect">
            <a:avLst>
              <a:gd name="adj" fmla="val 5517"/>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Present and wait</a:t>
            </a:r>
            <a:endParaRPr lang="en-US" sz="1050" dirty="0"/>
          </a:p>
        </p:txBody>
      </p:sp>
      <p:sp>
        <p:nvSpPr>
          <p:cNvPr id="8" name="Text 5"/>
          <p:cNvSpPr txBox="1"/>
          <p:nvPr/>
        </p:nvSpPr>
        <p:spPr>
          <a:xfrm>
            <a:off x="576072" y="1764792"/>
            <a:ext cx="3739896" cy="81381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Collaborative: gives them a choice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Shows you care about their experience</a:t>
            </a:r>
            <a:endParaRPr lang="en-US" sz="950" dirty="0"/>
          </a:p>
        </p:txBody>
      </p:sp>
      <p:sp>
        <p:nvSpPr>
          <p:cNvPr id="9" name="Shape 6"/>
          <p:cNvSpPr/>
          <p:nvPr/>
        </p:nvSpPr>
        <p:spPr>
          <a:xfrm>
            <a:off x="4663440" y="1325880"/>
            <a:ext cx="4069080" cy="1325880"/>
          </a:xfrm>
          <a:prstGeom prst="roundRect">
            <a:avLst>
              <a:gd name="adj" fmla="val 5517"/>
            </a:avLst>
          </a:prstGeom>
          <a:solidFill>
            <a:srgbClr val="FFF3D6"/>
          </a:solidFill>
          <a:ln w="9525">
            <a:solidFill>
              <a:srgbClr val="9A6410"/>
            </a:solidFill>
            <a:prstDash val="solid"/>
          </a:ln>
        </p:spPr>
      </p:sp>
      <p:sp>
        <p:nvSpPr>
          <p:cNvPr id="10" name="Text 7"/>
          <p:cNvSpPr/>
          <p:nvPr/>
        </p:nvSpPr>
        <p:spPr>
          <a:xfrm>
            <a:off x="4663440" y="1325880"/>
            <a:ext cx="4069080" cy="329184"/>
          </a:xfrm>
          <a:prstGeom prst="roundRect">
            <a:avLst>
              <a:gd name="adj" fmla="val 16667"/>
            </a:avLst>
          </a:prstGeom>
          <a:solidFill>
            <a:srgbClr val="9A6410"/>
          </a:solidFill>
          <a:ln w="12700">
            <a:solidFill>
              <a:srgbClr val="9A6410"/>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Issue right away when…</a:t>
            </a:r>
            <a:endParaRPr lang="en-US" sz="1050" dirty="0"/>
          </a:p>
        </p:txBody>
      </p:sp>
      <p:sp>
        <p:nvSpPr>
          <p:cNvPr id="11" name="Text 8"/>
          <p:cNvSpPr txBox="1"/>
          <p:nvPr/>
        </p:nvSpPr>
        <p:spPr>
          <a:xfrm>
            <a:off x="4828032" y="1764792"/>
            <a:ext cx="3739896" cy="81381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The customer asked for it</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The MF is overdue or almost due</a:t>
            </a:r>
            <a:endParaRPr lang="en-US" sz="950" dirty="0"/>
          </a:p>
        </p:txBody>
      </p:sp>
      <p:sp>
        <p:nvSpPr>
          <p:cNvPr id="12" name="Shape 9"/>
          <p:cNvSpPr/>
          <p:nvPr/>
        </p:nvSpPr>
        <p:spPr>
          <a:xfrm>
            <a:off x="411480" y="2788920"/>
            <a:ext cx="8321040" cy="548640"/>
          </a:xfrm>
          <a:prstGeom prst="roundRect">
            <a:avLst>
              <a:gd name="adj" fmla="val 13333"/>
            </a:avLst>
          </a:prstGeom>
          <a:solidFill>
            <a:srgbClr val="E3F4F1"/>
          </a:solidFill>
          <a:ln w="9525">
            <a:solidFill>
              <a:srgbClr val="E3F4F1"/>
            </a:solidFill>
            <a:prstDash val="solid"/>
          </a:ln>
        </p:spPr>
      </p:sp>
      <p:sp>
        <p:nvSpPr>
          <p:cNvPr id="13" name="Shape 10"/>
          <p:cNvSpPr/>
          <p:nvPr/>
        </p:nvSpPr>
        <p:spPr>
          <a:xfrm>
            <a:off x="411480" y="2862072"/>
            <a:ext cx="45720" cy="402336"/>
          </a:xfrm>
          <a:prstGeom prst="rect">
            <a:avLst/>
          </a:prstGeom>
          <a:solidFill>
            <a:srgbClr val="0B7A6F"/>
          </a:solidFill>
          <a:ln w="12700">
            <a:solidFill>
              <a:srgbClr val="0B7A6F"/>
            </a:solidFill>
            <a:prstDash val="solid"/>
          </a:ln>
        </p:spPr>
      </p:sp>
      <p:sp>
        <p:nvSpPr>
          <p:cNvPr id="14" name="Text 11"/>
          <p:cNvSpPr txBox="1"/>
          <p:nvPr/>
        </p:nvSpPr>
        <p:spPr>
          <a:xfrm>
            <a:off x="594360" y="2788920"/>
            <a:ext cx="8001000" cy="54864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BEYOND POLICY? USE "NO… BUT"</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“I'm not able to [X], but what I can do is [Y].”</a:t>
            </a:r>
            <a:endParaRPr lang="en-US" sz="1000" dirty="0"/>
          </a:p>
        </p:txBody>
      </p:sp>
      <p:sp>
        <p:nvSpPr>
          <p:cNvPr id="15" name="Shape 12"/>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17" name="Text 13"/>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Either way:  </a:t>
            </a:r>
            <a:r>
              <a:rPr lang="en-US" sz="1000" dirty="0">
                <a:solidFill>
                  <a:srgbClr val="1D1D1F"/>
                </a:solidFill>
                <a:latin typeface="SF Pro Text" pitchFamily="34" charset="0"/>
                <a:ea typeface="SF Pro Text" pitchFamily="34" charset="-122"/>
                <a:cs typeface="SF Pro Text" pitchFamily="34" charset="-120"/>
              </a:rPr>
              <a:t>say clearly whether the offer is already on the account or not.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isn't retainable?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list is narrower than you think.</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ongoing need</a:t>
            </a:r>
            <a:endParaRPr lang="en-US" sz="1200" dirty="0"/>
          </a:p>
        </p:txBody>
      </p:sp>
      <p:sp>
        <p:nvSpPr>
          <p:cNvPr id="10" name="Text 6"/>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longer has a home, or moved to a care facility.</a:t>
            </a:r>
            <a:endParaRPr lang="en-US" sz="950" dirty="0"/>
          </a:p>
        </p:txBody>
      </p:sp>
      <p:sp>
        <p:nvSpPr>
          <p:cNvPr id="11" name="Shape 7"/>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Extreme hardship</a:t>
            </a:r>
            <a:endParaRPr lang="en-US" sz="1200" dirty="0"/>
          </a:p>
        </p:txBody>
      </p:sp>
      <p:sp>
        <p:nvSpPr>
          <p:cNvPr id="15" name="Text 10"/>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a reduced fee isn't reasonable. Empathy, not a sales pitch.</a:t>
            </a:r>
            <a:endParaRPr lang="en-US" sz="950" dirty="0"/>
          </a:p>
        </p:txBody>
      </p:sp>
      <p:sp>
        <p:nvSpPr>
          <p:cNvPr id="16" name="Shape 11"/>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Material legal threat</a:t>
            </a:r>
            <a:endParaRPr lang="en-US" sz="1200" dirty="0"/>
          </a:p>
        </p:txBody>
      </p:sp>
      <p:sp>
        <p:nvSpPr>
          <p:cNvPr id="20" name="Text 14"/>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AG complaint, litigation, formal legal proceedings.</a:t>
            </a:r>
            <a:endParaRPr lang="en-US" sz="950" dirty="0"/>
          </a:p>
        </p:txBody>
      </p:sp>
      <p:sp>
        <p:nvSpPr>
          <p:cNvPr id="21" name="Shape 15"/>
          <p:cNvSpPr/>
          <p:nvPr/>
        </p:nvSpPr>
        <p:spPr>
          <a:xfrm>
            <a:off x="411480" y="3063240"/>
            <a:ext cx="8321040" cy="1005840"/>
          </a:xfrm>
          <a:prstGeom prst="roundRect">
            <a:avLst>
              <a:gd name="adj" fmla="val 7273"/>
            </a:avLst>
          </a:prstGeom>
          <a:solidFill>
            <a:srgbClr val="E3F4F1"/>
          </a:solidFill>
          <a:ln w="9525">
            <a:solidFill>
              <a:srgbClr val="0B7A6F"/>
            </a:solidFill>
            <a:prstDash val="solid"/>
          </a:ln>
        </p:spPr>
      </p:sp>
      <p:sp>
        <p:nvSpPr>
          <p:cNvPr id="22" name="Text 16"/>
          <p:cNvSpPr/>
          <p:nvPr/>
        </p:nvSpPr>
        <p:spPr>
          <a:xfrm>
            <a:off x="411480" y="3063240"/>
            <a:ext cx="832104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Still worth a real attempt</a:t>
            </a:r>
            <a:endParaRPr lang="en-US" sz="1050" dirty="0"/>
          </a:p>
        </p:txBody>
      </p:sp>
      <p:sp>
        <p:nvSpPr>
          <p:cNvPr id="23" name="Text 17"/>
          <p:cNvSpPr txBox="1"/>
          <p:nvPr/>
        </p:nvSpPr>
        <p:spPr>
          <a:xfrm>
            <a:off x="576072" y="3502152"/>
            <a:ext cx="7991856" cy="49377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Angry, distrustful or frustrated customers: many calm down once heard</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"I can't afford it": MF/MCT reduction, a pause or free months may work</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Usually not a retention target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Common patterns, not automatic answers.</a:t>
            </a:r>
            <a:endParaRPr lang="en-US" sz="1200" dirty="0"/>
          </a:p>
        </p:txBody>
      </p:sp>
      <p:sp>
        <p:nvSpPr>
          <p:cNvPr id="6" name="Text 3"/>
          <p:cNvSpPr/>
          <p:nvPr/>
        </p:nvSpPr>
        <p:spPr>
          <a:xfrm>
            <a:off x="411480" y="13258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History of filing disputes</a:t>
            </a:r>
            <a:endParaRPr lang="en-US" sz="900" dirty="0"/>
          </a:p>
        </p:txBody>
      </p:sp>
      <p:sp>
        <p:nvSpPr>
          <p:cNvPr id="7" name="Shape 4"/>
          <p:cNvSpPr/>
          <p:nvPr/>
        </p:nvSpPr>
        <p:spPr>
          <a:xfrm>
            <a:off x="411480" y="1325880"/>
            <a:ext cx="2682240" cy="365760"/>
          </a:xfrm>
          <a:prstGeom prst="roundRect">
            <a:avLst>
              <a:gd name="adj" fmla="val 20000"/>
            </a:avLst>
          </a:prstGeom>
          <a:ln w="9525">
            <a:solidFill>
              <a:srgbClr val="DCE1E7"/>
            </a:solidFill>
            <a:prstDash val="solid"/>
          </a:ln>
        </p:spPr>
      </p:sp>
      <p:sp>
        <p:nvSpPr>
          <p:cNvPr id="8" name="Text 5"/>
          <p:cNvSpPr/>
          <p:nvPr/>
        </p:nvSpPr>
        <p:spPr>
          <a:xfrm>
            <a:off x="3230880" y="13258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Bankruptcy / extreme hardship</a:t>
            </a:r>
            <a:endParaRPr lang="en-US" sz="900" dirty="0"/>
          </a:p>
        </p:txBody>
      </p:sp>
      <p:sp>
        <p:nvSpPr>
          <p:cNvPr id="9" name="Shape 6"/>
          <p:cNvSpPr/>
          <p:nvPr/>
        </p:nvSpPr>
        <p:spPr>
          <a:xfrm>
            <a:off x="3230880" y="1325880"/>
            <a:ext cx="2682240" cy="365760"/>
          </a:xfrm>
          <a:prstGeom prst="roundRect">
            <a:avLst>
              <a:gd name="adj" fmla="val 20000"/>
            </a:avLst>
          </a:prstGeom>
          <a:ln w="9525">
            <a:solidFill>
              <a:srgbClr val="DCE1E7"/>
            </a:solidFill>
            <a:prstDash val="solid"/>
          </a:ln>
        </p:spPr>
      </p:sp>
      <p:sp>
        <p:nvSpPr>
          <p:cNvPr id="10" name="Text 7"/>
          <p:cNvSpPr/>
          <p:nvPr/>
        </p:nvSpPr>
        <p:spPr>
          <a:xfrm>
            <a:off x="6050280" y="13258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Military deployment</a:t>
            </a:r>
            <a:endParaRPr lang="en-US" sz="900" dirty="0"/>
          </a:p>
        </p:txBody>
      </p:sp>
      <p:sp>
        <p:nvSpPr>
          <p:cNvPr id="11" name="Shape 8"/>
          <p:cNvSpPr/>
          <p:nvPr/>
        </p:nvSpPr>
        <p:spPr>
          <a:xfrm>
            <a:off x="6050280" y="1325880"/>
            <a:ext cx="2682240" cy="365760"/>
          </a:xfrm>
          <a:prstGeom prst="roundRect">
            <a:avLst>
              <a:gd name="adj" fmla="val 20000"/>
            </a:avLst>
          </a:prstGeom>
          <a:ln w="9525">
            <a:solidFill>
              <a:srgbClr val="DCE1E7"/>
            </a:solidFill>
            <a:prstDash val="solid"/>
          </a:ln>
        </p:spPr>
      </p:sp>
      <p:sp>
        <p:nvSpPr>
          <p:cNvPr id="12" name="Text 9"/>
          <p:cNvSpPr/>
          <p:nvPr/>
        </p:nvSpPr>
        <p:spPr>
          <a:xfrm>
            <a:off x="411480" y="17830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ADA accommodation needs</a:t>
            </a:r>
            <a:endParaRPr lang="en-US" sz="900" dirty="0"/>
          </a:p>
        </p:txBody>
      </p:sp>
      <p:sp>
        <p:nvSpPr>
          <p:cNvPr id="13" name="Shape 10"/>
          <p:cNvSpPr/>
          <p:nvPr/>
        </p:nvSpPr>
        <p:spPr>
          <a:xfrm>
            <a:off x="411480" y="1783080"/>
            <a:ext cx="2682240" cy="365760"/>
          </a:xfrm>
          <a:prstGeom prst="roundRect">
            <a:avLst>
              <a:gd name="adj" fmla="val 20000"/>
            </a:avLst>
          </a:prstGeom>
          <a:ln w="9525">
            <a:solidFill>
              <a:srgbClr val="DCE1E7"/>
            </a:solidFill>
            <a:prstDash val="solid"/>
          </a:ln>
        </p:spPr>
      </p:sp>
      <p:sp>
        <p:nvSpPr>
          <p:cNvPr id="14" name="Text 11"/>
          <p:cNvSpPr/>
          <p:nvPr/>
        </p:nvSpPr>
        <p:spPr>
          <a:xfrm>
            <a:off x="3230880" y="17830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Severe weather / disaster</a:t>
            </a:r>
            <a:endParaRPr lang="en-US" sz="900" dirty="0"/>
          </a:p>
        </p:txBody>
      </p:sp>
      <p:sp>
        <p:nvSpPr>
          <p:cNvPr id="15" name="Shape 12"/>
          <p:cNvSpPr/>
          <p:nvPr/>
        </p:nvSpPr>
        <p:spPr>
          <a:xfrm>
            <a:off x="3230880" y="1783080"/>
            <a:ext cx="2682240" cy="365760"/>
          </a:xfrm>
          <a:prstGeom prst="roundRect">
            <a:avLst>
              <a:gd name="adj" fmla="val 20000"/>
            </a:avLst>
          </a:prstGeom>
          <a:ln w="9525">
            <a:solidFill>
              <a:srgbClr val="DCE1E7"/>
            </a:solidFill>
            <a:prstDash val="solid"/>
          </a:ln>
        </p:spPr>
      </p:sp>
      <p:sp>
        <p:nvSpPr>
          <p:cNvPr id="16" name="Text 13"/>
          <p:cNvSpPr/>
          <p:nvPr/>
        </p:nvSpPr>
        <p:spPr>
          <a:xfrm>
            <a:off x="6050280" y="17830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Severe illness</a:t>
            </a:r>
            <a:endParaRPr lang="en-US" sz="900" dirty="0"/>
          </a:p>
        </p:txBody>
      </p:sp>
      <p:sp>
        <p:nvSpPr>
          <p:cNvPr id="17" name="Shape 14"/>
          <p:cNvSpPr/>
          <p:nvPr/>
        </p:nvSpPr>
        <p:spPr>
          <a:xfrm>
            <a:off x="6050280" y="1783080"/>
            <a:ext cx="2682240" cy="365760"/>
          </a:xfrm>
          <a:prstGeom prst="roundRect">
            <a:avLst>
              <a:gd name="adj" fmla="val 20000"/>
            </a:avLst>
          </a:prstGeom>
          <a:ln w="9525">
            <a:solidFill>
              <a:srgbClr val="DCE1E7"/>
            </a:solidFill>
            <a:prstDash val="solid"/>
          </a:ln>
        </p:spPr>
      </p:sp>
      <p:sp>
        <p:nvSpPr>
          <p:cNvPr id="18" name="Text 15"/>
          <p:cNvSpPr/>
          <p:nvPr/>
        </p:nvSpPr>
        <p:spPr>
          <a:xfrm>
            <a:off x="411480" y="22402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Death in the household</a:t>
            </a:r>
            <a:endParaRPr lang="en-US" sz="900" dirty="0"/>
          </a:p>
        </p:txBody>
      </p:sp>
      <p:sp>
        <p:nvSpPr>
          <p:cNvPr id="19" name="Shape 16"/>
          <p:cNvSpPr/>
          <p:nvPr/>
        </p:nvSpPr>
        <p:spPr>
          <a:xfrm>
            <a:off x="411480" y="2240280"/>
            <a:ext cx="2682240" cy="365760"/>
          </a:xfrm>
          <a:prstGeom prst="roundRect">
            <a:avLst>
              <a:gd name="adj" fmla="val 20000"/>
            </a:avLst>
          </a:prstGeom>
          <a:ln w="9525">
            <a:solidFill>
              <a:srgbClr val="DCE1E7"/>
            </a:solidFill>
            <a:prstDash val="solid"/>
          </a:ln>
        </p:spPr>
      </p:sp>
      <p:sp>
        <p:nvSpPr>
          <p:cNvPr id="20" name="Text 17"/>
          <p:cNvSpPr/>
          <p:nvPr/>
        </p:nvSpPr>
        <p:spPr>
          <a:xfrm>
            <a:off x="3230880" y="22402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Moving outside coverage</a:t>
            </a:r>
            <a:endParaRPr lang="en-US" sz="900" dirty="0"/>
          </a:p>
        </p:txBody>
      </p:sp>
      <p:sp>
        <p:nvSpPr>
          <p:cNvPr id="21" name="Shape 18"/>
          <p:cNvSpPr/>
          <p:nvPr/>
        </p:nvSpPr>
        <p:spPr>
          <a:xfrm>
            <a:off x="3230880" y="2240280"/>
            <a:ext cx="2682240" cy="365760"/>
          </a:xfrm>
          <a:prstGeom prst="roundRect">
            <a:avLst>
              <a:gd name="adj" fmla="val 20000"/>
            </a:avLst>
          </a:prstGeom>
          <a:ln w="9525">
            <a:solidFill>
              <a:srgbClr val="DCE1E7"/>
            </a:solidFill>
            <a:prstDash val="solid"/>
          </a:ln>
        </p:spPr>
      </p:sp>
      <p:sp>
        <p:nvSpPr>
          <p:cNvPr id="22" name="Text 19"/>
          <p:cNvSpPr/>
          <p:nvPr/>
        </p:nvSpPr>
        <p:spPr>
          <a:xfrm>
            <a:off x="6050280" y="22402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Genuine attempt already declined</a:t>
            </a:r>
            <a:endParaRPr lang="en-US" sz="900" dirty="0"/>
          </a:p>
        </p:txBody>
      </p:sp>
      <p:sp>
        <p:nvSpPr>
          <p:cNvPr id="23" name="Shape 20"/>
          <p:cNvSpPr/>
          <p:nvPr/>
        </p:nvSpPr>
        <p:spPr>
          <a:xfrm>
            <a:off x="6050280" y="2240280"/>
            <a:ext cx="2682240" cy="365760"/>
          </a:xfrm>
          <a:prstGeom prst="roundRect">
            <a:avLst>
              <a:gd name="adj" fmla="val 20000"/>
            </a:avLst>
          </a:prstGeom>
          <a:ln w="9525">
            <a:solidFill>
              <a:srgbClr val="DCE1E7"/>
            </a:solidFill>
            <a:prstDash val="solid"/>
          </a:ln>
        </p:spPr>
      </p:sp>
      <p:sp>
        <p:nvSpPr>
          <p:cNvPr id="24" name="Text 21"/>
          <p:cNvSpPr/>
          <p:nvPr/>
        </p:nvSpPr>
        <p:spPr>
          <a:xfrm>
            <a:off x="411480" y="26974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Multiple unused MFs + firm</a:t>
            </a:r>
            <a:endParaRPr lang="en-US" sz="900" dirty="0"/>
          </a:p>
        </p:txBody>
      </p:sp>
      <p:sp>
        <p:nvSpPr>
          <p:cNvPr id="25" name="Shape 22"/>
          <p:cNvSpPr/>
          <p:nvPr/>
        </p:nvSpPr>
        <p:spPr>
          <a:xfrm>
            <a:off x="411480" y="2697480"/>
            <a:ext cx="2682240" cy="365760"/>
          </a:xfrm>
          <a:prstGeom prst="roundRect">
            <a:avLst>
              <a:gd name="adj" fmla="val 20000"/>
            </a:avLst>
          </a:prstGeom>
          <a:ln w="9525">
            <a:solidFill>
              <a:srgbClr val="DCE1E7"/>
            </a:solidFill>
            <a:prstDash val="solid"/>
          </a:ln>
        </p:spPr>
      </p:sp>
      <p:sp>
        <p:nvSpPr>
          <p:cNvPr id="26" name="Text 23"/>
          <p:cNvSpPr/>
          <p:nvPr/>
        </p:nvSpPr>
        <p:spPr>
          <a:xfrm>
            <a:off x="3230880" y="2697480"/>
            <a:ext cx="268224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Material legal threat</a:t>
            </a:r>
            <a:endParaRPr lang="en-US" sz="900" dirty="0"/>
          </a:p>
        </p:txBody>
      </p:sp>
      <p:sp>
        <p:nvSpPr>
          <p:cNvPr id="27" name="Text 24"/>
          <p:cNvSpPr/>
          <p:nvPr/>
        </p:nvSpPr>
        <p:spPr>
          <a:xfrm>
            <a:off x="6050280" y="2697480"/>
            <a:ext cx="268224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Abusive toward a cleaner</a:t>
            </a:r>
            <a:endParaRPr lang="en-US" sz="900" dirty="0"/>
          </a:p>
        </p:txBody>
      </p:sp>
      <p:sp>
        <p:nvSpPr>
          <p:cNvPr id="28" name="Shape 2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9"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30" name="Text 2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Abusive toward a cleaner:  </a:t>
            </a:r>
            <a:r>
              <a:rPr lang="en-US" sz="1000" dirty="0">
                <a:solidFill>
                  <a:srgbClr val="1D1D1F"/>
                </a:solidFill>
                <a:latin typeface="SF Pro Text" pitchFamily="34" charset="0"/>
                <a:ea typeface="SF Pro Text" pitchFamily="34" charset="-122"/>
                <a:cs typeface="SF Pro Text" pitchFamily="34" charset="-120"/>
              </a:rPr>
              <a:t>retention is off the table. Only exit offers (ETF/MCT reduction) remain.</a:t>
            </a:r>
            <a:endParaRPr lang="en-US" sz="1000" dirty="0"/>
          </a:p>
        </p:txBody>
      </p:sp>
      <p:sp>
        <p:nvSpPr>
          <p:cNvPr id="31" name="Shape 27"/>
          <p:cNvSpPr/>
          <p:nvPr/>
        </p:nvSpPr>
        <p:spPr>
          <a:xfrm>
            <a:off x="411480" y="3767328"/>
            <a:ext cx="8321040" cy="384048"/>
          </a:xfrm>
          <a:prstGeom prst="roundRect">
            <a:avLst>
              <a:gd name="adj" fmla="val 19048"/>
            </a:avLst>
          </a:prstGeom>
          <a:solidFill>
            <a:srgbClr val="FFF3D6"/>
          </a:solidFill>
          <a:ln w="9525">
            <a:solidFill>
              <a:srgbClr val="FFF3D6"/>
            </a:solidFill>
            <a:prstDash val="solid"/>
          </a:ln>
        </p:spPr>
      </p:sp>
      <p:pic>
        <p:nvPicPr>
          <p:cNvPr id="32" name="Image 1" descr="preencoded.png">    </p:cNvPr>
          <p:cNvPicPr>
            <a:picLocks noChangeAspect="1"/>
          </p:cNvPicPr>
          <p:nvPr/>
        </p:nvPicPr>
        <p:blipFill>
          <a:blip r:embed="rId2"/>
          <a:stretch>
            <a:fillRect/>
          </a:stretch>
        </p:blipFill>
        <p:spPr>
          <a:xfrm>
            <a:off x="566928" y="3877056"/>
            <a:ext cx="164592" cy="164592"/>
          </a:xfrm>
          <a:prstGeom prst="rect">
            <a:avLst/>
          </a:prstGeom>
        </p:spPr>
      </p:pic>
      <p:sp>
        <p:nvSpPr>
          <p:cNvPr id="33" name="Text 28"/>
          <p:cNvSpPr txBox="1"/>
          <p:nvPr/>
        </p:nvSpPr>
        <p:spPr>
          <a:xfrm>
            <a:off x="822960" y="386791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r>
              <a:rPr lang="en-US" sz="1000" dirty="0">
                <a:solidFill>
                  <a:srgbClr val="1D1D1F"/>
                </a:solidFill>
                <a:latin typeface="SF Pro Text" pitchFamily="34" charset="0"/>
                <a:ea typeface="SF Pro Text" pitchFamily="34" charset="-122"/>
                <a:cs typeface="SF Pro Text" pitchFamily="34" charset="-120"/>
              </a:rPr>
              <a:t>their situation isn't about the service. Pushing retention looks tone-deaf.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Context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same situation can point to a different call. Investigate first.</a:t>
            </a:r>
            <a:endParaRPr lang="en-US" sz="1200" dirty="0"/>
          </a:p>
        </p:txBody>
      </p:sp>
      <p:sp>
        <p:nvSpPr>
          <p:cNvPr id="6" name="Text 3"/>
          <p:cNvSpPr txBox="1"/>
          <p:nvPr/>
        </p:nvSpPr>
        <p:spPr>
          <a:xfrm>
            <a:off x="2514600" y="1261872"/>
            <a:ext cx="3017520" cy="201168"/>
          </a:xfrm>
          <a:prstGeom prst="rect">
            <a:avLst/>
          </a:prstGeom>
          <a:noFill/>
          <a:ln/>
        </p:spPr>
        <p:txBody>
          <a:bodyPr wrap="square" lIns="0" tIns="0" rIns="0" bIns="0" rtlCol="0" anchor="t"/>
          <a:lstStyle/>
          <a:p>
            <a:pPr indent="0" marL="0">
              <a:buNone/>
            </a:pPr>
            <a:r>
              <a:rPr lang="en-US" sz="850" b="1" dirty="0">
                <a:solidFill>
                  <a:srgbClr val="B3261E"/>
                </a:solidFill>
                <a:latin typeface="SF Pro Text" pitchFamily="34" charset="0"/>
                <a:ea typeface="SF Pro Text" pitchFamily="34" charset="-122"/>
                <a:cs typeface="SF Pro Text" pitchFamily="34" charset="-120"/>
              </a:rPr>
              <a:t>Leans non-retainable</a:t>
            </a:r>
            <a:endParaRPr lang="en-US" sz="850" dirty="0"/>
          </a:p>
        </p:txBody>
      </p:sp>
      <p:sp>
        <p:nvSpPr>
          <p:cNvPr id="7" name="Text 4"/>
          <p:cNvSpPr txBox="1"/>
          <p:nvPr/>
        </p:nvSpPr>
        <p:spPr>
          <a:xfrm>
            <a:off x="5715000" y="1261872"/>
            <a:ext cx="3017520" cy="201168"/>
          </a:xfrm>
          <a:prstGeom prst="rect">
            <a:avLst/>
          </a:prstGeom>
          <a:noFill/>
          <a:ln/>
        </p:spPr>
        <p:txBody>
          <a:bodyPr wrap="square" lIns="0" tIns="0" rIns="0" bIns="0" rtlCol="0" anchor="t"/>
          <a:lstStyle/>
          <a:p>
            <a:pPr indent="0" marL="0">
              <a:buNone/>
            </a:pPr>
            <a:r>
              <a:rPr lang="en-US" sz="850" b="1" dirty="0">
                <a:solidFill>
                  <a:srgbClr val="0B7A6F"/>
                </a:solidFill>
                <a:latin typeface="SF Pro Text" pitchFamily="34" charset="0"/>
                <a:ea typeface="SF Pro Text" pitchFamily="34" charset="-122"/>
                <a:cs typeface="SF Pro Text" pitchFamily="34" charset="-120"/>
              </a:rPr>
              <a:t>But…</a:t>
            </a:r>
            <a:endParaRPr lang="en-US" sz="850" dirty="0"/>
          </a:p>
        </p:txBody>
      </p:sp>
      <p:sp>
        <p:nvSpPr>
          <p:cNvPr id="8" name="Shape 5"/>
          <p:cNvSpPr/>
          <p:nvPr/>
        </p:nvSpPr>
        <p:spPr>
          <a:xfrm>
            <a:off x="411480" y="1481328"/>
            <a:ext cx="2011680" cy="640080"/>
          </a:xfrm>
          <a:prstGeom prst="roundRect">
            <a:avLst>
              <a:gd name="adj" fmla="val 11429"/>
            </a:avLst>
          </a:prstGeom>
          <a:solidFill>
            <a:srgbClr val="FFFFFF"/>
          </a:solidFill>
          <a:ln w="9525">
            <a:solidFill>
              <a:srgbClr val="DCE1E7"/>
            </a:solidFill>
            <a:prstDash val="solid"/>
          </a:ln>
        </p:spPr>
      </p:sp>
      <p:sp>
        <p:nvSpPr>
          <p:cNvPr id="9" name="Shape 6"/>
          <p:cNvSpPr/>
          <p:nvPr/>
        </p:nvSpPr>
        <p:spPr>
          <a:xfrm>
            <a:off x="502920" y="1636776"/>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581924" y="1715780"/>
            <a:ext cx="171176" cy="171176"/>
          </a:xfrm>
          <a:prstGeom prst="rect">
            <a:avLst/>
          </a:prstGeom>
        </p:spPr>
      </p:pic>
      <p:sp>
        <p:nvSpPr>
          <p:cNvPr id="11" name="Text 7"/>
          <p:cNvSpPr txBox="1"/>
          <p:nvPr/>
        </p:nvSpPr>
        <p:spPr>
          <a:xfrm>
            <a:off x="914400" y="1481328"/>
            <a:ext cx="146304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History of disputes</a:t>
            </a:r>
            <a:endParaRPr lang="en-US" sz="1050" dirty="0"/>
          </a:p>
        </p:txBody>
      </p:sp>
      <p:sp>
        <p:nvSpPr>
          <p:cNvPr id="12" name="Shape 8"/>
          <p:cNvSpPr/>
          <p:nvPr/>
        </p:nvSpPr>
        <p:spPr>
          <a:xfrm>
            <a:off x="2514600" y="1481328"/>
            <a:ext cx="3108960" cy="640080"/>
          </a:xfrm>
          <a:prstGeom prst="roundRect">
            <a:avLst>
              <a:gd name="adj" fmla="val 11429"/>
            </a:avLst>
          </a:prstGeom>
          <a:solidFill>
            <a:srgbClr val="FCEBEA"/>
          </a:solidFill>
          <a:ln w="9525">
            <a:solidFill>
              <a:srgbClr val="FCEBEA"/>
            </a:solidFill>
            <a:prstDash val="solid"/>
          </a:ln>
        </p:spPr>
      </p:sp>
      <p:sp>
        <p:nvSpPr>
          <p:cNvPr id="13" name="Text 9"/>
          <p:cNvSpPr txBox="1"/>
          <p:nvPr/>
        </p:nvSpPr>
        <p:spPr>
          <a:xfrm>
            <a:off x="2651760" y="1481328"/>
            <a:ext cx="288036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Wants to cancel or a refund → non-retainable</a:t>
            </a:r>
            <a:endParaRPr lang="en-US" sz="950" dirty="0"/>
          </a:p>
        </p:txBody>
      </p:sp>
      <p:sp>
        <p:nvSpPr>
          <p:cNvPr id="14" name="Shape 10"/>
          <p:cNvSpPr/>
          <p:nvPr/>
        </p:nvSpPr>
        <p:spPr>
          <a:xfrm>
            <a:off x="5715000" y="1481328"/>
            <a:ext cx="3017520" cy="640080"/>
          </a:xfrm>
          <a:prstGeom prst="roundRect">
            <a:avLst>
              <a:gd name="adj" fmla="val 11429"/>
            </a:avLst>
          </a:prstGeom>
          <a:solidFill>
            <a:srgbClr val="E3F4F1"/>
          </a:solidFill>
          <a:ln w="9525">
            <a:solidFill>
              <a:srgbClr val="E3F4F1"/>
            </a:solidFill>
            <a:prstDash val="solid"/>
          </a:ln>
        </p:spPr>
      </p:sp>
      <p:sp>
        <p:nvSpPr>
          <p:cNvPr id="15" name="Text 11"/>
          <p:cNvSpPr txBox="1"/>
          <p:nvPr/>
        </p:nvSpPr>
        <p:spPr>
          <a:xfrm>
            <a:off x="5852160" y="1481328"/>
            <a:ext cx="278892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Wants to keep using it → let them (unless fraud)</a:t>
            </a:r>
            <a:endParaRPr lang="en-US" sz="950" dirty="0"/>
          </a:p>
        </p:txBody>
      </p:sp>
      <p:sp>
        <p:nvSpPr>
          <p:cNvPr id="16" name="Shape 12"/>
          <p:cNvSpPr/>
          <p:nvPr/>
        </p:nvSpPr>
        <p:spPr>
          <a:xfrm>
            <a:off x="411480" y="2212848"/>
            <a:ext cx="2011680" cy="640080"/>
          </a:xfrm>
          <a:prstGeom prst="roundRect">
            <a:avLst>
              <a:gd name="adj" fmla="val 11429"/>
            </a:avLst>
          </a:prstGeom>
          <a:solidFill>
            <a:srgbClr val="FFFFFF"/>
          </a:solidFill>
          <a:ln w="9525">
            <a:solidFill>
              <a:srgbClr val="DCE1E7"/>
            </a:solidFill>
            <a:prstDash val="solid"/>
          </a:ln>
        </p:spPr>
      </p:sp>
      <p:sp>
        <p:nvSpPr>
          <p:cNvPr id="17" name="Shape 13"/>
          <p:cNvSpPr/>
          <p:nvPr/>
        </p:nvSpPr>
        <p:spPr>
          <a:xfrm>
            <a:off x="502920" y="2368296"/>
            <a:ext cx="329184" cy="329184"/>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581924" y="2447300"/>
            <a:ext cx="171176" cy="171176"/>
          </a:xfrm>
          <a:prstGeom prst="rect">
            <a:avLst/>
          </a:prstGeom>
        </p:spPr>
      </p:pic>
      <p:sp>
        <p:nvSpPr>
          <p:cNvPr id="19" name="Text 14"/>
          <p:cNvSpPr txBox="1"/>
          <p:nvPr/>
        </p:nvSpPr>
        <p:spPr>
          <a:xfrm>
            <a:off x="914400" y="2212848"/>
            <a:ext cx="146304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Severe illness</a:t>
            </a:r>
            <a:endParaRPr lang="en-US" sz="1050" dirty="0"/>
          </a:p>
        </p:txBody>
      </p:sp>
      <p:sp>
        <p:nvSpPr>
          <p:cNvPr id="20" name="Shape 15"/>
          <p:cNvSpPr/>
          <p:nvPr/>
        </p:nvSpPr>
        <p:spPr>
          <a:xfrm>
            <a:off x="2514600" y="2212848"/>
            <a:ext cx="3108960" cy="640080"/>
          </a:xfrm>
          <a:prstGeom prst="roundRect">
            <a:avLst>
              <a:gd name="adj" fmla="val 11429"/>
            </a:avLst>
          </a:prstGeom>
          <a:solidFill>
            <a:srgbClr val="FCEBEA"/>
          </a:solidFill>
          <a:ln w="9525">
            <a:solidFill>
              <a:srgbClr val="FCEBEA"/>
            </a:solidFill>
            <a:prstDash val="solid"/>
          </a:ln>
        </p:spPr>
      </p:sp>
      <p:sp>
        <p:nvSpPr>
          <p:cNvPr id="21" name="Text 16"/>
          <p:cNvSpPr txBox="1"/>
          <p:nvPr/>
        </p:nvSpPr>
        <p:spPr>
          <a:xfrm>
            <a:off x="2651760" y="2212848"/>
            <a:ext cx="288036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Cancelling because of it → cancel, waive ETF</a:t>
            </a:r>
            <a:endParaRPr lang="en-US" sz="950" dirty="0"/>
          </a:p>
        </p:txBody>
      </p:sp>
      <p:sp>
        <p:nvSpPr>
          <p:cNvPr id="22" name="Shape 17"/>
          <p:cNvSpPr/>
          <p:nvPr/>
        </p:nvSpPr>
        <p:spPr>
          <a:xfrm>
            <a:off x="5715000" y="2212848"/>
            <a:ext cx="3017520" cy="640080"/>
          </a:xfrm>
          <a:prstGeom prst="roundRect">
            <a:avLst>
              <a:gd name="adj" fmla="val 11429"/>
            </a:avLst>
          </a:prstGeom>
          <a:solidFill>
            <a:srgbClr val="E3F4F1"/>
          </a:solidFill>
          <a:ln w="9525">
            <a:solidFill>
              <a:srgbClr val="E3F4F1"/>
            </a:solidFill>
            <a:prstDash val="solid"/>
          </a:ln>
        </p:spPr>
      </p:sp>
      <p:sp>
        <p:nvSpPr>
          <p:cNvPr id="23" name="Text 18"/>
          <p:cNvSpPr txBox="1"/>
          <p:nvPr/>
        </p:nvSpPr>
        <p:spPr>
          <a:xfrm>
            <a:off x="5852160" y="2212848"/>
            <a:ext cx="278892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Needs the help because of it → retain</a:t>
            </a:r>
            <a:endParaRPr lang="en-US" sz="950" dirty="0"/>
          </a:p>
        </p:txBody>
      </p:sp>
      <p:sp>
        <p:nvSpPr>
          <p:cNvPr id="24" name="Shape 19"/>
          <p:cNvSpPr/>
          <p:nvPr/>
        </p:nvSpPr>
        <p:spPr>
          <a:xfrm>
            <a:off x="411480" y="2944368"/>
            <a:ext cx="2011680" cy="640080"/>
          </a:xfrm>
          <a:prstGeom prst="roundRect">
            <a:avLst>
              <a:gd name="adj" fmla="val 11429"/>
            </a:avLst>
          </a:prstGeom>
          <a:solidFill>
            <a:srgbClr val="FFFFFF"/>
          </a:solidFill>
          <a:ln w="9525">
            <a:solidFill>
              <a:srgbClr val="DCE1E7"/>
            </a:solidFill>
            <a:prstDash val="solid"/>
          </a:ln>
        </p:spPr>
      </p:sp>
      <p:sp>
        <p:nvSpPr>
          <p:cNvPr id="25" name="Shape 20"/>
          <p:cNvSpPr/>
          <p:nvPr/>
        </p:nvSpPr>
        <p:spPr>
          <a:xfrm>
            <a:off x="502920" y="3099816"/>
            <a:ext cx="329184" cy="329184"/>
          </a:xfrm>
          <a:prstGeom prst="ellipse">
            <a:avLst/>
          </a:prstGeom>
          <a:solidFill>
            <a:srgbClr val="E3F4F1"/>
          </a:solidFill>
          <a:ln w="12700">
            <a:solidFill>
              <a:srgbClr val="E3F4F1"/>
            </a:solidFill>
            <a:prstDash val="solid"/>
          </a:ln>
        </p:spPr>
      </p:sp>
      <p:pic>
        <p:nvPicPr>
          <p:cNvPr id="26" name="Image 2" descr="preencoded.png">    </p:cNvPr>
          <p:cNvPicPr>
            <a:picLocks noChangeAspect="1"/>
          </p:cNvPicPr>
          <p:nvPr/>
        </p:nvPicPr>
        <p:blipFill>
          <a:blip r:embed="rId3"/>
          <a:stretch>
            <a:fillRect/>
          </a:stretch>
        </p:blipFill>
        <p:spPr>
          <a:xfrm>
            <a:off x="581924" y="3178820"/>
            <a:ext cx="171176" cy="171176"/>
          </a:xfrm>
          <a:prstGeom prst="rect">
            <a:avLst/>
          </a:prstGeom>
        </p:spPr>
      </p:pic>
      <p:sp>
        <p:nvSpPr>
          <p:cNvPr id="27" name="Text 21"/>
          <p:cNvSpPr txBox="1"/>
          <p:nvPr/>
        </p:nvSpPr>
        <p:spPr>
          <a:xfrm>
            <a:off x="914400" y="2944368"/>
            <a:ext cx="146304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Military deployment</a:t>
            </a:r>
            <a:endParaRPr lang="en-US" sz="1050" dirty="0"/>
          </a:p>
        </p:txBody>
      </p:sp>
      <p:sp>
        <p:nvSpPr>
          <p:cNvPr id="28" name="Shape 22"/>
          <p:cNvSpPr/>
          <p:nvPr/>
        </p:nvSpPr>
        <p:spPr>
          <a:xfrm>
            <a:off x="2514600" y="2944368"/>
            <a:ext cx="3108960" cy="640080"/>
          </a:xfrm>
          <a:prstGeom prst="roundRect">
            <a:avLst>
              <a:gd name="adj" fmla="val 11429"/>
            </a:avLst>
          </a:prstGeom>
          <a:solidFill>
            <a:srgbClr val="FCEBEA"/>
          </a:solidFill>
          <a:ln w="9525">
            <a:solidFill>
              <a:srgbClr val="FCEBEA"/>
            </a:solidFill>
            <a:prstDash val="solid"/>
          </a:ln>
        </p:spPr>
      </p:sp>
      <p:sp>
        <p:nvSpPr>
          <p:cNvPr id="29" name="Text 23"/>
          <p:cNvSpPr txBox="1"/>
          <p:nvPr/>
        </p:nvSpPr>
        <p:spPr>
          <a:xfrm>
            <a:off x="2651760" y="2944368"/>
            <a:ext cx="288036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Deploying now → cancel</a:t>
            </a:r>
            <a:endParaRPr lang="en-US" sz="950" dirty="0"/>
          </a:p>
        </p:txBody>
      </p:sp>
      <p:sp>
        <p:nvSpPr>
          <p:cNvPr id="30" name="Shape 24"/>
          <p:cNvSpPr/>
          <p:nvPr/>
        </p:nvSpPr>
        <p:spPr>
          <a:xfrm>
            <a:off x="5715000" y="2944368"/>
            <a:ext cx="3017520" cy="640080"/>
          </a:xfrm>
          <a:prstGeom prst="roundRect">
            <a:avLst>
              <a:gd name="adj" fmla="val 11429"/>
            </a:avLst>
          </a:prstGeom>
          <a:solidFill>
            <a:srgbClr val="E3F4F1"/>
          </a:solidFill>
          <a:ln w="9525">
            <a:solidFill>
              <a:srgbClr val="E3F4F1"/>
            </a:solidFill>
            <a:prstDash val="solid"/>
          </a:ln>
        </p:spPr>
      </p:sp>
      <p:sp>
        <p:nvSpPr>
          <p:cNvPr id="31" name="Text 25"/>
          <p:cNvSpPr txBox="1"/>
          <p:nvPr/>
        </p:nvSpPr>
        <p:spPr>
          <a:xfrm>
            <a:off x="5852160" y="2944368"/>
            <a:ext cx="278892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Deploying in a few months → Timed Reminder</a:t>
            </a:r>
            <a:endParaRPr lang="en-US" sz="950" dirty="0"/>
          </a:p>
        </p:txBody>
      </p:sp>
      <p:sp>
        <p:nvSpPr>
          <p:cNvPr id="32" name="Shape 26"/>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33" name="Image 3" descr="preencoded.png">    </p:cNvPr>
          <p:cNvPicPr>
            <a:picLocks noChangeAspect="1"/>
          </p:cNvPicPr>
          <p:nvPr/>
        </p:nvPicPr>
        <p:blipFill>
          <a:blip r:embed="rId4"/>
          <a:stretch>
            <a:fillRect/>
          </a:stretch>
        </p:blipFill>
        <p:spPr>
          <a:xfrm>
            <a:off x="566928" y="3904488"/>
            <a:ext cx="164592" cy="164592"/>
          </a:xfrm>
          <a:prstGeom prst="rect">
            <a:avLst/>
          </a:prstGeom>
        </p:spPr>
      </p:pic>
      <p:sp>
        <p:nvSpPr>
          <p:cNvPr id="34" name="Text 27"/>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Ask:  </a:t>
            </a:r>
            <a:r>
              <a:rPr lang="en-US" sz="1000" dirty="0">
                <a:solidFill>
                  <a:srgbClr val="1D1D1F"/>
                </a:solidFill>
                <a:latin typeface="SF Pro Text" pitchFamily="34" charset="0"/>
                <a:ea typeface="SF Pro Text" pitchFamily="34" charset="-122"/>
                <a:cs typeface="SF Pro Text" pitchFamily="34" charset="-120"/>
              </a:rPr>
              <a:t>what is the customer asking for right now? Not just which situation is on the 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Clear signs they're retainable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objection is about structure, not value.</a:t>
            </a:r>
            <a:endParaRPr lang="en-US" sz="1200" dirty="0"/>
          </a:p>
        </p:txBody>
      </p:sp>
      <p:sp>
        <p:nvSpPr>
          <p:cNvPr id="6" name="Shape 3"/>
          <p:cNvSpPr/>
          <p:nvPr/>
        </p:nvSpPr>
        <p:spPr>
          <a:xfrm>
            <a:off x="411480" y="1325880"/>
            <a:ext cx="2682240" cy="2514600"/>
          </a:xfrm>
          <a:prstGeom prst="roundRect">
            <a:avLst>
              <a:gd name="adj" fmla="val 2909"/>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576072" y="1938528"/>
            <a:ext cx="2353056" cy="29260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Happy with the cleaning</a:t>
            </a:r>
            <a:endParaRPr lang="en-US" sz="1200" dirty="0"/>
          </a:p>
        </p:txBody>
      </p:sp>
      <p:sp>
        <p:nvSpPr>
          <p:cNvPr id="10" name="Shape 6"/>
          <p:cNvSpPr/>
          <p:nvPr/>
        </p:nvSpPr>
        <p:spPr>
          <a:xfrm>
            <a:off x="576072" y="2286000"/>
            <a:ext cx="2353056" cy="685800"/>
          </a:xfrm>
          <a:prstGeom prst="roundRect">
            <a:avLst>
              <a:gd name="adj" fmla="val 10667"/>
            </a:avLst>
          </a:prstGeom>
          <a:solidFill>
            <a:srgbClr val="E3F4F1"/>
          </a:solidFill>
          <a:ln w="9525">
            <a:solidFill>
              <a:srgbClr val="E3F4F1"/>
            </a:solidFill>
            <a:prstDash val="solid"/>
          </a:ln>
        </p:spPr>
      </p:sp>
      <p:sp>
        <p:nvSpPr>
          <p:cNvPr id="11" name="Text 7"/>
          <p:cNvSpPr txBox="1"/>
          <p:nvPr/>
        </p:nvSpPr>
        <p:spPr>
          <a:xfrm>
            <a:off x="667512" y="2286000"/>
            <a:ext cx="2170176" cy="68580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“The cleaner did a good job but I don't want a membership.”</a:t>
            </a:r>
            <a:endParaRPr lang="en-US" sz="950" dirty="0"/>
          </a:p>
        </p:txBody>
      </p:sp>
      <p:sp>
        <p:nvSpPr>
          <p:cNvPr id="12" name="Text 8"/>
          <p:cNvSpPr txBox="1"/>
          <p:nvPr/>
        </p:nvSpPr>
        <p:spPr>
          <a:xfrm>
            <a:off x="576072" y="3063240"/>
            <a:ext cx="2353056"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service worked. It's about structure.</a:t>
            </a:r>
            <a:endParaRPr lang="en-US" sz="950" dirty="0"/>
          </a:p>
        </p:txBody>
      </p:sp>
      <p:sp>
        <p:nvSpPr>
          <p:cNvPr id="13" name="Shape 9"/>
          <p:cNvSpPr/>
          <p:nvPr/>
        </p:nvSpPr>
        <p:spPr>
          <a:xfrm>
            <a:off x="3230880" y="1325880"/>
            <a:ext cx="2682240" cy="2514600"/>
          </a:xfrm>
          <a:prstGeom prst="roundRect">
            <a:avLst>
              <a:gd name="adj" fmla="val 2909"/>
            </a:avLst>
          </a:prstGeom>
          <a:solidFill>
            <a:srgbClr val="FFFFFF"/>
          </a:solidFill>
          <a:ln w="9525">
            <a:solidFill>
              <a:srgbClr val="DCE1E7"/>
            </a:solidFill>
            <a:prstDash val="solid"/>
          </a:ln>
        </p:spPr>
      </p:sp>
      <p:sp>
        <p:nvSpPr>
          <p:cNvPr id="14" name="Shape 10"/>
          <p:cNvSpPr/>
          <p:nvPr/>
        </p:nvSpPr>
        <p:spPr>
          <a:xfrm>
            <a:off x="3395472" y="1481328"/>
            <a:ext cx="384048" cy="384048"/>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6" name="Text 11"/>
          <p:cNvSpPr txBox="1"/>
          <p:nvPr/>
        </p:nvSpPr>
        <p:spPr>
          <a:xfrm>
            <a:off x="3395472" y="1938528"/>
            <a:ext cx="2353056" cy="29260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Temporary money concern</a:t>
            </a:r>
            <a:endParaRPr lang="en-US" sz="1200" dirty="0"/>
          </a:p>
        </p:txBody>
      </p:sp>
      <p:sp>
        <p:nvSpPr>
          <p:cNvPr id="17" name="Shape 12"/>
          <p:cNvSpPr/>
          <p:nvPr/>
        </p:nvSpPr>
        <p:spPr>
          <a:xfrm>
            <a:off x="3395472" y="2286000"/>
            <a:ext cx="2353056" cy="685800"/>
          </a:xfrm>
          <a:prstGeom prst="roundRect">
            <a:avLst>
              <a:gd name="adj" fmla="val 10667"/>
            </a:avLst>
          </a:prstGeom>
          <a:solidFill>
            <a:srgbClr val="E3F4F1"/>
          </a:solidFill>
          <a:ln w="9525">
            <a:solidFill>
              <a:srgbClr val="E3F4F1"/>
            </a:solidFill>
            <a:prstDash val="solid"/>
          </a:ln>
        </p:spPr>
      </p:sp>
      <p:sp>
        <p:nvSpPr>
          <p:cNvPr id="18" name="Text 13"/>
          <p:cNvSpPr txBox="1"/>
          <p:nvPr/>
        </p:nvSpPr>
        <p:spPr>
          <a:xfrm>
            <a:off x="3486912" y="2286000"/>
            <a:ext cx="2170176" cy="68580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 can't afford the monthly fee right now.”</a:t>
            </a:r>
            <a:endParaRPr lang="en-US" sz="950" dirty="0"/>
          </a:p>
        </p:txBody>
      </p:sp>
      <p:sp>
        <p:nvSpPr>
          <p:cNvPr id="19" name="Text 14"/>
          <p:cNvSpPr txBox="1"/>
          <p:nvPr/>
        </p:nvSpPr>
        <p:spPr>
          <a:xfrm>
            <a:off x="3395472" y="3063240"/>
            <a:ext cx="2353056"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Fee adjustment or flexibility. Severe distress? Pause or help cancel.</a:t>
            </a:r>
            <a:endParaRPr lang="en-US" sz="950" dirty="0"/>
          </a:p>
        </p:txBody>
      </p:sp>
      <p:sp>
        <p:nvSpPr>
          <p:cNvPr id="20" name="Shape 15"/>
          <p:cNvSpPr/>
          <p:nvPr/>
        </p:nvSpPr>
        <p:spPr>
          <a:xfrm>
            <a:off x="6050280" y="1325880"/>
            <a:ext cx="2682240" cy="2514600"/>
          </a:xfrm>
          <a:prstGeom prst="roundRect">
            <a:avLst>
              <a:gd name="adj" fmla="val 2909"/>
            </a:avLst>
          </a:prstGeom>
          <a:solidFill>
            <a:srgbClr val="FFFFFF"/>
          </a:solidFill>
          <a:ln w="9525">
            <a:solidFill>
              <a:srgbClr val="DCE1E7"/>
            </a:solidFill>
            <a:prstDash val="solid"/>
          </a:ln>
        </p:spPr>
      </p:sp>
      <p:sp>
        <p:nvSpPr>
          <p:cNvPr id="21" name="Shape 16"/>
          <p:cNvSpPr/>
          <p:nvPr/>
        </p:nvSpPr>
        <p:spPr>
          <a:xfrm>
            <a:off x="6214872" y="1481328"/>
            <a:ext cx="384048" cy="38404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23" name="Text 17"/>
          <p:cNvSpPr txBox="1"/>
          <p:nvPr/>
        </p:nvSpPr>
        <p:spPr>
          <a:xfrm>
            <a:off x="6214872" y="1938528"/>
            <a:ext cx="2353056" cy="29260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confusion</a:t>
            </a:r>
            <a:endParaRPr lang="en-US" sz="1200" dirty="0"/>
          </a:p>
        </p:txBody>
      </p:sp>
      <p:sp>
        <p:nvSpPr>
          <p:cNvPr id="24" name="Shape 18"/>
          <p:cNvSpPr/>
          <p:nvPr/>
        </p:nvSpPr>
        <p:spPr>
          <a:xfrm>
            <a:off x="6214872" y="2286000"/>
            <a:ext cx="2353056" cy="685800"/>
          </a:xfrm>
          <a:prstGeom prst="roundRect">
            <a:avLst>
              <a:gd name="adj" fmla="val 10667"/>
            </a:avLst>
          </a:prstGeom>
          <a:solidFill>
            <a:srgbClr val="E3F4F1"/>
          </a:solidFill>
          <a:ln w="9525">
            <a:solidFill>
              <a:srgbClr val="E3F4F1"/>
            </a:solidFill>
            <a:prstDash val="solid"/>
          </a:ln>
        </p:spPr>
      </p:sp>
      <p:sp>
        <p:nvSpPr>
          <p:cNvPr id="25" name="Text 19"/>
          <p:cNvSpPr txBox="1"/>
          <p:nvPr/>
        </p:nvSpPr>
        <p:spPr>
          <a:xfrm>
            <a:off x="6306312" y="2286000"/>
            <a:ext cx="2170176" cy="68580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 didn't realize I signed up for 6 months.”</a:t>
            </a:r>
            <a:endParaRPr lang="en-US" sz="950" dirty="0"/>
          </a:p>
        </p:txBody>
      </p:sp>
      <p:sp>
        <p:nvSpPr>
          <p:cNvPr id="26" name="Text 20"/>
          <p:cNvSpPr txBox="1"/>
          <p:nvPr/>
        </p:nvSpPr>
        <p:spPr>
          <a:xfrm>
            <a:off x="6214872" y="3063240"/>
            <a:ext cx="2353056"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Clarify calmly, probe the service, keep going.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Genuine unhappiness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Don't assume they're non-retainable. Be human first.</a:t>
            </a:r>
            <a:endParaRPr lang="en-US" sz="1200" dirty="0"/>
          </a:p>
        </p:txBody>
      </p:sp>
      <p:sp>
        <p:nvSpPr>
          <p:cNvPr id="6" name="Shape 3"/>
          <p:cNvSpPr/>
          <p:nvPr/>
        </p:nvSpPr>
        <p:spPr>
          <a:xfrm>
            <a:off x="411480" y="1298448"/>
            <a:ext cx="8321040" cy="822960"/>
          </a:xfrm>
          <a:prstGeom prst="roundRect">
            <a:avLst>
              <a:gd name="adj" fmla="val 8889"/>
            </a:avLst>
          </a:prstGeom>
          <a:solidFill>
            <a:srgbClr val="FFFFFF"/>
          </a:solidFill>
          <a:ln w="9525">
            <a:solidFill>
              <a:srgbClr val="DCE1E7"/>
            </a:solidFill>
            <a:prstDash val="solid"/>
          </a:ln>
        </p:spPr>
      </p:sp>
      <p:sp>
        <p:nvSpPr>
          <p:cNvPr id="7" name="Shape 4"/>
          <p:cNvSpPr/>
          <p:nvPr/>
        </p:nvSpPr>
        <p:spPr>
          <a:xfrm>
            <a:off x="548640" y="1517904"/>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0812" y="1610076"/>
            <a:ext cx="199705" cy="199705"/>
          </a:xfrm>
          <a:prstGeom prst="rect">
            <a:avLst/>
          </a:prstGeom>
        </p:spPr>
      </p:pic>
      <p:sp>
        <p:nvSpPr>
          <p:cNvPr id="9" name="Text 5"/>
          <p:cNvSpPr txBox="1"/>
          <p:nvPr/>
        </p:nvSpPr>
        <p:spPr>
          <a:xfrm>
            <a:off x="1051560" y="1298448"/>
            <a:ext cx="2514600" cy="82296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Extreme escalation</a:t>
            </a:r>
            <a:endParaRPr lang="en-US" sz="1100" dirty="0"/>
          </a:p>
          <a:p>
            <a:pPr indent="0" marL="0">
              <a:buNone/>
            </a:pPr>
            <a:r>
              <a:rPr lang="en-US" sz="900" i="1" dirty="0">
                <a:solidFill>
                  <a:srgbClr val="6E6E73"/>
                </a:solidFill>
                <a:latin typeface="SF Pro Text" pitchFamily="34" charset="0"/>
                <a:ea typeface="SF Pro Text" pitchFamily="34" charset="-122"/>
                <a:cs typeface="SF Pro Text" pitchFamily="34" charset="-120"/>
              </a:rPr>
              <a:t>"This is a scam, cancel this NOW"</a:t>
            </a:r>
            <a:endParaRPr lang="en-US" sz="1100" dirty="0"/>
          </a:p>
        </p:txBody>
      </p:sp>
      <p:sp>
        <p:nvSpPr>
          <p:cNvPr id="10" name="Text 6"/>
          <p:cNvSpPr txBox="1"/>
          <p:nvPr/>
        </p:nvSpPr>
        <p:spPr>
          <a:xfrm>
            <a:off x="3611880" y="1298448"/>
            <a:ext cx="2194560" cy="822960"/>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No offer yet. Be human, probe gently.</a:t>
            </a:r>
            <a:endParaRPr lang="en-US" sz="950" dirty="0"/>
          </a:p>
        </p:txBody>
      </p:sp>
      <p:sp>
        <p:nvSpPr>
          <p:cNvPr id="11" name="Shape 7"/>
          <p:cNvSpPr/>
          <p:nvPr/>
        </p:nvSpPr>
        <p:spPr>
          <a:xfrm>
            <a:off x="5897880" y="1389888"/>
            <a:ext cx="2743200" cy="640080"/>
          </a:xfrm>
          <a:prstGeom prst="roundRect">
            <a:avLst>
              <a:gd name="adj" fmla="val 11429"/>
            </a:avLst>
          </a:prstGeom>
          <a:solidFill>
            <a:srgbClr val="E3F4F1"/>
          </a:solidFill>
          <a:ln w="9525">
            <a:solidFill>
              <a:srgbClr val="E3F4F1"/>
            </a:solidFill>
            <a:prstDash val="solid"/>
          </a:ln>
        </p:spPr>
      </p:sp>
      <p:sp>
        <p:nvSpPr>
          <p:cNvPr id="12" name="Text 8"/>
          <p:cNvSpPr txBox="1"/>
          <p:nvPr/>
        </p:nvSpPr>
        <p:spPr>
          <a:xfrm>
            <a:off x="5989320" y="1389888"/>
            <a:ext cx="2606040" cy="640080"/>
          </a:xfrm>
          <a:prstGeom prst="rect">
            <a:avLst/>
          </a:prstGeom>
          <a:noFill/>
          <a:ln/>
        </p:spPr>
        <p:txBody>
          <a:bodyPr wrap="square" lIns="0" tIns="0" rIns="0" bIns="0" rtlCol="0" anchor="ctr"/>
          <a:lstStyle/>
          <a:p>
            <a:pPr indent="0" marL="0">
              <a:buNone/>
            </a:pPr>
            <a:r>
              <a:rPr lang="en-US" sz="850" i="1" dirty="0">
                <a:solidFill>
                  <a:srgbClr val="1D1D1F"/>
                </a:solidFill>
                <a:latin typeface="SF Pro Text" pitchFamily="34" charset="0"/>
                <a:ea typeface="SF Pro Text" pitchFamily="34" charset="-122"/>
                <a:cs typeface="SF Pro Text" pitchFamily="34" charset="-120"/>
              </a:rPr>
              <a:t>“I'm so sorry to hear that, I'm here to help! What happened?”</a:t>
            </a:r>
            <a:endParaRPr lang="en-US" sz="850" dirty="0"/>
          </a:p>
        </p:txBody>
      </p:sp>
      <p:sp>
        <p:nvSpPr>
          <p:cNvPr id="13" name="Shape 9"/>
          <p:cNvSpPr/>
          <p:nvPr/>
        </p:nvSpPr>
        <p:spPr>
          <a:xfrm>
            <a:off x="411480" y="2212848"/>
            <a:ext cx="8321040" cy="822960"/>
          </a:xfrm>
          <a:prstGeom prst="roundRect">
            <a:avLst>
              <a:gd name="adj" fmla="val 8889"/>
            </a:avLst>
          </a:prstGeom>
          <a:solidFill>
            <a:srgbClr val="FFFFFF"/>
          </a:solidFill>
          <a:ln w="9525">
            <a:solidFill>
              <a:srgbClr val="DCE1E7"/>
            </a:solidFill>
            <a:prstDash val="solid"/>
          </a:ln>
        </p:spPr>
      </p:sp>
      <p:sp>
        <p:nvSpPr>
          <p:cNvPr id="14" name="Shape 10"/>
          <p:cNvSpPr/>
          <p:nvPr/>
        </p:nvSpPr>
        <p:spPr>
          <a:xfrm>
            <a:off x="548640" y="2432304"/>
            <a:ext cx="384048" cy="384048"/>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640812" y="2524476"/>
            <a:ext cx="199705" cy="199705"/>
          </a:xfrm>
          <a:prstGeom prst="rect">
            <a:avLst/>
          </a:prstGeom>
        </p:spPr>
      </p:pic>
      <p:sp>
        <p:nvSpPr>
          <p:cNvPr id="16" name="Text 11"/>
          <p:cNvSpPr txBox="1"/>
          <p:nvPr/>
        </p:nvSpPr>
        <p:spPr>
          <a:xfrm>
            <a:off x="1051560" y="2212848"/>
            <a:ext cx="2514600" cy="82296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Repeated failures</a:t>
            </a:r>
            <a:endParaRPr lang="en-US" sz="1100" dirty="0"/>
          </a:p>
          <a:p>
            <a:pPr indent="0" marL="0">
              <a:buNone/>
            </a:pPr>
            <a:r>
              <a:rPr lang="en-US" sz="900" i="1" dirty="0">
                <a:solidFill>
                  <a:srgbClr val="6E6E73"/>
                </a:solidFill>
                <a:latin typeface="SF Pro Text" pitchFamily="34" charset="0"/>
                <a:ea typeface="SF Pro Text" pitchFamily="34" charset="-122"/>
                <a:cs typeface="SF Pro Text" pitchFamily="34" charset="-120"/>
              </a:rPr>
              <a:t>"I keep being disappointed"</a:t>
            </a:r>
            <a:endParaRPr lang="en-US" sz="1100" dirty="0"/>
          </a:p>
        </p:txBody>
      </p:sp>
      <p:sp>
        <p:nvSpPr>
          <p:cNvPr id="17" name="Text 12"/>
          <p:cNvSpPr txBox="1"/>
          <p:nvPr/>
        </p:nvSpPr>
        <p:spPr>
          <a:xfrm>
            <a:off x="3611880" y="2212848"/>
            <a:ext cx="2194560" cy="822960"/>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Waive fees first, then gently offer one more try.</a:t>
            </a:r>
            <a:endParaRPr lang="en-US" sz="950" dirty="0"/>
          </a:p>
        </p:txBody>
      </p:sp>
      <p:sp>
        <p:nvSpPr>
          <p:cNvPr id="18" name="Shape 13"/>
          <p:cNvSpPr/>
          <p:nvPr/>
        </p:nvSpPr>
        <p:spPr>
          <a:xfrm>
            <a:off x="5897880" y="2304288"/>
            <a:ext cx="2743200" cy="640080"/>
          </a:xfrm>
          <a:prstGeom prst="roundRect">
            <a:avLst>
              <a:gd name="adj" fmla="val 11429"/>
            </a:avLst>
          </a:prstGeom>
          <a:solidFill>
            <a:srgbClr val="E3F4F1"/>
          </a:solidFill>
          <a:ln w="9525">
            <a:solidFill>
              <a:srgbClr val="E3F4F1"/>
            </a:solidFill>
            <a:prstDash val="solid"/>
          </a:ln>
        </p:spPr>
      </p:sp>
      <p:sp>
        <p:nvSpPr>
          <p:cNvPr id="19" name="Text 14"/>
          <p:cNvSpPr txBox="1"/>
          <p:nvPr/>
        </p:nvSpPr>
        <p:spPr>
          <a:xfrm>
            <a:off x="5989320" y="2304288"/>
            <a:ext cx="2606040" cy="640080"/>
          </a:xfrm>
          <a:prstGeom prst="rect">
            <a:avLst/>
          </a:prstGeom>
          <a:noFill/>
          <a:ln/>
        </p:spPr>
        <p:txBody>
          <a:bodyPr wrap="square" lIns="0" tIns="0" rIns="0" bIns="0" rtlCol="0" anchor="ctr"/>
          <a:lstStyle/>
          <a:p>
            <a:pPr indent="0" marL="0">
              <a:buNone/>
            </a:pPr>
            <a:r>
              <a:rPr lang="en-US" sz="850" i="1" dirty="0">
                <a:solidFill>
                  <a:srgbClr val="1D1D1F"/>
                </a:solidFill>
                <a:latin typeface="SF Pro Text" pitchFamily="34" charset="0"/>
                <a:ea typeface="SF Pro Text" pitchFamily="34" charset="-122"/>
                <a:cs typeface="SF Pro Text" pitchFamily="34" charset="-120"/>
              </a:rPr>
              <a:t>“Given your experience we'll waive all fees… I'd love to set you up with someone great.”</a:t>
            </a:r>
            <a:endParaRPr lang="en-US" sz="850" dirty="0"/>
          </a:p>
        </p:txBody>
      </p:sp>
      <p:sp>
        <p:nvSpPr>
          <p:cNvPr id="20" name="Shape 15"/>
          <p:cNvSpPr/>
          <p:nvPr/>
        </p:nvSpPr>
        <p:spPr>
          <a:xfrm>
            <a:off x="411480" y="3127248"/>
            <a:ext cx="8321040" cy="822960"/>
          </a:xfrm>
          <a:prstGeom prst="roundRect">
            <a:avLst>
              <a:gd name="adj" fmla="val 8889"/>
            </a:avLst>
          </a:prstGeom>
          <a:solidFill>
            <a:srgbClr val="FFFFFF"/>
          </a:solidFill>
          <a:ln w="9525">
            <a:solidFill>
              <a:srgbClr val="DCE1E7"/>
            </a:solidFill>
            <a:prstDash val="solid"/>
          </a:ln>
        </p:spPr>
      </p:sp>
      <p:sp>
        <p:nvSpPr>
          <p:cNvPr id="21" name="Shape 16"/>
          <p:cNvSpPr/>
          <p:nvPr/>
        </p:nvSpPr>
        <p:spPr>
          <a:xfrm>
            <a:off x="548640" y="3346704"/>
            <a:ext cx="384048" cy="38404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640812" y="3438876"/>
            <a:ext cx="199705" cy="199705"/>
          </a:xfrm>
          <a:prstGeom prst="rect">
            <a:avLst/>
          </a:prstGeom>
        </p:spPr>
      </p:pic>
      <p:sp>
        <p:nvSpPr>
          <p:cNvPr id="23" name="Text 17"/>
          <p:cNvSpPr txBox="1"/>
          <p:nvPr/>
        </p:nvSpPr>
        <p:spPr>
          <a:xfrm>
            <a:off x="1051560" y="3127248"/>
            <a:ext cx="2514600" cy="82296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Feels deceived or trapped</a:t>
            </a:r>
            <a:endParaRPr lang="en-US" sz="1100" dirty="0"/>
          </a:p>
          <a:p>
            <a:pPr indent="0" marL="0">
              <a:buNone/>
            </a:pPr>
            <a:r>
              <a:rPr lang="en-US" sz="900" i="1" dirty="0">
                <a:solidFill>
                  <a:srgbClr val="6E6E73"/>
                </a:solidFill>
                <a:latin typeface="SF Pro Text" pitchFamily="34" charset="0"/>
                <a:ea typeface="SF Pro Text" pitchFamily="34" charset="-122"/>
                <a:cs typeface="SF Pro Text" pitchFamily="34" charset="-120"/>
              </a:rPr>
              <a:t>"You never told me about the membership"</a:t>
            </a:r>
            <a:endParaRPr lang="en-US" sz="1100" dirty="0"/>
          </a:p>
        </p:txBody>
      </p:sp>
      <p:sp>
        <p:nvSpPr>
          <p:cNvPr id="24" name="Text 18"/>
          <p:cNvSpPr txBox="1"/>
          <p:nvPr/>
        </p:nvSpPr>
        <p:spPr>
          <a:xfrm>
            <a:off x="3611880" y="3127248"/>
            <a:ext cx="2194560" cy="822960"/>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Explain FC factually, then probe the cleaning.</a:t>
            </a:r>
            <a:endParaRPr lang="en-US" sz="950" dirty="0"/>
          </a:p>
        </p:txBody>
      </p:sp>
      <p:sp>
        <p:nvSpPr>
          <p:cNvPr id="25" name="Shape 19"/>
          <p:cNvSpPr/>
          <p:nvPr/>
        </p:nvSpPr>
        <p:spPr>
          <a:xfrm>
            <a:off x="5897880" y="3218688"/>
            <a:ext cx="2743200" cy="640080"/>
          </a:xfrm>
          <a:prstGeom prst="roundRect">
            <a:avLst>
              <a:gd name="adj" fmla="val 11429"/>
            </a:avLst>
          </a:prstGeom>
          <a:solidFill>
            <a:srgbClr val="E3F4F1"/>
          </a:solidFill>
          <a:ln w="9525">
            <a:solidFill>
              <a:srgbClr val="E3F4F1"/>
            </a:solidFill>
            <a:prstDash val="solid"/>
          </a:ln>
        </p:spPr>
      </p:sp>
      <p:sp>
        <p:nvSpPr>
          <p:cNvPr id="26" name="Text 20"/>
          <p:cNvSpPr txBox="1"/>
          <p:nvPr/>
        </p:nvSpPr>
        <p:spPr>
          <a:xfrm>
            <a:off x="5989320" y="3218688"/>
            <a:ext cx="2606040" cy="640080"/>
          </a:xfrm>
          <a:prstGeom prst="rect">
            <a:avLst/>
          </a:prstGeom>
          <a:noFill/>
          <a:ln/>
        </p:spPr>
        <p:txBody>
          <a:bodyPr wrap="square" lIns="0" tIns="0" rIns="0" bIns="0" rtlCol="0" anchor="ctr"/>
          <a:lstStyle/>
          <a:p>
            <a:pPr indent="0" marL="0">
              <a:buNone/>
            </a:pPr>
            <a:r>
              <a:rPr lang="en-US" sz="850" dirty="0">
                <a:solidFill>
                  <a:srgbClr val="1D1D1F"/>
                </a:solidFill>
                <a:latin typeface="SF Pro Text" pitchFamily="34" charset="0"/>
                <a:ea typeface="SF Pro Text" pitchFamily="34" charset="-122"/>
                <a:cs typeface="SF Pro Text" pitchFamily="34" charset="-120"/>
              </a:rPr>
              <a:t>Clarity and empathy before any solution.</a:t>
            </a:r>
            <a:endParaRPr lang="en-US" sz="850" dirty="0"/>
          </a:p>
        </p:txBody>
      </p:sp>
      <p:sp>
        <p:nvSpPr>
          <p:cNvPr id="27" name="Shape 21"/>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8" name="Image 3" descr="preencoded.png">    </p:cNvPr>
          <p:cNvPicPr>
            <a:picLocks noChangeAspect="1"/>
          </p:cNvPicPr>
          <p:nvPr/>
        </p:nvPicPr>
        <p:blipFill>
          <a:blip r:embed="rId4"/>
          <a:stretch>
            <a:fillRect/>
          </a:stretch>
        </p:blipFill>
        <p:spPr>
          <a:xfrm>
            <a:off x="566928" y="4178808"/>
            <a:ext cx="164592" cy="164592"/>
          </a:xfrm>
          <a:prstGeom prst="rect">
            <a:avLst/>
          </a:prstGeom>
        </p:spPr>
      </p:pic>
      <p:sp>
        <p:nvSpPr>
          <p:cNvPr id="29" name="Text 22"/>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Trust broken?  </a:t>
            </a:r>
            <a:r>
              <a:rPr lang="en-US" sz="1000" dirty="0">
                <a:solidFill>
                  <a:srgbClr val="1D1D1F"/>
                </a:solidFill>
                <a:latin typeface="SF Pro Text" pitchFamily="34" charset="0"/>
                <a:ea typeface="SF Pro Text" pitchFamily="34" charset="-122"/>
                <a:cs typeface="SF Pro Text" pitchFamily="34" charset="-120"/>
              </a:rPr>
              <a:t>pushing retention too soon raises dispute risk.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Newspaper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this interaction were published, would we stand by it?</a:t>
            </a:r>
            <a:endParaRPr lang="en-US" sz="1200" dirty="0"/>
          </a:p>
        </p:txBody>
      </p:sp>
      <p:sp>
        <p:nvSpPr>
          <p:cNvPr id="6" name="Shape 3"/>
          <p:cNvSpPr/>
          <p:nvPr/>
        </p:nvSpPr>
        <p:spPr>
          <a:xfrm>
            <a:off x="411480" y="1325880"/>
            <a:ext cx="3108960" cy="2423160"/>
          </a:xfrm>
          <a:prstGeom prst="roundRect">
            <a:avLst>
              <a:gd name="adj" fmla="val 3019"/>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600200"/>
            <a:ext cx="457200" cy="457200"/>
          </a:xfrm>
          <a:prstGeom prst="rect">
            <a:avLst/>
          </a:prstGeom>
        </p:spPr>
      </p:pic>
      <p:sp>
        <p:nvSpPr>
          <p:cNvPr id="8" name="Text 4"/>
          <p:cNvSpPr txBox="1"/>
          <p:nvPr/>
        </p:nvSpPr>
        <p:spPr>
          <a:xfrm>
            <a:off x="685800" y="2194560"/>
            <a:ext cx="2606040" cy="1417320"/>
          </a:xfrm>
          <a:prstGeom prst="rect">
            <a:avLst/>
          </a:prstGeom>
          <a:noFill/>
          <a:ln/>
        </p:spPr>
        <p:txBody>
          <a:bodyPr wrap="square" lIns="0" tIns="0" rIns="0" bIns="0" rtlCol="0" anchor="t"/>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If enforcing a rule would feel gross, deceptive or shameful to explain publicly, don't enforce it.</a:t>
            </a:r>
            <a:endParaRPr lang="en-US" sz="1300" dirty="0"/>
          </a:p>
        </p:txBody>
      </p:sp>
      <p:sp>
        <p:nvSpPr>
          <p:cNvPr id="9" name="Text 5"/>
          <p:cNvSpPr txBox="1"/>
          <p:nvPr/>
        </p:nvSpPr>
        <p:spPr>
          <a:xfrm>
            <a:off x="3703320" y="1325880"/>
            <a:ext cx="5029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EXAMPLE: FIXED INCOME, HAPPY WITH THE CLEANING, CAN'T AFFORD IT</a:t>
            </a:r>
            <a:endParaRPr lang="en-US" sz="800" dirty="0"/>
          </a:p>
        </p:txBody>
      </p:sp>
      <p:sp>
        <p:nvSpPr>
          <p:cNvPr id="10" name="Shape 6"/>
          <p:cNvSpPr/>
          <p:nvPr/>
        </p:nvSpPr>
        <p:spPr>
          <a:xfrm>
            <a:off x="3703320" y="1600200"/>
            <a:ext cx="2423160" cy="2148840"/>
          </a:xfrm>
          <a:prstGeom prst="roundRect">
            <a:avLst>
              <a:gd name="adj" fmla="val 3404"/>
            </a:avLst>
          </a:prstGeom>
          <a:solidFill>
            <a:srgbClr val="FCEBEA"/>
          </a:solidFill>
          <a:ln w="9525">
            <a:solidFill>
              <a:srgbClr val="B3261E"/>
            </a:solidFill>
            <a:prstDash val="solid"/>
          </a:ln>
        </p:spPr>
      </p:sp>
      <p:sp>
        <p:nvSpPr>
          <p:cNvPr id="11" name="Text 7"/>
          <p:cNvSpPr/>
          <p:nvPr/>
        </p:nvSpPr>
        <p:spPr>
          <a:xfrm>
            <a:off x="3703320" y="1600200"/>
            <a:ext cx="242316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Strict enforcement</a:t>
            </a:r>
            <a:endParaRPr lang="en-US" sz="1050" dirty="0"/>
          </a:p>
        </p:txBody>
      </p:sp>
      <p:sp>
        <p:nvSpPr>
          <p:cNvPr id="12" name="Text 8"/>
          <p:cNvSpPr txBox="1"/>
          <p:nvPr/>
        </p:nvSpPr>
        <p:spPr>
          <a:xfrm>
            <a:off x="3867912" y="2039112"/>
            <a:ext cx="2093976" cy="163677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"Didn't read the terms: enforce the ETF"</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Looks like taking advantage of someone struggling</a:t>
            </a:r>
            <a:endParaRPr lang="en-US" sz="950" dirty="0"/>
          </a:p>
        </p:txBody>
      </p:sp>
      <p:sp>
        <p:nvSpPr>
          <p:cNvPr id="13" name="Shape 9"/>
          <p:cNvSpPr/>
          <p:nvPr/>
        </p:nvSpPr>
        <p:spPr>
          <a:xfrm>
            <a:off x="6309360" y="1600200"/>
            <a:ext cx="2423160" cy="2148840"/>
          </a:xfrm>
          <a:prstGeom prst="roundRect">
            <a:avLst>
              <a:gd name="adj" fmla="val 3404"/>
            </a:avLst>
          </a:prstGeom>
          <a:solidFill>
            <a:srgbClr val="E3F4F1"/>
          </a:solidFill>
          <a:ln w="9525">
            <a:solidFill>
              <a:srgbClr val="0B7A6F"/>
            </a:solidFill>
            <a:prstDash val="solid"/>
          </a:ln>
        </p:spPr>
      </p:sp>
      <p:sp>
        <p:nvSpPr>
          <p:cNvPr id="14" name="Text 10"/>
          <p:cNvSpPr/>
          <p:nvPr/>
        </p:nvSpPr>
        <p:spPr>
          <a:xfrm>
            <a:off x="6309360" y="1600200"/>
            <a:ext cx="242316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Retention-aware</a:t>
            </a:r>
            <a:endParaRPr lang="en-US" sz="1050" dirty="0"/>
          </a:p>
        </p:txBody>
      </p:sp>
      <p:sp>
        <p:nvSpPr>
          <p:cNvPr id="15" name="Text 11"/>
          <p:cNvSpPr txBox="1"/>
          <p:nvPr/>
        </p:nvSpPr>
        <p:spPr>
          <a:xfrm>
            <a:off x="6473952" y="2039112"/>
            <a:ext cx="2093976" cy="163677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Recognize the limitation</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Apply compassion</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Consider an ETF waiver</a:t>
            </a:r>
            <a:endParaRPr lang="en-US" sz="950" dirty="0"/>
          </a:p>
        </p:txBody>
      </p:sp>
      <p:sp>
        <p:nvSpPr>
          <p:cNvPr id="16" name="Shape 12"/>
          <p:cNvSpPr/>
          <p:nvPr/>
        </p:nvSpPr>
        <p:spPr>
          <a:xfrm>
            <a:off x="411480" y="393192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41648"/>
            <a:ext cx="164592" cy="164592"/>
          </a:xfrm>
          <a:prstGeom prst="rect">
            <a:avLst/>
          </a:prstGeom>
        </p:spPr>
      </p:pic>
      <p:sp>
        <p:nvSpPr>
          <p:cNvPr id="18" name="Text 13"/>
          <p:cNvSpPr txBox="1"/>
          <p:nvPr/>
        </p:nvSpPr>
        <p:spPr>
          <a:xfrm>
            <a:off x="822960" y="40325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That's why  </a:t>
            </a:r>
            <a:r>
              <a:rPr lang="en-US" sz="1000" dirty="0">
                <a:solidFill>
                  <a:srgbClr val="1D1D1F"/>
                </a:solidFill>
                <a:latin typeface="SF Pro Text" pitchFamily="34" charset="0"/>
                <a:ea typeface="SF Pro Text" pitchFamily="34" charset="-122"/>
                <a:cs typeface="SF Pro Text" pitchFamily="34" charset="-120"/>
              </a:rPr>
              <a:t>ETF waivers exist for compassion and extreme hardship cases.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Probe, even when you know why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Let the customer say it to you directly.</a:t>
            </a:r>
            <a:endParaRPr lang="en-US" sz="1200" dirty="0"/>
          </a:p>
        </p:txBody>
      </p:sp>
      <p:sp>
        <p:nvSpPr>
          <p:cNvPr id="6" name="Shape 3"/>
          <p:cNvSpPr/>
          <p:nvPr/>
        </p:nvSpPr>
        <p:spPr>
          <a:xfrm>
            <a:off x="411480" y="1325880"/>
            <a:ext cx="4069080" cy="1143000"/>
          </a:xfrm>
          <a:prstGeom prst="roundRect">
            <a:avLst>
              <a:gd name="adj" fmla="val 6400"/>
            </a:avLst>
          </a:prstGeom>
          <a:solidFill>
            <a:srgbClr val="E3F4F1"/>
          </a:solidFill>
          <a:ln w="9525">
            <a:solidFill>
              <a:srgbClr val="E3F4F1"/>
            </a:solidFill>
            <a:prstDash val="solid"/>
          </a:ln>
        </p:spPr>
      </p:sp>
      <p:sp>
        <p:nvSpPr>
          <p:cNvPr id="7" name="Shape 4"/>
          <p:cNvSpPr/>
          <p:nvPr/>
        </p:nvSpPr>
        <p:spPr>
          <a:xfrm>
            <a:off x="411480" y="1399032"/>
            <a:ext cx="45720" cy="996696"/>
          </a:xfrm>
          <a:prstGeom prst="rect">
            <a:avLst/>
          </a:prstGeom>
          <a:solidFill>
            <a:srgbClr val="0B7A6F"/>
          </a:solidFill>
          <a:ln w="12700">
            <a:solidFill>
              <a:srgbClr val="0B7A6F"/>
            </a:solidFill>
            <a:prstDash val="solid"/>
          </a:ln>
        </p:spPr>
      </p:sp>
      <p:sp>
        <p:nvSpPr>
          <p:cNvPr id="8" name="Text 5"/>
          <p:cNvSpPr txBox="1"/>
          <p:nvPr/>
        </p:nvSpPr>
        <p:spPr>
          <a:xfrm>
            <a:off x="594360" y="1325880"/>
            <a:ext cx="3749040" cy="114300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WEAK: ASSUMPTION-BASED</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“I'm sorry to hear you want to cancel, do you mind sharing why?”</a:t>
            </a:r>
            <a:endParaRPr lang="en-US" sz="1000" dirty="0"/>
          </a:p>
        </p:txBody>
      </p:sp>
      <p:sp>
        <p:nvSpPr>
          <p:cNvPr id="9" name="Shape 6"/>
          <p:cNvSpPr/>
          <p:nvPr/>
        </p:nvSpPr>
        <p:spPr>
          <a:xfrm>
            <a:off x="4663440" y="1325880"/>
            <a:ext cx="4069080" cy="1143000"/>
          </a:xfrm>
          <a:prstGeom prst="roundRect">
            <a:avLst>
              <a:gd name="adj" fmla="val 6400"/>
            </a:avLst>
          </a:prstGeom>
          <a:solidFill>
            <a:srgbClr val="E3F4F1"/>
          </a:solidFill>
          <a:ln w="9525">
            <a:solidFill>
              <a:srgbClr val="E3F4F1"/>
            </a:solidFill>
            <a:prstDash val="solid"/>
          </a:ln>
        </p:spPr>
      </p:sp>
      <p:sp>
        <p:nvSpPr>
          <p:cNvPr id="10" name="Shape 7"/>
          <p:cNvSpPr/>
          <p:nvPr/>
        </p:nvSpPr>
        <p:spPr>
          <a:xfrm>
            <a:off x="4663440" y="1399032"/>
            <a:ext cx="45720" cy="996696"/>
          </a:xfrm>
          <a:prstGeom prst="rect">
            <a:avLst/>
          </a:prstGeom>
          <a:solidFill>
            <a:srgbClr val="0B7A6F"/>
          </a:solidFill>
          <a:ln w="12700">
            <a:solidFill>
              <a:srgbClr val="0B7A6F"/>
            </a:solidFill>
            <a:prstDash val="solid"/>
          </a:ln>
        </p:spPr>
      </p:sp>
      <p:sp>
        <p:nvSpPr>
          <p:cNvPr id="11" name="Text 8"/>
          <p:cNvSpPr txBox="1"/>
          <p:nvPr/>
        </p:nvSpPr>
        <p:spPr>
          <a:xfrm>
            <a:off x="4846320" y="1325880"/>
            <a:ext cx="3749040" cy="114300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STRONG: CUSTOMER-LED</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“Your cleaner mentioned you want to cancel the service, but I'd like to hear directly from you. Would you mind sharing what led you to consider canceling?”</a:t>
            </a:r>
            <a:endParaRPr lang="en-US" sz="1000" dirty="0"/>
          </a:p>
        </p:txBody>
      </p:sp>
      <p:sp>
        <p:nvSpPr>
          <p:cNvPr id="12" name="Text 9"/>
          <p:cNvSpPr/>
          <p:nvPr/>
        </p:nvSpPr>
        <p:spPr>
          <a:xfrm>
            <a:off x="411480" y="2606040"/>
            <a:ext cx="914400" cy="274320"/>
          </a:xfrm>
          <a:prstGeom prst="roundRect">
            <a:avLst>
              <a:gd name="adj" fmla="val 26667"/>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Weak</a:t>
            </a:r>
            <a:endParaRPr lang="en-US" sz="900" dirty="0"/>
          </a:p>
        </p:txBody>
      </p:sp>
      <p:sp>
        <p:nvSpPr>
          <p:cNvPr id="13" name="Text 10"/>
          <p:cNvSpPr/>
          <p:nvPr/>
        </p:nvSpPr>
        <p:spPr>
          <a:xfrm>
            <a:off x="4663440" y="2606040"/>
            <a:ext cx="914400" cy="274320"/>
          </a:xfrm>
          <a:prstGeom prst="roundRect">
            <a:avLst>
              <a:gd name="adj" fmla="val 26667"/>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Text" pitchFamily="34" charset="0"/>
                <a:ea typeface="SF Pro Text" pitchFamily="34" charset="-122"/>
                <a:cs typeface="SF Pro Text" pitchFamily="34" charset="-120"/>
              </a:rPr>
              <a:t>✓  Strong</a:t>
            </a:r>
            <a:endParaRPr lang="en-US" sz="900" dirty="0"/>
          </a:p>
        </p:txBody>
      </p:sp>
      <p:sp>
        <p:nvSpPr>
          <p:cNvPr id="14" name="Shape 11"/>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6" name="Text 12"/>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r>
              <a:rPr lang="en-US" sz="1000" dirty="0">
                <a:solidFill>
                  <a:srgbClr val="1D1D1F"/>
                </a:solidFill>
                <a:latin typeface="SF Pro Text" pitchFamily="34" charset="0"/>
                <a:ea typeface="SF Pro Text" pitchFamily="34" charset="-122"/>
                <a:cs typeface="SF Pro Text" pitchFamily="34" charset="-120"/>
              </a:rPr>
              <a:t>customers who explain their own situation are more likely to stay.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Don't close too soon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Graceful Closure can't be reopened. Make sure you've explored everything.</a:t>
            </a:r>
            <a:endParaRPr lang="en-US" sz="1200" dirty="0"/>
          </a:p>
        </p:txBody>
      </p:sp>
      <p:sp>
        <p:nvSpPr>
          <p:cNvPr id="6" name="Text 3"/>
          <p:cNvSpPr txBox="1"/>
          <p:nvPr/>
        </p:nvSpPr>
        <p:spPr>
          <a:xfrm>
            <a:off x="411480" y="1298448"/>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BEFORE GRACEFUL CLOSURE, ASK</a:t>
            </a:r>
            <a:endParaRPr lang="en-US" sz="800" dirty="0"/>
          </a:p>
        </p:txBody>
      </p:sp>
      <p:sp>
        <p:nvSpPr>
          <p:cNvPr id="7" name="Shape 4"/>
          <p:cNvSpPr/>
          <p:nvPr/>
        </p:nvSpPr>
        <p:spPr>
          <a:xfrm>
            <a:off x="411480" y="1508760"/>
            <a:ext cx="3017520" cy="457200"/>
          </a:xfrm>
          <a:prstGeom prst="roundRect">
            <a:avLst>
              <a:gd name="adj" fmla="val 16000"/>
            </a:avLst>
          </a:prstGeom>
          <a:solidFill>
            <a:srgbClr val="E3F4F1"/>
          </a:solidFill>
          <a:ln w="9525">
            <a:solidFill>
              <a:srgbClr val="E3F4F1"/>
            </a:solidFill>
            <a:prstDash val="solid"/>
          </a:ln>
        </p:spPr>
      </p:sp>
      <p:sp>
        <p:nvSpPr>
          <p:cNvPr id="8" name="Shape 5"/>
          <p:cNvSpPr/>
          <p:nvPr/>
        </p:nvSpPr>
        <p:spPr>
          <a:xfrm>
            <a:off x="530352" y="1600200"/>
            <a:ext cx="274320" cy="274320"/>
          </a:xfrm>
          <a:prstGeom prst="ellipse">
            <a:avLst/>
          </a:prstGeom>
          <a:solidFill>
            <a:srgbClr val="E3F4F1"/>
          </a:solidFill>
          <a:ln w="12700">
            <a:solidFill>
              <a:srgbClr val="E3F4F1"/>
            </a:solidFill>
            <a:prstDash val="solid"/>
          </a:ln>
        </p:spPr>
      </p:sp>
      <p:sp>
        <p:nvSpPr>
          <p:cNvPr id="9" name="Text 6"/>
          <p:cNvSpPr txBox="1"/>
          <p:nvPr/>
        </p:nvSpPr>
        <p:spPr>
          <a:xfrm>
            <a:off x="530352" y="16002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Text 7"/>
          <p:cNvSpPr txBox="1"/>
          <p:nvPr/>
        </p:nvSpPr>
        <p:spPr>
          <a:xfrm>
            <a:off x="914400" y="1508760"/>
            <a:ext cx="24688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Explored all options?</a:t>
            </a:r>
            <a:endParaRPr lang="en-US" sz="1050" dirty="0"/>
          </a:p>
        </p:txBody>
      </p:sp>
      <p:sp>
        <p:nvSpPr>
          <p:cNvPr id="11" name="Shape 8"/>
          <p:cNvSpPr/>
          <p:nvPr/>
        </p:nvSpPr>
        <p:spPr>
          <a:xfrm>
            <a:off x="3520440" y="1508760"/>
            <a:ext cx="5212080" cy="457200"/>
          </a:xfrm>
          <a:prstGeom prst="roundRect">
            <a:avLst>
              <a:gd name="adj" fmla="val 16000"/>
            </a:avLst>
          </a:prstGeom>
          <a:solidFill>
            <a:srgbClr val="FFFFFF"/>
          </a:solidFill>
          <a:ln w="9525">
            <a:solidFill>
              <a:srgbClr val="DCE1E7"/>
            </a:solidFill>
            <a:prstDash val="solid"/>
          </a:ln>
        </p:spPr>
      </p:sp>
      <p:sp>
        <p:nvSpPr>
          <p:cNvPr id="12" name="Text 9"/>
          <p:cNvSpPr txBox="1"/>
          <p:nvPr/>
        </p:nvSpPr>
        <p:spPr>
          <a:xfrm>
            <a:off x="3657600" y="1508760"/>
            <a:ext cx="4983480" cy="457200"/>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 just the one they declined.</a:t>
            </a:r>
            <a:endParaRPr lang="en-US" sz="900" dirty="0"/>
          </a:p>
        </p:txBody>
      </p:sp>
      <p:sp>
        <p:nvSpPr>
          <p:cNvPr id="13" name="Shape 10"/>
          <p:cNvSpPr/>
          <p:nvPr/>
        </p:nvSpPr>
        <p:spPr>
          <a:xfrm>
            <a:off x="411480" y="2039112"/>
            <a:ext cx="3017520" cy="457200"/>
          </a:xfrm>
          <a:prstGeom prst="roundRect">
            <a:avLst>
              <a:gd name="adj" fmla="val 16000"/>
            </a:avLst>
          </a:prstGeom>
          <a:solidFill>
            <a:srgbClr val="E3F4F1"/>
          </a:solidFill>
          <a:ln w="9525">
            <a:solidFill>
              <a:srgbClr val="E3F4F1"/>
            </a:solidFill>
            <a:prstDash val="solid"/>
          </a:ln>
        </p:spPr>
      </p:sp>
      <p:sp>
        <p:nvSpPr>
          <p:cNvPr id="14" name="Shape 11"/>
          <p:cNvSpPr/>
          <p:nvPr/>
        </p:nvSpPr>
        <p:spPr>
          <a:xfrm>
            <a:off x="530352" y="2130552"/>
            <a:ext cx="274320" cy="274320"/>
          </a:xfrm>
          <a:prstGeom prst="ellipse">
            <a:avLst/>
          </a:prstGeom>
          <a:solidFill>
            <a:srgbClr val="E3F4F1"/>
          </a:solidFill>
          <a:ln w="12700">
            <a:solidFill>
              <a:srgbClr val="E3F4F1"/>
            </a:solidFill>
            <a:prstDash val="solid"/>
          </a:ln>
        </p:spPr>
      </p:sp>
      <p:sp>
        <p:nvSpPr>
          <p:cNvPr id="15" name="Text 12"/>
          <p:cNvSpPr txBox="1"/>
          <p:nvPr/>
        </p:nvSpPr>
        <p:spPr>
          <a:xfrm>
            <a:off x="530352" y="213055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Text 13"/>
          <p:cNvSpPr txBox="1"/>
          <p:nvPr/>
        </p:nvSpPr>
        <p:spPr>
          <a:xfrm>
            <a:off x="914400" y="2039112"/>
            <a:ext cx="24688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Know the full picture?</a:t>
            </a:r>
            <a:endParaRPr lang="en-US" sz="1050" dirty="0"/>
          </a:p>
        </p:txBody>
      </p:sp>
      <p:sp>
        <p:nvSpPr>
          <p:cNvPr id="17" name="Shape 14"/>
          <p:cNvSpPr/>
          <p:nvPr/>
        </p:nvSpPr>
        <p:spPr>
          <a:xfrm>
            <a:off x="3520440" y="2039112"/>
            <a:ext cx="5212080" cy="457200"/>
          </a:xfrm>
          <a:prstGeom prst="roundRect">
            <a:avLst>
              <a:gd name="adj" fmla="val 16000"/>
            </a:avLst>
          </a:prstGeom>
          <a:solidFill>
            <a:srgbClr val="FFFFFF"/>
          </a:solidFill>
          <a:ln w="9525">
            <a:solidFill>
              <a:srgbClr val="DCE1E7"/>
            </a:solidFill>
            <a:prstDash val="solid"/>
          </a:ln>
        </p:spPr>
      </p:sp>
      <p:sp>
        <p:nvSpPr>
          <p:cNvPr id="18" name="Text 15"/>
          <p:cNvSpPr txBox="1"/>
          <p:nvPr/>
        </p:nvSpPr>
        <p:spPr>
          <a:xfrm>
            <a:off x="3657600" y="2039112"/>
            <a:ext cx="4983480" cy="457200"/>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reply to a probe ≠ no options left.</a:t>
            </a:r>
            <a:endParaRPr lang="en-US" sz="900" dirty="0"/>
          </a:p>
        </p:txBody>
      </p:sp>
      <p:sp>
        <p:nvSpPr>
          <p:cNvPr id="19" name="Shape 16"/>
          <p:cNvSpPr/>
          <p:nvPr/>
        </p:nvSpPr>
        <p:spPr>
          <a:xfrm>
            <a:off x="411480" y="2606040"/>
            <a:ext cx="8321040" cy="685800"/>
          </a:xfrm>
          <a:prstGeom prst="roundRect">
            <a:avLst>
              <a:gd name="adj" fmla="val 10667"/>
            </a:avLst>
          </a:prstGeom>
          <a:solidFill>
            <a:srgbClr val="E3F4F1"/>
          </a:solidFill>
          <a:ln w="9525">
            <a:solidFill>
              <a:srgbClr val="E3F4F1"/>
            </a:solidFill>
            <a:prstDash val="solid"/>
          </a:ln>
        </p:spPr>
      </p:sp>
      <p:sp>
        <p:nvSpPr>
          <p:cNvPr id="20" name="Shape 17"/>
          <p:cNvSpPr/>
          <p:nvPr/>
        </p:nvSpPr>
        <p:spPr>
          <a:xfrm>
            <a:off x="411480" y="2679192"/>
            <a:ext cx="45720" cy="539496"/>
          </a:xfrm>
          <a:prstGeom prst="rect">
            <a:avLst/>
          </a:prstGeom>
          <a:solidFill>
            <a:srgbClr val="0B7A6F"/>
          </a:solidFill>
          <a:ln w="12700">
            <a:solidFill>
              <a:srgbClr val="0B7A6F"/>
            </a:solidFill>
            <a:prstDash val="solid"/>
          </a:ln>
        </p:spPr>
      </p:sp>
      <p:sp>
        <p:nvSpPr>
          <p:cNvPr id="21" name="Text 18"/>
          <p:cNvSpPr txBox="1"/>
          <p:nvPr/>
        </p:nvSpPr>
        <p:spPr>
          <a:xfrm>
            <a:off x="594360" y="2606040"/>
            <a:ext cx="8001000" cy="68580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NOT RESPONDING? REFRAME</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 just want to make sure I've explored all available options and that we're not missing anything that might better fit your needs.”</a:t>
            </a:r>
            <a:endParaRPr lang="en-US" sz="1000" dirty="0"/>
          </a:p>
        </p:txBody>
      </p:sp>
      <p:sp>
        <p:nvSpPr>
          <p:cNvPr id="22" name="Shape 19"/>
          <p:cNvSpPr/>
          <p:nvPr/>
        </p:nvSpPr>
        <p:spPr>
          <a:xfrm>
            <a:off x="411480" y="3429000"/>
            <a:ext cx="8321040" cy="457200"/>
          </a:xfrm>
          <a:prstGeom prst="roundRect">
            <a:avLst>
              <a:gd name="adj" fmla="val 16000"/>
            </a:avLst>
          </a:prstGeom>
          <a:solidFill>
            <a:srgbClr val="FCEBEA"/>
          </a:solidFill>
          <a:ln w="9525">
            <a:solidFill>
              <a:srgbClr val="B3261E"/>
            </a:solidFill>
            <a:prstDash val="solid"/>
          </a:ln>
        </p:spPr>
      </p:sp>
      <p:pic>
        <p:nvPicPr>
          <p:cNvPr id="23" name="Image 0" descr="preencoded.png">    </p:cNvPr>
          <p:cNvPicPr>
            <a:picLocks noChangeAspect="1"/>
          </p:cNvPicPr>
          <p:nvPr/>
        </p:nvPicPr>
        <p:blipFill>
          <a:blip r:embed="rId1"/>
          <a:stretch>
            <a:fillRect/>
          </a:stretch>
        </p:blipFill>
        <p:spPr>
          <a:xfrm>
            <a:off x="566928" y="3575304"/>
            <a:ext cx="164592" cy="164592"/>
          </a:xfrm>
          <a:prstGeom prst="rect">
            <a:avLst/>
          </a:prstGeom>
        </p:spPr>
      </p:pic>
      <p:sp>
        <p:nvSpPr>
          <p:cNvPr id="24" name="Text 20"/>
          <p:cNvSpPr txBox="1"/>
          <p:nvPr/>
        </p:nvSpPr>
        <p:spPr>
          <a:xfrm>
            <a:off x="822960" y="3429000"/>
            <a:ext cx="7772400" cy="457200"/>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Still no reason?  </a:t>
            </a:r>
            <a:r>
              <a:rPr lang="en-US" sz="1000" dirty="0">
                <a:solidFill>
                  <a:srgbClr val="1D1D1F"/>
                </a:solidFill>
                <a:latin typeface="SF Pro Text" pitchFamily="34" charset="0"/>
                <a:ea typeface="SF Pro Text" pitchFamily="34" charset="-122"/>
                <a:cs typeface="SF Pro Text" pitchFamily="34" charset="-120"/>
              </a:rPr>
              <a:t>keep asking, don't close. Explain the ETF still applies, on its own terms.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not to do</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mistakes that cost trust or money.</a:t>
            </a:r>
            <a:endParaRPr lang="en-US" sz="1200" dirty="0"/>
          </a:p>
        </p:txBody>
      </p:sp>
      <p:sp>
        <p:nvSpPr>
          <p:cNvPr id="6" name="Shape 3"/>
          <p:cNvSpPr/>
          <p:nvPr/>
        </p:nvSpPr>
        <p:spPr>
          <a:xfrm>
            <a:off x="411480" y="1325880"/>
            <a:ext cx="4091940" cy="960120"/>
          </a:xfrm>
          <a:prstGeom prst="roundRect">
            <a:avLst>
              <a:gd name="adj" fmla="val 7619"/>
            </a:avLst>
          </a:prstGeom>
          <a:solidFill>
            <a:srgbClr val="FFFFFF"/>
          </a:solidFill>
          <a:ln w="9525">
            <a:solidFill>
              <a:srgbClr val="DCE1E7"/>
            </a:solidFill>
            <a:prstDash val="solid"/>
          </a:ln>
        </p:spPr>
      </p:sp>
      <p:sp>
        <p:nvSpPr>
          <p:cNvPr id="7" name="Shape 4"/>
          <p:cNvSpPr/>
          <p:nvPr/>
        </p:nvSpPr>
        <p:spPr>
          <a:xfrm>
            <a:off x="576072" y="1490472"/>
            <a:ext cx="365760" cy="365760"/>
          </a:xfrm>
          <a:prstGeom prst="ellipse">
            <a:avLst/>
          </a:prstGeom>
          <a:solidFill>
            <a:srgbClr val="FCEBEA"/>
          </a:solidFill>
          <a:ln w="12700">
            <a:solidFill>
              <a:srgbClr val="FCEBEA"/>
            </a:solidFill>
            <a:prstDash val="solid"/>
          </a:ln>
        </p:spPr>
      </p:sp>
      <p:pic>
        <p:nvPicPr>
          <p:cNvPr id="8" name="Image 0" descr="preencoded.png">    </p:cNvPr>
          <p:cNvPicPr>
            <a:picLocks noChangeAspect="1"/>
          </p:cNvPicPr>
          <p:nvPr/>
        </p:nvPicPr>
        <p:blipFill>
          <a:blip r:embed="rId1"/>
          <a:stretch>
            <a:fillRect/>
          </a:stretch>
        </p:blipFill>
        <p:spPr>
          <a:xfrm>
            <a:off x="663854" y="1578254"/>
            <a:ext cx="190195" cy="190195"/>
          </a:xfrm>
          <a:prstGeom prst="rect">
            <a:avLst/>
          </a:prstGeom>
        </p:spPr>
      </p:pic>
      <p:sp>
        <p:nvSpPr>
          <p:cNvPr id="9" name="Text 5"/>
          <p:cNvSpPr txBox="1"/>
          <p:nvPr/>
        </p:nvSpPr>
        <p:spPr>
          <a:xfrm>
            <a:off x="1069848" y="1399032"/>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Refund the MF and waive the ETF</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Both cover the discounted first cleaning. Apply the MF toward the ETF instead.</a:t>
            </a:r>
            <a:endParaRPr lang="en-US" sz="1100" dirty="0"/>
          </a:p>
        </p:txBody>
      </p:sp>
      <p:sp>
        <p:nvSpPr>
          <p:cNvPr id="10" name="Shape 6"/>
          <p:cNvSpPr/>
          <p:nvPr/>
        </p:nvSpPr>
        <p:spPr>
          <a:xfrm>
            <a:off x="4640580" y="1325880"/>
            <a:ext cx="4091940" cy="960120"/>
          </a:xfrm>
          <a:prstGeom prst="roundRect">
            <a:avLst>
              <a:gd name="adj" fmla="val 7619"/>
            </a:avLst>
          </a:prstGeom>
          <a:solidFill>
            <a:srgbClr val="FFFFFF"/>
          </a:solidFill>
          <a:ln w="9525">
            <a:solidFill>
              <a:srgbClr val="DCE1E7"/>
            </a:solidFill>
            <a:prstDash val="solid"/>
          </a:ln>
        </p:spPr>
      </p:sp>
      <p:sp>
        <p:nvSpPr>
          <p:cNvPr id="11" name="Shape 7"/>
          <p:cNvSpPr/>
          <p:nvPr/>
        </p:nvSpPr>
        <p:spPr>
          <a:xfrm>
            <a:off x="4805172" y="1490472"/>
            <a:ext cx="365760" cy="365760"/>
          </a:xfrm>
          <a:prstGeom prst="ellipse">
            <a:avLst/>
          </a:prstGeom>
          <a:solidFill>
            <a:srgbClr val="FCEBEA"/>
          </a:solidFill>
          <a:ln w="12700">
            <a:solidFill>
              <a:srgbClr val="FCEBEA"/>
            </a:solidFill>
            <a:prstDash val="solid"/>
          </a:ln>
        </p:spPr>
      </p:sp>
      <p:pic>
        <p:nvPicPr>
          <p:cNvPr id="12" name="Image 1" descr="preencoded.png">    </p:cNvPr>
          <p:cNvPicPr>
            <a:picLocks noChangeAspect="1"/>
          </p:cNvPicPr>
          <p:nvPr/>
        </p:nvPicPr>
        <p:blipFill>
          <a:blip r:embed="rId2"/>
          <a:stretch>
            <a:fillRect/>
          </a:stretch>
        </p:blipFill>
        <p:spPr>
          <a:xfrm>
            <a:off x="4892954" y="1578254"/>
            <a:ext cx="190195" cy="190195"/>
          </a:xfrm>
          <a:prstGeom prst="rect">
            <a:avLst/>
          </a:prstGeom>
        </p:spPr>
      </p:pic>
      <p:sp>
        <p:nvSpPr>
          <p:cNvPr id="13" name="Text 8"/>
          <p:cNvSpPr txBox="1"/>
          <p:nvPr/>
        </p:nvSpPr>
        <p:spPr>
          <a:xfrm>
            <a:off x="5298948" y="1399032"/>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Raise membership unprompted</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Stay on their stated issue. Don't manufacture a cancellation.</a:t>
            </a:r>
            <a:endParaRPr lang="en-US" sz="1100" dirty="0"/>
          </a:p>
        </p:txBody>
      </p:sp>
      <p:sp>
        <p:nvSpPr>
          <p:cNvPr id="14" name="Shape 9"/>
          <p:cNvSpPr/>
          <p:nvPr/>
        </p:nvSpPr>
        <p:spPr>
          <a:xfrm>
            <a:off x="411480" y="2395728"/>
            <a:ext cx="4091940" cy="960120"/>
          </a:xfrm>
          <a:prstGeom prst="roundRect">
            <a:avLst>
              <a:gd name="adj" fmla="val 7619"/>
            </a:avLst>
          </a:prstGeom>
          <a:solidFill>
            <a:srgbClr val="FFFFFF"/>
          </a:solidFill>
          <a:ln w="9525">
            <a:solidFill>
              <a:srgbClr val="DCE1E7"/>
            </a:solidFill>
            <a:prstDash val="solid"/>
          </a:ln>
        </p:spPr>
      </p:sp>
      <p:sp>
        <p:nvSpPr>
          <p:cNvPr id="15" name="Shape 10"/>
          <p:cNvSpPr/>
          <p:nvPr/>
        </p:nvSpPr>
        <p:spPr>
          <a:xfrm>
            <a:off x="576072" y="2560320"/>
            <a:ext cx="365760" cy="365760"/>
          </a:xfrm>
          <a:prstGeom prst="ellipse">
            <a:avLst/>
          </a:prstGeom>
          <a:solidFill>
            <a:srgbClr val="FCEBEA"/>
          </a:solidFill>
          <a:ln w="12700">
            <a:solidFill>
              <a:srgbClr val="FCEBEA"/>
            </a:solidFill>
            <a:prstDash val="solid"/>
          </a:ln>
        </p:spPr>
      </p:sp>
      <p:pic>
        <p:nvPicPr>
          <p:cNvPr id="16" name="Image 2" descr="preencoded.png">    </p:cNvPr>
          <p:cNvPicPr>
            <a:picLocks noChangeAspect="1"/>
          </p:cNvPicPr>
          <p:nvPr/>
        </p:nvPicPr>
        <p:blipFill>
          <a:blip r:embed="rId3"/>
          <a:stretch>
            <a:fillRect/>
          </a:stretch>
        </p:blipFill>
        <p:spPr>
          <a:xfrm>
            <a:off x="663854" y="2648102"/>
            <a:ext cx="190195" cy="190195"/>
          </a:xfrm>
          <a:prstGeom prst="rect">
            <a:avLst/>
          </a:prstGeom>
        </p:spPr>
      </p:pic>
      <p:sp>
        <p:nvSpPr>
          <p:cNvPr id="17" name="Text 11"/>
          <p:cNvSpPr txBox="1"/>
          <p:nvPr/>
        </p:nvSpPr>
        <p:spPr>
          <a:xfrm>
            <a:off x="1069848" y="2468880"/>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Repeat the same offer</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Or reopen closed negotiations. See Graceful Closure.</a:t>
            </a:r>
            <a:endParaRPr lang="en-US" sz="1100" dirty="0"/>
          </a:p>
        </p:txBody>
      </p:sp>
      <p:sp>
        <p:nvSpPr>
          <p:cNvPr id="18" name="Shape 12"/>
          <p:cNvSpPr/>
          <p:nvPr/>
        </p:nvSpPr>
        <p:spPr>
          <a:xfrm>
            <a:off x="4640580" y="2395728"/>
            <a:ext cx="4091940" cy="960120"/>
          </a:xfrm>
          <a:prstGeom prst="roundRect">
            <a:avLst>
              <a:gd name="adj" fmla="val 7619"/>
            </a:avLst>
          </a:prstGeom>
          <a:solidFill>
            <a:srgbClr val="FFFFFF"/>
          </a:solidFill>
          <a:ln w="9525">
            <a:solidFill>
              <a:srgbClr val="DCE1E7"/>
            </a:solidFill>
            <a:prstDash val="solid"/>
          </a:ln>
        </p:spPr>
      </p:sp>
      <p:sp>
        <p:nvSpPr>
          <p:cNvPr id="19" name="Shape 13"/>
          <p:cNvSpPr/>
          <p:nvPr/>
        </p:nvSpPr>
        <p:spPr>
          <a:xfrm>
            <a:off x="4805172" y="2560320"/>
            <a:ext cx="365760" cy="365760"/>
          </a:xfrm>
          <a:prstGeom prst="ellipse">
            <a:avLst/>
          </a:prstGeom>
          <a:solidFill>
            <a:srgbClr val="FCEBEA"/>
          </a:solidFill>
          <a:ln w="12700">
            <a:solidFill>
              <a:srgbClr val="FCEBEA"/>
            </a:solidFill>
            <a:prstDash val="solid"/>
          </a:ln>
        </p:spPr>
      </p:sp>
      <p:pic>
        <p:nvPicPr>
          <p:cNvPr id="20" name="Image 3" descr="preencoded.png">    </p:cNvPr>
          <p:cNvPicPr>
            <a:picLocks noChangeAspect="1"/>
          </p:cNvPicPr>
          <p:nvPr/>
        </p:nvPicPr>
        <p:blipFill>
          <a:blip r:embed="rId4"/>
          <a:stretch>
            <a:fillRect/>
          </a:stretch>
        </p:blipFill>
        <p:spPr>
          <a:xfrm>
            <a:off x="4892954" y="2648102"/>
            <a:ext cx="190195" cy="190195"/>
          </a:xfrm>
          <a:prstGeom prst="rect">
            <a:avLst/>
          </a:prstGeom>
        </p:spPr>
      </p:pic>
      <p:sp>
        <p:nvSpPr>
          <p:cNvPr id="21" name="Text 14"/>
          <p:cNvSpPr txBox="1"/>
          <p:nvPr/>
        </p:nvSpPr>
        <p:spPr>
          <a:xfrm>
            <a:off x="5298948" y="2468880"/>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Close too soon</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Probe first. You can't reopen after Graceful Closure.</a:t>
            </a:r>
            <a:endParaRPr lang="en-US" sz="1100" dirty="0"/>
          </a:p>
        </p:txBody>
      </p:sp>
      <p:sp>
        <p:nvSpPr>
          <p:cNvPr id="22" name="Shape 15"/>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3"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4" name="Text 16"/>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Exemptions to MF + ETF:  </a:t>
            </a:r>
            <a:r>
              <a:rPr lang="en-US" sz="1000" dirty="0">
                <a:solidFill>
                  <a:srgbClr val="1D1D1F"/>
                </a:solidFill>
                <a:latin typeface="SF Pro Text" pitchFamily="34" charset="0"/>
                <a:ea typeface="SF Pro Text" pitchFamily="34" charset="-122"/>
                <a:cs typeface="SF Pro Text" pitchFamily="34" charset="-120"/>
              </a:rPr>
              <a:t>extenuating circumstances, material legal threats, a history of disputes.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threatens to file with the Attorney General, but the issue is first-time and fixable. Retain?</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material legal threat alone overrides. Cancel FC and waive the ETF.</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 can't afford this." Stop attempting retention?</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Affordability alone isn't a reason. Try an MF/MCT reduction, pause or free months.</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 declined your offer. Offer a bigger one?</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if it's tied to their specific reason, not just because they said no.</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 want an MF refund and an ETF waiver. Both?</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Generally no. Apply the MF toward reducing the ETF (unless an exemption applies).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customer retainable?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Weigh the five key factors. Any hard override?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Root cause, the matching offer, how you'll present 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Unused DHJ Voucher</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They bought a DHJ voucher, but haven't used it. FC hasn't started yet.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Reading the account at this stage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Sorting the request into 4 cases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Retention offers for this customer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Refunds and closing the account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Bought, not used. The membership starts only after a completed job.</a:t>
            </a:r>
            <a:endParaRPr lang="en-US" sz="1200" dirty="0"/>
          </a:p>
        </p:txBody>
      </p:sp>
      <p:sp>
        <p:nvSpPr>
          <p:cNvPr id="6" name="Shape 3"/>
          <p:cNvSpPr/>
          <p:nvPr/>
        </p:nvSpPr>
        <p:spPr>
          <a:xfrm>
            <a:off x="411480" y="1371600"/>
            <a:ext cx="1920240" cy="502920"/>
          </a:xfrm>
          <a:prstGeom prst="roundRect">
            <a:avLst>
              <a:gd name="adj" fmla="val 14545"/>
            </a:avLst>
          </a:prstGeom>
          <a:solidFill>
            <a:srgbClr val="FFFFFF"/>
          </a:solidFill>
          <a:ln w="12700">
            <a:solidFill>
              <a:srgbClr val="DCE1E7"/>
            </a:solidFill>
            <a:prstDash val="solid"/>
          </a:ln>
        </p:spPr>
      </p:sp>
      <p:sp>
        <p:nvSpPr>
          <p:cNvPr id="7" name="Text 4"/>
          <p:cNvSpPr txBox="1"/>
          <p:nvPr/>
        </p:nvSpPr>
        <p:spPr>
          <a:xfrm>
            <a:off x="411480" y="1371600"/>
            <a:ext cx="192024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Buys the voucher</a:t>
            </a:r>
            <a:endParaRPr lang="en-US" sz="1000" dirty="0"/>
          </a:p>
        </p:txBody>
      </p:sp>
      <p:sp>
        <p:nvSpPr>
          <p:cNvPr id="8" name="Shape 5"/>
          <p:cNvSpPr/>
          <p:nvPr/>
        </p:nvSpPr>
        <p:spPr>
          <a:xfrm>
            <a:off x="2331720" y="1623060"/>
            <a:ext cx="213055" cy="0"/>
          </a:xfrm>
          <a:prstGeom prst="line">
            <a:avLst/>
          </a:prstGeom>
          <a:noFill/>
          <a:ln w="12700">
            <a:solidFill>
              <a:srgbClr val="6E6E73"/>
            </a:solidFill>
            <a:prstDash val="solid"/>
            <a:tailEnd type="triangle"/>
          </a:ln>
        </p:spPr>
      </p:sp>
      <p:sp>
        <p:nvSpPr>
          <p:cNvPr id="9" name="Text 6"/>
          <p:cNvSpPr txBox="1"/>
          <p:nvPr/>
        </p:nvSpPr>
        <p:spPr>
          <a:xfrm>
            <a:off x="411480" y="1938528"/>
            <a:ext cx="1920240" cy="41148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Voucher shows. No FC table</a:t>
            </a:r>
            <a:endParaRPr lang="en-US" sz="900" dirty="0"/>
          </a:p>
        </p:txBody>
      </p:sp>
      <p:sp>
        <p:nvSpPr>
          <p:cNvPr id="10" name="Shape 7"/>
          <p:cNvSpPr/>
          <p:nvPr/>
        </p:nvSpPr>
        <p:spPr>
          <a:xfrm>
            <a:off x="2544775" y="1371600"/>
            <a:ext cx="1920240" cy="502920"/>
          </a:xfrm>
          <a:prstGeom prst="roundRect">
            <a:avLst>
              <a:gd name="adj" fmla="val 14545"/>
            </a:avLst>
          </a:prstGeom>
          <a:solidFill>
            <a:srgbClr val="FFF3D6"/>
          </a:solidFill>
          <a:ln w="12700">
            <a:solidFill>
              <a:srgbClr val="9A6410"/>
            </a:solidFill>
            <a:prstDash val="solid"/>
          </a:ln>
        </p:spPr>
      </p:sp>
      <p:sp>
        <p:nvSpPr>
          <p:cNvPr id="11" name="Text 8"/>
          <p:cNvSpPr txBox="1"/>
          <p:nvPr/>
        </p:nvSpPr>
        <p:spPr>
          <a:xfrm>
            <a:off x="2544775" y="1371600"/>
            <a:ext cx="192024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Books a cleaning</a:t>
            </a:r>
            <a:endParaRPr lang="en-US" sz="1000" dirty="0"/>
          </a:p>
        </p:txBody>
      </p:sp>
      <p:sp>
        <p:nvSpPr>
          <p:cNvPr id="12" name="Shape 9"/>
          <p:cNvSpPr/>
          <p:nvPr/>
        </p:nvSpPr>
        <p:spPr>
          <a:xfrm>
            <a:off x="4465015" y="1623060"/>
            <a:ext cx="213055" cy="0"/>
          </a:xfrm>
          <a:prstGeom prst="line">
            <a:avLst/>
          </a:prstGeom>
          <a:noFill/>
          <a:ln w="12700">
            <a:solidFill>
              <a:srgbClr val="6E6E73"/>
            </a:solidFill>
            <a:prstDash val="solid"/>
            <a:tailEnd type="triangle"/>
          </a:ln>
        </p:spPr>
      </p:sp>
      <p:sp>
        <p:nvSpPr>
          <p:cNvPr id="13" name="Text 10"/>
          <p:cNvSpPr txBox="1"/>
          <p:nvPr/>
        </p:nvSpPr>
        <p:spPr>
          <a:xfrm>
            <a:off x="2544775" y="1938528"/>
            <a:ext cx="1920240" cy="41148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FC table appears: "active, 0 paid months"</a:t>
            </a:r>
            <a:endParaRPr lang="en-US" sz="900" dirty="0"/>
          </a:p>
        </p:txBody>
      </p:sp>
      <p:sp>
        <p:nvSpPr>
          <p:cNvPr id="14" name="Shape 11"/>
          <p:cNvSpPr/>
          <p:nvPr/>
        </p:nvSpPr>
        <p:spPr>
          <a:xfrm>
            <a:off x="4678070" y="1371600"/>
            <a:ext cx="192024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4678070" y="1371600"/>
            <a:ext cx="192024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Cleaning completed</a:t>
            </a:r>
            <a:endParaRPr lang="en-US" sz="1000" dirty="0"/>
          </a:p>
        </p:txBody>
      </p:sp>
      <p:sp>
        <p:nvSpPr>
          <p:cNvPr id="16" name="Shape 13"/>
          <p:cNvSpPr/>
          <p:nvPr/>
        </p:nvSpPr>
        <p:spPr>
          <a:xfrm>
            <a:off x="6598310" y="1623060"/>
            <a:ext cx="213055" cy="0"/>
          </a:xfrm>
          <a:prstGeom prst="line">
            <a:avLst/>
          </a:prstGeom>
          <a:noFill/>
          <a:ln w="12700">
            <a:solidFill>
              <a:srgbClr val="6E6E73"/>
            </a:solidFill>
            <a:prstDash val="solid"/>
            <a:tailEnd type="triangle"/>
          </a:ln>
        </p:spPr>
      </p:sp>
      <p:sp>
        <p:nvSpPr>
          <p:cNvPr id="17" name="Text 14"/>
          <p:cNvSpPr txBox="1"/>
          <p:nvPr/>
        </p:nvSpPr>
        <p:spPr>
          <a:xfrm>
            <a:off x="4678070" y="1938528"/>
            <a:ext cx="1920240" cy="41148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Voucher applied to the job</a:t>
            </a:r>
            <a:endParaRPr lang="en-US" sz="900" dirty="0"/>
          </a:p>
        </p:txBody>
      </p:sp>
      <p:sp>
        <p:nvSpPr>
          <p:cNvPr id="18" name="Shape 15"/>
          <p:cNvSpPr/>
          <p:nvPr/>
        </p:nvSpPr>
        <p:spPr>
          <a:xfrm>
            <a:off x="6811366" y="1371600"/>
            <a:ext cx="1920240" cy="502920"/>
          </a:xfrm>
          <a:prstGeom prst="roundRect">
            <a:avLst>
              <a:gd name="adj" fmla="val 14545"/>
            </a:avLst>
          </a:prstGeom>
          <a:solidFill>
            <a:srgbClr val="0B7A6F"/>
          </a:solidFill>
          <a:ln w="12700">
            <a:solidFill>
              <a:srgbClr val="0B7A6F"/>
            </a:solidFill>
            <a:prstDash val="solid"/>
          </a:ln>
        </p:spPr>
      </p:sp>
      <p:sp>
        <p:nvSpPr>
          <p:cNvPr id="19" name="Text 16"/>
          <p:cNvSpPr txBox="1"/>
          <p:nvPr/>
        </p:nvSpPr>
        <p:spPr>
          <a:xfrm>
            <a:off x="6811366" y="1371600"/>
            <a:ext cx="19202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Membership starts</a:t>
            </a:r>
            <a:endParaRPr lang="en-US" sz="1000" dirty="0"/>
          </a:p>
        </p:txBody>
      </p:sp>
      <p:sp>
        <p:nvSpPr>
          <p:cNvPr id="20" name="Text 17"/>
          <p:cNvSpPr txBox="1"/>
          <p:nvPr/>
        </p:nvSpPr>
        <p:spPr>
          <a:xfrm>
            <a:off x="6811366" y="1938528"/>
            <a:ext cx="1920240" cy="41148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Now FC has really begun</a:t>
            </a:r>
            <a:endParaRPr lang="en-US" sz="900" dirty="0"/>
          </a:p>
        </p:txBody>
      </p:sp>
      <p:sp>
        <p:nvSpPr>
          <p:cNvPr id="21" name="Shape 18"/>
          <p:cNvSpPr/>
          <p:nvPr/>
        </p:nvSpPr>
        <p:spPr>
          <a:xfrm>
            <a:off x="411480" y="2606040"/>
            <a:ext cx="8321040" cy="457200"/>
          </a:xfrm>
          <a:prstGeom prst="roundRect">
            <a:avLst>
              <a:gd name="adj" fmla="val 16000"/>
            </a:avLst>
          </a:prstGeom>
          <a:solidFill>
            <a:srgbClr val="FCEBEA"/>
          </a:solidFill>
          <a:ln w="9525">
            <a:solidFill>
              <a:srgbClr val="B3261E"/>
            </a:solidFill>
            <a:prstDash val="solid"/>
          </a:ln>
        </p:spPr>
      </p:sp>
      <p:pic>
        <p:nvPicPr>
          <p:cNvPr id="22" name="Image 0" descr="preencoded.png">    </p:cNvPr>
          <p:cNvPicPr>
            <a:picLocks noChangeAspect="1"/>
          </p:cNvPicPr>
          <p:nvPr/>
        </p:nvPicPr>
        <p:blipFill>
          <a:blip r:embed="rId1"/>
          <a:stretch>
            <a:fillRect/>
          </a:stretch>
        </p:blipFill>
        <p:spPr>
          <a:xfrm>
            <a:off x="566928" y="2752344"/>
            <a:ext cx="164592" cy="164592"/>
          </a:xfrm>
          <a:prstGeom prst="rect">
            <a:avLst/>
          </a:prstGeom>
        </p:spPr>
      </p:pic>
      <p:sp>
        <p:nvSpPr>
          <p:cNvPr id="23" name="Text 19"/>
          <p:cNvSpPr txBox="1"/>
          <p:nvPr/>
        </p:nvSpPr>
        <p:spPr>
          <a:xfrm>
            <a:off x="822960" y="2606040"/>
            <a:ext cx="7772400" cy="457200"/>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"Active, 0 paid months"  </a:t>
            </a:r>
            <a:r>
              <a:rPr lang="en-US" sz="1000" dirty="0">
                <a:solidFill>
                  <a:srgbClr val="1D1D1F"/>
                </a:solidFill>
                <a:latin typeface="SF Pro Text" pitchFamily="34" charset="0"/>
                <a:ea typeface="SF Pro Text" pitchFamily="34" charset="-122"/>
                <a:cs typeface="SF Pro Text" pitchFamily="34" charset="-120"/>
              </a:rPr>
              <a:t>doesn't mean FC has started. Not until the voucher is used on a completed job.</a:t>
            </a:r>
            <a:endParaRPr lang="en-US" sz="1000" dirty="0"/>
          </a:p>
        </p:txBody>
      </p:sp>
      <p:sp>
        <p:nvSpPr>
          <p:cNvPr id="24" name="Shape 20"/>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5" name="Image 1" descr="preencoded.png">    </p:cNvPr>
          <p:cNvPicPr>
            <a:picLocks noChangeAspect="1"/>
          </p:cNvPicPr>
          <p:nvPr/>
        </p:nvPicPr>
        <p:blipFill>
          <a:blip r:embed="rId2"/>
          <a:stretch>
            <a:fillRect/>
          </a:stretch>
        </p:blipFill>
        <p:spPr>
          <a:xfrm>
            <a:off x="566928" y="3355848"/>
            <a:ext cx="164592" cy="164592"/>
          </a:xfrm>
          <a:prstGeom prst="rect">
            <a:avLst/>
          </a:prstGeom>
        </p:spPr>
      </p:pic>
      <p:sp>
        <p:nvSpPr>
          <p:cNvPr id="26" name="Text 21"/>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r>
              <a:rPr lang="en-US" sz="1000" dirty="0">
                <a:solidFill>
                  <a:srgbClr val="1D1D1F"/>
                </a:solidFill>
                <a:latin typeface="SF Pro Text" pitchFamily="34" charset="0"/>
                <a:ea typeface="SF Pro Text" pitchFamily="34" charset="-122"/>
                <a:cs typeface="SF Pro Text" pitchFamily="34" charset="-120"/>
              </a:rPr>
              <a:t>customers think they've committed when they haven't, and agents assume a membership exists.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does the customer want?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Sort the request into one of four cases first. They lead to very different places.</a:t>
            </a:r>
            <a:endParaRPr lang="en-US" sz="1200" dirty="0"/>
          </a:p>
        </p:txBody>
      </p:sp>
      <p:sp>
        <p:nvSpPr>
          <p:cNvPr id="6" name="Shape 3"/>
          <p:cNvSpPr/>
          <p:nvPr/>
        </p:nvSpPr>
        <p:spPr>
          <a:xfrm>
            <a:off x="411480" y="1325880"/>
            <a:ext cx="4091940" cy="1188720"/>
          </a:xfrm>
          <a:prstGeom prst="roundRect">
            <a:avLst>
              <a:gd name="adj" fmla="val 6154"/>
            </a:avLst>
          </a:prstGeom>
          <a:solidFill>
            <a:srgbClr val="E3F4F1"/>
          </a:solidFill>
          <a:ln w="9525">
            <a:solidFill>
              <a:srgbClr val="0B7A6F"/>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Shape 6"/>
          <p:cNvSpPr/>
          <p:nvPr/>
        </p:nvSpPr>
        <p:spPr>
          <a:xfrm>
            <a:off x="3954780" y="1463040"/>
            <a:ext cx="384048" cy="384048"/>
          </a:xfrm>
          <a:prstGeom prst="ellipse">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4046952" y="1555212"/>
            <a:ext cx="199705" cy="199705"/>
          </a:xfrm>
          <a:prstGeom prst="rect">
            <a:avLst/>
          </a:prstGeom>
        </p:spPr>
      </p:pic>
      <p:sp>
        <p:nvSpPr>
          <p:cNvPr id="11" name="Text 7"/>
          <p:cNvSpPr txBox="1"/>
          <p:nvPr/>
        </p:nvSpPr>
        <p:spPr>
          <a:xfrm>
            <a:off x="960120" y="1463040"/>
            <a:ext cx="290322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No refund or cancel intent</a:t>
            </a:r>
            <a:endParaRPr lang="en-US" sz="1250" dirty="0"/>
          </a:p>
        </p:txBody>
      </p:sp>
      <p:sp>
        <p:nvSpPr>
          <p:cNvPr id="12" name="Text 8"/>
          <p:cNvSpPr txBox="1"/>
          <p:nvPr/>
        </p:nvSpPr>
        <p:spPr>
          <a:xfrm>
            <a:off x="960120" y="1892808"/>
            <a:ext cx="3268980" cy="5029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Help with their concern. Remind them once about the membership.</a:t>
            </a:r>
            <a:endParaRPr lang="en-US" sz="1000" dirty="0"/>
          </a:p>
        </p:txBody>
      </p:sp>
      <p:sp>
        <p:nvSpPr>
          <p:cNvPr id="13" name="Shape 9"/>
          <p:cNvSpPr/>
          <p:nvPr/>
        </p:nvSpPr>
        <p:spPr>
          <a:xfrm>
            <a:off x="4640580" y="1325880"/>
            <a:ext cx="4091940" cy="1188720"/>
          </a:xfrm>
          <a:prstGeom prst="roundRect">
            <a:avLst>
              <a:gd name="adj" fmla="val 6154"/>
            </a:avLst>
          </a:prstGeom>
          <a:solidFill>
            <a:srgbClr val="FFF3D6"/>
          </a:solidFill>
          <a:ln w="9525">
            <a:solidFill>
              <a:srgbClr val="9A6410"/>
            </a:solidFill>
            <a:prstDash val="solid"/>
          </a:ln>
        </p:spPr>
      </p:sp>
      <p:sp>
        <p:nvSpPr>
          <p:cNvPr id="14" name="Shape 10"/>
          <p:cNvSpPr/>
          <p:nvPr/>
        </p:nvSpPr>
        <p:spPr>
          <a:xfrm>
            <a:off x="480517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Shape 12"/>
          <p:cNvSpPr/>
          <p:nvPr/>
        </p:nvSpPr>
        <p:spPr>
          <a:xfrm>
            <a:off x="8183880" y="1463040"/>
            <a:ext cx="384048" cy="384048"/>
          </a:xfrm>
          <a:prstGeom prst="ellipse">
            <a:avLst/>
          </a:prstGeom>
          <a:solidFill>
            <a:srgbClr val="FFFFFF"/>
          </a:solidFill>
          <a:ln w="12700">
            <a:solidFill>
              <a:srgbClr val="FFFFFF"/>
            </a:solidFill>
            <a:prstDash val="solid"/>
          </a:ln>
        </p:spPr>
      </p:sp>
      <p:pic>
        <p:nvPicPr>
          <p:cNvPr id="17" name="Image 1" descr="preencoded.png">    </p:cNvPr>
          <p:cNvPicPr>
            <a:picLocks noChangeAspect="1"/>
          </p:cNvPicPr>
          <p:nvPr/>
        </p:nvPicPr>
        <p:blipFill>
          <a:blip r:embed="rId2"/>
          <a:stretch>
            <a:fillRect/>
          </a:stretch>
        </p:blipFill>
        <p:spPr>
          <a:xfrm>
            <a:off x="8276052" y="1555212"/>
            <a:ext cx="199705" cy="199705"/>
          </a:xfrm>
          <a:prstGeom prst="rect">
            <a:avLst/>
          </a:prstGeom>
        </p:spPr>
      </p:pic>
      <p:sp>
        <p:nvSpPr>
          <p:cNvPr id="18" name="Text 13"/>
          <p:cNvSpPr txBox="1"/>
          <p:nvPr/>
        </p:nvSpPr>
        <p:spPr>
          <a:xfrm>
            <a:off x="5189220" y="1463040"/>
            <a:ext cx="290322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Wants a refund or to cancel</a:t>
            </a:r>
            <a:endParaRPr lang="en-US" sz="1250" dirty="0"/>
          </a:p>
        </p:txBody>
      </p:sp>
      <p:sp>
        <p:nvSpPr>
          <p:cNvPr id="19" name="Text 14"/>
          <p:cNvSpPr txBox="1"/>
          <p:nvPr/>
        </p:nvSpPr>
        <p:spPr>
          <a:xfrm>
            <a:off x="5189220" y="1892808"/>
            <a:ext cx="3268980" cy="5029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Probe, address the issue, present the right offer.</a:t>
            </a:r>
            <a:endParaRPr lang="en-US" sz="1000" dirty="0"/>
          </a:p>
        </p:txBody>
      </p:sp>
      <p:sp>
        <p:nvSpPr>
          <p:cNvPr id="20" name="Shape 15"/>
          <p:cNvSpPr/>
          <p:nvPr/>
        </p:nvSpPr>
        <p:spPr>
          <a:xfrm>
            <a:off x="411480" y="2651760"/>
            <a:ext cx="4091940" cy="1188720"/>
          </a:xfrm>
          <a:prstGeom prst="roundRect">
            <a:avLst>
              <a:gd name="adj" fmla="val 6154"/>
            </a:avLst>
          </a:prstGeom>
          <a:solidFill>
            <a:srgbClr val="FFFFFF"/>
          </a:solidFill>
          <a:ln w="9525">
            <a:solidFill>
              <a:srgbClr val="1D1D1F"/>
            </a:solidFill>
            <a:prstDash val="solid"/>
          </a:ln>
        </p:spPr>
      </p:sp>
      <p:sp>
        <p:nvSpPr>
          <p:cNvPr id="21" name="Shape 16"/>
          <p:cNvSpPr/>
          <p:nvPr/>
        </p:nvSpPr>
        <p:spPr>
          <a:xfrm>
            <a:off x="576072" y="2834640"/>
            <a:ext cx="274320" cy="274320"/>
          </a:xfrm>
          <a:prstGeom prst="ellipse">
            <a:avLst/>
          </a:prstGeom>
          <a:solidFill>
            <a:srgbClr val="E3F4F1"/>
          </a:solidFill>
          <a:ln w="12700">
            <a:solidFill>
              <a:srgbClr val="E3F4F1"/>
            </a:solidFill>
            <a:prstDash val="solid"/>
          </a:ln>
        </p:spPr>
      </p:sp>
      <p:sp>
        <p:nvSpPr>
          <p:cNvPr id="22" name="Text 17"/>
          <p:cNvSpPr txBox="1"/>
          <p:nvPr/>
        </p:nvSpPr>
        <p:spPr>
          <a:xfrm>
            <a:off x="576072" y="28346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3" name="Shape 18"/>
          <p:cNvSpPr/>
          <p:nvPr/>
        </p:nvSpPr>
        <p:spPr>
          <a:xfrm>
            <a:off x="3954780" y="2788920"/>
            <a:ext cx="384048" cy="384048"/>
          </a:xfrm>
          <a:prstGeom prst="ellipse">
            <a:avLst/>
          </a:prstGeom>
          <a:solidFill>
            <a:srgbClr val="FFFFFF"/>
          </a:solidFill>
          <a:ln w="12700">
            <a:solidFill>
              <a:srgbClr val="FFFFFF"/>
            </a:solidFill>
            <a:prstDash val="solid"/>
          </a:ln>
        </p:spPr>
      </p:sp>
      <p:pic>
        <p:nvPicPr>
          <p:cNvPr id="24" name="Image 2" descr="preencoded.png">    </p:cNvPr>
          <p:cNvPicPr>
            <a:picLocks noChangeAspect="1"/>
          </p:cNvPicPr>
          <p:nvPr/>
        </p:nvPicPr>
        <p:blipFill>
          <a:blip r:embed="rId3"/>
          <a:stretch>
            <a:fillRect/>
          </a:stretch>
        </p:blipFill>
        <p:spPr>
          <a:xfrm>
            <a:off x="4046952" y="2881092"/>
            <a:ext cx="199705" cy="199705"/>
          </a:xfrm>
          <a:prstGeom prst="rect">
            <a:avLst/>
          </a:prstGeom>
        </p:spPr>
      </p:pic>
      <p:sp>
        <p:nvSpPr>
          <p:cNvPr id="25" name="Text 19"/>
          <p:cNvSpPr txBox="1"/>
          <p:nvPr/>
        </p:nvSpPr>
        <p:spPr>
          <a:xfrm>
            <a:off x="960120" y="2788920"/>
            <a:ext cx="290322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Wants the account closed</a:t>
            </a:r>
            <a:endParaRPr lang="en-US" sz="1250" dirty="0"/>
          </a:p>
        </p:txBody>
      </p:sp>
      <p:sp>
        <p:nvSpPr>
          <p:cNvPr id="26" name="Text 20"/>
          <p:cNvSpPr txBox="1"/>
          <p:nvPr/>
        </p:nvSpPr>
        <p:spPr>
          <a:xfrm>
            <a:off x="960120" y="3218688"/>
            <a:ext cx="3268980" cy="5029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Treat it as cancellation intent. Then close it properly.</a:t>
            </a:r>
            <a:endParaRPr lang="en-US" sz="1000" dirty="0"/>
          </a:p>
        </p:txBody>
      </p:sp>
      <p:sp>
        <p:nvSpPr>
          <p:cNvPr id="27" name="Shape 21"/>
          <p:cNvSpPr/>
          <p:nvPr/>
        </p:nvSpPr>
        <p:spPr>
          <a:xfrm>
            <a:off x="4640580" y="2651760"/>
            <a:ext cx="4091940" cy="1188720"/>
          </a:xfrm>
          <a:prstGeom prst="roundRect">
            <a:avLst>
              <a:gd name="adj" fmla="val 6154"/>
            </a:avLst>
          </a:prstGeom>
          <a:solidFill>
            <a:srgbClr val="FCEBEA"/>
          </a:solidFill>
          <a:ln w="9525">
            <a:solidFill>
              <a:srgbClr val="B3261E"/>
            </a:solidFill>
            <a:prstDash val="solid"/>
          </a:ln>
        </p:spPr>
      </p:sp>
      <p:sp>
        <p:nvSpPr>
          <p:cNvPr id="28" name="Shape 22"/>
          <p:cNvSpPr/>
          <p:nvPr/>
        </p:nvSpPr>
        <p:spPr>
          <a:xfrm>
            <a:off x="4805172" y="2834640"/>
            <a:ext cx="274320" cy="274320"/>
          </a:xfrm>
          <a:prstGeom prst="ellipse">
            <a:avLst/>
          </a:prstGeom>
          <a:solidFill>
            <a:srgbClr val="E3F4F1"/>
          </a:solidFill>
          <a:ln w="12700">
            <a:solidFill>
              <a:srgbClr val="E3F4F1"/>
            </a:solidFill>
            <a:prstDash val="solid"/>
          </a:ln>
        </p:spPr>
      </p:sp>
      <p:sp>
        <p:nvSpPr>
          <p:cNvPr id="29" name="Text 23"/>
          <p:cNvSpPr txBox="1"/>
          <p:nvPr/>
        </p:nvSpPr>
        <p:spPr>
          <a:xfrm>
            <a:off x="4805172" y="28346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30" name="Shape 24"/>
          <p:cNvSpPr/>
          <p:nvPr/>
        </p:nvSpPr>
        <p:spPr>
          <a:xfrm>
            <a:off x="8183880" y="2788920"/>
            <a:ext cx="384048" cy="384048"/>
          </a:xfrm>
          <a:prstGeom prst="ellipse">
            <a:avLst/>
          </a:prstGeom>
          <a:solidFill>
            <a:srgbClr val="FFFFFF"/>
          </a:solidFill>
          <a:ln w="12700">
            <a:solidFill>
              <a:srgbClr val="FFFFFF"/>
            </a:solidFill>
            <a:prstDash val="solid"/>
          </a:ln>
        </p:spPr>
      </p:sp>
      <p:pic>
        <p:nvPicPr>
          <p:cNvPr id="31" name="Image 3" descr="preencoded.png">    </p:cNvPr>
          <p:cNvPicPr>
            <a:picLocks noChangeAspect="1"/>
          </p:cNvPicPr>
          <p:nvPr/>
        </p:nvPicPr>
        <p:blipFill>
          <a:blip r:embed="rId4"/>
          <a:stretch>
            <a:fillRect/>
          </a:stretch>
        </p:blipFill>
        <p:spPr>
          <a:xfrm>
            <a:off x="8276052" y="2881092"/>
            <a:ext cx="199705" cy="199705"/>
          </a:xfrm>
          <a:prstGeom prst="rect">
            <a:avLst/>
          </a:prstGeom>
        </p:spPr>
      </p:pic>
      <p:sp>
        <p:nvSpPr>
          <p:cNvPr id="32" name="Text 25"/>
          <p:cNvSpPr txBox="1"/>
          <p:nvPr/>
        </p:nvSpPr>
        <p:spPr>
          <a:xfrm>
            <a:off x="5189220" y="2788920"/>
            <a:ext cx="290322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Already self-refunded</a:t>
            </a:r>
            <a:endParaRPr lang="en-US" sz="1250" dirty="0"/>
          </a:p>
        </p:txBody>
      </p:sp>
      <p:sp>
        <p:nvSpPr>
          <p:cNvPr id="33" name="Text 26"/>
          <p:cNvSpPr txBox="1"/>
          <p:nvPr/>
        </p:nvSpPr>
        <p:spPr>
          <a:xfrm>
            <a:off x="5189220" y="3218688"/>
            <a:ext cx="3268980" cy="5029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Accept it. Give a clean, hassle-free cancellation.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Case 1: No refund or cancel intent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Don't make it bigger than it needs to be.</a:t>
            </a:r>
            <a:endParaRPr lang="en-US" sz="1200" dirty="0"/>
          </a:p>
        </p:txBody>
      </p:sp>
      <p:sp>
        <p:nvSpPr>
          <p:cNvPr id="6" name="Shape 3"/>
          <p:cNvSpPr/>
          <p:nvPr/>
        </p:nvSpPr>
        <p:spPr>
          <a:xfrm>
            <a:off x="411480" y="1325880"/>
            <a:ext cx="2682240" cy="1234440"/>
          </a:xfrm>
          <a:prstGeom prst="roundRect">
            <a:avLst>
              <a:gd name="adj" fmla="val 592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Help with their concern</a:t>
            </a:r>
            <a:endParaRPr lang="en-US" sz="1200" dirty="0"/>
          </a:p>
        </p:txBody>
      </p:sp>
      <p:sp>
        <p:nvSpPr>
          <p:cNvPr id="10" name="Text 6"/>
          <p:cNvSpPr txBox="1"/>
          <p:nvPr/>
        </p:nvSpPr>
        <p:spPr>
          <a:xfrm>
            <a:off x="576072" y="2221992"/>
            <a:ext cx="2353056" cy="2468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why they reached out.</a:t>
            </a:r>
            <a:endParaRPr lang="en-US" sz="950" dirty="0"/>
          </a:p>
        </p:txBody>
      </p:sp>
      <p:sp>
        <p:nvSpPr>
          <p:cNvPr id="11" name="Shape 7"/>
          <p:cNvSpPr/>
          <p:nvPr/>
        </p:nvSpPr>
        <p:spPr>
          <a:xfrm>
            <a:off x="3230880" y="1325880"/>
            <a:ext cx="2682240" cy="1234440"/>
          </a:xfrm>
          <a:prstGeom prst="roundRect">
            <a:avLst>
              <a:gd name="adj" fmla="val 592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them once</a:t>
            </a:r>
            <a:endParaRPr lang="en-US" sz="1200" dirty="0"/>
          </a:p>
        </p:txBody>
      </p:sp>
      <p:sp>
        <p:nvSpPr>
          <p:cNvPr id="15" name="Text 10"/>
          <p:cNvSpPr txBox="1"/>
          <p:nvPr/>
        </p:nvSpPr>
        <p:spPr>
          <a:xfrm>
            <a:off x="3395472" y="2221992"/>
            <a:ext cx="2353056" cy="2468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it if they clearly already know.</a:t>
            </a:r>
            <a:endParaRPr lang="en-US" sz="950" dirty="0"/>
          </a:p>
        </p:txBody>
      </p:sp>
      <p:sp>
        <p:nvSpPr>
          <p:cNvPr id="16" name="Shape 11"/>
          <p:cNvSpPr/>
          <p:nvPr/>
        </p:nvSpPr>
        <p:spPr>
          <a:xfrm>
            <a:off x="6050280" y="1325880"/>
            <a:ext cx="2682240" cy="1234440"/>
          </a:xfrm>
          <a:prstGeom prst="roundRect">
            <a:avLst>
              <a:gd name="adj" fmla="val 592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Terms are the issue?</a:t>
            </a:r>
            <a:endParaRPr lang="en-US" sz="1200" dirty="0"/>
          </a:p>
        </p:txBody>
      </p:sp>
      <p:sp>
        <p:nvSpPr>
          <p:cNvPr id="20" name="Text 14"/>
          <p:cNvSpPr txBox="1"/>
          <p:nvPr/>
        </p:nvSpPr>
        <p:spPr>
          <a:xfrm>
            <a:off x="6214872" y="2221992"/>
            <a:ext cx="2353056" cy="2468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Walk through MF, MCT and ETF.</a:t>
            </a:r>
            <a:endParaRPr lang="en-US" sz="950" dirty="0"/>
          </a:p>
        </p:txBody>
      </p:sp>
      <p:sp>
        <p:nvSpPr>
          <p:cNvPr id="21" name="Shape 15"/>
          <p:cNvSpPr/>
          <p:nvPr/>
        </p:nvSpPr>
        <p:spPr>
          <a:xfrm>
            <a:off x="411480" y="2743200"/>
            <a:ext cx="8321040" cy="594360"/>
          </a:xfrm>
          <a:prstGeom prst="roundRect">
            <a:avLst>
              <a:gd name="adj" fmla="val 12308"/>
            </a:avLst>
          </a:prstGeom>
          <a:solidFill>
            <a:srgbClr val="E3F4F1"/>
          </a:solidFill>
          <a:ln w="9525">
            <a:solidFill>
              <a:srgbClr val="E3F4F1"/>
            </a:solidFill>
            <a:prstDash val="solid"/>
          </a:ln>
        </p:spPr>
      </p:sp>
      <p:sp>
        <p:nvSpPr>
          <p:cNvPr id="22" name="Shape 16"/>
          <p:cNvSpPr/>
          <p:nvPr/>
        </p:nvSpPr>
        <p:spPr>
          <a:xfrm>
            <a:off x="411480" y="2816352"/>
            <a:ext cx="45720" cy="448056"/>
          </a:xfrm>
          <a:prstGeom prst="rect">
            <a:avLst/>
          </a:prstGeom>
          <a:solidFill>
            <a:srgbClr val="0B7A6F"/>
          </a:solidFill>
          <a:ln w="12700">
            <a:solidFill>
              <a:srgbClr val="0B7A6F"/>
            </a:solidFill>
            <a:prstDash val="solid"/>
          </a:ln>
        </p:spPr>
      </p:sp>
      <p:sp>
        <p:nvSpPr>
          <p:cNvPr id="23" name="Text 17"/>
          <p:cNvSpPr txBox="1"/>
          <p:nvPr/>
        </p:nvSpPr>
        <p:spPr>
          <a:xfrm>
            <a:off x="594360" y="2743200"/>
            <a:ext cx="8001000" cy="59436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THIS IS ENOUGH</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“Just a quick reminder, your voucher comes with a membership which will start once it's used.”</a:t>
            </a:r>
            <a:endParaRPr lang="en-US" sz="1000" dirty="0"/>
          </a:p>
        </p:txBody>
      </p:sp>
      <p:sp>
        <p:nvSpPr>
          <p:cNvPr id="24" name="Shape 18"/>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630168"/>
            <a:ext cx="164592" cy="164592"/>
          </a:xfrm>
          <a:prstGeom prst="rect">
            <a:avLst/>
          </a:prstGeom>
        </p:spPr>
      </p:pic>
      <p:sp>
        <p:nvSpPr>
          <p:cNvPr id="26" name="Text 19"/>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 didn't realize there's a monthly fee"?  </a:t>
            </a:r>
            <a:r>
              <a:rPr lang="en-US" sz="1000" dirty="0">
                <a:solidFill>
                  <a:srgbClr val="1D1D1F"/>
                </a:solidFill>
                <a:latin typeface="SF Pro Text" pitchFamily="34" charset="0"/>
                <a:ea typeface="SF Pro Text" pitchFamily="34" charset="-122"/>
                <a:cs typeface="SF Pro Text" pitchFamily="34" charset="-120"/>
              </a:rPr>
              <a:t>that's no longer a reminder. Explain the actual terms.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Case 2: Refund or cancel intent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Know what you're solving before you offer anything.</a:t>
            </a:r>
            <a:endParaRPr lang="en-US" sz="1200" dirty="0"/>
          </a:p>
        </p:txBody>
      </p:sp>
      <p:sp>
        <p:nvSpPr>
          <p:cNvPr id="6" name="Shape 3"/>
          <p:cNvSpPr/>
          <p:nvPr/>
        </p:nvSpPr>
        <p:spPr>
          <a:xfrm>
            <a:off x="411480" y="1298448"/>
            <a:ext cx="4389120" cy="347472"/>
          </a:xfrm>
          <a:prstGeom prst="roundRect">
            <a:avLst>
              <a:gd name="adj" fmla="val 21053"/>
            </a:avLst>
          </a:prstGeom>
          <a:solidFill>
            <a:srgbClr val="FFFFFF"/>
          </a:solidFill>
          <a:ln w="9525">
            <a:solidFill>
              <a:srgbClr val="DCE1E7"/>
            </a:solidFill>
            <a:prstDash val="solid"/>
          </a:ln>
        </p:spPr>
      </p:sp>
      <p:sp>
        <p:nvSpPr>
          <p:cNvPr id="7" name="Shape 4"/>
          <p:cNvSpPr/>
          <p:nvPr/>
        </p:nvSpPr>
        <p:spPr>
          <a:xfrm>
            <a:off x="484632" y="1335024"/>
            <a:ext cx="274320" cy="274320"/>
          </a:xfrm>
          <a:prstGeom prst="ellipse">
            <a:avLst/>
          </a:prstGeom>
          <a:solidFill>
            <a:srgbClr val="E3F4F1"/>
          </a:solidFill>
          <a:ln w="12700">
            <a:solidFill>
              <a:srgbClr val="E3F4F1"/>
            </a:solidFill>
            <a:prstDash val="solid"/>
          </a:ln>
        </p:spPr>
      </p:sp>
      <p:sp>
        <p:nvSpPr>
          <p:cNvPr id="8" name="Text 5"/>
          <p:cNvSpPr txBox="1"/>
          <p:nvPr/>
        </p:nvSpPr>
        <p:spPr>
          <a:xfrm>
            <a:off x="484632" y="1335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868680" y="1298448"/>
            <a:ext cx="3840480" cy="34747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Reason given? If not, probe</a:t>
            </a:r>
            <a:endParaRPr lang="en-US" sz="950" dirty="0"/>
          </a:p>
        </p:txBody>
      </p:sp>
      <p:sp>
        <p:nvSpPr>
          <p:cNvPr id="10" name="Shape 7"/>
          <p:cNvSpPr/>
          <p:nvPr/>
        </p:nvSpPr>
        <p:spPr>
          <a:xfrm>
            <a:off x="411480" y="1700784"/>
            <a:ext cx="4389120" cy="347472"/>
          </a:xfrm>
          <a:prstGeom prst="roundRect">
            <a:avLst>
              <a:gd name="adj" fmla="val 21053"/>
            </a:avLst>
          </a:prstGeom>
          <a:solidFill>
            <a:srgbClr val="FFFFFF"/>
          </a:solidFill>
          <a:ln w="9525">
            <a:solidFill>
              <a:srgbClr val="DCE1E7"/>
            </a:solidFill>
            <a:prstDash val="solid"/>
          </a:ln>
        </p:spPr>
      </p:sp>
      <p:sp>
        <p:nvSpPr>
          <p:cNvPr id="11" name="Shape 8"/>
          <p:cNvSpPr/>
          <p:nvPr/>
        </p:nvSpPr>
        <p:spPr>
          <a:xfrm>
            <a:off x="484632" y="173736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4632" y="17373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868680" y="1700784"/>
            <a:ext cx="3840480" cy="34747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Acknowledge</a:t>
            </a:r>
            <a:endParaRPr lang="en-US" sz="950" dirty="0"/>
          </a:p>
        </p:txBody>
      </p:sp>
      <p:sp>
        <p:nvSpPr>
          <p:cNvPr id="14" name="Shape 11"/>
          <p:cNvSpPr/>
          <p:nvPr/>
        </p:nvSpPr>
        <p:spPr>
          <a:xfrm>
            <a:off x="411480" y="2103120"/>
            <a:ext cx="4389120" cy="347472"/>
          </a:xfrm>
          <a:prstGeom prst="roundRect">
            <a:avLst>
              <a:gd name="adj" fmla="val 21053"/>
            </a:avLst>
          </a:prstGeom>
          <a:solidFill>
            <a:srgbClr val="FFFFFF"/>
          </a:solidFill>
          <a:ln w="9525">
            <a:solidFill>
              <a:srgbClr val="DCE1E7"/>
            </a:solidFill>
            <a:prstDash val="solid"/>
          </a:ln>
        </p:spPr>
      </p:sp>
      <p:sp>
        <p:nvSpPr>
          <p:cNvPr id="15" name="Shape 12"/>
          <p:cNvSpPr/>
          <p:nvPr/>
        </p:nvSpPr>
        <p:spPr>
          <a:xfrm>
            <a:off x="484632" y="2139696"/>
            <a:ext cx="274320" cy="274320"/>
          </a:xfrm>
          <a:prstGeom prst="ellipse">
            <a:avLst/>
          </a:prstGeom>
          <a:solidFill>
            <a:srgbClr val="E3F4F1"/>
          </a:solidFill>
          <a:ln w="12700">
            <a:solidFill>
              <a:srgbClr val="E3F4F1"/>
            </a:solidFill>
            <a:prstDash val="solid"/>
          </a:ln>
        </p:spPr>
      </p:sp>
      <p:sp>
        <p:nvSpPr>
          <p:cNvPr id="16" name="Text 13"/>
          <p:cNvSpPr txBox="1"/>
          <p:nvPr/>
        </p:nvSpPr>
        <p:spPr>
          <a:xfrm>
            <a:off x="484632" y="213969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7" name="Text 14"/>
          <p:cNvSpPr txBox="1"/>
          <p:nvPr/>
        </p:nvSpPr>
        <p:spPr>
          <a:xfrm>
            <a:off x="868680" y="2103120"/>
            <a:ext cx="3840480" cy="34747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Fix the actual issue</a:t>
            </a:r>
            <a:endParaRPr lang="en-US" sz="950" dirty="0"/>
          </a:p>
        </p:txBody>
      </p:sp>
      <p:sp>
        <p:nvSpPr>
          <p:cNvPr id="18" name="Shape 15"/>
          <p:cNvSpPr/>
          <p:nvPr/>
        </p:nvSpPr>
        <p:spPr>
          <a:xfrm>
            <a:off x="411480" y="2505456"/>
            <a:ext cx="4389120" cy="347472"/>
          </a:xfrm>
          <a:prstGeom prst="roundRect">
            <a:avLst>
              <a:gd name="adj" fmla="val 21053"/>
            </a:avLst>
          </a:prstGeom>
          <a:solidFill>
            <a:srgbClr val="FFFFFF"/>
          </a:solidFill>
          <a:ln w="9525">
            <a:solidFill>
              <a:srgbClr val="DCE1E7"/>
            </a:solidFill>
            <a:prstDash val="solid"/>
          </a:ln>
        </p:spPr>
      </p:sp>
      <p:sp>
        <p:nvSpPr>
          <p:cNvPr id="19" name="Shape 16"/>
          <p:cNvSpPr/>
          <p:nvPr/>
        </p:nvSpPr>
        <p:spPr>
          <a:xfrm>
            <a:off x="484632" y="2542032"/>
            <a:ext cx="274320" cy="274320"/>
          </a:xfrm>
          <a:prstGeom prst="ellipse">
            <a:avLst/>
          </a:prstGeom>
          <a:solidFill>
            <a:srgbClr val="E3F4F1"/>
          </a:solidFill>
          <a:ln w="12700">
            <a:solidFill>
              <a:srgbClr val="E3F4F1"/>
            </a:solidFill>
            <a:prstDash val="solid"/>
          </a:ln>
        </p:spPr>
      </p:sp>
      <p:sp>
        <p:nvSpPr>
          <p:cNvPr id="20" name="Text 17"/>
          <p:cNvSpPr txBox="1"/>
          <p:nvPr/>
        </p:nvSpPr>
        <p:spPr>
          <a:xfrm>
            <a:off x="484632" y="254203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1" name="Text 18"/>
          <p:cNvSpPr txBox="1"/>
          <p:nvPr/>
        </p:nvSpPr>
        <p:spPr>
          <a:xfrm>
            <a:off x="868680" y="2505456"/>
            <a:ext cx="3840480" cy="34747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Present the right offer</a:t>
            </a:r>
            <a:endParaRPr lang="en-US" sz="950" dirty="0"/>
          </a:p>
        </p:txBody>
      </p:sp>
      <p:sp>
        <p:nvSpPr>
          <p:cNvPr id="22" name="Shape 19"/>
          <p:cNvSpPr/>
          <p:nvPr/>
        </p:nvSpPr>
        <p:spPr>
          <a:xfrm>
            <a:off x="411480" y="2907792"/>
            <a:ext cx="4389120" cy="347472"/>
          </a:xfrm>
          <a:prstGeom prst="roundRect">
            <a:avLst>
              <a:gd name="adj" fmla="val 21053"/>
            </a:avLst>
          </a:prstGeom>
          <a:solidFill>
            <a:srgbClr val="FFFFFF"/>
          </a:solidFill>
          <a:ln w="9525">
            <a:solidFill>
              <a:srgbClr val="DCE1E7"/>
            </a:solidFill>
            <a:prstDash val="solid"/>
          </a:ln>
        </p:spPr>
      </p:sp>
      <p:sp>
        <p:nvSpPr>
          <p:cNvPr id="23" name="Shape 20"/>
          <p:cNvSpPr/>
          <p:nvPr/>
        </p:nvSpPr>
        <p:spPr>
          <a:xfrm>
            <a:off x="484632" y="2944368"/>
            <a:ext cx="274320" cy="274320"/>
          </a:xfrm>
          <a:prstGeom prst="ellipse">
            <a:avLst/>
          </a:prstGeom>
          <a:solidFill>
            <a:srgbClr val="E3F4F1"/>
          </a:solidFill>
          <a:ln w="12700">
            <a:solidFill>
              <a:srgbClr val="E3F4F1"/>
            </a:solidFill>
            <a:prstDash val="solid"/>
          </a:ln>
        </p:spPr>
      </p:sp>
      <p:sp>
        <p:nvSpPr>
          <p:cNvPr id="24" name="Text 21"/>
          <p:cNvSpPr txBox="1"/>
          <p:nvPr/>
        </p:nvSpPr>
        <p:spPr>
          <a:xfrm>
            <a:off x="484632" y="29443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5" name="Text 22"/>
          <p:cNvSpPr txBox="1"/>
          <p:nvPr/>
        </p:nvSpPr>
        <p:spPr>
          <a:xfrm>
            <a:off x="868680" y="2907792"/>
            <a:ext cx="3840480" cy="34747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Valid for a year. Comes with a membership</a:t>
            </a:r>
            <a:endParaRPr lang="en-US" sz="950" dirty="0"/>
          </a:p>
        </p:txBody>
      </p:sp>
      <p:sp>
        <p:nvSpPr>
          <p:cNvPr id="26" name="Shape 23"/>
          <p:cNvSpPr/>
          <p:nvPr/>
        </p:nvSpPr>
        <p:spPr>
          <a:xfrm>
            <a:off x="411480" y="3310128"/>
            <a:ext cx="4389120" cy="347472"/>
          </a:xfrm>
          <a:prstGeom prst="roundRect">
            <a:avLst>
              <a:gd name="adj" fmla="val 21053"/>
            </a:avLst>
          </a:prstGeom>
          <a:solidFill>
            <a:srgbClr val="FFFFFF"/>
          </a:solidFill>
          <a:ln w="9525">
            <a:solidFill>
              <a:srgbClr val="DCE1E7"/>
            </a:solidFill>
            <a:prstDash val="solid"/>
          </a:ln>
        </p:spPr>
      </p:sp>
      <p:sp>
        <p:nvSpPr>
          <p:cNvPr id="27" name="Shape 24"/>
          <p:cNvSpPr/>
          <p:nvPr/>
        </p:nvSpPr>
        <p:spPr>
          <a:xfrm>
            <a:off x="484632" y="3346704"/>
            <a:ext cx="274320" cy="274320"/>
          </a:xfrm>
          <a:prstGeom prst="ellipse">
            <a:avLst/>
          </a:prstGeom>
          <a:solidFill>
            <a:srgbClr val="E3F4F1"/>
          </a:solidFill>
          <a:ln w="12700">
            <a:solidFill>
              <a:srgbClr val="E3F4F1"/>
            </a:solidFill>
            <a:prstDash val="solid"/>
          </a:ln>
        </p:spPr>
      </p:sp>
      <p:sp>
        <p:nvSpPr>
          <p:cNvPr id="28" name="Text 25"/>
          <p:cNvSpPr txBox="1"/>
          <p:nvPr/>
        </p:nvSpPr>
        <p:spPr>
          <a:xfrm>
            <a:off x="484632" y="33467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29" name="Text 26"/>
          <p:cNvSpPr txBox="1"/>
          <p:nvPr/>
        </p:nvSpPr>
        <p:spPr>
          <a:xfrm>
            <a:off x="868680" y="3310128"/>
            <a:ext cx="3840480" cy="347472"/>
          </a:xfrm>
          <a:prstGeom prst="rect">
            <a:avLst/>
          </a:prstGeom>
          <a:noFill/>
          <a:ln/>
        </p:spPr>
        <p:txBody>
          <a:bodyPr wrap="square" lIns="0" tIns="0" rIns="0" bIns="0" rtlCol="0" anchor="ct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intent? Send the self-refund link</a:t>
            </a:r>
            <a:endParaRPr lang="en-US" sz="950" dirty="0"/>
          </a:p>
        </p:txBody>
      </p:sp>
      <p:sp>
        <p:nvSpPr>
          <p:cNvPr id="30" name="Shape 27"/>
          <p:cNvSpPr/>
          <p:nvPr/>
        </p:nvSpPr>
        <p:spPr>
          <a:xfrm>
            <a:off x="411480" y="3712464"/>
            <a:ext cx="4389120" cy="347472"/>
          </a:xfrm>
          <a:prstGeom prst="roundRect">
            <a:avLst>
              <a:gd name="adj" fmla="val 21053"/>
            </a:avLst>
          </a:prstGeom>
          <a:solidFill>
            <a:srgbClr val="FFFFFF"/>
          </a:solidFill>
          <a:ln w="9525">
            <a:solidFill>
              <a:srgbClr val="DCE1E7"/>
            </a:solidFill>
            <a:prstDash val="solid"/>
          </a:ln>
        </p:spPr>
      </p:sp>
      <p:sp>
        <p:nvSpPr>
          <p:cNvPr id="31" name="Shape 28"/>
          <p:cNvSpPr/>
          <p:nvPr/>
        </p:nvSpPr>
        <p:spPr>
          <a:xfrm>
            <a:off x="484632" y="3749040"/>
            <a:ext cx="274320" cy="274320"/>
          </a:xfrm>
          <a:prstGeom prst="ellipse">
            <a:avLst/>
          </a:prstGeom>
          <a:solidFill>
            <a:srgbClr val="E3F4F1"/>
          </a:solidFill>
          <a:ln w="12700">
            <a:solidFill>
              <a:srgbClr val="E3F4F1"/>
            </a:solidFill>
            <a:prstDash val="solid"/>
          </a:ln>
        </p:spPr>
      </p:sp>
      <p:sp>
        <p:nvSpPr>
          <p:cNvPr id="32" name="Text 29"/>
          <p:cNvSpPr txBox="1"/>
          <p:nvPr/>
        </p:nvSpPr>
        <p:spPr>
          <a:xfrm>
            <a:off x="484632" y="3749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33" name="Text 30"/>
          <p:cNvSpPr txBox="1"/>
          <p:nvPr/>
        </p:nvSpPr>
        <p:spPr>
          <a:xfrm>
            <a:off x="868680" y="3712464"/>
            <a:ext cx="3840480" cy="34747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Cancel appointments and RC if not wanted</a:t>
            </a:r>
            <a:endParaRPr lang="en-US" sz="950" dirty="0"/>
          </a:p>
        </p:txBody>
      </p:sp>
      <p:sp>
        <p:nvSpPr>
          <p:cNvPr id="34" name="Shape 31"/>
          <p:cNvSpPr/>
          <p:nvPr/>
        </p:nvSpPr>
        <p:spPr>
          <a:xfrm>
            <a:off x="4983480" y="1298448"/>
            <a:ext cx="3749040" cy="1325880"/>
          </a:xfrm>
          <a:prstGeom prst="roundRect">
            <a:avLst>
              <a:gd name="adj" fmla="val 5517"/>
            </a:avLst>
          </a:prstGeom>
          <a:solidFill>
            <a:srgbClr val="FFF3D6"/>
          </a:solidFill>
          <a:ln w="9525">
            <a:solidFill>
              <a:srgbClr val="9A6410"/>
            </a:solidFill>
            <a:prstDash val="solid"/>
          </a:ln>
        </p:spPr>
      </p:sp>
      <p:sp>
        <p:nvSpPr>
          <p:cNvPr id="35" name="Text 32"/>
          <p:cNvSpPr/>
          <p:nvPr/>
        </p:nvSpPr>
        <p:spPr>
          <a:xfrm>
            <a:off x="4983480" y="1298448"/>
            <a:ext cx="3749040" cy="329184"/>
          </a:xfrm>
          <a:prstGeom prst="roundRect">
            <a:avLst>
              <a:gd name="adj" fmla="val 16667"/>
            </a:avLst>
          </a:prstGeom>
          <a:solidFill>
            <a:srgbClr val="9A6410"/>
          </a:solidFill>
          <a:ln w="12700">
            <a:solidFill>
              <a:srgbClr val="9A6410"/>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Self-refund link</a:t>
            </a:r>
            <a:endParaRPr lang="en-US" sz="1050" dirty="0"/>
          </a:p>
        </p:txBody>
      </p:sp>
      <p:sp>
        <p:nvSpPr>
          <p:cNvPr id="36" name="Text 33"/>
          <p:cNvSpPr txBox="1"/>
          <p:nvPr/>
        </p:nvSpPr>
        <p:spPr>
          <a:xfrm>
            <a:off x="5148072" y="1737360"/>
            <a:ext cx="3419856" cy="81381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Only if they want a refund</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Enter the voucher code before "Refund Voucher"</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Double-check the code in your message</a:t>
            </a:r>
            <a:endParaRPr lang="en-US" sz="950" dirty="0"/>
          </a:p>
        </p:txBody>
      </p:sp>
      <p:sp>
        <p:nvSpPr>
          <p:cNvPr id="37" name="Shape 34"/>
          <p:cNvSpPr/>
          <p:nvPr/>
        </p:nvSpPr>
        <p:spPr>
          <a:xfrm>
            <a:off x="4983480" y="2743200"/>
            <a:ext cx="3749040" cy="1325880"/>
          </a:xfrm>
          <a:prstGeom prst="roundRect">
            <a:avLst>
              <a:gd name="adj" fmla="val 5517"/>
            </a:avLst>
          </a:prstGeom>
          <a:solidFill>
            <a:srgbClr val="FFFFFF"/>
          </a:solidFill>
          <a:ln w="9525">
            <a:solidFill>
              <a:srgbClr val="1D1D1F"/>
            </a:solidFill>
            <a:prstDash val="solid"/>
          </a:ln>
        </p:spPr>
      </p:sp>
      <p:sp>
        <p:nvSpPr>
          <p:cNvPr id="38" name="Text 35"/>
          <p:cNvSpPr/>
          <p:nvPr/>
        </p:nvSpPr>
        <p:spPr>
          <a:xfrm>
            <a:off x="4983480" y="2743200"/>
            <a:ext cx="374904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Still insists on a refund?</a:t>
            </a:r>
            <a:endParaRPr lang="en-US" sz="1050" dirty="0"/>
          </a:p>
        </p:txBody>
      </p:sp>
      <p:sp>
        <p:nvSpPr>
          <p:cNvPr id="39" name="Text 36"/>
          <p:cNvSpPr txBox="1"/>
          <p:nvPr/>
        </p:nvSpPr>
        <p:spPr>
          <a:xfrm>
            <a:off x="5148072" y="3182112"/>
            <a:ext cx="3419856" cy="81381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CRM &gt; voucher &gt; refund DHJ/FC, then invalidate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Refund in 5–10 business days</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Deactivate the FC table if there is one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Case 2: Which offer?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Retention Strategy Table for unused DHJ vouchers.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371600"/>
                <a:gridCol w="4114800"/>
                <a:gridCol w="2834640"/>
              </a:tblGrid>
              <a:tr h="347472">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Root cause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Condition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Offer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CP no-show, CP cancellation, no CP claim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$10–$20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Found another cleaner, wants same-day, moved, no phone support, will self-clean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offer needed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Membership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MF is expensive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MF −$10–$15 off the original MF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Membership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MCT is too long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MCT −2 months from the original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Membership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Doesn't want a membership at all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offer. Mention flexible terms; OTC if it fits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Alternative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Wants one cleaning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One-time cleaning: full price, upfront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Alternative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Wants to try it out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Trial Cleaning: regular price, upfront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Case 3: Close the account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refund intent. Treat the first reach-out as cancellation intent.</a:t>
            </a:r>
            <a:endParaRPr lang="en-US" sz="1200" dirty="0"/>
          </a:p>
        </p:txBody>
      </p:sp>
      <p:sp>
        <p:nvSpPr>
          <p:cNvPr id="6" name="Text 3"/>
          <p:cNvSpPr txBox="1"/>
          <p:nvPr/>
        </p:nvSpPr>
        <p:spPr>
          <a:xfrm>
            <a:off x="411480" y="1298448"/>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FIRST REACH-OUT</a:t>
            </a:r>
            <a:endParaRPr lang="en-US" sz="800" dirty="0"/>
          </a:p>
        </p:txBody>
      </p:sp>
      <p:sp>
        <p:nvSpPr>
          <p:cNvPr id="7" name="Text 4"/>
          <p:cNvSpPr txBox="1"/>
          <p:nvPr/>
        </p:nvSpPr>
        <p:spPr>
          <a:xfrm>
            <a:off x="411480" y="1536192"/>
            <a:ext cx="2743200" cy="1280160"/>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Acknowledge, probe for the reason</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Unsubscribe them from emails</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Voucher valid for a year, tied to a membership</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Check upcoming appointments</a:t>
            </a:r>
            <a:endParaRPr lang="en-US" sz="950" dirty="0"/>
          </a:p>
        </p:txBody>
      </p:sp>
      <p:sp>
        <p:nvSpPr>
          <p:cNvPr id="8" name="Text 5"/>
          <p:cNvSpPr txBox="1"/>
          <p:nvPr/>
        </p:nvSpPr>
        <p:spPr>
          <a:xfrm>
            <a:off x="3383280" y="1298448"/>
            <a:ext cx="54864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STILL INSISTS? CLOSE IT IN THIS ORDER</a:t>
            </a:r>
            <a:endParaRPr lang="en-US" sz="800" dirty="0"/>
          </a:p>
        </p:txBody>
      </p:sp>
      <p:sp>
        <p:nvSpPr>
          <p:cNvPr id="9" name="Shape 6"/>
          <p:cNvSpPr/>
          <p:nvPr/>
        </p:nvSpPr>
        <p:spPr>
          <a:xfrm>
            <a:off x="3383280" y="1536192"/>
            <a:ext cx="5349240" cy="402336"/>
          </a:xfrm>
          <a:prstGeom prst="roundRect">
            <a:avLst>
              <a:gd name="adj" fmla="val 18182"/>
            </a:avLst>
          </a:prstGeom>
          <a:solidFill>
            <a:srgbClr val="FFFFFF"/>
          </a:solidFill>
          <a:ln w="9525">
            <a:solidFill>
              <a:srgbClr val="DCE1E7"/>
            </a:solidFill>
            <a:prstDash val="solid"/>
          </a:ln>
        </p:spPr>
      </p:sp>
      <p:sp>
        <p:nvSpPr>
          <p:cNvPr id="10" name="Shape 7"/>
          <p:cNvSpPr/>
          <p:nvPr/>
        </p:nvSpPr>
        <p:spPr>
          <a:xfrm>
            <a:off x="3474720" y="1600200"/>
            <a:ext cx="274320" cy="274320"/>
          </a:xfrm>
          <a:prstGeom prst="ellipse">
            <a:avLst/>
          </a:prstGeom>
          <a:solidFill>
            <a:srgbClr val="E3F4F1"/>
          </a:solidFill>
          <a:ln w="12700">
            <a:solidFill>
              <a:srgbClr val="E3F4F1"/>
            </a:solidFill>
            <a:prstDash val="solid"/>
          </a:ln>
        </p:spPr>
      </p:sp>
      <p:sp>
        <p:nvSpPr>
          <p:cNvPr id="11" name="Text 8"/>
          <p:cNvSpPr txBox="1"/>
          <p:nvPr/>
        </p:nvSpPr>
        <p:spPr>
          <a:xfrm>
            <a:off x="3474720" y="16002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2" name="Text 9"/>
          <p:cNvSpPr txBox="1"/>
          <p:nvPr/>
        </p:nvSpPr>
        <p:spPr>
          <a:xfrm>
            <a:off x="3840480" y="1536192"/>
            <a:ext cx="4800600" cy="402336"/>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Invalidate the voucher  </a:t>
            </a:r>
            <a:r>
              <a:rPr lang="en-US" sz="850" dirty="0">
                <a:solidFill>
                  <a:srgbClr val="6E6E73"/>
                </a:solidFill>
                <a:latin typeface="SF Pro Text" pitchFamily="34" charset="0"/>
                <a:ea typeface="SF Pro Text" pitchFamily="34" charset="-122"/>
                <a:cs typeface="SF Pro Text" pitchFamily="34" charset="-120"/>
              </a:rPr>
              <a:t>C Do &gt; Voucher Invalidate</a:t>
            </a:r>
            <a:endParaRPr lang="en-US" sz="1000" dirty="0"/>
          </a:p>
        </p:txBody>
      </p:sp>
      <p:sp>
        <p:nvSpPr>
          <p:cNvPr id="13" name="Shape 10"/>
          <p:cNvSpPr/>
          <p:nvPr/>
        </p:nvSpPr>
        <p:spPr>
          <a:xfrm>
            <a:off x="3383280" y="1993392"/>
            <a:ext cx="5349240" cy="402336"/>
          </a:xfrm>
          <a:prstGeom prst="roundRect">
            <a:avLst>
              <a:gd name="adj" fmla="val 18182"/>
            </a:avLst>
          </a:prstGeom>
          <a:solidFill>
            <a:srgbClr val="FFFFFF"/>
          </a:solidFill>
          <a:ln w="9525">
            <a:solidFill>
              <a:srgbClr val="DCE1E7"/>
            </a:solidFill>
            <a:prstDash val="solid"/>
          </a:ln>
        </p:spPr>
      </p:sp>
      <p:sp>
        <p:nvSpPr>
          <p:cNvPr id="14" name="Shape 11"/>
          <p:cNvSpPr/>
          <p:nvPr/>
        </p:nvSpPr>
        <p:spPr>
          <a:xfrm>
            <a:off x="3474720" y="2057400"/>
            <a:ext cx="274320" cy="274320"/>
          </a:xfrm>
          <a:prstGeom prst="ellipse">
            <a:avLst/>
          </a:prstGeom>
          <a:solidFill>
            <a:srgbClr val="E3F4F1"/>
          </a:solidFill>
          <a:ln w="12700">
            <a:solidFill>
              <a:srgbClr val="E3F4F1"/>
            </a:solidFill>
            <a:prstDash val="solid"/>
          </a:ln>
        </p:spPr>
      </p:sp>
      <p:sp>
        <p:nvSpPr>
          <p:cNvPr id="15" name="Text 12"/>
          <p:cNvSpPr txBox="1"/>
          <p:nvPr/>
        </p:nvSpPr>
        <p:spPr>
          <a:xfrm>
            <a:off x="3474720" y="20574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Text 13"/>
          <p:cNvSpPr txBox="1"/>
          <p:nvPr/>
        </p:nvSpPr>
        <p:spPr>
          <a:xfrm>
            <a:off x="3840480" y="1993392"/>
            <a:ext cx="4800600" cy="402336"/>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Try to cancel FC  </a:t>
            </a:r>
            <a:r>
              <a:rPr lang="en-US" sz="850" dirty="0">
                <a:solidFill>
                  <a:srgbClr val="6E6E73"/>
                </a:solidFill>
                <a:latin typeface="SF Pro Text" pitchFamily="34" charset="0"/>
                <a:ea typeface="SF Pro Text" pitchFamily="34" charset="-122"/>
                <a:cs typeface="SF Pro Text" pitchFamily="34" charset="-120"/>
              </a:rPr>
              <a:t>System says the voucher would be refunded? TL cancels without refund</a:t>
            </a:r>
            <a:endParaRPr lang="en-US" sz="1000" dirty="0"/>
          </a:p>
        </p:txBody>
      </p:sp>
      <p:sp>
        <p:nvSpPr>
          <p:cNvPr id="17" name="Shape 14"/>
          <p:cNvSpPr/>
          <p:nvPr/>
        </p:nvSpPr>
        <p:spPr>
          <a:xfrm>
            <a:off x="3383280" y="2450592"/>
            <a:ext cx="5349240" cy="402336"/>
          </a:xfrm>
          <a:prstGeom prst="roundRect">
            <a:avLst>
              <a:gd name="adj" fmla="val 18182"/>
            </a:avLst>
          </a:prstGeom>
          <a:solidFill>
            <a:srgbClr val="FFF3D6"/>
          </a:solidFill>
          <a:ln w="9525">
            <a:solidFill>
              <a:srgbClr val="9A6410"/>
            </a:solidFill>
            <a:prstDash val="solid"/>
          </a:ln>
        </p:spPr>
      </p:sp>
      <p:sp>
        <p:nvSpPr>
          <p:cNvPr id="18" name="Shape 15"/>
          <p:cNvSpPr/>
          <p:nvPr/>
        </p:nvSpPr>
        <p:spPr>
          <a:xfrm>
            <a:off x="3474720" y="2514600"/>
            <a:ext cx="274320" cy="274320"/>
          </a:xfrm>
          <a:prstGeom prst="ellipse">
            <a:avLst/>
          </a:prstGeom>
          <a:solidFill>
            <a:srgbClr val="E3F4F1"/>
          </a:solidFill>
          <a:ln w="12700">
            <a:solidFill>
              <a:srgbClr val="E3F4F1"/>
            </a:solidFill>
            <a:prstDash val="solid"/>
          </a:ln>
        </p:spPr>
      </p:sp>
      <p:sp>
        <p:nvSpPr>
          <p:cNvPr id="19" name="Text 16"/>
          <p:cNvSpPr txBox="1"/>
          <p:nvPr/>
        </p:nvSpPr>
        <p:spPr>
          <a:xfrm>
            <a:off x="3474720" y="25146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3840480" y="2450592"/>
            <a:ext cx="4800600" cy="402336"/>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Send the closure email  </a:t>
            </a:r>
            <a:r>
              <a:rPr lang="en-US" sz="850" dirty="0">
                <a:solidFill>
                  <a:srgbClr val="6E6E73"/>
                </a:solidFill>
                <a:latin typeface="SF Pro Text" pitchFamily="34" charset="0"/>
                <a:ea typeface="SF Pro Text" pitchFamily="34" charset="-122"/>
                <a:cs typeface="SF Pro Text" pitchFamily="34" charset="-120"/>
              </a:rPr>
              <a:t>Before deactivating. You can't email them after</a:t>
            </a:r>
            <a:endParaRPr lang="en-US" sz="1000" dirty="0"/>
          </a:p>
        </p:txBody>
      </p:sp>
      <p:sp>
        <p:nvSpPr>
          <p:cNvPr id="21" name="Shape 18"/>
          <p:cNvSpPr/>
          <p:nvPr/>
        </p:nvSpPr>
        <p:spPr>
          <a:xfrm>
            <a:off x="3383280" y="2907792"/>
            <a:ext cx="5349240" cy="402336"/>
          </a:xfrm>
          <a:prstGeom prst="roundRect">
            <a:avLst>
              <a:gd name="adj" fmla="val 18182"/>
            </a:avLst>
          </a:prstGeom>
          <a:solidFill>
            <a:srgbClr val="FFFFFF"/>
          </a:solidFill>
          <a:ln w="9525">
            <a:solidFill>
              <a:srgbClr val="DCE1E7"/>
            </a:solidFill>
            <a:prstDash val="solid"/>
          </a:ln>
        </p:spPr>
      </p:sp>
      <p:sp>
        <p:nvSpPr>
          <p:cNvPr id="22" name="Shape 19"/>
          <p:cNvSpPr/>
          <p:nvPr/>
        </p:nvSpPr>
        <p:spPr>
          <a:xfrm>
            <a:off x="3474720" y="297180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3474720" y="2971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3840480" y="2907792"/>
            <a:ext cx="4800600" cy="402336"/>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Deactivate the account  </a:t>
            </a:r>
            <a:r>
              <a:rPr lang="en-US" sz="850" dirty="0">
                <a:solidFill>
                  <a:srgbClr val="6E6E73"/>
                </a:solidFill>
                <a:latin typeface="SF Pro Text" pitchFamily="34" charset="0"/>
                <a:ea typeface="SF Pro Text" pitchFamily="34" charset="-122"/>
                <a:cs typeface="SF Pro Text" pitchFamily="34" charset="-120"/>
              </a:rPr>
              <a:t>CRM Do &gt; Deactivate</a:t>
            </a:r>
            <a:endParaRPr lang="en-US" sz="1000" dirty="0"/>
          </a:p>
        </p:txBody>
      </p:sp>
      <p:sp>
        <p:nvSpPr>
          <p:cNvPr id="25" name="Shape 22"/>
          <p:cNvSpPr/>
          <p:nvPr/>
        </p:nvSpPr>
        <p:spPr>
          <a:xfrm>
            <a:off x="411480" y="3474720"/>
            <a:ext cx="8321040" cy="822960"/>
          </a:xfrm>
          <a:prstGeom prst="roundRect">
            <a:avLst>
              <a:gd name="adj" fmla="val 8889"/>
            </a:avLst>
          </a:prstGeom>
          <a:solidFill>
            <a:srgbClr val="E3F4F1"/>
          </a:solidFill>
          <a:ln w="9525">
            <a:solidFill>
              <a:srgbClr val="0B7A6F"/>
            </a:solidFill>
            <a:prstDash val="solid"/>
          </a:ln>
        </p:spPr>
      </p:sp>
      <p:sp>
        <p:nvSpPr>
          <p:cNvPr id="26" name="Text 23"/>
          <p:cNvSpPr/>
          <p:nvPr/>
        </p:nvSpPr>
        <p:spPr>
          <a:xfrm>
            <a:off x="411480" y="3474720"/>
            <a:ext cx="832104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Wants their data deleted too?</a:t>
            </a:r>
            <a:endParaRPr lang="en-US" sz="1050" dirty="0"/>
          </a:p>
        </p:txBody>
      </p:sp>
      <p:sp>
        <p:nvSpPr>
          <p:cNvPr id="27" name="Text 24"/>
          <p:cNvSpPr txBox="1"/>
          <p:nvPr/>
        </p:nvSpPr>
        <p:spPr>
          <a:xfrm>
            <a:off x="576072" y="3913632"/>
            <a:ext cx="7991856" cy="310896"/>
          </a:xfrm>
          <a:prstGeom prst="rect">
            <a:avLst/>
          </a:prstGeom>
          <a:noFill/>
          <a:ln/>
        </p:spPr>
        <p:txBody>
          <a:bodyPr wrap="square" lIns="0" tIns="0" rIns="0" bIns="0" rtlCol="0" anchor="t"/>
          <a:lstStyle/>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Card removal: </a:t>
            </a:r>
            <a:r>
              <a:rPr lang="en-US" sz="950" dirty="0">
                <a:solidFill>
                  <a:srgbClr val="1D1D1F"/>
                </a:solidFill>
                <a:latin typeface="SF Pro Text" pitchFamily="34" charset="0"/>
                <a:ea typeface="SF Pro Text" pitchFamily="34" charset="-122"/>
                <a:cs typeface="SF Pro Text" pitchFamily="34" charset="-120"/>
              </a:rPr>
              <a:t>TL removes it from Stripe.  </a:t>
            </a:r>
            <a:r>
              <a:rPr lang="en-US" sz="950" b="1" dirty="0">
                <a:solidFill>
                  <a:srgbClr val="1D1D1F"/>
                </a:solidFill>
                <a:latin typeface="SF Pro Text" pitchFamily="34" charset="0"/>
                <a:ea typeface="SF Pro Text" pitchFamily="34" charset="-122"/>
                <a:cs typeface="SF Pro Text" pitchFamily="34" charset="-120"/>
              </a:rPr>
              <a:t>Personal data: </a:t>
            </a:r>
            <a:r>
              <a:rPr lang="en-US" sz="950" dirty="0">
                <a:solidFill>
                  <a:srgbClr val="1D1D1F"/>
                </a:solidFill>
                <a:latin typeface="SF Pro Text" pitchFamily="34" charset="0"/>
                <a:ea typeface="SF Pro Text" pitchFamily="34" charset="-122"/>
                <a:cs typeface="SF Pro Text" pitchFamily="34" charset="-120"/>
              </a:rPr>
              <a:t>log to the Data right to know/delete tracker (right away if they asked explicitly).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Case 4: Already self-refunded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retention attempt already ended. Make the exit clean.</a:t>
            </a:r>
            <a:endParaRPr lang="en-US" sz="1200" dirty="0"/>
          </a:p>
        </p:txBody>
      </p:sp>
      <p:sp>
        <p:nvSpPr>
          <p:cNvPr id="6" name="Shape 3"/>
          <p:cNvSpPr/>
          <p:nvPr/>
        </p:nvSpPr>
        <p:spPr>
          <a:xfrm>
            <a:off x="411480" y="132588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Invalidate the leftover voucher</a:t>
            </a:r>
            <a:endParaRPr lang="en-US" sz="1200" dirty="0"/>
          </a:p>
        </p:txBody>
      </p:sp>
      <p:sp>
        <p:nvSpPr>
          <p:cNvPr id="10" name="Text 6"/>
          <p:cNvSpPr txBox="1"/>
          <p:nvPr/>
        </p:nvSpPr>
        <p:spPr>
          <a:xfrm>
            <a:off x="576072" y="222199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system may leave one behind to retain them.</a:t>
            </a:r>
            <a:endParaRPr lang="en-US" sz="950" dirty="0"/>
          </a:p>
        </p:txBody>
      </p:sp>
      <p:sp>
        <p:nvSpPr>
          <p:cNvPr id="11" name="Shape 7"/>
          <p:cNvSpPr/>
          <p:nvPr/>
        </p:nvSpPr>
        <p:spPr>
          <a:xfrm>
            <a:off x="3230880" y="1325880"/>
            <a:ext cx="26822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 FC, RC &amp; appointments</a:t>
            </a:r>
            <a:endParaRPr lang="en-US" sz="1200" dirty="0"/>
          </a:p>
        </p:txBody>
      </p:sp>
      <p:sp>
        <p:nvSpPr>
          <p:cNvPr id="15" name="Text 10"/>
          <p:cNvSpPr txBox="1"/>
          <p:nvPr/>
        </p:nvSpPr>
        <p:spPr>
          <a:xfrm>
            <a:off x="3395472" y="222199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Whatever is still active.</a:t>
            </a:r>
            <a:endParaRPr lang="en-US" sz="950" dirty="0"/>
          </a:p>
        </p:txBody>
      </p:sp>
      <p:sp>
        <p:nvSpPr>
          <p:cNvPr id="16" name="Shape 11"/>
          <p:cNvSpPr/>
          <p:nvPr/>
        </p:nvSpPr>
        <p:spPr>
          <a:xfrm>
            <a:off x="6050280" y="1325880"/>
            <a:ext cx="2682240" cy="1463040"/>
          </a:xfrm>
          <a:prstGeom prst="roundRect">
            <a:avLst>
              <a:gd name="adj" fmla="val 5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Address what's left</a:t>
            </a:r>
            <a:endParaRPr lang="en-US" sz="1200" dirty="0"/>
          </a:p>
        </p:txBody>
      </p:sp>
      <p:sp>
        <p:nvSpPr>
          <p:cNvPr id="20" name="Text 14"/>
          <p:cNvSpPr txBox="1"/>
          <p:nvPr/>
        </p:nvSpPr>
        <p:spPr>
          <a:xfrm>
            <a:off x="6214872" y="222199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remaining concerns.</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Accept their decision:  </a:t>
            </a:r>
            <a:r>
              <a:rPr lang="en-US" sz="1000" dirty="0">
                <a:solidFill>
                  <a:srgbClr val="1D1D1F"/>
                </a:solidFill>
                <a:latin typeface="SF Pro Text" pitchFamily="34" charset="0"/>
                <a:ea typeface="SF Pro Text" pitchFamily="34" charset="-122"/>
                <a:cs typeface="SF Pro Text" pitchFamily="34" charset="-120"/>
              </a:rPr>
              <a:t>focus on a clean, hassle-free cancellation. No retention push.</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FC table shows "active, 0 paid months". Has the membership started?</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starts only when the voucher is used on a completed job.</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with an unused voucher asks about something unrelated. Mention the membership?</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once, gently. Skip it if they clearly already know.</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 say the MF is too expensive. What can you offer?</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Reduce the MF by $10–$15 off the original MF.</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When do you send the self-refund link?</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when they want a refund. Enter the voucher code before "Refund Voucher".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UNUSED DHJ VOUCHER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Which of the 4 cases is this?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And is there an FC table yet?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refund link, refund, or close the account?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FCF Pre-Invoice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Cancelling FCF before the first job is invoiced, and whether to refund.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this only happens on FCF</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internal 24-hour window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refund cheat sheet</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process each refund</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FCF starts at sign-up, so customers can cancel before any cleaning.</a:t>
            </a:r>
            <a:endParaRPr lang="en-US" sz="1200" dirty="0"/>
          </a:p>
        </p:txBody>
      </p:sp>
      <p:sp>
        <p:nvSpPr>
          <p:cNvPr id="6" name="Shape 3"/>
          <p:cNvSpPr/>
          <p:nvPr/>
        </p:nvSpPr>
        <p:spPr>
          <a:xfrm>
            <a:off x="411480" y="1325880"/>
            <a:ext cx="4069080" cy="1371600"/>
          </a:xfrm>
          <a:prstGeom prst="roundRect">
            <a:avLst>
              <a:gd name="adj" fmla="val 5333"/>
            </a:avLst>
          </a:prstGeom>
          <a:solidFill>
            <a:srgbClr val="FFFFFF"/>
          </a:solidFill>
          <a:ln w="9525">
            <a:solidFill>
              <a:srgbClr val="1D1D1F"/>
            </a:solidFill>
            <a:prstDash val="solid"/>
          </a:ln>
        </p:spPr>
      </p:sp>
      <p:sp>
        <p:nvSpPr>
          <p:cNvPr id="7" name="Text 4"/>
          <p:cNvSpPr/>
          <p:nvPr/>
        </p:nvSpPr>
        <p:spPr>
          <a:xfrm>
            <a:off x="41148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Legacy DHJ</a:t>
            </a:r>
            <a:endParaRPr lang="en-US" sz="1050" dirty="0"/>
          </a:p>
        </p:txBody>
      </p:sp>
      <p:sp>
        <p:nvSpPr>
          <p:cNvPr id="8" name="Text 5"/>
          <p:cNvSpPr txBox="1"/>
          <p:nvPr/>
        </p:nvSpPr>
        <p:spPr>
          <a:xfrm>
            <a:off x="576072" y="1764792"/>
            <a:ext cx="3739896" cy="85953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Membership starts after a completed job</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Nothing to cancel before the first cleaning</a:t>
            </a:r>
            <a:endParaRPr lang="en-US" sz="1000" dirty="0"/>
          </a:p>
        </p:txBody>
      </p:sp>
      <p:sp>
        <p:nvSpPr>
          <p:cNvPr id="9" name="Shape 6"/>
          <p:cNvSpPr/>
          <p:nvPr/>
        </p:nvSpPr>
        <p:spPr>
          <a:xfrm>
            <a:off x="4663440" y="1325880"/>
            <a:ext cx="4069080" cy="1371600"/>
          </a:xfrm>
          <a:prstGeom prst="roundRect">
            <a:avLst>
              <a:gd name="adj" fmla="val 5333"/>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FCF</a:t>
            </a:r>
            <a:endParaRPr lang="en-US" sz="1050" dirty="0"/>
          </a:p>
        </p:txBody>
      </p:sp>
      <p:sp>
        <p:nvSpPr>
          <p:cNvPr id="11" name="Text 8"/>
          <p:cNvSpPr txBox="1"/>
          <p:nvPr/>
        </p:nvSpPr>
        <p:spPr>
          <a:xfrm>
            <a:off x="4828032" y="1764792"/>
            <a:ext cx="3739896" cy="85953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Membership starts at sign-up</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Can self-cancel with zero completed jobs</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$19 first month, then $59, auto-renewing</a:t>
            </a:r>
            <a:endParaRPr lang="en-US" sz="1000" dirty="0"/>
          </a:p>
        </p:txBody>
      </p:sp>
      <p:sp>
        <p:nvSpPr>
          <p:cNvPr id="12" name="Shape 9"/>
          <p:cNvSpPr/>
          <p:nvPr/>
        </p:nvSpPr>
        <p:spPr>
          <a:xfrm>
            <a:off x="411480" y="2880360"/>
            <a:ext cx="8321040" cy="457200"/>
          </a:xfrm>
          <a:prstGeom prst="roundRect">
            <a:avLst>
              <a:gd name="adj" fmla="val 16000"/>
            </a:avLst>
          </a:prstGeom>
          <a:solidFill>
            <a:srgbClr val="FCEBEA"/>
          </a:solidFill>
          <a:ln w="9525">
            <a:solidFill>
              <a:srgbClr val="B3261E"/>
            </a:solidFill>
            <a:prstDash val="solid"/>
          </a:ln>
        </p:spPr>
      </p:sp>
      <p:pic>
        <p:nvPicPr>
          <p:cNvPr id="13" name="Image 0" descr="preencoded.png">    </p:cNvPr>
          <p:cNvPicPr>
            <a:picLocks noChangeAspect="1"/>
          </p:cNvPicPr>
          <p:nvPr/>
        </p:nvPicPr>
        <p:blipFill>
          <a:blip r:embed="rId1"/>
          <a:stretch>
            <a:fillRect/>
          </a:stretch>
        </p:blipFill>
        <p:spPr>
          <a:xfrm>
            <a:off x="566928" y="3026664"/>
            <a:ext cx="164592" cy="164592"/>
          </a:xfrm>
          <a:prstGeom prst="rect">
            <a:avLst/>
          </a:prstGeom>
        </p:spPr>
      </p:pic>
      <p:sp>
        <p:nvSpPr>
          <p:cNvPr id="14" name="Text 10"/>
          <p:cNvSpPr txBox="1"/>
          <p:nvPr/>
        </p:nvSpPr>
        <p:spPr>
          <a:xfrm>
            <a:off x="822960" y="2880360"/>
            <a:ext cx="7772400" cy="457200"/>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Retention comes first, always.  </a:t>
            </a:r>
            <a:r>
              <a:rPr lang="en-US" sz="1000" dirty="0">
                <a:solidFill>
                  <a:srgbClr val="1D1D1F"/>
                </a:solidFill>
                <a:latin typeface="SF Pro Text" pitchFamily="34" charset="0"/>
                <a:ea typeface="SF Pro Text" pitchFamily="34" charset="-122"/>
                <a:cs typeface="SF Pro Text" pitchFamily="34" charset="-120"/>
              </a:rPr>
              <a:t>Use the refund table only once they've decided to cancel.</a:t>
            </a:r>
            <a:endParaRPr lang="en-US" sz="1000" dirty="0"/>
          </a:p>
        </p:txBody>
      </p:sp>
      <p:sp>
        <p:nvSpPr>
          <p:cNvPr id="15"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6" name="Image 1" descr="preencoded.png">    </p:cNvPr>
          <p:cNvPicPr>
            <a:picLocks noChangeAspect="1"/>
          </p:cNvPicPr>
          <p:nvPr/>
        </p:nvPicPr>
        <p:blipFill>
          <a:blip r:embed="rId2"/>
          <a:stretch>
            <a:fillRect/>
          </a:stretch>
        </p:blipFill>
        <p:spPr>
          <a:xfrm>
            <a:off x="566928" y="3630168"/>
            <a:ext cx="164592" cy="164592"/>
          </a:xfrm>
          <a:prstGeom prst="rect">
            <a:avLst/>
          </a:prstGeom>
        </p:spPr>
      </p:pic>
      <p:sp>
        <p:nvSpPr>
          <p:cNvPr id="17"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refund depends on:  </a:t>
            </a:r>
            <a:r>
              <a:rPr lang="en-US" sz="1000" dirty="0">
                <a:solidFill>
                  <a:srgbClr val="1D1D1F"/>
                </a:solidFill>
                <a:latin typeface="SF Pro Text" pitchFamily="34" charset="0"/>
                <a:ea typeface="SF Pro Text" pitchFamily="34" charset="-122"/>
                <a:cs typeface="SF Pro Text" pitchFamily="34" charset="-120"/>
              </a:rPr>
              <a:t>how long they've had it, the cleaning length they chose, and whose fault any failure was.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24-hour window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Internal only. Never tell the customer.</a:t>
            </a:r>
            <a:endParaRPr lang="en-US" sz="1200" dirty="0"/>
          </a:p>
        </p:txBody>
      </p:sp>
      <p:sp>
        <p:nvSpPr>
          <p:cNvPr id="6" name="Shape 3"/>
          <p:cNvSpPr/>
          <p:nvPr/>
        </p:nvSpPr>
        <p:spPr>
          <a:xfrm>
            <a:off x="411480" y="1325880"/>
            <a:ext cx="2743200" cy="2194560"/>
          </a:xfrm>
          <a:prstGeom prst="roundRect">
            <a:avLst>
              <a:gd name="adj" fmla="val 3333"/>
            </a:avLst>
          </a:prstGeom>
          <a:solidFill>
            <a:srgbClr val="B3261E"/>
          </a:solidFill>
          <a:ln w="9525">
            <a:solidFill>
              <a:srgbClr val="B3261E"/>
            </a:solidFill>
            <a:prstDash val="solid"/>
          </a:ln>
        </p:spPr>
      </p:sp>
      <p:pic>
        <p:nvPicPr>
          <p:cNvPr id="7" name="Image 0" descr="preencoded.png">    </p:cNvPr>
          <p:cNvPicPr>
            <a:picLocks noChangeAspect="1"/>
          </p:cNvPicPr>
          <p:nvPr/>
        </p:nvPicPr>
        <p:blipFill>
          <a:blip r:embed="rId1"/>
          <a:stretch>
            <a:fillRect/>
          </a:stretch>
        </p:blipFill>
        <p:spPr>
          <a:xfrm>
            <a:off x="640080" y="1536192"/>
            <a:ext cx="384048" cy="384048"/>
          </a:xfrm>
          <a:prstGeom prst="rect">
            <a:avLst/>
          </a:prstGeom>
        </p:spPr>
      </p:pic>
      <p:sp>
        <p:nvSpPr>
          <p:cNvPr id="8" name="Text 4"/>
          <p:cNvSpPr txBox="1"/>
          <p:nvPr/>
        </p:nvSpPr>
        <p:spPr>
          <a:xfrm>
            <a:off x="640080" y="2011680"/>
            <a:ext cx="2331720" cy="1371600"/>
          </a:xfrm>
          <a:prstGeom prst="rect">
            <a:avLst/>
          </a:prstGeom>
          <a:noFill/>
          <a:ln/>
        </p:spPr>
        <p:txBody>
          <a:bodyPr wrap="square" lIns="0" tIns="0" rIns="0" bIns="0" rtlCol="0" anchor="t"/>
          <a:lstStyle/>
          <a:p>
            <a:pPr indent="0" marL="0">
              <a:buNone/>
            </a:pPr>
            <a:r>
              <a:rPr lang="en-US" sz="1500" b="1" dirty="0">
                <a:solidFill>
                  <a:srgbClr val="FFFFFF"/>
                </a:solidFill>
                <a:latin typeface="SF Pro Display" pitchFamily="34" charset="0"/>
                <a:ea typeface="SF Pro Display" pitchFamily="34" charset="-122"/>
                <a:cs typeface="SF Pro Display" pitchFamily="34" charset="-120"/>
              </a:rPr>
              <a:t>Internal only</a:t>
            </a:r>
            <a:endParaRPr lang="en-US" sz="1500" dirty="0"/>
          </a:p>
          <a:p>
            <a:pPr indent="0" marL="0">
              <a:buNone/>
            </a:pPr>
            <a:r>
              <a:rPr lang="en-US" sz="1050" dirty="0">
                <a:solidFill>
                  <a:srgbClr val="FFFFFF"/>
                </a:solidFill>
                <a:latin typeface="SF Pro Text" pitchFamily="34" charset="0"/>
                <a:ea typeface="SF Pro Text" pitchFamily="34" charset="-122"/>
                <a:cs typeface="SF Pro Text" pitchFamily="34" charset="-120"/>
              </a:rPr>
              <a:t>Never say "you have 24 hours to cancel". Explain the outcome, not the rule.</a:t>
            </a:r>
            <a:endParaRPr lang="en-US" sz="1500" dirty="0"/>
          </a:p>
        </p:txBody>
      </p:sp>
      <p:sp>
        <p:nvSpPr>
          <p:cNvPr id="9" name="Shape 5"/>
          <p:cNvSpPr/>
          <p:nvPr/>
        </p:nvSpPr>
        <p:spPr>
          <a:xfrm>
            <a:off x="3291840" y="1325880"/>
            <a:ext cx="5440680" cy="493776"/>
          </a:xfrm>
          <a:prstGeom prst="roundRect">
            <a:avLst>
              <a:gd name="adj" fmla="val 14815"/>
            </a:avLst>
          </a:prstGeom>
          <a:solidFill>
            <a:srgbClr val="FFFFFF"/>
          </a:solidFill>
          <a:ln w="9525">
            <a:solidFill>
              <a:srgbClr val="DCE1E7"/>
            </a:solidFill>
            <a:prstDash val="solid"/>
          </a:ln>
        </p:spPr>
      </p:sp>
      <p:sp>
        <p:nvSpPr>
          <p:cNvPr id="10" name="Shape 6"/>
          <p:cNvSpPr/>
          <p:nvPr/>
        </p:nvSpPr>
        <p:spPr>
          <a:xfrm>
            <a:off x="3383280" y="1408176"/>
            <a:ext cx="329184" cy="329184"/>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3462284" y="1487180"/>
            <a:ext cx="171176" cy="171176"/>
          </a:xfrm>
          <a:prstGeom prst="rect">
            <a:avLst/>
          </a:prstGeom>
        </p:spPr>
      </p:pic>
      <p:sp>
        <p:nvSpPr>
          <p:cNvPr id="12" name="Text 7"/>
          <p:cNvSpPr txBox="1"/>
          <p:nvPr/>
        </p:nvSpPr>
        <p:spPr>
          <a:xfrm>
            <a:off x="3822192" y="1325880"/>
            <a:ext cx="4846320" cy="49377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Zero completed jobs only  </a:t>
            </a:r>
            <a:r>
              <a:rPr lang="en-US" sz="900" dirty="0">
                <a:solidFill>
                  <a:srgbClr val="6E6E73"/>
                </a:solidFill>
                <a:latin typeface="SF Pro Text" pitchFamily="34" charset="0"/>
                <a:ea typeface="SF Pro Text" pitchFamily="34" charset="-122"/>
                <a:cs typeface="SF Pro Text" pitchFamily="34" charset="-120"/>
              </a:rPr>
              <a:t>After one cleaning, it's a normal cancellation.</a:t>
            </a:r>
            <a:endParaRPr lang="en-US" sz="1050" dirty="0"/>
          </a:p>
        </p:txBody>
      </p:sp>
      <p:sp>
        <p:nvSpPr>
          <p:cNvPr id="13" name="Shape 8"/>
          <p:cNvSpPr/>
          <p:nvPr/>
        </p:nvSpPr>
        <p:spPr>
          <a:xfrm>
            <a:off x="3291840" y="1883664"/>
            <a:ext cx="5440680" cy="493776"/>
          </a:xfrm>
          <a:prstGeom prst="roundRect">
            <a:avLst>
              <a:gd name="adj" fmla="val 14815"/>
            </a:avLst>
          </a:prstGeom>
          <a:solidFill>
            <a:srgbClr val="FFFFFF"/>
          </a:solidFill>
          <a:ln w="9525">
            <a:solidFill>
              <a:srgbClr val="DCE1E7"/>
            </a:solidFill>
            <a:prstDash val="solid"/>
          </a:ln>
        </p:spPr>
      </p:sp>
      <p:sp>
        <p:nvSpPr>
          <p:cNvPr id="14" name="Shape 9"/>
          <p:cNvSpPr/>
          <p:nvPr/>
        </p:nvSpPr>
        <p:spPr>
          <a:xfrm>
            <a:off x="3383280" y="1965960"/>
            <a:ext cx="329184" cy="329184"/>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3462284" y="2044964"/>
            <a:ext cx="171176" cy="171176"/>
          </a:xfrm>
          <a:prstGeom prst="rect">
            <a:avLst/>
          </a:prstGeom>
        </p:spPr>
      </p:pic>
      <p:sp>
        <p:nvSpPr>
          <p:cNvPr id="16" name="Text 10"/>
          <p:cNvSpPr txBox="1"/>
          <p:nvPr/>
        </p:nvSpPr>
        <p:spPr>
          <a:xfrm>
            <a:off x="3822192" y="1883664"/>
            <a:ext cx="4846320" cy="49377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1st MF: from sign-up  </a:t>
            </a:r>
            <a:r>
              <a:rPr lang="en-US" sz="900" dirty="0">
                <a:solidFill>
                  <a:srgbClr val="6E6E73"/>
                </a:solidFill>
                <a:latin typeface="SF Pro Text" pitchFamily="34" charset="0"/>
                <a:ea typeface="SF Pro Text" pitchFamily="34" charset="-122"/>
                <a:cs typeface="SF Pro Text" pitchFamily="34" charset="-120"/>
              </a:rPr>
              <a:t>To their first request, or to their self-cancel.</a:t>
            </a:r>
            <a:endParaRPr lang="en-US" sz="1050" dirty="0"/>
          </a:p>
        </p:txBody>
      </p:sp>
      <p:sp>
        <p:nvSpPr>
          <p:cNvPr id="17" name="Shape 11"/>
          <p:cNvSpPr/>
          <p:nvPr/>
        </p:nvSpPr>
        <p:spPr>
          <a:xfrm>
            <a:off x="3291840" y="2441448"/>
            <a:ext cx="5440680" cy="493776"/>
          </a:xfrm>
          <a:prstGeom prst="roundRect">
            <a:avLst>
              <a:gd name="adj" fmla="val 14815"/>
            </a:avLst>
          </a:prstGeom>
          <a:solidFill>
            <a:srgbClr val="FFFFFF"/>
          </a:solidFill>
          <a:ln w="9525">
            <a:solidFill>
              <a:srgbClr val="DCE1E7"/>
            </a:solidFill>
            <a:prstDash val="solid"/>
          </a:ln>
        </p:spPr>
      </p:sp>
      <p:sp>
        <p:nvSpPr>
          <p:cNvPr id="18" name="Shape 12"/>
          <p:cNvSpPr/>
          <p:nvPr/>
        </p:nvSpPr>
        <p:spPr>
          <a:xfrm>
            <a:off x="3383280" y="2523744"/>
            <a:ext cx="329184" cy="329184"/>
          </a:xfrm>
          <a:prstGeom prst="ellipse">
            <a:avLst/>
          </a:prstGeom>
          <a:solidFill>
            <a:srgbClr val="E3F4F1"/>
          </a:solidFill>
          <a:ln w="12700">
            <a:solidFill>
              <a:srgbClr val="E3F4F1"/>
            </a:solidFill>
            <a:prstDash val="solid"/>
          </a:ln>
        </p:spPr>
      </p:sp>
      <p:pic>
        <p:nvPicPr>
          <p:cNvPr id="19" name="Image 3" descr="preencoded.png">    </p:cNvPr>
          <p:cNvPicPr>
            <a:picLocks noChangeAspect="1"/>
          </p:cNvPicPr>
          <p:nvPr/>
        </p:nvPicPr>
        <p:blipFill>
          <a:blip r:embed="rId4"/>
          <a:stretch>
            <a:fillRect/>
          </a:stretch>
        </p:blipFill>
        <p:spPr>
          <a:xfrm>
            <a:off x="3462284" y="2602748"/>
            <a:ext cx="171176" cy="171176"/>
          </a:xfrm>
          <a:prstGeom prst="rect">
            <a:avLst/>
          </a:prstGeom>
        </p:spPr>
      </p:pic>
      <p:sp>
        <p:nvSpPr>
          <p:cNvPr id="20" name="Text 13"/>
          <p:cNvSpPr txBox="1"/>
          <p:nvPr/>
        </p:nvSpPr>
        <p:spPr>
          <a:xfrm>
            <a:off x="3822192" y="2441448"/>
            <a:ext cx="4846320" cy="49377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Later MFs: from that charge  </a:t>
            </a:r>
            <a:r>
              <a:rPr lang="en-US" sz="900" dirty="0">
                <a:solidFill>
                  <a:srgbClr val="6E6E73"/>
                </a:solidFill>
                <a:latin typeface="SF Pro Text" pitchFamily="34" charset="0"/>
                <a:ea typeface="SF Pro Text" pitchFamily="34" charset="-122"/>
                <a:cs typeface="SF Pro Text" pitchFamily="34" charset="-120"/>
              </a:rPr>
              <a:t>To when they asked.</a:t>
            </a:r>
            <a:endParaRPr lang="en-US" sz="1050" dirty="0"/>
          </a:p>
        </p:txBody>
      </p:sp>
      <p:sp>
        <p:nvSpPr>
          <p:cNvPr id="21" name="Shape 14"/>
          <p:cNvSpPr/>
          <p:nvPr/>
        </p:nvSpPr>
        <p:spPr>
          <a:xfrm>
            <a:off x="3291840" y="2999232"/>
            <a:ext cx="5440680" cy="493776"/>
          </a:xfrm>
          <a:prstGeom prst="roundRect">
            <a:avLst>
              <a:gd name="adj" fmla="val 14815"/>
            </a:avLst>
          </a:prstGeom>
          <a:solidFill>
            <a:srgbClr val="FFFFFF"/>
          </a:solidFill>
          <a:ln w="9525">
            <a:solidFill>
              <a:srgbClr val="DCE1E7"/>
            </a:solidFill>
            <a:prstDash val="solid"/>
          </a:ln>
        </p:spPr>
      </p:sp>
      <p:sp>
        <p:nvSpPr>
          <p:cNvPr id="22" name="Shape 15"/>
          <p:cNvSpPr/>
          <p:nvPr/>
        </p:nvSpPr>
        <p:spPr>
          <a:xfrm>
            <a:off x="3383280" y="3081528"/>
            <a:ext cx="329184" cy="329184"/>
          </a:xfrm>
          <a:prstGeom prst="ellipse">
            <a:avLst/>
          </a:prstGeom>
          <a:solidFill>
            <a:srgbClr val="E3F4F1"/>
          </a:solidFill>
          <a:ln w="12700">
            <a:solidFill>
              <a:srgbClr val="E3F4F1"/>
            </a:solidFill>
            <a:prstDash val="solid"/>
          </a:ln>
        </p:spPr>
      </p:sp>
      <p:pic>
        <p:nvPicPr>
          <p:cNvPr id="23" name="Image 4" descr="preencoded.png">    </p:cNvPr>
          <p:cNvPicPr>
            <a:picLocks noChangeAspect="1"/>
          </p:cNvPicPr>
          <p:nvPr/>
        </p:nvPicPr>
        <p:blipFill>
          <a:blip r:embed="rId5"/>
          <a:stretch>
            <a:fillRect/>
          </a:stretch>
        </p:blipFill>
        <p:spPr>
          <a:xfrm>
            <a:off x="3462284" y="3160532"/>
            <a:ext cx="171176" cy="171176"/>
          </a:xfrm>
          <a:prstGeom prst="rect">
            <a:avLst/>
          </a:prstGeom>
        </p:spPr>
      </p:pic>
      <p:sp>
        <p:nvSpPr>
          <p:cNvPr id="24" name="Text 16"/>
          <p:cNvSpPr txBox="1"/>
          <p:nvPr/>
        </p:nvSpPr>
        <p:spPr>
          <a:xfrm>
            <a:off x="3822192" y="2999232"/>
            <a:ext cx="4846320" cy="49377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 guideline, not a cutoff  </a:t>
            </a:r>
            <a:r>
              <a:rPr lang="en-US" sz="900" dirty="0">
                <a:solidFill>
                  <a:srgbClr val="6E6E73"/>
                </a:solidFill>
                <a:latin typeface="SF Pro Text" pitchFamily="34" charset="0"/>
                <a:ea typeface="SF Pro Text" pitchFamily="34" charset="-122"/>
                <a:cs typeface="SF Pro Text" pitchFamily="34" charset="-120"/>
              </a:rPr>
              <a:t>Signed up one day, asked the next? Can still count.</a:t>
            </a:r>
            <a:endParaRPr lang="en-US" sz="105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request, no refund:  </a:t>
            </a:r>
            <a:r>
              <a:rPr lang="en-US" sz="1000" dirty="0">
                <a:solidFill>
                  <a:srgbClr val="1D1D1F"/>
                </a:solidFill>
                <a:latin typeface="SF Pro Text" pitchFamily="34" charset="0"/>
                <a:ea typeface="SF Pro Text" pitchFamily="34" charset="-122"/>
                <a:cs typeface="SF Pro Text" pitchFamily="34" charset="-120"/>
              </a:rPr>
              <a:t>even inside the window, don't offer one if they didn't ask.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Refund cheat sheet: no service issue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Timing and the cleaning length decide it.</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914400"/>
                <a:gridCol w="1280160"/>
                <a:gridCol w="1600200"/>
                <a:gridCol w="1965960"/>
                <a:gridCol w="2560320"/>
              </a:tblGrid>
              <a:tr h="38404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Cleaning</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Timing</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1st MF ($19)</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Add-on ($19 4hr / $59 6hr)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How</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2–3 hr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Within 24 hrs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N/A</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Refund Voucher option in CRM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2–3 hr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After 24 hrs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SF Pro Text" pitchFamily="34" charset="0"/>
                          <a:ea typeface="SF Pro Text" pitchFamily="34" charset="-122"/>
                          <a:cs typeface="SF Pro Text" pitchFamily="34" charset="-120"/>
                        </a:rPr>
                        <a:t>✗ Unless compelling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N/A</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Compelling? Refund Voucher option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4–6 hr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Within 24 hrs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FCF Refund tracker: Stripe FULL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4–6 hr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After 24 hrs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SF Pro Text" pitchFamily="34" charset="0"/>
                          <a:ea typeface="SF Pro Text" pitchFamily="34" charset="-122"/>
                          <a:cs typeface="SF Pro Text" pitchFamily="34" charset="-120"/>
                        </a:rPr>
                        <a:t>✗ Unless compelling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FCF Refund tracker: Stripe PARTIAL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9" name="Text 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Every row ends with:  </a:t>
            </a:r>
            <a:r>
              <a:rPr lang="en-US" sz="1000" dirty="0">
                <a:solidFill>
                  <a:srgbClr val="1D1D1F"/>
                </a:solidFill>
                <a:latin typeface="SF Pro Text" pitchFamily="34" charset="0"/>
                <a:ea typeface="SF Pro Text" pitchFamily="34" charset="-122"/>
                <a:cs typeface="SF Pro Text" pitchFamily="34" charset="-120"/>
              </a:rPr>
              <a:t>Cancel FC in CRM → Invalidate the voucher.</a:t>
            </a:r>
            <a:endParaRPr lang="en-US" sz="1000" dirty="0"/>
          </a:p>
        </p:txBody>
      </p:sp>
      <p:sp>
        <p:nvSpPr>
          <p:cNvPr id="10" name="Shape 5"/>
          <p:cNvSpPr/>
          <p:nvPr/>
        </p:nvSpPr>
        <p:spPr>
          <a:xfrm>
            <a:off x="411480" y="3858768"/>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968496"/>
            <a:ext cx="164592" cy="164592"/>
          </a:xfrm>
          <a:prstGeom prst="rect">
            <a:avLst/>
          </a:prstGeom>
        </p:spPr>
      </p:pic>
      <p:sp>
        <p:nvSpPr>
          <p:cNvPr id="12" name="Text 6"/>
          <p:cNvSpPr txBox="1"/>
          <p:nvPr/>
        </p:nvSpPr>
        <p:spPr>
          <a:xfrm>
            <a:off x="822960" y="39593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Compelling reason:  </a:t>
            </a:r>
            <a:r>
              <a:rPr lang="en-US" sz="1000" dirty="0">
                <a:solidFill>
                  <a:srgbClr val="1D1D1F"/>
                </a:solidFill>
                <a:latin typeface="SF Pro Text" pitchFamily="34" charset="0"/>
                <a:ea typeface="SF Pro Text" pitchFamily="34" charset="-122"/>
                <a:cs typeface="SF Pro Text" pitchFamily="34" charset="-120"/>
              </a:rPr>
              <a:t>e.g. compassion, or the customer doesn't have a card.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Refund cheat sheet: service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Whose fault was it?</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108960"/>
                <a:gridCol w="1737360"/>
                <a:gridCol w="1737360"/>
                <a:gridCol w="173736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Timing</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1st MF</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Add-on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Company or CP fault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Doesn't matter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at fault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Within 24 hrs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at fault (not biohazard)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After 24 hrs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SF Pro Text" pitchFamily="34" charset="0"/>
                          <a:ea typeface="SF Pro Text" pitchFamily="34" charset="-122"/>
                          <a:cs typeface="SF Pro Text" pitchFamily="34" charset="-120"/>
                        </a:rPr>
                        <a:t>✗ Unless compelling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Biohazard reported by the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1D1D1F"/>
                          </a:solidFill>
                          <a:latin typeface="SF Pro Text" pitchFamily="34" charset="0"/>
                          <a:ea typeface="SF Pro Text" pitchFamily="34" charset="-122"/>
                          <a:cs typeface="SF Pro Text" pitchFamily="34" charset="-120"/>
                        </a:rPr>
                        <a:t>Doesn't matter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91840"/>
            <a:ext cx="4069080" cy="914400"/>
          </a:xfrm>
          <a:prstGeom prst="roundRect">
            <a:avLst>
              <a:gd name="adj" fmla="val 8000"/>
            </a:avLst>
          </a:prstGeom>
          <a:solidFill>
            <a:srgbClr val="E3F4F1"/>
          </a:solidFill>
          <a:ln w="9525">
            <a:solidFill>
              <a:srgbClr val="0B7A6F"/>
            </a:solidFill>
            <a:prstDash val="solid"/>
          </a:ln>
        </p:spPr>
      </p:sp>
      <p:sp>
        <p:nvSpPr>
          <p:cNvPr id="8" name="Text 4"/>
          <p:cNvSpPr/>
          <p:nvPr/>
        </p:nvSpPr>
        <p:spPr>
          <a:xfrm>
            <a:off x="411480" y="329184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2–3 hr cleaning</a:t>
            </a:r>
            <a:endParaRPr lang="en-US" sz="1050" dirty="0"/>
          </a:p>
        </p:txBody>
      </p:sp>
      <p:sp>
        <p:nvSpPr>
          <p:cNvPr id="9" name="Text 5"/>
          <p:cNvSpPr txBox="1"/>
          <p:nvPr/>
        </p:nvSpPr>
        <p:spPr>
          <a:xfrm>
            <a:off x="576072" y="3730752"/>
            <a:ext cx="3739896" cy="4023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Refund Voucher option in CRM. No tracker entry</a:t>
            </a:r>
            <a:endParaRPr lang="en-US" sz="950" dirty="0"/>
          </a:p>
        </p:txBody>
      </p:sp>
      <p:sp>
        <p:nvSpPr>
          <p:cNvPr id="10" name="Shape 6"/>
          <p:cNvSpPr/>
          <p:nvPr/>
        </p:nvSpPr>
        <p:spPr>
          <a:xfrm>
            <a:off x="4663440" y="3291840"/>
            <a:ext cx="4069080" cy="914400"/>
          </a:xfrm>
          <a:prstGeom prst="roundRect">
            <a:avLst>
              <a:gd name="adj" fmla="val 8000"/>
            </a:avLst>
          </a:prstGeom>
          <a:solidFill>
            <a:srgbClr val="FFF3D6"/>
          </a:solidFill>
          <a:ln w="9525">
            <a:solidFill>
              <a:srgbClr val="9A6410"/>
            </a:solidFill>
            <a:prstDash val="solid"/>
          </a:ln>
        </p:spPr>
      </p:sp>
      <p:sp>
        <p:nvSpPr>
          <p:cNvPr id="11" name="Text 7"/>
          <p:cNvSpPr/>
          <p:nvPr/>
        </p:nvSpPr>
        <p:spPr>
          <a:xfrm>
            <a:off x="4663440" y="3291840"/>
            <a:ext cx="4069080" cy="329184"/>
          </a:xfrm>
          <a:prstGeom prst="roundRect">
            <a:avLst>
              <a:gd name="adj" fmla="val 16667"/>
            </a:avLst>
          </a:prstGeom>
          <a:solidFill>
            <a:srgbClr val="9A6410"/>
          </a:solidFill>
          <a:ln w="12700">
            <a:solidFill>
              <a:srgbClr val="9A6410"/>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4–6 hr cleaning</a:t>
            </a:r>
            <a:endParaRPr lang="en-US" sz="1050" dirty="0"/>
          </a:p>
        </p:txBody>
      </p:sp>
      <p:sp>
        <p:nvSpPr>
          <p:cNvPr id="12" name="Text 8"/>
          <p:cNvSpPr txBox="1"/>
          <p:nvPr/>
        </p:nvSpPr>
        <p:spPr>
          <a:xfrm>
            <a:off x="4828032" y="3730752"/>
            <a:ext cx="3739896" cy="4023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FCF Refund tracker: TL issues a Stripe FULL refund</a:t>
            </a:r>
            <a:endParaRPr lang="en-US" sz="950" dirty="0"/>
          </a:p>
        </p:txBody>
      </p:sp>
      <p:sp>
        <p:nvSpPr>
          <p:cNvPr id="13" name="Shape 9"/>
          <p:cNvSpPr/>
          <p:nvPr/>
        </p:nvSpPr>
        <p:spPr>
          <a:xfrm>
            <a:off x="411480" y="4315968"/>
            <a:ext cx="8321040" cy="384048"/>
          </a:xfrm>
          <a:prstGeom prst="roundRect">
            <a:avLst>
              <a:gd name="adj" fmla="val 19048"/>
            </a:avLst>
          </a:prstGeom>
          <a:solidFill>
            <a:srgbClr val="FCEBEA"/>
          </a:solidFill>
          <a:ln w="9525">
            <a:solidFill>
              <a:srgbClr val="B3261E"/>
            </a:solidFill>
            <a:prstDash val="solid"/>
          </a:ln>
        </p:spPr>
      </p:sp>
      <p:pic>
        <p:nvPicPr>
          <p:cNvPr id="14"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15" name="Text 10"/>
          <p:cNvSpPr txBox="1"/>
          <p:nvPr/>
        </p:nvSpPr>
        <p:spPr>
          <a:xfrm>
            <a:off x="822960" y="4315968"/>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4–6 hr? Not the Refund Voucher option:  </a:t>
            </a:r>
            <a:r>
              <a:rPr lang="en-US" sz="1000" dirty="0">
                <a:solidFill>
                  <a:srgbClr val="1D1D1F"/>
                </a:solidFill>
                <a:latin typeface="SF Pro Text" pitchFamily="34" charset="0"/>
                <a:ea typeface="SF Pro Text" pitchFamily="34" charset="-122"/>
                <a:cs typeface="SF Pro Text" pitchFamily="34" charset="-120"/>
              </a:rPr>
              <a:t>it only refunds the $19 MF, not the add-on.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2+ MFs paid, no jobs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refund by default. Any one condition qualifies.</a:t>
            </a:r>
            <a:endParaRPr lang="en-US" sz="1200" dirty="0"/>
          </a:p>
        </p:txBody>
      </p:sp>
      <p:sp>
        <p:nvSpPr>
          <p:cNvPr id="6" name="Shape 3"/>
          <p:cNvSpPr/>
          <p:nvPr/>
        </p:nvSpPr>
        <p:spPr>
          <a:xfrm>
            <a:off x="411480" y="1325880"/>
            <a:ext cx="4091940" cy="868680"/>
          </a:xfrm>
          <a:prstGeom prst="roundRect">
            <a:avLst>
              <a:gd name="adj" fmla="val 8421"/>
            </a:avLst>
          </a:prstGeom>
          <a:solidFill>
            <a:srgbClr val="FFFFFF"/>
          </a:solidFill>
          <a:ln w="9525">
            <a:solidFill>
              <a:srgbClr val="DCE1E7"/>
            </a:solidFill>
            <a:prstDash val="solid"/>
          </a:ln>
        </p:spPr>
      </p:sp>
      <p:sp>
        <p:nvSpPr>
          <p:cNvPr id="7" name="Shape 4"/>
          <p:cNvSpPr/>
          <p:nvPr/>
        </p:nvSpPr>
        <p:spPr>
          <a:xfrm>
            <a:off x="576072"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646652"/>
            <a:ext cx="199705" cy="199705"/>
          </a:xfrm>
          <a:prstGeom prst="rect">
            <a:avLst/>
          </a:prstGeom>
        </p:spPr>
      </p:pic>
      <p:sp>
        <p:nvSpPr>
          <p:cNvPr id="9" name="Text 5"/>
          <p:cNvSpPr txBox="1"/>
          <p:nvPr/>
        </p:nvSpPr>
        <p:spPr>
          <a:xfrm>
            <a:off x="1097280" y="1325880"/>
            <a:ext cx="3268980" cy="86868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Within 24 hrs of the latest MF</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They reached out fast after the charge.</a:t>
            </a:r>
            <a:endParaRPr lang="en-US" sz="1100" dirty="0"/>
          </a:p>
        </p:txBody>
      </p:sp>
      <p:sp>
        <p:nvSpPr>
          <p:cNvPr id="10" name="Shape 6"/>
          <p:cNvSpPr/>
          <p:nvPr/>
        </p:nvSpPr>
        <p:spPr>
          <a:xfrm>
            <a:off x="4640580" y="1325880"/>
            <a:ext cx="4091940" cy="868680"/>
          </a:xfrm>
          <a:prstGeom prst="roundRect">
            <a:avLst>
              <a:gd name="adj" fmla="val 8421"/>
            </a:avLst>
          </a:prstGeom>
          <a:solidFill>
            <a:srgbClr val="FFFFFF"/>
          </a:solidFill>
          <a:ln w="9525">
            <a:solidFill>
              <a:srgbClr val="DCE1E7"/>
            </a:solidFill>
            <a:prstDash val="solid"/>
          </a:ln>
        </p:spPr>
      </p:sp>
      <p:sp>
        <p:nvSpPr>
          <p:cNvPr id="11" name="Shape 7"/>
          <p:cNvSpPr/>
          <p:nvPr/>
        </p:nvSpPr>
        <p:spPr>
          <a:xfrm>
            <a:off x="4805172" y="155448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97344" y="1646652"/>
            <a:ext cx="199705" cy="199705"/>
          </a:xfrm>
          <a:prstGeom prst="rect">
            <a:avLst/>
          </a:prstGeom>
        </p:spPr>
      </p:pic>
      <p:sp>
        <p:nvSpPr>
          <p:cNvPr id="13" name="Text 8"/>
          <p:cNvSpPr txBox="1"/>
          <p:nvPr/>
        </p:nvSpPr>
        <p:spPr>
          <a:xfrm>
            <a:off x="5326380" y="1325880"/>
            <a:ext cx="3268980" cy="86868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Tried to book, CP/platform fault</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Refund that specific MF.</a:t>
            </a:r>
            <a:endParaRPr lang="en-US" sz="1100" dirty="0"/>
          </a:p>
        </p:txBody>
      </p:sp>
      <p:sp>
        <p:nvSpPr>
          <p:cNvPr id="14" name="Shape 9"/>
          <p:cNvSpPr/>
          <p:nvPr/>
        </p:nvSpPr>
        <p:spPr>
          <a:xfrm>
            <a:off x="411480" y="2304288"/>
            <a:ext cx="4091940" cy="868680"/>
          </a:xfrm>
          <a:prstGeom prst="roundRect">
            <a:avLst>
              <a:gd name="adj" fmla="val 8421"/>
            </a:avLst>
          </a:prstGeom>
          <a:solidFill>
            <a:srgbClr val="FFFFFF"/>
          </a:solidFill>
          <a:ln w="9525">
            <a:solidFill>
              <a:srgbClr val="DCE1E7"/>
            </a:solidFill>
            <a:prstDash val="solid"/>
          </a:ln>
        </p:spPr>
      </p:sp>
      <p:sp>
        <p:nvSpPr>
          <p:cNvPr id="15" name="Shape 10"/>
          <p:cNvSpPr/>
          <p:nvPr/>
        </p:nvSpPr>
        <p:spPr>
          <a:xfrm>
            <a:off x="576072" y="2532888"/>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668244" y="2625060"/>
            <a:ext cx="199705" cy="199705"/>
          </a:xfrm>
          <a:prstGeom prst="rect">
            <a:avLst/>
          </a:prstGeom>
        </p:spPr>
      </p:pic>
      <p:sp>
        <p:nvSpPr>
          <p:cNvPr id="17" name="Text 11"/>
          <p:cNvSpPr txBox="1"/>
          <p:nvPr/>
        </p:nvSpPr>
        <p:spPr>
          <a:xfrm>
            <a:off x="1097280" y="2304288"/>
            <a:ext cx="3268980" cy="86868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~3 days + CP/platform fault</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Before the 4th day can still count.</a:t>
            </a:r>
            <a:endParaRPr lang="en-US" sz="1100" dirty="0"/>
          </a:p>
        </p:txBody>
      </p:sp>
      <p:sp>
        <p:nvSpPr>
          <p:cNvPr id="18" name="Shape 12"/>
          <p:cNvSpPr/>
          <p:nvPr/>
        </p:nvSpPr>
        <p:spPr>
          <a:xfrm>
            <a:off x="4640580" y="2304288"/>
            <a:ext cx="4091940" cy="868680"/>
          </a:xfrm>
          <a:prstGeom prst="roundRect">
            <a:avLst>
              <a:gd name="adj" fmla="val 8421"/>
            </a:avLst>
          </a:prstGeom>
          <a:solidFill>
            <a:srgbClr val="FFFFFF"/>
          </a:solidFill>
          <a:ln w="9525">
            <a:solidFill>
              <a:srgbClr val="DCE1E7"/>
            </a:solidFill>
            <a:prstDash val="solid"/>
          </a:ln>
        </p:spPr>
      </p:sp>
      <p:sp>
        <p:nvSpPr>
          <p:cNvPr id="19" name="Shape 13"/>
          <p:cNvSpPr/>
          <p:nvPr/>
        </p:nvSpPr>
        <p:spPr>
          <a:xfrm>
            <a:off x="4805172" y="2532888"/>
            <a:ext cx="384048" cy="38404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97344" y="2625060"/>
            <a:ext cx="199705" cy="199705"/>
          </a:xfrm>
          <a:prstGeom prst="rect">
            <a:avLst/>
          </a:prstGeom>
        </p:spPr>
      </p:pic>
      <p:sp>
        <p:nvSpPr>
          <p:cNvPr id="21" name="Text 14"/>
          <p:cNvSpPr txBox="1"/>
          <p:nvPr/>
        </p:nvSpPr>
        <p:spPr>
          <a:xfrm>
            <a:off x="5326380" y="2304288"/>
            <a:ext cx="3268980" cy="86868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Biohazard reported by the CP</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All unused MFs, if they ask (120 days).</a:t>
            </a:r>
            <a:endParaRPr lang="en-US" sz="1100" dirty="0"/>
          </a:p>
        </p:txBody>
      </p:sp>
      <p:sp>
        <p:nvSpPr>
          <p:cNvPr id="22"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3" name="Image 4" descr="preencoded.png">    </p:cNvPr>
          <p:cNvPicPr>
            <a:picLocks noChangeAspect="1"/>
          </p:cNvPicPr>
          <p:nvPr/>
        </p:nvPicPr>
        <p:blipFill>
          <a:blip r:embed="rId5"/>
          <a:stretch>
            <a:fillRect/>
          </a:stretch>
        </p:blipFill>
        <p:spPr>
          <a:xfrm>
            <a:off x="566928" y="3447288"/>
            <a:ext cx="164592" cy="164592"/>
          </a:xfrm>
          <a:prstGeom prst="rect">
            <a:avLst/>
          </a:prstGeom>
        </p:spPr>
      </p:pic>
      <p:sp>
        <p:nvSpPr>
          <p:cNvPr id="24"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for the 1st charge:  </a:t>
            </a:r>
            <a:r>
              <a:rPr lang="en-US" sz="1000" dirty="0">
                <a:solidFill>
                  <a:srgbClr val="1D1D1F"/>
                </a:solidFill>
                <a:latin typeface="SF Pro Text" pitchFamily="34" charset="0"/>
                <a:ea typeface="SF Pro Text" pitchFamily="34" charset="-122"/>
                <a:cs typeface="SF Pro Text" pitchFamily="34" charset="-120"/>
              </a:rPr>
              <a:t>2–3 hr, Refund Voucher option. 4–6 hr, FCF Refund tab for a Stripe FULL refund.</a:t>
            </a:r>
            <a:endParaRPr lang="en-US" sz="1000" dirty="0"/>
          </a:p>
        </p:txBody>
      </p:sp>
      <p:sp>
        <p:nvSpPr>
          <p:cNvPr id="25" name="Shape 17"/>
          <p:cNvSpPr/>
          <p:nvPr/>
        </p:nvSpPr>
        <p:spPr>
          <a:xfrm>
            <a:off x="411480" y="3813048"/>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922776"/>
            <a:ext cx="164592" cy="164592"/>
          </a:xfrm>
          <a:prstGeom prst="rect">
            <a:avLst/>
          </a:prstGeom>
        </p:spPr>
      </p:pic>
      <p:sp>
        <p:nvSpPr>
          <p:cNvPr id="27" name="Text 18"/>
          <p:cNvSpPr txBox="1"/>
          <p:nvPr/>
        </p:nvSpPr>
        <p:spPr>
          <a:xfrm>
            <a:off x="822960" y="391363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Finish with:  </a:t>
            </a:r>
            <a:r>
              <a:rPr lang="en-US" sz="1000" dirty="0">
                <a:solidFill>
                  <a:srgbClr val="1D1D1F"/>
                </a:solidFill>
                <a:latin typeface="SF Pro Text" pitchFamily="34" charset="0"/>
                <a:ea typeface="SF Pro Text" pitchFamily="34" charset="-122"/>
                <a:cs typeface="SF Pro Text" pitchFamily="34" charset="-120"/>
              </a:rPr>
              <a:t>Cancel FC in CRM → Invalidate the voucher.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the first cleaning's length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Keep FC in place. Settle the difference at sign-up pricing.</a:t>
            </a:r>
            <a:endParaRPr lang="en-US" sz="1200" dirty="0"/>
          </a:p>
        </p:txBody>
      </p:sp>
      <p:sp>
        <p:nvSpPr>
          <p:cNvPr id="6" name="Shape 3"/>
          <p:cNvSpPr/>
          <p:nvPr/>
        </p:nvSpPr>
        <p:spPr>
          <a:xfrm>
            <a:off x="411480" y="1371600"/>
            <a:ext cx="19202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19202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current &amp; target tier</a:t>
            </a:r>
            <a:endParaRPr lang="en-US" sz="1000" dirty="0"/>
          </a:p>
        </p:txBody>
      </p:sp>
      <p:sp>
        <p:nvSpPr>
          <p:cNvPr id="8" name="Shape 5"/>
          <p:cNvSpPr/>
          <p:nvPr/>
        </p:nvSpPr>
        <p:spPr>
          <a:xfrm>
            <a:off x="2331720" y="1691640"/>
            <a:ext cx="213055" cy="0"/>
          </a:xfrm>
          <a:prstGeom prst="line">
            <a:avLst/>
          </a:prstGeom>
          <a:noFill/>
          <a:ln w="12700">
            <a:solidFill>
              <a:srgbClr val="6E6E73"/>
            </a:solidFill>
            <a:prstDash val="solid"/>
            <a:tailEnd type="triangle"/>
          </a:ln>
        </p:spPr>
      </p:sp>
      <p:sp>
        <p:nvSpPr>
          <p:cNvPr id="9" name="Shape 6"/>
          <p:cNvSpPr/>
          <p:nvPr/>
        </p:nvSpPr>
        <p:spPr>
          <a:xfrm>
            <a:off x="2544775" y="1371600"/>
            <a:ext cx="1920240" cy="640080"/>
          </a:xfrm>
          <a:prstGeom prst="roundRect">
            <a:avLst>
              <a:gd name="adj" fmla="val 11429"/>
            </a:avLst>
          </a:prstGeom>
          <a:solidFill>
            <a:srgbClr val="FFF3D6"/>
          </a:solidFill>
          <a:ln w="12700">
            <a:solidFill>
              <a:srgbClr val="9A6410"/>
            </a:solidFill>
            <a:prstDash val="solid"/>
          </a:ln>
        </p:spPr>
      </p:sp>
      <p:sp>
        <p:nvSpPr>
          <p:cNvPr id="10" name="Text 7"/>
          <p:cNvSpPr txBox="1"/>
          <p:nvPr/>
        </p:nvSpPr>
        <p:spPr>
          <a:xfrm>
            <a:off x="2544775" y="1371600"/>
            <a:ext cx="19202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Customer agrees to the difference</a:t>
            </a:r>
            <a:endParaRPr lang="en-US" sz="1000" dirty="0"/>
          </a:p>
        </p:txBody>
      </p:sp>
      <p:sp>
        <p:nvSpPr>
          <p:cNvPr id="11" name="Shape 8"/>
          <p:cNvSpPr/>
          <p:nvPr/>
        </p:nvSpPr>
        <p:spPr>
          <a:xfrm>
            <a:off x="4465015" y="1691640"/>
            <a:ext cx="213055" cy="0"/>
          </a:xfrm>
          <a:prstGeom prst="line">
            <a:avLst/>
          </a:prstGeom>
          <a:noFill/>
          <a:ln w="12700">
            <a:solidFill>
              <a:srgbClr val="6E6E73"/>
            </a:solidFill>
            <a:prstDash val="solid"/>
            <a:tailEnd type="triangle"/>
          </a:ln>
        </p:spPr>
      </p:sp>
      <p:sp>
        <p:nvSpPr>
          <p:cNvPr id="12" name="Shape 9"/>
          <p:cNvSpPr/>
          <p:nvPr/>
        </p:nvSpPr>
        <p:spPr>
          <a:xfrm>
            <a:off x="4678070" y="1371600"/>
            <a:ext cx="1920240" cy="640080"/>
          </a:xfrm>
          <a:prstGeom prst="roundRect">
            <a:avLst>
              <a:gd name="adj" fmla="val 11429"/>
            </a:avLst>
          </a:prstGeom>
          <a:solidFill>
            <a:srgbClr val="0B7A6F"/>
          </a:solidFill>
          <a:ln w="12700">
            <a:solidFill>
              <a:srgbClr val="0B7A6F"/>
            </a:solidFill>
            <a:prstDash val="solid"/>
          </a:ln>
        </p:spPr>
      </p:sp>
      <p:sp>
        <p:nvSpPr>
          <p:cNvPr id="13" name="Text 10"/>
          <p:cNvSpPr txBox="1"/>
          <p:nvPr/>
        </p:nvSpPr>
        <p:spPr>
          <a:xfrm>
            <a:off x="4678070" y="1371600"/>
            <a:ext cx="19202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Update voucher duration in Django</a:t>
            </a:r>
            <a:endParaRPr lang="en-US" sz="1000" dirty="0"/>
          </a:p>
        </p:txBody>
      </p:sp>
      <p:sp>
        <p:nvSpPr>
          <p:cNvPr id="14" name="Shape 11"/>
          <p:cNvSpPr/>
          <p:nvPr/>
        </p:nvSpPr>
        <p:spPr>
          <a:xfrm>
            <a:off x="6598310" y="1691640"/>
            <a:ext cx="213055" cy="0"/>
          </a:xfrm>
          <a:prstGeom prst="line">
            <a:avLst/>
          </a:prstGeom>
          <a:noFill/>
          <a:ln w="12700">
            <a:solidFill>
              <a:srgbClr val="6E6E73"/>
            </a:solidFill>
            <a:prstDash val="solid"/>
            <a:tailEnd type="triangle"/>
          </a:ln>
        </p:spPr>
      </p:sp>
      <p:sp>
        <p:nvSpPr>
          <p:cNvPr id="15" name="Shape 12"/>
          <p:cNvSpPr/>
          <p:nvPr/>
        </p:nvSpPr>
        <p:spPr>
          <a:xfrm>
            <a:off x="6811366" y="1371600"/>
            <a:ext cx="1920240" cy="640080"/>
          </a:xfrm>
          <a:prstGeom prst="roundRect">
            <a:avLst>
              <a:gd name="adj" fmla="val 11429"/>
            </a:avLst>
          </a:prstGeom>
          <a:solidFill>
            <a:srgbClr val="0B7A6F"/>
          </a:solidFill>
          <a:ln w="12700">
            <a:solidFill>
              <a:srgbClr val="0B7A6F"/>
            </a:solidFill>
            <a:prstDash val="solid"/>
          </a:ln>
        </p:spPr>
      </p:sp>
      <p:sp>
        <p:nvSpPr>
          <p:cNvPr id="16" name="Text 13"/>
          <p:cNvSpPr txBox="1"/>
          <p:nvPr/>
        </p:nvSpPr>
        <p:spPr>
          <a:xfrm>
            <a:off x="6811366" y="1371600"/>
            <a:ext cx="19202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Charge or refund the difference</a:t>
            </a:r>
            <a:endParaRPr lang="en-US" sz="1000" dirty="0"/>
          </a:p>
        </p:txBody>
      </p:sp>
      <p:sp>
        <p:nvSpPr>
          <p:cNvPr id="17" name="Shape 14"/>
          <p:cNvSpPr/>
          <p:nvPr/>
        </p:nvSpPr>
        <p:spPr>
          <a:xfrm>
            <a:off x="411480" y="2286000"/>
            <a:ext cx="2682240" cy="1188720"/>
          </a:xfrm>
          <a:prstGeom prst="roundRect">
            <a:avLst>
              <a:gd name="adj" fmla="val 6154"/>
            </a:avLst>
          </a:prstGeom>
          <a:solidFill>
            <a:srgbClr val="FFFFFF"/>
          </a:solidFill>
          <a:ln w="9525">
            <a:solidFill>
              <a:srgbClr val="DCE1E7"/>
            </a:solidFill>
            <a:prstDash val="solid"/>
          </a:ln>
        </p:spPr>
      </p:sp>
      <p:sp>
        <p:nvSpPr>
          <p:cNvPr id="18" name="Text 15"/>
          <p:cNvSpPr txBox="1"/>
          <p:nvPr/>
        </p:nvSpPr>
        <p:spPr>
          <a:xfrm>
            <a:off x="411480" y="245059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+$19</a:t>
            </a:r>
            <a:endParaRPr lang="en-US" sz="3000" dirty="0"/>
          </a:p>
        </p:txBody>
      </p:sp>
      <p:sp>
        <p:nvSpPr>
          <p:cNvPr id="19" name="Text 16"/>
          <p:cNvSpPr txBox="1"/>
          <p:nvPr/>
        </p:nvSpPr>
        <p:spPr>
          <a:xfrm>
            <a:off x="594360" y="3108960"/>
            <a:ext cx="231648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to move up to 4 hours</a:t>
            </a:r>
            <a:endParaRPr lang="en-US" sz="1000" dirty="0"/>
          </a:p>
        </p:txBody>
      </p:sp>
      <p:sp>
        <p:nvSpPr>
          <p:cNvPr id="20" name="Shape 17"/>
          <p:cNvSpPr/>
          <p:nvPr/>
        </p:nvSpPr>
        <p:spPr>
          <a:xfrm>
            <a:off x="3230880" y="2286000"/>
            <a:ext cx="2682240" cy="1188720"/>
          </a:xfrm>
          <a:prstGeom prst="roundRect">
            <a:avLst>
              <a:gd name="adj" fmla="val 6154"/>
            </a:avLst>
          </a:prstGeom>
          <a:solidFill>
            <a:srgbClr val="FFFFFF"/>
          </a:solidFill>
          <a:ln w="9525">
            <a:solidFill>
              <a:srgbClr val="DCE1E7"/>
            </a:solidFill>
            <a:prstDash val="solid"/>
          </a:ln>
        </p:spPr>
      </p:sp>
      <p:sp>
        <p:nvSpPr>
          <p:cNvPr id="21" name="Text 18"/>
          <p:cNvSpPr txBox="1"/>
          <p:nvPr/>
        </p:nvSpPr>
        <p:spPr>
          <a:xfrm>
            <a:off x="3230880" y="245059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+$59</a:t>
            </a:r>
            <a:endParaRPr lang="en-US" sz="3000" dirty="0"/>
          </a:p>
        </p:txBody>
      </p:sp>
      <p:sp>
        <p:nvSpPr>
          <p:cNvPr id="22" name="Text 19"/>
          <p:cNvSpPr txBox="1"/>
          <p:nvPr/>
        </p:nvSpPr>
        <p:spPr>
          <a:xfrm>
            <a:off x="3413760" y="3108960"/>
            <a:ext cx="231648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to move up to 6 hours</a:t>
            </a:r>
            <a:endParaRPr lang="en-US" sz="1000" dirty="0"/>
          </a:p>
        </p:txBody>
      </p:sp>
      <p:sp>
        <p:nvSpPr>
          <p:cNvPr id="23" name="Shape 20"/>
          <p:cNvSpPr/>
          <p:nvPr/>
        </p:nvSpPr>
        <p:spPr>
          <a:xfrm>
            <a:off x="6050280" y="2286000"/>
            <a:ext cx="2682240" cy="1188720"/>
          </a:xfrm>
          <a:prstGeom prst="roundRect">
            <a:avLst>
              <a:gd name="adj" fmla="val 6154"/>
            </a:avLst>
          </a:prstGeom>
          <a:solidFill>
            <a:srgbClr val="FFFFFF"/>
          </a:solidFill>
          <a:ln w="9525">
            <a:solidFill>
              <a:srgbClr val="DCE1E7"/>
            </a:solidFill>
            <a:prstDash val="solid"/>
          </a:ln>
        </p:spPr>
      </p:sp>
      <p:sp>
        <p:nvSpPr>
          <p:cNvPr id="24" name="Text 21"/>
          <p:cNvSpPr txBox="1"/>
          <p:nvPr/>
        </p:nvSpPr>
        <p:spPr>
          <a:xfrm>
            <a:off x="6050280" y="245059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Refund</a:t>
            </a:r>
            <a:endParaRPr lang="en-US" sz="3000" dirty="0"/>
          </a:p>
        </p:txBody>
      </p:sp>
      <p:sp>
        <p:nvSpPr>
          <p:cNvPr id="25" name="Text 22"/>
          <p:cNvSpPr txBox="1"/>
          <p:nvPr/>
        </p:nvSpPr>
        <p:spPr>
          <a:xfrm>
            <a:off x="6233160" y="3108960"/>
            <a:ext cx="231648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the difference on a downgrade</a:t>
            </a:r>
            <a:endParaRPr lang="en-US" sz="1000" dirty="0"/>
          </a:p>
        </p:txBody>
      </p:sp>
      <p:sp>
        <p:nvSpPr>
          <p:cNvPr id="26" name="Shape 23"/>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8" name="Text 24"/>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Keep FC in place:  </a:t>
            </a:r>
            <a:r>
              <a:rPr lang="en-US" sz="1000" dirty="0">
                <a:solidFill>
                  <a:srgbClr val="1D1D1F"/>
                </a:solidFill>
                <a:latin typeface="SF Pro Text" pitchFamily="34" charset="0"/>
                <a:ea typeface="SF Pro Text" pitchFamily="34" charset="-122"/>
                <a:cs typeface="SF Pro Text" pitchFamily="34" charset="-120"/>
              </a:rPr>
              <a:t>this isn't a cancellation.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asks how long they have to cancel for a refund. Tell them 24 hours?</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window is internal only. Explain the outcome, not the rule.</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FCF, 2–3 hr cleaning, cancels 3 hours after sign-up and asks for a refund. What do you do?</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Refund Voucher option, cancel FC, invalidate the voucher.</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FCF, 6-hr cleaning, within 24 hrs. Use the Refund Voucher option?</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only refunds $19. Log to the FCF Refund tracker for a Stripe FULL refund.</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had one completed cleaning. Does the 24-hour window apply?</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Handle it as a normal cancellation.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FCF PRE-INVOICE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Which row of the cheat sheet applies?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Completed jobs, timing, cleaning length, fault.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how, then cancel FC and invalidate the voucher.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No 24-hour talk!</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Trial Cleaning &amp; One-Time Cleaning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Alternatives to a full ForeverClean membership.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Trial Cleaning vs One-Time Cleaning</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Pricing: what gets deducted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Converting an unused voucher or FCF</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Cancellations and refunds afterwards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Trial Cleaning vs One-Time Cleaning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They look alike, but the consequences are completely different.</a:t>
            </a:r>
            <a:endParaRPr lang="en-US" sz="1200" dirty="0"/>
          </a:p>
        </p:txBody>
      </p:sp>
      <p:sp>
        <p:nvSpPr>
          <p:cNvPr id="6" name="Shape 3"/>
          <p:cNvSpPr/>
          <p:nvPr/>
        </p:nvSpPr>
        <p:spPr>
          <a:xfrm>
            <a:off x="411480" y="1325880"/>
            <a:ext cx="4069080" cy="2377440"/>
          </a:xfrm>
          <a:prstGeom prst="roundRect">
            <a:avLst>
              <a:gd name="adj" fmla="val 3077"/>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Trial Cleaning (TC)</a:t>
            </a:r>
            <a:endParaRPr lang="en-US" sz="1050" dirty="0"/>
          </a:p>
        </p:txBody>
      </p:sp>
      <p:sp>
        <p:nvSpPr>
          <p:cNvPr id="8" name="Text 5"/>
          <p:cNvSpPr txBox="1"/>
          <p:nvPr/>
        </p:nvSpPr>
        <p:spPr>
          <a:xfrm>
            <a:off x="576072" y="1764792"/>
            <a:ext cx="3739896" cy="186537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Wants to try the membership first</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Creates an FC table</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Charged upfront</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30 days from the appointment to cancel, no obligation</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Then $59/mo, 6-month MCT, $99 ETF</a:t>
            </a:r>
            <a:endParaRPr lang="en-US" sz="1000" dirty="0"/>
          </a:p>
        </p:txBody>
      </p:sp>
      <p:sp>
        <p:nvSpPr>
          <p:cNvPr id="9" name="Shape 6"/>
          <p:cNvSpPr/>
          <p:nvPr/>
        </p:nvSpPr>
        <p:spPr>
          <a:xfrm>
            <a:off x="4663440" y="1325880"/>
            <a:ext cx="4069080" cy="2377440"/>
          </a:xfrm>
          <a:prstGeom prst="roundRect">
            <a:avLst>
              <a:gd name="adj" fmla="val 3077"/>
            </a:avLst>
          </a:prstGeom>
          <a:solidFill>
            <a:srgbClr val="FFF3D6"/>
          </a:solidFill>
          <a:ln w="9525">
            <a:solidFill>
              <a:srgbClr val="9A6410"/>
            </a:solidFill>
            <a:prstDash val="solid"/>
          </a:ln>
        </p:spPr>
      </p:sp>
      <p:sp>
        <p:nvSpPr>
          <p:cNvPr id="10" name="Text 7"/>
          <p:cNvSpPr/>
          <p:nvPr/>
        </p:nvSpPr>
        <p:spPr>
          <a:xfrm>
            <a:off x="4663440" y="1325880"/>
            <a:ext cx="4069080" cy="329184"/>
          </a:xfrm>
          <a:prstGeom prst="roundRect">
            <a:avLst>
              <a:gd name="adj" fmla="val 16667"/>
            </a:avLst>
          </a:prstGeom>
          <a:solidFill>
            <a:srgbClr val="9A6410"/>
          </a:solidFill>
          <a:ln w="12700">
            <a:solidFill>
              <a:srgbClr val="9A6410"/>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One-Time Cleaning (OTC)</a:t>
            </a:r>
            <a:endParaRPr lang="en-US" sz="1050" dirty="0"/>
          </a:p>
        </p:txBody>
      </p:sp>
      <p:sp>
        <p:nvSpPr>
          <p:cNvPr id="11" name="Text 8"/>
          <p:cNvSpPr txBox="1"/>
          <p:nvPr/>
        </p:nvSpPr>
        <p:spPr>
          <a:xfrm>
            <a:off x="4828032" y="1764792"/>
            <a:ext cx="3739896" cy="186537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Wants a single cleaning (e.g. move-out)</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No FC table</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Charged upfront</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Nothing after: no membership to track</a:t>
            </a:r>
            <a:endParaRPr lang="en-US" sz="1000" dirty="0"/>
          </a:p>
        </p:txBody>
      </p:sp>
      <p:sp>
        <p:nvSpPr>
          <p:cNvPr id="12" name="Shape 9"/>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4" name="Text 10"/>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Don't default to a refund:  </a:t>
            </a:r>
            <a:r>
              <a:rPr lang="en-US" sz="1000" dirty="0">
                <a:solidFill>
                  <a:srgbClr val="1D1D1F"/>
                </a:solidFill>
                <a:latin typeface="SF Pro Text" pitchFamily="34" charset="0"/>
                <a:ea typeface="SF Pro Text" pitchFamily="34" charset="-122"/>
                <a:cs typeface="SF Pro Text" pitchFamily="34" charset="-120"/>
              </a:rPr>
              <a:t>a TC or OTC may be exactly what they want.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Pricing: what gets deducted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Get the rate from the FC Sales Calculator first.</a:t>
            </a:r>
            <a:endParaRPr lang="en-US" sz="1200" dirty="0"/>
          </a:p>
        </p:txBody>
      </p:sp>
      <p:sp>
        <p:nvSpPr>
          <p:cNvPr id="6" name="Shape 3"/>
          <p:cNvSpPr/>
          <p:nvPr/>
        </p:nvSpPr>
        <p:spPr>
          <a:xfrm>
            <a:off x="411480" y="1325880"/>
            <a:ext cx="4069080" cy="1188720"/>
          </a:xfrm>
          <a:prstGeom prst="roundRect">
            <a:avLst>
              <a:gd name="adj" fmla="val 6154"/>
            </a:avLst>
          </a:prstGeom>
          <a:solidFill>
            <a:srgbClr val="FFFFFF"/>
          </a:solidFill>
          <a:ln w="9525">
            <a:solidFill>
              <a:srgbClr val="1D1D1F"/>
            </a:solidFill>
            <a:prstDash val="solid"/>
          </a:ln>
        </p:spPr>
      </p:sp>
      <p:sp>
        <p:nvSpPr>
          <p:cNvPr id="7" name="Text 4"/>
          <p:cNvSpPr/>
          <p:nvPr/>
        </p:nvSpPr>
        <p:spPr>
          <a:xfrm>
            <a:off x="41148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DHJ: deduct</a:t>
            </a:r>
            <a:endParaRPr lang="en-US" sz="1050" dirty="0"/>
          </a:p>
        </p:txBody>
      </p:sp>
      <p:sp>
        <p:nvSpPr>
          <p:cNvPr id="8" name="Text 5"/>
          <p:cNvSpPr txBox="1"/>
          <p:nvPr/>
        </p:nvSpPr>
        <p:spPr>
          <a:xfrm>
            <a:off x="576072" y="1764792"/>
            <a:ext cx="3739896" cy="67665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The voucher price they already paid</a:t>
            </a:r>
            <a:endParaRPr lang="en-US" sz="1000" dirty="0"/>
          </a:p>
        </p:txBody>
      </p:sp>
      <p:sp>
        <p:nvSpPr>
          <p:cNvPr id="9" name="Shape 6"/>
          <p:cNvSpPr/>
          <p:nvPr/>
        </p:nvSpPr>
        <p:spPr>
          <a:xfrm>
            <a:off x="4663440" y="1325880"/>
            <a:ext cx="4069080" cy="1188720"/>
          </a:xfrm>
          <a:prstGeom prst="roundRect">
            <a:avLst>
              <a:gd name="adj" fmla="val 6154"/>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FCF: deduct</a:t>
            </a:r>
            <a:endParaRPr lang="en-US" sz="1050" dirty="0"/>
          </a:p>
        </p:txBody>
      </p:sp>
      <p:sp>
        <p:nvSpPr>
          <p:cNvPr id="11" name="Text 8"/>
          <p:cNvSpPr txBox="1"/>
          <p:nvPr/>
        </p:nvSpPr>
        <p:spPr>
          <a:xfrm>
            <a:off x="4828032" y="1764792"/>
            <a:ext cx="3739896" cy="67665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All MFs paid to date (within 120 days)</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Plus the add-on: $19 (4 hr) or $59 (6 hr)</a:t>
            </a:r>
            <a:endParaRPr lang="en-US" sz="1000" dirty="0"/>
          </a:p>
        </p:txBody>
      </p:sp>
      <p:sp>
        <p:nvSpPr>
          <p:cNvPr id="12" name="Shape 9"/>
          <p:cNvSpPr/>
          <p:nvPr/>
        </p:nvSpPr>
        <p:spPr>
          <a:xfrm>
            <a:off x="411480" y="2697480"/>
            <a:ext cx="4069080" cy="914400"/>
          </a:xfrm>
          <a:prstGeom prst="roundRect">
            <a:avLst>
              <a:gd name="adj" fmla="val 8000"/>
            </a:avLst>
          </a:prstGeom>
          <a:solidFill>
            <a:srgbClr val="FFFFFF"/>
          </a:solidFill>
          <a:ln w="9525">
            <a:solidFill>
              <a:srgbClr val="DCE1E7"/>
            </a:solidFill>
            <a:prstDash val="solid"/>
          </a:ln>
        </p:spPr>
      </p:sp>
      <p:sp>
        <p:nvSpPr>
          <p:cNvPr id="13" name="Text 10"/>
          <p:cNvSpPr txBox="1"/>
          <p:nvPr/>
        </p:nvSpPr>
        <p:spPr>
          <a:xfrm>
            <a:off x="594360" y="2697480"/>
            <a:ext cx="3749040" cy="9144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6-hr clean at $378</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2 MFs + $59 add-on = $137 paid</a:t>
            </a:r>
            <a:endParaRPr lang="en-US" sz="1100" dirty="0"/>
          </a:p>
          <a:p>
            <a:pPr indent="0" marL="0">
              <a:buNone/>
            </a:pPr>
            <a:r>
              <a:rPr lang="en-US" sz="1100" b="1" dirty="0">
                <a:solidFill>
                  <a:srgbClr val="0B7A6F"/>
                </a:solidFill>
                <a:latin typeface="SF Pro Text" pitchFamily="34" charset="0"/>
                <a:ea typeface="SF Pro Text" pitchFamily="34" charset="-122"/>
                <a:cs typeface="SF Pro Text" pitchFamily="34" charset="-120"/>
              </a:rPr>
              <a:t>→ Pays $241</a:t>
            </a:r>
            <a:endParaRPr lang="en-US" sz="1100" dirty="0"/>
          </a:p>
        </p:txBody>
      </p:sp>
      <p:sp>
        <p:nvSpPr>
          <p:cNvPr id="14" name="Shape 11"/>
          <p:cNvSpPr/>
          <p:nvPr/>
        </p:nvSpPr>
        <p:spPr>
          <a:xfrm>
            <a:off x="4663440" y="2697480"/>
            <a:ext cx="4069080" cy="914400"/>
          </a:xfrm>
          <a:prstGeom prst="roundRect">
            <a:avLst>
              <a:gd name="adj" fmla="val 8000"/>
            </a:avLst>
          </a:prstGeom>
          <a:solidFill>
            <a:srgbClr val="FFFFFF"/>
          </a:solidFill>
          <a:ln w="9525">
            <a:solidFill>
              <a:srgbClr val="DCE1E7"/>
            </a:solidFill>
            <a:prstDash val="solid"/>
          </a:ln>
        </p:spPr>
      </p:sp>
      <p:sp>
        <p:nvSpPr>
          <p:cNvPr id="15" name="Text 12"/>
          <p:cNvSpPr txBox="1"/>
          <p:nvPr/>
        </p:nvSpPr>
        <p:spPr>
          <a:xfrm>
            <a:off x="4846320" y="2697480"/>
            <a:ext cx="3749040" cy="9144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OTC at $120</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$150 in MFs already paid</a:t>
            </a:r>
            <a:endParaRPr lang="en-US" sz="1100" dirty="0"/>
          </a:p>
          <a:p>
            <a:pPr indent="0" marL="0">
              <a:buNone/>
            </a:pPr>
            <a:r>
              <a:rPr lang="en-US" sz="1100" b="1" dirty="0">
                <a:solidFill>
                  <a:srgbClr val="0B7A6F"/>
                </a:solidFill>
                <a:latin typeface="SF Pro Text" pitchFamily="34" charset="0"/>
                <a:ea typeface="SF Pro Text" pitchFamily="34" charset="-122"/>
                <a:cs typeface="SF Pro Text" pitchFamily="34" charset="-120"/>
              </a:rPr>
              <a:t>→ Pays $0. $30 is not refunded</a:t>
            </a:r>
            <a:endParaRPr lang="en-US" sz="1100" dirty="0"/>
          </a:p>
        </p:txBody>
      </p:sp>
      <p:sp>
        <p:nvSpPr>
          <p:cNvPr id="16" name="Shape 1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18" name="Text 1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First:  </a:t>
            </a:r>
            <a:r>
              <a:rPr lang="en-US" sz="1000" dirty="0">
                <a:solidFill>
                  <a:srgbClr val="1D1D1F"/>
                </a:solidFill>
                <a:latin typeface="SF Pro Text" pitchFamily="34" charset="0"/>
                <a:ea typeface="SF Pro Text" pitchFamily="34" charset="-122"/>
                <a:cs typeface="SF Pro Text" pitchFamily="34" charset="-120"/>
              </a:rPr>
              <a:t>get the TC/OTC rate from the (Transformation) FC Sales Calculator.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Offering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Explain what they signed up for, then offer the better fit.</a:t>
            </a:r>
            <a:endParaRPr lang="en-US" sz="1200" dirty="0"/>
          </a:p>
        </p:txBody>
      </p:sp>
      <p:sp>
        <p:nvSpPr>
          <p:cNvPr id="6" name="Shape 3"/>
          <p:cNvSpPr/>
          <p:nvPr/>
        </p:nvSpPr>
        <p:spPr>
          <a:xfrm>
            <a:off x="411480" y="1325880"/>
            <a:ext cx="4069080" cy="1325880"/>
          </a:xfrm>
          <a:prstGeom prst="roundRect">
            <a:avLst>
              <a:gd name="adj" fmla="val 5517"/>
            </a:avLst>
          </a:prstGeom>
          <a:solidFill>
            <a:srgbClr val="E3F4F1"/>
          </a:solidFill>
          <a:ln w="9525">
            <a:solidFill>
              <a:srgbClr val="E3F4F1"/>
            </a:solidFill>
            <a:prstDash val="solid"/>
          </a:ln>
        </p:spPr>
      </p:sp>
      <p:sp>
        <p:nvSpPr>
          <p:cNvPr id="7" name="Shape 4"/>
          <p:cNvSpPr/>
          <p:nvPr/>
        </p:nvSpPr>
        <p:spPr>
          <a:xfrm>
            <a:off x="411480" y="1399032"/>
            <a:ext cx="45720" cy="1179576"/>
          </a:xfrm>
          <a:prstGeom prst="rect">
            <a:avLst/>
          </a:prstGeom>
          <a:solidFill>
            <a:srgbClr val="0B7A6F"/>
          </a:solidFill>
          <a:ln w="12700">
            <a:solidFill>
              <a:srgbClr val="0B7A6F"/>
            </a:solidFill>
            <a:prstDash val="solid"/>
          </a:ln>
        </p:spPr>
      </p:sp>
      <p:sp>
        <p:nvSpPr>
          <p:cNvPr id="8" name="Text 5"/>
          <p:cNvSpPr txBox="1"/>
          <p:nvPr/>
        </p:nvSpPr>
        <p:spPr>
          <a:xfrm>
            <a:off x="594360" y="1325880"/>
            <a:ext cx="3749040" cy="132588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ONE-TIME CLEANING</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“The voucher you purchased comes with a membership, so if you're only looking for a one-time cleaning, using it wouldn't be the best route. What I can do instead is offer a one-time cleaning at $[X]…”</a:t>
            </a:r>
            <a:endParaRPr lang="en-US" sz="1000" dirty="0"/>
          </a:p>
        </p:txBody>
      </p:sp>
      <p:sp>
        <p:nvSpPr>
          <p:cNvPr id="9" name="Shape 6"/>
          <p:cNvSpPr/>
          <p:nvPr/>
        </p:nvSpPr>
        <p:spPr>
          <a:xfrm>
            <a:off x="4663440" y="1325880"/>
            <a:ext cx="4069080" cy="1325880"/>
          </a:xfrm>
          <a:prstGeom prst="roundRect">
            <a:avLst>
              <a:gd name="adj" fmla="val 5517"/>
            </a:avLst>
          </a:prstGeom>
          <a:solidFill>
            <a:srgbClr val="E3F4F1"/>
          </a:solidFill>
          <a:ln w="9525">
            <a:solidFill>
              <a:srgbClr val="E3F4F1"/>
            </a:solidFill>
            <a:prstDash val="solid"/>
          </a:ln>
        </p:spPr>
      </p:sp>
      <p:sp>
        <p:nvSpPr>
          <p:cNvPr id="10" name="Shape 7"/>
          <p:cNvSpPr/>
          <p:nvPr/>
        </p:nvSpPr>
        <p:spPr>
          <a:xfrm>
            <a:off x="4663440" y="1399032"/>
            <a:ext cx="45720" cy="1179576"/>
          </a:xfrm>
          <a:prstGeom prst="rect">
            <a:avLst/>
          </a:prstGeom>
          <a:solidFill>
            <a:srgbClr val="0B7A6F"/>
          </a:solidFill>
          <a:ln w="12700">
            <a:solidFill>
              <a:srgbClr val="0B7A6F"/>
            </a:solidFill>
            <a:prstDash val="solid"/>
          </a:ln>
        </p:spPr>
      </p:sp>
      <p:sp>
        <p:nvSpPr>
          <p:cNvPr id="11" name="Text 8"/>
          <p:cNvSpPr txBox="1"/>
          <p:nvPr/>
        </p:nvSpPr>
        <p:spPr>
          <a:xfrm>
            <a:off x="4846320" y="1325880"/>
            <a:ext cx="3749040" cy="132588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TRIAL CLEANING</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“We actually have a Trial Cleaning option, which could be a better fit. It lets you try things out first… we can apply what you've already paid, bringing your total to $[X], charged upfront.”</a:t>
            </a:r>
            <a:endParaRPr lang="en-US" sz="1000" dirty="0"/>
          </a:p>
        </p:txBody>
      </p:sp>
      <p:sp>
        <p:nvSpPr>
          <p:cNvPr id="12" name="Shape 9"/>
          <p:cNvSpPr/>
          <p:nvPr/>
        </p:nvSpPr>
        <p:spPr>
          <a:xfrm>
            <a:off x="4663440" y="2788920"/>
            <a:ext cx="4069080" cy="1371600"/>
          </a:xfrm>
          <a:prstGeom prst="roundRect">
            <a:avLst>
              <a:gd name="adj" fmla="val 5333"/>
            </a:avLst>
          </a:prstGeom>
          <a:solidFill>
            <a:srgbClr val="FFFFFF"/>
          </a:solidFill>
          <a:ln w="9525">
            <a:solidFill>
              <a:srgbClr val="0B7A6F"/>
            </a:solidFill>
            <a:prstDash val="solid"/>
          </a:ln>
        </p:spPr>
      </p:sp>
      <p:sp>
        <p:nvSpPr>
          <p:cNvPr id="13" name="Text 10"/>
          <p:cNvSpPr/>
          <p:nvPr/>
        </p:nvSpPr>
        <p:spPr>
          <a:xfrm>
            <a:off x="4663440" y="278892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Trial: set expectations</a:t>
            </a:r>
            <a:endParaRPr lang="en-US" sz="1050" dirty="0"/>
          </a:p>
        </p:txBody>
      </p:sp>
      <p:sp>
        <p:nvSpPr>
          <p:cNvPr id="14" name="Text 11"/>
          <p:cNvSpPr txBox="1"/>
          <p:nvPr/>
        </p:nvSpPr>
        <p:spPr>
          <a:xfrm>
            <a:off x="4828032" y="3227832"/>
            <a:ext cx="3739896" cy="859536"/>
          </a:xfrm>
          <a:prstGeom prst="rect">
            <a:avLst/>
          </a:prstGeom>
          <a:noFill/>
          <a:ln/>
        </p:spPr>
        <p:txBody>
          <a:bodyPr wrap="square" lIns="0" tIns="0" rIns="0" bIns="0" rtlCol="0" anchor="t"/>
          <a:lstStyle/>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30 days from the appointment to cancel, no obligation</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Then $59/mo starts automatically</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6-month MCT. $99 ETF if cancelled early</a:t>
            </a:r>
            <a:endParaRPr lang="en-US" sz="900" dirty="0"/>
          </a:p>
        </p:txBody>
      </p:sp>
      <p:sp>
        <p:nvSpPr>
          <p:cNvPr id="15" name="Shape 12"/>
          <p:cNvSpPr/>
          <p:nvPr/>
        </p:nvSpPr>
        <p:spPr>
          <a:xfrm>
            <a:off x="411480" y="2788920"/>
            <a:ext cx="4069080" cy="1371600"/>
          </a:xfrm>
          <a:prstGeom prst="roundRect">
            <a:avLst>
              <a:gd name="adj" fmla="val 5333"/>
            </a:avLst>
          </a:prstGeom>
          <a:solidFill>
            <a:srgbClr val="FFFFFF"/>
          </a:solidFill>
          <a:ln w="9525">
            <a:solidFill>
              <a:srgbClr val="1D1D1F"/>
            </a:solidFill>
            <a:prstDash val="solid"/>
          </a:ln>
        </p:spPr>
      </p:sp>
      <p:sp>
        <p:nvSpPr>
          <p:cNvPr id="16" name="Text 13"/>
          <p:cNvSpPr/>
          <p:nvPr/>
        </p:nvSpPr>
        <p:spPr>
          <a:xfrm>
            <a:off x="411480" y="278892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Also</a:t>
            </a:r>
            <a:endParaRPr lang="en-US" sz="1050" dirty="0"/>
          </a:p>
        </p:txBody>
      </p:sp>
      <p:sp>
        <p:nvSpPr>
          <p:cNvPr id="17" name="Text 14"/>
          <p:cNvSpPr txBox="1"/>
          <p:nvPr/>
        </p:nvSpPr>
        <p:spPr>
          <a:xfrm>
            <a:off x="576072" y="3227832"/>
            <a:ext cx="3739896" cy="859536"/>
          </a:xfrm>
          <a:prstGeom prst="rect">
            <a:avLst/>
          </a:prstGeom>
          <a:noFill/>
          <a:ln/>
        </p:spPr>
        <p:txBody>
          <a:bodyPr wrap="square" lIns="0" tIns="0" rIns="0" bIns="0" rtlCol="0" anchor="t"/>
          <a:lstStyle/>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DHJ with refund intent: send the self-refund link</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Paid upfront: get their preferred date and time</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Cancel unwanted appointments and RC</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accept: set it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FC table and voucher steps differ by model.</a:t>
            </a:r>
            <a:endParaRPr lang="en-US" sz="1200" dirty="0"/>
          </a:p>
        </p:txBody>
      </p:sp>
      <p:sp>
        <p:nvSpPr>
          <p:cNvPr id="6" name="Shape 3"/>
          <p:cNvSpPr/>
          <p:nvPr/>
        </p:nvSpPr>
        <p:spPr>
          <a:xfrm>
            <a:off x="411480" y="1298448"/>
            <a:ext cx="4297680" cy="402336"/>
          </a:xfrm>
          <a:prstGeom prst="roundRect">
            <a:avLst>
              <a:gd name="adj" fmla="val 18182"/>
            </a:avLst>
          </a:prstGeom>
          <a:solidFill>
            <a:srgbClr val="FFFFFF"/>
          </a:solidFill>
          <a:ln w="9525">
            <a:solidFill>
              <a:srgbClr val="DCE1E7"/>
            </a:solidFill>
            <a:prstDash val="solid"/>
          </a:ln>
        </p:spPr>
      </p:sp>
      <p:sp>
        <p:nvSpPr>
          <p:cNvPr id="7" name="Shape 4"/>
          <p:cNvSpPr/>
          <p:nvPr/>
        </p:nvSpPr>
        <p:spPr>
          <a:xfrm>
            <a:off x="484632" y="1362456"/>
            <a:ext cx="274320" cy="274320"/>
          </a:xfrm>
          <a:prstGeom prst="ellipse">
            <a:avLst/>
          </a:prstGeom>
          <a:solidFill>
            <a:srgbClr val="E3F4F1"/>
          </a:solidFill>
          <a:ln w="12700">
            <a:solidFill>
              <a:srgbClr val="E3F4F1"/>
            </a:solidFill>
            <a:prstDash val="solid"/>
          </a:ln>
        </p:spPr>
      </p:sp>
      <p:sp>
        <p:nvSpPr>
          <p:cNvPr id="8" name="Text 5"/>
          <p:cNvSpPr txBox="1"/>
          <p:nvPr/>
        </p:nvSpPr>
        <p:spPr>
          <a:xfrm>
            <a:off x="484632" y="13624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850392" y="1298448"/>
            <a:ext cx="3794760" cy="40233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Confirm address, card, date, time, duration</a:t>
            </a:r>
            <a:endParaRPr lang="en-US" sz="900" dirty="0"/>
          </a:p>
        </p:txBody>
      </p:sp>
      <p:sp>
        <p:nvSpPr>
          <p:cNvPr id="10" name="Shape 7"/>
          <p:cNvSpPr/>
          <p:nvPr/>
        </p:nvSpPr>
        <p:spPr>
          <a:xfrm>
            <a:off x="411480" y="1755648"/>
            <a:ext cx="4297680" cy="402336"/>
          </a:xfrm>
          <a:prstGeom prst="roundRect">
            <a:avLst>
              <a:gd name="adj" fmla="val 18182"/>
            </a:avLst>
          </a:prstGeom>
          <a:solidFill>
            <a:srgbClr val="FFFFFF"/>
          </a:solidFill>
          <a:ln w="9525">
            <a:solidFill>
              <a:srgbClr val="DCE1E7"/>
            </a:solidFill>
            <a:prstDash val="solid"/>
          </a:ln>
        </p:spPr>
      </p:sp>
      <p:sp>
        <p:nvSpPr>
          <p:cNvPr id="11" name="Shape 8"/>
          <p:cNvSpPr/>
          <p:nvPr/>
        </p:nvSpPr>
        <p:spPr>
          <a:xfrm>
            <a:off x="484632" y="1819656"/>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4632" y="18196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850392" y="1755648"/>
            <a:ext cx="3794760" cy="40233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Still wants a refund? DHJ: CRM refund. FCF: FCF Refund log</a:t>
            </a:r>
            <a:endParaRPr lang="en-US" sz="900" dirty="0"/>
          </a:p>
        </p:txBody>
      </p:sp>
      <p:sp>
        <p:nvSpPr>
          <p:cNvPr id="14" name="Shape 11"/>
          <p:cNvSpPr/>
          <p:nvPr/>
        </p:nvSpPr>
        <p:spPr>
          <a:xfrm>
            <a:off x="411480" y="2212848"/>
            <a:ext cx="4297680" cy="402336"/>
          </a:xfrm>
          <a:prstGeom prst="roundRect">
            <a:avLst>
              <a:gd name="adj" fmla="val 18182"/>
            </a:avLst>
          </a:prstGeom>
          <a:solidFill>
            <a:srgbClr val="FFFFFF"/>
          </a:solidFill>
          <a:ln w="9525">
            <a:solidFill>
              <a:srgbClr val="DCE1E7"/>
            </a:solidFill>
            <a:prstDash val="solid"/>
          </a:ln>
        </p:spPr>
      </p:sp>
      <p:sp>
        <p:nvSpPr>
          <p:cNvPr id="15" name="Shape 12"/>
          <p:cNvSpPr/>
          <p:nvPr/>
        </p:nvSpPr>
        <p:spPr>
          <a:xfrm>
            <a:off x="484632" y="2276856"/>
            <a:ext cx="274320" cy="274320"/>
          </a:xfrm>
          <a:prstGeom prst="ellipse">
            <a:avLst/>
          </a:prstGeom>
          <a:solidFill>
            <a:srgbClr val="E3F4F1"/>
          </a:solidFill>
          <a:ln w="12700">
            <a:solidFill>
              <a:srgbClr val="E3F4F1"/>
            </a:solidFill>
            <a:prstDash val="solid"/>
          </a:ln>
        </p:spPr>
      </p:sp>
      <p:sp>
        <p:nvSpPr>
          <p:cNvPr id="16" name="Text 13"/>
          <p:cNvSpPr txBox="1"/>
          <p:nvPr/>
        </p:nvSpPr>
        <p:spPr>
          <a:xfrm>
            <a:off x="484632" y="22768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7" name="Text 14"/>
          <p:cNvSpPr txBox="1"/>
          <p:nvPr/>
        </p:nvSpPr>
        <p:spPr>
          <a:xfrm>
            <a:off x="850392" y="2212848"/>
            <a:ext cx="3794760" cy="40233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Deduct what they paid, invalidate the voucher</a:t>
            </a:r>
            <a:endParaRPr lang="en-US" sz="900" dirty="0"/>
          </a:p>
        </p:txBody>
      </p:sp>
      <p:sp>
        <p:nvSpPr>
          <p:cNvPr id="18" name="Shape 15"/>
          <p:cNvSpPr/>
          <p:nvPr/>
        </p:nvSpPr>
        <p:spPr>
          <a:xfrm>
            <a:off x="411480" y="2670048"/>
            <a:ext cx="4297680" cy="402336"/>
          </a:xfrm>
          <a:prstGeom prst="roundRect">
            <a:avLst>
              <a:gd name="adj" fmla="val 18182"/>
            </a:avLst>
          </a:prstGeom>
          <a:solidFill>
            <a:srgbClr val="FFFFFF"/>
          </a:solidFill>
          <a:ln w="9525">
            <a:solidFill>
              <a:srgbClr val="DCE1E7"/>
            </a:solidFill>
            <a:prstDash val="solid"/>
          </a:ln>
        </p:spPr>
      </p:sp>
      <p:sp>
        <p:nvSpPr>
          <p:cNvPr id="19" name="Shape 16"/>
          <p:cNvSpPr/>
          <p:nvPr/>
        </p:nvSpPr>
        <p:spPr>
          <a:xfrm>
            <a:off x="484632" y="2734056"/>
            <a:ext cx="274320" cy="274320"/>
          </a:xfrm>
          <a:prstGeom prst="ellipse">
            <a:avLst/>
          </a:prstGeom>
          <a:solidFill>
            <a:srgbClr val="E3F4F1"/>
          </a:solidFill>
          <a:ln w="12700">
            <a:solidFill>
              <a:srgbClr val="E3F4F1"/>
            </a:solidFill>
            <a:prstDash val="solid"/>
          </a:ln>
        </p:spPr>
      </p:sp>
      <p:sp>
        <p:nvSpPr>
          <p:cNvPr id="20" name="Text 17"/>
          <p:cNvSpPr txBox="1"/>
          <p:nvPr/>
        </p:nvSpPr>
        <p:spPr>
          <a:xfrm>
            <a:off x="484632" y="27340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1" name="Text 18"/>
          <p:cNvSpPr txBox="1"/>
          <p:nvPr/>
        </p:nvSpPr>
        <p:spPr>
          <a:xfrm>
            <a:off x="850392" y="2670048"/>
            <a:ext cx="3794760" cy="40233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Charge upfront (FC Sales Calculator), book it</a:t>
            </a:r>
            <a:endParaRPr lang="en-US" sz="900" dirty="0"/>
          </a:p>
        </p:txBody>
      </p:sp>
      <p:sp>
        <p:nvSpPr>
          <p:cNvPr id="22" name="Shape 19"/>
          <p:cNvSpPr/>
          <p:nvPr/>
        </p:nvSpPr>
        <p:spPr>
          <a:xfrm>
            <a:off x="411480" y="3127248"/>
            <a:ext cx="4297680" cy="402336"/>
          </a:xfrm>
          <a:prstGeom prst="roundRect">
            <a:avLst>
              <a:gd name="adj" fmla="val 18182"/>
            </a:avLst>
          </a:prstGeom>
          <a:solidFill>
            <a:srgbClr val="FFFFFF"/>
          </a:solidFill>
          <a:ln w="9525">
            <a:solidFill>
              <a:srgbClr val="DCE1E7"/>
            </a:solidFill>
            <a:prstDash val="solid"/>
          </a:ln>
        </p:spPr>
      </p:sp>
      <p:sp>
        <p:nvSpPr>
          <p:cNvPr id="23" name="Shape 20"/>
          <p:cNvSpPr/>
          <p:nvPr/>
        </p:nvSpPr>
        <p:spPr>
          <a:xfrm>
            <a:off x="484632" y="3191256"/>
            <a:ext cx="274320" cy="274320"/>
          </a:xfrm>
          <a:prstGeom prst="ellipse">
            <a:avLst/>
          </a:prstGeom>
          <a:solidFill>
            <a:srgbClr val="E3F4F1"/>
          </a:solidFill>
          <a:ln w="12700">
            <a:solidFill>
              <a:srgbClr val="E3F4F1"/>
            </a:solidFill>
            <a:prstDash val="solid"/>
          </a:ln>
        </p:spPr>
      </p:sp>
      <p:sp>
        <p:nvSpPr>
          <p:cNvPr id="24" name="Text 21"/>
          <p:cNvSpPr txBox="1"/>
          <p:nvPr/>
        </p:nvSpPr>
        <p:spPr>
          <a:xfrm>
            <a:off x="484632" y="31912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5" name="Text 22"/>
          <p:cNvSpPr txBox="1"/>
          <p:nvPr/>
        </p:nvSpPr>
        <p:spPr>
          <a:xfrm>
            <a:off x="850392" y="3127248"/>
            <a:ext cx="3794760" cy="40233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admin_courtesy voucher, no notification</a:t>
            </a:r>
            <a:endParaRPr lang="en-US" sz="900" dirty="0"/>
          </a:p>
        </p:txBody>
      </p:sp>
      <p:sp>
        <p:nvSpPr>
          <p:cNvPr id="26" name="Shape 23"/>
          <p:cNvSpPr/>
          <p:nvPr/>
        </p:nvSpPr>
        <p:spPr>
          <a:xfrm>
            <a:off x="411480" y="3584448"/>
            <a:ext cx="4297680" cy="402336"/>
          </a:xfrm>
          <a:prstGeom prst="roundRect">
            <a:avLst>
              <a:gd name="adj" fmla="val 18182"/>
            </a:avLst>
          </a:prstGeom>
          <a:solidFill>
            <a:srgbClr val="FFFFFF"/>
          </a:solidFill>
          <a:ln w="9525">
            <a:solidFill>
              <a:srgbClr val="DCE1E7"/>
            </a:solidFill>
            <a:prstDash val="solid"/>
          </a:ln>
        </p:spPr>
      </p:sp>
      <p:sp>
        <p:nvSpPr>
          <p:cNvPr id="27" name="Shape 24"/>
          <p:cNvSpPr/>
          <p:nvPr/>
        </p:nvSpPr>
        <p:spPr>
          <a:xfrm>
            <a:off x="484632" y="3648456"/>
            <a:ext cx="274320" cy="274320"/>
          </a:xfrm>
          <a:prstGeom prst="ellipse">
            <a:avLst/>
          </a:prstGeom>
          <a:solidFill>
            <a:srgbClr val="E3F4F1"/>
          </a:solidFill>
          <a:ln w="12700">
            <a:solidFill>
              <a:srgbClr val="E3F4F1"/>
            </a:solidFill>
            <a:prstDash val="solid"/>
          </a:ln>
        </p:spPr>
      </p:sp>
      <p:sp>
        <p:nvSpPr>
          <p:cNvPr id="28" name="Text 25"/>
          <p:cNvSpPr txBox="1"/>
          <p:nvPr/>
        </p:nvSpPr>
        <p:spPr>
          <a:xfrm>
            <a:off x="484632" y="364845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29" name="Text 26"/>
          <p:cNvSpPr txBox="1"/>
          <p:nvPr/>
        </p:nvSpPr>
        <p:spPr>
          <a:xfrm>
            <a:off x="850392" y="3584448"/>
            <a:ext cx="3794760" cy="40233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Confirm: charged, booked, CP will confirm</a:t>
            </a:r>
            <a:endParaRPr lang="en-US" sz="9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846320" y="1298448"/>
          <a:ext cx="3886200" cy="914400"/>
        </p:xfrm>
        <a:graphic>
          <a:graphicData uri="http://schemas.openxmlformats.org/drawingml/2006/table">
            <a:tbl>
              <a:tblPr/>
              <a:tblGrid>
                <a:gridCol w="1828800"/>
                <a:gridCol w="2057400"/>
              </a:tblGrid>
              <a:tr h="292608">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Existing FC table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00" dirty="0">
                          <a:solidFill>
                            <a:srgbClr val="1D1D1F"/>
                          </a:solidFill>
                          <a:latin typeface="SF Pro Text" pitchFamily="34" charset="0"/>
                          <a:ea typeface="SF Pro Text" pitchFamily="34" charset="-122"/>
                          <a:cs typeface="SF Pro Text" pitchFamily="34" charset="-120"/>
                        </a:rPr>
                        <a:t>OTC (DHJ or FCF)</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b="1" dirty="0">
                          <a:solidFill>
                            <a:srgbClr val="0B7A6F"/>
                          </a:solidFill>
                          <a:latin typeface="SF Pro Text" pitchFamily="34" charset="0"/>
                          <a:ea typeface="SF Pro Text" pitchFamily="34" charset="-122"/>
                          <a:cs typeface="SF Pro Text" pitchFamily="34" charset="-120"/>
                        </a:rPr>
                        <a:t>Deactivate 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1D1F"/>
                          </a:solidFill>
                          <a:latin typeface="SF Pro Text" pitchFamily="34" charset="0"/>
                          <a:ea typeface="SF Pro Text" pitchFamily="34" charset="-122"/>
                          <a:cs typeface="SF Pro Text" pitchFamily="34" charset="-120"/>
                        </a:rPr>
                        <a:t>DHJ Trial</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b="1" dirty="0">
                          <a:solidFill>
                            <a:srgbClr val="0B7A6F"/>
                          </a:solidFill>
                          <a:latin typeface="SF Pro Text" pitchFamily="34" charset="0"/>
                          <a:ea typeface="SF Pro Text" pitchFamily="34" charset="-122"/>
                          <a:cs typeface="SF Pro Text" pitchFamily="34" charset="-120"/>
                        </a:rPr>
                        <a:t>Leave it as is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1D1F"/>
                          </a:solidFill>
                          <a:latin typeface="SF Pro Text" pitchFamily="34" charset="0"/>
                          <a:ea typeface="SF Pro Text" pitchFamily="34" charset="-122"/>
                          <a:cs typeface="SF Pro Text" pitchFamily="34" charset="-120"/>
                        </a:rPr>
                        <a:t>FCF Trial</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b="1" dirty="0">
                          <a:solidFill>
                            <a:srgbClr val="0B7A6F"/>
                          </a:solidFill>
                          <a:latin typeface="SF Pro Text" pitchFamily="34" charset="0"/>
                          <a:ea typeface="SF Pro Text" pitchFamily="34" charset="-122"/>
                          <a:cs typeface="SF Pro Text" pitchFamily="34" charset="-120"/>
                        </a:rPr>
                        <a:t>Deactivate, then force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31" name="Shape 27"/>
          <p:cNvSpPr/>
          <p:nvPr/>
        </p:nvSpPr>
        <p:spPr>
          <a:xfrm>
            <a:off x="4846320" y="2697480"/>
            <a:ext cx="3886200" cy="1417320"/>
          </a:xfrm>
          <a:prstGeom prst="roundRect">
            <a:avLst>
              <a:gd name="adj" fmla="val 5161"/>
            </a:avLst>
          </a:prstGeom>
          <a:solidFill>
            <a:srgbClr val="E3F4F1"/>
          </a:solidFill>
          <a:ln w="9525">
            <a:solidFill>
              <a:srgbClr val="0B7A6F"/>
            </a:solidFill>
            <a:prstDash val="solid"/>
          </a:ln>
        </p:spPr>
      </p:sp>
      <p:sp>
        <p:nvSpPr>
          <p:cNvPr id="32" name="Text 28"/>
          <p:cNvSpPr/>
          <p:nvPr/>
        </p:nvSpPr>
        <p:spPr>
          <a:xfrm>
            <a:off x="4846320" y="2697480"/>
            <a:ext cx="388620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Trial only</a:t>
            </a:r>
            <a:endParaRPr lang="en-US" sz="1050" dirty="0"/>
          </a:p>
        </p:txBody>
      </p:sp>
      <p:sp>
        <p:nvSpPr>
          <p:cNvPr id="33" name="Text 29"/>
          <p:cNvSpPr txBox="1"/>
          <p:nvPr/>
        </p:nvSpPr>
        <p:spPr>
          <a:xfrm>
            <a:off x="5010912" y="3136392"/>
            <a:ext cx="3557016" cy="905256"/>
          </a:xfrm>
          <a:prstGeom prst="rect">
            <a:avLst/>
          </a:prstGeom>
          <a:noFill/>
          <a:ln/>
        </p:spPr>
        <p:txBody>
          <a:bodyPr wrap="square" lIns="0" tIns="0" rIns="0" bIns="0" rtlCol="0" anchor="t"/>
          <a:lstStyle/>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Legacy CRM voucher: "ForeverClean force" + "1 free month"</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FCF: add them to the FC table</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the ETF to $99</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decline the offer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what they're owed and close things out.</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a:t>
            </a:r>
            <a:endParaRPr lang="en-US" sz="1200" dirty="0"/>
          </a:p>
        </p:txBody>
      </p:sp>
      <p:sp>
        <p:nvSpPr>
          <p:cNvPr id="10" name="Text 6"/>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DHJ: within 1 year, refund via CRM and invalidate. FCF: use the pre-invoice cheat sheet.</a:t>
            </a:r>
            <a:endParaRPr lang="en-US" sz="950" dirty="0"/>
          </a:p>
        </p:txBody>
      </p:sp>
      <p:sp>
        <p:nvSpPr>
          <p:cNvPr id="11" name="Shape 7"/>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Deactivate the FC table</a:t>
            </a:r>
            <a:endParaRPr lang="en-US" sz="1200" dirty="0"/>
          </a:p>
        </p:txBody>
      </p:sp>
      <p:sp>
        <p:nvSpPr>
          <p:cNvPr id="15" name="Text 10"/>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In every case: DHJ or FCF, TC or OTC.</a:t>
            </a:r>
            <a:endParaRPr lang="en-US" sz="950" dirty="0"/>
          </a:p>
        </p:txBody>
      </p:sp>
      <p:sp>
        <p:nvSpPr>
          <p:cNvPr id="16" name="Shape 11"/>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Closing the account?</a:t>
            </a:r>
            <a:endParaRPr lang="en-US" sz="1200" dirty="0"/>
          </a:p>
        </p:txBody>
      </p:sp>
      <p:sp>
        <p:nvSpPr>
          <p:cNvPr id="20" name="Text 14"/>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Send comms first, then deactivate the CRM account.</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DHJ refund:  </a:t>
            </a:r>
            <a:r>
              <a:rPr lang="en-US" sz="1000" dirty="0">
                <a:solidFill>
                  <a:srgbClr val="1D1D1F"/>
                </a:solidFill>
                <a:latin typeface="SF Pro Text" pitchFamily="34" charset="0"/>
                <a:ea typeface="SF Pro Text" pitchFamily="34" charset="-122"/>
                <a:cs typeface="SF Pro Text" pitchFamily="34" charset="-120"/>
              </a:rPr>
              <a:t>tell them it's processed and takes 5–10 business days.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Cancelling a TC or OTC</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Changed their mind, or we let them down?</a:t>
            </a:r>
            <a:endParaRPr lang="en-US" sz="1200" dirty="0"/>
          </a:p>
        </p:txBody>
      </p:sp>
      <p:sp>
        <p:nvSpPr>
          <p:cNvPr id="6" name="Shape 3"/>
          <p:cNvSpPr/>
          <p:nvPr/>
        </p:nvSpPr>
        <p:spPr>
          <a:xfrm>
            <a:off x="411480" y="1325880"/>
            <a:ext cx="2697480" cy="2514600"/>
          </a:xfrm>
          <a:prstGeom prst="roundRect">
            <a:avLst>
              <a:gd name="adj" fmla="val 2909"/>
            </a:avLst>
          </a:prstGeom>
          <a:solidFill>
            <a:srgbClr val="E3F4F1"/>
          </a:solidFill>
          <a:ln w="9525">
            <a:solidFill>
              <a:srgbClr val="0B7A6F"/>
            </a:solidFill>
            <a:prstDash val="solid"/>
          </a:ln>
        </p:spPr>
      </p:sp>
      <p:sp>
        <p:nvSpPr>
          <p:cNvPr id="7" name="Text 4"/>
          <p:cNvSpPr/>
          <p:nvPr/>
        </p:nvSpPr>
        <p:spPr>
          <a:xfrm>
            <a:off x="411480" y="1325880"/>
            <a:ext cx="26974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Changed their mind</a:t>
            </a:r>
            <a:endParaRPr lang="en-US" sz="1050" dirty="0"/>
          </a:p>
        </p:txBody>
      </p:sp>
      <p:sp>
        <p:nvSpPr>
          <p:cNvPr id="8" name="Text 5"/>
          <p:cNvSpPr txBox="1"/>
          <p:nvPr/>
        </p:nvSpPr>
        <p:spPr>
          <a:xfrm>
            <a:off x="576072" y="1764792"/>
            <a:ext cx="2368296" cy="2002536"/>
          </a:xfrm>
          <a:prstGeom prst="rect">
            <a:avLst/>
          </a:prstGeom>
          <a:noFill/>
          <a:ln/>
        </p:spPr>
        <p:txBody>
          <a:bodyPr wrap="square" lIns="0" tIns="0" rIns="0" bIns="0" rtlCol="0" anchor="t"/>
          <a:lstStyle/>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Full admin refund</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Invalidate the voucher</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Trial? Cancel the FC table too</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Check the appointment is cancelled</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No reason given? Probe</a:t>
            </a:r>
            <a:endParaRPr lang="en-US" sz="900" dirty="0"/>
          </a:p>
        </p:txBody>
      </p:sp>
      <p:sp>
        <p:nvSpPr>
          <p:cNvPr id="9" name="Shape 6"/>
          <p:cNvSpPr/>
          <p:nvPr/>
        </p:nvSpPr>
        <p:spPr>
          <a:xfrm>
            <a:off x="3223260" y="1325880"/>
            <a:ext cx="2697480" cy="2514600"/>
          </a:xfrm>
          <a:prstGeom prst="roundRect">
            <a:avLst>
              <a:gd name="adj" fmla="val 2909"/>
            </a:avLst>
          </a:prstGeom>
          <a:solidFill>
            <a:srgbClr val="FCEBEA"/>
          </a:solidFill>
          <a:ln w="9525">
            <a:solidFill>
              <a:srgbClr val="B3261E"/>
            </a:solidFill>
            <a:prstDash val="solid"/>
          </a:ln>
        </p:spPr>
      </p:sp>
      <p:sp>
        <p:nvSpPr>
          <p:cNvPr id="10" name="Text 7"/>
          <p:cNvSpPr/>
          <p:nvPr/>
        </p:nvSpPr>
        <p:spPr>
          <a:xfrm>
            <a:off x="3223260" y="1325880"/>
            <a:ext cx="269748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We let them down</a:t>
            </a:r>
            <a:endParaRPr lang="en-US" sz="1050" dirty="0"/>
          </a:p>
        </p:txBody>
      </p:sp>
      <p:sp>
        <p:nvSpPr>
          <p:cNvPr id="11" name="Text 8"/>
          <p:cNvSpPr txBox="1"/>
          <p:nvPr/>
        </p:nvSpPr>
        <p:spPr>
          <a:xfrm>
            <a:off x="3387852" y="1764792"/>
            <a:ext cx="2368296" cy="2002536"/>
          </a:xfrm>
          <a:prstGeom prst="rect">
            <a:avLst/>
          </a:prstGeom>
          <a:noFill/>
          <a:ln/>
        </p:spPr>
        <p:txBody>
          <a:bodyPr wrap="square" lIns="0" tIns="0" rIns="0" bIns="0" rtlCol="0" anchor="t"/>
          <a:lstStyle/>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Same refund steps</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Acknowledge: it wasn't on them</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Block the pairing, coach the CP</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a reliable cleaner</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$10–$25 credits or a free hour</a:t>
            </a:r>
            <a:endParaRPr lang="en-US" sz="900" dirty="0"/>
          </a:p>
        </p:txBody>
      </p:sp>
      <p:sp>
        <p:nvSpPr>
          <p:cNvPr id="12" name="Shape 9"/>
          <p:cNvSpPr/>
          <p:nvPr/>
        </p:nvSpPr>
        <p:spPr>
          <a:xfrm>
            <a:off x="6035040" y="1325880"/>
            <a:ext cx="2697480" cy="2514600"/>
          </a:xfrm>
          <a:prstGeom prst="roundRect">
            <a:avLst>
              <a:gd name="adj" fmla="val 2909"/>
            </a:avLst>
          </a:prstGeom>
          <a:solidFill>
            <a:srgbClr val="FFF3D6"/>
          </a:solidFill>
          <a:ln w="9525">
            <a:solidFill>
              <a:srgbClr val="9A6410"/>
            </a:solidFill>
            <a:prstDash val="solid"/>
          </a:ln>
        </p:spPr>
      </p:sp>
      <p:sp>
        <p:nvSpPr>
          <p:cNvPr id="13" name="Text 10"/>
          <p:cNvSpPr/>
          <p:nvPr/>
        </p:nvSpPr>
        <p:spPr>
          <a:xfrm>
            <a:off x="6035040" y="1325880"/>
            <a:ext cx="2697480" cy="329184"/>
          </a:xfrm>
          <a:prstGeom prst="roundRect">
            <a:avLst>
              <a:gd name="adj" fmla="val 16667"/>
            </a:avLst>
          </a:prstGeom>
          <a:solidFill>
            <a:srgbClr val="9A6410"/>
          </a:solidFill>
          <a:ln w="12700">
            <a:solidFill>
              <a:srgbClr val="9A6410"/>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Trial done, within 30 days</a:t>
            </a:r>
            <a:endParaRPr lang="en-US" sz="1050" dirty="0"/>
          </a:p>
        </p:txBody>
      </p:sp>
      <p:sp>
        <p:nvSpPr>
          <p:cNvPr id="14" name="Text 11"/>
          <p:cNvSpPr txBox="1"/>
          <p:nvPr/>
        </p:nvSpPr>
        <p:spPr>
          <a:xfrm>
            <a:off x="6199632" y="1764792"/>
            <a:ext cx="2368296" cy="2002536"/>
          </a:xfrm>
          <a:prstGeom prst="rect">
            <a:avLst/>
          </a:prstGeom>
          <a:noFill/>
          <a:ln/>
        </p:spPr>
        <p:txBody>
          <a:bodyPr wrap="square" lIns="0" tIns="0" rIns="0" bIns="0" rtlCol="0" anchor="t"/>
          <a:lstStyle/>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Cancel FC. No ETF</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Whatever the reason</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Bad cleaning? Still cancel</a:t>
            </a:r>
            <a:endParaRPr lang="en-US" sz="900" dirty="0"/>
          </a:p>
          <a:p>
            <a:pPr marL="127000" indent="-127000">
              <a:spcAft>
                <a:spcPts val="400"/>
              </a:spcAft>
              <a:buSzPct val="100000"/>
              <a:buChar char="•"/>
            </a:pPr>
            <a:r>
              <a:rPr lang="en-US" sz="900" dirty="0">
                <a:solidFill>
                  <a:srgbClr val="1D1D1F"/>
                </a:solidFill>
                <a:latin typeface="SF Pro Text" pitchFamily="34" charset="0"/>
                <a:ea typeface="SF Pro Text" pitchFamily="34" charset="-122"/>
                <a:cs typeface="SF Pro Text" pitchFamily="34" charset="-120"/>
              </a:rPr>
              <a:t>Open to it? New cleaner + ~$20 credits</a:t>
            </a:r>
            <a:endParaRPr lang="en-US" sz="900" dirty="0"/>
          </a:p>
        </p:txBody>
      </p:sp>
      <p:sp>
        <p:nvSpPr>
          <p:cNvPr id="15" name="Shape 12"/>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17" name="Text 13"/>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Coming back to try again?  </a:t>
            </a:r>
            <a:r>
              <a:rPr lang="en-US" sz="1000" dirty="0">
                <a:solidFill>
                  <a:srgbClr val="1D1D1F"/>
                </a:solidFill>
                <a:latin typeface="SF Pro Text" pitchFamily="34" charset="0"/>
                <a:ea typeface="SF Pro Text" pitchFamily="34" charset="-122"/>
                <a:cs typeface="SF Pro Text" pitchFamily="34" charset="-120"/>
              </a:rPr>
              <a:t>don't charge upfront again. Just help them book.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Only part of the cleaning was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They don't know the voucher exists. They expect real money back.</a:t>
            </a:r>
            <a:endParaRPr lang="en-US" sz="1200" dirty="0"/>
          </a:p>
        </p:txBody>
      </p:sp>
      <p:sp>
        <p:nvSpPr>
          <p:cNvPr id="6" name="Shape 3"/>
          <p:cNvSpPr/>
          <p:nvPr/>
        </p:nvSpPr>
        <p:spPr>
          <a:xfrm>
            <a:off x="411480" y="1325880"/>
            <a:ext cx="4069080" cy="1417320"/>
          </a:xfrm>
          <a:prstGeom prst="roundRect">
            <a:avLst>
              <a:gd name="adj" fmla="val 5161"/>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CP already refunded (as a voucher)</a:t>
            </a:r>
            <a:endParaRPr lang="en-US" sz="1050" dirty="0"/>
          </a:p>
        </p:txBody>
      </p:sp>
      <p:sp>
        <p:nvSpPr>
          <p:cNvPr id="8" name="Text 5"/>
          <p:cNvSpPr txBox="1"/>
          <p:nvPr/>
        </p:nvSpPr>
        <p:spPr>
          <a:xfrm>
            <a:off x="576072" y="1764792"/>
            <a:ext cx="3739896" cy="90525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Invalidate that voucher</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Admin refund the matching amount</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E.g. $252 for 4 hrs, 1 hr back = $63</a:t>
            </a:r>
            <a:endParaRPr lang="en-US" sz="950" dirty="0"/>
          </a:p>
        </p:txBody>
      </p:sp>
      <p:sp>
        <p:nvSpPr>
          <p:cNvPr id="9" name="Shape 6"/>
          <p:cNvSpPr/>
          <p:nvPr/>
        </p:nvSpPr>
        <p:spPr>
          <a:xfrm>
            <a:off x="4663440" y="1325880"/>
            <a:ext cx="4069080" cy="1417320"/>
          </a:xfrm>
          <a:prstGeom prst="roundRect">
            <a:avLst>
              <a:gd name="adj" fmla="val 5161"/>
            </a:avLst>
          </a:prstGeom>
          <a:solidFill>
            <a:srgbClr val="FFFFFF"/>
          </a:solidFill>
          <a:ln w="9525">
            <a:solidFill>
              <a:srgbClr val="1D1D1F"/>
            </a:solidFill>
            <a:prstDash val="solid"/>
          </a:ln>
        </p:spPr>
      </p:sp>
      <p:sp>
        <p:nvSpPr>
          <p:cNvPr id="10" name="Text 7"/>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Nothing confirmed yet</a:t>
            </a:r>
            <a:endParaRPr lang="en-US" sz="1050" dirty="0"/>
          </a:p>
        </p:txBody>
      </p:sp>
      <p:sp>
        <p:nvSpPr>
          <p:cNvPr id="11" name="Text 8"/>
          <p:cNvSpPr txBox="1"/>
          <p:nvPr/>
        </p:nvSpPr>
        <p:spPr>
          <a:xfrm>
            <a:off x="4828032" y="1764792"/>
            <a:ext cx="3739896" cy="90525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Run the Overcharged Hours process first</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Refund only once it's confirmed</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Paid 4 hrs, got 2? Half back</a:t>
            </a:r>
            <a:endParaRPr lang="en-US" sz="950" dirty="0"/>
          </a:p>
        </p:txBody>
      </p:sp>
      <p:sp>
        <p:nvSpPr>
          <p:cNvPr id="12" name="Text 9"/>
          <p:cNvSpPr txBox="1"/>
          <p:nvPr/>
        </p:nvSpPr>
        <p:spPr>
          <a:xfrm>
            <a:off x="411480" y="288036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ISSUING THE REFUND</a:t>
            </a:r>
            <a:endParaRPr lang="en-US" sz="800" dirty="0"/>
          </a:p>
        </p:txBody>
      </p:sp>
      <p:sp>
        <p:nvSpPr>
          <p:cNvPr id="13" name="Shape 10"/>
          <p:cNvSpPr/>
          <p:nvPr/>
        </p:nvSpPr>
        <p:spPr>
          <a:xfrm>
            <a:off x="411480" y="3108960"/>
            <a:ext cx="2651760" cy="566928"/>
          </a:xfrm>
          <a:prstGeom prst="roundRect">
            <a:avLst>
              <a:gd name="adj" fmla="val 12903"/>
            </a:avLst>
          </a:prstGeom>
          <a:solidFill>
            <a:srgbClr val="FFF3D6"/>
          </a:solidFill>
          <a:ln w="12700">
            <a:solidFill>
              <a:srgbClr val="9A6410"/>
            </a:solidFill>
            <a:prstDash val="solid"/>
          </a:ln>
        </p:spPr>
      </p:sp>
      <p:sp>
        <p:nvSpPr>
          <p:cNvPr id="14" name="Text 11"/>
          <p:cNvSpPr txBox="1"/>
          <p:nvPr/>
        </p:nvSpPr>
        <p:spPr>
          <a:xfrm>
            <a:off x="411480" y="3108960"/>
            <a:ext cx="265176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Block comms, then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refund on the CP dashboard</a:t>
            </a:r>
            <a:endParaRPr lang="en-US" sz="1000" dirty="0"/>
          </a:p>
        </p:txBody>
      </p:sp>
      <p:sp>
        <p:nvSpPr>
          <p:cNvPr id="15" name="Shape 12"/>
          <p:cNvSpPr/>
          <p:nvPr/>
        </p:nvSpPr>
        <p:spPr>
          <a:xfrm>
            <a:off x="3063240" y="3392424"/>
            <a:ext cx="182880" cy="0"/>
          </a:xfrm>
          <a:prstGeom prst="line">
            <a:avLst/>
          </a:prstGeom>
          <a:noFill/>
          <a:ln w="12700">
            <a:solidFill>
              <a:srgbClr val="6E6E73"/>
            </a:solidFill>
            <a:prstDash val="solid"/>
            <a:tailEnd type="triangle"/>
          </a:ln>
        </p:spPr>
      </p:sp>
      <p:sp>
        <p:nvSpPr>
          <p:cNvPr id="16" name="Shape 13"/>
          <p:cNvSpPr/>
          <p:nvPr/>
        </p:nvSpPr>
        <p:spPr>
          <a:xfrm>
            <a:off x="3246120" y="3108960"/>
            <a:ext cx="2651760" cy="566928"/>
          </a:xfrm>
          <a:prstGeom prst="roundRect">
            <a:avLst>
              <a:gd name="adj" fmla="val 12903"/>
            </a:avLst>
          </a:prstGeom>
          <a:solidFill>
            <a:srgbClr val="FFFFFF"/>
          </a:solidFill>
          <a:ln w="12700">
            <a:solidFill>
              <a:srgbClr val="DCE1E7"/>
            </a:solidFill>
            <a:prstDash val="solid"/>
          </a:ln>
        </p:spPr>
      </p:sp>
      <p:sp>
        <p:nvSpPr>
          <p:cNvPr id="17" name="Text 14"/>
          <p:cNvSpPr txBox="1"/>
          <p:nvPr/>
        </p:nvSpPr>
        <p:spPr>
          <a:xfrm>
            <a:off x="3246120" y="3108960"/>
            <a:ext cx="26517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message sent? Unblock, invalidate voucher</a:t>
            </a:r>
            <a:endParaRPr lang="en-US" sz="1000" dirty="0"/>
          </a:p>
        </p:txBody>
      </p:sp>
      <p:sp>
        <p:nvSpPr>
          <p:cNvPr id="18" name="Shape 15"/>
          <p:cNvSpPr/>
          <p:nvPr/>
        </p:nvSpPr>
        <p:spPr>
          <a:xfrm>
            <a:off x="5897880" y="3392424"/>
            <a:ext cx="182880" cy="0"/>
          </a:xfrm>
          <a:prstGeom prst="line">
            <a:avLst/>
          </a:prstGeom>
          <a:noFill/>
          <a:ln w="12700">
            <a:solidFill>
              <a:srgbClr val="6E6E73"/>
            </a:solidFill>
            <a:prstDash val="solid"/>
            <a:tailEnd type="triangle"/>
          </a:ln>
        </p:spPr>
      </p:sp>
      <p:sp>
        <p:nvSpPr>
          <p:cNvPr id="19" name="Shape 16"/>
          <p:cNvSpPr/>
          <p:nvPr/>
        </p:nvSpPr>
        <p:spPr>
          <a:xfrm>
            <a:off x="6080760" y="3108960"/>
            <a:ext cx="2651760" cy="566928"/>
          </a:xfrm>
          <a:prstGeom prst="roundRect">
            <a:avLst>
              <a:gd name="adj" fmla="val 12903"/>
            </a:avLst>
          </a:prstGeom>
          <a:solidFill>
            <a:srgbClr val="0B7A6F"/>
          </a:solidFill>
          <a:ln w="12700">
            <a:solidFill>
              <a:srgbClr val="0B7A6F"/>
            </a:solidFill>
            <a:prstDash val="solid"/>
          </a:ln>
        </p:spPr>
      </p:sp>
      <p:sp>
        <p:nvSpPr>
          <p:cNvPr id="20" name="Text 17"/>
          <p:cNvSpPr txBox="1"/>
          <p:nvPr/>
        </p:nvSpPr>
        <p:spPr>
          <a:xfrm>
            <a:off x="6080760" y="3108960"/>
            <a:ext cx="26517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 the TC/OTC charge</a:t>
            </a:r>
            <a:endParaRPr lang="en-US" sz="1000" dirty="0"/>
          </a:p>
        </p:txBody>
      </p:sp>
      <p:sp>
        <p:nvSpPr>
          <p:cNvPr id="21" name="Shape 18"/>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23" name="Text 19"/>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Block comms first:  </a:t>
            </a:r>
            <a:r>
              <a:rPr lang="en-US" sz="1000" dirty="0">
                <a:solidFill>
                  <a:srgbClr val="1D1D1F"/>
                </a:solidFill>
                <a:latin typeface="SF Pro Text" pitchFamily="34" charset="0"/>
                <a:ea typeface="SF Pro Text" pitchFamily="34" charset="-122"/>
                <a:cs typeface="SF Pro Text" pitchFamily="34" charset="-120"/>
              </a:rPr>
              <a:t>C CRM &gt; Do &gt; Deactivate block comms. They never knew the voucher existed.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wants a move-out clean only, no membership. TC or OTC?</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OTC. No FC table, nothing after.</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FCF: 2 MFs + $59 add-on paid. 6-hr OTC is $378. What do they pay?</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$241 ($378 − $137).</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FCF: $150 paid, OTC is $120. Refund the $30?</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They pay $0; the excess isn't refunded.</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Completed a Trial, cancels on day 20 over a bad cleaning. ETF?</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ETF. Cancel FC as asked; offer a second chance if they're open.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TRIAL &amp; ONE-TIME CLEANING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TC or OTC the better fit?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And DHJ or FCF: what gets deducted?</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Price, charge, book, FC table, voucher.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offer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7/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Retention &amp; Membership Cancellation</dc:title>
  <dc:subject>PptxGenJS Presentation</dc:subject>
  <dc:creator>PptxGenJS</dc:creator>
  <cp:lastModifiedBy>PptxGenJS</cp:lastModifiedBy>
  <cp:revision>1</cp:revision>
  <dcterms:created xsi:type="dcterms:W3CDTF">2026-10-07T19:51:57Z</dcterms:created>
  <dcterms:modified xsi:type="dcterms:W3CDTF">2026-10-07T19:51:57Z</dcterms:modified>
</cp:coreProperties>
</file>