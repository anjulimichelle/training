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Lst>
  <p:sldSz cy="5143500" cx="9144000"/>
  <p:notesSz cx="5143500" cy="9144000"/>
  <p:embeddedFontLst>
    <p:embeddedFont>
      <p:font typeface="Play"/>
      <p:regular r:id="rId90"/>
      <p:bold r:id="rId9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DDF4824-04B3-42F6-B29F-11F9AF92B8DA}">
  <a:tblStyle styleId="{DDDF4824-04B3-42F6-B29F-11F9AF92B8DA}"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slide" Target="slides/slide81.xml"/><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88" Type="http://schemas.openxmlformats.org/officeDocument/2006/relationships/slide" Target="slides/slide83.xml"/><Relationship Id="rId43" Type="http://schemas.openxmlformats.org/officeDocument/2006/relationships/slide" Target="slides/slide38.xml"/><Relationship Id="rId87" Type="http://schemas.openxmlformats.org/officeDocument/2006/relationships/slide" Target="slides/slide82.xml"/><Relationship Id="rId46" Type="http://schemas.openxmlformats.org/officeDocument/2006/relationships/slide" Target="slides/slide41.xml"/><Relationship Id="rId45" Type="http://schemas.openxmlformats.org/officeDocument/2006/relationships/slide" Target="slides/slide40.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91" Type="http://schemas.openxmlformats.org/officeDocument/2006/relationships/font" Target="fonts/Play-bold.fntdata"/><Relationship Id="rId90" Type="http://schemas.openxmlformats.org/officeDocument/2006/relationships/font" Target="fonts/Play-regular.fntdata"/><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declines the resolution and insists on a refund or a cancellation. Cancel and refund, or refund only: refund the voucher through CRM (CRM &gt; voucher &gt; refund DHJ/FC) and invalidate it right away; advise the customer the voucher has been refunded and give the 5–10 business day timeframe; deactivate the ForeverClean (FC) table if there is one. Cancel only: ask whether they also want their personal information deleted. YES: credit card removal, escalate to a TL to remove the card from Stripe; personal data, log it to the Data right to know/delete request tracker; invalidate the voucher through the CRM; deactivate the FC table if there is one; send a closure email; deactivate via CRM. NO: invalidate the voucher through the CRM and deactivate the FC table if there is one. If the customer also wants to close or cancel the account itself, send a closure email and deactivate via CRM. Always send the closure email before deactivating: once the account is deactivated, there is no way to reach them by email.</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1" name="Shape 1651"/>
        <p:cNvGrpSpPr/>
        <p:nvPr/>
      </p:nvGrpSpPr>
      <p:grpSpPr>
        <a:xfrm>
          <a:off x="0" y="0"/>
          <a:ext cx="0" cy="0"/>
          <a:chOff x="0" y="0"/>
          <a:chExt cx="0" cy="0"/>
        </a:xfrm>
      </p:grpSpPr>
      <p:sp>
        <p:nvSpPr>
          <p:cNvPr id="1652" name="Google Shape;165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3" name="Google Shape;165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54" name="Google Shape;165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2" name="Shape 1682"/>
        <p:cNvGrpSpPr/>
        <p:nvPr/>
      </p:nvGrpSpPr>
      <p:grpSpPr>
        <a:xfrm>
          <a:off x="0" y="0"/>
          <a:ext cx="0" cy="0"/>
          <a:chOff x="0" y="0"/>
          <a:chExt cx="0" cy="0"/>
        </a:xfrm>
      </p:grpSpPr>
      <p:sp>
        <p:nvSpPr>
          <p:cNvPr id="1683" name="Google Shape;168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4" name="Google Shape;1684;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 ON THE SLIDE: how a leftover voucher looks in the CRM after a self-refund: the DHJ voucher row is tagged "Refunded but still valid". That is the system-generated voucher to invalidate. Related macros: Unused DHJ Voucher — Refund Request; Unused DHJ Voucher — Wants to 'Try it Out' (Trial Cleaning); Unused DHJ Voucher — Wants One Time Cleaning; Deactivated (send before deactivating).</a:t>
            </a:r>
            <a:endParaRPr/>
          </a:p>
        </p:txBody>
      </p:sp>
      <p:sp>
        <p:nvSpPr>
          <p:cNvPr id="1685" name="Google Shape;1685;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7" name="Shape 1747"/>
        <p:cNvGrpSpPr/>
        <p:nvPr/>
      </p:nvGrpSpPr>
      <p:grpSpPr>
        <a:xfrm>
          <a:off x="0" y="0"/>
          <a:ext cx="0" cy="0"/>
          <a:chOff x="0" y="0"/>
          <a:chExt cx="0" cy="0"/>
        </a:xfrm>
      </p:grpSpPr>
      <p:sp>
        <p:nvSpPr>
          <p:cNvPr id="1748" name="Google Shape;174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9" name="Google Shape;174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50" name="Google Shape;175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83" name="Google Shape;1783;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814" name="Google Shape;1814;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RETENTION STRATEGY (FCF, no completed cleaning yet). Customer requests cancellation: acknowledge the request; provide the self-cancellation link or offer to cancel on their behalf; do not use "voucher" terminology. Step 1, identify the root cause and address it (if not provided, probe). Personal / service limits (e.g. off-platform cleaner, C moved, self-cleaning, no credit card, same-day cleaning needs): address the concern appropriately, highlight the value of the FC membership, and encourage booking using the free or heavily discounted cleaning if appropriate. Service failure (e.g. invalid LO, CP cancellation, CP LMC, no CP claim, false invoice, CP no-show): address the service failure (block/coach/penalize the CP, etc.) AND provide the necessary resolution; offer priority booking for the next clean; do not offer credits since the cleaning is already free or heavily discounted; offer a free month if the next MF will be charged within 2 weeks. Customer-fault failure (e.g. valid LO submission, customer LMC): the customer should still get the free/heavily discounted cleaning based on their original purchase; refund any LO or LMC charges, whichever is applicable. Membership terms: MF too expensive, $10–$15 reduction from the original $59 MF; MCT too long, 1-month reduction from the original 6-month MCT; unaware of membership, address the unawareness and probe for the service experience (if applicable) and any other underlying reason for cancelling; one-time cleaning, offer a one-time cleaning at full price, charged upfront. NOTE: if the customer has multiple unused paid monthly fees, offer up to 3 free months on top of the standard retention offers. Step 2, set a Timed Reminder (TR) at least 3 days before the next monthly fee to cancel FC if the customer does not respond to the retention attempt.</a:t>
            </a:r>
            <a:endParaRPr/>
          </a:p>
        </p:txBody>
      </p:sp>
      <p:sp>
        <p:nvSpPr>
          <p:cNvPr id="1836" name="Google Shape;1836;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0" name="Shape 1860"/>
        <p:cNvGrpSpPr/>
        <p:nvPr/>
      </p:nvGrpSpPr>
      <p:grpSpPr>
        <a:xfrm>
          <a:off x="0" y="0"/>
          <a:ext cx="0" cy="0"/>
          <a:chOff x="0" y="0"/>
          <a:chExt cx="0" cy="0"/>
        </a:xfrm>
      </p:grpSpPr>
      <p:sp>
        <p:nvSpPr>
          <p:cNvPr id="1861" name="Google Shape;1861;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2" name="Google Shape;1862;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(FCF pre-invoice: unused free first cleaning, monthly fees charged). For each scenario, read the customer's message aloud and give trainees a few minutes to write a reply. Read a few aloud, then click to reveal the sample CS response (click 1: scenario 1, click 2: scenario 2). Scenario 1: "Stop this! You've charged me 5x now! Refund everything or I will report fraud to my bank!" Context: C hasn't booked the free 3-hr first cleaning and has been charged 5 MFs. Stay calm, clarify the charges (ForeverClean monthly fees, $59/month until canceled, even if the free cleaning is unused), probe for the root cause, and offer to book the free cleaning plus up to 3 free months (multiple unused paid MFs). Free months don't count toward the 6-month term. Give the self-cancel option. Scenario 2: "I will not be needing your service. I'm moving out of state." Personal/service limit (moving): remind them Homeaglow is available in all 50 states, offer to set up the free first cleaning at the new address, or a free month if they need more time. Give the self-cancel link. Sample responses are on the slide; &lt;date&gt; = the next MF date after the free months.</a:t>
            </a:r>
            <a:endParaRPr/>
          </a:p>
        </p:txBody>
      </p:sp>
      <p:sp>
        <p:nvSpPr>
          <p:cNvPr id="1863" name="Google Shape;1863;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5" name="Shape 1885"/>
        <p:cNvGrpSpPr/>
        <p:nvPr/>
      </p:nvGrpSpPr>
      <p:grpSpPr>
        <a:xfrm>
          <a:off x="0" y="0"/>
          <a:ext cx="0" cy="0"/>
          <a:chOff x="0" y="0"/>
          <a:chExt cx="0" cy="0"/>
        </a:xfrm>
      </p:grpSpPr>
      <p:sp>
        <p:nvSpPr>
          <p:cNvPr id="1886" name="Google Shape;1886;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7" name="Google Shape;1887;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EXIT STRATEGY (FCF, no completed cleaning yet). When the TR triggers and the customer has not responded, or the customer responds and insists on cancelling after the retention attempt: 1) cancel FC via CRM; 2) invalidate the voucher; 3) invalidate the TR (if it has not triggered yet). Wants a refund? Refer to the Refund eligibility cheat sheet after attempting retention. TRAINER: in slideshow mode, click "Refund eligibility cheat sheet" to jump to it.</a:t>
            </a:r>
            <a:endParaRPr/>
          </a:p>
        </p:txBody>
      </p:sp>
      <p:sp>
        <p:nvSpPr>
          <p:cNvPr id="1888" name="Google Shape;1888;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911" name="Google Shape;1911;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9" name="Shape 1939"/>
        <p:cNvGrpSpPr/>
        <p:nvPr/>
      </p:nvGrpSpPr>
      <p:grpSpPr>
        <a:xfrm>
          <a:off x="0" y="0"/>
          <a:ext cx="0" cy="0"/>
          <a:chOff x="0" y="0"/>
          <a:chExt cx="0" cy="0"/>
        </a:xfrm>
      </p:grpSpPr>
      <p:sp>
        <p:nvSpPr>
          <p:cNvPr id="1940" name="Google Shape;1940;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1" name="Google Shape;1941;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942" name="Google Shape;1942;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958" name="Google Shape;195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977" name="Google Shape;1977;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5" name="Shape 2005"/>
        <p:cNvGrpSpPr/>
        <p:nvPr/>
      </p:nvGrpSpPr>
      <p:grpSpPr>
        <a:xfrm>
          <a:off x="0" y="0"/>
          <a:ext cx="0" cy="0"/>
          <a:chOff x="0" y="0"/>
          <a:chExt cx="0" cy="0"/>
        </a:xfrm>
      </p:grpSpPr>
      <p:sp>
        <p:nvSpPr>
          <p:cNvPr id="2006" name="Google Shape;200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7" name="Google Shape;200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2008" name="Google Shape;200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7" name="Shape 2037"/>
        <p:cNvGrpSpPr/>
        <p:nvPr/>
      </p:nvGrpSpPr>
      <p:grpSpPr>
        <a:xfrm>
          <a:off x="0" y="0"/>
          <a:ext cx="0" cy="0"/>
          <a:chOff x="0" y="0"/>
          <a:chExt cx="0" cy="0"/>
        </a:xfrm>
      </p:grpSpPr>
      <p:sp>
        <p:nvSpPr>
          <p:cNvPr id="2038" name="Google Shape;2038;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9" name="Google Shape;2039;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040" name="Google Shape;2040;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9" name="Shape 2069"/>
        <p:cNvGrpSpPr/>
        <p:nvPr/>
      </p:nvGrpSpPr>
      <p:grpSpPr>
        <a:xfrm>
          <a:off x="0" y="0"/>
          <a:ext cx="0" cy="0"/>
          <a:chOff x="0" y="0"/>
          <a:chExt cx="0" cy="0"/>
        </a:xfrm>
      </p:grpSpPr>
      <p:sp>
        <p:nvSpPr>
          <p:cNvPr id="2070" name="Google Shape;207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1" name="Google Shape;207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2072" name="Google Shape;207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2" name="Shape 2102"/>
        <p:cNvGrpSpPr/>
        <p:nvPr/>
      </p:nvGrpSpPr>
      <p:grpSpPr>
        <a:xfrm>
          <a:off x="0" y="0"/>
          <a:ext cx="0" cy="0"/>
          <a:chOff x="0" y="0"/>
          <a:chExt cx="0" cy="0"/>
        </a:xfrm>
      </p:grpSpPr>
      <p:sp>
        <p:nvSpPr>
          <p:cNvPr id="2103" name="Google Shape;2103;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4" name="Google Shape;2104;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2105" name="Google Shape;2105;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136" name="Google Shape;2136;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1" name="Shape 2151"/>
        <p:cNvGrpSpPr/>
        <p:nvPr/>
      </p:nvGrpSpPr>
      <p:grpSpPr>
        <a:xfrm>
          <a:off x="0" y="0"/>
          <a:ext cx="0" cy="0"/>
          <a:chOff x="0" y="0"/>
          <a:chExt cx="0" cy="0"/>
        </a:xfrm>
      </p:grpSpPr>
      <p:sp>
        <p:nvSpPr>
          <p:cNvPr id="2152" name="Google Shape;2152;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3" name="Google Shape;2153;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154" name="Google Shape;2154;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3" name="Shape 2173"/>
        <p:cNvGrpSpPr/>
        <p:nvPr/>
      </p:nvGrpSpPr>
      <p:grpSpPr>
        <a:xfrm>
          <a:off x="0" y="0"/>
          <a:ext cx="0" cy="0"/>
          <a:chOff x="0" y="0"/>
          <a:chExt cx="0" cy="0"/>
        </a:xfrm>
      </p:grpSpPr>
      <p:sp>
        <p:nvSpPr>
          <p:cNvPr id="2174" name="Google Shape;217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5" name="Google Shape;217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176" name="Google Shape;217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4" name="Shape 2194"/>
        <p:cNvGrpSpPr/>
        <p:nvPr/>
      </p:nvGrpSpPr>
      <p:grpSpPr>
        <a:xfrm>
          <a:off x="0" y="0"/>
          <a:ext cx="0" cy="0"/>
          <a:chOff x="0" y="0"/>
          <a:chExt cx="0" cy="0"/>
        </a:xfrm>
      </p:grpSpPr>
      <p:sp>
        <p:nvSpPr>
          <p:cNvPr id="2195" name="Google Shape;2195;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6" name="Google Shape;2196;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197" name="Google Shape;2197;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1" name="Shape 2231"/>
        <p:cNvGrpSpPr/>
        <p:nvPr/>
      </p:nvGrpSpPr>
      <p:grpSpPr>
        <a:xfrm>
          <a:off x="0" y="0"/>
          <a:ext cx="0" cy="0"/>
          <a:chOff x="0" y="0"/>
          <a:chExt cx="0" cy="0"/>
        </a:xfrm>
      </p:grpSpPr>
      <p:sp>
        <p:nvSpPr>
          <p:cNvPr id="2232" name="Google Shape;223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3" name="Google Shape;223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234" name="Google Shape;223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8" name="Shape 2258"/>
        <p:cNvGrpSpPr/>
        <p:nvPr/>
      </p:nvGrpSpPr>
      <p:grpSpPr>
        <a:xfrm>
          <a:off x="0" y="0"/>
          <a:ext cx="0" cy="0"/>
          <a:chOff x="0" y="0"/>
          <a:chExt cx="0" cy="0"/>
        </a:xfrm>
      </p:grpSpPr>
      <p:sp>
        <p:nvSpPr>
          <p:cNvPr id="2259" name="Google Shape;2259;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0" name="Google Shape;2260;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261" name="Google Shape;2261;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9" name="Shape 2279"/>
        <p:cNvGrpSpPr/>
        <p:nvPr/>
      </p:nvGrpSpPr>
      <p:grpSpPr>
        <a:xfrm>
          <a:off x="0" y="0"/>
          <a:ext cx="0" cy="0"/>
          <a:chOff x="0" y="0"/>
          <a:chExt cx="0" cy="0"/>
        </a:xfrm>
      </p:grpSpPr>
      <p:sp>
        <p:nvSpPr>
          <p:cNvPr id="2280" name="Google Shape;2280;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1" name="Google Shape;2281;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282" name="Google Shape;2282;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8" name="Google Shape;2308;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309" name="Google Shape;2309;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341" name="Google Shape;2341;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374" name="Google Shape;2374;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2.xml"/><Relationship Id="rId11" Type="http://schemas.openxmlformats.org/officeDocument/2006/relationships/slide" Target="/ppt/slides/slide28.xml"/><Relationship Id="rId22" Type="http://schemas.openxmlformats.org/officeDocument/2006/relationships/slide" Target="/ppt/slides/slide74.xml"/><Relationship Id="rId10" Type="http://schemas.openxmlformats.org/officeDocument/2006/relationships/slide" Target="/ppt/slides/slide28.xml"/><Relationship Id="rId21" Type="http://schemas.openxmlformats.org/officeDocument/2006/relationships/slide" Target="/ppt/slides/slide74.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2.xml"/><Relationship Id="rId6" Type="http://schemas.openxmlformats.org/officeDocument/2006/relationships/slide" Target="/ppt/slides/slide12.xml"/><Relationship Id="rId18" Type="http://schemas.openxmlformats.org/officeDocument/2006/relationships/slide" Target="/ppt/slides/slide62.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3.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17.png"/><Relationship Id="rId7"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33.png"/><Relationship Id="rId5" Type="http://schemas.openxmlformats.org/officeDocument/2006/relationships/image" Target="../media/image32.png"/><Relationship Id="rId6"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8.png"/><Relationship Id="rId4" Type="http://schemas.openxmlformats.org/officeDocument/2006/relationships/image" Target="../media/image26.png"/><Relationship Id="rId5" Type="http://schemas.openxmlformats.org/officeDocument/2006/relationships/image" Target="../media/image37.png"/><Relationship Id="rId6" Type="http://schemas.openxmlformats.org/officeDocument/2006/relationships/image" Target="../media/image41.png"/><Relationship Id="rId7"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9.png"/><Relationship Id="rId4" Type="http://schemas.openxmlformats.org/officeDocument/2006/relationships/image" Target="../media/image46.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image" Target="../media/image40.png"/><Relationship Id="rId8" Type="http://schemas.openxmlformats.org/officeDocument/2006/relationships/image" Target="../media/image4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42.png"/><Relationship Id="rId4" Type="http://schemas.openxmlformats.org/officeDocument/2006/relationships/image" Target="../media/image44.png"/><Relationship Id="rId5" Type="http://schemas.openxmlformats.org/officeDocument/2006/relationships/image" Target="../media/image47.png"/><Relationship Id="rId6"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53.png"/><Relationship Id="rId5"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5.png"/><Relationship Id="rId6" Type="http://schemas.openxmlformats.org/officeDocument/2006/relationships/image" Target="../media/image5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9.png"/><Relationship Id="rId4" Type="http://schemas.openxmlformats.org/officeDocument/2006/relationships/image" Target="../media/image16.png"/><Relationship Id="rId5"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0.png"/><Relationship Id="rId4" Type="http://schemas.openxmlformats.org/officeDocument/2006/relationships/image" Target="../media/image21.png"/><Relationship Id="rId5" Type="http://schemas.openxmlformats.org/officeDocument/2006/relationships/image" Target="../media/image63.png"/><Relationship Id="rId6" Type="http://schemas.openxmlformats.org/officeDocument/2006/relationships/image" Target="../media/image6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8.png"/><Relationship Id="rId4" Type="http://schemas.openxmlformats.org/officeDocument/2006/relationships/image" Target="../media/image6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66.png"/><Relationship Id="rId5" Type="http://schemas.openxmlformats.org/officeDocument/2006/relationships/image" Target="../media/image21.png"/><Relationship Id="rId6" Type="http://schemas.openxmlformats.org/officeDocument/2006/relationships/image" Target="../media/image65.png"/><Relationship Id="rId7" Type="http://schemas.openxmlformats.org/officeDocument/2006/relationships/image" Target="../media/image5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3.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png"/><Relationship Id="rId4" Type="http://schemas.openxmlformats.org/officeDocument/2006/relationships/image" Target="../media/image6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8.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2.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72.png"/><Relationship Id="rId5" Type="http://schemas.openxmlformats.org/officeDocument/2006/relationships/image" Target="../media/image42.png"/><Relationship Id="rId6" Type="http://schemas.openxmlformats.org/officeDocument/2006/relationships/image" Target="../media/image7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73.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77.png"/><Relationship Id="rId7" Type="http://schemas.openxmlformats.org/officeDocument/2006/relationships/image" Target="../media/image7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3.png"/><Relationship Id="rId4" Type="http://schemas.openxmlformats.org/officeDocument/2006/relationships/image" Target="../media/image1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png"/><Relationship Id="rId4" Type="http://schemas.openxmlformats.org/officeDocument/2006/relationships/image" Target="../media/image7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hyperlink" Target="https://www.homeaglow.com/crm/tickets/tkt_zq683ef0gw0z" TargetMode="External"/><Relationship Id="rId6" Type="http://schemas.openxmlformats.org/officeDocument/2006/relationships/hyperlink" Target="https://www.homeaglow.com/crm/tickets/tkt_zq683ef0gw0z" TargetMode="External"/><Relationship Id="rId7" Type="http://schemas.openxmlformats.org/officeDocument/2006/relationships/hyperlink" Target="https://www.homeaglow.com/crm/tickets/tkt_zq683ef0gw0z"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5.png"/><Relationship Id="rId4" Type="http://schemas.openxmlformats.org/officeDocument/2006/relationships/image" Target="../media/image58.png"/><Relationship Id="rId5" Type="http://schemas.openxmlformats.org/officeDocument/2006/relationships/image" Target="../media/image33.png"/><Relationship Id="rId6" Type="http://schemas.openxmlformats.org/officeDocument/2006/relationships/image" Target="../media/image21.png"/><Relationship Id="rId7" Type="http://schemas.openxmlformats.org/officeDocument/2006/relationships/image" Target="../media/image78.png"/><Relationship Id="rId8" Type="http://schemas.openxmlformats.org/officeDocument/2006/relationships/image" Target="../media/image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49.png"/><Relationship Id="rId4" Type="http://schemas.openxmlformats.org/officeDocument/2006/relationships/image" Target="../media/image6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33.png"/><Relationship Id="rId4" Type="http://schemas.openxmlformats.org/officeDocument/2006/relationships/image" Target="../media/image23.png"/><Relationship Id="rId5" Type="http://schemas.openxmlformats.org/officeDocument/2006/relationships/image" Target="../media/image79.png"/><Relationship Id="rId6" Type="http://schemas.openxmlformats.org/officeDocument/2006/relationships/image" Target="../media/image53.png"/><Relationship Id="rId7" Type="http://schemas.openxmlformats.org/officeDocument/2006/relationships/image" Target="../media/image80.png"/><Relationship Id="rId8"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7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13.png"/><Relationship Id="rId4"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1.png"/><Relationship Id="rId4" Type="http://schemas.openxmlformats.org/officeDocument/2006/relationships/image" Target="../media/image8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73.png"/><Relationship Id="rId5" Type="http://schemas.openxmlformats.org/officeDocument/2006/relationships/image" Target="../media/image84.png"/><Relationship Id="rId6" Type="http://schemas.openxmlformats.org/officeDocument/2006/relationships/image" Target="../media/image4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13.png"/><Relationship Id="rId4" Type="http://schemas.openxmlformats.org/officeDocument/2006/relationships/image" Target="../media/image1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8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{DDDF4824-04B3-42F6-B29F-11F9AF92B8DA}</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{DDDF4824-04B3-42F6-B29F-11F9AF92B8DA}</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{DDDF4824-04B3-42F6-B29F-11F9AF92B8DA}</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{DDDF4824-04B3-42F6-B29F-11F9AF92B8DA}</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{DDDF4824-04B3-42F6-B29F-11F9AF92B8DA}</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 </a:t>
            </a:r>
            <a:r>
              <a:rPr b="1" i="0" lang="en-US" spc="0" sz="850" u="none" cap="none" strike="noStrike">
                <a:solidFill>
                  <a:srgbClr val="0B7A6F"/>
                </a:solidFill>
                <a:latin typeface="Arial"/>
                <a:ea typeface="Arial"/>
                <a:cs typeface="Arial"/>
                <a:sym typeface="Arial"/>
              </a:rPr>
              <a:t>Watch ▷</a:t>
            </a:r>
            <a:r>
              <a:rPr b="0" i="0" lang="en-US" spc="0" sz="850" u="none" cap="none" strike="noStrike">
                <a:solidFill>
                  <a:srgbClr val="1D1D1F"/>
                </a:solidFill>
                <a:latin typeface="Arial"/>
                <a:ea typeface="Arial"/>
                <a:cs typeface="Arial"/>
                <a:sym typeface="Arial"/>
              </a:rPr>
              <a:t> </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1</a:t>
            </a:r>
            <a:endParaRPr b="0" i="0" spc="0" sz="1400" u="none" cap="none" strike="noStrike">
              <a:solidFill>
                <a:srgbClr val="000000"/>
              </a:solidFill>
              <a:latin typeface="Arial"/>
              <a:ea typeface="Arial"/>
              <a:cs typeface="Arial"/>
              <a:sym typeface="Arial"/>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don’t want to use your service. Give me my money back!”</a:t>
            </a:r>
            <a:endParaRPr b="0" i="0" spc="0" sz="1400" u="none" cap="none" strike="noStrike">
              <a:solidFill>
                <a:srgbClr val="000000"/>
              </a:solidFill>
              <a:latin typeface="Arial"/>
              <a:ea typeface="Arial"/>
              <a:cs typeface="Arial"/>
              <a:sym typeface="Arial"/>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here to help!</a:t>
            </a:r>
            <a:endParaRPr b="0" i="0" spc="0" sz="1400" u="none" cap="none" strike="noStrike">
              <a:solidFill>
                <a:srgbClr val="000000"/>
              </a:solidFill>
              <a:latin typeface="Arial"/>
              <a:ea typeface="Arial"/>
              <a:cs typeface="Arial"/>
              <a:sym typeface="Arial"/>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SCENARIO 2</a:t>
            </a:r>
            <a:endParaRPr b="0" i="0" spc="0" sz="1400" u="none" cap="none" strike="noStrike">
              <a:solidFill>
                <a:srgbClr val="000000"/>
              </a:solidFill>
              <a:latin typeface="Arial"/>
              <a:ea typeface="Arial"/>
              <a:cs typeface="Arial"/>
              <a:sym typeface="Arial"/>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CUSTOMER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 can’t afford this membership. Please just cancel.”</a:t>
            </a:r>
            <a:endParaRPr b="0" i="0" spc="0" sz="1400" u="none" cap="none" strike="noStrike">
              <a:solidFill>
                <a:srgbClr val="000000"/>
              </a:solidFill>
              <a:latin typeface="Arial"/>
              <a:ea typeface="Arial"/>
              <a:cs typeface="Arial"/>
              <a:sym typeface="Arial"/>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first.</a:t>
            </a:r>
            <a:endParaRPr b="0" i="0" spc="0" sz="1400" u="none" cap="none" strike="noStrike">
              <a:solidFill>
                <a:srgbClr val="000000"/>
              </a:solidFill>
              <a:latin typeface="Arial"/>
              <a:ea typeface="Arial"/>
              <a:cs typeface="Arial"/>
              <a:sym typeface="Arial"/>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They decline the resolution</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still want a refund or a cancellation. What they ask for decides the steps.</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34" name="Google Shape;1634;p61"/>
          <p:cNvSpPr/>
          <p:nvPr/>
        </p:nvSpPr>
        <p:spPr>
          <a:xfrm>
            <a:off x="3154680" y="1280160"/>
            <a:ext cx="2834640" cy="365760"/>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If C declines the resolution</a:t>
            </a:r>
            <a:endParaRPr b="0" i="0" spc="0" sz="1400" u="none" cap="none" strike="noStrike">
              <a:solidFill>
                <a:srgbClr val="000000"/>
              </a:solidFill>
              <a:latin typeface="Arial"/>
              <a:ea typeface="Arial"/>
              <a:cs typeface="Arial"/>
              <a:sym typeface="Arial"/>
            </a:endParaRPr>
          </a:p>
        </p:txBody>
      </p:sp>
      <p:cxnSp>
        <p:nvCxnSpPr>
          <p:cNvPr id="1635" name="Google Shape;1635;p61"/>
          <p:cNvCxnSpPr/>
          <p:nvPr/>
        </p:nvCxnSpPr>
        <p:spPr>
          <a:xfrm>
            <a:off x="4572000" y="1645920"/>
            <a:ext cx="0" cy="164592"/>
          </a:xfrm>
          <a:prstGeom prst="straightConnector1">
            <a:avLst/>
          </a:prstGeom>
          <a:noFill/>
          <a:ln cap="flat" cmpd="sng" w="12700">
            <a:solidFill>
              <a:srgbClr val="6E6E73"/>
            </a:solidFill>
            <a:prstDash val="solid"/>
            <a:round/>
            <a:headEnd len="sm" w="sm" type="none"/>
            <a:tailEnd len="sm" w="sm" type="none"/>
          </a:ln>
        </p:spPr>
      </p:cxnSp>
      <p:cxnSp>
        <p:nvCxnSpPr>
          <p:cNvPr id="1636" name="Google Shape;1636;p61"/>
          <p:cNvCxnSpPr/>
          <p:nvPr/>
        </p:nvCxnSpPr>
        <p:spPr>
          <a:xfrm>
            <a:off x="1600200" y="1810512"/>
            <a:ext cx="3063240" cy="0"/>
          </a:xfrm>
          <a:prstGeom prst="straightConnector1">
            <a:avLst/>
          </a:prstGeom>
          <a:noFill/>
          <a:ln cap="flat" cmpd="sng" w="12700">
            <a:solidFill>
              <a:srgbClr val="6E6E73"/>
            </a:solidFill>
            <a:prstDash val="solid"/>
            <a:round/>
            <a:headEnd len="sm" w="sm" type="none"/>
            <a:tailEnd len="sm" w="sm" type="none"/>
          </a:ln>
        </p:spPr>
      </p:cxnSp>
      <p:cxnSp>
        <p:nvCxnSpPr>
          <p:cNvPr id="1637" name="Google Shape;1637;p61"/>
          <p:cNvCxnSpPr/>
          <p:nvPr/>
        </p:nvCxnSpPr>
        <p:spPr>
          <a:xfrm>
            <a:off x="1600200" y="1810512"/>
            <a:ext cx="0" cy="146304"/>
          </a:xfrm>
          <a:prstGeom prst="straightConnector1">
            <a:avLst/>
          </a:prstGeom>
          <a:noFill/>
          <a:ln cap="flat" cmpd="sng" w="12700">
            <a:solidFill>
              <a:srgbClr val="6E6E73"/>
            </a:solidFill>
            <a:prstDash val="solid"/>
            <a:round/>
            <a:headEnd len="sm" w="sm" type="none"/>
            <a:tailEnd len="med" w="med" type="triangle"/>
          </a:ln>
        </p:spPr>
      </p:cxnSp>
      <p:cxnSp>
        <p:nvCxnSpPr>
          <p:cNvPr id="1638" name="Google Shape;1638;p61"/>
          <p:cNvCxnSpPr/>
          <p:nvPr/>
        </p:nvCxnSpPr>
        <p:spPr>
          <a:xfrm>
            <a:off x="4663440" y="1810512"/>
            <a:ext cx="0" cy="146304"/>
          </a:xfrm>
          <a:prstGeom prst="straightConnector1">
            <a:avLst/>
          </a:prstGeom>
          <a:noFill/>
          <a:ln cap="flat" cmpd="sng" w="12700">
            <a:solidFill>
              <a:srgbClr val="6E6E73"/>
            </a:solidFill>
            <a:prstDash val="solid"/>
            <a:round/>
            <a:headEnd len="sm" w="sm" type="none"/>
            <a:tailEnd len="med" w="med" type="triangle"/>
          </a:ln>
        </p:spPr>
      </p:cxnSp>
      <p:sp>
        <p:nvSpPr>
          <p:cNvPr id="1639" name="Google Shape;1639;p61"/>
          <p:cNvSpPr/>
          <p:nvPr/>
        </p:nvSpPr>
        <p:spPr>
          <a:xfrm>
            <a:off x="411480" y="1956816"/>
            <a:ext cx="2377440" cy="457200"/>
          </a:xfrm>
          <a:prstGeom prst="roundRect">
            <a:avLst>
              <a:gd fmla="val 8000" name="adj"/>
            </a:avLst>
          </a:prstGeom>
          <a:solidFill>
            <a:srgbClr val="2E7D3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and refund</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OR refund only</a:t>
            </a:r>
            <a:endParaRPr b="0" i="0" spc="0" sz="1400" u="none" cap="none" strike="noStrike">
              <a:solidFill>
                <a:srgbClr val="000000"/>
              </a:solidFill>
              <a:latin typeface="Arial"/>
              <a:ea typeface="Arial"/>
              <a:cs typeface="Arial"/>
              <a:sym typeface="Arial"/>
            </a:endParaRPr>
          </a:p>
        </p:txBody>
      </p:sp>
      <p:sp>
        <p:nvSpPr>
          <p:cNvPr id="1640" name="Google Shape;1640;p61"/>
          <p:cNvSpPr/>
          <p:nvPr/>
        </p:nvSpPr>
        <p:spPr>
          <a:xfrm>
            <a:off x="411480" y="2505456"/>
            <a:ext cx="2377440" cy="2176272"/>
          </a:xfrm>
          <a:prstGeom prst="roundRect">
            <a:avLst>
              <a:gd fmla="val 8000" name="adj"/>
            </a:avLst>
          </a:prstGeom>
          <a:solidFill>
            <a:srgbClr val="E4F2E1"/>
          </a:solidFill>
          <a:ln cap="flat" cmpd="sng" w="9525">
            <a:solidFill>
              <a:srgbClr val="2E7D3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txBox="1"/>
          <p:nvPr/>
        </p:nvSpPr>
        <p:spPr>
          <a:xfrm>
            <a:off x="548640" y="2596896"/>
            <a:ext cx="2121300" cy="1944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Refund the voucher through CRM </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   CRM → voucher → refund DHJ/FC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it right away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Advise C it’s refunded: 5–10 business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Watch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Refunding the voucher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the FC table ▷</a:t>
            </a:r>
            <a:endParaRPr b="1" i="0" spc="0" sz="850" u="none" cap="none" strike="noStrike">
              <a:solidFill>
                <a:srgbClr val="0B7A6F"/>
              </a:solidFill>
              <a:latin typeface="Arial"/>
              <a:ea typeface="Arial"/>
              <a:cs typeface="Arial"/>
              <a:sym typeface="Arial"/>
            </a:endParaRPr>
          </a:p>
        </p:txBody>
      </p:sp>
      <p:sp>
        <p:nvSpPr>
          <p:cNvPr id="1642" name="Google Shape;1642;p61"/>
          <p:cNvSpPr/>
          <p:nvPr/>
        </p:nvSpPr>
        <p:spPr>
          <a:xfrm>
            <a:off x="3017520" y="1956816"/>
            <a:ext cx="3291840" cy="566928"/>
          </a:xfrm>
          <a:prstGeom prst="roundRect">
            <a:avLst>
              <a:gd fmla="val 8000" name="adj"/>
            </a:avLst>
          </a:prstGeom>
          <a:solidFill>
            <a:srgbClr val="5E4A9C"/>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Cancel only.</a:t>
            </a:r>
            <a:r>
              <a:rPr b="0" i="0" lang="en-US" spc="0" sz="950" u="none" cap="none" strike="noStrike">
                <a:solidFill>
                  <a:srgbClr val="FFFFFF"/>
                </a:solidFill>
                <a:latin typeface="Arial"/>
                <a:ea typeface="Arial"/>
                <a:cs typeface="Arial"/>
                <a:sym typeface="Arial"/>
              </a:rPr>
              <a:t> Do they also want their personal information deleted?</a:t>
            </a:r>
            <a:endParaRPr b="0" i="0" spc="0" sz="1400" u="none" cap="none" strike="noStrike">
              <a:solidFill>
                <a:srgbClr val="000000"/>
              </a:solidFill>
              <a:latin typeface="Arial"/>
              <a:ea typeface="Arial"/>
              <a:cs typeface="Arial"/>
              <a:sym typeface="Arial"/>
            </a:endParaRPr>
          </a:p>
        </p:txBody>
      </p:sp>
      <p:cxnSp>
        <p:nvCxnSpPr>
          <p:cNvPr id="1643" name="Google Shape;1643;p61"/>
          <p:cNvCxnSpPr/>
          <p:nvPr/>
        </p:nvCxnSpPr>
        <p:spPr>
          <a:xfrm>
            <a:off x="4663440" y="2523744"/>
            <a:ext cx="0" cy="164592"/>
          </a:xfrm>
          <a:prstGeom prst="straightConnector1">
            <a:avLst/>
          </a:prstGeom>
          <a:noFill/>
          <a:ln cap="flat" cmpd="sng" w="12700">
            <a:solidFill>
              <a:srgbClr val="6E6E73"/>
            </a:solidFill>
            <a:prstDash val="solid"/>
            <a:round/>
            <a:headEnd len="sm" w="sm" type="none"/>
            <a:tailEnd len="med" w="med" type="triangle"/>
          </a:ln>
        </p:spPr>
      </p:cxnSp>
      <p:sp>
        <p:nvSpPr>
          <p:cNvPr id="1644" name="Google Shape;1644;p61"/>
          <p:cNvSpPr txBox="1"/>
          <p:nvPr/>
        </p:nvSpPr>
        <p:spPr>
          <a:xfrm>
            <a:off x="4736592" y="2523744"/>
            <a:ext cx="45720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017520" y="2688336"/>
            <a:ext cx="3291840" cy="199339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154680" y="2761488"/>
            <a:ext cx="3035700" cy="1790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Credit card removal</a:t>
            </a:r>
            <a:r>
              <a:rPr b="0" i="0" lang="en-US" spc="0" sz="950" u="none" cap="none" strike="noStrike">
                <a:solidFill>
                  <a:srgbClr val="1D1D1F"/>
                </a:solidFill>
                <a:latin typeface="Arial"/>
                <a:ea typeface="Arial"/>
                <a:cs typeface="Arial"/>
                <a:sym typeface="Arial"/>
              </a:rPr>
              <a:t>  → escalate to a TL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Personal data</a:t>
            </a:r>
            <a:r>
              <a:rPr b="0" i="0" lang="en-US" spc="0" sz="950" u="none" cap="none" strike="noStrike">
                <a:solidFill>
                  <a:srgbClr val="1D1D1F"/>
                </a:solidFill>
                <a:latin typeface="Arial"/>
                <a:ea typeface="Arial"/>
                <a:cs typeface="Arial"/>
                <a:sym typeface="Arial"/>
              </a:rPr>
              <a:t>  → log it to the Data right to know/delete request tracker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1" i="0" lang="en-US" spc="0" sz="850" u="none" cap="none" strike="noStrike">
                <a:solidFill>
                  <a:srgbClr val="0B7A6F"/>
                </a:solidFill>
                <a:latin typeface="Arial"/>
                <a:ea typeface="Arial"/>
                <a:cs typeface="Arial"/>
                <a:sym typeface="Arial"/>
              </a:rPr>
              <a:t>Watch </a:t>
            </a:r>
            <a:endParaRPr b="1" i="0" spc="0" sz="850" u="none" cap="none" strike="noStrike">
              <a:solidFill>
                <a:srgbClr val="0B7A6F"/>
              </a:solidFill>
              <a:latin typeface="Arial"/>
              <a:ea typeface="Arial"/>
              <a:cs typeface="Arial"/>
              <a:sym typeface="Arial"/>
            </a:endParaRPr>
          </a:p>
          <a:p>
            <a:pPr indent="0" lvl="0" marL="0" marR="0" rtl="0" algn="l">
              <a:lnSpc>
                <a:spcPct val="100000"/>
              </a:lnSpc>
              <a:spcBef>
                <a:spcPts val="200"/>
              </a:spcBef>
              <a:spcAft>
                <a:spcPts val="0"/>
              </a:spcAft>
              <a:buClr>
                <a:schemeClr val="dk1"/>
              </a:buClr>
              <a:buSzPts val="850"/>
              <a:buFont typeface="Arial"/>
              <a:buNone/>
            </a:pPr>
            <a:r>
              <a:rPr b="1" i="0" lang="en-US" spc="0" sz="850" u="none" cap="none" strike="noStrike">
                <a:solidFill>
                  <a:srgbClr val="0B7A6F"/>
                </a:solidFill>
                <a:latin typeface="Arial"/>
                <a:ea typeface="Arial"/>
                <a:cs typeface="Arial"/>
                <a:sym typeface="Arial"/>
              </a:rPr>
              <a:t>Deactivating via CRM ▷</a:t>
            </a:r>
            <a:endParaRPr b="1" i="0" spc="0" sz="850" u="none" cap="none" strike="noStrike">
              <a:solidFill>
                <a:srgbClr val="0B7A6F"/>
              </a:solidFill>
              <a:latin typeface="Arial"/>
              <a:ea typeface="Arial"/>
              <a:cs typeface="Arial"/>
              <a:sym typeface="Arial"/>
            </a:endParaRPr>
          </a:p>
        </p:txBody>
      </p:sp>
      <p:cxnSp>
        <p:nvCxnSpPr>
          <p:cNvPr id="1647" name="Google Shape;1647;p61"/>
          <p:cNvCxnSpPr/>
          <p:nvPr/>
        </p:nvCxnSpPr>
        <p:spPr>
          <a:xfrm>
            <a:off x="6309360" y="2240280"/>
            <a:ext cx="228600" cy="0"/>
          </a:xfrm>
          <a:prstGeom prst="straightConnector1">
            <a:avLst/>
          </a:prstGeom>
          <a:noFill/>
          <a:ln cap="flat" cmpd="sng" w="12700">
            <a:solidFill>
              <a:srgbClr val="6E6E73"/>
            </a:solidFill>
            <a:prstDash val="solid"/>
            <a:round/>
            <a:headEnd len="sm" w="sm" type="none"/>
            <a:tailEnd len="med" w="med" type="triangle"/>
          </a:ln>
        </p:spPr>
      </p:cxnSp>
      <p:sp>
        <p:nvSpPr>
          <p:cNvPr id="1648" name="Google Shape;1648;p61"/>
          <p:cNvSpPr txBox="1"/>
          <p:nvPr/>
        </p:nvSpPr>
        <p:spPr>
          <a:xfrm>
            <a:off x="6336792" y="2048256"/>
            <a:ext cx="274320" cy="16459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1" i="0" lang="en-US" spc="0" sz="7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6537960" y="1956816"/>
            <a:ext cx="2194560" cy="2724912"/>
          </a:xfrm>
          <a:prstGeom prst="roundRect">
            <a:avLst>
              <a:gd fmla="val 8000" name="adj"/>
            </a:avLst>
          </a:prstGeom>
          <a:solidFill>
            <a:srgbClr val="F8E6EE"/>
          </a:solidFill>
          <a:ln cap="flat" cmpd="sng" w="9525">
            <a:solidFill>
              <a:srgbClr val="A8456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6656832" y="2048256"/>
            <a:ext cx="1975104" cy="2560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Invalidate the voucher through the CRM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the FC table, if there’s one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1" i="0" lang="en-US" spc="0" sz="950" u="none" cap="none" strike="noStrike">
                <a:solidFill>
                  <a:srgbClr val="A8456B"/>
                </a:solidFill>
                <a:latin typeface="Play"/>
                <a:ea typeface="Play"/>
                <a:cs typeface="Play"/>
                <a:sym typeface="Play"/>
              </a:rPr>
              <a:t>Also wants the account closed?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Send a closure email (before deactivating)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 via CRM</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5" name="Shape 1655"/>
        <p:cNvGrpSpPr/>
        <p:nvPr/>
      </p:nvGrpSpPr>
      <p:grpSpPr>
        <a:xfrm>
          <a:off x="0" y="0"/>
          <a:ext cx="0" cy="0"/>
          <a:chOff x="0" y="0"/>
          <a:chExt cx="0" cy="0"/>
        </a:xfrm>
      </p:grpSpPr>
      <p:sp>
        <p:nvSpPr>
          <p:cNvPr id="1656" name="Google Shape;165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57" name="Google Shape;165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59" name="Google Shape;1659;p62"/>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60" name="Google Shape;1660;p62"/>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61" name="Google Shape;1661;p62"/>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62" name="Google Shape;1662;p62"/>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62"/>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62"/>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65" name="Google Shape;1665;p62"/>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66" name="Google Shape;1666;p62"/>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62"/>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62"/>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69" name="Google Shape;1669;p62"/>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70" name="Google Shape;1670;p62"/>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62"/>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2" name="Google Shape;1672;p62"/>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74" name="Google Shape;1674;p62"/>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2"/>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77" name="Google Shape;1677;p62"/>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78" name="Google Shape;1678;p62"/>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9" name="Google Shape;1679;p62"/>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80" name="Google Shape;1680;p62"/>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81" name="Google Shape;1681;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6" name="Shape 1686"/>
        <p:cNvGrpSpPr/>
        <p:nvPr/>
      </p:nvGrpSpPr>
      <p:grpSpPr>
        <a:xfrm>
          <a:off x="0" y="0"/>
          <a:ext cx="0" cy="0"/>
          <a:chOff x="0" y="0"/>
          <a:chExt cx="0" cy="0"/>
        </a:xfrm>
      </p:grpSpPr>
      <p:sp>
        <p:nvSpPr>
          <p:cNvPr id="1687" name="Google Shape;1687;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88" name="Google Shape;1688;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2" name="Google Shape;1692;p6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93" name="Google Shape;1693;p6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94" name="Google Shape;1694;p63"/>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95" name="Google Shape;1695;p63"/>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6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97" name="Google Shape;1697;p6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98" name="Google Shape;1698;p6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700" name="Google Shape;1700;p63"/>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2" name="Google Shape;1702;p6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03" name="Google Shape;1703;p6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704" name="Google Shape;1704;p63"/>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705" name="Google Shape;1705;p63"/>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06" name="Google Shape;1706;p63"/>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707" name="Google Shape;1707;p63"/>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708" name="Google Shape;1708;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709" name="Google Shape;1709;p63"/>
          <p:cNvSpPr/>
          <p:nvPr/>
        </p:nvSpPr>
        <p:spPr>
          <a:xfrm>
            <a:off x="411480" y="3547872"/>
            <a:ext cx="4206240" cy="118872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3621024"/>
            <a:ext cx="393192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LEFTOVER VOUCHER IN THE CRM</a:t>
            </a:r>
            <a:r>
              <a:rPr b="0" i="0" lang="en-US" spc="0" sz="800" u="none" cap="none" strike="noStrike">
                <a:solidFill>
                  <a:srgbClr val="B3261E"/>
                </a:solidFill>
                <a:latin typeface="Arial"/>
                <a:ea typeface="Arial"/>
                <a:cs typeface="Arial"/>
                <a:sym typeface="Arial"/>
              </a:rPr>
              <a:t>   look for “Refunded but still valid”</a:t>
            </a:r>
            <a:endParaRPr b="0" i="0" spc="0" sz="1400" u="none" cap="none" strike="noStrike">
              <a:solidFill>
                <a:srgbClr val="000000"/>
              </a:solidFill>
              <a:latin typeface="Arial"/>
              <a:ea typeface="Arial"/>
              <a:cs typeface="Arial"/>
              <a:sym typeface="Arial"/>
            </a:endParaRPr>
          </a:p>
        </p:txBody>
      </p:sp>
      <p:pic>
        <p:nvPicPr>
          <p:cNvPr descr="leftover_voucher_crm.png" id="1711" name="Google Shape;1711;p63"/>
          <p:cNvPicPr preferRelativeResize="0"/>
          <p:nvPr/>
        </p:nvPicPr>
        <p:blipFill rotWithShape="1">
          <a:blip r:embed="rId7">
            <a:alphaModFix/>
          </a:blip>
          <a:srcRect b="0" l="0" r="0" t="0"/>
          <a:stretch/>
        </p:blipFill>
        <p:spPr>
          <a:xfrm>
            <a:off x="548640" y="3840480"/>
            <a:ext cx="3246120" cy="837108"/>
          </a:xfrm>
          <a:prstGeom prst="rect">
            <a:avLst/>
          </a:prstGeom>
          <a:noFill/>
          <a:ln cap="flat" cmpd="sng" w="9525">
            <a:solidFill>
              <a:srgbClr val="DCE1E7"/>
            </a:solidFill>
            <a:prstDash val="solid"/>
            <a:round/>
            <a:headEnd len="sm" w="sm" type="none"/>
            <a:tailEnd len="sm" w="sm" type="none"/>
          </a:ln>
        </p:spPr>
      </p:pic>
      <p:sp>
        <p:nvSpPr>
          <p:cNvPr id="1712" name="Google Shape;1712;p63"/>
          <p:cNvSpPr/>
          <p:nvPr/>
        </p:nvSpPr>
        <p:spPr>
          <a:xfrm>
            <a:off x="4754880" y="3547872"/>
            <a:ext cx="3977639" cy="118872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4919472" y="3621024"/>
            <a:ext cx="365760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RELATED MACROS</a:t>
            </a:r>
            <a:endParaRPr b="0" i="0" spc="0" sz="1400" u="none" cap="none" strike="noStrike">
              <a:solidFill>
                <a:srgbClr val="000000"/>
              </a:solidFill>
              <a:latin typeface="Arial"/>
              <a:ea typeface="Arial"/>
              <a:cs typeface="Arial"/>
              <a:sym typeface="Arial"/>
            </a:endParaRPr>
          </a:p>
        </p:txBody>
      </p:sp>
      <p:sp>
        <p:nvSpPr>
          <p:cNvPr id="1714" name="Google Shape;1714;p63"/>
          <p:cNvSpPr txBox="1"/>
          <p:nvPr/>
        </p:nvSpPr>
        <p:spPr>
          <a:xfrm>
            <a:off x="4919472" y="3840480"/>
            <a:ext cx="37033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Refund Request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to ‘Try it Out’ (Trial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Unused DHJ Voucher — Wants One Time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Deactivated (send before deactivating)</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722" name="Google Shape;1722;p6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6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25" name="Google Shape;1725;p6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726" name="Google Shape;1726;p6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6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728" name="Google Shape;1728;p6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6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1" name="Google Shape;1731;p6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32" name="Google Shape;1732;p6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6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34" name="Google Shape;1734;p6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38" name="Google Shape;1738;p6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6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40" name="Google Shape;1740;p6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6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6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46" name="Google Shape;1746;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7"/>
                                        </p:tgtEl>
                                        <p:attrNameLst>
                                          <p:attrName>style.visibility</p:attrName>
                                        </p:attrNameLst>
                                      </p:cBhvr>
                                      <p:to>
                                        <p:strVal val="visible"/>
                                      </p:to>
                                    </p:set>
                                    <p:animEffect filter="fade" transition="in">
                                      <p:cBhvr>
                                        <p:cTn dur="600"/>
                                        <p:tgtEl>
                                          <p:spTgt spid="17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3"/>
                                        </p:tgtEl>
                                        <p:attrNameLst>
                                          <p:attrName>style.visibility</p:attrName>
                                        </p:attrNameLst>
                                      </p:cBhvr>
                                      <p:to>
                                        <p:strVal val="visible"/>
                                      </p:to>
                                    </p:set>
                                    <p:animEffect filter="fade" transition="in">
                                      <p:cBhvr>
                                        <p:cTn dur="600"/>
                                        <p:tgtEl>
                                          <p:spTgt spid="17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39"/>
                                        </p:tgtEl>
                                        <p:attrNameLst>
                                          <p:attrName>style.visibility</p:attrName>
                                        </p:attrNameLst>
                                      </p:cBhvr>
                                      <p:to>
                                        <p:strVal val="visible"/>
                                      </p:to>
                                    </p:set>
                                    <p:animEffect filter="fade" transition="in">
                                      <p:cBhvr>
                                        <p:cTn dur="600"/>
                                        <p:tgtEl>
                                          <p:spTgt spid="17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45"/>
                                        </p:tgtEl>
                                        <p:attrNameLst>
                                          <p:attrName>style.visibility</p:attrName>
                                        </p:attrNameLst>
                                      </p:cBhvr>
                                      <p:to>
                                        <p:strVal val="visible"/>
                                      </p:to>
                                    </p:set>
                                    <p:animEffect filter="fade" transition="in">
                                      <p:cBhvr>
                                        <p:cTn dur="600"/>
                                        <p:tgtEl>
                                          <p:spTgt spid="17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1" name="Shape 1751"/>
        <p:cNvGrpSpPr/>
        <p:nvPr/>
      </p:nvGrpSpPr>
      <p:grpSpPr>
        <a:xfrm>
          <a:off x="0" y="0"/>
          <a:ext cx="0" cy="0"/>
          <a:chOff x="0" y="0"/>
          <a:chExt cx="0" cy="0"/>
        </a:xfrm>
      </p:grpSpPr>
      <p:sp>
        <p:nvSpPr>
          <p:cNvPr id="1752" name="Google Shape;1752;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53" name="Google Shape;1753;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55" name="Google Shape;1755;p6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6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7" name="Google Shape;1757;p6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58" name="Google Shape;1758;p6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59" name="Google Shape;1759;p6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61" name="Google Shape;1761;p6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64" name="Google Shape;1764;p6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65" name="Google Shape;1765;p6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66" name="Google Shape;1766;p6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6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6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69" name="Google Shape;1769;p6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70" name="Google Shape;1770;p6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71" name="Google Shape;1771;p6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6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74" name="Google Shape;1774;p6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75" name="Google Shape;1775;p6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76" name="Google Shape;1776;p6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7" name="Google Shape;1777;p6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78" name="Google Shape;1778;p6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79" name="Google Shape;1779;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4" name="Shape 1784"/>
        <p:cNvGrpSpPr/>
        <p:nvPr/>
      </p:nvGrpSpPr>
      <p:grpSpPr>
        <a:xfrm>
          <a:off x="0" y="0"/>
          <a:ext cx="0" cy="0"/>
          <a:chOff x="0" y="0"/>
          <a:chExt cx="0" cy="0"/>
        </a:xfrm>
      </p:grpSpPr>
      <p:sp>
        <p:nvSpPr>
          <p:cNvPr id="1785" name="Google Shape;1785;p6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87" name="Google Shape;1787;p6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88" name="Google Shape;1788;p6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89" name="Google Shape;1789;p6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0" name="Google Shape;1790;p6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91" name="Google Shape;1791;p6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92" name="Google Shape;1792;p6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3" name="Google Shape;1793;p6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94" name="Google Shape;1794;p6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95" name="Google Shape;1795;p6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6" name="Google Shape;1796;p6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7" name="Google Shape;1797;p6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98" name="Google Shape;1798;p6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9" name="Google Shape;1799;p6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800" name="Google Shape;1800;p6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801" name="Google Shape;1801;p6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6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803" name="Google Shape;1803;p66"/>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804" name="Google Shape;1804;p6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6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6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6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5" name="Shape 1815"/>
        <p:cNvGrpSpPr/>
        <p:nvPr/>
      </p:nvGrpSpPr>
      <p:grpSpPr>
        <a:xfrm>
          <a:off x="0" y="0"/>
          <a:ext cx="0" cy="0"/>
          <a:chOff x="0" y="0"/>
          <a:chExt cx="0" cy="0"/>
        </a:xfrm>
      </p:grpSpPr>
      <p:sp>
        <p:nvSpPr>
          <p:cNvPr id="1816" name="Google Shape;1816;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17" name="Google Shape;1817;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818" name="Google Shape;1818;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819" name="Google Shape;1819;p67"/>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821" name="Google Shape;1821;p67"/>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Can’t self-cancel before the first cleaning</a:t>
            </a:r>
            <a:endParaRPr b="0" i="0" spc="0" sz="1000" u="none" cap="none" strike="noStrike">
              <a:solidFill>
                <a:schemeClr val="dk1"/>
              </a:solidFill>
              <a:latin typeface="Calibri"/>
              <a:ea typeface="Calibri"/>
              <a:cs typeface="Calibri"/>
              <a:sym typeface="Calibri"/>
            </a:endParaRPr>
          </a:p>
        </p:txBody>
      </p:sp>
      <p:sp>
        <p:nvSpPr>
          <p:cNvPr id="1822" name="Google Shape;1822;p67"/>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67"/>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First Cleaning Free (FCF)</a:t>
            </a:r>
            <a:endParaRPr b="0" i="0" spc="0" sz="1050" u="none" cap="none" strike="noStrike">
              <a:solidFill>
                <a:schemeClr val="dk1"/>
              </a:solidFill>
              <a:latin typeface="Calibri"/>
              <a:ea typeface="Calibri"/>
              <a:cs typeface="Calibri"/>
              <a:sym typeface="Calibri"/>
            </a:endParaRPr>
          </a:p>
        </p:txBody>
      </p:sp>
      <p:sp>
        <p:nvSpPr>
          <p:cNvPr id="1824" name="Google Shape;1824;p67"/>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rgbClr val="1D1D1F"/>
              </a:solidFill>
              <a:latin typeface="Arial"/>
              <a:ea typeface="Arial"/>
              <a:cs typeface="Arial"/>
              <a:sym typeface="Arial"/>
            </a:endParaRPr>
          </a:p>
          <a:p>
            <a:pPr indent="0" lvl="0" marL="457200" marR="0" rtl="0" algn="l">
              <a:lnSpc>
                <a:spcPct val="100000"/>
              </a:lnSpc>
              <a:spcBef>
                <a:spcPts val="400"/>
              </a:spcBef>
              <a:spcAft>
                <a:spcPts val="0"/>
              </a:spcAft>
              <a:buClr>
                <a:srgbClr val="000000"/>
              </a:buClr>
              <a:buSzPts val="1000"/>
              <a:buFont typeface="Arial"/>
              <a:buNone/>
            </a:pPr>
            <a:r>
              <a:t/>
            </a:r>
            <a:endParaRPr b="0" i="0" spc="0" sz="1000" u="none" cap="none" strike="noStrike">
              <a:solidFill>
                <a:srgbClr val="1D1D1F"/>
              </a:solidFill>
              <a:latin typeface="Arial"/>
              <a:ea typeface="Arial"/>
              <a:cs typeface="Arial"/>
              <a:sym typeface="Arial"/>
            </a:endParaRPr>
          </a:p>
        </p:txBody>
      </p:sp>
      <p:sp>
        <p:nvSpPr>
          <p:cNvPr id="1825" name="Google Shape;1825;p67"/>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7"/>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827" name="Google Shape;1827;p67"/>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828" name="Google Shape;1828;p67"/>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7"/>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830" name="Google Shape;1830;p67"/>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831" name="Google Shape;1831;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2" name="Google Shape;1832;p67"/>
          <p:cNvSpPr/>
          <p:nvPr/>
        </p:nvSpPr>
        <p:spPr>
          <a:xfrm>
            <a:off x="4955525" y="2395575"/>
            <a:ext cx="2997600" cy="2013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000" u="sng" cap="none" strike="noStrike">
                <a:solidFill>
                  <a:schemeClr val="hlink"/>
                </a:solidFill>
                <a:latin typeface="Arial"/>
                <a:ea typeface="Arial"/>
                <a:cs typeface="Arial"/>
                <a:sym typeface="Arial"/>
                <a:hlinkClick r:id="rId5"/>
              </a:rPr>
              <a:t>Let’s see what an FCF customer looks like</a:t>
            </a:r>
            <a:r>
              <a:rPr b="0" i="0" lang="en-US" spc="0" sz="1100" u="none" cap="none" strike="noStrike">
                <a:solidFill>
                  <a:schemeClr val="hlink"/>
                </a:solidFill>
                <a:uFill>
                  <a:noFill/>
                </a:uFill>
                <a:latin typeface="Arial"/>
                <a:ea typeface="Arial"/>
                <a:cs typeface="Arial"/>
                <a:sym typeface="Arial"/>
                <a:hlinkClick r:id="rId6"/>
              </a:rPr>
              <a:t> 🔗</a:t>
            </a:r>
            <a:r>
              <a:rPr b="0" i="0" lang="en-US" spc="0" sz="1100" u="sng" cap="none" strike="noStrike">
                <a:solidFill>
                  <a:schemeClr val="hlink"/>
                </a:solidFill>
                <a:latin typeface="Arial"/>
                <a:ea typeface="Arial"/>
                <a:cs typeface="Arial"/>
                <a:sym typeface="Arial"/>
                <a:hlinkClick r:id="rId7"/>
              </a:rPr>
              <a:t> </a:t>
            </a:r>
            <a:endParaRPr b="0" i="0" spc="0" sz="1100" u="none" cap="none" strike="noStrike">
              <a:solidFill>
                <a:srgbClr val="000000"/>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7" name="Shape 1837"/>
        <p:cNvGrpSpPr/>
        <p:nvPr/>
      </p:nvGrpSpPr>
      <p:grpSpPr>
        <a:xfrm>
          <a:off x="0" y="0"/>
          <a:ext cx="0" cy="0"/>
          <a:chOff x="0" y="0"/>
          <a:chExt cx="0" cy="0"/>
        </a:xfrm>
      </p:grpSpPr>
      <p:sp>
        <p:nvSpPr>
          <p:cNvPr id="1838" name="Google Shape;1838;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9" name="Google Shape;1839;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Retention strategy</a:t>
            </a:r>
            <a:endParaRPr b="0" i="0" spc="0" sz="2400" u="none" cap="none" strike="noStrike">
              <a:solidFill>
                <a:schemeClr val="dk1"/>
              </a:solidFill>
              <a:latin typeface="Calibri"/>
              <a:ea typeface="Calibri"/>
              <a:cs typeface="Calibri"/>
              <a:sym typeface="Calibri"/>
            </a:endParaRPr>
          </a:p>
        </p:txBody>
      </p:sp>
      <p:sp>
        <p:nvSpPr>
          <p:cNvPr id="1840" name="Google Shape;1840;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customer asks to cancel before their first cleaning. Retention comes first.</a:t>
            </a:r>
            <a:endParaRPr b="0" i="0" spc="0" sz="1200" u="none" cap="none" strike="noStrike">
              <a:solidFill>
                <a:schemeClr val="dk1"/>
              </a:solidFill>
              <a:latin typeface="Calibri"/>
              <a:ea typeface="Calibri"/>
              <a:cs typeface="Calibri"/>
              <a:sym typeface="Calibri"/>
            </a:endParaRPr>
          </a:p>
        </p:txBody>
      </p:sp>
      <p:sp>
        <p:nvSpPr>
          <p:cNvPr id="1841" name="Google Shape;184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42" name="Google Shape;1842;p68"/>
          <p:cNvSpPr/>
          <p:nvPr/>
        </p:nvSpPr>
        <p:spPr>
          <a:xfrm>
            <a:off x="411480" y="1261872"/>
            <a:ext cx="8321040" cy="329184"/>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5E4A9C"/>
                </a:solidFill>
                <a:latin typeface="Play"/>
                <a:ea typeface="Play"/>
                <a:cs typeface="Play"/>
                <a:sym typeface="Play"/>
              </a:rPr>
              <a:t>Customer requests cancellation:  </a:t>
            </a:r>
            <a:r>
              <a:rPr b="0" i="0" lang="en-US" spc="0" sz="900" u="none" cap="none" strike="noStrike">
                <a:solidFill>
                  <a:srgbClr val="1D1D1F"/>
                </a:solidFill>
                <a:latin typeface="Arial"/>
                <a:ea typeface="Arial"/>
                <a:cs typeface="Arial"/>
                <a:sym typeface="Arial"/>
              </a:rPr>
              <a:t>acknowledge  •  send the self-cancel link or offer to cancel for them  •  don’t say “voucher” • don’t provide refund link</a:t>
            </a:r>
            <a:endParaRPr b="0" i="0" spc="0" sz="1400" u="none" cap="none" strike="noStrike">
              <a:solidFill>
                <a:srgbClr val="000000"/>
              </a:solidFill>
              <a:latin typeface="Arial"/>
              <a:ea typeface="Arial"/>
              <a:cs typeface="Arial"/>
              <a:sym typeface="Arial"/>
            </a:endParaRPr>
          </a:p>
        </p:txBody>
      </p:sp>
      <p:sp>
        <p:nvSpPr>
          <p:cNvPr id="1843" name="Google Shape;1843;p68"/>
          <p:cNvSpPr/>
          <p:nvPr/>
        </p:nvSpPr>
        <p:spPr>
          <a:xfrm>
            <a:off x="411480" y="1664208"/>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44" name="Google Shape;1844;p68"/>
          <p:cNvSpPr txBox="1"/>
          <p:nvPr/>
        </p:nvSpPr>
        <p:spPr>
          <a:xfrm>
            <a:off x="749808" y="1664208"/>
            <a:ext cx="7955279"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Identify the root cause &amp; address it</a:t>
            </a:r>
            <a:r>
              <a:rPr b="0" i="0" lang="en-US" spc="0" sz="950" u="none" cap="none" strike="noStrike">
                <a:solidFill>
                  <a:srgbClr val="6E6E73"/>
                </a:solidFill>
                <a:latin typeface="Arial"/>
                <a:ea typeface="Arial"/>
                <a:cs typeface="Arial"/>
                <a:sym typeface="Arial"/>
              </a:rPr>
              <a:t>   (not provided? probe)</a:t>
            </a:r>
            <a:endParaRPr b="0" i="0" spc="0" sz="1400" u="none" cap="none" strike="noStrike">
              <a:solidFill>
                <a:srgbClr val="000000"/>
              </a:solidFill>
              <a:latin typeface="Arial"/>
              <a:ea typeface="Arial"/>
              <a:cs typeface="Arial"/>
              <a:sym typeface="Arial"/>
            </a:endParaRPr>
          </a:p>
        </p:txBody>
      </p:sp>
      <p:sp>
        <p:nvSpPr>
          <p:cNvPr id="1845" name="Google Shape;1845;p68"/>
          <p:cNvSpPr/>
          <p:nvPr/>
        </p:nvSpPr>
        <p:spPr>
          <a:xfrm>
            <a:off x="411480" y="1975104"/>
            <a:ext cx="2011679" cy="1828800"/>
          </a:xfrm>
          <a:prstGeom prst="roundRect">
            <a:avLst>
              <a:gd fmla="val 6000" name="adj"/>
            </a:avLst>
          </a:prstGeom>
          <a:solidFill>
            <a:srgbClr val="FCEADF"/>
          </a:solidFill>
          <a:ln cap="flat" cmpd="sng" w="9525">
            <a:solidFill>
              <a:srgbClr val="C0612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6" name="Google Shape;1846;p68"/>
          <p:cNvSpPr/>
          <p:nvPr/>
        </p:nvSpPr>
        <p:spPr>
          <a:xfrm>
            <a:off x="411480" y="1975104"/>
            <a:ext cx="2011679" cy="292608"/>
          </a:xfrm>
          <a:prstGeom prst="roundRect">
            <a:avLst>
              <a:gd fmla="val 6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Personal / service limits</a:t>
            </a:r>
            <a:endParaRPr b="0" i="0" spc="0" sz="1400" u="none" cap="none" strike="noStrike">
              <a:solidFill>
                <a:srgbClr val="000000"/>
              </a:solidFill>
              <a:latin typeface="Arial"/>
              <a:ea typeface="Arial"/>
              <a:cs typeface="Arial"/>
              <a:sym typeface="Arial"/>
            </a:endParaRPr>
          </a:p>
        </p:txBody>
      </p:sp>
      <p:sp>
        <p:nvSpPr>
          <p:cNvPr id="1847" name="Google Shape;1847;p68"/>
          <p:cNvSpPr txBox="1"/>
          <p:nvPr/>
        </p:nvSpPr>
        <p:spPr>
          <a:xfrm>
            <a:off x="50292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Off-platform cleaner, moved, self-cleaning, no credit card, same-day cleaning needs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Address the concern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Highlight the value of the FC membership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Encourage booking the free or heavily discounted cleaning, if it fits</a:t>
            </a:r>
            <a:endParaRPr b="0" i="0" spc="0" sz="1400" u="none" cap="none" strike="noStrike">
              <a:solidFill>
                <a:srgbClr val="000000"/>
              </a:solidFill>
              <a:latin typeface="Arial"/>
              <a:ea typeface="Arial"/>
              <a:cs typeface="Arial"/>
              <a:sym typeface="Arial"/>
            </a:endParaRPr>
          </a:p>
        </p:txBody>
      </p:sp>
      <p:sp>
        <p:nvSpPr>
          <p:cNvPr id="1848" name="Google Shape;1848;p68"/>
          <p:cNvSpPr/>
          <p:nvPr/>
        </p:nvSpPr>
        <p:spPr>
          <a:xfrm>
            <a:off x="2514600" y="1975104"/>
            <a:ext cx="2011679" cy="18288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9" name="Google Shape;1849;p68"/>
          <p:cNvSpPr/>
          <p:nvPr/>
        </p:nvSpPr>
        <p:spPr>
          <a:xfrm>
            <a:off x="2514600" y="1975104"/>
            <a:ext cx="2011679" cy="292608"/>
          </a:xfrm>
          <a:prstGeom prst="roundRect">
            <a:avLst>
              <a:gd fmla="val 6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Service failure</a:t>
            </a:r>
            <a:endParaRPr b="0" i="0" spc="0" sz="1400" u="none" cap="none" strike="noStrike">
              <a:solidFill>
                <a:srgbClr val="000000"/>
              </a:solidFill>
              <a:latin typeface="Arial"/>
              <a:ea typeface="Arial"/>
              <a:cs typeface="Arial"/>
              <a:sym typeface="Arial"/>
            </a:endParaRPr>
          </a:p>
        </p:txBody>
      </p:sp>
      <p:sp>
        <p:nvSpPr>
          <p:cNvPr id="1850" name="Google Shape;1850;p68"/>
          <p:cNvSpPr txBox="1"/>
          <p:nvPr/>
        </p:nvSpPr>
        <p:spPr>
          <a:xfrm>
            <a:off x="2606040"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Invalid LO, CP cancellation, CP LMC, no CP claim, false invoice, CP no-show</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Fix it (block / coach / penalize the CP) AND resolve 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Offer priority booking for the next clean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No credits: the cleaning is already free or heavily discounted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Next MF within 2 weeks? Offer a free month</a:t>
            </a:r>
            <a:endParaRPr b="0" i="0" spc="0" sz="1400" u="none" cap="none" strike="noStrike">
              <a:solidFill>
                <a:srgbClr val="000000"/>
              </a:solidFill>
              <a:latin typeface="Arial"/>
              <a:ea typeface="Arial"/>
              <a:cs typeface="Arial"/>
              <a:sym typeface="Arial"/>
            </a:endParaRPr>
          </a:p>
        </p:txBody>
      </p:sp>
      <p:sp>
        <p:nvSpPr>
          <p:cNvPr id="1851" name="Google Shape;1851;p68"/>
          <p:cNvSpPr/>
          <p:nvPr/>
        </p:nvSpPr>
        <p:spPr>
          <a:xfrm>
            <a:off x="4617720" y="1975104"/>
            <a:ext cx="2011679" cy="1828800"/>
          </a:xfrm>
          <a:prstGeom prst="roundRect">
            <a:avLst>
              <a:gd fmla="val 6000" name="adj"/>
            </a:avLst>
          </a:prstGeom>
          <a:solidFill>
            <a:srgbClr val="E3EEF7"/>
          </a:solidFill>
          <a:ln cap="flat" cmpd="sng" w="9525">
            <a:solidFill>
              <a:srgbClr val="2F6FA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2" name="Google Shape;1852;p68"/>
          <p:cNvSpPr/>
          <p:nvPr/>
        </p:nvSpPr>
        <p:spPr>
          <a:xfrm>
            <a:off x="4617720" y="1975104"/>
            <a:ext cx="2011679" cy="292608"/>
          </a:xfrm>
          <a:prstGeom prst="roundRect">
            <a:avLst>
              <a:gd fmla="val 6000" name="adj"/>
            </a:avLst>
          </a:prstGeom>
          <a:solidFill>
            <a:srgbClr val="2F6FA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Customer-fault failure</a:t>
            </a:r>
            <a:endParaRPr b="0" i="0" spc="0" sz="1400" u="none" cap="none" strike="noStrike">
              <a:solidFill>
                <a:srgbClr val="000000"/>
              </a:solidFill>
              <a:latin typeface="Arial"/>
              <a:ea typeface="Arial"/>
              <a:cs typeface="Arial"/>
              <a:sym typeface="Arial"/>
            </a:endParaRPr>
          </a:p>
        </p:txBody>
      </p:sp>
      <p:sp>
        <p:nvSpPr>
          <p:cNvPr id="1853" name="Google Shape;1853;p68"/>
          <p:cNvSpPr txBox="1"/>
          <p:nvPr/>
        </p:nvSpPr>
        <p:spPr>
          <a:xfrm>
            <a:off x="4709159" y="2322576"/>
            <a:ext cx="1828799" cy="14447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Valid LO submission, customer LMC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C still gets the free / heavily discounted cleaning from their original purchase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Refund any LO or LMC charge, whichever applies</a:t>
            </a:r>
            <a:endParaRPr b="0" i="0" spc="0" sz="1400" u="none" cap="none" strike="noStrike">
              <a:solidFill>
                <a:srgbClr val="000000"/>
              </a:solidFill>
              <a:latin typeface="Arial"/>
              <a:ea typeface="Arial"/>
              <a:cs typeface="Arial"/>
              <a:sym typeface="Arial"/>
            </a:endParaRPr>
          </a:p>
        </p:txBody>
      </p:sp>
      <p:sp>
        <p:nvSpPr>
          <p:cNvPr id="1854" name="Google Shape;1854;p68"/>
          <p:cNvSpPr/>
          <p:nvPr/>
        </p:nvSpPr>
        <p:spPr>
          <a:xfrm>
            <a:off x="6720840" y="1975104"/>
            <a:ext cx="2011679" cy="1828800"/>
          </a:xfrm>
          <a:prstGeom prst="roundRect">
            <a:avLst>
              <a:gd fmla="val 6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5" name="Google Shape;1855;p68"/>
          <p:cNvSpPr/>
          <p:nvPr/>
        </p:nvSpPr>
        <p:spPr>
          <a:xfrm>
            <a:off x="6720840" y="1975104"/>
            <a:ext cx="2011679" cy="292608"/>
          </a:xfrm>
          <a:prstGeom prst="roundRect">
            <a:avLst>
              <a:gd fmla="val 6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Membership terms</a:t>
            </a:r>
            <a:endParaRPr b="0" i="0" spc="0" sz="1400" u="none" cap="none" strike="noStrike">
              <a:solidFill>
                <a:srgbClr val="000000"/>
              </a:solidFill>
              <a:latin typeface="Arial"/>
              <a:ea typeface="Arial"/>
              <a:cs typeface="Arial"/>
              <a:sym typeface="Arial"/>
            </a:endParaRPr>
          </a:p>
        </p:txBody>
      </p:sp>
      <p:sp>
        <p:nvSpPr>
          <p:cNvPr id="1856" name="Google Shape;1856;p68"/>
          <p:cNvSpPr txBox="1"/>
          <p:nvPr/>
        </p:nvSpPr>
        <p:spPr>
          <a:xfrm>
            <a:off x="6812279" y="2322576"/>
            <a:ext cx="1828800" cy="1485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50"/>
              <a:buFont typeface="Arial"/>
              <a:buNone/>
            </a:pPr>
            <a:r>
              <a:rPr b="0" i="0" lang="en-US" spc="0" sz="750" u="none" cap="none" strike="noStrike">
                <a:solidFill>
                  <a:srgbClr val="6E6E73"/>
                </a:solidFill>
                <a:latin typeface="Arial"/>
                <a:ea typeface="Arial"/>
                <a:cs typeface="Arial"/>
                <a:sym typeface="Arial"/>
              </a:rPr>
              <a:t>Ex: MF too expensive, MCT too long, unaware of membership, one-time cleaning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MF too expensive: $10–$15 off the original $59</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MCT too long: 1 month off the original 6-month MCT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Unaware: address it, then probe underlying reason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800"/>
              <a:buFont typeface="Arial"/>
              <a:buNone/>
            </a:pPr>
            <a:r>
              <a:rPr b="0" i="0" lang="en-US" spc="0" sz="800" u="none" cap="none" strike="noStrike">
                <a:solidFill>
                  <a:srgbClr val="1D1D1F"/>
                </a:solidFill>
                <a:latin typeface="Arial"/>
                <a:ea typeface="Arial"/>
                <a:cs typeface="Arial"/>
                <a:sym typeface="Arial"/>
              </a:rPr>
              <a:t>• One-time only: OTC at full price, upfront</a:t>
            </a:r>
            <a:endParaRPr b="0" i="0" spc="0" sz="1400" u="none" cap="none" strike="noStrike">
              <a:solidFill>
                <a:srgbClr val="000000"/>
              </a:solidFill>
              <a:latin typeface="Arial"/>
              <a:ea typeface="Arial"/>
              <a:cs typeface="Arial"/>
              <a:sym typeface="Arial"/>
            </a:endParaRPr>
          </a:p>
        </p:txBody>
      </p:sp>
      <p:sp>
        <p:nvSpPr>
          <p:cNvPr id="1857" name="Google Shape;1857;p68"/>
          <p:cNvSpPr/>
          <p:nvPr/>
        </p:nvSpPr>
        <p:spPr>
          <a:xfrm>
            <a:off x="411480" y="3877056"/>
            <a:ext cx="8321040" cy="310896"/>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NOTE: </a:t>
            </a:r>
            <a:r>
              <a:rPr b="0" i="0" lang="en-US" spc="0" sz="950" u="none" cap="none" strike="noStrike">
                <a:solidFill>
                  <a:srgbClr val="1D1D1F"/>
                </a:solidFill>
                <a:latin typeface="Arial"/>
                <a:ea typeface="Arial"/>
                <a:cs typeface="Arial"/>
                <a:sym typeface="Arial"/>
              </a:rPr>
              <a:t>multiple unused, paid monthly fees? Offer up to </a:t>
            </a:r>
            <a:r>
              <a:rPr b="1" i="0" lang="en-US" spc="0" sz="950" u="none" cap="none" strike="noStrike">
                <a:solidFill>
                  <a:srgbClr val="1D1D1F"/>
                </a:solidFill>
                <a:latin typeface="Play"/>
                <a:ea typeface="Play"/>
                <a:cs typeface="Play"/>
                <a:sym typeface="Play"/>
              </a:rPr>
              <a:t>3 free months</a:t>
            </a:r>
            <a:r>
              <a:rPr b="0" i="0" lang="en-US" spc="0" sz="950" u="none" cap="none" strike="noStrike">
                <a:solidFill>
                  <a:srgbClr val="1D1D1F"/>
                </a:solidFill>
                <a:latin typeface="Arial"/>
                <a:ea typeface="Arial"/>
                <a:cs typeface="Arial"/>
                <a:sym typeface="Arial"/>
              </a:rPr>
              <a:t> on top of the standard retention offers.</a:t>
            </a:r>
            <a:endParaRPr b="0" i="0" spc="0" sz="1400" u="none" cap="none" strike="noStrike">
              <a:solidFill>
                <a:srgbClr val="000000"/>
              </a:solidFill>
              <a:latin typeface="Arial"/>
              <a:ea typeface="Arial"/>
              <a:cs typeface="Arial"/>
              <a:sym typeface="Arial"/>
            </a:endParaRPr>
          </a:p>
        </p:txBody>
      </p:sp>
      <p:sp>
        <p:nvSpPr>
          <p:cNvPr id="1858" name="Google Shape;1858;p68"/>
          <p:cNvSpPr/>
          <p:nvPr/>
        </p:nvSpPr>
        <p:spPr>
          <a:xfrm>
            <a:off x="411480" y="4297680"/>
            <a:ext cx="256032" cy="256032"/>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859" name="Google Shape;1859;p68"/>
          <p:cNvSpPr/>
          <p:nvPr/>
        </p:nvSpPr>
        <p:spPr>
          <a:xfrm>
            <a:off x="749808" y="4242816"/>
            <a:ext cx="7982712" cy="402336"/>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  Set a Timed Reminder (TR) </a:t>
            </a:r>
            <a:r>
              <a:rPr b="1" i="0" lang="en-US" spc="0" sz="1000" u="none" cap="none" strike="noStrike">
                <a:solidFill>
                  <a:srgbClr val="1D1D1F"/>
                </a:solidFill>
                <a:latin typeface="Play"/>
                <a:ea typeface="Play"/>
                <a:cs typeface="Play"/>
                <a:sym typeface="Play"/>
              </a:rPr>
              <a:t>at least 3 days before the next MF</a:t>
            </a:r>
            <a:r>
              <a:rPr b="0" i="0" lang="en-US" spc="0" sz="950" u="none" cap="none" strike="noStrike">
                <a:solidFill>
                  <a:srgbClr val="1D1D1F"/>
                </a:solidFill>
                <a:latin typeface="Arial"/>
                <a:ea typeface="Arial"/>
                <a:cs typeface="Arial"/>
                <a:sym typeface="Arial"/>
              </a:rPr>
              <a:t> to cancel FC if the customer doesn’t respond to the retention attempt.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4" name="Shape 1864"/>
        <p:cNvGrpSpPr/>
        <p:nvPr/>
      </p:nvGrpSpPr>
      <p:grpSpPr>
        <a:xfrm>
          <a:off x="0" y="0"/>
          <a:ext cx="0" cy="0"/>
          <a:chOff x="0" y="0"/>
          <a:chExt cx="0" cy="0"/>
        </a:xfrm>
      </p:grpSpPr>
      <p:sp>
        <p:nvSpPr>
          <p:cNvPr id="1865" name="Google Shape;1865;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66" name="Google Shape;1866;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Scenario challenge</a:t>
            </a:r>
            <a:endParaRPr b="0" i="0" spc="0" sz="2400" u="none" cap="none" strike="noStrike">
              <a:solidFill>
                <a:schemeClr val="dk1"/>
              </a:solidFill>
              <a:latin typeface="Calibri"/>
              <a:ea typeface="Calibri"/>
              <a:cs typeface="Calibri"/>
              <a:sym typeface="Calibri"/>
            </a:endParaRPr>
          </a:p>
        </p:txBody>
      </p:sp>
      <p:sp>
        <p:nvSpPr>
          <p:cNvPr id="1867" name="Google Shape;1867;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868" name="Google Shape;1868;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69" name="Google Shape;1869;p69"/>
          <p:cNvSpPr txBox="1"/>
          <p:nvPr/>
        </p:nvSpPr>
        <p:spPr>
          <a:xfrm>
            <a:off x="41148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SCENARIO 1</a:t>
            </a:r>
            <a:endParaRPr/>
          </a:p>
        </p:txBody>
      </p:sp>
      <p:sp>
        <p:nvSpPr>
          <p:cNvPr id="1870" name="Google Shape;1870;p69"/>
          <p:cNvSpPr/>
          <p:nvPr/>
        </p:nvSpPr>
        <p:spPr>
          <a:xfrm>
            <a:off x="41148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1" name="Google Shape;1871;p69"/>
          <p:cNvSpPr txBox="1"/>
          <p:nvPr/>
        </p:nvSpPr>
        <p:spPr>
          <a:xfrm>
            <a:off x="54864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6E6E73"/>
                </a:solidFill>
                <a:latin typeface="Play"/>
                <a:ea typeface="Play"/>
                <a:cs typeface="Play"/>
                <a:sym typeface="Play"/>
              </a:rPr>
              <a:t>CUSTOMER</a:t>
            </a:r>
            <a:endParaRPr/>
          </a:p>
          <a:p>
            <a:pPr indent="0" lvl="0" marL="0" marR="0" rtl="0" algn="l">
              <a:lnSpc>
                <a:spcPct val="100000"/>
              </a:lnSpc>
              <a:spcBef>
                <a:spcPts val="200"/>
              </a:spcBef>
              <a:spcAft>
                <a:spcPts val="0"/>
              </a:spcAft>
              <a:buNone/>
            </a:pPr>
            <a:r>
              <a:rPr b="0" i="0" lang="en-US" spc="0" sz="1000" u="none" cap="none" strike="noStrike">
                <a:solidFill>
                  <a:srgbClr val="1D1D1F"/>
                </a:solidFill>
                <a:latin typeface="Arial"/>
                <a:ea typeface="Arial"/>
                <a:cs typeface="Arial"/>
                <a:sym typeface="Arial"/>
              </a:rPr>
              <a:t>“Stop this! You’ve charged me 5x now! Refund everything or I will report fraud to my bank!”</a:t>
            </a:r>
            <a:endParaRPr/>
          </a:p>
          <a:p>
            <a:pPr indent="0" lvl="0" marL="0" marR="0" rtl="0" algn="l">
              <a:lnSpc>
                <a:spcPct val="100000"/>
              </a:lnSpc>
              <a:spcBef>
                <a:spcPts val="200"/>
              </a:spcBef>
              <a:spcAft>
                <a:spcPts val="0"/>
              </a:spcAft>
              <a:buNone/>
            </a:pPr>
            <a:r>
              <a:rPr b="0" i="0" lang="en-US" spc="0" sz="850" u="none" cap="none" strike="noStrike">
                <a:solidFill>
                  <a:srgbClr val="6E6E73"/>
                </a:solidFill>
                <a:latin typeface="Arial"/>
                <a:ea typeface="Arial"/>
                <a:cs typeface="Arial"/>
                <a:sym typeface="Arial"/>
              </a:rPr>
              <a:t>Context: C hasn’t booked their free 3-hr first cleaning and has now been charged 5 MFs.</a:t>
            </a:r>
            <a:endParaRPr/>
          </a:p>
        </p:txBody>
      </p:sp>
      <p:sp>
        <p:nvSpPr>
          <p:cNvPr id="1872" name="Google Shape;1872;p69"/>
          <p:cNvSpPr/>
          <p:nvPr/>
        </p:nvSpPr>
        <p:spPr>
          <a:xfrm>
            <a:off x="41148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3" name="Google Shape;1873;p69"/>
          <p:cNvSpPr txBox="1"/>
          <p:nvPr/>
        </p:nvSpPr>
        <p:spPr>
          <a:xfrm>
            <a:off x="41148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pc="0" sz="900" u="none" cap="none" strike="noStrike">
                <a:solidFill>
                  <a:srgbClr val="6E6E73"/>
                </a:solidFill>
                <a:latin typeface="Arial"/>
                <a:ea typeface="Arial"/>
                <a:cs typeface="Arial"/>
                <a:sym typeface="Arial"/>
              </a:rPr>
              <a:t>Write your reply first.</a:t>
            </a:r>
            <a:endParaRPr/>
          </a:p>
        </p:txBody>
      </p:sp>
      <p:sp>
        <p:nvSpPr>
          <p:cNvPr id="1874" name="Google Shape;1874;p69"/>
          <p:cNvSpPr/>
          <p:nvPr/>
        </p:nvSpPr>
        <p:spPr>
          <a:xfrm>
            <a:off x="139446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Show CS response</a:t>
            </a:r>
            <a:endParaRPr/>
          </a:p>
        </p:txBody>
      </p:sp>
      <p:sp>
        <p:nvSpPr>
          <p:cNvPr id="1875" name="Google Shape;1875;p69"/>
          <p:cNvSpPr/>
          <p:nvPr/>
        </p:nvSpPr>
        <p:spPr>
          <a:xfrm>
            <a:off x="41148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6" name="Google Shape;1876;p69"/>
          <p:cNvSpPr txBox="1"/>
          <p:nvPr/>
        </p:nvSpPr>
        <p:spPr>
          <a:xfrm>
            <a:off x="539496" y="2441448"/>
            <a:ext cx="3813048" cy="22677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Thanks for reaching out! I’m happy to clarify the charges on your account and go over your options. If you don’t mind me asking, was there a reason you haven’t had a chance to book your first cleaning yet? I’d love to help if there’s anything getting in the way.</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The charges you’re seeing are your ForeverClean monthly fees. ForeverClean is our membership program which included your free 3-hour first cleaning during sign up. The membership fees continue monthly for $59 unless canceled, even if you haven’t used the free cleaning yet.</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If you’d still like to use your free 3-hour cleaning, I’d be happy to help get that set up. I can also add 3 free months to your membership, so your next monthly fee wouldn’t be charged until &lt;date&gt;. Quick note: the free months don’t count toward your 6-month term.</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If you’d rather cancel, you can do that here:</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Let me know what works best for you, and I’ll be happy to help.</a:t>
            </a:r>
            <a:endParaRPr/>
          </a:p>
        </p:txBody>
      </p:sp>
      <p:sp>
        <p:nvSpPr>
          <p:cNvPr id="1877" name="Google Shape;1877;p69"/>
          <p:cNvSpPr txBox="1"/>
          <p:nvPr/>
        </p:nvSpPr>
        <p:spPr>
          <a:xfrm>
            <a:off x="4663440" y="1261872"/>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SCENARIO 2</a:t>
            </a:r>
            <a:endParaRPr/>
          </a:p>
        </p:txBody>
      </p:sp>
      <p:sp>
        <p:nvSpPr>
          <p:cNvPr id="1878" name="Google Shape;1878;p69"/>
          <p:cNvSpPr/>
          <p:nvPr/>
        </p:nvSpPr>
        <p:spPr>
          <a:xfrm>
            <a:off x="4663440" y="1463040"/>
            <a:ext cx="4069080" cy="8229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79" name="Google Shape;1879;p69"/>
          <p:cNvSpPr txBox="1"/>
          <p:nvPr/>
        </p:nvSpPr>
        <p:spPr>
          <a:xfrm>
            <a:off x="4800600" y="1463040"/>
            <a:ext cx="379476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6E6E73"/>
                </a:solidFill>
                <a:latin typeface="Play"/>
                <a:ea typeface="Play"/>
                <a:cs typeface="Play"/>
                <a:sym typeface="Play"/>
              </a:rPr>
              <a:t>CUSTOMER</a:t>
            </a:r>
            <a:endParaRPr/>
          </a:p>
          <a:p>
            <a:pPr indent="0" lvl="0" marL="0" marR="0" rtl="0" algn="l">
              <a:lnSpc>
                <a:spcPct val="100000"/>
              </a:lnSpc>
              <a:spcBef>
                <a:spcPts val="200"/>
              </a:spcBef>
              <a:spcAft>
                <a:spcPts val="0"/>
              </a:spcAft>
              <a:buNone/>
            </a:pPr>
            <a:r>
              <a:rPr b="0" i="0" lang="en-US" spc="0" sz="1000" u="none" cap="none" strike="noStrike">
                <a:solidFill>
                  <a:srgbClr val="1D1D1F"/>
                </a:solidFill>
                <a:latin typeface="Arial"/>
                <a:ea typeface="Arial"/>
                <a:cs typeface="Arial"/>
                <a:sym typeface="Arial"/>
              </a:rPr>
              <a:t>“I will not be needing your service. I’m moving out of state.”</a:t>
            </a:r>
            <a:endParaRPr/>
          </a:p>
        </p:txBody>
      </p:sp>
      <p:sp>
        <p:nvSpPr>
          <p:cNvPr id="1880" name="Google Shape;1880;p69"/>
          <p:cNvSpPr/>
          <p:nvPr/>
        </p:nvSpPr>
        <p:spPr>
          <a:xfrm>
            <a:off x="4663440" y="2377440"/>
            <a:ext cx="4069080" cy="237744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81" name="Google Shape;1881;p69"/>
          <p:cNvSpPr txBox="1"/>
          <p:nvPr/>
        </p:nvSpPr>
        <p:spPr>
          <a:xfrm>
            <a:off x="4663440" y="306324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pc="0" sz="900" u="none" cap="none" strike="noStrike">
                <a:solidFill>
                  <a:srgbClr val="6E6E73"/>
                </a:solidFill>
                <a:latin typeface="Arial"/>
                <a:ea typeface="Arial"/>
                <a:cs typeface="Arial"/>
                <a:sym typeface="Arial"/>
              </a:rPr>
              <a:t>Write your reply first.</a:t>
            </a:r>
            <a:endParaRPr/>
          </a:p>
        </p:txBody>
      </p:sp>
      <p:sp>
        <p:nvSpPr>
          <p:cNvPr id="1882" name="Google Shape;1882;p69"/>
          <p:cNvSpPr/>
          <p:nvPr/>
        </p:nvSpPr>
        <p:spPr>
          <a:xfrm>
            <a:off x="5646420" y="333756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Show CS response</a:t>
            </a:r>
            <a:endParaRPr/>
          </a:p>
        </p:txBody>
      </p:sp>
      <p:sp>
        <p:nvSpPr>
          <p:cNvPr id="1883" name="Google Shape;1883;p69"/>
          <p:cNvSpPr/>
          <p:nvPr/>
        </p:nvSpPr>
        <p:spPr>
          <a:xfrm>
            <a:off x="4663440" y="2377440"/>
            <a:ext cx="4069080" cy="237744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884" name="Google Shape;1884;p69"/>
          <p:cNvSpPr txBox="1"/>
          <p:nvPr/>
        </p:nvSpPr>
        <p:spPr>
          <a:xfrm>
            <a:off x="4791456" y="2441448"/>
            <a:ext cx="3813048" cy="22677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Thanks for letting me know! I hope the move goes smoothly.</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Just so you know, we’re available across all 50 U.S. states, so if you’d like to continue with us at your new address, I’d be happy to help get your free first cleaning set up once you’re settled.</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If you need a little more time before booking, I can also add a free month so your next monthly fee wouldn’t be charged until &lt;date&gt;. Just a quick note: the free month doesn’t count toward your 6-month term.</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If you’d rather cancel, you can do that here: [cancellation link].</a:t>
            </a:r>
            <a:endParaRPr/>
          </a:p>
          <a:p>
            <a:pPr indent="0" lvl="0" marL="0" marR="0" rtl="0" algn="l">
              <a:lnSpc>
                <a:spcPct val="100000"/>
              </a:lnSpc>
              <a:spcBef>
                <a:spcPts val="400"/>
              </a:spcBef>
              <a:spcAft>
                <a:spcPts val="0"/>
              </a:spcAft>
              <a:buNone/>
            </a:pPr>
            <a:r>
              <a:rPr b="0" i="0" lang="en-US" spc="0" sz="850" u="none" cap="none" strike="noStrike">
                <a:solidFill>
                  <a:srgbClr val="1D1D1F"/>
                </a:solidFill>
                <a:latin typeface="Arial"/>
                <a:ea typeface="Arial"/>
                <a:cs typeface="Arial"/>
                <a:sym typeface="Arial"/>
              </a:rPr>
              <a:t>Let me know what works best for you, and I’ll be happy to help.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75"/>
                                        </p:tgtEl>
                                        <p:attrNameLst>
                                          <p:attrName>style.visibility</p:attrName>
                                        </p:attrNameLst>
                                      </p:cBhvr>
                                      <p:to>
                                        <p:strVal val="visible"/>
                                      </p:to>
                                    </p:set>
                                    <p:animEffect filter="fade" transition="in">
                                      <p:cBhvr>
                                        <p:cTn dur="600"/>
                                        <p:tgtEl>
                                          <p:spTgt spid="1875"/>
                                        </p:tgtEl>
                                      </p:cBhvr>
                                    </p:animEffect>
                                  </p:childTnLst>
                                </p:cTn>
                              </p:par>
                              <p:par>
                                <p:cTn fill="hold" nodeType="withEffect" presetClass="entr" presetID="10" presetSubtype="0">
                                  <p:stCondLst>
                                    <p:cond delay="0"/>
                                  </p:stCondLst>
                                  <p:childTnLst>
                                    <p:set>
                                      <p:cBhvr>
                                        <p:cTn dur="1" fill="hold">
                                          <p:stCondLst>
                                            <p:cond delay="0"/>
                                          </p:stCondLst>
                                        </p:cTn>
                                        <p:tgtEl>
                                          <p:spTgt spid="1876"/>
                                        </p:tgtEl>
                                        <p:attrNameLst>
                                          <p:attrName>style.visibility</p:attrName>
                                        </p:attrNameLst>
                                      </p:cBhvr>
                                      <p:to>
                                        <p:strVal val="visible"/>
                                      </p:to>
                                    </p:set>
                                    <p:animEffect filter="fade" transition="in">
                                      <p:cBhvr>
                                        <p:cTn dur="600"/>
                                        <p:tgtEl>
                                          <p:spTgt spid="18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3"/>
                                        </p:tgtEl>
                                        <p:attrNameLst>
                                          <p:attrName>style.visibility</p:attrName>
                                        </p:attrNameLst>
                                      </p:cBhvr>
                                      <p:to>
                                        <p:strVal val="visible"/>
                                      </p:to>
                                    </p:set>
                                    <p:animEffect filter="fade" transition="in">
                                      <p:cBhvr>
                                        <p:cTn dur="600"/>
                                        <p:tgtEl>
                                          <p:spTgt spid="1883"/>
                                        </p:tgtEl>
                                      </p:cBhvr>
                                    </p:animEffect>
                                  </p:childTnLst>
                                </p:cTn>
                              </p:par>
                              <p:par>
                                <p:cTn fill="hold" nodeType="withEffect" presetClass="entr" presetID="10" presetSubtype="0">
                                  <p:stCondLst>
                                    <p:cond delay="0"/>
                                  </p:stCondLst>
                                  <p:childTnLst>
                                    <p:set>
                                      <p:cBhvr>
                                        <p:cTn dur="1" fill="hold">
                                          <p:stCondLst>
                                            <p:cond delay="0"/>
                                          </p:stCondLst>
                                        </p:cTn>
                                        <p:tgtEl>
                                          <p:spTgt spid="1884"/>
                                        </p:tgtEl>
                                        <p:attrNameLst>
                                          <p:attrName>style.visibility</p:attrName>
                                        </p:attrNameLst>
                                      </p:cBhvr>
                                      <p:to>
                                        <p:strVal val="visible"/>
                                      </p:to>
                                    </p:set>
                                    <p:animEffect filter="fade" transition="in">
                                      <p:cBhvr>
                                        <p:cTn dur="600"/>
                                        <p:tgtEl>
                                          <p:spTgt spid="18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9" name="Shape 1889"/>
        <p:cNvGrpSpPr/>
        <p:nvPr/>
      </p:nvGrpSpPr>
      <p:grpSpPr>
        <a:xfrm>
          <a:off x="0" y="0"/>
          <a:ext cx="0" cy="0"/>
          <a:chOff x="0" y="0"/>
          <a:chExt cx="0" cy="0"/>
        </a:xfrm>
      </p:grpSpPr>
      <p:sp>
        <p:nvSpPr>
          <p:cNvPr id="1890" name="Google Shape;1890;p70"/>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91" name="Google Shape;1891;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strategy</a:t>
            </a:r>
            <a:endParaRPr b="0" i="0" spc="0" sz="2400" u="none" cap="none" strike="noStrike">
              <a:solidFill>
                <a:schemeClr val="dk1"/>
              </a:solidFill>
              <a:latin typeface="Calibri"/>
              <a:ea typeface="Calibri"/>
              <a:cs typeface="Calibri"/>
              <a:sym typeface="Calibri"/>
            </a:endParaRPr>
          </a:p>
        </p:txBody>
      </p:sp>
      <p:sp>
        <p:nvSpPr>
          <p:cNvPr id="1892" name="Google Shape;1892;p70"/>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didn’t work. Close it out cleanly.</a:t>
            </a:r>
            <a:endParaRPr b="0" i="0" spc="0" sz="1200" u="none" cap="none" strike="noStrike">
              <a:solidFill>
                <a:schemeClr val="dk1"/>
              </a:solidFill>
              <a:latin typeface="Calibri"/>
              <a:ea typeface="Calibri"/>
              <a:cs typeface="Calibri"/>
              <a:sym typeface="Calibri"/>
            </a:endParaRPr>
          </a:p>
        </p:txBody>
      </p:sp>
      <p:sp>
        <p:nvSpPr>
          <p:cNvPr id="1893" name="Google Shape;1893;p7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94" name="Google Shape;1894;p70"/>
          <p:cNvSpPr/>
          <p:nvPr/>
        </p:nvSpPr>
        <p:spPr>
          <a:xfrm>
            <a:off x="411480" y="1298448"/>
            <a:ext cx="8321100" cy="731400"/>
          </a:xfrm>
          <a:prstGeom prst="roundRect">
            <a:avLst>
              <a:gd fmla="val 6000" name="adj"/>
            </a:avLst>
          </a:prstGeom>
          <a:solidFill>
            <a:srgbClr val="FCEBEA"/>
          </a:solidFill>
          <a:ln cap="flat" cmpd="sng" w="9525">
            <a:solidFill>
              <a:srgbClr val="B3261E"/>
            </a:solidFill>
            <a:prstDash val="solid"/>
            <a:round/>
            <a:headEnd len="sm" w="sm" type="none"/>
            <a:tailEnd len="sm" w="sm" type="none"/>
          </a:ln>
        </p:spPr>
        <p:txBody>
          <a:bodyPr anchorCtr="0" anchor="ctr" bIns="0" lIns="182875" spcFirstLastPara="1" rIns="182875"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B3261E"/>
                </a:solidFill>
                <a:latin typeface="Play"/>
                <a:ea typeface="Play"/>
                <a:cs typeface="Play"/>
                <a:sym typeface="Play"/>
              </a:rPr>
              <a:t>WHEN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100"/>
              <a:buFont typeface="Arial"/>
              <a:buNone/>
            </a:pPr>
            <a:r>
              <a:rPr b="1" i="0" lang="en-US" spc="0" sz="1100" u="none" cap="none" strike="noStrike">
                <a:solidFill>
                  <a:srgbClr val="1D1D1F"/>
                </a:solidFill>
                <a:latin typeface="Play"/>
                <a:ea typeface="Play"/>
                <a:cs typeface="Play"/>
                <a:sym typeface="Play"/>
              </a:rPr>
              <a:t>The TR triggers and C hasn’t responded</a:t>
            </a:r>
            <a:r>
              <a:rPr b="0" i="0" lang="en-US" spc="0" sz="1000" u="none" cap="none" strike="noStrike">
                <a:solidFill>
                  <a:srgbClr val="6E6E73"/>
                </a:solidFill>
                <a:latin typeface="Arial"/>
                <a:ea typeface="Arial"/>
                <a:cs typeface="Arial"/>
                <a:sym typeface="Arial"/>
              </a:rPr>
              <a:t>   or   </a:t>
            </a:r>
            <a:r>
              <a:rPr b="1" i="0" lang="en-US" spc="0" sz="1100" u="none" cap="none" strike="noStrike">
                <a:solidFill>
                  <a:srgbClr val="1D1D1F"/>
                </a:solidFill>
                <a:latin typeface="Play"/>
                <a:ea typeface="Play"/>
                <a:cs typeface="Play"/>
                <a:sym typeface="Play"/>
              </a:rPr>
              <a:t>C responds and still insists on cancelling after the retention attempt</a:t>
            </a:r>
            <a:endParaRPr b="0" i="0" spc="0" sz="1400" u="none" cap="none" strike="noStrike">
              <a:solidFill>
                <a:srgbClr val="000000"/>
              </a:solidFill>
              <a:latin typeface="Arial"/>
              <a:ea typeface="Arial"/>
              <a:cs typeface="Arial"/>
              <a:sym typeface="Arial"/>
            </a:endParaRPr>
          </a:p>
        </p:txBody>
      </p:sp>
      <p:sp>
        <p:nvSpPr>
          <p:cNvPr id="1895" name="Google Shape;1895;p70"/>
          <p:cNvSpPr/>
          <p:nvPr/>
        </p:nvSpPr>
        <p:spPr>
          <a:xfrm>
            <a:off x="41148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70"/>
          <p:cNvSpPr/>
          <p:nvPr/>
        </p:nvSpPr>
        <p:spPr>
          <a:xfrm>
            <a:off x="57607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1897" name="Google Shape;1897;p70"/>
          <p:cNvSpPr txBox="1"/>
          <p:nvPr/>
        </p:nvSpPr>
        <p:spPr>
          <a:xfrm>
            <a:off x="96012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Cancel FC via CRM</a:t>
            </a:r>
            <a:endParaRPr b="0" i="0" spc="0" sz="1400" u="none" cap="none" strike="noStrike">
              <a:solidFill>
                <a:srgbClr val="000000"/>
              </a:solidFill>
              <a:latin typeface="Arial"/>
              <a:ea typeface="Arial"/>
              <a:cs typeface="Arial"/>
              <a:sym typeface="Arial"/>
            </a:endParaRPr>
          </a:p>
        </p:txBody>
      </p:sp>
      <p:cxnSp>
        <p:nvCxnSpPr>
          <p:cNvPr id="1898" name="Google Shape;1898;p70"/>
          <p:cNvCxnSpPr/>
          <p:nvPr/>
        </p:nvCxnSpPr>
        <p:spPr>
          <a:xfrm>
            <a:off x="297180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899" name="Google Shape;1899;p70"/>
          <p:cNvSpPr/>
          <p:nvPr/>
        </p:nvSpPr>
        <p:spPr>
          <a:xfrm>
            <a:off x="329184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70"/>
          <p:cNvSpPr/>
          <p:nvPr/>
        </p:nvSpPr>
        <p:spPr>
          <a:xfrm>
            <a:off x="345643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1901" name="Google Shape;1901;p70"/>
          <p:cNvSpPr txBox="1"/>
          <p:nvPr/>
        </p:nvSpPr>
        <p:spPr>
          <a:xfrm>
            <a:off x="384048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voucher</a:t>
            </a:r>
            <a:endParaRPr b="0" i="0" spc="0" sz="1400" u="none" cap="none" strike="noStrike">
              <a:solidFill>
                <a:srgbClr val="000000"/>
              </a:solidFill>
              <a:latin typeface="Arial"/>
              <a:ea typeface="Arial"/>
              <a:cs typeface="Arial"/>
              <a:sym typeface="Arial"/>
            </a:endParaRPr>
          </a:p>
        </p:txBody>
      </p:sp>
      <p:cxnSp>
        <p:nvCxnSpPr>
          <p:cNvPr id="1902" name="Google Shape;1902;p70"/>
          <p:cNvCxnSpPr/>
          <p:nvPr/>
        </p:nvCxnSpPr>
        <p:spPr>
          <a:xfrm>
            <a:off x="5852160" y="2743200"/>
            <a:ext cx="320100" cy="0"/>
          </a:xfrm>
          <a:prstGeom prst="straightConnector1">
            <a:avLst/>
          </a:prstGeom>
          <a:noFill/>
          <a:ln cap="flat" cmpd="sng" w="12700">
            <a:solidFill>
              <a:srgbClr val="6E6E73"/>
            </a:solidFill>
            <a:prstDash val="solid"/>
            <a:round/>
            <a:headEnd len="sm" w="sm" type="none"/>
            <a:tailEnd len="med" w="med" type="triangle"/>
          </a:ln>
        </p:spPr>
      </p:cxnSp>
      <p:sp>
        <p:nvSpPr>
          <p:cNvPr id="1903" name="Google Shape;1903;p70"/>
          <p:cNvSpPr/>
          <p:nvPr/>
        </p:nvSpPr>
        <p:spPr>
          <a:xfrm>
            <a:off x="6172200" y="2286000"/>
            <a:ext cx="2560200" cy="914400"/>
          </a:xfrm>
          <a:prstGeom prst="roundRect">
            <a:avLst>
              <a:gd fmla="val 6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70"/>
          <p:cNvSpPr/>
          <p:nvPr/>
        </p:nvSpPr>
        <p:spPr>
          <a:xfrm>
            <a:off x="6336792" y="2615184"/>
            <a:ext cx="255900" cy="255900"/>
          </a:xfrm>
          <a:prstGeom prst="roundRect">
            <a:avLst>
              <a:gd fmla="val 5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1905" name="Google Shape;1905;p70"/>
          <p:cNvSpPr txBox="1"/>
          <p:nvPr/>
        </p:nvSpPr>
        <p:spPr>
          <a:xfrm>
            <a:off x="6720840" y="2286000"/>
            <a:ext cx="187440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Invalidate the TR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if it hasn’t triggered yet</a:t>
            </a:r>
            <a:endParaRPr b="0" i="0" spc="0" sz="1400" u="none" cap="none" strike="noStrike">
              <a:solidFill>
                <a:srgbClr val="000000"/>
              </a:solidFill>
              <a:latin typeface="Arial"/>
              <a:ea typeface="Arial"/>
              <a:cs typeface="Arial"/>
              <a:sym typeface="Arial"/>
            </a:endParaRPr>
          </a:p>
        </p:txBody>
      </p:sp>
      <p:sp>
        <p:nvSpPr>
          <p:cNvPr id="1906" name="Google Shape;1906;p70"/>
          <p:cNvSpPr/>
          <p:nvPr/>
        </p:nvSpPr>
        <p:spPr>
          <a:xfrm>
            <a:off x="411480" y="3474720"/>
            <a:ext cx="8321100" cy="8229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7" name="Google Shape;1907;p70"/>
          <p:cNvSpPr txBox="1"/>
          <p:nvPr/>
        </p:nvSpPr>
        <p:spPr>
          <a:xfrm>
            <a:off x="594360" y="3474720"/>
            <a:ext cx="7955279" cy="822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9A6410"/>
                </a:solidFill>
                <a:latin typeface="Play"/>
                <a:ea typeface="Play"/>
                <a:cs typeface="Play"/>
                <a:sym typeface="Play"/>
              </a:rPr>
              <a:t>Wants a refund?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Review the 24-hour refund window, then check the Refund eligibility cheat sheet.</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2" name="Shape 1912"/>
        <p:cNvGrpSpPr/>
        <p:nvPr/>
      </p:nvGrpSpPr>
      <p:grpSpPr>
        <a:xfrm>
          <a:off x="0" y="0"/>
          <a:ext cx="0" cy="0"/>
          <a:chOff x="0" y="0"/>
          <a:chExt cx="0" cy="0"/>
        </a:xfrm>
      </p:grpSpPr>
      <p:sp>
        <p:nvSpPr>
          <p:cNvPr id="1913" name="Google Shape;1913;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14" name="Google Shape;1914;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refund window</a:t>
            </a:r>
            <a:endParaRPr b="0" i="0" spc="0" sz="2400" u="none" cap="none" strike="noStrike">
              <a:solidFill>
                <a:schemeClr val="dk1"/>
              </a:solidFill>
              <a:latin typeface="Calibri"/>
              <a:ea typeface="Calibri"/>
              <a:cs typeface="Calibri"/>
              <a:sym typeface="Calibri"/>
            </a:endParaRPr>
          </a:p>
        </p:txBody>
      </p:sp>
      <p:sp>
        <p:nvSpPr>
          <p:cNvPr id="1915" name="Google Shape;1915;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916" name="Google Shape;1916;p71"/>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7" name="Google Shape;1917;p71"/>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918" name="Google Shape;1918;p71"/>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919" name="Google Shape;1919;p71"/>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1"/>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1" name="Google Shape;1921;p71"/>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922" name="Google Shape;1922;p71"/>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cancellation/refund process.</a:t>
            </a:r>
            <a:endParaRPr b="0" i="0" spc="0" sz="1050" u="none" cap="none" strike="noStrike">
              <a:solidFill>
                <a:schemeClr val="dk1"/>
              </a:solidFill>
              <a:latin typeface="Calibri"/>
              <a:ea typeface="Calibri"/>
              <a:cs typeface="Calibri"/>
              <a:sym typeface="Calibri"/>
            </a:endParaRPr>
          </a:p>
        </p:txBody>
      </p:sp>
      <p:sp>
        <p:nvSpPr>
          <p:cNvPr id="1923" name="Google Shape;1923;p71"/>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71"/>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5" name="Google Shape;1925;p71"/>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926" name="Google Shape;1926;p71"/>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927" name="Google Shape;1927;p71"/>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1"/>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9" name="Google Shape;1929;p71"/>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930" name="Google Shape;1930;p71"/>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931" name="Google Shape;1931;p71"/>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1"/>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3" name="Google Shape;1933;p71"/>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934" name="Google Shape;1934;p71"/>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935" name="Google Shape;1935;p71"/>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36" name="Google Shape;1936;p71"/>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937" name="Google Shape;1937;p71"/>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938" name="Google Shape;1938;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3" name="Shape 1943"/>
        <p:cNvGrpSpPr/>
        <p:nvPr/>
      </p:nvGrpSpPr>
      <p:grpSpPr>
        <a:xfrm>
          <a:off x="0" y="0"/>
          <a:ext cx="0" cy="0"/>
          <a:chOff x="0" y="0"/>
          <a:chExt cx="0" cy="0"/>
        </a:xfrm>
      </p:grpSpPr>
      <p:sp>
        <p:nvSpPr>
          <p:cNvPr id="1944" name="Google Shape;1944;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45" name="Google Shape;1945;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946" name="Google Shape;1946;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947" name="Google Shape;1947;p72"/>
          <p:cNvGraphicFramePr/>
          <p:nvPr/>
        </p:nvGraphicFramePr>
        <p:xfrm>
          <a:off x="411480" y="1298448"/>
          <a:ext cx="3000000" cy="3000000"/>
        </p:xfrm>
        <a:graphic>
          <a:graphicData uri="http://schemas.openxmlformats.org/drawingml/2006/table">
            <a:tbl>
              <a:tblPr>
                <a:noFill/>
                <a:tableStyleId>{DDDF4824-04B3-42F6-B29F-11F9AF92B8DA}</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48" name="Google Shape;1948;p72"/>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49" name="Google Shape;1949;p72"/>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950" name="Google Shape;1950;p72"/>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951" name="Google Shape;1951;p72"/>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52" name="Google Shape;1952;p72"/>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953" name="Google Shape;1953;p72"/>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954" name="Google Shape;1954;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9" name="Shape 1959"/>
        <p:cNvGrpSpPr/>
        <p:nvPr/>
      </p:nvGrpSpPr>
      <p:grpSpPr>
        <a:xfrm>
          <a:off x="0" y="0"/>
          <a:ext cx="0" cy="0"/>
          <a:chOff x="0" y="0"/>
          <a:chExt cx="0" cy="0"/>
        </a:xfrm>
      </p:grpSpPr>
      <p:sp>
        <p:nvSpPr>
          <p:cNvPr id="1960" name="Google Shape;1960;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61" name="Google Shape;1961;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962" name="Google Shape;1962;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963" name="Google Shape;1963;p73"/>
          <p:cNvGraphicFramePr/>
          <p:nvPr/>
        </p:nvGraphicFramePr>
        <p:xfrm>
          <a:off x="411480" y="1298448"/>
          <a:ext cx="3000000" cy="3000000"/>
        </p:xfrm>
        <a:graphic>
          <a:graphicData uri="http://schemas.openxmlformats.org/drawingml/2006/table">
            <a:tbl>
              <a:tblPr>
                <a:noFill/>
                <a:tableStyleId>{DDDF4824-04B3-42F6-B29F-11F9AF92B8DA}</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64" name="Google Shape;1964;p73"/>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5" name="Google Shape;1965;p73"/>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966" name="Google Shape;1966;p73"/>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967" name="Google Shape;1967;p73"/>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8" name="Google Shape;1968;p73"/>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969" name="Google Shape;1969;p73"/>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970" name="Google Shape;1970;p73"/>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1" name="Google Shape;1971;p73"/>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972" name="Google Shape;1972;p73"/>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973" name="Google Shape;197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8" name="Shape 1978"/>
        <p:cNvGrpSpPr/>
        <p:nvPr/>
      </p:nvGrpSpPr>
      <p:grpSpPr>
        <a:xfrm>
          <a:off x="0" y="0"/>
          <a:ext cx="0" cy="0"/>
          <a:chOff x="0" y="0"/>
          <a:chExt cx="0" cy="0"/>
        </a:xfrm>
      </p:grpSpPr>
      <p:sp>
        <p:nvSpPr>
          <p:cNvPr id="1979" name="Google Shape;1979;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80" name="Google Shape;1980;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981" name="Google Shape;1981;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982" name="Google Shape;1982;p74"/>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74"/>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4" name="Google Shape;1984;p74"/>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985" name="Google Shape;1985;p74"/>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986" name="Google Shape;1986;p74"/>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74"/>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8" name="Google Shape;1988;p74"/>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989" name="Google Shape;1989;p74"/>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990" name="Google Shape;1990;p74"/>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74"/>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2" name="Google Shape;1992;p74"/>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993" name="Google Shape;1993;p74"/>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994" name="Google Shape;1994;p74"/>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74"/>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6" name="Google Shape;1996;p74"/>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997" name="Google Shape;1997;p74"/>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998" name="Google Shape;1998;p74"/>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9" name="Google Shape;1999;p74"/>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2000" name="Google Shape;2000;p74"/>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2001" name="Google Shape;2001;p74"/>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2" name="Google Shape;2002;p74"/>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2003" name="Google Shape;2003;p74"/>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2004" name="Google Shape;2004;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9" name="Shape 2009"/>
        <p:cNvGrpSpPr/>
        <p:nvPr/>
      </p:nvGrpSpPr>
      <p:grpSpPr>
        <a:xfrm>
          <a:off x="0" y="0"/>
          <a:ext cx="0" cy="0"/>
          <a:chOff x="0" y="0"/>
          <a:chExt cx="0" cy="0"/>
        </a:xfrm>
      </p:grpSpPr>
      <p:sp>
        <p:nvSpPr>
          <p:cNvPr id="2010" name="Google Shape;2010;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2011" name="Google Shape;2011;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2012" name="Google Shape;2012;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2013" name="Google Shape;2013;p75"/>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75"/>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2015" name="Google Shape;2015;p75"/>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6" name="Google Shape;2016;p75"/>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75"/>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2018" name="Google Shape;2018;p75"/>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19" name="Google Shape;2019;p75"/>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75"/>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2021" name="Google Shape;2021;p75"/>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2022" name="Google Shape;2022;p75"/>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5"/>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2024" name="Google Shape;2024;p75"/>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5" name="Google Shape;2025;p75"/>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2026" name="Google Shape;2026;p75"/>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2027" name="Google Shape;2027;p75"/>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75"/>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2029" name="Google Shape;2029;p75"/>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2030" name="Google Shape;2030;p75"/>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1" name="Google Shape;2031;p75"/>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2032" name="Google Shape;2032;p75"/>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2033" name="Google Shape;2033;p75"/>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34" name="Google Shape;2034;p75"/>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2035" name="Google Shape;2035;p75"/>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2036" name="Google Shape;2036;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1" name="Shape 2041"/>
        <p:cNvGrpSpPr/>
        <p:nvPr/>
      </p:nvGrpSpPr>
      <p:grpSpPr>
        <a:xfrm>
          <a:off x="0" y="0"/>
          <a:ext cx="0" cy="0"/>
          <a:chOff x="0" y="0"/>
          <a:chExt cx="0" cy="0"/>
        </a:xfrm>
      </p:grpSpPr>
      <p:sp>
        <p:nvSpPr>
          <p:cNvPr id="2042" name="Google Shape;2042;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2043" name="Google Shape;2043;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044" name="Google Shape;2044;p7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5" name="Google Shape;2045;p7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6" name="Google Shape;2046;p7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47" name="Google Shape;2047;p7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2048" name="Google Shape;2048;p7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7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2050" name="Google Shape;2050;p7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1" name="Google Shape;2051;p7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53" name="Google Shape;2053;p7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2054" name="Google Shape;2054;p7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2056" name="Google Shape;2056;p7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7" name="Google Shape;2057;p7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7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59" name="Google Shape;2059;p7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2060" name="Google Shape;2060;p7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7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2062" name="Google Shape;2062;p7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3" name="Google Shape;2063;p7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4" name="Google Shape;2064;p7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65" name="Google Shape;2065;p7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2066" name="Google Shape;2066;p7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7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2068" name="Google Shape;2068;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49"/>
                                        </p:tgtEl>
                                        <p:attrNameLst>
                                          <p:attrName>style.visibility</p:attrName>
                                        </p:attrNameLst>
                                      </p:cBhvr>
                                      <p:to>
                                        <p:strVal val="visible"/>
                                      </p:to>
                                    </p:set>
                                    <p:animEffect filter="fade" transition="in">
                                      <p:cBhvr>
                                        <p:cTn dur="600"/>
                                        <p:tgtEl>
                                          <p:spTgt spid="20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5"/>
                                        </p:tgtEl>
                                        <p:attrNameLst>
                                          <p:attrName>style.visibility</p:attrName>
                                        </p:attrNameLst>
                                      </p:cBhvr>
                                      <p:to>
                                        <p:strVal val="visible"/>
                                      </p:to>
                                    </p:set>
                                    <p:animEffect filter="fade" transition="in">
                                      <p:cBhvr>
                                        <p:cTn dur="600"/>
                                        <p:tgtEl>
                                          <p:spTgt spid="20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61"/>
                                        </p:tgtEl>
                                        <p:attrNameLst>
                                          <p:attrName>style.visibility</p:attrName>
                                        </p:attrNameLst>
                                      </p:cBhvr>
                                      <p:to>
                                        <p:strVal val="visible"/>
                                      </p:to>
                                    </p:set>
                                    <p:animEffect filter="fade" transition="in">
                                      <p:cBhvr>
                                        <p:cTn dur="600"/>
                                        <p:tgtEl>
                                          <p:spTgt spid="20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67"/>
                                        </p:tgtEl>
                                        <p:attrNameLst>
                                          <p:attrName>style.visibility</p:attrName>
                                        </p:attrNameLst>
                                      </p:cBhvr>
                                      <p:to>
                                        <p:strVal val="visible"/>
                                      </p:to>
                                    </p:set>
                                    <p:animEffect filter="fade" transition="in">
                                      <p:cBhvr>
                                        <p:cTn dur="600"/>
                                        <p:tgtEl>
                                          <p:spTgt spid="20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3" name="Shape 2073"/>
        <p:cNvGrpSpPr/>
        <p:nvPr/>
      </p:nvGrpSpPr>
      <p:grpSpPr>
        <a:xfrm>
          <a:off x="0" y="0"/>
          <a:ext cx="0" cy="0"/>
          <a:chOff x="0" y="0"/>
          <a:chExt cx="0" cy="0"/>
        </a:xfrm>
      </p:grpSpPr>
      <p:sp>
        <p:nvSpPr>
          <p:cNvPr id="2074" name="Google Shape;2074;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2075" name="Google Shape;2075;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076" name="Google Shape;2076;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077" name="Google Shape;2077;p7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7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79" name="Google Shape;2079;p7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080" name="Google Shape;2080;p7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081" name="Google Shape;2081;p7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082" name="Google Shape;2082;p7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083" name="Google Shape;2083;p7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4" name="Google Shape;2084;p7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5" name="Google Shape;2085;p7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86" name="Google Shape;2086;p7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2087" name="Google Shape;2087;p7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2088" name="Google Shape;2088;p7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9" name="Google Shape;2089;p7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0" name="Google Shape;2090;p7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91" name="Google Shape;2091;p7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092" name="Google Shape;2092;p7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2093" name="Google Shape;2093;p7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4" name="Google Shape;2094;p7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5" name="Google Shape;2095;p7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96" name="Google Shape;2096;p7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097" name="Google Shape;2097;p7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2098" name="Google Shape;2098;p7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99" name="Google Shape;2099;p7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100" name="Google Shape;2100;p7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101" name="Google Shape;2101;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6" name="Shape 2106"/>
        <p:cNvGrpSpPr/>
        <p:nvPr/>
      </p:nvGrpSpPr>
      <p:grpSpPr>
        <a:xfrm>
          <a:off x="0" y="0"/>
          <a:ext cx="0" cy="0"/>
          <a:chOff x="0" y="0"/>
          <a:chExt cx="0" cy="0"/>
        </a:xfrm>
      </p:grpSpPr>
      <p:sp>
        <p:nvSpPr>
          <p:cNvPr id="2107" name="Google Shape;2107;p7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108" name="Google Shape;2108;p7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109" name="Google Shape;2109;p7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110" name="Google Shape;2110;p7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111" name="Google Shape;2111;p7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2" name="Google Shape;2112;p7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113" name="Google Shape;2113;p7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114" name="Google Shape;2114;p7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5" name="Google Shape;2115;p7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116" name="Google Shape;2116;p7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117" name="Google Shape;2117;p7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8" name="Google Shape;2118;p7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119" name="Google Shape;2119;p7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120" name="Google Shape;2120;p7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1" name="Google Shape;2121;p7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122" name="Google Shape;2122;p7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123" name="Google Shape;2123;p7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4" name="Google Shape;2124;p7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125" name="Google Shape;2125;p7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126" name="Google Shape;2126;p7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7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8" name="Google Shape;2128;p7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9" name="Google Shape;2129;p7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0" name="Google Shape;2130;p7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1" name="Google Shape;2131;p7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7" name="Shape 2137"/>
        <p:cNvGrpSpPr/>
        <p:nvPr/>
      </p:nvGrpSpPr>
      <p:grpSpPr>
        <a:xfrm>
          <a:off x="0" y="0"/>
          <a:ext cx="0" cy="0"/>
          <a:chOff x="0" y="0"/>
          <a:chExt cx="0" cy="0"/>
        </a:xfrm>
      </p:grpSpPr>
      <p:sp>
        <p:nvSpPr>
          <p:cNvPr id="2138" name="Google Shape;2138;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39" name="Google Shape;2139;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140" name="Google Shape;2140;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141" name="Google Shape;2141;p79"/>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2" name="Google Shape;2142;p79"/>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143" name="Google Shape;2143;p79"/>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144" name="Google Shape;2144;p79"/>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79"/>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146" name="Google Shape;2146;p79"/>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147" name="Google Shape;2147;p79"/>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8" name="Google Shape;2148;p79"/>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149" name="Google Shape;2149;p79"/>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150" name="Google Shape;2150;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5" name="Shape 2155"/>
        <p:cNvGrpSpPr/>
        <p:nvPr/>
      </p:nvGrpSpPr>
      <p:grpSpPr>
        <a:xfrm>
          <a:off x="0" y="0"/>
          <a:ext cx="0" cy="0"/>
          <a:chOff x="0" y="0"/>
          <a:chExt cx="0" cy="0"/>
        </a:xfrm>
      </p:grpSpPr>
      <p:sp>
        <p:nvSpPr>
          <p:cNvPr id="2156" name="Google Shape;2156;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7" name="Google Shape;2157;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158" name="Google Shape;2158;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159" name="Google Shape;2159;p80"/>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0" name="Google Shape;2160;p8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161" name="Google Shape;2161;p80"/>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162" name="Google Shape;2162;p80"/>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3" name="Google Shape;2163;p8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164" name="Google Shape;2164;p80"/>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165" name="Google Shape;2165;p80"/>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80"/>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167" name="Google Shape;2167;p80"/>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8" name="Google Shape;2168;p80"/>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169" name="Google Shape;2169;p80"/>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0" name="Google Shape;2170;p80"/>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171" name="Google Shape;2171;p80"/>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172" name="Google Shape;2172;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7" name="Shape 2177"/>
        <p:cNvGrpSpPr/>
        <p:nvPr/>
      </p:nvGrpSpPr>
      <p:grpSpPr>
        <a:xfrm>
          <a:off x="0" y="0"/>
          <a:ext cx="0" cy="0"/>
          <a:chOff x="0" y="0"/>
          <a:chExt cx="0" cy="0"/>
        </a:xfrm>
      </p:grpSpPr>
      <p:sp>
        <p:nvSpPr>
          <p:cNvPr id="2178" name="Google Shape;2178;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9" name="Google Shape;2179;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180" name="Google Shape;2180;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181" name="Google Shape;2181;p81"/>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2" name="Google Shape;2182;p81"/>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1"/>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184" name="Google Shape;2184;p81"/>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5" name="Google Shape;2185;p81"/>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6" name="Google Shape;2186;p81"/>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187" name="Google Shape;2187;p81"/>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81"/>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189" name="Google Shape;2189;p81"/>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190" name="Google Shape;2190;p81"/>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1"/>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192" name="Google Shape;2192;p81"/>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193" name="Google Shape;2193;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8" name="Shape 2198"/>
        <p:cNvGrpSpPr/>
        <p:nvPr/>
      </p:nvGrpSpPr>
      <p:grpSpPr>
        <a:xfrm>
          <a:off x="0" y="0"/>
          <a:ext cx="0" cy="0"/>
          <a:chOff x="0" y="0"/>
          <a:chExt cx="0" cy="0"/>
        </a:xfrm>
      </p:grpSpPr>
      <p:sp>
        <p:nvSpPr>
          <p:cNvPr id="2199" name="Google Shape;2199;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00" name="Google Shape;2200;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201" name="Google Shape;2201;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202" name="Google Shape;2202;p82"/>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3" name="Google Shape;2203;p82"/>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4" name="Google Shape;2204;p82"/>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05" name="Google Shape;2205;p82"/>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206" name="Google Shape;2206;p82"/>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7" name="Google Shape;2207;p82"/>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8" name="Google Shape;2208;p82"/>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09" name="Google Shape;2209;p82"/>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210" name="Google Shape;2210;p82"/>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1" name="Google Shape;2211;p82"/>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2" name="Google Shape;2212;p82"/>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13" name="Google Shape;2213;p82"/>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214" name="Google Shape;2214;p82"/>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5" name="Google Shape;2215;p82"/>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17" name="Google Shape;2217;p82"/>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218" name="Google Shape;2218;p82"/>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9" name="Google Shape;2219;p82"/>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0" name="Google Shape;2220;p82"/>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221" name="Google Shape;2221;p82"/>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222" name="Google Shape;2222;p82"/>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3" name="Google Shape;2223;p82"/>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4" name="Google Shape;2224;p82"/>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225" name="Google Shape;2225;p82"/>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226" name="Google Shape;2226;p82"/>
          <p:cNvGraphicFramePr/>
          <p:nvPr/>
        </p:nvGraphicFramePr>
        <p:xfrm>
          <a:off x="4846320" y="1298448"/>
          <a:ext cx="3000000" cy="3000000"/>
        </p:xfrm>
        <a:graphic>
          <a:graphicData uri="http://schemas.openxmlformats.org/drawingml/2006/table">
            <a:tbl>
              <a:tblPr>
                <a:noFill/>
                <a:tableStyleId>{DDDF4824-04B3-42F6-B29F-11F9AF92B8DA}</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227" name="Google Shape;2227;p82"/>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8" name="Google Shape;2228;p82"/>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229" name="Google Shape;2229;p82"/>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230" name="Google Shape;2230;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5" name="Shape 2235"/>
        <p:cNvGrpSpPr/>
        <p:nvPr/>
      </p:nvGrpSpPr>
      <p:grpSpPr>
        <a:xfrm>
          <a:off x="0" y="0"/>
          <a:ext cx="0" cy="0"/>
          <a:chOff x="0" y="0"/>
          <a:chExt cx="0" cy="0"/>
        </a:xfrm>
      </p:grpSpPr>
      <p:sp>
        <p:nvSpPr>
          <p:cNvPr id="2236" name="Google Shape;2236;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37" name="Google Shape;2237;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238" name="Google Shape;2238;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239" name="Google Shape;2239;p83"/>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0" name="Google Shape;2240;p8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1" name="Google Shape;2241;p8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42" name="Google Shape;2242;p8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243" name="Google Shape;2243;p83"/>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244" name="Google Shape;2244;p83"/>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5" name="Google Shape;2245;p8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6" name="Google Shape;2246;p8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47" name="Google Shape;2247;p8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248" name="Google Shape;2248;p83"/>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249" name="Google Shape;2249;p83"/>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8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51" name="Google Shape;2251;p8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252" name="Google Shape;2252;p8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253" name="Google Shape;2253;p83"/>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254" name="Google Shape;2254;p83"/>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55" name="Google Shape;2255;p83"/>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256" name="Google Shape;2256;p83"/>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257" name="Google Shape;2257;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2" name="Shape 2262"/>
        <p:cNvGrpSpPr/>
        <p:nvPr/>
      </p:nvGrpSpPr>
      <p:grpSpPr>
        <a:xfrm>
          <a:off x="0" y="0"/>
          <a:ext cx="0" cy="0"/>
          <a:chOff x="0" y="0"/>
          <a:chExt cx="0" cy="0"/>
        </a:xfrm>
      </p:grpSpPr>
      <p:sp>
        <p:nvSpPr>
          <p:cNvPr id="2263" name="Google Shape;2263;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64" name="Google Shape;2264;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265" name="Google Shape;2265;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266" name="Google Shape;2266;p84"/>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7" name="Google Shape;2267;p84"/>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268" name="Google Shape;2268;p84"/>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269" name="Google Shape;2269;p84"/>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0" name="Google Shape;2270;p84"/>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271" name="Google Shape;2271;p84"/>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272" name="Google Shape;2272;p84"/>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3" name="Google Shape;2273;p84"/>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274" name="Google Shape;2274;p84"/>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275" name="Google Shape;2275;p84"/>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76" name="Google Shape;2276;p84"/>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277" name="Google Shape;2277;p84"/>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278" name="Google Shape;2278;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3" name="Shape 2283"/>
        <p:cNvGrpSpPr/>
        <p:nvPr/>
      </p:nvGrpSpPr>
      <p:grpSpPr>
        <a:xfrm>
          <a:off x="0" y="0"/>
          <a:ext cx="0" cy="0"/>
          <a:chOff x="0" y="0"/>
          <a:chExt cx="0" cy="0"/>
        </a:xfrm>
      </p:grpSpPr>
      <p:sp>
        <p:nvSpPr>
          <p:cNvPr id="2284" name="Google Shape;2284;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285" name="Google Shape;2285;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286" name="Google Shape;2286;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287" name="Google Shape;2287;p85"/>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8" name="Google Shape;2288;p8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289" name="Google Shape;2289;p85"/>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290" name="Google Shape;2290;p85"/>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85"/>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292" name="Google Shape;2292;p85"/>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293" name="Google Shape;2293;p85"/>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294" name="Google Shape;2294;p85"/>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5" name="Google Shape;2295;p85"/>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296" name="Google Shape;2296;p85"/>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297" name="Google Shape;2297;p85"/>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8" name="Google Shape;2298;p85"/>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299" name="Google Shape;2299;p85"/>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300" name="Google Shape;2300;p85"/>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1" name="Google Shape;2301;p85"/>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302" name="Google Shape;2302;p85"/>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3" name="Google Shape;2303;p85"/>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304" name="Google Shape;2304;p85"/>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305" name="Google Shape;2305;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0" name="Shape 2310"/>
        <p:cNvGrpSpPr/>
        <p:nvPr/>
      </p:nvGrpSpPr>
      <p:grpSpPr>
        <a:xfrm>
          <a:off x="0" y="0"/>
          <a:ext cx="0" cy="0"/>
          <a:chOff x="0" y="0"/>
          <a:chExt cx="0" cy="0"/>
        </a:xfrm>
      </p:grpSpPr>
      <p:sp>
        <p:nvSpPr>
          <p:cNvPr id="2311" name="Google Shape;2311;p8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312" name="Google Shape;2312;p8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313" name="Google Shape;2313;p8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4" name="Google Shape;2314;p8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5" name="Google Shape;2315;p8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316" name="Google Shape;2316;p8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317" name="Google Shape;2317;p8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8" name="Google Shape;2318;p8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319" name="Google Shape;2319;p8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0" name="Google Shape;2320;p8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1" name="Google Shape;2321;p8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322" name="Google Shape;2322;p8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323" name="Google Shape;2323;p8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4" name="Google Shape;2324;p8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325" name="Google Shape;2325;p8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6" name="Google Shape;2326;p8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7" name="Google Shape;2327;p8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328" name="Google Shape;2328;p8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329" name="Google Shape;2329;p8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0" name="Google Shape;2330;p8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331" name="Google Shape;2331;p8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2" name="Google Shape;2332;p8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3" name="Google Shape;2333;p8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334" name="Google Shape;2334;p8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335" name="Google Shape;2335;p8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6" name="Google Shape;2336;p8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337" name="Google Shape;2337;p8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8"/>
                                        </p:tgtEl>
                                        <p:attrNameLst>
                                          <p:attrName>style.visibility</p:attrName>
                                        </p:attrNameLst>
                                      </p:cBhvr>
                                      <p:to>
                                        <p:strVal val="visible"/>
                                      </p:to>
                                    </p:set>
                                    <p:animEffect filter="fade" transition="in">
                                      <p:cBhvr>
                                        <p:cTn dur="600"/>
                                        <p:tgtEl>
                                          <p:spTgt spid="23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24"/>
                                        </p:tgtEl>
                                        <p:attrNameLst>
                                          <p:attrName>style.visibility</p:attrName>
                                        </p:attrNameLst>
                                      </p:cBhvr>
                                      <p:to>
                                        <p:strVal val="visible"/>
                                      </p:to>
                                    </p:set>
                                    <p:animEffect filter="fade" transition="in">
                                      <p:cBhvr>
                                        <p:cTn dur="600"/>
                                        <p:tgtEl>
                                          <p:spTgt spid="23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30"/>
                                        </p:tgtEl>
                                        <p:attrNameLst>
                                          <p:attrName>style.visibility</p:attrName>
                                        </p:attrNameLst>
                                      </p:cBhvr>
                                      <p:to>
                                        <p:strVal val="visible"/>
                                      </p:to>
                                    </p:set>
                                    <p:animEffect filter="fade" transition="in">
                                      <p:cBhvr>
                                        <p:cTn dur="600"/>
                                        <p:tgtEl>
                                          <p:spTgt spid="233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36"/>
                                        </p:tgtEl>
                                        <p:attrNameLst>
                                          <p:attrName>style.visibility</p:attrName>
                                        </p:attrNameLst>
                                      </p:cBhvr>
                                      <p:to>
                                        <p:strVal val="visible"/>
                                      </p:to>
                                    </p:set>
                                    <p:animEffect filter="fade" transition="in">
                                      <p:cBhvr>
                                        <p:cTn dur="600"/>
                                        <p:tgtEl>
                                          <p:spTgt spid="233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2" name="Shape 2342"/>
        <p:cNvGrpSpPr/>
        <p:nvPr/>
      </p:nvGrpSpPr>
      <p:grpSpPr>
        <a:xfrm>
          <a:off x="0" y="0"/>
          <a:ext cx="0" cy="0"/>
          <a:chOff x="0" y="0"/>
          <a:chExt cx="0" cy="0"/>
        </a:xfrm>
      </p:grpSpPr>
      <p:sp>
        <p:nvSpPr>
          <p:cNvPr id="2343" name="Google Shape;2343;p8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344" name="Google Shape;2344;p8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345" name="Google Shape;2345;p8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346" name="Google Shape;2346;p8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7" name="Google Shape;2347;p8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48" name="Google Shape;2348;p8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349" name="Google Shape;2349;p8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350" name="Google Shape;2350;p8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351" name="Google Shape;2351;p8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352" name="Google Shape;2352;p8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3" name="Google Shape;2353;p8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4" name="Google Shape;2354;p8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355" name="Google Shape;2355;p8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356" name="Google Shape;2356;p8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357" name="Google Shape;2357;p8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8" name="Google Shape;2358;p8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9" name="Google Shape;2359;p8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360" name="Google Shape;2360;p8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361" name="Google Shape;2361;p8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362" name="Google Shape;2362;p8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3" name="Google Shape;2363;p8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4" name="Google Shape;2364;p8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365" name="Google Shape;2365;p8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366" name="Google Shape;2366;p8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367" name="Google Shape;2367;p8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68" name="Google Shape;2368;p8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369" name="Google Shape;2369;p8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370" name="Google Shape;2370;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5" name="Shape 2375"/>
        <p:cNvGrpSpPr/>
        <p:nvPr/>
      </p:nvGrpSpPr>
      <p:grpSpPr>
        <a:xfrm>
          <a:off x="0" y="0"/>
          <a:ext cx="0" cy="0"/>
          <a:chOff x="0" y="0"/>
          <a:chExt cx="0" cy="0"/>
        </a:xfrm>
      </p:grpSpPr>
      <p:sp>
        <p:nvSpPr>
          <p:cNvPr id="2376" name="Google Shape;2376;p88"/>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377" name="Google Shape;2377;p88"/>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378" name="Google Shape;2378;p88"/>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379" name="Google Shape;2379;p8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0" name="Google Shape;2380;p8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381" name="Google Shape;2381;p88"/>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382" name="Google Shape;2382;p8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3" name="Google Shape;2383;p8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4" name="Google Shape;2384;p8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5" name="Google Shape;2385;p8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6" name="Google Shape;2386;p8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7" name="Google Shape;2387;p8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8" name="Google Shape;2388;p8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