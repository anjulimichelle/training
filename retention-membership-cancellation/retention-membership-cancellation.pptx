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Lst>
  <p:sldSz cy="5143500" cx="9144000"/>
  <p:notesSz cx="5143500" cy="9144000"/>
  <p:embeddedFontLst>
    <p:embeddedFont>
      <p:font typeface="Play"/>
      <p:regular r:id="rId87"/>
      <p:bold r:id="rId8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EFC85C5-4764-4BF5-A5AE-CCAC02DEFFEE}">
  <a:tblStyle styleId="{8EFC85C5-4764-4BF5-A5AE-CCAC02DEFFEE}"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slide" Target="slides/slide79.xml"/><Relationship Id="rId83" Type="http://schemas.openxmlformats.org/officeDocument/2006/relationships/slide" Target="slides/slide78.xml"/><Relationship Id="rId42" Type="http://schemas.openxmlformats.org/officeDocument/2006/relationships/slide" Target="slides/slide37.xml"/><Relationship Id="rId86" Type="http://schemas.openxmlformats.org/officeDocument/2006/relationships/slide" Target="slides/slide81.xml"/><Relationship Id="rId41" Type="http://schemas.openxmlformats.org/officeDocument/2006/relationships/slide" Target="slides/slide36.xml"/><Relationship Id="rId85" Type="http://schemas.openxmlformats.org/officeDocument/2006/relationships/slide" Target="slides/slide80.xml"/><Relationship Id="rId44" Type="http://schemas.openxmlformats.org/officeDocument/2006/relationships/slide" Target="slides/slide39.xml"/><Relationship Id="rId88" Type="http://schemas.openxmlformats.org/officeDocument/2006/relationships/font" Target="fonts/Play-bold.fntdata"/><Relationship Id="rId43" Type="http://schemas.openxmlformats.org/officeDocument/2006/relationships/slide" Target="slides/slide38.xml"/><Relationship Id="rId87" Type="http://schemas.openxmlformats.org/officeDocument/2006/relationships/font" Target="fonts/Play-regular.fntdata"/><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pc="0" sz="1200" u="none" cap="none" strike="noStrike">
                <a:solidFill>
                  <a:schemeClr val="dk1"/>
                </a:solidFill>
                <a:latin typeface="Calibri"/>
                <a:ea typeface="Calibri"/>
                <a:cs typeface="Calibri"/>
                <a:sym typeface="Calibri"/>
              </a:rPr>
              <a:t>‹#›</a:t>
            </a:fld>
            <a:endParaRPr b="0" i="0" spc="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Welcome. This module covers four Knowledge Library articles from the Retention and Membership Cancellation category: Washington State: Temporary FC Cancellation Handling; Understanding Offer Logic: When and How Should I Make an Offer?; Cancellation Intent Surfaced in C/CP Comms or Reported by CP; the General Retention Playbook; Unused DHJ Voucher; FCF Pre-Invoice Cancellation and Refund Requests; and Trial Cleaning / One-Time Cleaning Conversion. The thread through all four: understand why the customer wants to leave, match what you do to that reason, and know the cases where retention is off the table.</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Topic 1 is a state-specific override: Washington customers cancel with no ETF, no MCT and no retention. Topic 2 explains what each offer is built to do, so you can pick the right one. Topic 3 covers opening the conversation when you spot cancellation intent in C/CP messages. Topic 4 is the foundation for every retention conversation: the five key factors, matching the offer to the root cause, and when retention is not the right call. Topic 5 covers customers with an unused DHJ voucher. Topic 6 covers FCF customers cancelling before their first completed job, and which refund applies. Topic 7 covers Trial Cleaning and One-Time Cleaning as alternatives to a full membership. In slideshow mode, click any topic to jump straight to it.</a:t>
            </a:r>
            <a:endParaRPr/>
          </a:p>
        </p:txBody>
      </p:sp>
      <p:sp>
        <p:nvSpPr>
          <p:cNvPr id="37" name="Google Shape;3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Washington State: Temporary FC Cancellation Handling. Category: Retention and Membership Cancellation. This article covers a temporary, state-specific override of standard ETF/MCT handling for customers based in Washington State. For these customers specifically, the usual retention, ETF and MCT playbooks don't apply the way they normally would.</a:t>
            </a:r>
            <a:endParaRPr/>
          </a:p>
        </p:txBody>
      </p:sp>
      <p:sp>
        <p:nvSpPr>
          <p:cNvPr id="67" name="Google Shape;6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Effective May 11, 2026, Engineering set ETF to $0 and MCT to 0 months for all Washington customers: existing and new, any membership type. IMPORTANT: confirm the customer actually resides in Washington before applying any of this. This guidance does not apply just because a customer mentions the Homeaglow vs. Washington lawsuit; only their actual residence matters. A non-WA customer who references the lawsuit, with no material legal threat, is handled as BAU.</a:t>
            </a:r>
            <a:endParaRPr/>
          </a:p>
        </p:txBody>
      </p:sp>
      <p:sp>
        <p:nvSpPr>
          <p:cNvPr id="98" name="Google Shape;9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Washington customers are in this bucket because of a legal/regulatory situation (the Consent Decree and WA Attorney General involvement), not because their circumstances are more sympathetic than anyone else's. 1) The system already fixed the fee: ETF is $0 and MCT is 0 months at the account level. You're not deciding whether they deserve a waiver; it already happened automatically. Your job is to confirm it and act on it. 2) That's why you don't mention the ETF at all: there's nothing to explain or waive, so bringing it up only invites a conversation about something that no longer applies. Silence here isn't withholding information. 3) That's also why retention is off the table: the customer's path to cancel needs to be as friction-free as possible.</a:t>
            </a:r>
            <a:endParaRPr/>
          </a:p>
        </p:txBody>
      </p:sp>
      <p:sp>
        <p:nvSpPr>
          <p:cNvPr id="122" name="Google Shape;12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Step 1, confirm WA residency and account state. Agent Do: verify in the account that MCT = 0 months and ETF = $0. If both are set correctly, go to Step 2. If either isn't set to $0 / 0 months, don't try to fix it yourself: escalate to TL/Support first so they can raise it to get fixed. Step 2, cancellation request handling: 1) Do not attempt retention. 2) Acknowledge the request and confirm the customer's intent to cancel. 3) Once the account state is confirmed, cancel the FC membership immediately. 4) In your response: confirm the membership is cancelled; do not reference ETF in any way; include a soft re-engagement note in general terms only. Only get into specific alternative plans or pricing if the customer follows up later and shows interest; don't lead with options. If an ETF was accidentally charged anyway (it shouldn't be, given the $0 setting): refund it immediately, no need to wait for the customer to ask.</a:t>
            </a:r>
            <a:endParaRPr/>
          </a:p>
        </p:txBody>
      </p:sp>
      <p:sp>
        <p:nvSpPr>
          <p:cNvPr id="151" name="Google Shape;15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Step 3, Monthly Fee refund requests. This cuts against the instinct to be generous just because you're already waiving other things. Default: do not refund MF requests from WA customers. 1) Cancel FC proactively. 2) Tell the customer their membership is cancelled, but the MF isn't refundable, unless another policy would separately make them eligible (e.g. a standard refund window that would have applied regardless of WA status). Exception, WA AG notification refund requests: some WA customers cite a notice from the WA Attorney General and ask for MF refunds on that basis. Do not refund under the Consent Decree alone; handle as BAU, unless one of these is true: we failed to cancel them before their most recent MF charge (they asked to cancel and we were too slow), or we made cancellation harder than it should have been (pushed retention offers, slow responses). Suggested comms are on the slide.</a:t>
            </a:r>
            <a:endParaRPr/>
          </a:p>
        </p:txBody>
      </p:sp>
      <p:sp>
        <p:nvSpPr>
          <p:cNvPr id="190" name="Google Shape;19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Step 4, customers with unused DHJ vouchers (Legacy DHJ: the membership hasn't started yet) asking for the voucher to be refunded: proactively refund and invalidate the unused DHJ voucher and deactivate the FC table. No retention attempt needed. Step 5, the customer told the CP, not us: if a customer mentioned wanting to cancel to their CP but FC is still active in our system, reach out proactively. Let them know their CP flagged that they may want to cancel, and send the self-cancellation link, without mentioning ETF. Offer either option: they self-cancel, or you cancel it for them.</a:t>
            </a:r>
            <a:endParaRPr/>
          </a:p>
        </p:txBody>
      </p:sp>
      <p:sp>
        <p:nvSpPr>
          <p:cNvPr id="208" name="Google Shape;20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Common edge cases. Customer self-cancels and is charged an ETF: refund it; this shouldn't happen since ETF is set to $0 for self-cancels. Customer was charged ETF before the May 11, 2026 go-live: do not refund; it predates the change. Customer charged ETF after go-live but didn't explicitly ask for a refund: refund proactively anyway, don't wait to be asked. Non-WA customer references the WA lawsuit, with no material legal threat: handle as BAU; this guidance is residency-specific, not topic-specific. Related article: Zero Tolerance Policy &gt; Mishandling Cancellation Requests for Washington State Customers.</a:t>
            </a:r>
            <a:endParaRPr/>
          </a:p>
        </p:txBody>
      </p:sp>
      <p:sp>
        <p:nvSpPr>
          <p:cNvPr id="230" name="Google Shape;23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Ask each question and let trainees answer before revealing. Each click reveals the next answer.</a:t>
            </a:r>
            <a:endParaRPr/>
          </a:p>
        </p:txBody>
      </p:sp>
      <p:sp>
        <p:nvSpPr>
          <p:cNvPr id="240" name="Google Shape;24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TRAINER: share a live ticket from a Washington customer. Give trainees a few minutes to review it on their own, then work through it together. 1) Does the WA process apply? Confirm the customer resides in WA (not just that they mention the lawsuit) and check MCT = 0 and ETF = $0; if not set, escalate to TL/Support. 2) What actions are you going to take? Cancel FC immediately with no retention; never reference the ETF; refund any ETF charged after go-live; MF refunds: default no, unless we were too slow to cancel or made cancelling harder. 3) 5-minute writing challenge: each trainee writes the comms, including the soft re-engagement note and no ETF mention. Read a few aloud and compare. Then open the floor for questions.</a:t>
            </a:r>
            <a:endParaRPr/>
          </a:p>
        </p:txBody>
      </p:sp>
      <p:sp>
        <p:nvSpPr>
          <p:cNvPr id="272" name="Google Shape;27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Understanding Offer Logic: When and How Should I Make an Offer? Category: Retention and Membership Cancellation. One of the biggest misconceptions about offers is that you need cancellation intent before you can make one. You don't. This guide isn't about when you're allowed to offer; it's about what each offer is built to accomplish. Once you know that, deciding whether to use it takes care of itself.</a:t>
            </a:r>
            <a:endParaRPr/>
          </a:p>
        </p:txBody>
      </p:sp>
      <p:sp>
        <p:nvSpPr>
          <p:cNvPr id="305" name="Google Shape;30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If the situation calls for it (a service issue, a cost concern, anything an offer is meant to fix), make it in your first response. Waiting for "I want to cancel" doesn't protect the company; it just delays solving a problem you could have fixed right away. The easiest customers to retain are usually the ones who haven't decided to leave yet. But don't swing too far the other way: "no cancellation intent needed" does not mean "offer something whenever a customer seems unhappy". Every offer exists to do a specific job. If an offer isn't doing one of these jobs, it probably doesn't need to happen. If you're ever unsure, don't ask "Am I allowed to use this?" Ask "Is this the problem this offer was designed to solve?"</a:t>
            </a:r>
            <a:endParaRPr/>
          </a:p>
        </p:txBody>
      </p:sp>
      <p:sp>
        <p:nvSpPr>
          <p:cNvPr id="336" name="Google Shape;33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Retention Offers: used when the goal is to keep the customer as an active member; they remove whatever is in the way of staying. Exit Offers: used when the customer is leaving and isn't (or shouldn't be) retained; they make the exit fair and low-cost, not keep them enrolled. Make-Right Offers: used when Homeaglow or the system caused a charge or error that shouldn't have happened, whether the customer stays or leaves; they correct our own mistakes. Vouchers and credits stay Retention Offers even in a cancellation-intent conversation (the PCQ Retention Framework pairs a voucher with a customer who already said they want to cancel). The line isn't "did the customer ask to cancel", it's "have I assessed this customer as unretainable". Make-Right example: a customer cancels FC, but their RC stays active due to a system behaviour, a job still runs and charges a Lockout fee. Refunding that LO isn't retention or exit; it's making up for a mistake our system caused. Make-Right doesn't introduce new tools: see the individual charge/refund pages (LMC, Lockout, Priority Fee, etc.).</a:t>
            </a:r>
            <a:endParaRPr/>
          </a:p>
        </p:txBody>
      </p:sp>
      <p:sp>
        <p:nvSpPr>
          <p:cNvPr id="367" name="Google Shape;36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Quick test: 1) Is there a genuine account error or system-caused charge here? Then it's Make-Right, regardless of retention or exit status. 2) If not: have I already determined this customer isn't retainable? No: Retention. Yes: Exit. Then three questions. 1) What problem is the customer actually trying to solve? This is where most offer decisions go wrong: focus on why they're asking, not what they're asking for. A poor cleaning? The membership too expensive? Stuck in the commitment? About to be charged at a bad time? Simply done? 2) Does an offer solve that problem? Not every conversation needs one: sometimes the customer just wants information, an explanation, or the issue is already resolved. 3) Has this problem already been addressed? An existing offer doesn't automatically stop you issuing another. If it already addresses the current concern, use it; if not, upgrade it or pick a different offer. The number of offers isn't what matters.</a:t>
            </a:r>
            <a:endParaRPr/>
          </a:p>
        </p:txBody>
      </p:sp>
      <p:sp>
        <p:nvSpPr>
          <p:cNvPr id="388" name="Google Shape;38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Calibri"/>
                <a:ea typeface="Calibri"/>
                <a:cs typeface="Calibri"/>
                <a:sym typeface="Calibri"/>
              </a:rPr>
              <a:t>What they're for: getting the customer to book again, and/or making up for a service issue that's still sitting with them emotionally. When it doesn't make sense: if the customer is already willing to book again and seems genuinely fine with how the issue was handled, both jobs are done. But don't confuse "willing to book" with "the issue is resolved": a customer can be ready to book and still be annoyed about the last one; then still offer it, because their trust is what needs repair. If the customer's history suggests they may be abusing the compensation process, don't issue another voucher or credit right away; review the current complaint and confirm it qualifies first. Existing offer? Check whether they already have an unused one. Less than what's appropriate: top it up (a $5 credit when the situation qualifies for a 1-hour voucher: upgrade it, don't add another). Already meets or exceeds: use that instead. Already used: you may issue new compensation if the situation qualifies (unless there are abuse concerns). TRAINER: in slideshow mode, click "Watch: Issuing credits" or "Watch: Issuing a voucher" to play that how-to video.</a:t>
            </a:r>
            <a:endParaRPr/>
          </a:p>
        </p:txBody>
      </p:sp>
      <p:sp>
        <p:nvSpPr>
          <p:cNvPr id="433" name="Google Shape;43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What it's for: the membership fee feeling too costly for the customer's situation, not the cost of any individual cleaning. "The membership isn't worth it" / "I can't afford this right now": MF reduction is your default. "My cleaner's rate is too high": that's a per-cleaning cost problem; see Setting Max CP Rate instead. MF reduction only comes back as a small concession if the customer wants to keep their current, higher-rate CP. Why the gap matters: a $40/hr CP vs a wanted $25/hr is $45 on a 3-hour job; a $15 MF reduction doesn't come close. Don't shorten the cleaning duration to cut the cost: that trades their cost complaint for a quality complaint, unless the duration was genuinely excessive. Amounts: 1 to 5 months paid, $10–$15 is common; rare cases up to 50% (usually needs Support approval at 1–4 months). Existing offer? Always calculate from the original $59 fee, never the current discounted fee. If the new reduction is greater, replace the old one (on $49 with a $10 reduction, now qualifies for $15: $59 − $15 = $44, not $34). If the existing one is equal or greater, leave it.</a:t>
            </a:r>
            <a:endParaRPr/>
          </a:p>
        </p:txBody>
      </p:sp>
      <p:sp>
        <p:nvSpPr>
          <p:cNvPr id="464" name="Google Shape;46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9" name="Google Shape;48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Job 1, retention: use it when the concern is the length of the commitment itself ("six months is too long"), not the monthly fee. Size the offer to the objection, not the tone: general or vague concern, start with 1 month; a specific, concrete reason 1 month clearly won't resolve, go straight to 2 months. Decide upfront from what they said, not by offering 1 and upgrading if they push back. Job 2, exit: once the customer isn't retainable, 2 months is on the table if they're incredibly escalated or it's just the more sensible, lower-risk, amicable way to close; use judgment and flag to your TL if unsure. By months paid: 1–3 months, 1–2 months off; 4 months, 1 month off by default (ETF still applies), full 2 months only if incredibly escalated; 5 months, 1 month off, effectively waiving the ETF. Heads up: the reduction can't take anyone past 6 total months. 4 paid months + 1 off = 5, still 1 short; 5 paid + 1 off completes MCT and waives the ETF. Existing offer? Always calculate from the original 6-month MCT; if an existing reduction is equal or greater, leave it. Applies to both jobs.</a:t>
            </a:r>
            <a:endParaRPr/>
          </a:p>
        </p:txBody>
      </p:sp>
      <p:sp>
        <p:nvSpPr>
          <p:cNvPr id="490" name="Google Shape;49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Job 1, giving back time they already paid for: inactivity, forgetting about FC, a dormant membership, or a customer who moved and needs time before booking. Eligibility: any unused MF still within the 120-day disputable window qualifies; it doesn't need to be recent or in a row. Unused MFs older than 120 days: don't issue directly; send to Support for a second opinion and approval. Check by month, not by customer: Jan–Mar unused, 3 free months given, next MF pushed to Jul; if Jul–Sep then go unused, you can give up to 3 more for those. There's no lifetime cap unless you see a pattern that looks like abuse; flag it to Support. Job 2, protecting the customer from a charge about to hit at a bad time: Legacy DHJ, wants to cancel and 3 weeks or less into the current MF cycle, give a free month. FCF, wants to cancel because of a service issue AND the next MF is within 2 weeks: both must be true. Either model, wants to cancel and the next MF is ~5 days away: give a free month (or 1–3 weeks) right away. Either model, wants to cancel and the MF is overdue: bring it current. Doesn't want to cancel but has 2+ overdue MFs (or will within 7 days): bring the MF current. Give it now, don't offer and wait, and explain it clearly in writing.</a:t>
            </a:r>
            <a:endParaRPr/>
          </a:p>
        </p:txBody>
      </p:sp>
      <p:sp>
        <p:nvSpPr>
          <p:cNvPr id="509" name="Google Shape;50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Caps: standard (most cases) 3 months, the default ceiling. Pausing: 6 months; anything beyond 6 requires Support approval. Bulk charges (Job 2, overdue-MF scenario): as many as the bulk charges require. Free months and weeks only work while FC is active; once FC is cancelled there's nothing to add them to. Guardrail when a customer asks to pause again right after a previous pause: fewer than 2 MFs charged and paid since the last pause ended, Support approval needed no matter how long they ask for. You can give the pause normally, within the caps, only if all three are true: at least 2 MFs charged and paid since the last pause ended; the customer has actually used the service (booked or completed cleanings) since then; and they're not also asking for a refund right now. If any one isn't true, Support approval: it may be abuse. Why: pausing then immediately pausing again with no MF in between looks like avoiding the MF and the ETF. Payment alone doesn't prove it's genuine.</a:t>
            </a:r>
            <a:endParaRPr/>
          </a:p>
        </p:txBody>
      </p:sp>
      <p:sp>
        <p:nvSpPr>
          <p:cNvPr id="525" name="Google Shape;52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Calibri"/>
                <a:ea typeface="Calibri"/>
                <a:cs typeface="Calibri"/>
                <a:sym typeface="Calibri"/>
              </a:rPr>
              <a:t>Guardrail: when a customer asks to pause again. This applies when a customer asks for a new pause right after a previous pause. Fewer than 2 MFs have been charged and paid since the last pause ended: needs Support approval before you give another pause, no matter how long they are asking for. All three are true (at least 2 MFs charged and paid since the last pause ended; the customer has actually been using the service, booked or completed cleanings, since then; and the customer is not also asking for a refund right now): you can give the pause normally, within the caps (pausing is capped at 6 months; more needs Support approval). Any one of those three is not true: needs Support approval; this could be a sign of abuse rather than a real need for a pause. Why this matters: if a customer pauses, then immediately pauses again with no MF ever charged in between, it looks more like they are trying to avoid paying the MF (and the ETF that comes with cancelling) than genuinely needing a break. Payment alone does not prove it is genuine either: someone could pay without using the service, or ask to pause right when they are also asking for a refund. Checking for payment + actual usage + no refund request together closes those gaps.</a:t>
            </a:r>
            <a:endParaRPr/>
          </a:p>
        </p:txBody>
      </p:sp>
      <p:sp>
        <p:nvSpPr>
          <p:cNvPr id="559" name="Google Shape;55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6" name="Google Shape;58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 retention offer exists to keep the membership. If we offered one and the customer cancelled anyway, invalidate it as part of processing the cancellation. Two exemptions, where the customer is entitled to what they hold: 1) The admin courtesy voucher for unused hours where the Legacy DHJ voucher was only partly used (a 4-hour voucher against a 2-hour cleaning): the system issues an admin courtesy voucher for the balance. Leave it; those hours were bought and paid for. 2) Credits accepted within MCT where the customer then completed the MCT: they tried to self-cancel inside MCT, the system offered credits, they accepted, stayed, and fulfilled the full MCT. The system strips those credits on cancellation; that's system behaviour, not our policy. If they already booked and were charged in full with no credit applied, issue an admin refund equal to the reverted credits. If they haven't booked yet and want to use them, issue the credits. The principle: did the customer pay for it, or earn it by staying? Either way it survives the cancellation.</a:t>
            </a:r>
            <a:endParaRPr/>
          </a:p>
        </p:txBody>
      </p:sp>
      <p:sp>
        <p:nvSpPr>
          <p:cNvPr id="587" name="Google Shape;58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MCT reduction (Job 2): once a customer isn't retainable, doesn't qualify for an ETF waiver, and reducing the MCT would cost them less than reducing the ETF, use the MCT reduction. You're using it because it's the most cost-effective way to close the membership out. Same calculation base and existing-offer check as the retention MCT reduction. ETF reduction: first check the first job's hours. The ETF is $35/hr × first-cleaning hours, so an overcharge inflates the ETF. Resolve the OCH first, then present the corrected ETF. Example: first job invoiced 4 hours, the CP's own messages show 2.5: refund 1.5 hours and the ETF drops from $140 to $87.50. That's the ETF you present. When to offer it: if unawareness (or "I only wanted a one-time cleaning") is the only reason, don't offer an ETF reduction proactively; wait for a hint they'd pay a reduced ETF. If any other reason is mixed in, ETF reduction is part of the standard exit strategy once retention is exhausted. Exception, extreme financial hardship: go straight to exit, offer 50% off the ETF; if they decline, waive it entirely.</a:t>
            </a:r>
            <a:endParaRPr/>
          </a:p>
        </p:txBody>
      </p:sp>
      <p:sp>
        <p:nvSpPr>
          <p:cNvPr id="611" name="Google Shape;61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5" name="Google Shape;62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What can be deducted: the MF and/or voucher price is the standard deduction. Don't stack them automatically; only when justified (the customer contests paying the ETF on top of what they already paid, or explicitly asks for both). Additional-hours charge: if the job that triggered FC ran longer than the voucher's covered hours and the customer was charged for that overage on their card, it can also be deducted. Check for it on jobs where they booked more hours than the voucher covered. The cap is always 50% off the original ETF, whichever deductions apply. Note the customer's Lifetime Net Revenue (LTNR) in your internal note when reducing the ETF, like LMC/Lockout. It's documentation, not a limiter: it doesn't change what you can offer, and the 50% reduction must still be maxed out before Graceful Closure. Existing offer? Always calculate from the original ETF, never an already-discounted amount, and check for an existing reduction first.</a:t>
            </a:r>
            <a:endParaRPr/>
          </a:p>
        </p:txBody>
      </p:sp>
      <p:sp>
        <p:nvSpPr>
          <p:cNvPr id="626" name="Google Shape;626;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Ask each question and let trainees answer before revealing. Each click reveals the next answer.</a:t>
            </a:r>
            <a:endParaRPr/>
          </a:p>
        </p:txBody>
      </p:sp>
      <p:sp>
        <p:nvSpPr>
          <p:cNvPr id="653" name="Google Shape;65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4" name="Google Shape;68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TRAINER: share a live ticket where an offer is (or isn't) appropriate. Give trainees a few minutes to review it on their own, then work through it together. 1) What problem is the customer actually solving, and which kind of offer fits? Run the quick test: account or system error, Make-Right; not retainable, Exit; otherwise Retention. 2) What actions are you going to take? Pick the tool built for that problem (voucher/credit, MF reduction from $59, MCT reduction sized to the objection, free months by job, ETF reduction capped at 50%). Check for an existing offer first. 3) 5-minute writing challenge: each trainee writes the comms. Read a few aloud and compare. Then open the floor for questions.</a:t>
            </a:r>
            <a:endParaRPr/>
          </a:p>
        </p:txBody>
      </p:sp>
      <p:sp>
        <p:nvSpPr>
          <p:cNvPr id="685" name="Google Shape;685;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Cancellation Intent Surfaced in C/CP Comms or Reported by CP. Category: Retention and Membership Cancellation. This covers a cancellation conversation that starts not because the customer told us, but because we saw a cancellation intent the customer sent to the CP while reading C/CP messages for a different reason: a service issue, a scheduling question, anything. If the customer reaches out to us about cancelling, go straight to the relevant Retention Playbook instead.</a:t>
            </a:r>
            <a:endParaRPr/>
          </a:p>
        </p:txBody>
      </p:sp>
      <p:sp>
        <p:nvSpPr>
          <p:cNvPr id="718" name="Google Shape;71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8" name="Google Shape;74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Customers don't always realize their cleaner can't cancel a membership on their behalf: a CP can cancel a job, but not the FC relationship itself. If we sit on that information and do nothing, the most likely outcome is the customer gets frustrated days or weeks later when nothing has changed and the membership fee hits again. Reaching out first heads that off, and it reads as attentive rather than intrusive, but only if you open the conversation the right way. This page is about the moment before a normal cancellation conversation: how to open it when the customer doesn't know we've seen it yet.</a:t>
            </a:r>
            <a:endParaRPr/>
          </a:p>
        </p:txBody>
      </p:sp>
      <p:sp>
        <p:nvSpPr>
          <p:cNvPr id="749" name="Google Shape;749;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 name="Google Shape;772;p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There are two ways to get the opening wrong, in opposite directions. 1) Pretend you don't know anything and wait for the customer to bring it up: it risks looking like we ignored a clear signal, and delays a resolution the customer already wants. 2) Open by reciting back everything the customer told the CP, as if you'd been reading over their shoulder: it can feel surveillance-y, even though checking C/CP comms is normal investigation work. The right move sits between: acknowledge that we know something, without acting like we know everything. It removes the awkwardness of pretending ignorance and still leaves the customer room to tell their own side in their own words, which makes a retainable conversation more likely.</a:t>
            </a:r>
            <a:endParaRPr/>
          </a:p>
        </p:txBody>
      </p:sp>
      <p:sp>
        <p:nvSpPr>
          <p:cNvPr id="773" name="Google Shape;773;p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6" name="Google Shape;80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Step 1, reach out proactively: don't wait for the customer to raise it. Open with neutral framing that signals "we know something", not "we know everything": "Hey [Name], your cleaner mentioned you might be looking to cancel your membership. Wanted to check in directly." Step 2, probe, don't assume: give the customer the chance to explain in their own words rather than resolving based on whatever fragment showed up in the CP thread: "Do you mind sharing why? That'll help me figure out the best way to handle this for you." This mirrors the General Retention Playbook's "Probing, even when you already know the reason". Step 3, explain FC and ETF terms: since the customer has a cancellation intent, if the ETF applies, explain it. Don't skip this even if they sound set on cancelling; it's often the first time they hear the terms explained clearly. Step 4, handle upcoming appointments and RC: by default cancel upcoming appointments and RC, unless there's a clear signal they want to keep them. Step 5, address other pain points, then route to the right playbook. Note: there is no macro for this opening yet; it's been flagged for the Comms Kit.</a:t>
            </a:r>
            <a:endParaRPr/>
          </a:p>
        </p:txBody>
      </p:sp>
      <p:sp>
        <p:nvSpPr>
          <p:cNvPr id="807" name="Google Shape;807;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6" name="Google Shape;85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Once the customer has told you why, this becomes a normal retention conversation: the "how we found out" part is done. Membership-terms objection (unaware, cost, MCT length): Membership Retention Playbook. Service issue (quality, reliability): Poor Cleaning Quality Retention Playbook or Service Reliability Retention Playbook. General retainability assessment: General Retention Playbook. For explaining FC and ETF terms: ForeverClean Membership. Washington customers: use Washington State: Temporary FC Cancellation Handling, Step 5. Reach out, send the self-cancellation link and never mention the ETF.</a:t>
            </a:r>
            <a:endParaRPr/>
          </a:p>
        </p:txBody>
      </p:sp>
      <p:sp>
        <p:nvSpPr>
          <p:cNvPr id="857" name="Google Shape;857;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6" name="Google Shape;886;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Ask each question and let trainees answer before revealing. Each click reveals the next answer.</a:t>
            </a:r>
            <a:endParaRPr/>
          </a:p>
        </p:txBody>
      </p:sp>
      <p:sp>
        <p:nvSpPr>
          <p:cNvPr id="887" name="Google Shape;887;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8" name="Google Shape;91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TRAINER: share a live ticket where the customer told the CP they want to cancel. Give trainees a few minutes to review it on their own, then work through it together. 1) Where did the intent come from, and what is the real reason? Don't resolve from the fragment in the CP thread. 2) What actions are you going to take? Reach out proactively (know something, not everything), probe, explain FC/ETF terms if the ETF applies, cancel upcoming appointments and RC by default, then route to the right playbook. WA customer: use the WA process. 3) 5-minute writing challenge: each trainee writes the outreach message. Read a few aloud and compare. Then open the floor for questions.</a:t>
            </a:r>
            <a:endParaRPr/>
          </a:p>
        </p:txBody>
      </p:sp>
      <p:sp>
        <p:nvSpPr>
          <p:cNvPr id="919" name="Google Shape;919;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1" name="Google Shape;951;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General Retention Playbook. Category: Retention and Membership Cancellation. This is the foundational thinking behind every retention conversation: the mindset and assessment process the Poor Cleaning Quality, Standard Service Issue and Membership Retention Playbooks all build on. Read this first; the other playbooks assume you already know how to reason through a retention conversation, and just add the scenario-specific offers. Why it matters: two agents facing the identical situation can produce very different outcomes if one follows a checklist mechanically and the other understands why the checklist says what it says.</a:t>
            </a:r>
            <a:endParaRPr/>
          </a:p>
        </p:txBody>
      </p:sp>
      <p:sp>
        <p:nvSpPr>
          <p:cNvPr id="952" name="Google Shape;952;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2" name="Google Shape;982;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Every resolution should go straight to the root cause of why the customer is thinking about cancelling, not a generic offer thrown at the problem. This is a deliberate departure from the old "retention ladder" (start small, escalate only if the customer pushes back). Here, you match the offer to what the customer actually needs and show its value clearly. The goal is for the customer to feel understood and like their specific problem is being solved, not like they're being managed with incentives.</a:t>
            </a:r>
            <a:endParaRPr/>
          </a:p>
        </p:txBody>
      </p:sp>
      <p:sp>
        <p:nvSpPr>
          <p:cNvPr id="983" name="Google Shape;983;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0" name="Google Shape;1000;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When judging whether a situation is retainable, look at all five factors together. Intent: is the customer seeking help or clarification, or have they already decided? "Can you help me understand this charge?" is open; "Cancel my membership immediately" is decided, but not automatically unretainable. Issue type: can the problem be fixed? Cleaner quality, scheduling mistakes, membership confusion are operational and fixable; repeated failures, misinformation and broken promises are harder but still worth attempting. Emotion: mild frustration vs strong, final language ("I want nothing to do with this company"), which is a signal to slow down and test openness, not proof. Escalation risk: frustrated with no material legal threat, de-escalate with clear, empathetic comms; AG threat, formal legal letter, lawyer CC'd, class action, law firm email: retention is low, cancel FC and waive ETF instead. History: a first occurrence is easier; repeated bad experiences are harder but don't automatically mean don't try. Only stop once there are genuinely two consecutive job problems and the customer has declined assistance.</a:t>
            </a:r>
            <a:endParaRPr/>
          </a:p>
        </p:txBody>
      </p:sp>
      <p:sp>
        <p:nvSpPr>
          <p:cNvPr id="1001" name="Google Shape;1001;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3" name="Google Shape;1013;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It's not about counting how many factors lean one way; it's about weighing how much each present factor changes the overall picture. Some factors are minor; others, on their own, are enough to make retention the wrong call. If 3 of 5 factors point to "harder to retain", that does not automatically mean the customer isn't retainable, and the reverse is just as true. A customer could have a material legal threat and still have a first-time, easily fixable issue with mild frustration. That's not "1 of 5, still retainable": a material legal threat by itself makes this a "don't attempt retention" case. Confirmed abuse toward a cleaner works the same way. Compare Emotion alone: strong, final language is not an automatic override; it's a signal to slow down and test openness. The skill: knowing which signals are "weigh this alongside everything else" and which are "this alone changes the answer".</a:t>
            </a:r>
            <a:endParaRPr/>
          </a:p>
        </p:txBody>
      </p:sp>
      <p:sp>
        <p:nvSpPr>
          <p:cNvPr id="1014" name="Google Shape;1014;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1" name="Google Shape;1031;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Step 1, acknowledge the customer's feedback: make sure they feel heard and share empathy for a frustrating experience. If they request an action (cancellation, refund) after a disappointing experience, acknowledge the request, then probe if their first message was vague. Step 2, understand the root cause first: if they want to cancel because they were unaware of the membership, start by explaining FC details and ETF terms; don't jump to a discount. Probe their actual experience to uncover underlying issues. Don't offer MF or MCT reductions in an unawareness case: they don't address the root cause. Step 3, align the offer with the root cause: service-related (e.g. PCQ), a voucher or credit on first response is appropriate; cost or commitment concerns (MF or MCT), a reduction right away makes sense. Step 4, offers are tools, not defaults: MF/MCT reductions, vouchers, free months, credits shouldn't be handed out reflexively. Always ask: does this offer answer the specific reason they want to leave?</a:t>
            </a:r>
            <a:endParaRPr/>
          </a:p>
        </p:txBody>
      </p:sp>
      <p:sp>
        <p:nvSpPr>
          <p:cNvPr id="1032" name="Google Shape;1032;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4" name="Google Shape;1064;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Offering something small, the customer declines, offering more, repeat: this creates a transactional, pushy experience that reduces trust. It also teaches customers that declining gets them a better offer, which isn't fair to customers who accept the first reasonable one. The fix isn't "never increase an offer"; any stronger offer must be tied to the customer's specific reason for wanting to cancel, not offered just because they said no to the last one. Also: an offer that doesn't address the customer's actual concern is unlikely to retain them and can cheapen the perceived value of the membership.</a:t>
            </a:r>
            <a:endParaRPr/>
          </a:p>
        </p:txBody>
      </p:sp>
      <p:sp>
        <p:nvSpPr>
          <p:cNvPr id="1065" name="Google Shape;1065;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2" name="Google Shape;1102;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Two ways to deliver an offer. Apply it immediately: fast, but can feel transactional, "here's your solution" without involving the customer. Present the offer and wait for a response: encourages collaboration, gives the customer a sense of choice, shows you care about their experience rather than closing a ticket. General rule: it's up to you whether to present first or issue right away; just make it clear in your comms whether the offer has been issued on the account yet. Issue right away when (not exhaustive): the customer asked for it (voucher, credits, free months); or the monthly fee is overdue or the next MF is almost due, because presenting first risks them being charged, which aggravates a customer with cancellation intent. Use a "no… but" approach when a request is beyond policy (a full refund, an ETF waiver they don't qualify for): "I'm not able to [X], but what I can do is [Y]". It stays empathetic and solution-focused within policy, without a flat refusal.</a:t>
            </a:r>
            <a:endParaRPr/>
          </a:p>
        </p:txBody>
      </p:sp>
      <p:sp>
        <p:nvSpPr>
          <p:cNvPr id="1103" name="Google Shape;1103;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3" name="Google Shape;1123;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Look at the full picture. Emotional escalation, distrust or frustration does not automatically mean a customer is non-retainable; many calm down once their concerns are acknowledged and addressed. As a general rule, attempt thoughtful retention unless there are clear signals the customer is no longer a fit. Affordability concerns alone are not a reason to stop: a customer who says they can't afford the fee may still be retainable through an MF/MCT reduction, pause, or free months. The genuine non-retainable cases are narrower: no ongoing need for recurring cleanings at all (no longer have a home, moved to a care facility); severe, extreme financial hardship where even a reduced fee isn't reasonable (handle with empathy, not a sales-style reduction); a material legal threat (filing with the Attorney General, joining a litigation, formal legal proceedings). Bottom line: everyone else, even an angry customer or someone who says the fee is too expensive, may still be a fit. Even if you don't retain them today, a great Care experience can leave the door open for them to return.</a:t>
            </a:r>
            <a:endParaRPr/>
          </a:p>
        </p:txBody>
      </p:sp>
      <p:sp>
        <p:nvSpPr>
          <p:cNvPr id="1124" name="Google Shape;1124;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0" name="Google Shape;1150;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Beyond the general non-retainable signals, these situations are in most cases also not good retention targets: history of filing disputes; bankruptcy or extreme financial hardship; military deployment; ADA accommodation needs; severe weather or natural disaster; severe illness; death of a household or family member; relocation outside of coverage; you've made a genuine, well-positioned retention attempt addressing the root issue and they still want to cancel; multiple unused MFs (beyond MCT) and firm, escalating language about cancelling; a material legal threat; abuse toward a cleaner (see Customer Abusive Behavior Towards a Cleaner: retention is explicitly off the table, and only exit-focused offers, ETF/MCT reduction, remain). Why these are different from "just difficult": their situation isn't actually about the service, so pushing retention risks looking tone-deaf.</a:t>
            </a:r>
            <a:endParaRPr/>
          </a:p>
        </p:txBody>
      </p:sp>
      <p:sp>
        <p:nvSpPr>
          <p:cNvPr id="1151" name="Google Shape;1151;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7" name="Google Shape;1187;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isn't a black-and-white list; each one depends on what the customer is actually asking for and why. History of filing disputes: if they now want to cancel or get a refund, it's a genuine non-retainable case, since there's a real chance they'll dispute with their bank again. But if they still want to use the service, we don't push them out, unless something points to fraud. Severe illness: if they want to cancel because of it, cancel out of compassion and waive the ETF as a courtesy; no retention. But if the illness is why they use the service, attempt to retain, since cancelling removes help they need. Military deployment: deployed and want to cancel now, a straightforward non-retainable case. Just a heads-up that they'll deploy in a couple of months and still using the service: don't cancel and waive on the spot; set a Timed Reminder to cancel FC once the deployment happens. The pattern: these lean non-retainable, but the call depends on what the customer is asking for right now.</a:t>
            </a:r>
            <a:endParaRPr/>
          </a:p>
        </p:txBody>
      </p:sp>
      <p:sp>
        <p:nvSpPr>
          <p:cNvPr id="1188" name="Google Shape;1188;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5" name="Google Shape;1225;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Satisfied with the cleaning itself ("The cleaner did a good job but I don't want a membership"): the core service worked; the objection is about structure, not value. A temporary or addressable financial or situational concern ("I can't afford the monthly fee right now"): may be resolvable via fee adjustment or scheduling flexibility. Use judgment: genuine severe financial distress (job loss, bankruptcy) may not be appropriate for retention; consider pausing or assisting with cancellation instead. Policy or membership confusion ("I didn't realize I signed up for a 6-month membership"): frustration comes from a misunderstanding, not the value; clarify calmly, probe for the actual service experience, and continue retention if they calm down.</a:t>
            </a:r>
            <a:endParaRPr/>
          </a:p>
        </p:txBody>
      </p:sp>
      <p:sp>
        <p:nvSpPr>
          <p:cNvPr id="1226" name="Google Shape;1226;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5" name="Google Shape;1255;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Extreme emotional escalation ("This is a scam, cancel this NOW"): don't open with a retention offer; it can escalate the anger. Be human first and probe gently: "I'm so sorry to hear that, I'm here to help! What happened?" Trust broken by repeated failures ("I gave your service more than one chance and keep being disappointed"): acknowledge the pattern honestly, offer to waive fees given the history, and only then gently offer one more attempt. Full sample: "I'm so sorry to hear about the terrible experience. Of course, I can process your cancellation, and given your experience we'll waive all fees. I know I'm totally pushing my luck here, but I really hate to see you go like this. I'd love to try and set you up with someone great and more reliable. But again, I totally understand if you'd prefer to go, just say the word." The customer feels deceived or trapped ("You never told me about the membership… I no longer trust your company"): explain FC details clearly and factually, then shift to probing their cleaning experience rather than re-litigating the disclosure. If their tone shifts from accusatory to practical, retention may still be viable. Careful: pushing retention prematurely in a trust-broken conversation increases dispute risk.</a:t>
            </a:r>
            <a:endParaRPr/>
          </a:p>
        </p:txBody>
      </p:sp>
      <p:sp>
        <p:nvSpPr>
          <p:cNvPr id="1256" name="Google Shape;1256;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8" name="Google Shape;1288;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When you're unsure whether a decision is right, ask: if this interaction were published publicly, would we stand by how we handled it? Worked example: a customer on a fixed income (e.g. a disabled veteran) wants to cancel because they can't afford ongoing service, even though they were satisfied with the cleaning. Strict enforcement: "Customer didn't read the terms, enforce the ETF." If this became public, would it look fair, or like taking advantage of someone already struggling? Retention-aware: recognize the financial limitation, apply compassion where appropriate, consider an ETF waiver. The test in one line: if enforcing a rule would feel gross, deceptive or shameful to explain publicly, don't enforce it. That's exactly why ETF waivers exist for compassion and extreme hardship cases.</a:t>
            </a:r>
            <a:endParaRPr/>
          </a:p>
        </p:txBody>
      </p:sp>
      <p:sp>
        <p:nvSpPr>
          <p:cNvPr id="1289" name="Google Shape;1289;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0" name="Google Shape;1310;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If a customer already mentioned their cancellation reason to someone else (told the CP, not you), still probe. This isn't ignoring information you have; it gives the customer the chance to express it directly to you. Customers given the opportunity to explain their own situation are more likely to be retained. Weak (assumption-based): "I'm sorry to hear you want to cancel, do you mind sharing why?" Strong (customer-led): "Your cleaner mentioned you want to cancel the service, but I'd like to hear directly from you. Would you mind sharing what led you to consider canceling?"</a:t>
            </a:r>
            <a:endParaRPr/>
          </a:p>
        </p:txBody>
      </p:sp>
      <p:sp>
        <p:nvSpPr>
          <p:cNvPr id="1311" name="Google Shape;1311;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0" name="Google Shape;1330;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Graceful Closure is for when a customer declines your resolution and keeps insisting. Before you invoke it, ask: 1) Have I actually explored all the options? 2) Do I really know the full picture? Once you move to Graceful Closure you can't reopen the conversation or offer new concessions (the No Re-Opening Rule). A common mistake: moving to closure the moment a customer declines, without probing why, or treating a non-response to a probing question as "no further options". If they aren't responding to probing, reframe why you're asking: "I understand you'd like to cancel. Would you mind sharing what led to your decision? I just want to make sure I've explored all available options and that we're not missing anything that might better fit your needs." If they still won't share a reason: keep the conversation open and keep gently asking (no cap while they're engaging), but don't move to Graceful Closure; you can't honestly say "we've reviewed all your options". Instead explain the ETF still applies, on its own terms: "I understand you'd like to cancel. The early termination fee still applies here; it helps make sure your cleaner is fairly paid for the discounted/free first cleaning. Just to set expectations: your membership will remain active and the monthly fee will continue until the cancellation is processed. That said, if there's something specific going on, let me know; it may open up more I can do."</a:t>
            </a:r>
            <a:endParaRPr/>
          </a:p>
        </p:txBody>
      </p:sp>
      <p:sp>
        <p:nvSpPr>
          <p:cNvPr id="1331" name="Google Shape;1331;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8" name="Google Shape;1358;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Generally we don't refund an MF and waive the ETF at the same time: both cover the same thing (the discounted first cleaning), so removing both is a real financial loss and a policy inconsistency. If a customer asks for both: "I'm unable to refund the membership fee since the account was active, but I can apply that recent payment toward reducing your Early Termination Fee." Exemptions: extenuating circumstances, material legal threats, a customer with a history of filing a dispute; see the MF &amp; ETF Refund Request article. Don't introduce membership-related offers if the customer hasn't raised membership as a concern; stay on their stated issue and don't manufacture a cancellation conversation. Don't repeat the same offer or reopen closed negotiations; see Graceful Closure. Related articles: Poor Cleaning Quality Retention Framework, Standard Service Issue Retention Playbook, Membership Retention Playbook, ETF Waivers, Graceful Closure, Customer Abusive Behavior Towards a Cleaner.</a:t>
            </a:r>
            <a:endParaRPr/>
          </a:p>
        </p:txBody>
      </p:sp>
      <p:sp>
        <p:nvSpPr>
          <p:cNvPr id="1359" name="Google Shape;1359;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6" name="Google Shape;1386;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Ask each question and let trainees answer before revealing. Each click reveals the next answer.</a:t>
            </a:r>
            <a:endParaRPr/>
          </a:p>
        </p:txBody>
      </p:sp>
      <p:sp>
        <p:nvSpPr>
          <p:cNvPr id="1387" name="Google Shape;1387;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8" name="Google Shape;1418;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TRAINER: share a live cancellation ticket. Give trainees a few minutes to review it on their own, then work through it together. 1) Is the customer retainable? Weigh the five key factors (Intent, Issue type, Emotion, Escalation risk, History); check for hard overrides (material legal threat, abuse toward a cleaner) and the "usually not a retention target" situations, then confirm what the customer is asking for right now. 2) What actions are you going to take? Acknowledge, find the root cause, align the offer with it, decide whether to present it or issue it right away, and avoid the ladder. Run the Newspaper Test if unsure. 3) 5-minute writing challenge: each trainee writes the comms. Read a few aloud and compare. Then open the floor for questions.</a:t>
            </a:r>
            <a:endParaRPr/>
          </a:p>
        </p:txBody>
      </p:sp>
      <p:sp>
        <p:nvSpPr>
          <p:cNvPr id="1419" name="Google Shape;1419;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9" name="Shape 1449"/>
        <p:cNvGrpSpPr/>
        <p:nvPr/>
      </p:nvGrpSpPr>
      <p:grpSpPr>
        <a:xfrm>
          <a:off x="0" y="0"/>
          <a:ext cx="0" cy="0"/>
          <a:chOff x="0" y="0"/>
          <a:chExt cx="0" cy="0"/>
        </a:xfrm>
      </p:grpSpPr>
      <p:sp>
        <p:nvSpPr>
          <p:cNvPr id="1450" name="Google Shape;1450;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1" name="Google Shape;1451;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Unused DHJ Voucher. Category: Retention and Membership Cancellation. This covers a customer who purchased a DHJ voucher but hasn't used it on a job yet: no cleaning has happened, so their FC membership hasn't technically started. This page is for refund and/or cancellation requests from these customers. If the customer has no refund or cancellation intent at all, only a gentle reminder is needed (case 1).</a:t>
            </a:r>
            <a:endParaRPr/>
          </a:p>
        </p:txBody>
      </p:sp>
      <p:sp>
        <p:nvSpPr>
          <p:cNvPr id="1452" name="Google Shape;1452;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2" name="Google Shape;1482;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For Legacy DHJ, the membership only starts once the voucher is applied to a completed job. If the customer only bought the voucher and hasn't booked yet, the voucher shows on the account but there's no FC table. The FC table (with active status) only appears once the customer books an appointment, and it may show as "active with 0 paid months". That doesn't mean FC has started. This distinction matters constantly: it's exactly what leads a customer to think they've already committed to something they haven't, or an agent to assume a membership exists when it doesn't yet.</a:t>
            </a:r>
            <a:endParaRPr/>
          </a:p>
        </p:txBody>
      </p:sp>
      <p:sp>
        <p:nvSpPr>
          <p:cNvPr id="1483" name="Google Shape;1483;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9" name="Shape 1509"/>
        <p:cNvGrpSpPr/>
        <p:nvPr/>
      </p:nvGrpSpPr>
      <p:grpSpPr>
        <a:xfrm>
          <a:off x="0" y="0"/>
          <a:ext cx="0" cy="0"/>
          <a:chOff x="0" y="0"/>
          <a:chExt cx="0" cy="0"/>
        </a:xfrm>
      </p:grpSpPr>
      <p:sp>
        <p:nvSpPr>
          <p:cNvPr id="1510" name="Google Shape;1510;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1" name="Google Shape;1511;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How you handle this depends entirely on what the customer actually wants. Sort into one of the cases before doing anything else. 1) No refund or cancellation intent: they reached out about something unrelated. 2) Refund or cancellation intent. 3) Wants the account closed or deactivated, with no refund intent. 4) Wants a refund, but already self-refunded the voucher before or during their first outreach.</a:t>
            </a:r>
            <a:endParaRPr/>
          </a:p>
        </p:txBody>
      </p:sp>
      <p:sp>
        <p:nvSpPr>
          <p:cNvPr id="1512" name="Google Shape;1512;p5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8" name="Google Shape;1548;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If the customer reaches out for something unrelated and shows no sign of wanting to cancel or get a refund, don't make this bigger than it needs to be. Aside from addressing their concern, gently remind them, once, that the voucher they purchased comes with a membership that starts once they use it, so they're not caught off guard later. If they're already clearly aware of this, skip the reminder. Including the terms is fine but not mandatory, unless the terms are part of what they're raising. For example, "I didn't realize this came with a monthly fee" is no longer a courtesy reminder: walk them through the actual terms (MF amount, MCT length, ETF), since that's the real issue.</a:t>
            </a:r>
            <a:endParaRPr/>
          </a:p>
        </p:txBody>
      </p:sp>
      <p:sp>
        <p:nvSpPr>
          <p:cNvPr id="1549" name="Google Shape;1549;p5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6" name="Shape 1576"/>
        <p:cNvGrpSpPr/>
        <p:nvPr/>
      </p:nvGrpSpPr>
      <p:grpSpPr>
        <a:xfrm>
          <a:off x="0" y="0"/>
          <a:ext cx="0" cy="0"/>
          <a:chOff x="0" y="0"/>
          <a:chExt cx="0" cy="0"/>
        </a:xfrm>
      </p:grpSpPr>
      <p:sp>
        <p:nvSpPr>
          <p:cNvPr id="1577" name="Google Shape;1577;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8" name="Google Shape;1578;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Check if the customer already gave a reason. If they did, go to the Retention Strategy Table for the applicable offer. If not, probe first; don't skip straight to offers. Then: acknowledge as necessary. Address the actual issue: a service issue means blocking the C/CP pairing and coaching or penalizing the CP as needed; a membership-terms issue means checking the Retention Strategy Table. Present retention offers where applicable. Remind them the voucher is valid for a year, so they can use it later. Remind them the voucher comes with a membership. If they have refund intent specifically, provide the self-refund link, and only then: tell them to enter the voucher code before clicking "Refund Voucher", and double-check the code in your message, since a wrong code breaks the refund. Check upcoming appointments and an active RC plan; if there's no sign they want to keep them, cancel via CRM with the correct cancellation reason code. If they decline and insist on a refund: refund the voucher through CRM (CRM &gt; voucher &gt; refund DHJ/FC) and invalidate it right away, advise the 5–10 business day timeframe, and deactivate the FC table if there is one.</a:t>
            </a:r>
            <a:endParaRPr/>
          </a:p>
        </p:txBody>
      </p:sp>
      <p:sp>
        <p:nvSpPr>
          <p:cNvPr id="1579" name="Google Shape;1579;p5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9" name="Shape 1619"/>
        <p:cNvGrpSpPr/>
        <p:nvPr/>
      </p:nvGrpSpPr>
      <p:grpSpPr>
        <a:xfrm>
          <a:off x="0" y="0"/>
          <a:ext cx="0" cy="0"/>
          <a:chOff x="0" y="0"/>
          <a:chExt cx="0" cy="0"/>
        </a:xfrm>
      </p:grpSpPr>
      <p:sp>
        <p:nvSpPr>
          <p:cNvPr id="1620" name="Google Shape;1620;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1" name="Google Shape;1621;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Retention Strategy Table. Service: service-related issues (CP no-show, CP cancellation, no CP claim): offer $10–$20 credits. Service limitations or personal reasons (found a different cleaner, wants same-day cleaning, moved, lack of phone support, will self-clean): no offers necessary. Membership-related: MF is expensive, offer to reduce the MF by $10–$15 off the original MF; MCT is too long, offer to reduce the MCT by 2 months from the original MCT; doesn't want a membership in general, no offers necessary, advise them to contact us if they want more flexible terms, and a one-time cleaning (full price, charged upfront) can be offered as applicable. One-time cleaning: offer at full price, charged upfront. Trial Cleaning: offer at regular price, charged upfront. Macros: Unused DHJ Voucher: Refund Request; Wants to "Try it Out" (Trial Cleaning); Wants One Time Cleaning.</a:t>
            </a:r>
            <a:endParaRPr/>
          </a:p>
        </p:txBody>
      </p:sp>
      <p:sp>
        <p:nvSpPr>
          <p:cNvPr id="1622" name="Google Shape;1622;p5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9" name="Shape 1629"/>
        <p:cNvGrpSpPr/>
        <p:nvPr/>
      </p:nvGrpSpPr>
      <p:grpSpPr>
        <a:xfrm>
          <a:off x="0" y="0"/>
          <a:ext cx="0" cy="0"/>
          <a:chOff x="0" y="0"/>
          <a:chExt cx="0" cy="0"/>
        </a:xfrm>
      </p:grpSpPr>
      <p:sp>
        <p:nvSpPr>
          <p:cNvPr id="1630" name="Google Shape;1630;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1" name="Google Shape;1631;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Treat the initial reach-out as a cancellation intent: acknowledge, probe for the reason, unsubscribe them and let them know they're off the mailing list, remind them the voucher is valid for a year and tied to a membership, and check upcoming appointments as in case 2. If they come back and insist on closing the account, first find out whether they also want their data deleted. Either way: invalidate the voucher (C Do &gt; Voucher Invalidate); attempt to cancel FC and check whether the system flags that the voucher would be refunded (if it does, escalate to a TL to cancel and invalidate without a refund, then continue); send the closure email before deactivating, since you can't email them after; deactivate (CRM Do &gt; Deactivate). If they want data deleted: credit card removal, escalate to a TL to remove the card from Stripe permanently; personal data removal, log it to the Data right to know/delete request tracker. If they ask for their personal information deleted specifically, clarify whether they want the membership cancelled, the data deleted, or both. With an unused voucher and an explicit data-deletion request, log the tracker ticket immediately. Macro: Deactivated (send before deactivating).</a:t>
            </a:r>
            <a:endParaRPr/>
          </a:p>
        </p:txBody>
      </p:sp>
      <p:sp>
        <p:nvSpPr>
          <p:cNvPr id="1632" name="Google Shape;1632;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2" name="Google Shape;1662;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Most of the time, customers want to take matters into their own hands. If the customer already initiated a self-refund, the system might leave a voucher behind as a last-ditch effort to retain them. If that happens: invalidate the system-generated voucher, if the system hasn't already; cancel FC, the recurring cleaning plan and any upcoming appointments, if applicable; address any remaining concerns. Since the refund was initiated before or during their first outreach, the retention attempt has technically already failed before we could intervene. Accept the customer's decision and focus on a clean, hassle-free cancellation.</a:t>
            </a:r>
            <a:endParaRPr/>
          </a:p>
        </p:txBody>
      </p:sp>
      <p:sp>
        <p:nvSpPr>
          <p:cNvPr id="1663" name="Google Shape;1663;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7" name="Shape 1687"/>
        <p:cNvGrpSpPr/>
        <p:nvPr/>
      </p:nvGrpSpPr>
      <p:grpSpPr>
        <a:xfrm>
          <a:off x="0" y="0"/>
          <a:ext cx="0" cy="0"/>
          <a:chOff x="0" y="0"/>
          <a:chExt cx="0" cy="0"/>
        </a:xfrm>
      </p:grpSpPr>
      <p:sp>
        <p:nvSpPr>
          <p:cNvPr id="1688" name="Google Shape;1688;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9" name="Google Shape;1689;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Ask each question and let trainees answer before revealing. Each click reveals the next answer.</a:t>
            </a:r>
            <a:endParaRPr/>
          </a:p>
        </p:txBody>
      </p:sp>
      <p:sp>
        <p:nvSpPr>
          <p:cNvPr id="1690" name="Google Shape;1690;p6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9" name="Shape 1719"/>
        <p:cNvGrpSpPr/>
        <p:nvPr/>
      </p:nvGrpSpPr>
      <p:grpSpPr>
        <a:xfrm>
          <a:off x="0" y="0"/>
          <a:ext cx="0" cy="0"/>
          <a:chOff x="0" y="0"/>
          <a:chExt cx="0" cy="0"/>
        </a:xfrm>
      </p:grpSpPr>
      <p:sp>
        <p:nvSpPr>
          <p:cNvPr id="1720" name="Google Shape;1720;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1" name="Google Shape;1721;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TRAINER: share a live ticket from a customer with an unused DHJ voucher. Give trainees a few minutes to review it on their own, then work through it together. 1) Which case is it (no intent, refund/cancel intent, close the account, already self-refunded), and what does the account show? 2) What actions are you going to take? Probe for the reason, fix the actual issue, use the Retention Strategy Table, remind them the voucher is valid for a year and comes with a membership, self-refund link only with refund intent, cancel appointments/RC if not wanted; or the account-closure order. 3) 5-minute writing challenge: each trainee writes the comms. Read a few aloud and compare. Then open the floor for questions.</a:t>
            </a:r>
            <a:endParaRPr/>
          </a:p>
        </p:txBody>
      </p:sp>
      <p:sp>
        <p:nvSpPr>
          <p:cNvPr id="1722" name="Google Shape;1722;p6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2" name="Shape 1752"/>
        <p:cNvGrpSpPr/>
        <p:nvPr/>
      </p:nvGrpSpPr>
      <p:grpSpPr>
        <a:xfrm>
          <a:off x="0" y="0"/>
          <a:ext cx="0" cy="0"/>
          <a:chOff x="0" y="0"/>
          <a:chExt cx="0" cy="0"/>
        </a:xfrm>
      </p:grpSpPr>
      <p:sp>
        <p:nvSpPr>
          <p:cNvPr id="1753" name="Google Shape;1753;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4" name="Google Shape;1754;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FCF Pre-Invoice Cancellation and Refund Requests. Category: Retention and Membership Cancellation. This covers a customer wanting to cancel their FCF membership before their first job has been invoiced or completed. It's unique to FCF, since FCF membership starts immediately at sign-up rather than after a completed cleaning. A Legacy DHJ customer can't be in this situation: there's no membership to cancel until their first job happens.</a:t>
            </a:r>
            <a:endParaRPr/>
          </a:p>
        </p:txBody>
      </p:sp>
      <p:sp>
        <p:nvSpPr>
          <p:cNvPr id="1755" name="Google Shape;1755;p6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3" name="Shape 1783"/>
        <p:cNvGrpSpPr/>
        <p:nvPr/>
      </p:nvGrpSpPr>
      <p:grpSpPr>
        <a:xfrm>
          <a:off x="0" y="0"/>
          <a:ext cx="0" cy="0"/>
          <a:chOff x="0" y="0"/>
          <a:chExt cx="0" cy="0"/>
        </a:xfrm>
      </p:grpSpPr>
      <p:sp>
        <p:nvSpPr>
          <p:cNvPr id="1784" name="Google Shape;1784;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5" name="Google Shape;1785;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FCF customers can self-cancel from their dashboard even with zero completed jobs, something DHJ customers were never able to do, so this comes up often. The refund answer depends on a combination of factors (how long they've had it, which cleaning length they chose, whose fault any failure was), not a single rule. Picking the wrong row means refunding something that shouldn't be refunded, or denying a refund the customer is entitled to. Retention comes first, always: only use the refund table once all reasonable retention efforts have been exhausted and the customer has decided to cancel. Pricing: $19 for the first month and $59 each month after, charged upfront before the first cleaning, renewing automatically whether or not they book.</a:t>
            </a:r>
            <a:endParaRPr/>
          </a:p>
        </p:txBody>
      </p:sp>
      <p:sp>
        <p:nvSpPr>
          <p:cNvPr id="1786" name="Google Shape;1786;p6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4" name="Shape 1804"/>
        <p:cNvGrpSpPr/>
        <p:nvPr/>
      </p:nvGrpSpPr>
      <p:grpSpPr>
        <a:xfrm>
          <a:off x="0" y="0"/>
          <a:ext cx="0" cy="0"/>
          <a:chOff x="0" y="0"/>
          <a:chExt cx="0" cy="0"/>
        </a:xfrm>
      </p:grpSpPr>
      <p:sp>
        <p:nvSpPr>
          <p:cNvPr id="1805" name="Google Shape;1805;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6" name="Google Shape;1806;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INTERNAL ONLY: the 24-hour window is something we use to decide what to do, not a rule we tell the customer. Never say "you have 24 hours to cancel" or mention any deadline. If a customer asks why they got a refund (or didn't), explain the specific outcome, not the rule. It only applies if they haven't had a cleaning yet: zero completed jobs. After even one cleaning, handle it as a normal cancellation. Why it exists: we charge the MF upfront ($19 first month, $59 after) before the first cleaning, and it renews automatically, so we give customers about a day to change their mind. How the window works: 1st MF, from sign-up to when they first contacted us to request a cancellation or refund, or to when they self-cancelled. Succeeding MFs: from when that MF was charged to when they asked. Use reasonable judgment: it's a guideline, not a strict cutoff; signing up one day and contacting us the next can still count. Signed up and changed their mind fast: treat it like they never really committed. Waited days: that's a real cancellation. No request, no refund: even inside the window, don't offer one if they didn't ask.</a:t>
            </a:r>
            <a:endParaRPr/>
          </a:p>
        </p:txBody>
      </p:sp>
      <p:sp>
        <p:nvSpPr>
          <p:cNvPr id="1807" name="Google Shape;1807;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5" name="Shape 1835"/>
        <p:cNvGrpSpPr/>
        <p:nvPr/>
      </p:nvGrpSpPr>
      <p:grpSpPr>
        <a:xfrm>
          <a:off x="0" y="0"/>
          <a:ext cx="0" cy="0"/>
          <a:chOff x="0" y="0"/>
          <a:chExt cx="0" cy="0"/>
        </a:xfrm>
      </p:grpSpPr>
      <p:sp>
        <p:nvSpPr>
          <p:cNvPr id="1836" name="Google Shape;1836;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7" name="Google Shape;1837;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No service issue, no completed job yet. 2–3 hour cleaning, within 24 hours: refund the 1st MF ($19). Use the Refund Voucher option in CRM (no tracker entry), then cancel FC in CRM and invalidate the voucher. 2–3 hour cleaning, after 24 hours: no refund unless there's a compelling reason (e.g. compassion, the customer doesn't have a card); cancel FC and invalidate the voucher; with a compelling reason, refund via the Refund Voucher option first. 4–6 hour cleaning, within 24 hours: refund the 1st MF and the add-on ($19 for 4 hours, $59 for 6 hours); log to the FCF Refund tracker for a Stripe FULL refund, then cancel FC and invalidate the voucher. 4–6 hour cleaning, after 24 hours: no refund of the 1st MF unless compelling; refund the add-on; log to the FCF Refund tracker for a Stripe PARTIAL refund, then cancel FC and invalidate the voucher.</a:t>
            </a:r>
            <a:endParaRPr/>
          </a:p>
        </p:txBody>
      </p:sp>
      <p:sp>
        <p:nvSpPr>
          <p:cNvPr id="1838" name="Google Shape;1838;p6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1" name="Shape 1851"/>
        <p:cNvGrpSpPr/>
        <p:nvPr/>
      </p:nvGrpSpPr>
      <p:grpSpPr>
        <a:xfrm>
          <a:off x="0" y="0"/>
          <a:ext cx="0" cy="0"/>
          <a:chOff x="0" y="0"/>
          <a:chExt cx="0" cy="0"/>
        </a:xfrm>
      </p:grpSpPr>
      <p:sp>
        <p:nvSpPr>
          <p:cNvPr id="1852" name="Google Shape;1852;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3" name="Google Shape;1853;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Service failure, company's or CP's fault: timing doesn't matter; refund the 1st MF and the add-on. Service failure, customer at fault, within 24 hours: refund both. Customer at fault (except biohazard), after 24 hours: no refund of the 1st MF unless there's a compelling reason; refund the add-on. Biohazard reported by the CP: timing doesn't matter; refund both. How to process: 2–3 hour cleaning, use the Refund Voucher option in CRM (no tracker entry); 4–6 hour cleaning, log to the FCF Refund tracker for a Stripe FULL refund. Then cancel FC in CRM and invalidate the voucher. Agent Do: for 4–6 hour cleanings, don't use the Refund Voucher option: it only refunds the $19 MF, not the add-on. Log to the FCF Refund tab so a TL issues the full Stripe refund.</a:t>
            </a:r>
            <a:endParaRPr/>
          </a:p>
        </p:txBody>
      </p:sp>
      <p:sp>
        <p:nvSpPr>
          <p:cNvPr id="1854" name="Google Shape;1854;p6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0" name="Shape 1870"/>
        <p:cNvGrpSpPr/>
        <p:nvPr/>
      </p:nvGrpSpPr>
      <p:grpSpPr>
        <a:xfrm>
          <a:off x="0" y="0"/>
          <a:ext cx="0" cy="0"/>
          <a:chOff x="0" y="0"/>
          <a:chExt cx="0" cy="0"/>
        </a:xfrm>
      </p:grpSpPr>
      <p:sp>
        <p:nvSpPr>
          <p:cNvPr id="1871" name="Google Shape;1871;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2" name="Google Shape;1872;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2+ MFs paid with no jobs done: no refund by default (timing doesn't matter), unless one of these applies: 1) they reached out within 24 hours of being charged their most recent MF; 2) they tried to book within a specific MF's coverage period but didn't get a cleaning because of CP or platform fault: refund that specific MF; 3) they reached out within about 3 days of their most recent MF charge AND the root cause is CP or platform fault (not a strict 72-hour cutoff; before the 4th day can still qualify); 4) biohazard reported by the CP: refund all unused MFs in full if the customer asks (the 120-day timeframe still applies), regardless of timing, since they never had a real shot at using the membership. The add-on is refunded. If any apply, for the 1st charge: 2–3 hour cleaning, Refund Voucher option in CRM; 4–6 hour cleaning, FCF Refund tab for a Stripe FULL refund; then cancel FC in CRM and invalidate the voucher. Macros: FCF Refund (No Completed Cleaning): Cleaning Charge Only; Courtesy (Membership Fee); Courtesy (Service Issue); Partial MF Refund (1 of 2+ Charges).</a:t>
            </a:r>
            <a:endParaRPr/>
          </a:p>
        </p:txBody>
      </p:sp>
      <p:sp>
        <p:nvSpPr>
          <p:cNvPr id="1873" name="Google Shape;1873;p6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1" name="Shape 1901"/>
        <p:cNvGrpSpPr/>
        <p:nvPr/>
      </p:nvGrpSpPr>
      <p:grpSpPr>
        <a:xfrm>
          <a:off x="0" y="0"/>
          <a:ext cx="0" cy="0"/>
          <a:chOff x="0" y="0"/>
          <a:chExt cx="0" cy="0"/>
        </a:xfrm>
      </p:grpSpPr>
      <p:sp>
        <p:nvSpPr>
          <p:cNvPr id="1902" name="Google Shape;1902;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3" name="Google Shape;1903;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Related scenario, FCF first-cleaning duration change: FCF customers occasionally want to change the duration they picked at sign-up. Approved handling: keep FC in place, manually update the voucher duration in Django, and settle the price difference at sign-up-tier pricing: +$19 for 4 hours, +$59 for 6 hours; refund the difference on a downgrade. Agent Do: confirm the current and target tier, get the customer's agreement on the price difference, then update the voucher duration in Django and charge or refund accordingly.</a:t>
            </a:r>
            <a:endParaRPr/>
          </a:p>
        </p:txBody>
      </p:sp>
      <p:sp>
        <p:nvSpPr>
          <p:cNvPr id="1904" name="Google Shape;1904;p6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3" name="Shape 1933"/>
        <p:cNvGrpSpPr/>
        <p:nvPr/>
      </p:nvGrpSpPr>
      <p:grpSpPr>
        <a:xfrm>
          <a:off x="0" y="0"/>
          <a:ext cx="0" cy="0"/>
          <a:chOff x="0" y="0"/>
          <a:chExt cx="0" cy="0"/>
        </a:xfrm>
      </p:grpSpPr>
      <p:sp>
        <p:nvSpPr>
          <p:cNvPr id="1934" name="Google Shape;1934;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5" name="Google Shape;1935;p6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Ask each question and let trainees answer before revealing. Each click reveals the next answer.</a:t>
            </a:r>
            <a:endParaRPr/>
          </a:p>
        </p:txBody>
      </p:sp>
      <p:sp>
        <p:nvSpPr>
          <p:cNvPr id="1936" name="Google Shape;1936;p6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5" name="Shape 1965"/>
        <p:cNvGrpSpPr/>
        <p:nvPr/>
      </p:nvGrpSpPr>
      <p:grpSpPr>
        <a:xfrm>
          <a:off x="0" y="0"/>
          <a:ext cx="0" cy="0"/>
          <a:chOff x="0" y="0"/>
          <a:chExt cx="0" cy="0"/>
        </a:xfrm>
      </p:grpSpPr>
      <p:sp>
        <p:nvSpPr>
          <p:cNvPr id="1966" name="Google Shape;1966;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7" name="Google Shape;1967;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TRAINER: share a live FCF ticket where the customer wants to cancel before their first completed job. Give trainees a few minutes to review it on their own, then work through it together. 1) Which row applies? Check there are zero completed jobs, retention was attempted, the timing (internal 24-hour window), the cleaning length (2–3 vs 4–6 hours), and whose fault any failure was. 2) What actions are you going to take? 2–3 hours: Refund Voucher option in CRM; 4–6 hours: FCF Refund tracker for a Stripe full or partial refund; then cancel FC and invalidate the voucher. 3) 5-minute writing challenge: each trainee writes the comms, without mentioning the 24-hour window. Read a few aloud and compare. Then open the floor for questions.</a:t>
            </a:r>
            <a:endParaRPr/>
          </a:p>
        </p:txBody>
      </p:sp>
      <p:sp>
        <p:nvSpPr>
          <p:cNvPr id="1968" name="Google Shape;1968;p7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8" name="Shape 1998"/>
        <p:cNvGrpSpPr/>
        <p:nvPr/>
      </p:nvGrpSpPr>
      <p:grpSpPr>
        <a:xfrm>
          <a:off x="0" y="0"/>
          <a:ext cx="0" cy="0"/>
          <a:chOff x="0" y="0"/>
          <a:chExt cx="0" cy="0"/>
        </a:xfrm>
      </p:grpSpPr>
      <p:sp>
        <p:nvSpPr>
          <p:cNvPr id="1999" name="Google Shape;1999;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0" name="Google Shape;2000;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Trial Cleaning (TC) / One-Time Cleaning (OTC). This covers two non-membership (or limited-membership) alternatives to a full ForeverClean membership. Both come up in two ways: 1) Conversion: a customer with an unused DHJ voucher, or an FCF membership with no completed job, can be converted to TC/OTC instead of using or refunding the voucher or continuing the membership. 2) Direct purchase: a customer can buy TC/OTC directly through Sales without ever signing up for ForeverClean (full regular rate from the FC Sales Calculator). This applies to both DHJ and FCF. Why it matters: not every customer wants an ongoing membership. Steering them into a refund by default, when a TC/OTC would get them what they want, is a missed opportunity.</a:t>
            </a:r>
            <a:endParaRPr/>
          </a:p>
        </p:txBody>
      </p:sp>
      <p:sp>
        <p:nvSpPr>
          <p:cNvPr id="2001" name="Google Shape;2001;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9" name="Shape 2029"/>
        <p:cNvGrpSpPr/>
        <p:nvPr/>
      </p:nvGrpSpPr>
      <p:grpSpPr>
        <a:xfrm>
          <a:off x="0" y="0"/>
          <a:ext cx="0" cy="0"/>
          <a:chOff x="0" y="0"/>
          <a:chExt cx="0" cy="0"/>
        </a:xfrm>
      </p:grpSpPr>
      <p:sp>
        <p:nvSpPr>
          <p:cNvPr id="2030" name="Google Shape;2030;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1" name="Google Shape;2031;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Both are one-off paid cleanings charged upfront, but they have completely different downstream consequences. Trial Cleaning (TC): triggers an FC table (membership). The customer has a 30-day window from the appointment to cancel with no obligation. If no cancellation request comes in during that window, the membership activates for real: $59/month, 6-month MCT, $99 ETF going forward. Use case: wants to try the membership before committing. One-Time Cleaning (OTC): no FC table; nothing further, no ongoing relationship. Use case: wants a single cleaning (e.g. a move-out clean) with no interest in a membership.</a:t>
            </a:r>
            <a:endParaRPr/>
          </a:p>
        </p:txBody>
      </p:sp>
      <p:sp>
        <p:nvSpPr>
          <p:cNvPr id="2032" name="Google Shape;2032;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7" name="Shape 2047"/>
        <p:cNvGrpSpPr/>
        <p:nvPr/>
      </p:nvGrpSpPr>
      <p:grpSpPr>
        <a:xfrm>
          <a:off x="0" y="0"/>
          <a:ext cx="0" cy="0"/>
          <a:chOff x="0" y="0"/>
          <a:chExt cx="0" cy="0"/>
        </a:xfrm>
      </p:grpSpPr>
      <p:sp>
        <p:nvSpPr>
          <p:cNvPr id="2048" name="Google Shape;2048;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9" name="Google Shape;2049;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Use the (Transformation) FC SALES CALCULATOR to get the correct TC/OTC rate before applying either deduction. DHJ: deduct the voucher purchase price they already paid. FCF: deduct all membership fees paid to date (within 120 days), not just the initial $19 first MF, plus the add-on if they chose a 4-hour ($19) or 6-hour ($59) cleaning. If the deduction exceeds the TC/OTC price (FCF): no refund of the excess; the customer pays $0, but nothing comes back to them. Examples: 2 MFs + $59 add-on = $137 paid; a 6-hour clean at $378 means they pay the remaining $241. $150 in MFs paid vs a $120 OTC: $0 due, and the $30 is not refunded.</a:t>
            </a:r>
            <a:endParaRPr/>
          </a:p>
        </p:txBody>
      </p:sp>
      <p:sp>
        <p:nvSpPr>
          <p:cNvPr id="2050" name="Google Shape;2050;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9" name="Shape 2069"/>
        <p:cNvGrpSpPr/>
        <p:nvPr/>
      </p:nvGrpSpPr>
      <p:grpSpPr>
        <a:xfrm>
          <a:off x="0" y="0"/>
          <a:ext cx="0" cy="0"/>
          <a:chOff x="0" y="0"/>
          <a:chExt cx="0" cy="0"/>
        </a:xfrm>
      </p:grpSpPr>
      <p:sp>
        <p:nvSpPr>
          <p:cNvPr id="2070" name="Google Shape;2070;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1" name="Google Shape;2071;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Acknowledge and empathize. DHJ only: if they have refund intent, provide the self-refund link, advise entering the voucher code before "Refund Voucher", and include the code in your email (not applicable to FCF: they signed up for a membership, not a voucher). Explain what they signed up for and offer the alternative. DHJ OTC: "The voucher you purchased comes with a membership, so if you're only looking for a one-time cleaning, using it wouldn't be the best route. What I can do instead is offer a one-time cleaning at $[X], that's the regular rate minus the $[X] you already paid for the voucher, charged upfront. Just let me know your preferred date and time and I'll get that booked for you." FCF OTC: "What you signed up for is a membership, so if you're only looking for a one-time cleaning…" DHJ/FCF TC: "I totally get that you might not want to commit to a membership right away. We actually have a Trial Cleaning option, which could be a better fit. It lets you try things out first… a standard [X]-hour clean is normally $[X], but we can apply what you've already paid, bringing your total to $[X], charged upfront." For TC, set expectations: 30 days from the appointment to contact us if they don't want to continue, cancelled with no obligation; otherwise the $59/month membership starts automatically, with a 6-month MCT, and a $99 ETF if cancelled after the 30 days and before completing the 6 months. Check upcoming appointments and RC: cancel via CRM if there's no sign they want to keep them. Macros: "DHJ - Wants to 'Try it Out' (Trial Cleaning)", "DHJ - Wants One Time Cleaning".</a:t>
            </a:r>
            <a:endParaRPr/>
          </a:p>
        </p:txBody>
      </p:sp>
      <p:sp>
        <p:nvSpPr>
          <p:cNvPr id="2072" name="Google Shape;2072;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0" name="Shape 2090"/>
        <p:cNvGrpSpPr/>
        <p:nvPr/>
      </p:nvGrpSpPr>
      <p:grpSpPr>
        <a:xfrm>
          <a:off x="0" y="0"/>
          <a:ext cx="0" cy="0"/>
          <a:chOff x="0" y="0"/>
          <a:chExt cx="0" cy="0"/>
        </a:xfrm>
      </p:grpSpPr>
      <p:sp>
        <p:nvSpPr>
          <p:cNvPr id="2091" name="Google Shape;2091;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2" name="Google Shape;2092;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If the customer accepts: confirm the account info (complete address, a valid card on file, appointment date, time and duration). If they still want a refund: DHJ, refund the voucher via CRM and invalidate it; FCF, log the 1st charge (1st MF + add-on, if any) to the FCF Refund log so a TL refunds it via Stripe. If they no longer want a refund, apply the deduction and invalidate the voucher (DHJ voucher price; FCF all MFs paid + add-on). Charge upfront using the FC Sales Calculator. Book the appointment (CRM if applicable, otherwise the customer dashboard). Handle the existing FC table: OTC (DHJ or FCF), invalidate the voucher and deactivate the FC table. DHJ TC: leave the FC table as is, since DHJ MFs only start after a completed job. FCF TC: deactivate the FC table, since FCF starts at sign-up and auto-renews. Prevent a double charge: issue an admin_courtesy voucher (don't notify the customer). TC only: click the voucher in Legacy CRM and select "ForeverClean force" (triggers FC once the job is completed) and "1 free month" (delays the next MF by 30 days); add the customer to the FC table (FCF); update the ETF to $99. Confirm to the customer: charged upfront, appointment booked, notified once the CP confirms.</a:t>
            </a:r>
            <a:endParaRPr/>
          </a:p>
        </p:txBody>
      </p:sp>
      <p:sp>
        <p:nvSpPr>
          <p:cNvPr id="2093" name="Google Shape;2093;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7" name="Shape 2127"/>
        <p:cNvGrpSpPr/>
        <p:nvPr/>
      </p:nvGrpSpPr>
      <p:grpSpPr>
        <a:xfrm>
          <a:off x="0" y="0"/>
          <a:ext cx="0" cy="0"/>
          <a:chOff x="0" y="0"/>
          <a:chExt cx="0" cy="0"/>
        </a:xfrm>
      </p:grpSpPr>
      <p:sp>
        <p:nvSpPr>
          <p:cNvPr id="2128" name="Google Shape;2128;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9" name="Google Shape;2129;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If the customer declines the TC/OTC offer. Refund: DHJ, if they request a refund within 1 year of purchase, refund the DHJ voucher through CRM and invalidate it. FCF: check the Refund Eligibility Cheat Sheet (No Completed Job Yet) in the FCF Pre-Invoice Cancellation article. FC table: deactivate it in every case. Advise the customer: DHJ, refund processed, 5–10 business days; FCF, depends on the cheat sheet. CRM account: if they want their account closed, deactivate it, but send comms before deactivating.</a:t>
            </a:r>
            <a:endParaRPr/>
          </a:p>
        </p:txBody>
      </p:sp>
      <p:sp>
        <p:nvSpPr>
          <p:cNvPr id="2130" name="Google Shape;2130;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4" name="Shape 2154"/>
        <p:cNvGrpSpPr/>
        <p:nvPr/>
      </p:nvGrpSpPr>
      <p:grpSpPr>
        <a:xfrm>
          <a:off x="0" y="0"/>
          <a:ext cx="0" cy="0"/>
          <a:chOff x="0" y="0"/>
          <a:chExt cx="0" cy="0"/>
        </a:xfrm>
      </p:grpSpPr>
      <p:sp>
        <p:nvSpPr>
          <p:cNvPr id="2155" name="Google Shape;2155;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6" name="Google Shape;2156;p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Applies however the customer got here (Care or Sales). Changed their mind, or no clear reason: give a full admin refund of what they paid; invalidate the voucher tied to the order; if it was a Trial Cleaning, cancel the FC table too (easy to forget: OTC never had a table, but a TC did, and it doesn't go away just because you refunded); double-check the appointment itself is cancelled; if they say why, acknowledge warmly and say they're welcome back; if they don't, probe, since a vague reason might be fixable. If they come back to try again, don't charge upfront again; just help them book, and it's invoiced normally. Cancelled because of a service issue (no-show, cancellation, no CP claim): same refund steps, plus real acknowledgment: "I understand it's frustrating when your cleaning gets cancelled. I'm here to help." Fix the root cause: block the CP/customer pairing and coach or penalize the CP. If they're open to it, offer a different, reliable cleaner, with priority booking if you can: "While your first cleaner cancelled, we can connect you with another trusted cleaner if you'd like to try again." A small incentive ($10–$25 in credits, or a free hour) goes a long way: we're asking for a second chance. Completed the Trial and wants to cancel within the 30-day window: cancel FC, no ETF, whatever the reason. Even if the reason was a bad cleaning, cancel as asked; you can offer a second chance (a different cleaner plus around $20 in credits) if they seem open. If they come back later, follow the usual FC Reactivations.</a:t>
            </a:r>
            <a:endParaRPr/>
          </a:p>
        </p:txBody>
      </p:sp>
      <p:sp>
        <p:nvSpPr>
          <p:cNvPr id="2157" name="Google Shape;2157;p7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5" name="Shape 2175"/>
        <p:cNvGrpSpPr/>
        <p:nvPr/>
      </p:nvGrpSpPr>
      <p:grpSpPr>
        <a:xfrm>
          <a:off x="0" y="0"/>
          <a:ext cx="0" cy="0"/>
          <a:chOff x="0" y="0"/>
          <a:chExt cx="0" cy="0"/>
        </a:xfrm>
      </p:grpSpPr>
      <p:sp>
        <p:nvSpPr>
          <p:cNvPr id="2176" name="Google Shape;2176;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7" name="Google Shape;2177;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customer paid upfront for a TC/OTC but only received part of the cleaning. Key point: the customer has no idea a voucher exists on their account; it's an internal way to avoid double-charging when the CP invoices. They paid upfront and expect real money back. If the CP already refunded part of it (as a voucher) and the customer wants cash: the CP already confirmed something went wrong, so invalidate that voucher, admin refund the matching amount from the original charge, and let the customer know. Example: a $252 OTC for 4 hours with 1 hour refunded: refund $63 ($252 / 4). If nothing has been confirmed and it looks like an overcharge: run the standard Overcharged Hours process first, and only refund once it's confirmed (real evidence, or the CP never responded). Match the refund to what wasn't done: paid 4 hours, got 2, half back. Steps: 1) Block automated comms (C CRM &gt; Do &gt; Deactivate block comms) so the customer doesn't get a confusing "your voucher was refunded" message, then refund from the CP dashboard so the CP is only paid for the hours worked. 2) Once you've confirmed the message didn't go out, remove the block and invalidate the voucher. 3) Do the math and issue an admin refund for the TC/OTC manual charge.</a:t>
            </a:r>
            <a:endParaRPr/>
          </a:p>
        </p:txBody>
      </p:sp>
      <p:sp>
        <p:nvSpPr>
          <p:cNvPr id="2178" name="Google Shape;2178;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2" name="Shape 2202"/>
        <p:cNvGrpSpPr/>
        <p:nvPr/>
      </p:nvGrpSpPr>
      <p:grpSpPr>
        <a:xfrm>
          <a:off x="0" y="0"/>
          <a:ext cx="0" cy="0"/>
          <a:chOff x="0" y="0"/>
          <a:chExt cx="0" cy="0"/>
        </a:xfrm>
      </p:grpSpPr>
      <p:sp>
        <p:nvSpPr>
          <p:cNvPr id="2203" name="Google Shape;2203;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4" name="Google Shape;2204;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Ask each question and let trainees answer before revealing. Each click reveals the next answer.</a:t>
            </a:r>
            <a:endParaRPr/>
          </a:p>
        </p:txBody>
      </p:sp>
      <p:sp>
        <p:nvSpPr>
          <p:cNvPr id="2205" name="Google Shape;2205;p7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4" name="Shape 2234"/>
        <p:cNvGrpSpPr/>
        <p:nvPr/>
      </p:nvGrpSpPr>
      <p:grpSpPr>
        <a:xfrm>
          <a:off x="0" y="0"/>
          <a:ext cx="0" cy="0"/>
          <a:chOff x="0" y="0"/>
          <a:chExt cx="0" cy="0"/>
        </a:xfrm>
      </p:grpSpPr>
      <p:sp>
        <p:nvSpPr>
          <p:cNvPr id="2235" name="Google Shape;2235;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6" name="Google Shape;2236;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TRAINER: share a live ticket where a TC or OTC could be offered (or a TC/OTC cancellation). Give trainees a few minutes to review it on their own, then work through it together. 1) TC or OTC, and why? DHJ or FCF? 2) What actions are you going to take? Get the rate from the FC Sales Calculator, deduct what was paid (voucher, or MFs + add-on within 120 days; no refund of any excess), charge upfront, book, handle the FC table by model, issue the admin_courtesy voucher, and for a TC force FC + 1 free month and set the ETF to $99. 3) 5-minute writing challenge: each trainee writes the offer, including TC expectations if relevant. Read a few aloud and compare. Then open the floor for questions.</a:t>
            </a:r>
            <a:endParaRPr/>
          </a:p>
        </p:txBody>
      </p:sp>
      <p:sp>
        <p:nvSpPr>
          <p:cNvPr id="2237" name="Google Shape;2237;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7" name="Shape 2267"/>
        <p:cNvGrpSpPr/>
        <p:nvPr/>
      </p:nvGrpSpPr>
      <p:grpSpPr>
        <a:xfrm>
          <a:off x="0" y="0"/>
          <a:ext cx="0" cy="0"/>
          <a:chOff x="0" y="0"/>
          <a:chExt cx="0" cy="0"/>
        </a:xfrm>
      </p:grpSpPr>
      <p:sp>
        <p:nvSpPr>
          <p:cNvPr id="2268" name="Google Shape;2268;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9" name="Google Shape;2269;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Close the module. Recap: Washington State (confirm residency and MCT 0 / ETF $0, cancel immediately, no retention, never mention the ETF; MF refunds default no). Offer Logic (no cancellation intent needed; Retention, Exit or Make-Right; pick the offer built for the problem; check existing offers; caps and guardrails). Cancellation Intent in C/CP Comms (reach out first; know something, not everything; probe; explain terms; route to the right playbook). General Retention Playbook (fix the real problem; weigh the five factors, don't count; hard overrides; match and present the offer; the Newspaper Test; don't close too soon). Unused DHJ Voucher (FC hasn't started; sort into four cases; self-refund link only with refund intent; close accounts in order). FCF Pre-Invoice (retention first; internal 24-hour window; 2–3 hr Refund Voucher vs 4–6 hr Stripe via tracker; cancel FC and invalidate). Trial and One-Time Cleaning (TC creates an FC table with a 30-day window, OTC doesn't; deduct what was paid; never refund the excess).</a:t>
            </a:r>
            <a:endParaRPr/>
          </a:p>
        </p:txBody>
      </p:sp>
      <p:sp>
        <p:nvSpPr>
          <p:cNvPr id="2270" name="Google Shape;2270;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solidFill>
          <a:srgbClr val="F6F7F9"/>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6F7F9"/>
        </a:solidFill>
      </p:bgPr>
    </p:bg>
    <p:spTree>
      <p:nvGrpSpPr>
        <p:cNvPr id="12" name="Shape 12"/>
        <p:cNvGrpSpPr/>
        <p:nvPr/>
      </p:nvGrpSpPr>
      <p:grpSpPr>
        <a:xfrm>
          <a:off x="0" y="0"/>
          <a:ext cx="0" cy="0"/>
          <a:chOff x="0" y="0"/>
          <a:chExt cx="0" cy="0"/>
        </a:xfrm>
      </p:grpSpPr>
      <p:sp>
        <p:nvSpPr>
          <p:cNvPr id="13" name="Google Shape;13;p3"/>
          <p:cNvSpPr/>
          <p:nvPr/>
        </p:nvSpPr>
        <p:spPr>
          <a:xfrm>
            <a:off x="438912" y="4800600"/>
            <a:ext cx="3657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700"/>
              <a:buFont typeface="Arial"/>
              <a:buNone/>
            </a:pPr>
            <a:r>
              <a:rPr b="0" i="0" lang="en-US" spc="0" sz="700" u="none" cap="none" strike="noStrike">
                <a:solidFill>
                  <a:srgbClr val="6E6E73"/>
                </a:solidFill>
                <a:latin typeface="Arial"/>
                <a:ea typeface="Arial"/>
                <a:cs typeface="Arial"/>
                <a:sym typeface="Arial"/>
              </a:rPr>
              <a:t>Homeaglow  ·  New Hire Care Training</a:t>
            </a:r>
            <a:endParaRPr b="0" i="0" spc="0" sz="700" u="none" cap="none" strike="noStrike">
              <a:solidFill>
                <a:schemeClr val="dk1"/>
              </a:solidFill>
              <a:latin typeface="Calibri"/>
              <a:ea typeface="Calibri"/>
              <a:cs typeface="Calibri"/>
              <a:sym typeface="Calibri"/>
            </a:endParaRPr>
          </a:p>
        </p:txBody>
      </p:sp>
      <p:sp>
        <p:nvSpPr>
          <p:cNvPr id="14" name="Google Shape;14;p3"/>
          <p:cNvSpPr txBox="1"/>
          <p:nvPr>
            <p:ph idx="12"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700"/>
              <a:buFont typeface="Arial"/>
              <a:buNone/>
              <a:defRPr b="0" i="0" spc="0" sz="700" u="none" cap="none" strike="noStrike">
                <a:solidFill>
                  <a:srgbClr val="6E6E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2.png"/></Relationships>
</file>

<file path=ppt/slides/_rels/slide2.xml.rels><?xml version="1.0" encoding="UTF-8" standalone="yes"?><Relationships xmlns="http://schemas.openxmlformats.org/package/2006/relationships"><Relationship Id="rId20" Type="http://schemas.openxmlformats.org/officeDocument/2006/relationships/slide" Target="/ppt/slides/slide62.xml"/><Relationship Id="rId11" Type="http://schemas.openxmlformats.org/officeDocument/2006/relationships/slide" Target="/ppt/slides/slide27.xml"/><Relationship Id="rId22" Type="http://schemas.openxmlformats.org/officeDocument/2006/relationships/slide" Target="/ppt/slides/slide71.xml"/><Relationship Id="rId10" Type="http://schemas.openxmlformats.org/officeDocument/2006/relationships/slide" Target="/ppt/slides/slide27.xml"/><Relationship Id="rId21" Type="http://schemas.openxmlformats.org/officeDocument/2006/relationships/slide" Target="/ppt/slides/slide71.xml"/><Relationship Id="rId13" Type="http://schemas.openxmlformats.org/officeDocument/2006/relationships/slide" Target="/ppt/slides/slide34.xml"/><Relationship Id="rId12" Type="http://schemas.openxmlformats.org/officeDocument/2006/relationships/slide" Target="/ppt/slides/slide34.xml"/><Relationship Id="rId23" Type="http://schemas.openxmlformats.org/officeDocument/2006/relationships/slide" Target="/ppt/slides/slide71.xml"/><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3.xml"/><Relationship Id="rId9" Type="http://schemas.openxmlformats.org/officeDocument/2006/relationships/slide" Target="/ppt/slides/slide27.xml"/><Relationship Id="rId15" Type="http://schemas.openxmlformats.org/officeDocument/2006/relationships/slide" Target="/ppt/slides/slide52.xml"/><Relationship Id="rId14" Type="http://schemas.openxmlformats.org/officeDocument/2006/relationships/slide" Target="/ppt/slides/slide34.xml"/><Relationship Id="rId17" Type="http://schemas.openxmlformats.org/officeDocument/2006/relationships/slide" Target="/ppt/slides/slide52.xml"/><Relationship Id="rId16" Type="http://schemas.openxmlformats.org/officeDocument/2006/relationships/slide" Target="/ppt/slides/slide52.xml"/><Relationship Id="rId5" Type="http://schemas.openxmlformats.org/officeDocument/2006/relationships/slide" Target="/ppt/slides/slide3.xml"/><Relationship Id="rId19" Type="http://schemas.openxmlformats.org/officeDocument/2006/relationships/slide" Target="/ppt/slides/slide62.xml"/><Relationship Id="rId6" Type="http://schemas.openxmlformats.org/officeDocument/2006/relationships/slide" Target="/ppt/slides/slide12.xml"/><Relationship Id="rId18" Type="http://schemas.openxmlformats.org/officeDocument/2006/relationships/slide" Target="/ppt/slides/slide62.xml"/><Relationship Id="rId7" Type="http://schemas.openxmlformats.org/officeDocument/2006/relationships/slide" Target="/ppt/slides/slide12.xml"/><Relationship Id="rId8" Type="http://schemas.openxmlformats.org/officeDocument/2006/relationships/slide" Target="/ppt/slid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drive.google.com/file/d/1FNrb0bVkfw4z9XO_nxwU_teVxbLA2VtL/view?usp=sharing" TargetMode="Externa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3.png"/><Relationship Id="rId7"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drive.google.com/file/d/1f9SkROdd6ZQ01fgADNoryrOM1S-hbers/view?usp=drive_link" TargetMode="External"/><Relationship Id="rId4" Type="http://schemas.openxmlformats.org/officeDocument/2006/relationships/hyperlink" Target="https://drive.google.com/file/d/1FYPC3uPVpHR5z_jfTcPIV1V5yKSX3KW0/view?usp=drive_link" TargetMode="External"/><Relationship Id="rId5"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28.png"/><Relationship Id="rId5" Type="http://schemas.openxmlformats.org/officeDocument/2006/relationships/image" Target="../media/image5.png"/><Relationship Id="rId6"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9.png"/><Relationship Id="rId4" Type="http://schemas.openxmlformats.org/officeDocument/2006/relationships/image" Target="../media/image35.png"/><Relationship Id="rId5"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32.png"/><Relationship Id="rId5" Type="http://schemas.openxmlformats.org/officeDocument/2006/relationships/image" Target="../media/image31.png"/><Relationship Id="rId6"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pn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4.png"/><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6.png"/><Relationship Id="rId4" Type="http://schemas.openxmlformats.org/officeDocument/2006/relationships/image" Target="../media/image28.png"/><Relationship Id="rId5" Type="http://schemas.openxmlformats.org/officeDocument/2006/relationships/image" Target="../media/image39.png"/><Relationship Id="rId6" Type="http://schemas.openxmlformats.org/officeDocument/2006/relationships/image" Target="../media/image37.png"/><Relationship Id="rId7"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47.png"/><Relationship Id="rId4" Type="http://schemas.openxmlformats.org/officeDocument/2006/relationships/image" Target="../media/image45.png"/><Relationship Id="rId5" Type="http://schemas.openxmlformats.org/officeDocument/2006/relationships/image" Target="../media/image40.png"/><Relationship Id="rId6" Type="http://schemas.openxmlformats.org/officeDocument/2006/relationships/image" Target="../media/image19.png"/><Relationship Id="rId7" Type="http://schemas.openxmlformats.org/officeDocument/2006/relationships/image" Target="../media/image41.png"/><Relationship Id="rId8" Type="http://schemas.openxmlformats.org/officeDocument/2006/relationships/image" Target="../media/image4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40.png"/><Relationship Id="rId4" Type="http://schemas.openxmlformats.org/officeDocument/2006/relationships/image" Target="../media/image43.png"/><Relationship Id="rId5" Type="http://schemas.openxmlformats.org/officeDocument/2006/relationships/image" Target="../media/image42.png"/><Relationship Id="rId6"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5.png"/><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png"/><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52.png"/><Relationship Id="rId4" Type="http://schemas.openxmlformats.org/officeDocument/2006/relationships/image" Target="../media/image35.png"/><Relationship Id="rId5" Type="http://schemas.openxmlformats.org/officeDocument/2006/relationships/image" Target="../media/image53.png"/><Relationship Id="rId6" Type="http://schemas.openxmlformats.org/officeDocument/2006/relationships/image" Target="../media/image6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5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7.png"/><Relationship Id="rId4" Type="http://schemas.openxmlformats.org/officeDocument/2006/relationships/image" Target="../media/image4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9.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6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65.png"/><Relationship Id="rId4" Type="http://schemas.openxmlformats.org/officeDocument/2006/relationships/image" Target="../media/image17.png"/><Relationship Id="rId5"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61.png"/><Relationship Id="rId4" Type="http://schemas.openxmlformats.org/officeDocument/2006/relationships/image" Target="../media/image18.png"/><Relationship Id="rId5" Type="http://schemas.openxmlformats.org/officeDocument/2006/relationships/image" Target="../media/image62.png"/><Relationship Id="rId6" Type="http://schemas.openxmlformats.org/officeDocument/2006/relationships/image" Target="../media/image6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71.png"/><Relationship Id="rId4" Type="http://schemas.openxmlformats.org/officeDocument/2006/relationships/image" Target="../media/image6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6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18.png"/><Relationship Id="rId6" Type="http://schemas.openxmlformats.org/officeDocument/2006/relationships/image" Target="../media/image68.png"/><Relationship Id="rId7" Type="http://schemas.openxmlformats.org/officeDocument/2006/relationships/image" Target="../media/image4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5.png"/><Relationship Id="rId4" Type="http://schemas.openxmlformats.org/officeDocument/2006/relationships/image" Target="../media/image1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png"/><Relationship Id="rId4" Type="http://schemas.openxmlformats.org/officeDocument/2006/relationships/image" Target="../media/image7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png"/><Relationship Id="rId4" Type="http://schemas.openxmlformats.org/officeDocument/2006/relationships/hyperlink" Target="https://www.homeaglow.com/crm/tickets/tkt_gs2vwxl9s8x4" TargetMode="External"/><Relationship Id="rId5" Type="http://schemas.openxmlformats.org/officeDocument/2006/relationships/hyperlink" Target="https://www.homeaglow.com/crm/tickets/tkt_gs2vwxl9s8x4"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1.png"/><Relationship Id="rId4" Type="http://schemas.openxmlformats.org/officeDocument/2006/relationships/image" Target="../media/image74.png"/><Relationship Id="rId5" Type="http://schemas.openxmlformats.org/officeDocument/2006/relationships/image" Target="../media/image73.png"/><Relationship Id="rId6" Type="http://schemas.openxmlformats.org/officeDocument/2006/relationships/image" Target="../media/image2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png"/><Relationship Id="rId4" Type="http://schemas.openxmlformats.org/officeDocument/2006/relationships/image" Target="../media/image76.png"/><Relationship Id="rId5" Type="http://schemas.openxmlformats.org/officeDocument/2006/relationships/image" Target="../media/image40.png"/><Relationship Id="rId6" Type="http://schemas.openxmlformats.org/officeDocument/2006/relationships/image" Target="../media/image7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79.png"/><Relationship Id="rId4" Type="http://schemas.openxmlformats.org/officeDocument/2006/relationships/image" Target="../media/image19.png"/><Relationship Id="rId5" Type="http://schemas.openxmlformats.org/officeDocument/2006/relationships/image" Target="../media/image11.png"/><Relationship Id="rId6" Type="http://schemas.openxmlformats.org/officeDocument/2006/relationships/image" Target="../media/image7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15.png"/><Relationship Id="rId4" Type="http://schemas.openxmlformats.org/officeDocument/2006/relationships/image" Target="../media/image1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3.png"/><Relationship Id="rId4" Type="http://schemas.openxmlformats.org/officeDocument/2006/relationships/image" Target="../media/image8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2.png"/><Relationship Id="rId4" Type="http://schemas.openxmlformats.org/officeDocument/2006/relationships/image" Target="../media/image2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78.png"/><Relationship Id="rId4" Type="http://schemas.openxmlformats.org/officeDocument/2006/relationships/image" Target="../media/image59.png"/><Relationship Id="rId5" Type="http://schemas.openxmlformats.org/officeDocument/2006/relationships/image" Target="../media/image32.png"/><Relationship Id="rId6" Type="http://schemas.openxmlformats.org/officeDocument/2006/relationships/image" Target="../media/image18.png"/><Relationship Id="rId7" Type="http://schemas.openxmlformats.org/officeDocument/2006/relationships/image" Target="../media/image80.png"/><Relationship Id="rId8" Type="http://schemas.openxmlformats.org/officeDocument/2006/relationships/image" Target="../media/image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54.png"/><Relationship Id="rId4" Type="http://schemas.openxmlformats.org/officeDocument/2006/relationships/image" Target="../media/image6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32.png"/><Relationship Id="rId4" Type="http://schemas.openxmlformats.org/officeDocument/2006/relationships/image" Target="../media/image19.png"/><Relationship Id="rId5" Type="http://schemas.openxmlformats.org/officeDocument/2006/relationships/image" Target="../media/image83.png"/><Relationship Id="rId6" Type="http://schemas.openxmlformats.org/officeDocument/2006/relationships/image" Target="../media/image56.png"/><Relationship Id="rId7" Type="http://schemas.openxmlformats.org/officeDocument/2006/relationships/image" Target="../media/image81.png"/><Relationship Id="rId8" Type="http://schemas.openxmlformats.org/officeDocument/2006/relationships/image" Target="../media/image5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7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15.png"/><Relationship Id="rId4" Type="http://schemas.openxmlformats.org/officeDocument/2006/relationships/image" Target="../media/image1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3.png"/><Relationship Id="rId4" Type="http://schemas.openxmlformats.org/officeDocument/2006/relationships/image" Target="../media/image8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8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8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74.png"/><Relationship Id="rId4" Type="http://schemas.openxmlformats.org/officeDocument/2006/relationships/image" Target="../media/image79.png"/><Relationship Id="rId5" Type="http://schemas.openxmlformats.org/officeDocument/2006/relationships/image" Target="../media/image88.png"/><Relationship Id="rId6" Type="http://schemas.openxmlformats.org/officeDocument/2006/relationships/image" Target="../media/image5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8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89.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15.png"/><Relationship Id="rId4" Type="http://schemas.openxmlformats.org/officeDocument/2006/relationships/image" Target="../media/image1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9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 name="Shape 20"/>
        <p:cNvGrpSpPr/>
        <p:nvPr/>
      </p:nvGrpSpPr>
      <p:grpSpPr>
        <a:xfrm>
          <a:off x="0" y="0"/>
          <a:ext cx="0" cy="0"/>
          <a:chOff x="0" y="0"/>
          <a:chExt cx="0" cy="0"/>
        </a:xfrm>
      </p:grpSpPr>
      <p:sp>
        <p:nvSpPr>
          <p:cNvPr id="21" name="Google Shape;21;p5"/>
          <p:cNvSpPr txBox="1"/>
          <p:nvPr/>
        </p:nvSpPr>
        <p:spPr>
          <a:xfrm>
            <a:off x="566928" y="54864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HOMEAGLOW  ·  NEW HIRE CARE TRAINING</a:t>
            </a:r>
            <a:endParaRPr b="0" i="0" spc="0" sz="800" u="none" cap="none" strike="noStrike">
              <a:solidFill>
                <a:schemeClr val="dk1"/>
              </a:solidFill>
              <a:latin typeface="Calibri"/>
              <a:ea typeface="Calibri"/>
              <a:cs typeface="Calibri"/>
              <a:sym typeface="Calibri"/>
            </a:endParaRPr>
          </a:p>
        </p:txBody>
      </p:sp>
      <p:sp>
        <p:nvSpPr>
          <p:cNvPr id="22" name="Google Shape;22;p5"/>
          <p:cNvSpPr txBox="1"/>
          <p:nvPr/>
        </p:nvSpPr>
        <p:spPr>
          <a:xfrm>
            <a:off x="566928" y="868680"/>
            <a:ext cx="4480560" cy="160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000"/>
              <a:buFont typeface="Play"/>
              <a:buNone/>
            </a:pPr>
            <a:r>
              <a:rPr b="1" i="0" lang="en-US" spc="0" sz="3000" u="none" cap="none" strike="noStrike">
                <a:solidFill>
                  <a:srgbClr val="1D1D1F"/>
                </a:solidFill>
                <a:latin typeface="Play"/>
                <a:ea typeface="Play"/>
                <a:cs typeface="Play"/>
                <a:sym typeface="Play"/>
              </a:rPr>
              <a:t>Retention &amp;</a:t>
            </a:r>
            <a:endParaRPr b="0" i="0" spc="0" sz="3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3000"/>
              <a:buFont typeface="Play"/>
              <a:buNone/>
            </a:pPr>
            <a:r>
              <a:rPr b="1" i="0" lang="en-US" spc="0" sz="3000" u="none" cap="none" strike="noStrike">
                <a:solidFill>
                  <a:srgbClr val="1D1D1F"/>
                </a:solidFill>
                <a:latin typeface="Play"/>
                <a:ea typeface="Play"/>
                <a:cs typeface="Play"/>
                <a:sym typeface="Play"/>
              </a:rPr>
              <a:t>Membership</a:t>
            </a:r>
            <a:endParaRPr b="0" i="0" spc="0" sz="3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3000"/>
              <a:buFont typeface="Play"/>
              <a:buNone/>
            </a:pPr>
            <a:r>
              <a:rPr b="1" i="0" lang="en-US" spc="0" sz="3000" u="none" cap="none" strike="noStrike">
                <a:solidFill>
                  <a:srgbClr val="1D1D1F"/>
                </a:solidFill>
                <a:latin typeface="Play"/>
                <a:ea typeface="Play"/>
                <a:cs typeface="Play"/>
                <a:sym typeface="Play"/>
              </a:rPr>
              <a:t>Cancellation</a:t>
            </a:r>
            <a:endParaRPr b="0" i="0" spc="0" sz="3000" u="none" cap="none" strike="noStrike">
              <a:solidFill>
                <a:schemeClr val="dk1"/>
              </a:solidFill>
              <a:latin typeface="Calibri"/>
              <a:ea typeface="Calibri"/>
              <a:cs typeface="Calibri"/>
              <a:sym typeface="Calibri"/>
            </a:endParaRPr>
          </a:p>
        </p:txBody>
      </p:sp>
      <p:sp>
        <p:nvSpPr>
          <p:cNvPr id="23" name="Google Shape;23;p5"/>
          <p:cNvSpPr txBox="1"/>
          <p:nvPr/>
        </p:nvSpPr>
        <p:spPr>
          <a:xfrm>
            <a:off x="566928" y="2468880"/>
            <a:ext cx="420624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50"/>
              <a:buFont typeface="Arial"/>
              <a:buNone/>
            </a:pPr>
            <a:r>
              <a:rPr b="0" i="0" lang="en-US" spc="0" sz="1250" u="none" cap="none" strike="noStrike">
                <a:solidFill>
                  <a:srgbClr val="6E6E73"/>
                </a:solidFill>
                <a:latin typeface="Arial"/>
                <a:ea typeface="Arial"/>
                <a:cs typeface="Arial"/>
                <a:sym typeface="Arial"/>
              </a:rPr>
              <a:t>How we decide when to retain, when to make an offer, and how to let a customer go fairly.</a:t>
            </a:r>
            <a:endParaRPr b="0" i="0" spc="0" sz="1250" u="none" cap="none" strike="noStrike">
              <a:solidFill>
                <a:schemeClr val="dk1"/>
              </a:solidFill>
              <a:latin typeface="Calibri"/>
              <a:ea typeface="Calibri"/>
              <a:cs typeface="Calibri"/>
              <a:sym typeface="Calibri"/>
            </a:endParaRPr>
          </a:p>
        </p:txBody>
      </p:sp>
      <p:sp>
        <p:nvSpPr>
          <p:cNvPr id="24" name="Google Shape;24;p5"/>
          <p:cNvSpPr txBox="1"/>
          <p:nvPr/>
        </p:nvSpPr>
        <p:spPr>
          <a:xfrm>
            <a:off x="566928" y="4572000"/>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700"/>
              <a:buFont typeface="Arial"/>
              <a:buNone/>
            </a:pPr>
            <a:r>
              <a:rPr b="0" i="0" lang="en-US" spc="0" sz="700" u="none" cap="none" strike="noStrike">
                <a:solidFill>
                  <a:srgbClr val="6E6E73"/>
                </a:solidFill>
                <a:latin typeface="Arial"/>
                <a:ea typeface="Arial"/>
                <a:cs typeface="Arial"/>
                <a:sym typeface="Arial"/>
              </a:rPr>
              <a:t>Internal training material</a:t>
            </a:r>
            <a:endParaRPr b="0" i="0" spc="0" sz="700" u="none" cap="none" strike="noStrike">
              <a:solidFill>
                <a:schemeClr val="dk1"/>
              </a:solidFill>
              <a:latin typeface="Calibri"/>
              <a:ea typeface="Calibri"/>
              <a:cs typeface="Calibri"/>
              <a:sym typeface="Calibri"/>
            </a:endParaRPr>
          </a:p>
        </p:txBody>
      </p:sp>
      <p:sp>
        <p:nvSpPr>
          <p:cNvPr id="25" name="Google Shape;25;p5"/>
          <p:cNvSpPr/>
          <p:nvPr/>
        </p:nvSpPr>
        <p:spPr>
          <a:xfrm>
            <a:off x="5312664" y="365760"/>
            <a:ext cx="3383280" cy="4407408"/>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 name="Google Shape;26;p5"/>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7/ill6.png" id="27" name="Google Shape;27;p5"/>
          <p:cNvPicPr preferRelativeResize="0"/>
          <p:nvPr/>
        </p:nvPicPr>
        <p:blipFill rotWithShape="1">
          <a:blip r:embed="rId3">
            <a:alphaModFix/>
          </a:blip>
          <a:srcRect b="0" l="0" r="0" t="0"/>
          <a:stretch/>
        </p:blipFill>
        <p:spPr>
          <a:xfrm>
            <a:off x="5541264" y="1632461"/>
            <a:ext cx="2926080" cy="1874006"/>
          </a:xfrm>
          <a:prstGeom prst="rect">
            <a:avLst/>
          </a:prstGeom>
          <a:noFill/>
          <a:ln>
            <a:noFill/>
          </a:ln>
        </p:spPr>
      </p:pic>
      <p:sp>
        <p:nvSpPr>
          <p:cNvPr id="28" name="Google Shape;28;p5"/>
          <p:cNvSpPr/>
          <p:nvPr/>
        </p:nvSpPr>
        <p:spPr>
          <a:xfrm>
            <a:off x="5522976" y="566928"/>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 name="Google Shape;29;p5"/>
          <p:cNvSpPr/>
          <p:nvPr/>
        </p:nvSpPr>
        <p:spPr>
          <a:xfrm>
            <a:off x="5646420" y="690372"/>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 name="Google Shape;30;p5"/>
          <p:cNvSpPr/>
          <p:nvPr/>
        </p:nvSpPr>
        <p:spPr>
          <a:xfrm>
            <a:off x="8193024" y="566928"/>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 name="Google Shape;31;p5"/>
          <p:cNvSpPr/>
          <p:nvPr/>
        </p:nvSpPr>
        <p:spPr>
          <a:xfrm>
            <a:off x="8316468" y="690372"/>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 name="Google Shape;32;p5"/>
          <p:cNvSpPr/>
          <p:nvPr/>
        </p:nvSpPr>
        <p:spPr>
          <a:xfrm>
            <a:off x="8193024" y="4242816"/>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 name="Google Shape;33;p5"/>
          <p:cNvSpPr/>
          <p:nvPr/>
        </p:nvSpPr>
        <p:spPr>
          <a:xfrm>
            <a:off x="8316468" y="4366260"/>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OVERVIEW</a:t>
            </a:r>
            <a:endParaRPr b="0" i="0" spc="0" sz="800" u="none" cap="none" strike="noStrike">
              <a:solidFill>
                <a:schemeClr val="dk1"/>
              </a:solidFill>
              <a:latin typeface="Calibri"/>
              <a:ea typeface="Calibri"/>
              <a:cs typeface="Calibri"/>
              <a:sym typeface="Calibri"/>
            </a:endParaRPr>
          </a:p>
        </p:txBody>
      </p:sp>
      <p:sp>
        <p:nvSpPr>
          <p:cNvPr id="40" name="Google Shape;40;p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Agenda</a:t>
            </a:r>
            <a:endParaRPr b="0" i="0" spc="0" sz="2400" u="none" cap="none" strike="noStrike">
              <a:solidFill>
                <a:schemeClr val="dk1"/>
              </a:solidFill>
              <a:latin typeface="Calibri"/>
              <a:ea typeface="Calibri"/>
              <a:cs typeface="Calibri"/>
              <a:sym typeface="Calibri"/>
            </a:endParaRPr>
          </a:p>
        </p:txBody>
      </p:sp>
      <p:sp>
        <p:nvSpPr>
          <p:cNvPr id="41" name="Google Shape;41;p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Seven topics. Click a topic to jump to it.</a:t>
            </a:r>
            <a:endParaRPr b="0" i="0" spc="0" sz="1200" u="none" cap="none" strike="noStrike">
              <a:solidFill>
                <a:schemeClr val="dk1"/>
              </a:solidFill>
              <a:latin typeface="Calibri"/>
              <a:ea typeface="Calibri"/>
              <a:cs typeface="Calibri"/>
              <a:sym typeface="Calibri"/>
            </a:endParaRPr>
          </a:p>
        </p:txBody>
      </p:sp>
      <p:sp>
        <p:nvSpPr>
          <p:cNvPr id="42" name="Google Shape;42;p6">
            <a:hlinkClick action="ppaction://hlinksldjump" r:id="rId3"/>
          </p:cNvPr>
          <p:cNvSpPr/>
          <p:nvPr/>
        </p:nvSpPr>
        <p:spPr>
          <a:xfrm>
            <a:off x="411480" y="1298448"/>
            <a:ext cx="4091940" cy="731520"/>
          </a:xfrm>
          <a:prstGeom prst="roundRect">
            <a:avLst>
              <a:gd fmla="val 7500" name="adj"/>
            </a:avLst>
          </a:prstGeom>
          <a:solidFill>
            <a:srgbClr val="FFFFFF"/>
          </a:solidFill>
          <a:ln cap="flat" cmpd="sng" w="9525">
            <a:solidFill>
              <a:srgbClr val="DCE1E7"/>
            </a:solidFill>
            <a:prstDash val="solid"/>
            <a:round/>
            <a:headEnd len="sm" w="sm" type="none"/>
            <a:tailEnd len="sm" w="sm" type="none"/>
          </a:ln>
        </p:spPr>
        <p:txBody>
          <a:bodyPr anchorCtr="0" anchor="ctr" bIns="0" lIns="711200" spcFirstLastPara="1" rIns="38100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Washington State: FC Cancellation</a:t>
            </a:r>
            <a:endParaRPr b="0" i="0" spc="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ETF $0, MCT 0. Cancel right away, no retention.</a:t>
            </a:r>
            <a:endParaRPr b="0" i="0" spc="0" sz="1300" u="none" cap="none" strike="noStrike">
              <a:solidFill>
                <a:schemeClr val="dk1"/>
              </a:solidFill>
              <a:latin typeface="Calibri"/>
              <a:ea typeface="Calibri"/>
              <a:cs typeface="Calibri"/>
              <a:sym typeface="Calibri"/>
            </a:endParaRPr>
          </a:p>
        </p:txBody>
      </p:sp>
      <p:sp>
        <p:nvSpPr>
          <p:cNvPr id="43" name="Google Shape;43;p6">
            <a:hlinkClick action="ppaction://hlinksldjump" r:id="rId4"/>
          </p:cNvPr>
          <p:cNvSpPr/>
          <p:nvPr/>
        </p:nvSpPr>
        <p:spPr>
          <a:xfrm>
            <a:off x="502920" y="1298448"/>
            <a:ext cx="502920" cy="7315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1600"/>
              <a:buFont typeface="Play"/>
              <a:buNone/>
            </a:pPr>
            <a:r>
              <a:rPr b="1" i="0" lang="en-US" spc="0" sz="1600" u="none" cap="none" strike="noStrike">
                <a:solidFill>
                  <a:srgbClr val="0B7A6F"/>
                </a:solidFill>
                <a:latin typeface="Play"/>
                <a:ea typeface="Play"/>
                <a:cs typeface="Play"/>
                <a:sym typeface="Play"/>
              </a:rPr>
              <a:t>01</a:t>
            </a:r>
            <a:endParaRPr b="0" i="0" spc="0" sz="1600" u="none" cap="none" strike="noStrike">
              <a:solidFill>
                <a:schemeClr val="dk1"/>
              </a:solidFill>
              <a:latin typeface="Calibri"/>
              <a:ea typeface="Calibri"/>
              <a:cs typeface="Calibri"/>
              <a:sym typeface="Calibri"/>
            </a:endParaRPr>
          </a:p>
        </p:txBody>
      </p:sp>
      <p:sp>
        <p:nvSpPr>
          <p:cNvPr id="44" name="Google Shape;44;p6">
            <a:hlinkClick action="ppaction://hlinksldjump" r:id="rId5"/>
          </p:cNvPr>
          <p:cNvSpPr/>
          <p:nvPr/>
        </p:nvSpPr>
        <p:spPr>
          <a:xfrm>
            <a:off x="4119372" y="1298448"/>
            <a:ext cx="320040" cy="7315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2000"/>
              <a:buFont typeface="Play"/>
              <a:buNone/>
            </a:pPr>
            <a:r>
              <a:rPr b="1" i="0" lang="en-US" spc="0" sz="2000" u="none" cap="none" strike="noStrike">
                <a:solidFill>
                  <a:srgbClr val="0B7A6F"/>
                </a:solidFill>
                <a:latin typeface="Play"/>
                <a:ea typeface="Play"/>
                <a:cs typeface="Play"/>
                <a:sym typeface="Play"/>
              </a:rPr>
              <a:t>›</a:t>
            </a:r>
            <a:endParaRPr b="0" i="0" spc="0" sz="2000" u="none" cap="none" strike="noStrike">
              <a:solidFill>
                <a:schemeClr val="dk1"/>
              </a:solidFill>
              <a:latin typeface="Calibri"/>
              <a:ea typeface="Calibri"/>
              <a:cs typeface="Calibri"/>
              <a:sym typeface="Calibri"/>
            </a:endParaRPr>
          </a:p>
        </p:txBody>
      </p:sp>
      <p:sp>
        <p:nvSpPr>
          <p:cNvPr id="45" name="Google Shape;45;p6">
            <a:hlinkClick action="ppaction://hlinksldjump" r:id="rId6"/>
          </p:cNvPr>
          <p:cNvSpPr/>
          <p:nvPr/>
        </p:nvSpPr>
        <p:spPr>
          <a:xfrm>
            <a:off x="411480" y="2121408"/>
            <a:ext cx="4091940" cy="731520"/>
          </a:xfrm>
          <a:prstGeom prst="roundRect">
            <a:avLst>
              <a:gd fmla="val 7500" name="adj"/>
            </a:avLst>
          </a:prstGeom>
          <a:solidFill>
            <a:srgbClr val="FFFFFF"/>
          </a:solidFill>
          <a:ln cap="flat" cmpd="sng" w="9525">
            <a:solidFill>
              <a:srgbClr val="DCE1E7"/>
            </a:solidFill>
            <a:prstDash val="solid"/>
            <a:round/>
            <a:headEnd len="sm" w="sm" type="none"/>
            <a:tailEnd len="sm" w="sm" type="none"/>
          </a:ln>
        </p:spPr>
        <p:txBody>
          <a:bodyPr anchorCtr="0" anchor="ctr" bIns="0" lIns="711200" spcFirstLastPara="1" rIns="38100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Understanding Offer Logic</a:t>
            </a:r>
            <a:endParaRPr b="0" i="0" spc="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What each offer is built to do, and when to use it.</a:t>
            </a:r>
            <a:endParaRPr b="0" i="0" spc="0" sz="1300" u="none" cap="none" strike="noStrike">
              <a:solidFill>
                <a:schemeClr val="dk1"/>
              </a:solidFill>
              <a:latin typeface="Calibri"/>
              <a:ea typeface="Calibri"/>
              <a:cs typeface="Calibri"/>
              <a:sym typeface="Calibri"/>
            </a:endParaRPr>
          </a:p>
        </p:txBody>
      </p:sp>
      <p:sp>
        <p:nvSpPr>
          <p:cNvPr id="46" name="Google Shape;46;p6">
            <a:hlinkClick action="ppaction://hlinksldjump" r:id="rId7"/>
          </p:cNvPr>
          <p:cNvSpPr/>
          <p:nvPr/>
        </p:nvSpPr>
        <p:spPr>
          <a:xfrm>
            <a:off x="502920" y="2121408"/>
            <a:ext cx="502920" cy="7315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1600"/>
              <a:buFont typeface="Play"/>
              <a:buNone/>
            </a:pPr>
            <a:r>
              <a:rPr b="1" i="0" lang="en-US" spc="0" sz="1600" u="none" cap="none" strike="noStrike">
                <a:solidFill>
                  <a:srgbClr val="0B7A6F"/>
                </a:solidFill>
                <a:latin typeface="Play"/>
                <a:ea typeface="Play"/>
                <a:cs typeface="Play"/>
                <a:sym typeface="Play"/>
              </a:rPr>
              <a:t>02</a:t>
            </a:r>
            <a:endParaRPr b="0" i="0" spc="0" sz="1600" u="none" cap="none" strike="noStrike">
              <a:solidFill>
                <a:schemeClr val="dk1"/>
              </a:solidFill>
              <a:latin typeface="Calibri"/>
              <a:ea typeface="Calibri"/>
              <a:cs typeface="Calibri"/>
              <a:sym typeface="Calibri"/>
            </a:endParaRPr>
          </a:p>
        </p:txBody>
      </p:sp>
      <p:sp>
        <p:nvSpPr>
          <p:cNvPr id="47" name="Google Shape;47;p6">
            <a:hlinkClick action="ppaction://hlinksldjump" r:id="rId8"/>
          </p:cNvPr>
          <p:cNvSpPr/>
          <p:nvPr/>
        </p:nvSpPr>
        <p:spPr>
          <a:xfrm>
            <a:off x="4119372" y="2121408"/>
            <a:ext cx="320040" cy="7315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2000"/>
              <a:buFont typeface="Play"/>
              <a:buNone/>
            </a:pPr>
            <a:r>
              <a:rPr b="1" i="0" lang="en-US" spc="0" sz="2000" u="none" cap="none" strike="noStrike">
                <a:solidFill>
                  <a:srgbClr val="0B7A6F"/>
                </a:solidFill>
                <a:latin typeface="Play"/>
                <a:ea typeface="Play"/>
                <a:cs typeface="Play"/>
                <a:sym typeface="Play"/>
              </a:rPr>
              <a:t>›</a:t>
            </a:r>
            <a:endParaRPr b="0" i="0" spc="0" sz="2000" u="none" cap="none" strike="noStrike">
              <a:solidFill>
                <a:schemeClr val="dk1"/>
              </a:solidFill>
              <a:latin typeface="Calibri"/>
              <a:ea typeface="Calibri"/>
              <a:cs typeface="Calibri"/>
              <a:sym typeface="Calibri"/>
            </a:endParaRPr>
          </a:p>
        </p:txBody>
      </p:sp>
      <p:sp>
        <p:nvSpPr>
          <p:cNvPr id="48" name="Google Shape;48;p6">
            <a:hlinkClick action="ppaction://hlinksldjump" r:id="rId9"/>
          </p:cNvPr>
          <p:cNvSpPr/>
          <p:nvPr/>
        </p:nvSpPr>
        <p:spPr>
          <a:xfrm>
            <a:off x="411480" y="2944368"/>
            <a:ext cx="4091940" cy="731520"/>
          </a:xfrm>
          <a:prstGeom prst="roundRect">
            <a:avLst>
              <a:gd fmla="val 7500" name="adj"/>
            </a:avLst>
          </a:prstGeom>
          <a:solidFill>
            <a:srgbClr val="FFFFFF"/>
          </a:solidFill>
          <a:ln cap="flat" cmpd="sng" w="9525">
            <a:solidFill>
              <a:srgbClr val="DCE1E7"/>
            </a:solidFill>
            <a:prstDash val="solid"/>
            <a:round/>
            <a:headEnd len="sm" w="sm" type="none"/>
            <a:tailEnd len="sm" w="sm" type="none"/>
          </a:ln>
        </p:spPr>
        <p:txBody>
          <a:bodyPr anchorCtr="0" anchor="ctr" bIns="0" lIns="711200" spcFirstLastPara="1" rIns="38100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Cancellation Intent in C/CP Comms</a:t>
            </a:r>
            <a:endParaRPr b="0" i="0" spc="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The customer told the CP, not us. Reach out first.</a:t>
            </a:r>
            <a:endParaRPr b="0" i="0" spc="0" sz="1300" u="none" cap="none" strike="noStrike">
              <a:solidFill>
                <a:schemeClr val="dk1"/>
              </a:solidFill>
              <a:latin typeface="Calibri"/>
              <a:ea typeface="Calibri"/>
              <a:cs typeface="Calibri"/>
              <a:sym typeface="Calibri"/>
            </a:endParaRPr>
          </a:p>
        </p:txBody>
      </p:sp>
      <p:sp>
        <p:nvSpPr>
          <p:cNvPr id="49" name="Google Shape;49;p6">
            <a:hlinkClick action="ppaction://hlinksldjump" r:id="rId10"/>
          </p:cNvPr>
          <p:cNvSpPr/>
          <p:nvPr/>
        </p:nvSpPr>
        <p:spPr>
          <a:xfrm>
            <a:off x="502920" y="2944368"/>
            <a:ext cx="502920" cy="7315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1600"/>
              <a:buFont typeface="Play"/>
              <a:buNone/>
            </a:pPr>
            <a:r>
              <a:rPr b="1" i="0" lang="en-US" spc="0" sz="1600" u="none" cap="none" strike="noStrike">
                <a:solidFill>
                  <a:srgbClr val="0B7A6F"/>
                </a:solidFill>
                <a:latin typeface="Play"/>
                <a:ea typeface="Play"/>
                <a:cs typeface="Play"/>
                <a:sym typeface="Play"/>
              </a:rPr>
              <a:t>03</a:t>
            </a:r>
            <a:endParaRPr b="0" i="0" spc="0" sz="1600" u="none" cap="none" strike="noStrike">
              <a:solidFill>
                <a:schemeClr val="dk1"/>
              </a:solidFill>
              <a:latin typeface="Calibri"/>
              <a:ea typeface="Calibri"/>
              <a:cs typeface="Calibri"/>
              <a:sym typeface="Calibri"/>
            </a:endParaRPr>
          </a:p>
        </p:txBody>
      </p:sp>
      <p:sp>
        <p:nvSpPr>
          <p:cNvPr id="50" name="Google Shape;50;p6">
            <a:hlinkClick action="ppaction://hlinksldjump" r:id="rId11"/>
          </p:cNvPr>
          <p:cNvSpPr/>
          <p:nvPr/>
        </p:nvSpPr>
        <p:spPr>
          <a:xfrm>
            <a:off x="4119372" y="2944368"/>
            <a:ext cx="320040" cy="7315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2000"/>
              <a:buFont typeface="Play"/>
              <a:buNone/>
            </a:pPr>
            <a:r>
              <a:rPr b="1" i="0" lang="en-US" spc="0" sz="2000" u="none" cap="none" strike="noStrike">
                <a:solidFill>
                  <a:srgbClr val="0B7A6F"/>
                </a:solidFill>
                <a:latin typeface="Play"/>
                <a:ea typeface="Play"/>
                <a:cs typeface="Play"/>
                <a:sym typeface="Play"/>
              </a:rPr>
              <a:t>›</a:t>
            </a:r>
            <a:endParaRPr b="0" i="0" spc="0" sz="2000" u="none" cap="none" strike="noStrike">
              <a:solidFill>
                <a:schemeClr val="dk1"/>
              </a:solidFill>
              <a:latin typeface="Calibri"/>
              <a:ea typeface="Calibri"/>
              <a:cs typeface="Calibri"/>
              <a:sym typeface="Calibri"/>
            </a:endParaRPr>
          </a:p>
        </p:txBody>
      </p:sp>
      <p:sp>
        <p:nvSpPr>
          <p:cNvPr id="51" name="Google Shape;51;p6">
            <a:hlinkClick action="ppaction://hlinksldjump" r:id="rId12"/>
          </p:cNvPr>
          <p:cNvSpPr/>
          <p:nvPr/>
        </p:nvSpPr>
        <p:spPr>
          <a:xfrm>
            <a:off x="411480" y="3767328"/>
            <a:ext cx="4091940" cy="731520"/>
          </a:xfrm>
          <a:prstGeom prst="roundRect">
            <a:avLst>
              <a:gd fmla="val 7500" name="adj"/>
            </a:avLst>
          </a:prstGeom>
          <a:solidFill>
            <a:srgbClr val="FFFFFF"/>
          </a:solidFill>
          <a:ln cap="flat" cmpd="sng" w="9525">
            <a:solidFill>
              <a:srgbClr val="DCE1E7"/>
            </a:solidFill>
            <a:prstDash val="solid"/>
            <a:round/>
            <a:headEnd len="sm" w="sm" type="none"/>
            <a:tailEnd len="sm" w="sm" type="none"/>
          </a:ln>
        </p:spPr>
        <p:txBody>
          <a:bodyPr anchorCtr="0" anchor="ctr" bIns="0" lIns="711200" spcFirstLastPara="1" rIns="38100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General Retention Playbook</a:t>
            </a:r>
            <a:endParaRPr b="0" i="0" spc="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Fix the real problem. Weigh the five key factors.</a:t>
            </a:r>
            <a:endParaRPr b="0" i="0" spc="0" sz="1300" u="none" cap="none" strike="noStrike">
              <a:solidFill>
                <a:schemeClr val="dk1"/>
              </a:solidFill>
              <a:latin typeface="Calibri"/>
              <a:ea typeface="Calibri"/>
              <a:cs typeface="Calibri"/>
              <a:sym typeface="Calibri"/>
            </a:endParaRPr>
          </a:p>
        </p:txBody>
      </p:sp>
      <p:sp>
        <p:nvSpPr>
          <p:cNvPr id="52" name="Google Shape;52;p6">
            <a:hlinkClick action="ppaction://hlinksldjump" r:id="rId13"/>
          </p:cNvPr>
          <p:cNvSpPr/>
          <p:nvPr/>
        </p:nvSpPr>
        <p:spPr>
          <a:xfrm>
            <a:off x="502920" y="3767328"/>
            <a:ext cx="502920" cy="7315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1600"/>
              <a:buFont typeface="Play"/>
              <a:buNone/>
            </a:pPr>
            <a:r>
              <a:rPr b="1" i="0" lang="en-US" spc="0" sz="1600" u="none" cap="none" strike="noStrike">
                <a:solidFill>
                  <a:srgbClr val="0B7A6F"/>
                </a:solidFill>
                <a:latin typeface="Play"/>
                <a:ea typeface="Play"/>
                <a:cs typeface="Play"/>
                <a:sym typeface="Play"/>
              </a:rPr>
              <a:t>04</a:t>
            </a:r>
            <a:endParaRPr b="0" i="0" spc="0" sz="1600" u="none" cap="none" strike="noStrike">
              <a:solidFill>
                <a:schemeClr val="dk1"/>
              </a:solidFill>
              <a:latin typeface="Calibri"/>
              <a:ea typeface="Calibri"/>
              <a:cs typeface="Calibri"/>
              <a:sym typeface="Calibri"/>
            </a:endParaRPr>
          </a:p>
        </p:txBody>
      </p:sp>
      <p:sp>
        <p:nvSpPr>
          <p:cNvPr id="53" name="Google Shape;53;p6">
            <a:hlinkClick action="ppaction://hlinksldjump" r:id="rId14"/>
          </p:cNvPr>
          <p:cNvSpPr/>
          <p:nvPr/>
        </p:nvSpPr>
        <p:spPr>
          <a:xfrm>
            <a:off x="4119372" y="3767328"/>
            <a:ext cx="320040" cy="7315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2000"/>
              <a:buFont typeface="Play"/>
              <a:buNone/>
            </a:pPr>
            <a:r>
              <a:rPr b="1" i="0" lang="en-US" spc="0" sz="2000" u="none" cap="none" strike="noStrike">
                <a:solidFill>
                  <a:srgbClr val="0B7A6F"/>
                </a:solidFill>
                <a:latin typeface="Play"/>
                <a:ea typeface="Play"/>
                <a:cs typeface="Play"/>
                <a:sym typeface="Play"/>
              </a:rPr>
              <a:t>›</a:t>
            </a:r>
            <a:endParaRPr b="0" i="0" spc="0" sz="2000" u="none" cap="none" strike="noStrike">
              <a:solidFill>
                <a:schemeClr val="dk1"/>
              </a:solidFill>
              <a:latin typeface="Calibri"/>
              <a:ea typeface="Calibri"/>
              <a:cs typeface="Calibri"/>
              <a:sym typeface="Calibri"/>
            </a:endParaRPr>
          </a:p>
        </p:txBody>
      </p:sp>
      <p:sp>
        <p:nvSpPr>
          <p:cNvPr id="54" name="Google Shape;54;p6">
            <a:hlinkClick action="ppaction://hlinksldjump" r:id="rId15"/>
          </p:cNvPr>
          <p:cNvSpPr/>
          <p:nvPr/>
        </p:nvSpPr>
        <p:spPr>
          <a:xfrm>
            <a:off x="4640580" y="1298448"/>
            <a:ext cx="4091940" cy="731520"/>
          </a:xfrm>
          <a:prstGeom prst="roundRect">
            <a:avLst>
              <a:gd fmla="val 7500" name="adj"/>
            </a:avLst>
          </a:prstGeom>
          <a:solidFill>
            <a:srgbClr val="FFFFFF"/>
          </a:solidFill>
          <a:ln cap="flat" cmpd="sng" w="9525">
            <a:solidFill>
              <a:srgbClr val="DCE1E7"/>
            </a:solidFill>
            <a:prstDash val="solid"/>
            <a:round/>
            <a:headEnd len="sm" w="sm" type="none"/>
            <a:tailEnd len="sm" w="sm" type="none"/>
          </a:ln>
        </p:spPr>
        <p:txBody>
          <a:bodyPr anchorCtr="0" anchor="ctr" bIns="0" lIns="711200" spcFirstLastPara="1" rIns="38100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Unused DHJ Voucher</a:t>
            </a:r>
            <a:endParaRPr b="0" i="0" spc="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Bought, not used. Sort the request, then act.</a:t>
            </a:r>
            <a:endParaRPr b="0" i="0" spc="0" sz="1300" u="none" cap="none" strike="noStrike">
              <a:solidFill>
                <a:schemeClr val="dk1"/>
              </a:solidFill>
              <a:latin typeface="Calibri"/>
              <a:ea typeface="Calibri"/>
              <a:cs typeface="Calibri"/>
              <a:sym typeface="Calibri"/>
            </a:endParaRPr>
          </a:p>
        </p:txBody>
      </p:sp>
      <p:sp>
        <p:nvSpPr>
          <p:cNvPr id="55" name="Google Shape;55;p6">
            <a:hlinkClick action="ppaction://hlinksldjump" r:id="rId16"/>
          </p:cNvPr>
          <p:cNvSpPr/>
          <p:nvPr/>
        </p:nvSpPr>
        <p:spPr>
          <a:xfrm>
            <a:off x="4732020" y="1298448"/>
            <a:ext cx="502920" cy="7315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1600"/>
              <a:buFont typeface="Play"/>
              <a:buNone/>
            </a:pPr>
            <a:r>
              <a:rPr b="1" i="0" lang="en-US" spc="0" sz="1600" u="none" cap="none" strike="noStrike">
                <a:solidFill>
                  <a:srgbClr val="0B7A6F"/>
                </a:solidFill>
                <a:latin typeface="Play"/>
                <a:ea typeface="Play"/>
                <a:cs typeface="Play"/>
                <a:sym typeface="Play"/>
              </a:rPr>
              <a:t>05</a:t>
            </a:r>
            <a:endParaRPr b="0" i="0" spc="0" sz="1600" u="none" cap="none" strike="noStrike">
              <a:solidFill>
                <a:schemeClr val="dk1"/>
              </a:solidFill>
              <a:latin typeface="Calibri"/>
              <a:ea typeface="Calibri"/>
              <a:cs typeface="Calibri"/>
              <a:sym typeface="Calibri"/>
            </a:endParaRPr>
          </a:p>
        </p:txBody>
      </p:sp>
      <p:sp>
        <p:nvSpPr>
          <p:cNvPr id="56" name="Google Shape;56;p6">
            <a:hlinkClick action="ppaction://hlinksldjump" r:id="rId17"/>
          </p:cNvPr>
          <p:cNvSpPr/>
          <p:nvPr/>
        </p:nvSpPr>
        <p:spPr>
          <a:xfrm>
            <a:off x="8348472" y="1298448"/>
            <a:ext cx="320040" cy="7315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2000"/>
              <a:buFont typeface="Play"/>
              <a:buNone/>
            </a:pPr>
            <a:r>
              <a:rPr b="1" i="0" lang="en-US" spc="0" sz="2000" u="none" cap="none" strike="noStrike">
                <a:solidFill>
                  <a:srgbClr val="0B7A6F"/>
                </a:solidFill>
                <a:latin typeface="Play"/>
                <a:ea typeface="Play"/>
                <a:cs typeface="Play"/>
                <a:sym typeface="Play"/>
              </a:rPr>
              <a:t>›</a:t>
            </a:r>
            <a:endParaRPr b="0" i="0" spc="0" sz="2000" u="none" cap="none" strike="noStrike">
              <a:solidFill>
                <a:schemeClr val="dk1"/>
              </a:solidFill>
              <a:latin typeface="Calibri"/>
              <a:ea typeface="Calibri"/>
              <a:cs typeface="Calibri"/>
              <a:sym typeface="Calibri"/>
            </a:endParaRPr>
          </a:p>
        </p:txBody>
      </p:sp>
      <p:sp>
        <p:nvSpPr>
          <p:cNvPr id="57" name="Google Shape;57;p6">
            <a:hlinkClick action="ppaction://hlinksldjump" r:id="rId18"/>
          </p:cNvPr>
          <p:cNvSpPr/>
          <p:nvPr/>
        </p:nvSpPr>
        <p:spPr>
          <a:xfrm>
            <a:off x="4640580" y="2121408"/>
            <a:ext cx="4091940" cy="731520"/>
          </a:xfrm>
          <a:prstGeom prst="roundRect">
            <a:avLst>
              <a:gd fmla="val 7500" name="adj"/>
            </a:avLst>
          </a:prstGeom>
          <a:solidFill>
            <a:srgbClr val="FFFFFF"/>
          </a:solidFill>
          <a:ln cap="flat" cmpd="sng" w="9525">
            <a:solidFill>
              <a:srgbClr val="DCE1E7"/>
            </a:solidFill>
            <a:prstDash val="solid"/>
            <a:round/>
            <a:headEnd len="sm" w="sm" type="none"/>
            <a:tailEnd len="sm" w="sm" type="none"/>
          </a:ln>
        </p:spPr>
        <p:txBody>
          <a:bodyPr anchorCtr="0" anchor="ctr" bIns="0" lIns="711200" spcFirstLastPara="1" rIns="38100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FCF Pre-Invoice Cancellation</a:t>
            </a:r>
            <a:endParaRPr b="0" i="0" spc="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No completed job yet. Which refund applies?</a:t>
            </a:r>
            <a:endParaRPr b="0" i="0" spc="0" sz="1300" u="none" cap="none" strike="noStrike">
              <a:solidFill>
                <a:schemeClr val="dk1"/>
              </a:solidFill>
              <a:latin typeface="Calibri"/>
              <a:ea typeface="Calibri"/>
              <a:cs typeface="Calibri"/>
              <a:sym typeface="Calibri"/>
            </a:endParaRPr>
          </a:p>
        </p:txBody>
      </p:sp>
      <p:sp>
        <p:nvSpPr>
          <p:cNvPr id="58" name="Google Shape;58;p6">
            <a:hlinkClick action="ppaction://hlinksldjump" r:id="rId19"/>
          </p:cNvPr>
          <p:cNvSpPr/>
          <p:nvPr/>
        </p:nvSpPr>
        <p:spPr>
          <a:xfrm>
            <a:off x="4732020" y="2121408"/>
            <a:ext cx="502920" cy="7315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1600"/>
              <a:buFont typeface="Play"/>
              <a:buNone/>
            </a:pPr>
            <a:r>
              <a:rPr b="1" i="0" lang="en-US" spc="0" sz="1600" u="none" cap="none" strike="noStrike">
                <a:solidFill>
                  <a:srgbClr val="0B7A6F"/>
                </a:solidFill>
                <a:latin typeface="Play"/>
                <a:ea typeface="Play"/>
                <a:cs typeface="Play"/>
                <a:sym typeface="Play"/>
              </a:rPr>
              <a:t>06</a:t>
            </a:r>
            <a:endParaRPr b="0" i="0" spc="0" sz="1600" u="none" cap="none" strike="noStrike">
              <a:solidFill>
                <a:schemeClr val="dk1"/>
              </a:solidFill>
              <a:latin typeface="Calibri"/>
              <a:ea typeface="Calibri"/>
              <a:cs typeface="Calibri"/>
              <a:sym typeface="Calibri"/>
            </a:endParaRPr>
          </a:p>
        </p:txBody>
      </p:sp>
      <p:sp>
        <p:nvSpPr>
          <p:cNvPr id="59" name="Google Shape;59;p6">
            <a:hlinkClick action="ppaction://hlinksldjump" r:id="rId20"/>
          </p:cNvPr>
          <p:cNvSpPr/>
          <p:nvPr/>
        </p:nvSpPr>
        <p:spPr>
          <a:xfrm>
            <a:off x="8348472" y="2121408"/>
            <a:ext cx="320040" cy="7315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2000"/>
              <a:buFont typeface="Play"/>
              <a:buNone/>
            </a:pPr>
            <a:r>
              <a:rPr b="1" i="0" lang="en-US" spc="0" sz="2000" u="none" cap="none" strike="noStrike">
                <a:solidFill>
                  <a:srgbClr val="0B7A6F"/>
                </a:solidFill>
                <a:latin typeface="Play"/>
                <a:ea typeface="Play"/>
                <a:cs typeface="Play"/>
                <a:sym typeface="Play"/>
              </a:rPr>
              <a:t>›</a:t>
            </a:r>
            <a:endParaRPr b="0" i="0" spc="0" sz="2000" u="none" cap="none" strike="noStrike">
              <a:solidFill>
                <a:schemeClr val="dk1"/>
              </a:solidFill>
              <a:latin typeface="Calibri"/>
              <a:ea typeface="Calibri"/>
              <a:cs typeface="Calibri"/>
              <a:sym typeface="Calibri"/>
            </a:endParaRPr>
          </a:p>
        </p:txBody>
      </p:sp>
      <p:sp>
        <p:nvSpPr>
          <p:cNvPr id="60" name="Google Shape;60;p6">
            <a:hlinkClick action="ppaction://hlinksldjump" r:id="rId21"/>
          </p:cNvPr>
          <p:cNvSpPr/>
          <p:nvPr/>
        </p:nvSpPr>
        <p:spPr>
          <a:xfrm>
            <a:off x="4640580" y="2944368"/>
            <a:ext cx="4091940" cy="731520"/>
          </a:xfrm>
          <a:prstGeom prst="roundRect">
            <a:avLst>
              <a:gd fmla="val 7500" name="adj"/>
            </a:avLst>
          </a:prstGeom>
          <a:solidFill>
            <a:srgbClr val="FFFFFF"/>
          </a:solidFill>
          <a:ln cap="flat" cmpd="sng" w="9525">
            <a:solidFill>
              <a:srgbClr val="DCE1E7"/>
            </a:solidFill>
            <a:prstDash val="solid"/>
            <a:round/>
            <a:headEnd len="sm" w="sm" type="none"/>
            <a:tailEnd len="sm" w="sm" type="none"/>
          </a:ln>
        </p:spPr>
        <p:txBody>
          <a:bodyPr anchorCtr="0" anchor="ctr" bIns="0" lIns="711200" spcFirstLastPara="1" rIns="38100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Trial &amp; One-Time Cleaning</a:t>
            </a:r>
            <a:endParaRPr b="0" i="0" spc="0" sz="13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Alternatives to a full membership.</a:t>
            </a:r>
            <a:endParaRPr b="0" i="0" spc="0" sz="1300" u="none" cap="none" strike="noStrike">
              <a:solidFill>
                <a:schemeClr val="dk1"/>
              </a:solidFill>
              <a:latin typeface="Calibri"/>
              <a:ea typeface="Calibri"/>
              <a:cs typeface="Calibri"/>
              <a:sym typeface="Calibri"/>
            </a:endParaRPr>
          </a:p>
        </p:txBody>
      </p:sp>
      <p:sp>
        <p:nvSpPr>
          <p:cNvPr id="61" name="Google Shape;61;p6">
            <a:hlinkClick action="ppaction://hlinksldjump" r:id="rId22"/>
          </p:cNvPr>
          <p:cNvSpPr/>
          <p:nvPr/>
        </p:nvSpPr>
        <p:spPr>
          <a:xfrm>
            <a:off x="4732020" y="2944368"/>
            <a:ext cx="502920" cy="7315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1600"/>
              <a:buFont typeface="Play"/>
              <a:buNone/>
            </a:pPr>
            <a:r>
              <a:rPr b="1" i="0" lang="en-US" spc="0" sz="1600" u="none" cap="none" strike="noStrike">
                <a:solidFill>
                  <a:srgbClr val="0B7A6F"/>
                </a:solidFill>
                <a:latin typeface="Play"/>
                <a:ea typeface="Play"/>
                <a:cs typeface="Play"/>
                <a:sym typeface="Play"/>
              </a:rPr>
              <a:t>07</a:t>
            </a:r>
            <a:endParaRPr b="0" i="0" spc="0" sz="1600" u="none" cap="none" strike="noStrike">
              <a:solidFill>
                <a:schemeClr val="dk1"/>
              </a:solidFill>
              <a:latin typeface="Calibri"/>
              <a:ea typeface="Calibri"/>
              <a:cs typeface="Calibri"/>
              <a:sym typeface="Calibri"/>
            </a:endParaRPr>
          </a:p>
        </p:txBody>
      </p:sp>
      <p:sp>
        <p:nvSpPr>
          <p:cNvPr id="62" name="Google Shape;62;p6">
            <a:hlinkClick action="ppaction://hlinksldjump" r:id="rId23"/>
          </p:cNvPr>
          <p:cNvSpPr/>
          <p:nvPr/>
        </p:nvSpPr>
        <p:spPr>
          <a:xfrm>
            <a:off x="8348472" y="2944368"/>
            <a:ext cx="320040" cy="7315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7A6F"/>
              </a:buClr>
              <a:buSzPts val="2000"/>
              <a:buFont typeface="Play"/>
              <a:buNone/>
            </a:pPr>
            <a:r>
              <a:rPr b="1" i="0" lang="en-US" spc="0" sz="2000" u="none" cap="none" strike="noStrike">
                <a:solidFill>
                  <a:srgbClr val="0B7A6F"/>
                </a:solidFill>
                <a:latin typeface="Play"/>
                <a:ea typeface="Play"/>
                <a:cs typeface="Play"/>
                <a:sym typeface="Play"/>
              </a:rPr>
              <a:t>›</a:t>
            </a:r>
            <a:endParaRPr b="0" i="0" spc="0" sz="2000" u="none" cap="none" strike="noStrike">
              <a:solidFill>
                <a:schemeClr val="dk1"/>
              </a:solidFill>
              <a:latin typeface="Calibri"/>
              <a:ea typeface="Calibri"/>
              <a:cs typeface="Calibri"/>
              <a:sym typeface="Calibri"/>
            </a:endParaRPr>
          </a:p>
        </p:txBody>
      </p:sp>
      <p:sp>
        <p:nvSpPr>
          <p:cNvPr id="63" name="Google Shape;63;p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7"/>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TOPIC 01 OF 07</a:t>
            </a:r>
            <a:endParaRPr b="0" i="0" spc="0" sz="800" u="none" cap="none" strike="noStrike">
              <a:solidFill>
                <a:schemeClr val="dk1"/>
              </a:solidFill>
              <a:latin typeface="Calibri"/>
              <a:ea typeface="Calibri"/>
              <a:cs typeface="Calibri"/>
              <a:sym typeface="Calibri"/>
            </a:endParaRPr>
          </a:p>
        </p:txBody>
      </p:sp>
      <p:sp>
        <p:nvSpPr>
          <p:cNvPr id="70" name="Google Shape;70;p7"/>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US" spc="0" sz="2800" u="none" cap="none" strike="noStrike">
                <a:solidFill>
                  <a:srgbClr val="1D1D1F"/>
                </a:solidFill>
                <a:latin typeface="Play"/>
                <a:ea typeface="Play"/>
                <a:cs typeface="Play"/>
                <a:sym typeface="Play"/>
              </a:rPr>
              <a:t>Washington State: FC Cancellation</a:t>
            </a:r>
            <a:endParaRPr b="0" i="0" spc="0" sz="2800" u="none" cap="none" strike="noStrike">
              <a:solidFill>
                <a:schemeClr val="dk1"/>
              </a:solidFill>
              <a:latin typeface="Calibri"/>
              <a:ea typeface="Calibri"/>
              <a:cs typeface="Calibri"/>
              <a:sym typeface="Calibri"/>
            </a:endParaRPr>
          </a:p>
        </p:txBody>
      </p:sp>
      <p:sp>
        <p:nvSpPr>
          <p:cNvPr id="71" name="Google Shape;71;p7"/>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US" spc="0" sz="1150" u="none" cap="none" strike="noStrike">
                <a:solidFill>
                  <a:srgbClr val="6E6E73"/>
                </a:solidFill>
                <a:latin typeface="Arial"/>
                <a:ea typeface="Arial"/>
                <a:cs typeface="Arial"/>
                <a:sym typeface="Arial"/>
              </a:rPr>
              <a:t>A temporary, state-specific override of standard ETF and MCT handling.</a:t>
            </a:r>
            <a:endParaRPr b="0" i="0" spc="0" sz="1150" u="none" cap="none" strike="noStrike">
              <a:solidFill>
                <a:schemeClr val="dk1"/>
              </a:solidFill>
              <a:latin typeface="Calibri"/>
              <a:ea typeface="Calibri"/>
              <a:cs typeface="Calibri"/>
              <a:sym typeface="Calibri"/>
            </a:endParaRPr>
          </a:p>
        </p:txBody>
      </p:sp>
      <p:sp>
        <p:nvSpPr>
          <p:cNvPr id="72" name="Google Shape;72;p7"/>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YOU'LL LEARN</a:t>
            </a:r>
            <a:endParaRPr b="0" i="0" spc="0" sz="800" u="none" cap="none" strike="noStrike">
              <a:solidFill>
                <a:schemeClr val="dk1"/>
              </a:solidFill>
              <a:latin typeface="Calibri"/>
              <a:ea typeface="Calibri"/>
              <a:cs typeface="Calibri"/>
              <a:sym typeface="Calibri"/>
            </a:endParaRPr>
          </a:p>
        </p:txBody>
      </p:sp>
      <p:sp>
        <p:nvSpPr>
          <p:cNvPr id="73" name="Google Shape;73;p7"/>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74" name="Google Shape;74;p7"/>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75" name="Google Shape;75;p7"/>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Who it applies to</a:t>
            </a:r>
            <a:endParaRPr b="0" i="0" spc="0" sz="1050" u="none" cap="none" strike="noStrike">
              <a:solidFill>
                <a:schemeClr val="dk1"/>
              </a:solidFill>
              <a:latin typeface="Calibri"/>
              <a:ea typeface="Calibri"/>
              <a:cs typeface="Calibri"/>
              <a:sym typeface="Calibri"/>
            </a:endParaRPr>
          </a:p>
        </p:txBody>
      </p:sp>
      <p:sp>
        <p:nvSpPr>
          <p:cNvPr id="76" name="Google Shape;76;p7"/>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77" name="Google Shape;77;p7"/>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78" name="Google Shape;78;p7"/>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Why there's no ETF talk and no retention</a:t>
            </a:r>
            <a:endParaRPr b="0" i="0" spc="0" sz="1050" u="none" cap="none" strike="noStrike">
              <a:solidFill>
                <a:schemeClr val="dk1"/>
              </a:solidFill>
              <a:latin typeface="Calibri"/>
              <a:ea typeface="Calibri"/>
              <a:cs typeface="Calibri"/>
              <a:sym typeface="Calibri"/>
            </a:endParaRPr>
          </a:p>
        </p:txBody>
      </p:sp>
      <p:sp>
        <p:nvSpPr>
          <p:cNvPr id="79" name="Google Shape;79;p7"/>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80" name="Google Shape;80;p7"/>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81" name="Google Shape;81;p7"/>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The 5-step process</a:t>
            </a:r>
            <a:endParaRPr b="0" i="0" spc="0" sz="1050" u="none" cap="none" strike="noStrike">
              <a:solidFill>
                <a:schemeClr val="dk1"/>
              </a:solidFill>
              <a:latin typeface="Calibri"/>
              <a:ea typeface="Calibri"/>
              <a:cs typeface="Calibri"/>
              <a:sym typeface="Calibri"/>
            </a:endParaRPr>
          </a:p>
        </p:txBody>
      </p:sp>
      <p:sp>
        <p:nvSpPr>
          <p:cNvPr id="82" name="Google Shape;82;p7"/>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83" name="Google Shape;83;p7"/>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84" name="Google Shape;84;p7"/>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Edge cases</a:t>
            </a:r>
            <a:endParaRPr b="0" i="0" spc="0" sz="1050" u="none" cap="none" strike="noStrike">
              <a:solidFill>
                <a:schemeClr val="dk1"/>
              </a:solidFill>
              <a:latin typeface="Calibri"/>
              <a:ea typeface="Calibri"/>
              <a:cs typeface="Calibri"/>
              <a:sym typeface="Calibri"/>
            </a:endParaRPr>
          </a:p>
        </p:txBody>
      </p:sp>
      <p:sp>
        <p:nvSpPr>
          <p:cNvPr id="85" name="Google Shape;85;p7"/>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 name="Google Shape;86;p7"/>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7/ill14.png" id="87" name="Google Shape;87;p7"/>
          <p:cNvPicPr preferRelativeResize="0"/>
          <p:nvPr/>
        </p:nvPicPr>
        <p:blipFill rotWithShape="1">
          <a:blip r:embed="rId4">
            <a:alphaModFix/>
          </a:blip>
          <a:srcRect b="0" l="0" r="0" t="0"/>
          <a:stretch/>
        </p:blipFill>
        <p:spPr>
          <a:xfrm>
            <a:off x="5541264" y="1519076"/>
            <a:ext cx="2926080" cy="2100775"/>
          </a:xfrm>
          <a:prstGeom prst="rect">
            <a:avLst/>
          </a:prstGeom>
          <a:noFill/>
          <a:ln>
            <a:noFill/>
          </a:ln>
        </p:spPr>
      </p:pic>
      <p:sp>
        <p:nvSpPr>
          <p:cNvPr id="88" name="Google Shape;88;p7"/>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9" name="Google Shape;89;p7"/>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 name="Google Shape;90;p7"/>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1" name="Google Shape;91;p7"/>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2" name="Google Shape;92;p7"/>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 name="Google Shape;93;p7"/>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4" name="Google Shape;94;p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WASHINGTON STATE</a:t>
            </a:r>
            <a:endParaRPr b="0" i="0" spc="0" sz="800" u="none" cap="none" strike="noStrike">
              <a:solidFill>
                <a:schemeClr val="dk1"/>
              </a:solidFill>
              <a:latin typeface="Calibri"/>
              <a:ea typeface="Calibri"/>
              <a:cs typeface="Calibri"/>
              <a:sym typeface="Calibri"/>
            </a:endParaRPr>
          </a:p>
        </p:txBody>
      </p:sp>
      <p:sp>
        <p:nvSpPr>
          <p:cNvPr id="101" name="Google Shape;101;p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What is this?</a:t>
            </a:r>
            <a:endParaRPr b="0" i="0" spc="0" sz="2400" u="none" cap="none" strike="noStrike">
              <a:solidFill>
                <a:schemeClr val="dk1"/>
              </a:solidFill>
              <a:latin typeface="Calibri"/>
              <a:ea typeface="Calibri"/>
              <a:cs typeface="Calibri"/>
              <a:sym typeface="Calibri"/>
            </a:endParaRPr>
          </a:p>
        </p:txBody>
      </p:sp>
      <p:sp>
        <p:nvSpPr>
          <p:cNvPr id="102" name="Google Shape;102;p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For WA customers, the system already set the fee and the term to zero.</a:t>
            </a:r>
            <a:endParaRPr b="0" i="0" spc="0" sz="1200" u="none" cap="none" strike="noStrike">
              <a:solidFill>
                <a:schemeClr val="dk1"/>
              </a:solidFill>
              <a:latin typeface="Calibri"/>
              <a:ea typeface="Calibri"/>
              <a:cs typeface="Calibri"/>
              <a:sym typeface="Calibri"/>
            </a:endParaRPr>
          </a:p>
        </p:txBody>
      </p:sp>
      <p:sp>
        <p:nvSpPr>
          <p:cNvPr id="103" name="Google Shape;103;p8"/>
          <p:cNvSpPr/>
          <p:nvPr/>
        </p:nvSpPr>
        <p:spPr>
          <a:xfrm>
            <a:off x="411480" y="1325880"/>
            <a:ext cx="2682240" cy="1325880"/>
          </a:xfrm>
          <a:prstGeom prst="roundRect">
            <a:avLst>
              <a:gd fmla="val 551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 name="Google Shape;104;p8"/>
          <p:cNvSpPr txBox="1"/>
          <p:nvPr/>
        </p:nvSpPr>
        <p:spPr>
          <a:xfrm>
            <a:off x="411480" y="1490472"/>
            <a:ext cx="268224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3000"/>
              <a:buFont typeface="Play"/>
              <a:buNone/>
            </a:pPr>
            <a:r>
              <a:rPr b="1" i="0" lang="en-US" spc="0" sz="3000" u="none" cap="none" strike="noStrike">
                <a:solidFill>
                  <a:srgbClr val="0B7A6F"/>
                </a:solidFill>
                <a:latin typeface="Play"/>
                <a:ea typeface="Play"/>
                <a:cs typeface="Play"/>
                <a:sym typeface="Play"/>
              </a:rPr>
              <a:t>$0</a:t>
            </a:r>
            <a:endParaRPr b="0" i="0" spc="0" sz="3000" u="none" cap="none" strike="noStrike">
              <a:solidFill>
                <a:schemeClr val="dk1"/>
              </a:solidFill>
              <a:latin typeface="Calibri"/>
              <a:ea typeface="Calibri"/>
              <a:cs typeface="Calibri"/>
              <a:sym typeface="Calibri"/>
            </a:endParaRPr>
          </a:p>
        </p:txBody>
      </p:sp>
      <p:sp>
        <p:nvSpPr>
          <p:cNvPr id="105" name="Google Shape;105;p8"/>
          <p:cNvSpPr txBox="1"/>
          <p:nvPr/>
        </p:nvSpPr>
        <p:spPr>
          <a:xfrm>
            <a:off x="594360" y="2148840"/>
            <a:ext cx="2316480" cy="411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ETF for every WA customer</a:t>
            </a:r>
            <a:endParaRPr b="0" i="0" spc="0" sz="1000" u="none" cap="none" strike="noStrike">
              <a:solidFill>
                <a:schemeClr val="dk1"/>
              </a:solidFill>
              <a:latin typeface="Calibri"/>
              <a:ea typeface="Calibri"/>
              <a:cs typeface="Calibri"/>
              <a:sym typeface="Calibri"/>
            </a:endParaRPr>
          </a:p>
        </p:txBody>
      </p:sp>
      <p:sp>
        <p:nvSpPr>
          <p:cNvPr id="106" name="Google Shape;106;p8"/>
          <p:cNvSpPr/>
          <p:nvPr/>
        </p:nvSpPr>
        <p:spPr>
          <a:xfrm>
            <a:off x="3230880" y="1325880"/>
            <a:ext cx="2682240" cy="1325880"/>
          </a:xfrm>
          <a:prstGeom prst="roundRect">
            <a:avLst>
              <a:gd fmla="val 551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7" name="Google Shape;107;p8"/>
          <p:cNvSpPr txBox="1"/>
          <p:nvPr/>
        </p:nvSpPr>
        <p:spPr>
          <a:xfrm>
            <a:off x="3230880" y="1490472"/>
            <a:ext cx="268224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3000"/>
              <a:buFont typeface="Play"/>
              <a:buNone/>
            </a:pPr>
            <a:r>
              <a:rPr b="1" i="0" lang="en-US" spc="0" sz="3000" u="none" cap="none" strike="noStrike">
                <a:solidFill>
                  <a:srgbClr val="0B7A6F"/>
                </a:solidFill>
                <a:latin typeface="Play"/>
                <a:ea typeface="Play"/>
                <a:cs typeface="Play"/>
                <a:sym typeface="Play"/>
              </a:rPr>
              <a:t>0</a:t>
            </a:r>
            <a:endParaRPr b="0" i="0" spc="0" sz="3000" u="none" cap="none" strike="noStrike">
              <a:solidFill>
                <a:schemeClr val="dk1"/>
              </a:solidFill>
              <a:latin typeface="Calibri"/>
              <a:ea typeface="Calibri"/>
              <a:cs typeface="Calibri"/>
              <a:sym typeface="Calibri"/>
            </a:endParaRPr>
          </a:p>
        </p:txBody>
      </p:sp>
      <p:sp>
        <p:nvSpPr>
          <p:cNvPr id="108" name="Google Shape;108;p8"/>
          <p:cNvSpPr txBox="1"/>
          <p:nvPr/>
        </p:nvSpPr>
        <p:spPr>
          <a:xfrm>
            <a:off x="3413760" y="2148840"/>
            <a:ext cx="2316480" cy="411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months of MCT</a:t>
            </a:r>
            <a:endParaRPr b="0" i="0" spc="0" sz="1000" u="none" cap="none" strike="noStrike">
              <a:solidFill>
                <a:schemeClr val="dk1"/>
              </a:solidFill>
              <a:latin typeface="Calibri"/>
              <a:ea typeface="Calibri"/>
              <a:cs typeface="Calibri"/>
              <a:sym typeface="Calibri"/>
            </a:endParaRPr>
          </a:p>
        </p:txBody>
      </p:sp>
      <p:sp>
        <p:nvSpPr>
          <p:cNvPr id="109" name="Google Shape;109;p8"/>
          <p:cNvSpPr/>
          <p:nvPr/>
        </p:nvSpPr>
        <p:spPr>
          <a:xfrm>
            <a:off x="6050280" y="1325880"/>
            <a:ext cx="2682240" cy="1325880"/>
          </a:xfrm>
          <a:prstGeom prst="roundRect">
            <a:avLst>
              <a:gd fmla="val 551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0" name="Google Shape;110;p8"/>
          <p:cNvSpPr txBox="1"/>
          <p:nvPr/>
        </p:nvSpPr>
        <p:spPr>
          <a:xfrm>
            <a:off x="6050280" y="1490472"/>
            <a:ext cx="268224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3000"/>
              <a:buFont typeface="Play"/>
              <a:buNone/>
            </a:pPr>
            <a:r>
              <a:rPr b="1" i="0" lang="en-US" spc="0" sz="3000" u="none" cap="none" strike="noStrike">
                <a:solidFill>
                  <a:srgbClr val="9A6410"/>
                </a:solidFill>
                <a:latin typeface="Play"/>
                <a:ea typeface="Play"/>
                <a:cs typeface="Play"/>
                <a:sym typeface="Play"/>
              </a:rPr>
              <a:t>May 11</a:t>
            </a:r>
            <a:endParaRPr b="0" i="0" spc="0" sz="3000" u="none" cap="none" strike="noStrike">
              <a:solidFill>
                <a:schemeClr val="dk1"/>
              </a:solidFill>
              <a:latin typeface="Calibri"/>
              <a:ea typeface="Calibri"/>
              <a:cs typeface="Calibri"/>
              <a:sym typeface="Calibri"/>
            </a:endParaRPr>
          </a:p>
        </p:txBody>
      </p:sp>
      <p:sp>
        <p:nvSpPr>
          <p:cNvPr id="111" name="Google Shape;111;p8"/>
          <p:cNvSpPr txBox="1"/>
          <p:nvPr/>
        </p:nvSpPr>
        <p:spPr>
          <a:xfrm>
            <a:off x="6233160" y="2148840"/>
            <a:ext cx="2316480" cy="411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Effective 2026. Existing and new customers, any membership type</a:t>
            </a:r>
            <a:endParaRPr b="0" i="0" spc="0" sz="1000" u="none" cap="none" strike="noStrike">
              <a:solidFill>
                <a:schemeClr val="dk1"/>
              </a:solidFill>
              <a:latin typeface="Calibri"/>
              <a:ea typeface="Calibri"/>
              <a:cs typeface="Calibri"/>
              <a:sym typeface="Calibri"/>
            </a:endParaRPr>
          </a:p>
        </p:txBody>
      </p:sp>
      <p:sp>
        <p:nvSpPr>
          <p:cNvPr id="112" name="Google Shape;112;p8"/>
          <p:cNvSpPr/>
          <p:nvPr/>
        </p:nvSpPr>
        <p:spPr>
          <a:xfrm>
            <a:off x="411480" y="28803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13" name="Google Shape;113;p8"/>
          <p:cNvPicPr preferRelativeResize="0"/>
          <p:nvPr/>
        </p:nvPicPr>
        <p:blipFill rotWithShape="1">
          <a:blip r:embed="rId3">
            <a:alphaModFix/>
          </a:blip>
          <a:srcRect b="0" l="0" r="0" t="0"/>
          <a:stretch/>
        </p:blipFill>
        <p:spPr>
          <a:xfrm>
            <a:off x="566928" y="2990088"/>
            <a:ext cx="164592" cy="164592"/>
          </a:xfrm>
          <a:prstGeom prst="rect">
            <a:avLst/>
          </a:prstGeom>
          <a:noFill/>
          <a:ln>
            <a:noFill/>
          </a:ln>
        </p:spPr>
      </p:pic>
      <p:sp>
        <p:nvSpPr>
          <p:cNvPr id="114" name="Google Shape;114;p8"/>
          <p:cNvSpPr txBox="1"/>
          <p:nvPr/>
        </p:nvSpPr>
        <p:spPr>
          <a:xfrm>
            <a:off x="822960" y="29809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Confirm residency first:  </a:t>
            </a:r>
            <a:r>
              <a:rPr b="0" i="0" lang="en-US" spc="0" sz="1000" u="none" cap="none" strike="noStrike">
                <a:solidFill>
                  <a:srgbClr val="1D1D1F"/>
                </a:solidFill>
                <a:latin typeface="Arial"/>
                <a:ea typeface="Arial"/>
                <a:cs typeface="Arial"/>
                <a:sym typeface="Arial"/>
              </a:rPr>
              <a:t>mentioning the WA lawsuit isn't enough. Only where they live counts.</a:t>
            </a:r>
            <a:endParaRPr b="0" i="0" spc="0" sz="1000" u="none" cap="none" strike="noStrike">
              <a:solidFill>
                <a:schemeClr val="dk1"/>
              </a:solidFill>
              <a:latin typeface="Calibri"/>
              <a:ea typeface="Calibri"/>
              <a:cs typeface="Calibri"/>
              <a:sym typeface="Calibri"/>
            </a:endParaRPr>
          </a:p>
        </p:txBody>
      </p:sp>
      <p:sp>
        <p:nvSpPr>
          <p:cNvPr id="115" name="Google Shape;115;p8"/>
          <p:cNvSpPr/>
          <p:nvPr/>
        </p:nvSpPr>
        <p:spPr>
          <a:xfrm>
            <a:off x="411480" y="3401568"/>
            <a:ext cx="8321040" cy="384048"/>
          </a:xfrm>
          <a:prstGeom prst="roundRect">
            <a:avLst>
              <a:gd fmla="val 19048"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16" name="Google Shape;116;p8"/>
          <p:cNvPicPr preferRelativeResize="0"/>
          <p:nvPr/>
        </p:nvPicPr>
        <p:blipFill rotWithShape="1">
          <a:blip r:embed="rId4">
            <a:alphaModFix/>
          </a:blip>
          <a:srcRect b="0" l="0" r="0" t="0"/>
          <a:stretch/>
        </p:blipFill>
        <p:spPr>
          <a:xfrm>
            <a:off x="566928" y="3511296"/>
            <a:ext cx="164592" cy="164592"/>
          </a:xfrm>
          <a:prstGeom prst="rect">
            <a:avLst/>
          </a:prstGeom>
          <a:noFill/>
          <a:ln>
            <a:noFill/>
          </a:ln>
        </p:spPr>
      </p:pic>
      <p:sp>
        <p:nvSpPr>
          <p:cNvPr id="117" name="Google Shape;117;p8"/>
          <p:cNvSpPr txBox="1"/>
          <p:nvPr/>
        </p:nvSpPr>
        <p:spPr>
          <a:xfrm>
            <a:off x="822960" y="340156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3261E"/>
              </a:buClr>
              <a:buSzPts val="1000"/>
              <a:buFont typeface="Arial"/>
              <a:buNone/>
            </a:pPr>
            <a:r>
              <a:rPr b="1" i="0" lang="en-US" spc="0" sz="1000" u="none" cap="none" strike="noStrike">
                <a:solidFill>
                  <a:srgbClr val="B3261E"/>
                </a:solidFill>
                <a:latin typeface="Arial"/>
                <a:ea typeface="Arial"/>
                <a:cs typeface="Arial"/>
                <a:sym typeface="Arial"/>
              </a:rPr>
              <a:t>Zero Tolerance Policy:  </a:t>
            </a:r>
            <a:r>
              <a:rPr b="0" i="0" lang="en-US" spc="0" sz="1000" u="none" cap="none" strike="noStrike">
                <a:solidFill>
                  <a:srgbClr val="1D1D1F"/>
                </a:solidFill>
                <a:latin typeface="Arial"/>
                <a:ea typeface="Arial"/>
                <a:cs typeface="Arial"/>
                <a:sym typeface="Arial"/>
              </a:rPr>
              <a:t>mishandling a WA cancellation request is a ZTP violation.</a:t>
            </a:r>
            <a:endParaRPr b="0" i="0" spc="0" sz="1000" u="none" cap="none" strike="noStrike">
              <a:solidFill>
                <a:schemeClr val="dk1"/>
              </a:solidFill>
              <a:latin typeface="Calibri"/>
              <a:ea typeface="Calibri"/>
              <a:cs typeface="Calibri"/>
              <a:sym typeface="Calibri"/>
            </a:endParaRPr>
          </a:p>
        </p:txBody>
      </p:sp>
      <p:sp>
        <p:nvSpPr>
          <p:cNvPr id="118" name="Google Shape;118;p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WASHINGTON STATE</a:t>
            </a:r>
            <a:endParaRPr b="0" i="0" spc="0" sz="800" u="none" cap="none" strike="noStrike">
              <a:solidFill>
                <a:schemeClr val="dk1"/>
              </a:solidFill>
              <a:latin typeface="Calibri"/>
              <a:ea typeface="Calibri"/>
              <a:cs typeface="Calibri"/>
              <a:sym typeface="Calibri"/>
            </a:endParaRPr>
          </a:p>
        </p:txBody>
      </p:sp>
      <p:sp>
        <p:nvSpPr>
          <p:cNvPr id="125" name="Google Shape;125;p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Why it's handled differently</a:t>
            </a:r>
            <a:endParaRPr b="0" i="0" spc="0" sz="2400" u="none" cap="none" strike="noStrike">
              <a:solidFill>
                <a:schemeClr val="dk1"/>
              </a:solidFill>
              <a:latin typeface="Calibri"/>
              <a:ea typeface="Calibri"/>
              <a:cs typeface="Calibri"/>
              <a:sym typeface="Calibri"/>
            </a:endParaRPr>
          </a:p>
        </p:txBody>
      </p:sp>
      <p:sp>
        <p:nvSpPr>
          <p:cNvPr id="126" name="Google Shape;126;p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A legal and regulatory situation, not a more sympathetic customer.</a:t>
            </a:r>
            <a:endParaRPr b="0" i="0" spc="0" sz="1200" u="none" cap="none" strike="noStrike">
              <a:solidFill>
                <a:schemeClr val="dk1"/>
              </a:solidFill>
              <a:latin typeface="Calibri"/>
              <a:ea typeface="Calibri"/>
              <a:cs typeface="Calibri"/>
              <a:sym typeface="Calibri"/>
            </a:endParaRPr>
          </a:p>
        </p:txBody>
      </p:sp>
      <p:sp>
        <p:nvSpPr>
          <p:cNvPr id="127" name="Google Shape;127;p9"/>
          <p:cNvSpPr/>
          <p:nvPr/>
        </p:nvSpPr>
        <p:spPr>
          <a:xfrm>
            <a:off x="411480" y="1325880"/>
            <a:ext cx="2682240" cy="1828800"/>
          </a:xfrm>
          <a:prstGeom prst="roundRect">
            <a:avLst>
              <a:gd fmla="val 4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8" name="Google Shape;128;p9"/>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29" name="Google Shape;129;p9"/>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30" name="Google Shape;130;p9"/>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Already waived</a:t>
            </a:r>
            <a:endParaRPr b="0" i="0" spc="0" sz="1200" u="none" cap="none" strike="noStrike">
              <a:solidFill>
                <a:schemeClr val="dk1"/>
              </a:solidFill>
              <a:latin typeface="Calibri"/>
              <a:ea typeface="Calibri"/>
              <a:cs typeface="Calibri"/>
              <a:sym typeface="Calibri"/>
            </a:endParaRPr>
          </a:p>
        </p:txBody>
      </p:sp>
      <p:sp>
        <p:nvSpPr>
          <p:cNvPr id="131" name="Google Shape;131;p9"/>
          <p:cNvSpPr txBox="1"/>
          <p:nvPr/>
        </p:nvSpPr>
        <p:spPr>
          <a:xfrm>
            <a:off x="576072" y="2221992"/>
            <a:ext cx="2353056" cy="8412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ETF $0 and MCT 0 are set on the account. You confirm it and act on it.</a:t>
            </a:r>
            <a:endParaRPr b="0" i="0" spc="0" sz="950" u="none" cap="none" strike="noStrike">
              <a:solidFill>
                <a:schemeClr val="dk1"/>
              </a:solidFill>
              <a:latin typeface="Calibri"/>
              <a:ea typeface="Calibri"/>
              <a:cs typeface="Calibri"/>
              <a:sym typeface="Calibri"/>
            </a:endParaRPr>
          </a:p>
        </p:txBody>
      </p:sp>
      <p:sp>
        <p:nvSpPr>
          <p:cNvPr id="132" name="Google Shape;132;p9"/>
          <p:cNvSpPr/>
          <p:nvPr/>
        </p:nvSpPr>
        <p:spPr>
          <a:xfrm>
            <a:off x="3230880" y="1325880"/>
            <a:ext cx="2682240" cy="1828800"/>
          </a:xfrm>
          <a:prstGeom prst="roundRect">
            <a:avLst>
              <a:gd fmla="val 4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3" name="Google Shape;133;p9"/>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34" name="Google Shape;134;p9"/>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35" name="Google Shape;135;p9"/>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Never mention the ETF</a:t>
            </a:r>
            <a:endParaRPr b="0" i="0" spc="0" sz="1200" u="none" cap="none" strike="noStrike">
              <a:solidFill>
                <a:schemeClr val="dk1"/>
              </a:solidFill>
              <a:latin typeface="Calibri"/>
              <a:ea typeface="Calibri"/>
              <a:cs typeface="Calibri"/>
              <a:sym typeface="Calibri"/>
            </a:endParaRPr>
          </a:p>
        </p:txBody>
      </p:sp>
      <p:sp>
        <p:nvSpPr>
          <p:cNvPr id="136" name="Google Shape;136;p9"/>
          <p:cNvSpPr txBox="1"/>
          <p:nvPr/>
        </p:nvSpPr>
        <p:spPr>
          <a:xfrm>
            <a:off x="3395472" y="2221992"/>
            <a:ext cx="2353056" cy="8412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Not to explain it, not to say it's waived. Nothing to discuss.</a:t>
            </a:r>
            <a:endParaRPr b="0" i="0" spc="0" sz="950" u="none" cap="none" strike="noStrike">
              <a:solidFill>
                <a:schemeClr val="dk1"/>
              </a:solidFill>
              <a:latin typeface="Calibri"/>
              <a:ea typeface="Calibri"/>
              <a:cs typeface="Calibri"/>
              <a:sym typeface="Calibri"/>
            </a:endParaRPr>
          </a:p>
        </p:txBody>
      </p:sp>
      <p:sp>
        <p:nvSpPr>
          <p:cNvPr id="137" name="Google Shape;137;p9"/>
          <p:cNvSpPr/>
          <p:nvPr/>
        </p:nvSpPr>
        <p:spPr>
          <a:xfrm>
            <a:off x="6050280" y="1325880"/>
            <a:ext cx="2682240" cy="1828800"/>
          </a:xfrm>
          <a:prstGeom prst="roundRect">
            <a:avLst>
              <a:gd fmla="val 4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8" name="Google Shape;138;p9"/>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39" name="Google Shape;139;p9"/>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40" name="Google Shape;140;p9"/>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No retention</a:t>
            </a:r>
            <a:endParaRPr b="0" i="0" spc="0" sz="1200" u="none" cap="none" strike="noStrike">
              <a:solidFill>
                <a:schemeClr val="dk1"/>
              </a:solidFill>
              <a:latin typeface="Calibri"/>
              <a:ea typeface="Calibri"/>
              <a:cs typeface="Calibri"/>
              <a:sym typeface="Calibri"/>
            </a:endParaRPr>
          </a:p>
        </p:txBody>
      </p:sp>
      <p:sp>
        <p:nvSpPr>
          <p:cNvPr id="141" name="Google Shape;141;p9"/>
          <p:cNvSpPr txBox="1"/>
          <p:nvPr/>
        </p:nvSpPr>
        <p:spPr>
          <a:xfrm>
            <a:off x="6214872" y="2221992"/>
            <a:ext cx="2353056" cy="8412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The path to cancel must be as friction-free as possible.</a:t>
            </a:r>
            <a:endParaRPr b="0" i="0" spc="0" sz="950" u="none" cap="none" strike="noStrike">
              <a:solidFill>
                <a:schemeClr val="dk1"/>
              </a:solidFill>
              <a:latin typeface="Calibri"/>
              <a:ea typeface="Calibri"/>
              <a:cs typeface="Calibri"/>
              <a:sym typeface="Calibri"/>
            </a:endParaRPr>
          </a:p>
        </p:txBody>
      </p:sp>
      <p:sp>
        <p:nvSpPr>
          <p:cNvPr id="142" name="Google Shape;142;p9"/>
          <p:cNvSpPr txBox="1"/>
          <p:nvPr/>
        </p:nvSpPr>
        <p:spPr>
          <a:xfrm>
            <a:off x="411480" y="3383280"/>
            <a:ext cx="3657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3261E"/>
              </a:buClr>
              <a:buSzPts val="800"/>
              <a:buFont typeface="Play"/>
              <a:buNone/>
            </a:pPr>
            <a:r>
              <a:rPr b="1" i="0" lang="en-US" spc="50" sz="800" u="none" cap="none" strike="noStrike">
                <a:solidFill>
                  <a:srgbClr val="B3261E"/>
                </a:solidFill>
                <a:latin typeface="Play"/>
                <a:ea typeface="Play"/>
                <a:cs typeface="Play"/>
                <a:sym typeface="Play"/>
              </a:rPr>
              <a:t>ZTP VIOLATIONS</a:t>
            </a:r>
            <a:endParaRPr b="0" i="0" spc="0" sz="800" u="none" cap="none" strike="noStrike">
              <a:solidFill>
                <a:schemeClr val="dk1"/>
              </a:solidFill>
              <a:latin typeface="Calibri"/>
              <a:ea typeface="Calibri"/>
              <a:cs typeface="Calibri"/>
              <a:sym typeface="Calibri"/>
            </a:endParaRPr>
          </a:p>
        </p:txBody>
      </p:sp>
      <p:sp>
        <p:nvSpPr>
          <p:cNvPr id="143" name="Google Shape;143;p9"/>
          <p:cNvSpPr/>
          <p:nvPr/>
        </p:nvSpPr>
        <p:spPr>
          <a:xfrm>
            <a:off x="411480" y="3611880"/>
            <a:ext cx="2011680" cy="365760"/>
          </a:xfrm>
          <a:prstGeom prst="roundRect">
            <a:avLst>
              <a:gd fmla="val 20000" name="adj"/>
            </a:avLst>
          </a:prstGeom>
          <a:solidFill>
            <a:srgbClr val="FCEBEA"/>
          </a:solidFill>
          <a:ln cap="flat" cmpd="sng" w="9525">
            <a:solidFill>
              <a:srgbClr val="FCEBEA"/>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3261E"/>
              </a:buClr>
              <a:buSzPts val="900"/>
              <a:buFont typeface="Arial"/>
              <a:buNone/>
            </a:pPr>
            <a:r>
              <a:rPr b="1" i="0" lang="en-US" spc="0" sz="900" u="none" cap="none" strike="noStrike">
                <a:solidFill>
                  <a:srgbClr val="B3261E"/>
                </a:solidFill>
                <a:latin typeface="Arial"/>
                <a:ea typeface="Arial"/>
                <a:cs typeface="Arial"/>
                <a:sym typeface="Arial"/>
              </a:rPr>
              <a:t>✕  Applying an ETF</a:t>
            </a:r>
            <a:endParaRPr b="0" i="0" spc="0" sz="900" u="none" cap="none" strike="noStrike">
              <a:solidFill>
                <a:schemeClr val="dk1"/>
              </a:solidFill>
              <a:latin typeface="Calibri"/>
              <a:ea typeface="Calibri"/>
              <a:cs typeface="Calibri"/>
              <a:sym typeface="Calibri"/>
            </a:endParaRPr>
          </a:p>
        </p:txBody>
      </p:sp>
      <p:sp>
        <p:nvSpPr>
          <p:cNvPr id="144" name="Google Shape;144;p9"/>
          <p:cNvSpPr/>
          <p:nvPr/>
        </p:nvSpPr>
        <p:spPr>
          <a:xfrm>
            <a:off x="2514600" y="3611880"/>
            <a:ext cx="2011680" cy="365760"/>
          </a:xfrm>
          <a:prstGeom prst="roundRect">
            <a:avLst>
              <a:gd fmla="val 20000" name="adj"/>
            </a:avLst>
          </a:prstGeom>
          <a:solidFill>
            <a:srgbClr val="FCEBEA"/>
          </a:solidFill>
          <a:ln cap="flat" cmpd="sng" w="9525">
            <a:solidFill>
              <a:srgbClr val="FCEBEA"/>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3261E"/>
              </a:buClr>
              <a:buSzPts val="900"/>
              <a:buFont typeface="Arial"/>
              <a:buNone/>
            </a:pPr>
            <a:r>
              <a:rPr b="1" i="0" lang="en-US" spc="0" sz="900" u="none" cap="none" strike="noStrike">
                <a:solidFill>
                  <a:srgbClr val="B3261E"/>
                </a:solidFill>
                <a:latin typeface="Arial"/>
                <a:ea typeface="Arial"/>
                <a:cs typeface="Arial"/>
                <a:sym typeface="Arial"/>
              </a:rPr>
              <a:t>✕  Citing MCT to delay</a:t>
            </a:r>
            <a:endParaRPr b="0" i="0" spc="0" sz="900" u="none" cap="none" strike="noStrike">
              <a:solidFill>
                <a:schemeClr val="dk1"/>
              </a:solidFill>
              <a:latin typeface="Calibri"/>
              <a:ea typeface="Calibri"/>
              <a:cs typeface="Calibri"/>
              <a:sym typeface="Calibri"/>
            </a:endParaRPr>
          </a:p>
        </p:txBody>
      </p:sp>
      <p:sp>
        <p:nvSpPr>
          <p:cNvPr id="145" name="Google Shape;145;p9"/>
          <p:cNvSpPr/>
          <p:nvPr/>
        </p:nvSpPr>
        <p:spPr>
          <a:xfrm>
            <a:off x="4617720" y="3611880"/>
            <a:ext cx="2011680" cy="365760"/>
          </a:xfrm>
          <a:prstGeom prst="roundRect">
            <a:avLst>
              <a:gd fmla="val 20000" name="adj"/>
            </a:avLst>
          </a:prstGeom>
          <a:solidFill>
            <a:srgbClr val="FCEBEA"/>
          </a:solidFill>
          <a:ln cap="flat" cmpd="sng" w="9525">
            <a:solidFill>
              <a:srgbClr val="FCEBEA"/>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3261E"/>
              </a:buClr>
              <a:buSzPts val="900"/>
              <a:buFont typeface="Arial"/>
              <a:buNone/>
            </a:pPr>
            <a:r>
              <a:rPr b="1" i="0" lang="en-US" spc="0" sz="900" u="none" cap="none" strike="noStrike">
                <a:solidFill>
                  <a:srgbClr val="B3261E"/>
                </a:solidFill>
                <a:latin typeface="Arial"/>
                <a:ea typeface="Arial"/>
                <a:cs typeface="Arial"/>
                <a:sym typeface="Arial"/>
              </a:rPr>
              <a:t>✕  Retention offers before cancelling</a:t>
            </a:r>
            <a:endParaRPr b="0" i="0" spc="0" sz="900" u="none" cap="none" strike="noStrike">
              <a:solidFill>
                <a:schemeClr val="dk1"/>
              </a:solidFill>
              <a:latin typeface="Calibri"/>
              <a:ea typeface="Calibri"/>
              <a:cs typeface="Calibri"/>
              <a:sym typeface="Calibri"/>
            </a:endParaRPr>
          </a:p>
        </p:txBody>
      </p:sp>
      <p:sp>
        <p:nvSpPr>
          <p:cNvPr id="146" name="Google Shape;146;p9"/>
          <p:cNvSpPr/>
          <p:nvPr/>
        </p:nvSpPr>
        <p:spPr>
          <a:xfrm>
            <a:off x="6720840" y="3611880"/>
            <a:ext cx="2011680" cy="365760"/>
          </a:xfrm>
          <a:prstGeom prst="roundRect">
            <a:avLst>
              <a:gd fmla="val 20000" name="adj"/>
            </a:avLst>
          </a:prstGeom>
          <a:solidFill>
            <a:srgbClr val="FCEBEA"/>
          </a:solidFill>
          <a:ln cap="flat" cmpd="sng" w="9525">
            <a:solidFill>
              <a:srgbClr val="FCEBEA"/>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3261E"/>
              </a:buClr>
              <a:buSzPts val="900"/>
              <a:buFont typeface="Arial"/>
              <a:buNone/>
            </a:pPr>
            <a:r>
              <a:rPr b="1" i="0" lang="en-US" spc="0" sz="900" u="none" cap="none" strike="noStrike">
                <a:solidFill>
                  <a:srgbClr val="B3261E"/>
                </a:solidFill>
                <a:latin typeface="Arial"/>
                <a:ea typeface="Arial"/>
                <a:cs typeface="Arial"/>
                <a:sym typeface="Arial"/>
              </a:rPr>
              <a:t>✕  Disclosing ETF/MCT as if they apply</a:t>
            </a:r>
            <a:endParaRPr b="0" i="0" spc="0" sz="900" u="none" cap="none" strike="noStrike">
              <a:solidFill>
                <a:schemeClr val="dk1"/>
              </a:solidFill>
              <a:latin typeface="Calibri"/>
              <a:ea typeface="Calibri"/>
              <a:cs typeface="Calibri"/>
              <a:sym typeface="Calibri"/>
            </a:endParaRPr>
          </a:p>
        </p:txBody>
      </p:sp>
      <p:sp>
        <p:nvSpPr>
          <p:cNvPr id="147" name="Google Shape;147;p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WASHINGTON STATE</a:t>
            </a:r>
            <a:endParaRPr b="0" i="0" spc="0" sz="800" u="none" cap="none" strike="noStrike">
              <a:solidFill>
                <a:schemeClr val="dk1"/>
              </a:solidFill>
              <a:latin typeface="Calibri"/>
              <a:ea typeface="Calibri"/>
              <a:cs typeface="Calibri"/>
              <a:sym typeface="Calibri"/>
            </a:endParaRPr>
          </a:p>
        </p:txBody>
      </p:sp>
      <p:sp>
        <p:nvSpPr>
          <p:cNvPr id="154" name="Google Shape;154;p1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The process - Steps 1-2</a:t>
            </a:r>
            <a:endParaRPr b="0" i="0" spc="0" sz="2400" u="none" cap="none" strike="noStrike">
              <a:solidFill>
                <a:schemeClr val="dk1"/>
              </a:solidFill>
              <a:latin typeface="Calibri"/>
              <a:ea typeface="Calibri"/>
              <a:cs typeface="Calibri"/>
              <a:sym typeface="Calibri"/>
            </a:endParaRPr>
          </a:p>
        </p:txBody>
      </p:sp>
      <p:sp>
        <p:nvSpPr>
          <p:cNvPr id="155" name="Google Shape;155;p1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Check the account, then cancel immediately.</a:t>
            </a:r>
            <a:endParaRPr b="0" i="0" spc="0" sz="1200" u="none" cap="none" strike="noStrike">
              <a:solidFill>
                <a:schemeClr val="dk1"/>
              </a:solidFill>
              <a:latin typeface="Calibri"/>
              <a:ea typeface="Calibri"/>
              <a:cs typeface="Calibri"/>
              <a:sym typeface="Calibri"/>
            </a:endParaRPr>
          </a:p>
        </p:txBody>
      </p:sp>
      <p:sp>
        <p:nvSpPr>
          <p:cNvPr id="156" name="Google Shape;156;p10"/>
          <p:cNvSpPr/>
          <p:nvPr/>
        </p:nvSpPr>
        <p:spPr>
          <a:xfrm>
            <a:off x="411480" y="1325880"/>
            <a:ext cx="1920240" cy="548640"/>
          </a:xfrm>
          <a:prstGeom prst="roundRect">
            <a:avLst>
              <a:gd fmla="val 13333" name="adj"/>
            </a:avLst>
          </a:prstGeom>
          <a:solidFill>
            <a:srgbClr val="FFFFFF"/>
          </a:solidFill>
          <a:ln cap="flat" cmpd="sng" w="12700">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7" name="Google Shape;157;p10"/>
          <p:cNvSpPr txBox="1"/>
          <p:nvPr/>
        </p:nvSpPr>
        <p:spPr>
          <a:xfrm>
            <a:off x="411480" y="1325880"/>
            <a:ext cx="19202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Confirm they live in WA</a:t>
            </a:r>
            <a:endParaRPr b="0" i="0" spc="0" sz="1000" u="none" cap="none" strike="noStrike">
              <a:solidFill>
                <a:schemeClr val="dk1"/>
              </a:solidFill>
              <a:latin typeface="Calibri"/>
              <a:ea typeface="Calibri"/>
              <a:cs typeface="Calibri"/>
              <a:sym typeface="Calibri"/>
            </a:endParaRPr>
          </a:p>
        </p:txBody>
      </p:sp>
      <p:cxnSp>
        <p:nvCxnSpPr>
          <p:cNvPr id="158" name="Google Shape;158;p10"/>
          <p:cNvCxnSpPr/>
          <p:nvPr/>
        </p:nvCxnSpPr>
        <p:spPr>
          <a:xfrm>
            <a:off x="2331720" y="1600200"/>
            <a:ext cx="213055" cy="0"/>
          </a:xfrm>
          <a:prstGeom prst="straightConnector1">
            <a:avLst/>
          </a:prstGeom>
          <a:noFill/>
          <a:ln cap="flat" cmpd="sng" w="12700">
            <a:solidFill>
              <a:srgbClr val="6E6E73"/>
            </a:solidFill>
            <a:prstDash val="solid"/>
            <a:round/>
            <a:headEnd len="sm" w="sm" type="none"/>
            <a:tailEnd len="med" w="med" type="triangle"/>
          </a:ln>
        </p:spPr>
      </p:cxnSp>
      <p:sp>
        <p:nvSpPr>
          <p:cNvPr id="159" name="Google Shape;159;p10"/>
          <p:cNvSpPr/>
          <p:nvPr/>
        </p:nvSpPr>
        <p:spPr>
          <a:xfrm>
            <a:off x="2544775" y="1325880"/>
            <a:ext cx="1920240" cy="548640"/>
          </a:xfrm>
          <a:prstGeom prst="roundRect">
            <a:avLst>
              <a:gd fmla="val 13333" name="adj"/>
            </a:avLst>
          </a:prstGeom>
          <a:solidFill>
            <a:srgbClr val="FFF3D6"/>
          </a:solidFill>
          <a:ln cap="flat" cmpd="sng" w="12700">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0" name="Google Shape;160;p10"/>
          <p:cNvSpPr txBox="1"/>
          <p:nvPr/>
        </p:nvSpPr>
        <p:spPr>
          <a:xfrm>
            <a:off x="2544775" y="1325880"/>
            <a:ext cx="19202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1000"/>
              <a:buFont typeface="Play"/>
              <a:buNone/>
            </a:pPr>
            <a:r>
              <a:rPr b="1" i="0" lang="en-US" spc="0" sz="1000" u="none" cap="none" strike="noStrike">
                <a:solidFill>
                  <a:srgbClr val="9A6410"/>
                </a:solidFill>
                <a:latin typeface="Play"/>
                <a:ea typeface="Play"/>
                <a:cs typeface="Play"/>
                <a:sym typeface="Play"/>
              </a:rPr>
              <a:t>Check: MCT 0, ETF $0</a:t>
            </a:r>
            <a:endParaRPr b="0" i="0" spc="0" sz="1000" u="none" cap="none" strike="noStrike">
              <a:solidFill>
                <a:schemeClr val="dk1"/>
              </a:solidFill>
              <a:latin typeface="Calibri"/>
              <a:ea typeface="Calibri"/>
              <a:cs typeface="Calibri"/>
              <a:sym typeface="Calibri"/>
            </a:endParaRPr>
          </a:p>
        </p:txBody>
      </p:sp>
      <p:cxnSp>
        <p:nvCxnSpPr>
          <p:cNvPr id="161" name="Google Shape;161;p10"/>
          <p:cNvCxnSpPr/>
          <p:nvPr/>
        </p:nvCxnSpPr>
        <p:spPr>
          <a:xfrm>
            <a:off x="4465015" y="1600200"/>
            <a:ext cx="213055" cy="0"/>
          </a:xfrm>
          <a:prstGeom prst="straightConnector1">
            <a:avLst/>
          </a:prstGeom>
          <a:noFill/>
          <a:ln cap="flat" cmpd="sng" w="12700">
            <a:solidFill>
              <a:srgbClr val="6E6E73"/>
            </a:solidFill>
            <a:prstDash val="solid"/>
            <a:round/>
            <a:headEnd len="sm" w="sm" type="none"/>
            <a:tailEnd len="med" w="med" type="triangle"/>
          </a:ln>
        </p:spPr>
      </p:cxnSp>
      <p:sp>
        <p:nvSpPr>
          <p:cNvPr id="162" name="Google Shape;162;p10"/>
          <p:cNvSpPr/>
          <p:nvPr/>
        </p:nvSpPr>
        <p:spPr>
          <a:xfrm>
            <a:off x="4678070" y="1325880"/>
            <a:ext cx="1920240" cy="548640"/>
          </a:xfrm>
          <a:prstGeom prst="roundRect">
            <a:avLst>
              <a:gd fmla="val 13333" name="adj"/>
            </a:avLst>
          </a:prstGeom>
          <a:solidFill>
            <a:srgbClr val="FFFFFF"/>
          </a:solidFill>
          <a:ln cap="flat" cmpd="sng" w="12700">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3" name="Google Shape;163;p10"/>
          <p:cNvSpPr txBox="1"/>
          <p:nvPr/>
        </p:nvSpPr>
        <p:spPr>
          <a:xfrm>
            <a:off x="4678070" y="1325880"/>
            <a:ext cx="19202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Confirm intent. No retention</a:t>
            </a:r>
            <a:endParaRPr b="0" i="0" spc="0" sz="1000" u="none" cap="none" strike="noStrike">
              <a:solidFill>
                <a:schemeClr val="dk1"/>
              </a:solidFill>
              <a:latin typeface="Calibri"/>
              <a:ea typeface="Calibri"/>
              <a:cs typeface="Calibri"/>
              <a:sym typeface="Calibri"/>
            </a:endParaRPr>
          </a:p>
        </p:txBody>
      </p:sp>
      <p:cxnSp>
        <p:nvCxnSpPr>
          <p:cNvPr id="164" name="Google Shape;164;p10"/>
          <p:cNvCxnSpPr/>
          <p:nvPr/>
        </p:nvCxnSpPr>
        <p:spPr>
          <a:xfrm>
            <a:off x="6598310" y="1600200"/>
            <a:ext cx="213055" cy="0"/>
          </a:xfrm>
          <a:prstGeom prst="straightConnector1">
            <a:avLst/>
          </a:prstGeom>
          <a:noFill/>
          <a:ln cap="flat" cmpd="sng" w="12700">
            <a:solidFill>
              <a:srgbClr val="6E6E73"/>
            </a:solidFill>
            <a:prstDash val="solid"/>
            <a:round/>
            <a:headEnd len="sm" w="sm" type="none"/>
            <a:tailEnd len="med" w="med" type="triangle"/>
          </a:ln>
        </p:spPr>
      </p:cxnSp>
      <p:sp>
        <p:nvSpPr>
          <p:cNvPr id="165" name="Google Shape;165;p10"/>
          <p:cNvSpPr/>
          <p:nvPr/>
        </p:nvSpPr>
        <p:spPr>
          <a:xfrm>
            <a:off x="6811366" y="1325880"/>
            <a:ext cx="1920240" cy="548640"/>
          </a:xfrm>
          <a:prstGeom prst="roundRect">
            <a:avLst>
              <a:gd fmla="val 13333" name="adj"/>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6" name="Google Shape;166;p10"/>
          <p:cNvSpPr txBox="1"/>
          <p:nvPr/>
        </p:nvSpPr>
        <p:spPr>
          <a:xfrm>
            <a:off x="6811366" y="1325880"/>
            <a:ext cx="192024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Calibri"/>
              <a:buNone/>
            </a:pPr>
            <a:r>
              <a:t/>
            </a:r>
            <a:endParaRPr b="0" i="0" spc="0" sz="1000" u="none" cap="none" strike="noStrike">
              <a:solidFill>
                <a:schemeClr val="dk1"/>
              </a:solidFill>
              <a:latin typeface="Calibri"/>
              <a:ea typeface="Calibri"/>
              <a:cs typeface="Calibri"/>
              <a:sym typeface="Calibri"/>
            </a:endParaRPr>
          </a:p>
        </p:txBody>
      </p:sp>
      <p:sp>
        <p:nvSpPr>
          <p:cNvPr id="167" name="Google Shape;167;p10"/>
          <p:cNvSpPr txBox="1"/>
          <p:nvPr/>
        </p:nvSpPr>
        <p:spPr>
          <a:xfrm>
            <a:off x="6811366" y="1344168"/>
            <a:ext cx="1920240" cy="301752"/>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Play"/>
              <a:buNone/>
            </a:pPr>
            <a:r>
              <a:rPr b="1" i="0" lang="en-US" spc="0" sz="1000" u="none" cap="none" strike="noStrike">
                <a:solidFill>
                  <a:srgbClr val="FFFFFF"/>
                </a:solidFill>
                <a:latin typeface="Play"/>
                <a:ea typeface="Play"/>
                <a:cs typeface="Play"/>
                <a:sym typeface="Play"/>
              </a:rPr>
              <a:t>Cancel FC immediately</a:t>
            </a:r>
            <a:endParaRPr b="0" i="0" spc="0" sz="1000" u="none" cap="none" strike="noStrike">
              <a:solidFill>
                <a:schemeClr val="dk1"/>
              </a:solidFill>
              <a:latin typeface="Calibri"/>
              <a:ea typeface="Calibri"/>
              <a:cs typeface="Calibri"/>
              <a:sym typeface="Calibri"/>
            </a:endParaRPr>
          </a:p>
        </p:txBody>
      </p:sp>
      <p:sp>
        <p:nvSpPr>
          <p:cNvPr id="168" name="Google Shape;168;p10">
            <a:hlinkClick r:id="rId3"/>
          </p:cNvPr>
          <p:cNvSpPr/>
          <p:nvPr/>
        </p:nvSpPr>
        <p:spPr>
          <a:xfrm>
            <a:off x="7222846" y="1673352"/>
            <a:ext cx="1097280" cy="1645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6D7A8"/>
              </a:buClr>
              <a:buSzPts val="900"/>
              <a:buFont typeface="Arial"/>
              <a:buNone/>
            </a:pPr>
            <a:r>
              <a:rPr b="1" i="0" lang="en-US" spc="0" sz="900" u="sng" cap="none" strike="noStrike">
                <a:solidFill>
                  <a:srgbClr val="B6D7A8"/>
                </a:solidFill>
                <a:latin typeface="Arial"/>
                <a:ea typeface="Arial"/>
                <a:cs typeface="Arial"/>
                <a:sym typeface="Arial"/>
              </a:rPr>
              <a:t>▷ Watch &amp; Learn</a:t>
            </a:r>
            <a:endParaRPr b="0" i="0" spc="0" sz="900" u="none" cap="none" strike="noStrike">
              <a:solidFill>
                <a:schemeClr val="dk1"/>
              </a:solidFill>
              <a:latin typeface="Calibri"/>
              <a:ea typeface="Calibri"/>
              <a:cs typeface="Calibri"/>
              <a:sym typeface="Calibri"/>
            </a:endParaRPr>
          </a:p>
        </p:txBody>
      </p:sp>
      <p:cxnSp>
        <p:nvCxnSpPr>
          <p:cNvPr id="169" name="Google Shape;169;p10"/>
          <p:cNvCxnSpPr/>
          <p:nvPr/>
        </p:nvCxnSpPr>
        <p:spPr>
          <a:xfrm>
            <a:off x="3504895" y="1874520"/>
            <a:ext cx="0" cy="228600"/>
          </a:xfrm>
          <a:prstGeom prst="straightConnector1">
            <a:avLst/>
          </a:prstGeom>
          <a:noFill/>
          <a:ln cap="flat" cmpd="sng" w="12700">
            <a:solidFill>
              <a:srgbClr val="6E6E73"/>
            </a:solidFill>
            <a:prstDash val="solid"/>
            <a:round/>
            <a:headEnd len="sm" w="sm" type="none"/>
            <a:tailEnd len="med" w="med" type="triangle"/>
          </a:ln>
        </p:spPr>
      </p:cxnSp>
      <p:sp>
        <p:nvSpPr>
          <p:cNvPr id="170" name="Google Shape;170;p10"/>
          <p:cNvSpPr/>
          <p:nvPr/>
        </p:nvSpPr>
        <p:spPr>
          <a:xfrm>
            <a:off x="2133295" y="2103120"/>
            <a:ext cx="2743200" cy="365760"/>
          </a:xfrm>
          <a:prstGeom prst="roundRect">
            <a:avLst>
              <a:gd fmla="val 20000" name="adj"/>
            </a:avLst>
          </a:prstGeom>
          <a:solidFill>
            <a:srgbClr val="FCEBEA"/>
          </a:solidFill>
          <a:ln cap="flat" cmpd="sng" w="9525">
            <a:solidFill>
              <a:srgbClr val="B3261E"/>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3261E"/>
              </a:buClr>
              <a:buSzPts val="900"/>
              <a:buFont typeface="Play"/>
              <a:buNone/>
            </a:pPr>
            <a:r>
              <a:rPr b="1" i="0" lang="en-US" spc="0" sz="900" u="none" cap="none" strike="noStrike">
                <a:solidFill>
                  <a:srgbClr val="B3261E"/>
                </a:solidFill>
                <a:latin typeface="Play"/>
                <a:ea typeface="Play"/>
                <a:cs typeface="Play"/>
                <a:sym typeface="Play"/>
              </a:rPr>
              <a:t>Not set? Escalate to TL/Support. Don't fix it yourself.</a:t>
            </a:r>
            <a:endParaRPr b="0" i="0" spc="0" sz="900" u="none" cap="none" strike="noStrike">
              <a:solidFill>
                <a:schemeClr val="dk1"/>
              </a:solidFill>
              <a:latin typeface="Calibri"/>
              <a:ea typeface="Calibri"/>
              <a:cs typeface="Calibri"/>
              <a:sym typeface="Calibri"/>
            </a:endParaRPr>
          </a:p>
        </p:txBody>
      </p:sp>
      <p:sp>
        <p:nvSpPr>
          <p:cNvPr id="171" name="Google Shape;171;p10"/>
          <p:cNvSpPr txBox="1"/>
          <p:nvPr/>
        </p:nvSpPr>
        <p:spPr>
          <a:xfrm>
            <a:off x="411480" y="2670048"/>
            <a:ext cx="3657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IN YOUR REPLY</a:t>
            </a:r>
            <a:endParaRPr b="0" i="0" spc="0" sz="800" u="none" cap="none" strike="noStrike">
              <a:solidFill>
                <a:schemeClr val="dk1"/>
              </a:solidFill>
              <a:latin typeface="Calibri"/>
              <a:ea typeface="Calibri"/>
              <a:cs typeface="Calibri"/>
              <a:sym typeface="Calibri"/>
            </a:endParaRPr>
          </a:p>
        </p:txBody>
      </p:sp>
      <p:sp>
        <p:nvSpPr>
          <p:cNvPr id="172" name="Google Shape;172;p10"/>
          <p:cNvSpPr/>
          <p:nvPr/>
        </p:nvSpPr>
        <p:spPr>
          <a:xfrm>
            <a:off x="411480" y="2880360"/>
            <a:ext cx="416052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3" name="Google Shape;173;p10"/>
          <p:cNvSpPr/>
          <p:nvPr/>
        </p:nvSpPr>
        <p:spPr>
          <a:xfrm>
            <a:off x="530352" y="29718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4" name="Google Shape;174;p10"/>
          <p:cNvSpPr txBox="1"/>
          <p:nvPr/>
        </p:nvSpPr>
        <p:spPr>
          <a:xfrm>
            <a:off x="530352" y="29718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175" name="Google Shape;175;p10"/>
          <p:cNvSpPr txBox="1"/>
          <p:nvPr/>
        </p:nvSpPr>
        <p:spPr>
          <a:xfrm>
            <a:off x="914400" y="2880360"/>
            <a:ext cx="35661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US" spc="0" sz="1050" u="none" cap="none" strike="noStrike">
                <a:solidFill>
                  <a:srgbClr val="1D1D1F"/>
                </a:solidFill>
                <a:latin typeface="Play"/>
                <a:ea typeface="Play"/>
                <a:cs typeface="Play"/>
                <a:sym typeface="Play"/>
              </a:rPr>
              <a:t>Confirm it's cancelled  </a:t>
            </a:r>
            <a:r>
              <a:rPr b="0" i="0" lang="en-US" spc="0" sz="900" u="none" cap="none" strike="noStrike">
                <a:solidFill>
                  <a:srgbClr val="6E6E73"/>
                </a:solidFill>
                <a:latin typeface="Arial"/>
                <a:ea typeface="Arial"/>
                <a:cs typeface="Arial"/>
                <a:sym typeface="Arial"/>
              </a:rPr>
              <a:t>Say the membership is cancelled.</a:t>
            </a:r>
            <a:endParaRPr b="0" i="0" spc="0" sz="1050" u="none" cap="none" strike="noStrike">
              <a:solidFill>
                <a:schemeClr val="dk1"/>
              </a:solidFill>
              <a:latin typeface="Calibri"/>
              <a:ea typeface="Calibri"/>
              <a:cs typeface="Calibri"/>
              <a:sym typeface="Calibri"/>
            </a:endParaRPr>
          </a:p>
        </p:txBody>
      </p:sp>
      <p:sp>
        <p:nvSpPr>
          <p:cNvPr id="176" name="Google Shape;176;p10"/>
          <p:cNvSpPr/>
          <p:nvPr/>
        </p:nvSpPr>
        <p:spPr>
          <a:xfrm>
            <a:off x="411480" y="3410712"/>
            <a:ext cx="416052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7" name="Google Shape;177;p10"/>
          <p:cNvSpPr/>
          <p:nvPr/>
        </p:nvSpPr>
        <p:spPr>
          <a:xfrm>
            <a:off x="530352" y="350215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8" name="Google Shape;178;p10"/>
          <p:cNvSpPr txBox="1"/>
          <p:nvPr/>
        </p:nvSpPr>
        <p:spPr>
          <a:xfrm>
            <a:off x="530352" y="350215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179" name="Google Shape;179;p10"/>
          <p:cNvSpPr txBox="1"/>
          <p:nvPr/>
        </p:nvSpPr>
        <p:spPr>
          <a:xfrm>
            <a:off x="914400" y="3410712"/>
            <a:ext cx="35661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US" spc="0" sz="1050" u="none" cap="none" strike="noStrike">
                <a:solidFill>
                  <a:srgbClr val="1D1D1F"/>
                </a:solidFill>
                <a:latin typeface="Play"/>
                <a:ea typeface="Play"/>
                <a:cs typeface="Play"/>
                <a:sym typeface="Play"/>
              </a:rPr>
              <a:t>No ETF, at all  </a:t>
            </a:r>
            <a:r>
              <a:rPr b="0" i="0" lang="en-US" spc="0" sz="900" u="none" cap="none" strike="noStrike">
                <a:solidFill>
                  <a:srgbClr val="6E6E73"/>
                </a:solidFill>
                <a:latin typeface="Arial"/>
                <a:ea typeface="Arial"/>
                <a:cs typeface="Arial"/>
                <a:sym typeface="Arial"/>
              </a:rPr>
              <a:t>Not to explain it, not to say it's waived.</a:t>
            </a:r>
            <a:endParaRPr b="0" i="0" spc="0" sz="1050" u="none" cap="none" strike="noStrike">
              <a:solidFill>
                <a:schemeClr val="dk1"/>
              </a:solidFill>
              <a:latin typeface="Calibri"/>
              <a:ea typeface="Calibri"/>
              <a:cs typeface="Calibri"/>
              <a:sym typeface="Calibri"/>
            </a:endParaRPr>
          </a:p>
        </p:txBody>
      </p:sp>
      <p:sp>
        <p:nvSpPr>
          <p:cNvPr id="180" name="Google Shape;180;p10"/>
          <p:cNvSpPr/>
          <p:nvPr/>
        </p:nvSpPr>
        <p:spPr>
          <a:xfrm>
            <a:off x="4754880" y="2880360"/>
            <a:ext cx="3977640" cy="987552"/>
          </a:xfrm>
          <a:prstGeom prst="roundRect">
            <a:avLst>
              <a:gd fmla="val 7407"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1" name="Google Shape;181;p10"/>
          <p:cNvSpPr/>
          <p:nvPr/>
        </p:nvSpPr>
        <p:spPr>
          <a:xfrm>
            <a:off x="4754880" y="2953512"/>
            <a:ext cx="45720" cy="841248"/>
          </a:xfrm>
          <a:prstGeom prst="rect">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2" name="Google Shape;182;p10"/>
          <p:cNvSpPr txBox="1"/>
          <p:nvPr/>
        </p:nvSpPr>
        <p:spPr>
          <a:xfrm>
            <a:off x="4937760" y="2880360"/>
            <a:ext cx="3657600" cy="9875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0" sz="800" u="none" cap="none" strike="noStrike">
                <a:solidFill>
                  <a:srgbClr val="0B7A6F"/>
                </a:solidFill>
                <a:latin typeface="Play"/>
                <a:ea typeface="Play"/>
                <a:cs typeface="Play"/>
                <a:sym typeface="Play"/>
              </a:rPr>
              <a:t>SOFT RE-ENGAGEMENT NOTE</a:t>
            </a:r>
            <a:endParaRPr b="0" i="0" spc="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000"/>
              <a:buFont typeface="Arial"/>
              <a:buNone/>
            </a:pPr>
            <a:r>
              <a:rPr b="0" i="1" lang="en-US" spc="0" sz="1000" u="none" cap="none" strike="noStrike">
                <a:solidFill>
                  <a:srgbClr val="1D1D1F"/>
                </a:solidFill>
                <a:latin typeface="Arial"/>
                <a:ea typeface="Arial"/>
                <a:cs typeface="Arial"/>
                <a:sym typeface="Arial"/>
              </a:rPr>
              <a:t>“If you change your mind, reach out and we can explore alternative pricing options that might fit better.”</a:t>
            </a:r>
            <a:endParaRPr b="0" i="0" spc="0" sz="1000" u="none" cap="none" strike="noStrike">
              <a:solidFill>
                <a:schemeClr val="dk1"/>
              </a:solidFill>
              <a:latin typeface="Calibri"/>
              <a:ea typeface="Calibri"/>
              <a:cs typeface="Calibri"/>
              <a:sym typeface="Calibri"/>
            </a:endParaRPr>
          </a:p>
        </p:txBody>
      </p:sp>
      <p:sp>
        <p:nvSpPr>
          <p:cNvPr id="183" name="Google Shape;183;p10"/>
          <p:cNvSpPr/>
          <p:nvPr/>
        </p:nvSpPr>
        <p:spPr>
          <a:xfrm>
            <a:off x="411480" y="406908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84" name="Google Shape;184;p10"/>
          <p:cNvPicPr preferRelativeResize="0"/>
          <p:nvPr/>
        </p:nvPicPr>
        <p:blipFill rotWithShape="1">
          <a:blip r:embed="rId4">
            <a:alphaModFix/>
          </a:blip>
          <a:srcRect b="0" l="0" r="0" t="0"/>
          <a:stretch/>
        </p:blipFill>
        <p:spPr>
          <a:xfrm>
            <a:off x="566928" y="4178808"/>
            <a:ext cx="164592" cy="164592"/>
          </a:xfrm>
          <a:prstGeom prst="rect">
            <a:avLst/>
          </a:prstGeom>
          <a:noFill/>
          <a:ln>
            <a:noFill/>
          </a:ln>
        </p:spPr>
      </p:pic>
      <p:sp>
        <p:nvSpPr>
          <p:cNvPr id="185" name="Google Shape;185;p10"/>
          <p:cNvSpPr txBox="1"/>
          <p:nvPr/>
        </p:nvSpPr>
        <p:spPr>
          <a:xfrm>
            <a:off x="822960" y="416966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ETF charged anyway?  </a:t>
            </a:r>
            <a:r>
              <a:rPr b="0" i="0" lang="en-US" spc="0" sz="1000" u="none" cap="none" strike="noStrike">
                <a:solidFill>
                  <a:srgbClr val="1D1D1F"/>
                </a:solidFill>
                <a:latin typeface="Arial"/>
                <a:ea typeface="Arial"/>
                <a:cs typeface="Arial"/>
                <a:sym typeface="Arial"/>
              </a:rPr>
              <a:t>refund it right away. Don't wait for the customer to ask.</a:t>
            </a:r>
            <a:endParaRPr b="0" i="0" spc="0" sz="1000" u="none" cap="none" strike="noStrike">
              <a:solidFill>
                <a:schemeClr val="dk1"/>
              </a:solidFill>
              <a:latin typeface="Calibri"/>
              <a:ea typeface="Calibri"/>
              <a:cs typeface="Calibri"/>
              <a:sym typeface="Calibri"/>
            </a:endParaRPr>
          </a:p>
        </p:txBody>
      </p:sp>
      <p:sp>
        <p:nvSpPr>
          <p:cNvPr id="186" name="Google Shape;186;p1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WASHINGTON STATE</a:t>
            </a:r>
            <a:endParaRPr b="0" i="0" spc="0" sz="800" u="none" cap="none" strike="noStrike">
              <a:solidFill>
                <a:schemeClr val="dk1"/>
              </a:solidFill>
              <a:latin typeface="Calibri"/>
              <a:ea typeface="Calibri"/>
              <a:cs typeface="Calibri"/>
              <a:sym typeface="Calibri"/>
            </a:endParaRPr>
          </a:p>
        </p:txBody>
      </p:sp>
      <p:sp>
        <p:nvSpPr>
          <p:cNvPr id="193" name="Google Shape;193;p1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Step 3: MF refund requests</a:t>
            </a:r>
            <a:endParaRPr b="0" i="0" spc="0" sz="2400" u="none" cap="none" strike="noStrike">
              <a:solidFill>
                <a:schemeClr val="dk1"/>
              </a:solidFill>
              <a:latin typeface="Calibri"/>
              <a:ea typeface="Calibri"/>
              <a:cs typeface="Calibri"/>
              <a:sym typeface="Calibri"/>
            </a:endParaRPr>
          </a:p>
        </p:txBody>
      </p:sp>
      <p:sp>
        <p:nvSpPr>
          <p:cNvPr id="194" name="Google Shape;194;p1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The one place WA customers are treated more conservatively, not less.</a:t>
            </a:r>
            <a:endParaRPr b="0" i="0" spc="0" sz="1200" u="none" cap="none" strike="noStrike">
              <a:solidFill>
                <a:schemeClr val="dk1"/>
              </a:solidFill>
              <a:latin typeface="Calibri"/>
              <a:ea typeface="Calibri"/>
              <a:cs typeface="Calibri"/>
              <a:sym typeface="Calibri"/>
            </a:endParaRPr>
          </a:p>
        </p:txBody>
      </p:sp>
      <p:sp>
        <p:nvSpPr>
          <p:cNvPr id="195" name="Google Shape;195;p11"/>
          <p:cNvSpPr/>
          <p:nvPr/>
        </p:nvSpPr>
        <p:spPr>
          <a:xfrm>
            <a:off x="411480" y="1325880"/>
            <a:ext cx="4069080" cy="1600200"/>
          </a:xfrm>
          <a:prstGeom prst="roundRect">
            <a:avLst>
              <a:gd fmla="val 4571" name="adj"/>
            </a:avLst>
          </a:prstGeom>
          <a:solidFill>
            <a:srgbClr val="FFFFFF"/>
          </a:solidFill>
          <a:ln cap="flat" cmpd="sng" w="9525">
            <a:solidFill>
              <a:srgbClr val="1D1D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6" name="Google Shape;196;p11"/>
          <p:cNvSpPr/>
          <p:nvPr/>
        </p:nvSpPr>
        <p:spPr>
          <a:xfrm>
            <a:off x="411480" y="1325880"/>
            <a:ext cx="4069080" cy="329184"/>
          </a:xfrm>
          <a:prstGeom prst="roundRect">
            <a:avLst>
              <a:gd fmla="val 16667" name="adj"/>
            </a:avLst>
          </a:prstGeom>
          <a:solidFill>
            <a:srgbClr val="1D1D1F"/>
          </a:solidFill>
          <a:ln cap="flat" cmpd="sng" w="12700">
            <a:solidFill>
              <a:srgbClr val="1D1D1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Default: no MF refund</a:t>
            </a:r>
            <a:endParaRPr b="0" i="0" spc="0" sz="1050" u="none" cap="none" strike="noStrike">
              <a:solidFill>
                <a:schemeClr val="dk1"/>
              </a:solidFill>
              <a:latin typeface="Calibri"/>
              <a:ea typeface="Calibri"/>
              <a:cs typeface="Calibri"/>
              <a:sym typeface="Calibri"/>
            </a:endParaRPr>
          </a:p>
        </p:txBody>
      </p:sp>
      <p:sp>
        <p:nvSpPr>
          <p:cNvPr id="197" name="Google Shape;197;p11"/>
          <p:cNvSpPr txBox="1"/>
          <p:nvPr/>
        </p:nvSpPr>
        <p:spPr>
          <a:xfrm>
            <a:off x="576072" y="1764792"/>
            <a:ext cx="3739896" cy="10881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Cancel FC proactively</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Explain the MF isn't refundable</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Unless another policy makes them eligible anyway</a:t>
            </a:r>
            <a:endParaRPr b="0" i="0" spc="0" sz="950" u="none" cap="none" strike="noStrike">
              <a:solidFill>
                <a:schemeClr val="dk1"/>
              </a:solidFill>
              <a:latin typeface="Calibri"/>
              <a:ea typeface="Calibri"/>
              <a:cs typeface="Calibri"/>
              <a:sym typeface="Calibri"/>
            </a:endParaRPr>
          </a:p>
        </p:txBody>
      </p:sp>
      <p:sp>
        <p:nvSpPr>
          <p:cNvPr id="198" name="Google Shape;198;p11"/>
          <p:cNvSpPr/>
          <p:nvPr/>
        </p:nvSpPr>
        <p:spPr>
          <a:xfrm>
            <a:off x="4663440" y="1325880"/>
            <a:ext cx="4069080" cy="1600200"/>
          </a:xfrm>
          <a:prstGeom prst="roundRect">
            <a:avLst>
              <a:gd fmla="val 4571"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9" name="Google Shape;199;p11"/>
          <p:cNvSpPr/>
          <p:nvPr/>
        </p:nvSpPr>
        <p:spPr>
          <a:xfrm>
            <a:off x="4663440" y="1325880"/>
            <a:ext cx="40690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Cites the WA AG notice?</a:t>
            </a:r>
            <a:endParaRPr b="0" i="0" spc="0" sz="1050" u="none" cap="none" strike="noStrike">
              <a:solidFill>
                <a:schemeClr val="dk1"/>
              </a:solidFill>
              <a:latin typeface="Calibri"/>
              <a:ea typeface="Calibri"/>
              <a:cs typeface="Calibri"/>
              <a:sym typeface="Calibri"/>
            </a:endParaRPr>
          </a:p>
        </p:txBody>
      </p:sp>
      <p:sp>
        <p:nvSpPr>
          <p:cNvPr id="200" name="Google Shape;200;p11"/>
          <p:cNvSpPr txBox="1"/>
          <p:nvPr/>
        </p:nvSpPr>
        <p:spPr>
          <a:xfrm>
            <a:off x="4828032" y="1764792"/>
            <a:ext cx="3739896" cy="10881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Consent Decree alone: handle as BAU</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Refund only if </a:t>
            </a:r>
            <a:r>
              <a:rPr b="1" i="0" lang="en-US" spc="0" sz="950" u="none" cap="none" strike="noStrike">
                <a:solidFill>
                  <a:srgbClr val="1D1D1F"/>
                </a:solidFill>
                <a:latin typeface="Arial"/>
                <a:ea typeface="Arial"/>
                <a:cs typeface="Arial"/>
                <a:sym typeface="Arial"/>
              </a:rPr>
              <a:t>we were too slow</a:t>
            </a:r>
            <a:r>
              <a:rPr b="0" i="0" lang="en-US" spc="0" sz="950" u="none" cap="none" strike="noStrike">
                <a:solidFill>
                  <a:srgbClr val="1D1D1F"/>
                </a:solidFill>
                <a:latin typeface="Arial"/>
                <a:ea typeface="Arial"/>
                <a:cs typeface="Arial"/>
                <a:sym typeface="Arial"/>
              </a:rPr>
              <a:t> to cancel before the latest MF</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Or </a:t>
            </a:r>
            <a:r>
              <a:rPr b="1" i="0" lang="en-US" spc="0" sz="950" u="none" cap="none" strike="noStrike">
                <a:solidFill>
                  <a:srgbClr val="1D1D1F"/>
                </a:solidFill>
                <a:latin typeface="Arial"/>
                <a:ea typeface="Arial"/>
                <a:cs typeface="Arial"/>
                <a:sym typeface="Arial"/>
              </a:rPr>
              <a:t>we made cancelling harder</a:t>
            </a:r>
            <a:r>
              <a:rPr b="0" i="0" lang="en-US" spc="0" sz="950" u="none" cap="none" strike="noStrike">
                <a:solidFill>
                  <a:srgbClr val="1D1D1F"/>
                </a:solidFill>
                <a:latin typeface="Arial"/>
                <a:ea typeface="Arial"/>
                <a:cs typeface="Arial"/>
                <a:sym typeface="Arial"/>
              </a:rPr>
              <a:t> (retention push, slow replies)</a:t>
            </a:r>
            <a:endParaRPr b="0" i="0" spc="0" sz="950" u="none" cap="none" strike="noStrike">
              <a:solidFill>
                <a:schemeClr val="dk1"/>
              </a:solidFill>
              <a:latin typeface="Calibri"/>
              <a:ea typeface="Calibri"/>
              <a:cs typeface="Calibri"/>
              <a:sym typeface="Calibri"/>
            </a:endParaRPr>
          </a:p>
        </p:txBody>
      </p:sp>
      <p:sp>
        <p:nvSpPr>
          <p:cNvPr id="201" name="Google Shape;201;p11"/>
          <p:cNvSpPr/>
          <p:nvPr/>
        </p:nvSpPr>
        <p:spPr>
          <a:xfrm>
            <a:off x="411480" y="3108960"/>
            <a:ext cx="8321040" cy="868680"/>
          </a:xfrm>
          <a:prstGeom prst="roundRect">
            <a:avLst>
              <a:gd fmla="val 8421"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2" name="Google Shape;202;p11"/>
          <p:cNvSpPr/>
          <p:nvPr/>
        </p:nvSpPr>
        <p:spPr>
          <a:xfrm>
            <a:off x="411480" y="3182112"/>
            <a:ext cx="45720" cy="722376"/>
          </a:xfrm>
          <a:prstGeom prst="rect">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3" name="Google Shape;203;p11"/>
          <p:cNvSpPr txBox="1"/>
          <p:nvPr/>
        </p:nvSpPr>
        <p:spPr>
          <a:xfrm>
            <a:off x="594360" y="3108960"/>
            <a:ext cx="8001000" cy="868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0" sz="800" u="none" cap="none" strike="noStrike">
                <a:solidFill>
                  <a:srgbClr val="0B7A6F"/>
                </a:solidFill>
                <a:latin typeface="Play"/>
                <a:ea typeface="Play"/>
                <a:cs typeface="Play"/>
                <a:sym typeface="Play"/>
              </a:rPr>
              <a:t>SUGGESTED COMMS</a:t>
            </a:r>
            <a:endParaRPr b="0" i="0" spc="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000"/>
              <a:buFont typeface="Arial"/>
              <a:buNone/>
            </a:pPr>
            <a:r>
              <a:rPr b="0" i="1" lang="en-US" spc="0" sz="1000" u="none" cap="none" strike="noStrike">
                <a:solidFill>
                  <a:srgbClr val="1D1D1F"/>
                </a:solidFill>
                <a:latin typeface="Arial"/>
                <a:ea typeface="Arial"/>
                <a:cs typeface="Arial"/>
                <a:sym typeface="Arial"/>
              </a:rPr>
              <a:t>“Thank you for reaching out. I've cancelled your FC membership for you, so you're all set and won't be charged anymore. If anything about your experience wasn't quite right, I'm here if you want to share. And if you ever decide to come back, we can definitely help you find something that fits better.”</a:t>
            </a:r>
            <a:endParaRPr b="0" i="0" spc="0" sz="1000" u="none" cap="none" strike="noStrike">
              <a:solidFill>
                <a:schemeClr val="dk1"/>
              </a:solidFill>
              <a:latin typeface="Calibri"/>
              <a:ea typeface="Calibri"/>
              <a:cs typeface="Calibri"/>
              <a:sym typeface="Calibri"/>
            </a:endParaRPr>
          </a:p>
        </p:txBody>
      </p:sp>
      <p:sp>
        <p:nvSpPr>
          <p:cNvPr id="204" name="Google Shape;204;p1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WASHINGTON STATE</a:t>
            </a:r>
            <a:endParaRPr b="0" i="0" spc="0" sz="800" u="none" cap="none" strike="noStrike">
              <a:solidFill>
                <a:schemeClr val="dk1"/>
              </a:solidFill>
              <a:latin typeface="Calibri"/>
              <a:ea typeface="Calibri"/>
              <a:cs typeface="Calibri"/>
              <a:sym typeface="Calibri"/>
            </a:endParaRPr>
          </a:p>
        </p:txBody>
      </p:sp>
      <p:sp>
        <p:nvSpPr>
          <p:cNvPr id="211" name="Google Shape;211;p1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Steps 4–5: Vouchers &amp; CP reports</a:t>
            </a:r>
            <a:endParaRPr b="0" i="0" spc="0" sz="2400" u="none" cap="none" strike="noStrike">
              <a:solidFill>
                <a:schemeClr val="dk1"/>
              </a:solidFill>
              <a:latin typeface="Calibri"/>
              <a:ea typeface="Calibri"/>
              <a:cs typeface="Calibri"/>
              <a:sym typeface="Calibri"/>
            </a:endParaRPr>
          </a:p>
        </p:txBody>
      </p:sp>
      <p:sp>
        <p:nvSpPr>
          <p:cNvPr id="212" name="Google Shape;212;p1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No retention attempt in either case.</a:t>
            </a:r>
            <a:endParaRPr b="0" i="0" spc="0" sz="1200" u="none" cap="none" strike="noStrike">
              <a:solidFill>
                <a:schemeClr val="dk1"/>
              </a:solidFill>
              <a:latin typeface="Calibri"/>
              <a:ea typeface="Calibri"/>
              <a:cs typeface="Calibri"/>
              <a:sym typeface="Calibri"/>
            </a:endParaRPr>
          </a:p>
        </p:txBody>
      </p:sp>
      <p:sp>
        <p:nvSpPr>
          <p:cNvPr id="213" name="Google Shape;213;p12"/>
          <p:cNvSpPr/>
          <p:nvPr/>
        </p:nvSpPr>
        <p:spPr>
          <a:xfrm>
            <a:off x="411480" y="1325880"/>
            <a:ext cx="4091940" cy="2103120"/>
          </a:xfrm>
          <a:prstGeom prst="roundRect">
            <a:avLst>
              <a:gd fmla="val 34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4" name="Google Shape;214;p12"/>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15" name="Google Shape;215;p12"/>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216" name="Google Shape;216;p12"/>
          <p:cNvSpPr txBox="1"/>
          <p:nvPr/>
        </p:nvSpPr>
        <p:spPr>
          <a:xfrm>
            <a:off x="576072" y="192938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Step 4: Unused DHJ voucher</a:t>
            </a:r>
            <a:endParaRPr b="0" i="0" spc="0" sz="1200" u="none" cap="none" strike="noStrike">
              <a:solidFill>
                <a:schemeClr val="dk1"/>
              </a:solidFill>
              <a:latin typeface="Calibri"/>
              <a:ea typeface="Calibri"/>
              <a:cs typeface="Calibri"/>
              <a:sym typeface="Calibri"/>
            </a:endParaRPr>
          </a:p>
        </p:txBody>
      </p:sp>
      <p:sp>
        <p:nvSpPr>
          <p:cNvPr id="217" name="Google Shape;217;p12"/>
          <p:cNvSpPr txBox="1"/>
          <p:nvPr/>
        </p:nvSpPr>
        <p:spPr>
          <a:xfrm>
            <a:off x="576072" y="2221992"/>
            <a:ext cx="3762756"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Legacy DHJ, membership not started, wants a refund: refund and invalidate the voucher, deactivate the FC table.</a:t>
            </a:r>
            <a:endParaRPr b="0" i="0" spc="0" sz="950" u="none" cap="none" strike="noStrike">
              <a:solidFill>
                <a:schemeClr val="dk1"/>
              </a:solidFill>
              <a:latin typeface="Calibri"/>
              <a:ea typeface="Calibri"/>
              <a:cs typeface="Calibri"/>
              <a:sym typeface="Calibri"/>
            </a:endParaRPr>
          </a:p>
        </p:txBody>
      </p:sp>
      <p:sp>
        <p:nvSpPr>
          <p:cNvPr id="218" name="Google Shape;218;p12"/>
          <p:cNvSpPr/>
          <p:nvPr/>
        </p:nvSpPr>
        <p:spPr>
          <a:xfrm>
            <a:off x="4640580" y="1325880"/>
            <a:ext cx="4091940" cy="2103120"/>
          </a:xfrm>
          <a:prstGeom prst="roundRect">
            <a:avLst>
              <a:gd fmla="val 34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9" name="Google Shape;219;p12"/>
          <p:cNvSpPr/>
          <p:nvPr/>
        </p:nvSpPr>
        <p:spPr>
          <a:xfrm>
            <a:off x="48051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20" name="Google Shape;220;p12"/>
          <p:cNvPicPr preferRelativeResize="0"/>
          <p:nvPr/>
        </p:nvPicPr>
        <p:blipFill rotWithShape="1">
          <a:blip r:embed="rId4">
            <a:alphaModFix/>
          </a:blip>
          <a:srcRect b="0" l="0" r="0" t="0"/>
          <a:stretch/>
        </p:blipFill>
        <p:spPr>
          <a:xfrm>
            <a:off x="4884176" y="1569476"/>
            <a:ext cx="171176" cy="171176"/>
          </a:xfrm>
          <a:prstGeom prst="rect">
            <a:avLst/>
          </a:prstGeom>
          <a:noFill/>
          <a:ln>
            <a:noFill/>
          </a:ln>
        </p:spPr>
      </p:pic>
      <p:sp>
        <p:nvSpPr>
          <p:cNvPr id="221" name="Google Shape;221;p12"/>
          <p:cNvSpPr txBox="1"/>
          <p:nvPr/>
        </p:nvSpPr>
        <p:spPr>
          <a:xfrm>
            <a:off x="4805172" y="192938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Step 5: They told the CP they want to cancel, not HG</a:t>
            </a:r>
            <a:endParaRPr b="0" i="0" spc="0" sz="1200" u="none" cap="none" strike="noStrike">
              <a:solidFill>
                <a:schemeClr val="dk1"/>
              </a:solidFill>
              <a:latin typeface="Calibri"/>
              <a:ea typeface="Calibri"/>
              <a:cs typeface="Calibri"/>
              <a:sym typeface="Calibri"/>
            </a:endParaRPr>
          </a:p>
        </p:txBody>
      </p:sp>
      <p:sp>
        <p:nvSpPr>
          <p:cNvPr id="222" name="Google Shape;222;p12"/>
          <p:cNvSpPr txBox="1"/>
          <p:nvPr/>
        </p:nvSpPr>
        <p:spPr>
          <a:xfrm>
            <a:off x="4805172" y="2221992"/>
            <a:ext cx="3762756" cy="11155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FC still active? Reach out first. Send the self-cancel link. Don’t mention ETF/MCT.</a:t>
            </a:r>
            <a:endParaRPr b="0" i="0" spc="0" sz="950" u="none" cap="none" strike="noStrike">
              <a:solidFill>
                <a:srgbClr val="6E6E73"/>
              </a:solidFill>
              <a:latin typeface="Arial"/>
              <a:ea typeface="Arial"/>
              <a:cs typeface="Arial"/>
              <a:sym typeface="Arial"/>
            </a:endParaRPr>
          </a:p>
          <a:p>
            <a:pPr indent="0" lvl="0" marL="0" marR="0" rtl="0" algn="l">
              <a:lnSpc>
                <a:spcPct val="100000"/>
              </a:lnSpc>
              <a:spcBef>
                <a:spcPts val="0"/>
              </a:spcBef>
              <a:spcAft>
                <a:spcPts val="0"/>
              </a:spcAft>
              <a:buClr>
                <a:srgbClr val="6E6E73"/>
              </a:buClr>
              <a:buSzPts val="950"/>
              <a:buFont typeface="Arial"/>
              <a:buNone/>
            </a:pPr>
            <a:r>
              <a:t/>
            </a:r>
            <a:endParaRPr b="0" i="0" spc="0" sz="950" u="none" cap="none" strike="noStrike">
              <a:solidFill>
                <a:srgbClr val="6E6E73"/>
              </a:solidFill>
              <a:latin typeface="Arial"/>
              <a:ea typeface="Arial"/>
              <a:cs typeface="Arial"/>
              <a:sym typeface="Arial"/>
            </a:endParaRPr>
          </a:p>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Give them options:</a:t>
            </a:r>
            <a:endParaRPr b="0" i="0" spc="0" sz="950" u="none" cap="none" strike="noStrike">
              <a:solidFill>
                <a:srgbClr val="6E6E73"/>
              </a:solidFill>
              <a:latin typeface="Arial"/>
              <a:ea typeface="Arial"/>
              <a:cs typeface="Arial"/>
              <a:sym typeface="Arial"/>
            </a:endParaRPr>
          </a:p>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They can self-cancel, or you can do it for them.</a:t>
            </a:r>
            <a:endParaRPr b="0" i="0" spc="0" sz="950" u="none" cap="none" strike="noStrike">
              <a:solidFill>
                <a:schemeClr val="dk1"/>
              </a:solidFill>
              <a:latin typeface="Calibri"/>
              <a:ea typeface="Calibri"/>
              <a:cs typeface="Calibri"/>
              <a:sym typeface="Calibri"/>
            </a:endParaRPr>
          </a:p>
        </p:txBody>
      </p:sp>
      <p:sp>
        <p:nvSpPr>
          <p:cNvPr id="223" name="Google Shape;223;p12"/>
          <p:cNvSpPr/>
          <p:nvPr/>
        </p:nvSpPr>
        <p:spPr>
          <a:xfrm>
            <a:off x="411480" y="36576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24" name="Google Shape;224;p12"/>
          <p:cNvPicPr preferRelativeResize="0"/>
          <p:nvPr/>
        </p:nvPicPr>
        <p:blipFill rotWithShape="1">
          <a:blip r:embed="rId5">
            <a:alphaModFix/>
          </a:blip>
          <a:srcRect b="0" l="0" r="0" t="0"/>
          <a:stretch/>
        </p:blipFill>
        <p:spPr>
          <a:xfrm>
            <a:off x="566928" y="3767328"/>
            <a:ext cx="164592" cy="164592"/>
          </a:xfrm>
          <a:prstGeom prst="rect">
            <a:avLst/>
          </a:prstGeom>
          <a:noFill/>
          <a:ln>
            <a:noFill/>
          </a:ln>
        </p:spPr>
      </p:pic>
      <p:sp>
        <p:nvSpPr>
          <p:cNvPr id="225" name="Google Shape;225;p12"/>
          <p:cNvSpPr txBox="1"/>
          <p:nvPr/>
        </p:nvSpPr>
        <p:spPr>
          <a:xfrm>
            <a:off x="822960" y="37581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Both cases:  </a:t>
            </a:r>
            <a:r>
              <a:rPr b="0" i="0" lang="en-US" spc="0" sz="1000" u="none" cap="none" strike="noStrike">
                <a:solidFill>
                  <a:srgbClr val="1D1D1F"/>
                </a:solidFill>
                <a:latin typeface="Arial"/>
                <a:ea typeface="Arial"/>
                <a:cs typeface="Arial"/>
                <a:sym typeface="Arial"/>
              </a:rPr>
              <a:t>no retention attempt needed.</a:t>
            </a:r>
            <a:endParaRPr b="0" i="0" spc="0" sz="1000" u="none" cap="none" strike="noStrike">
              <a:solidFill>
                <a:schemeClr val="dk1"/>
              </a:solidFill>
              <a:latin typeface="Calibri"/>
              <a:ea typeface="Calibri"/>
              <a:cs typeface="Calibri"/>
              <a:sym typeface="Calibri"/>
            </a:endParaRPr>
          </a:p>
        </p:txBody>
      </p:sp>
      <p:sp>
        <p:nvSpPr>
          <p:cNvPr id="226" name="Google Shape;226;p1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WASHINGTON STATE</a:t>
            </a:r>
            <a:endParaRPr b="0" i="0" spc="0" sz="800" u="none" cap="none" strike="noStrike">
              <a:solidFill>
                <a:schemeClr val="dk1"/>
              </a:solidFill>
              <a:latin typeface="Calibri"/>
              <a:ea typeface="Calibri"/>
              <a:cs typeface="Calibri"/>
              <a:sym typeface="Calibri"/>
            </a:endParaRPr>
          </a:p>
        </p:txBody>
      </p:sp>
      <p:sp>
        <p:nvSpPr>
          <p:cNvPr id="233" name="Google Shape;233;p1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Edge cases</a:t>
            </a:r>
            <a:endParaRPr b="0" i="0" spc="0" sz="2400" u="none" cap="none" strike="noStrike">
              <a:solidFill>
                <a:schemeClr val="dk1"/>
              </a:solidFill>
              <a:latin typeface="Calibri"/>
              <a:ea typeface="Calibri"/>
              <a:cs typeface="Calibri"/>
              <a:sym typeface="Calibri"/>
            </a:endParaRPr>
          </a:p>
        </p:txBody>
      </p:sp>
      <p:sp>
        <p:nvSpPr>
          <p:cNvPr id="234" name="Google Shape;234;p1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When was the ETF charged, and does the customer actually live in WA?</a:t>
            </a:r>
            <a:endParaRPr b="0" i="0" spc="0" sz="1200" u="none" cap="none" strike="noStrike">
              <a:solidFill>
                <a:schemeClr val="dk1"/>
              </a:solidFill>
              <a:latin typeface="Calibri"/>
              <a:ea typeface="Calibri"/>
              <a:cs typeface="Calibri"/>
              <a:sym typeface="Calibri"/>
            </a:endParaRPr>
          </a:p>
        </p:txBody>
      </p:sp>
      <p:graphicFrame>
        <p:nvGraphicFramePr>
          <p:cNvPr id="235" name="Google Shape;235;p13"/>
          <p:cNvGraphicFramePr/>
          <p:nvPr/>
        </p:nvGraphicFramePr>
        <p:xfrm>
          <a:off x="411480" y="1325880"/>
          <a:ext cx="3000000" cy="3000000"/>
        </p:xfrm>
        <a:graphic>
          <a:graphicData uri="http://schemas.openxmlformats.org/drawingml/2006/table">
            <a:tbl>
              <a:tblPr>
                <a:noFill/>
                <a:tableStyleId>{8EFC85C5-4764-4BF5-A5AE-CCAC02DEFFEE}</a:tableStyleId>
              </a:tblPr>
              <a:tblGrid>
                <a:gridCol w="4206250"/>
                <a:gridCol w="4114800"/>
              </a:tblGrid>
              <a:tr h="365750">
                <a:tc>
                  <a:txBody>
                    <a:bodyPr/>
                    <a:lstStyle/>
                    <a:p>
                      <a:pPr indent="0" lvl="0" marL="0" marR="0" rtl="0" algn="l">
                        <a:lnSpc>
                          <a:spcPct val="100000"/>
                        </a:lnSpc>
                        <a:spcBef>
                          <a:spcPts val="0"/>
                        </a:spcBef>
                        <a:spcAft>
                          <a:spcPts val="0"/>
                        </a:spcAft>
                        <a:buClr>
                          <a:srgbClr val="0B7A6F"/>
                        </a:buClr>
                        <a:buSzPts val="1050"/>
                        <a:buFont typeface="Play"/>
                        <a:buNone/>
                      </a:pPr>
                      <a:r>
                        <a:rPr b="1" lang="en-US" spc="0" sz="1050" u="none" cap="none" strike="noStrike">
                          <a:solidFill>
                            <a:srgbClr val="0B7A6F"/>
                          </a:solidFill>
                          <a:latin typeface="Play"/>
                          <a:ea typeface="Play"/>
                          <a:cs typeface="Play"/>
                          <a:sym typeface="Play"/>
                        </a:rPr>
                        <a:t>Situation</a:t>
                      </a:r>
                      <a:endParaRPr spc="0" sz="10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1050"/>
                        <a:buFont typeface="Play"/>
                        <a:buNone/>
                      </a:pPr>
                      <a:r>
                        <a:rPr b="1" lang="en-US" spc="0" sz="1050" u="none" cap="none" strike="noStrike">
                          <a:solidFill>
                            <a:srgbClr val="0B7A6F"/>
                          </a:solidFill>
                          <a:latin typeface="Play"/>
                          <a:ea typeface="Play"/>
                          <a:cs typeface="Play"/>
                          <a:sym typeface="Play"/>
                        </a:rPr>
                        <a:t>What you do</a:t>
                      </a:r>
                      <a:endParaRPr spc="0" sz="10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457200">
                <a:tc>
                  <a:txBody>
                    <a:bodyPr/>
                    <a:lstStyle/>
                    <a:p>
                      <a:pPr indent="0" lvl="0" marL="0" marR="0" rtl="0" algn="l">
                        <a:lnSpc>
                          <a:spcPct val="100000"/>
                        </a:lnSpc>
                        <a:spcBef>
                          <a:spcPts val="0"/>
                        </a:spcBef>
                        <a:spcAft>
                          <a:spcPts val="0"/>
                        </a:spcAft>
                        <a:buClr>
                          <a:srgbClr val="1D1D1F"/>
                        </a:buClr>
                        <a:buSzPts val="1050"/>
                        <a:buFont typeface="Arial"/>
                        <a:buNone/>
                      </a:pPr>
                      <a:r>
                        <a:rPr b="1" lang="en-US" spc="0" sz="1050" u="none" cap="none" strike="noStrike">
                          <a:solidFill>
                            <a:srgbClr val="1D1D1F"/>
                          </a:solidFill>
                          <a:latin typeface="Arial"/>
                          <a:ea typeface="Arial"/>
                          <a:cs typeface="Arial"/>
                          <a:sym typeface="Arial"/>
                        </a:rPr>
                        <a:t>Self-cancelled and was charged an ETF</a:t>
                      </a:r>
                      <a:endParaRPr spc="0" sz="10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50"/>
                        <a:buFont typeface="Arial"/>
                        <a:buNone/>
                      </a:pPr>
                      <a:r>
                        <a:rPr lang="en-US" spc="0" sz="1050" u="none" cap="none" strike="noStrike">
                          <a:solidFill>
                            <a:srgbClr val="6E6E73"/>
                          </a:solidFill>
                          <a:latin typeface="Arial"/>
                          <a:ea typeface="Arial"/>
                          <a:cs typeface="Arial"/>
                          <a:sym typeface="Arial"/>
                        </a:rPr>
                        <a:t>Refund it</a:t>
                      </a:r>
                      <a:endParaRPr spc="0" sz="10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57200">
                <a:tc>
                  <a:txBody>
                    <a:bodyPr/>
                    <a:lstStyle/>
                    <a:p>
                      <a:pPr indent="0" lvl="0" marL="0" marR="0" rtl="0" algn="l">
                        <a:lnSpc>
                          <a:spcPct val="100000"/>
                        </a:lnSpc>
                        <a:spcBef>
                          <a:spcPts val="0"/>
                        </a:spcBef>
                        <a:spcAft>
                          <a:spcPts val="0"/>
                        </a:spcAft>
                        <a:buClr>
                          <a:srgbClr val="1D1D1F"/>
                        </a:buClr>
                        <a:buSzPts val="1050"/>
                        <a:buFont typeface="Arial"/>
                        <a:buNone/>
                      </a:pPr>
                      <a:r>
                        <a:rPr b="1" lang="en-US" spc="0" sz="1050" u="none" cap="none" strike="noStrike">
                          <a:solidFill>
                            <a:srgbClr val="1D1D1F"/>
                          </a:solidFill>
                          <a:latin typeface="Arial"/>
                          <a:ea typeface="Arial"/>
                          <a:cs typeface="Arial"/>
                          <a:sym typeface="Arial"/>
                        </a:rPr>
                        <a:t>ETF charged before May 11, 2026</a:t>
                      </a:r>
                      <a:endParaRPr spc="0" sz="10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50"/>
                        <a:buFont typeface="Arial"/>
                        <a:buNone/>
                      </a:pPr>
                      <a:r>
                        <a:rPr lang="en-US" spc="0" sz="1050" u="none" cap="none" strike="noStrike">
                          <a:solidFill>
                            <a:srgbClr val="6E6E73"/>
                          </a:solidFill>
                          <a:latin typeface="Arial"/>
                          <a:ea typeface="Arial"/>
                          <a:cs typeface="Arial"/>
                          <a:sym typeface="Arial"/>
                        </a:rPr>
                        <a:t>Don't refund: it predates the change</a:t>
                      </a:r>
                      <a:endParaRPr spc="0" sz="10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57200">
                <a:tc>
                  <a:txBody>
                    <a:bodyPr/>
                    <a:lstStyle/>
                    <a:p>
                      <a:pPr indent="0" lvl="0" marL="0" marR="0" rtl="0" algn="l">
                        <a:lnSpc>
                          <a:spcPct val="100000"/>
                        </a:lnSpc>
                        <a:spcBef>
                          <a:spcPts val="0"/>
                        </a:spcBef>
                        <a:spcAft>
                          <a:spcPts val="0"/>
                        </a:spcAft>
                        <a:buClr>
                          <a:srgbClr val="1D1D1F"/>
                        </a:buClr>
                        <a:buSzPts val="1050"/>
                        <a:buFont typeface="Arial"/>
                        <a:buNone/>
                      </a:pPr>
                      <a:r>
                        <a:rPr b="1" lang="en-US" spc="0" sz="1050" u="none" cap="none" strike="noStrike">
                          <a:solidFill>
                            <a:srgbClr val="1D1D1F"/>
                          </a:solidFill>
                          <a:latin typeface="Arial"/>
                          <a:ea typeface="Arial"/>
                          <a:cs typeface="Arial"/>
                          <a:sym typeface="Arial"/>
                        </a:rPr>
                        <a:t>ETF charged after go-live, no refund asked</a:t>
                      </a:r>
                      <a:endParaRPr spc="0" sz="10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50"/>
                        <a:buFont typeface="Arial"/>
                        <a:buNone/>
                      </a:pPr>
                      <a:r>
                        <a:rPr lang="en-US" spc="0" sz="1050" u="none" cap="none" strike="noStrike">
                          <a:solidFill>
                            <a:srgbClr val="6E6E73"/>
                          </a:solidFill>
                          <a:latin typeface="Arial"/>
                          <a:ea typeface="Arial"/>
                          <a:cs typeface="Arial"/>
                          <a:sym typeface="Arial"/>
                        </a:rPr>
                        <a:t>Refund it proactively</a:t>
                      </a:r>
                      <a:endParaRPr spc="0" sz="10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57200">
                <a:tc>
                  <a:txBody>
                    <a:bodyPr/>
                    <a:lstStyle/>
                    <a:p>
                      <a:pPr indent="0" lvl="0" marL="0" marR="0" rtl="0" algn="l">
                        <a:lnSpc>
                          <a:spcPct val="100000"/>
                        </a:lnSpc>
                        <a:spcBef>
                          <a:spcPts val="0"/>
                        </a:spcBef>
                        <a:spcAft>
                          <a:spcPts val="0"/>
                        </a:spcAft>
                        <a:buClr>
                          <a:srgbClr val="1D1D1F"/>
                        </a:buClr>
                        <a:buSzPts val="1050"/>
                        <a:buFont typeface="Arial"/>
                        <a:buNone/>
                      </a:pPr>
                      <a:r>
                        <a:rPr b="1" lang="en-US" spc="0" sz="1050" u="none" cap="none" strike="noStrike">
                          <a:solidFill>
                            <a:srgbClr val="1D1D1F"/>
                          </a:solidFill>
                          <a:latin typeface="Arial"/>
                          <a:ea typeface="Arial"/>
                          <a:cs typeface="Arial"/>
                          <a:sym typeface="Arial"/>
                        </a:rPr>
                        <a:t>Non-WA customer mentions the WA lawsuit </a:t>
                      </a:r>
                      <a:r>
                        <a:rPr lang="en-US" spc="0" sz="1050" u="none" cap="none" strike="noStrike">
                          <a:solidFill>
                            <a:srgbClr val="6E6E73"/>
                          </a:solidFill>
                        </a:rPr>
                        <a:t> (no material legal threat)</a:t>
                      </a:r>
                      <a:endParaRPr b="1" spc="0" sz="1050" u="none" cap="none" strike="noStrike">
                        <a:solidFill>
                          <a:srgbClr val="1D1D1F"/>
                        </a:solidFil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50"/>
                        <a:buFont typeface="Arial"/>
                        <a:buNone/>
                      </a:pPr>
                      <a:r>
                        <a:rPr lang="en-US" spc="0" sz="1050" u="none" cap="none" strike="noStrike">
                          <a:solidFill>
                            <a:srgbClr val="6E6E73"/>
                          </a:solidFill>
                          <a:latin typeface="Arial"/>
                          <a:ea typeface="Arial"/>
                          <a:cs typeface="Arial"/>
                          <a:sym typeface="Arial"/>
                        </a:rPr>
                        <a:t>Handle as BAU</a:t>
                      </a:r>
                      <a:endParaRPr spc="0" sz="10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236" name="Google Shape;236;p1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WASHINGTON STATE  ·  KNOWLEDGE CHECK</a:t>
            </a:r>
            <a:endParaRPr b="0" i="0" spc="0" sz="800" u="none" cap="none" strike="noStrike">
              <a:solidFill>
                <a:schemeClr val="dk1"/>
              </a:solidFill>
              <a:latin typeface="Calibri"/>
              <a:ea typeface="Calibri"/>
              <a:cs typeface="Calibri"/>
              <a:sym typeface="Calibri"/>
            </a:endParaRPr>
          </a:p>
        </p:txBody>
      </p:sp>
      <p:sp>
        <p:nvSpPr>
          <p:cNvPr id="243" name="Google Shape;243;p1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See What You’ve Got!</a:t>
            </a:r>
            <a:endParaRPr b="0" i="0" spc="0" sz="2400" u="none" cap="none" strike="noStrike">
              <a:solidFill>
                <a:schemeClr val="dk1"/>
              </a:solidFill>
              <a:latin typeface="Calibri"/>
              <a:ea typeface="Calibri"/>
              <a:cs typeface="Calibri"/>
              <a:sym typeface="Calibri"/>
            </a:endParaRPr>
          </a:p>
        </p:txBody>
      </p:sp>
      <p:sp>
        <p:nvSpPr>
          <p:cNvPr id="244" name="Google Shape;244;p14"/>
          <p:cNvSpPr/>
          <p:nvPr/>
        </p:nvSpPr>
        <p:spPr>
          <a:xfrm>
            <a:off x="411480" y="1280160"/>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5" name="Google Shape;245;p14"/>
          <p:cNvSpPr/>
          <p:nvPr/>
        </p:nvSpPr>
        <p:spPr>
          <a:xfrm>
            <a:off x="548640" y="153619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6" name="Google Shape;246;p14"/>
          <p:cNvSpPr txBox="1"/>
          <p:nvPr/>
        </p:nvSpPr>
        <p:spPr>
          <a:xfrm>
            <a:off x="548640" y="153619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247" name="Google Shape;247;p14"/>
          <p:cNvSpPr txBox="1"/>
          <p:nvPr/>
        </p:nvSpPr>
        <p:spPr>
          <a:xfrm>
            <a:off x="960120" y="1280160"/>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A WA customer asks to cancel. Do you mention the ETF is waived?</a:t>
            </a:r>
            <a:endParaRPr b="0" i="0" spc="0" sz="1000" u="none" cap="none" strike="noStrike">
              <a:solidFill>
                <a:schemeClr val="dk1"/>
              </a:solidFill>
              <a:latin typeface="Calibri"/>
              <a:ea typeface="Calibri"/>
              <a:cs typeface="Calibri"/>
              <a:sym typeface="Calibri"/>
            </a:endParaRPr>
          </a:p>
        </p:txBody>
      </p:sp>
      <p:sp>
        <p:nvSpPr>
          <p:cNvPr id="248" name="Google Shape;248;p14"/>
          <p:cNvSpPr/>
          <p:nvPr/>
        </p:nvSpPr>
        <p:spPr>
          <a:xfrm>
            <a:off x="5120640" y="1280160"/>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49" name="Google Shape;249;p14"/>
          <p:cNvSpPr txBox="1"/>
          <p:nvPr/>
        </p:nvSpPr>
        <p:spPr>
          <a:xfrm>
            <a:off x="5257800" y="1280160"/>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 Don't reference the ETF at all.</a:t>
            </a:r>
            <a:endParaRPr b="0" i="0" spc="0" sz="900" u="none" cap="none" strike="noStrike">
              <a:solidFill>
                <a:schemeClr val="dk1"/>
              </a:solidFill>
              <a:latin typeface="Calibri"/>
              <a:ea typeface="Calibri"/>
              <a:cs typeface="Calibri"/>
              <a:sym typeface="Calibri"/>
            </a:endParaRPr>
          </a:p>
        </p:txBody>
      </p:sp>
      <p:sp>
        <p:nvSpPr>
          <p:cNvPr id="250" name="Google Shape;250;p14"/>
          <p:cNvSpPr/>
          <p:nvPr/>
        </p:nvSpPr>
        <p:spPr>
          <a:xfrm>
            <a:off x="411480" y="2139696"/>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1" name="Google Shape;251;p14"/>
          <p:cNvSpPr/>
          <p:nvPr/>
        </p:nvSpPr>
        <p:spPr>
          <a:xfrm>
            <a:off x="548640" y="23957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2" name="Google Shape;252;p14"/>
          <p:cNvSpPr txBox="1"/>
          <p:nvPr/>
        </p:nvSpPr>
        <p:spPr>
          <a:xfrm>
            <a:off x="548640" y="23957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253" name="Google Shape;253;p14"/>
          <p:cNvSpPr txBox="1"/>
          <p:nvPr/>
        </p:nvSpPr>
        <p:spPr>
          <a:xfrm>
            <a:off x="960120" y="2139696"/>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The account shows ETF $140 for a WA customer. Fix it yourself?</a:t>
            </a:r>
            <a:endParaRPr b="0" i="0" spc="0" sz="1000" u="none" cap="none" strike="noStrike">
              <a:solidFill>
                <a:schemeClr val="dk1"/>
              </a:solidFill>
              <a:latin typeface="Calibri"/>
              <a:ea typeface="Calibri"/>
              <a:cs typeface="Calibri"/>
              <a:sym typeface="Calibri"/>
            </a:endParaRPr>
          </a:p>
        </p:txBody>
      </p:sp>
      <p:sp>
        <p:nvSpPr>
          <p:cNvPr id="254" name="Google Shape;254;p14"/>
          <p:cNvSpPr/>
          <p:nvPr/>
        </p:nvSpPr>
        <p:spPr>
          <a:xfrm>
            <a:off x="5120640" y="2139696"/>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5" name="Google Shape;255;p14"/>
          <p:cNvSpPr txBox="1"/>
          <p:nvPr/>
        </p:nvSpPr>
        <p:spPr>
          <a:xfrm>
            <a:off x="5257800" y="2139696"/>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 Escalate to TL/Support, who raise it to get it fixed.</a:t>
            </a:r>
            <a:endParaRPr b="0" i="0" spc="0" sz="900" u="none" cap="none" strike="noStrike">
              <a:solidFill>
                <a:schemeClr val="dk1"/>
              </a:solidFill>
              <a:latin typeface="Calibri"/>
              <a:ea typeface="Calibri"/>
              <a:cs typeface="Calibri"/>
              <a:sym typeface="Calibri"/>
            </a:endParaRPr>
          </a:p>
        </p:txBody>
      </p:sp>
      <p:sp>
        <p:nvSpPr>
          <p:cNvPr id="256" name="Google Shape;256;p14"/>
          <p:cNvSpPr/>
          <p:nvPr/>
        </p:nvSpPr>
        <p:spPr>
          <a:xfrm>
            <a:off x="411480" y="2999232"/>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7" name="Google Shape;257;p14"/>
          <p:cNvSpPr/>
          <p:nvPr/>
        </p:nvSpPr>
        <p:spPr>
          <a:xfrm>
            <a:off x="548640" y="325526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58" name="Google Shape;258;p14"/>
          <p:cNvSpPr txBox="1"/>
          <p:nvPr/>
        </p:nvSpPr>
        <p:spPr>
          <a:xfrm>
            <a:off x="548640" y="32552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259" name="Google Shape;259;p14"/>
          <p:cNvSpPr txBox="1"/>
          <p:nvPr/>
        </p:nvSpPr>
        <p:spPr>
          <a:xfrm>
            <a:off x="960120" y="2999232"/>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A WA customer cites the AG notice and wants their MF back. We cancelled on time.</a:t>
            </a:r>
            <a:endParaRPr b="0" i="0" spc="0" sz="1000" u="none" cap="none" strike="noStrike">
              <a:solidFill>
                <a:schemeClr val="dk1"/>
              </a:solidFill>
              <a:latin typeface="Calibri"/>
              <a:ea typeface="Calibri"/>
              <a:cs typeface="Calibri"/>
              <a:sym typeface="Calibri"/>
            </a:endParaRPr>
          </a:p>
        </p:txBody>
      </p:sp>
      <p:sp>
        <p:nvSpPr>
          <p:cNvPr id="260" name="Google Shape;260;p14"/>
          <p:cNvSpPr/>
          <p:nvPr/>
        </p:nvSpPr>
        <p:spPr>
          <a:xfrm>
            <a:off x="5120640" y="2999232"/>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1" name="Google Shape;261;p14"/>
          <p:cNvSpPr txBox="1"/>
          <p:nvPr/>
        </p:nvSpPr>
        <p:spPr>
          <a:xfrm>
            <a:off x="5257800" y="2999232"/>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Handle as BAU. No refund on the Consent Decree alone.</a:t>
            </a:r>
            <a:endParaRPr b="0" i="0" spc="0" sz="900" u="none" cap="none" strike="noStrike">
              <a:solidFill>
                <a:schemeClr val="dk1"/>
              </a:solidFill>
              <a:latin typeface="Calibri"/>
              <a:ea typeface="Calibri"/>
              <a:cs typeface="Calibri"/>
              <a:sym typeface="Calibri"/>
            </a:endParaRPr>
          </a:p>
        </p:txBody>
      </p:sp>
      <p:sp>
        <p:nvSpPr>
          <p:cNvPr id="262" name="Google Shape;262;p14"/>
          <p:cNvSpPr/>
          <p:nvPr/>
        </p:nvSpPr>
        <p:spPr>
          <a:xfrm>
            <a:off x="411480" y="3858768"/>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3" name="Google Shape;263;p14"/>
          <p:cNvSpPr/>
          <p:nvPr/>
        </p:nvSpPr>
        <p:spPr>
          <a:xfrm>
            <a:off x="548640" y="41148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4" name="Google Shape;264;p14"/>
          <p:cNvSpPr txBox="1"/>
          <p:nvPr/>
        </p:nvSpPr>
        <p:spPr>
          <a:xfrm>
            <a:off x="548640" y="41148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4</a:t>
            </a:r>
            <a:endParaRPr b="0" i="0" spc="0" sz="900" u="none" cap="none" strike="noStrike">
              <a:solidFill>
                <a:schemeClr val="dk1"/>
              </a:solidFill>
              <a:latin typeface="Calibri"/>
              <a:ea typeface="Calibri"/>
              <a:cs typeface="Calibri"/>
              <a:sym typeface="Calibri"/>
            </a:endParaRPr>
          </a:p>
        </p:txBody>
      </p:sp>
      <p:sp>
        <p:nvSpPr>
          <p:cNvPr id="265" name="Google Shape;265;p14"/>
          <p:cNvSpPr txBox="1"/>
          <p:nvPr/>
        </p:nvSpPr>
        <p:spPr>
          <a:xfrm>
            <a:off x="960120" y="3858768"/>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A Texas customer mentions the WA lawsuit. Apply this process?</a:t>
            </a:r>
            <a:endParaRPr b="0" i="0" spc="0" sz="1000" u="none" cap="none" strike="noStrike">
              <a:solidFill>
                <a:schemeClr val="dk1"/>
              </a:solidFill>
              <a:latin typeface="Calibri"/>
              <a:ea typeface="Calibri"/>
              <a:cs typeface="Calibri"/>
              <a:sym typeface="Calibri"/>
            </a:endParaRPr>
          </a:p>
        </p:txBody>
      </p:sp>
      <p:sp>
        <p:nvSpPr>
          <p:cNvPr id="266" name="Google Shape;266;p14"/>
          <p:cNvSpPr/>
          <p:nvPr/>
        </p:nvSpPr>
        <p:spPr>
          <a:xfrm>
            <a:off x="5120640" y="3858768"/>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67" name="Google Shape;267;p14"/>
          <p:cNvSpPr txBox="1"/>
          <p:nvPr/>
        </p:nvSpPr>
        <p:spPr>
          <a:xfrm>
            <a:off x="5257800" y="3858768"/>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 It's residency-based. Handle as BAU.</a:t>
            </a:r>
            <a:endParaRPr b="0" i="0" spc="0" sz="900" u="none" cap="none" strike="noStrike">
              <a:solidFill>
                <a:schemeClr val="dk1"/>
              </a:solidFill>
              <a:latin typeface="Calibri"/>
              <a:ea typeface="Calibri"/>
              <a:cs typeface="Calibri"/>
              <a:sym typeface="Calibri"/>
            </a:endParaRPr>
          </a:p>
        </p:txBody>
      </p:sp>
      <p:sp>
        <p:nvSpPr>
          <p:cNvPr id="268" name="Google Shape;268;p1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600"/>
                                        <p:tgtEl>
                                          <p:spTgt spid="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600"/>
                                        <p:tgtEl>
                                          <p:spTgt spid="2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600"/>
                                        <p:tgtEl>
                                          <p:spTgt spid="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600"/>
                                        <p:tgtEl>
                                          <p:spTgt spid="2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WASHINGTON STATE  ·  PRACTICE</a:t>
            </a:r>
            <a:endParaRPr b="0" i="0" spc="0" sz="800" u="none" cap="none" strike="noStrike">
              <a:solidFill>
                <a:schemeClr val="dk1"/>
              </a:solidFill>
              <a:latin typeface="Calibri"/>
              <a:ea typeface="Calibri"/>
              <a:cs typeface="Calibri"/>
              <a:sym typeface="Calibri"/>
            </a:endParaRPr>
          </a:p>
        </p:txBody>
      </p:sp>
      <p:sp>
        <p:nvSpPr>
          <p:cNvPr id="275" name="Google Shape;275;p1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investigate together!</a:t>
            </a:r>
            <a:endParaRPr b="0" i="0" spc="0" sz="2400" u="none" cap="none" strike="noStrike">
              <a:solidFill>
                <a:schemeClr val="dk1"/>
              </a:solidFill>
              <a:latin typeface="Calibri"/>
              <a:ea typeface="Calibri"/>
              <a:cs typeface="Calibri"/>
              <a:sym typeface="Calibri"/>
            </a:endParaRPr>
          </a:p>
        </p:txBody>
      </p:sp>
      <p:sp>
        <p:nvSpPr>
          <p:cNvPr id="276" name="Google Shape;276;p1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Review the live ticket and investigate.</a:t>
            </a:r>
            <a:endParaRPr b="0" i="0" spc="0" sz="1200" u="none" cap="none" strike="noStrike">
              <a:solidFill>
                <a:schemeClr val="dk1"/>
              </a:solidFill>
              <a:latin typeface="Calibri"/>
              <a:ea typeface="Calibri"/>
              <a:cs typeface="Calibri"/>
              <a:sym typeface="Calibri"/>
            </a:endParaRPr>
          </a:p>
        </p:txBody>
      </p:sp>
      <p:sp>
        <p:nvSpPr>
          <p:cNvPr id="277" name="Google Shape;277;p15"/>
          <p:cNvSpPr/>
          <p:nvPr/>
        </p:nvSpPr>
        <p:spPr>
          <a:xfrm>
            <a:off x="411480" y="1298448"/>
            <a:ext cx="3383280" cy="2633472"/>
          </a:xfrm>
          <a:prstGeom prst="roundRect">
            <a:avLst>
              <a:gd fmla="val 27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8" name="Google Shape;278;p15"/>
          <p:cNvSpPr/>
          <p:nvPr/>
        </p:nvSpPr>
        <p:spPr>
          <a:xfrm>
            <a:off x="594360" y="148132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79" name="Google Shape;279;p15"/>
          <p:cNvPicPr preferRelativeResize="0"/>
          <p:nvPr/>
        </p:nvPicPr>
        <p:blipFill rotWithShape="1">
          <a:blip r:embed="rId3">
            <a:alphaModFix/>
          </a:blip>
          <a:srcRect b="0" l="0" r="0" t="0"/>
          <a:stretch/>
        </p:blipFill>
        <p:spPr>
          <a:xfrm>
            <a:off x="686532" y="1573500"/>
            <a:ext cx="199705" cy="199705"/>
          </a:xfrm>
          <a:prstGeom prst="rect">
            <a:avLst/>
          </a:prstGeom>
          <a:noFill/>
          <a:ln>
            <a:noFill/>
          </a:ln>
        </p:spPr>
      </p:pic>
      <p:sp>
        <p:nvSpPr>
          <p:cNvPr id="280" name="Google Shape;280;p15"/>
          <p:cNvSpPr txBox="1"/>
          <p:nvPr/>
        </p:nvSpPr>
        <p:spPr>
          <a:xfrm>
            <a:off x="594360" y="2011680"/>
            <a:ext cx="301752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Live ticket</a:t>
            </a:r>
            <a:endParaRPr b="0" i="0" spc="0" sz="1300" u="none" cap="none" strike="noStrike">
              <a:solidFill>
                <a:schemeClr val="dk1"/>
              </a:solidFill>
              <a:latin typeface="Calibri"/>
              <a:ea typeface="Calibri"/>
              <a:cs typeface="Calibri"/>
              <a:sym typeface="Calibri"/>
            </a:endParaRPr>
          </a:p>
        </p:txBody>
      </p:sp>
      <p:sp>
        <p:nvSpPr>
          <p:cNvPr id="281" name="Google Shape;281;p15"/>
          <p:cNvSpPr txBox="1"/>
          <p:nvPr/>
        </p:nvSpPr>
        <p:spPr>
          <a:xfrm>
            <a:off x="594360" y="2350008"/>
            <a:ext cx="301752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050"/>
              <a:buFont typeface="Arial"/>
              <a:buNone/>
            </a:pPr>
            <a:r>
              <a:rPr b="0" i="0" lang="en-US" spc="0" sz="1050" u="none" cap="none" strike="noStrike">
                <a:solidFill>
                  <a:srgbClr val="6E6E73"/>
                </a:solidFill>
                <a:latin typeface="Arial"/>
                <a:ea typeface="Arial"/>
                <a:cs typeface="Arial"/>
                <a:sym typeface="Arial"/>
              </a:rPr>
              <a:t>Your trainer will provide a live ticket. Review it and investigate before you decide anything.</a:t>
            </a:r>
            <a:endParaRPr b="0" i="0" spc="0" sz="1050" u="none" cap="none" strike="noStrike">
              <a:solidFill>
                <a:schemeClr val="dk1"/>
              </a:solidFill>
              <a:latin typeface="Calibri"/>
              <a:ea typeface="Calibri"/>
              <a:cs typeface="Calibri"/>
              <a:sym typeface="Calibri"/>
            </a:endParaRPr>
          </a:p>
        </p:txBody>
      </p:sp>
      <p:sp>
        <p:nvSpPr>
          <p:cNvPr id="282" name="Google Shape;282;p15"/>
          <p:cNvSpPr/>
          <p:nvPr/>
        </p:nvSpPr>
        <p:spPr>
          <a:xfrm>
            <a:off x="594360" y="3401568"/>
            <a:ext cx="1371600" cy="329184"/>
          </a:xfrm>
          <a:prstGeom prst="roundRect">
            <a:avLst>
              <a:gd fmla="val 22222" name="adj"/>
            </a:avLst>
          </a:prstGeom>
          <a:solidFill>
            <a:srgbClr val="FFF3D6"/>
          </a:solidFill>
          <a:ln cap="flat" cmpd="sng" w="9525">
            <a:solidFill>
              <a:srgbClr val="FFF3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950"/>
              <a:buFont typeface="Arial"/>
              <a:buNone/>
            </a:pPr>
            <a:r>
              <a:rPr b="1" i="0" lang="en-US" spc="0" sz="950" u="none" cap="none" strike="noStrike">
                <a:solidFill>
                  <a:srgbClr val="9A6410"/>
                </a:solidFill>
                <a:latin typeface="Arial"/>
                <a:ea typeface="Arial"/>
                <a:cs typeface="Arial"/>
                <a:sym typeface="Arial"/>
              </a:rPr>
              <a:t>Trainer provides</a:t>
            </a:r>
            <a:endParaRPr b="0" i="0" spc="0" sz="950" u="none" cap="none" strike="noStrike">
              <a:solidFill>
                <a:schemeClr val="dk1"/>
              </a:solidFill>
              <a:latin typeface="Calibri"/>
              <a:ea typeface="Calibri"/>
              <a:cs typeface="Calibri"/>
              <a:sym typeface="Calibri"/>
            </a:endParaRPr>
          </a:p>
        </p:txBody>
      </p:sp>
      <p:sp>
        <p:nvSpPr>
          <p:cNvPr id="283" name="Google Shape;283;p15"/>
          <p:cNvSpPr/>
          <p:nvPr/>
        </p:nvSpPr>
        <p:spPr>
          <a:xfrm>
            <a:off x="3931920" y="1298448"/>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4" name="Google Shape;284;p15"/>
          <p:cNvSpPr/>
          <p:nvPr/>
        </p:nvSpPr>
        <p:spPr>
          <a:xfrm>
            <a:off x="4114800"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5" name="Google Shape;285;p15"/>
          <p:cNvSpPr txBox="1"/>
          <p:nvPr/>
        </p:nvSpPr>
        <p:spPr>
          <a:xfrm>
            <a:off x="4114800"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286" name="Google Shape;286;p15"/>
          <p:cNvSpPr txBox="1"/>
          <p:nvPr/>
        </p:nvSpPr>
        <p:spPr>
          <a:xfrm>
            <a:off x="4572000" y="1426464"/>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Does the WA process apply? Why?</a:t>
            </a:r>
            <a:endParaRPr b="0" i="0" spc="0" sz="1250" u="none" cap="none" strike="noStrike">
              <a:solidFill>
                <a:schemeClr val="dk1"/>
              </a:solidFill>
              <a:latin typeface="Calibri"/>
              <a:ea typeface="Calibri"/>
              <a:cs typeface="Calibri"/>
              <a:sym typeface="Calibri"/>
            </a:endParaRPr>
          </a:p>
        </p:txBody>
      </p:sp>
      <p:sp>
        <p:nvSpPr>
          <p:cNvPr id="287" name="Google Shape;287;p15"/>
          <p:cNvSpPr txBox="1"/>
          <p:nvPr/>
        </p:nvSpPr>
        <p:spPr>
          <a:xfrm>
            <a:off x="4572000" y="1737360"/>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Confirm residency and the account state.</a:t>
            </a:r>
            <a:endParaRPr b="0" i="0" spc="0" sz="1000" u="none" cap="none" strike="noStrike">
              <a:solidFill>
                <a:schemeClr val="dk1"/>
              </a:solidFill>
              <a:latin typeface="Calibri"/>
              <a:ea typeface="Calibri"/>
              <a:cs typeface="Calibri"/>
              <a:sym typeface="Calibri"/>
            </a:endParaRPr>
          </a:p>
        </p:txBody>
      </p:sp>
      <p:sp>
        <p:nvSpPr>
          <p:cNvPr id="288" name="Google Shape;288;p15"/>
          <p:cNvSpPr/>
          <p:nvPr/>
        </p:nvSpPr>
        <p:spPr>
          <a:xfrm>
            <a:off x="3931920" y="2221992"/>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9" name="Google Shape;289;p15"/>
          <p:cNvSpPr/>
          <p:nvPr/>
        </p:nvSpPr>
        <p:spPr>
          <a:xfrm>
            <a:off x="4114800" y="247802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0" name="Google Shape;290;p15"/>
          <p:cNvSpPr txBox="1"/>
          <p:nvPr/>
        </p:nvSpPr>
        <p:spPr>
          <a:xfrm>
            <a:off x="4114800" y="247802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291" name="Google Shape;291;p15"/>
          <p:cNvSpPr txBox="1"/>
          <p:nvPr/>
        </p:nvSpPr>
        <p:spPr>
          <a:xfrm>
            <a:off x="4572000" y="2350008"/>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What actions are you going to take?</a:t>
            </a:r>
            <a:endParaRPr b="0" i="0" spc="0" sz="1250" u="none" cap="none" strike="noStrike">
              <a:solidFill>
                <a:schemeClr val="dk1"/>
              </a:solidFill>
              <a:latin typeface="Calibri"/>
              <a:ea typeface="Calibri"/>
              <a:cs typeface="Calibri"/>
              <a:sym typeface="Calibri"/>
            </a:endParaRPr>
          </a:p>
        </p:txBody>
      </p:sp>
      <p:sp>
        <p:nvSpPr>
          <p:cNvPr id="292" name="Google Shape;292;p15"/>
          <p:cNvSpPr txBox="1"/>
          <p:nvPr/>
        </p:nvSpPr>
        <p:spPr>
          <a:xfrm>
            <a:off x="4572000" y="2660904"/>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Cancel, refund, escalate, or BAU?</a:t>
            </a:r>
            <a:endParaRPr b="0" i="0" spc="0" sz="1000" u="none" cap="none" strike="noStrike">
              <a:solidFill>
                <a:schemeClr val="dk1"/>
              </a:solidFill>
              <a:latin typeface="Calibri"/>
              <a:ea typeface="Calibri"/>
              <a:cs typeface="Calibri"/>
              <a:sym typeface="Calibri"/>
            </a:endParaRPr>
          </a:p>
        </p:txBody>
      </p:sp>
      <p:sp>
        <p:nvSpPr>
          <p:cNvPr id="293" name="Google Shape;293;p15"/>
          <p:cNvSpPr/>
          <p:nvPr/>
        </p:nvSpPr>
        <p:spPr>
          <a:xfrm>
            <a:off x="3931920" y="3145536"/>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4" name="Google Shape;294;p15"/>
          <p:cNvSpPr/>
          <p:nvPr/>
        </p:nvSpPr>
        <p:spPr>
          <a:xfrm>
            <a:off x="4114800" y="340156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5" name="Google Shape;295;p15"/>
          <p:cNvSpPr txBox="1"/>
          <p:nvPr/>
        </p:nvSpPr>
        <p:spPr>
          <a:xfrm>
            <a:off x="4114800" y="340156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296" name="Google Shape;296;p15"/>
          <p:cNvSpPr txBox="1"/>
          <p:nvPr/>
        </p:nvSpPr>
        <p:spPr>
          <a:xfrm>
            <a:off x="4572000" y="3273552"/>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5-min writing challenge</a:t>
            </a:r>
            <a:endParaRPr b="0" i="0" spc="0" sz="1250" u="none" cap="none" strike="noStrike">
              <a:solidFill>
                <a:schemeClr val="dk1"/>
              </a:solidFill>
              <a:latin typeface="Calibri"/>
              <a:ea typeface="Calibri"/>
              <a:cs typeface="Calibri"/>
              <a:sym typeface="Calibri"/>
            </a:endParaRPr>
          </a:p>
        </p:txBody>
      </p:sp>
      <p:sp>
        <p:nvSpPr>
          <p:cNvPr id="297" name="Google Shape;297;p15"/>
          <p:cNvSpPr txBox="1"/>
          <p:nvPr/>
        </p:nvSpPr>
        <p:spPr>
          <a:xfrm>
            <a:off x="4572000" y="3584448"/>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Create your comms for the customer.</a:t>
            </a:r>
            <a:endParaRPr b="0" i="0" spc="0" sz="1000" u="none" cap="none" strike="noStrike">
              <a:solidFill>
                <a:schemeClr val="dk1"/>
              </a:solidFill>
              <a:latin typeface="Calibri"/>
              <a:ea typeface="Calibri"/>
              <a:cs typeface="Calibri"/>
              <a:sym typeface="Calibri"/>
            </a:endParaRPr>
          </a:p>
        </p:txBody>
      </p:sp>
      <p:sp>
        <p:nvSpPr>
          <p:cNvPr id="298" name="Google Shape;298;p15"/>
          <p:cNvSpPr/>
          <p:nvPr/>
        </p:nvSpPr>
        <p:spPr>
          <a:xfrm>
            <a:off x="411480" y="4069080"/>
            <a:ext cx="8321040" cy="502920"/>
          </a:xfrm>
          <a:prstGeom prst="roundRect">
            <a:avLst>
              <a:gd fmla="val 14545"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99" name="Google Shape;299;p15"/>
          <p:cNvPicPr preferRelativeResize="0"/>
          <p:nvPr/>
        </p:nvPicPr>
        <p:blipFill rotWithShape="1">
          <a:blip r:embed="rId4">
            <a:alphaModFix/>
          </a:blip>
          <a:srcRect b="0" l="0" r="0" t="0"/>
          <a:stretch/>
        </p:blipFill>
        <p:spPr>
          <a:xfrm>
            <a:off x="640080" y="4192524"/>
            <a:ext cx="256032" cy="256032"/>
          </a:xfrm>
          <a:prstGeom prst="rect">
            <a:avLst/>
          </a:prstGeom>
          <a:noFill/>
          <a:ln>
            <a:noFill/>
          </a:ln>
        </p:spPr>
      </p:pic>
      <p:sp>
        <p:nvSpPr>
          <p:cNvPr id="300" name="Google Shape;300;p15"/>
          <p:cNvSpPr txBox="1"/>
          <p:nvPr/>
        </p:nvSpPr>
        <p:spPr>
          <a:xfrm>
            <a:off x="1051560" y="4069080"/>
            <a:ext cx="74980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Play"/>
              <a:buNone/>
            </a:pPr>
            <a:r>
              <a:rPr b="1" i="0" lang="en-US" spc="0" sz="1400" u="none" cap="none" strike="noStrike">
                <a:solidFill>
                  <a:srgbClr val="FFFFFF"/>
                </a:solidFill>
                <a:latin typeface="Play"/>
                <a:ea typeface="Play"/>
                <a:cs typeface="Play"/>
                <a:sym typeface="Play"/>
              </a:rPr>
              <a:t>Questions?  </a:t>
            </a:r>
            <a:r>
              <a:rPr b="0" i="0" lang="en-US" spc="0" sz="1100" u="none" cap="none" strike="noStrike">
                <a:solidFill>
                  <a:srgbClr val="FFFFFF"/>
                </a:solidFill>
                <a:latin typeface="Arial"/>
                <a:ea typeface="Arial"/>
                <a:cs typeface="Arial"/>
                <a:sym typeface="Arial"/>
              </a:rPr>
              <a:t>Open the floor before we move to the next topic.</a:t>
            </a:r>
            <a:endParaRPr b="0" i="0" spc="0" sz="1400" u="none" cap="none" strike="noStrike">
              <a:solidFill>
                <a:schemeClr val="dk1"/>
              </a:solidFill>
              <a:latin typeface="Calibri"/>
              <a:ea typeface="Calibri"/>
              <a:cs typeface="Calibri"/>
              <a:sym typeface="Calibri"/>
            </a:endParaRPr>
          </a:p>
        </p:txBody>
      </p:sp>
      <p:sp>
        <p:nvSpPr>
          <p:cNvPr id="301" name="Google Shape;301;p1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6"/>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TOPIC 02 OF 07</a:t>
            </a:r>
            <a:endParaRPr b="0" i="0" spc="0" sz="800" u="none" cap="none" strike="noStrike">
              <a:solidFill>
                <a:schemeClr val="dk1"/>
              </a:solidFill>
              <a:latin typeface="Calibri"/>
              <a:ea typeface="Calibri"/>
              <a:cs typeface="Calibri"/>
              <a:sym typeface="Calibri"/>
            </a:endParaRPr>
          </a:p>
        </p:txBody>
      </p:sp>
      <p:sp>
        <p:nvSpPr>
          <p:cNvPr id="308" name="Google Shape;308;p16"/>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US" spc="0" sz="2800" u="none" cap="none" strike="noStrike">
                <a:solidFill>
                  <a:srgbClr val="1D1D1F"/>
                </a:solidFill>
                <a:latin typeface="Play"/>
                <a:ea typeface="Play"/>
                <a:cs typeface="Play"/>
                <a:sym typeface="Play"/>
              </a:rPr>
              <a:t>Understanding Offer Logic</a:t>
            </a:r>
            <a:endParaRPr b="0" i="0" spc="0" sz="2800" u="none" cap="none" strike="noStrike">
              <a:solidFill>
                <a:schemeClr val="dk1"/>
              </a:solidFill>
              <a:latin typeface="Calibri"/>
              <a:ea typeface="Calibri"/>
              <a:cs typeface="Calibri"/>
              <a:sym typeface="Calibri"/>
            </a:endParaRPr>
          </a:p>
        </p:txBody>
      </p:sp>
      <p:sp>
        <p:nvSpPr>
          <p:cNvPr id="309" name="Google Shape;309;p16"/>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US" spc="0" sz="1150" u="none" cap="none" strike="noStrike">
                <a:solidFill>
                  <a:srgbClr val="6E6E73"/>
                </a:solidFill>
                <a:latin typeface="Arial"/>
                <a:ea typeface="Arial"/>
                <a:cs typeface="Arial"/>
                <a:sym typeface="Arial"/>
              </a:rPr>
              <a:t>When and how should I make an offer?</a:t>
            </a:r>
            <a:endParaRPr b="0" i="0" spc="0" sz="1150" u="none" cap="none" strike="noStrike">
              <a:solidFill>
                <a:schemeClr val="dk1"/>
              </a:solidFill>
              <a:latin typeface="Calibri"/>
              <a:ea typeface="Calibri"/>
              <a:cs typeface="Calibri"/>
              <a:sym typeface="Calibri"/>
            </a:endParaRPr>
          </a:p>
        </p:txBody>
      </p:sp>
      <p:sp>
        <p:nvSpPr>
          <p:cNvPr id="310" name="Google Shape;310;p16"/>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YOU'LL LEARN</a:t>
            </a:r>
            <a:endParaRPr b="0" i="0" spc="0" sz="800" u="none" cap="none" strike="noStrike">
              <a:solidFill>
                <a:schemeClr val="dk1"/>
              </a:solidFill>
              <a:latin typeface="Calibri"/>
              <a:ea typeface="Calibri"/>
              <a:cs typeface="Calibri"/>
              <a:sym typeface="Calibri"/>
            </a:endParaRPr>
          </a:p>
        </p:txBody>
      </p:sp>
      <p:sp>
        <p:nvSpPr>
          <p:cNvPr id="311" name="Google Shape;311;p16"/>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12" name="Google Shape;312;p16"/>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313" name="Google Shape;313;p16"/>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You don't need cancellation intent</a:t>
            </a:r>
            <a:endParaRPr b="0" i="0" spc="0" sz="1050" u="none" cap="none" strike="noStrike">
              <a:solidFill>
                <a:schemeClr val="dk1"/>
              </a:solidFill>
              <a:latin typeface="Calibri"/>
              <a:ea typeface="Calibri"/>
              <a:cs typeface="Calibri"/>
              <a:sym typeface="Calibri"/>
            </a:endParaRPr>
          </a:p>
        </p:txBody>
      </p:sp>
      <p:sp>
        <p:nvSpPr>
          <p:cNvPr id="314" name="Google Shape;314;p16"/>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15" name="Google Shape;315;p16"/>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316" name="Google Shape;316;p16"/>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Retention, Exit and Make-Right offers</a:t>
            </a:r>
            <a:endParaRPr b="0" i="0" spc="0" sz="1050" u="none" cap="none" strike="noStrike">
              <a:solidFill>
                <a:schemeClr val="dk1"/>
              </a:solidFill>
              <a:latin typeface="Calibri"/>
              <a:ea typeface="Calibri"/>
              <a:cs typeface="Calibri"/>
              <a:sym typeface="Calibri"/>
            </a:endParaRPr>
          </a:p>
        </p:txBody>
      </p:sp>
      <p:sp>
        <p:nvSpPr>
          <p:cNvPr id="317" name="Google Shape;317;p16"/>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18" name="Google Shape;318;p16"/>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319" name="Google Shape;319;p16"/>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What each offer is built to do</a:t>
            </a:r>
            <a:endParaRPr b="0" i="0" spc="0" sz="1050" u="none" cap="none" strike="noStrike">
              <a:solidFill>
                <a:schemeClr val="dk1"/>
              </a:solidFill>
              <a:latin typeface="Calibri"/>
              <a:ea typeface="Calibri"/>
              <a:cs typeface="Calibri"/>
              <a:sym typeface="Calibri"/>
            </a:endParaRPr>
          </a:p>
        </p:txBody>
      </p:sp>
      <p:sp>
        <p:nvSpPr>
          <p:cNvPr id="320" name="Google Shape;320;p16"/>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21" name="Google Shape;321;p16"/>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322" name="Google Shape;322;p16"/>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Caps, existing offers and guardrails</a:t>
            </a:r>
            <a:endParaRPr b="0" i="0" spc="0" sz="1050" u="none" cap="none" strike="noStrike">
              <a:solidFill>
                <a:schemeClr val="dk1"/>
              </a:solidFill>
              <a:latin typeface="Calibri"/>
              <a:ea typeface="Calibri"/>
              <a:cs typeface="Calibri"/>
              <a:sym typeface="Calibri"/>
            </a:endParaRPr>
          </a:p>
        </p:txBody>
      </p:sp>
      <p:sp>
        <p:nvSpPr>
          <p:cNvPr id="323" name="Google Shape;323;p16"/>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4" name="Google Shape;324;p16"/>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7/ill12.png" id="325" name="Google Shape;325;p16"/>
          <p:cNvPicPr preferRelativeResize="0"/>
          <p:nvPr/>
        </p:nvPicPr>
        <p:blipFill rotWithShape="1">
          <a:blip r:embed="rId4">
            <a:alphaModFix/>
          </a:blip>
          <a:srcRect b="0" l="0" r="0" t="0"/>
          <a:stretch/>
        </p:blipFill>
        <p:spPr>
          <a:xfrm>
            <a:off x="5637276" y="1517904"/>
            <a:ext cx="2734056" cy="2103120"/>
          </a:xfrm>
          <a:prstGeom prst="rect">
            <a:avLst/>
          </a:prstGeom>
          <a:noFill/>
          <a:ln>
            <a:noFill/>
          </a:ln>
        </p:spPr>
      </p:pic>
      <p:sp>
        <p:nvSpPr>
          <p:cNvPr id="326" name="Google Shape;326;p16"/>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7" name="Google Shape;327;p16"/>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8" name="Google Shape;328;p16"/>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29" name="Google Shape;329;p16"/>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0" name="Google Shape;330;p16"/>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1" name="Google Shape;331;p16"/>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32" name="Google Shape;332;p1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1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OFFER LOGIC</a:t>
            </a:r>
            <a:endParaRPr b="0" i="0" spc="0" sz="800" u="none" cap="none" strike="noStrike">
              <a:solidFill>
                <a:schemeClr val="dk1"/>
              </a:solidFill>
              <a:latin typeface="Calibri"/>
              <a:ea typeface="Calibri"/>
              <a:cs typeface="Calibri"/>
              <a:sym typeface="Calibri"/>
            </a:endParaRPr>
          </a:p>
        </p:txBody>
      </p:sp>
      <p:sp>
        <p:nvSpPr>
          <p:cNvPr id="339" name="Google Shape;339;p1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No cancellation intent needed</a:t>
            </a:r>
            <a:endParaRPr b="0" i="0" spc="0" sz="2400" u="none" cap="none" strike="noStrike">
              <a:solidFill>
                <a:schemeClr val="dk1"/>
              </a:solidFill>
              <a:latin typeface="Calibri"/>
              <a:ea typeface="Calibri"/>
              <a:cs typeface="Calibri"/>
              <a:sym typeface="Calibri"/>
            </a:endParaRPr>
          </a:p>
        </p:txBody>
      </p:sp>
      <p:sp>
        <p:nvSpPr>
          <p:cNvPr id="340" name="Google Shape;340;p17"/>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But offers aren't rewards, apologies, or something we issue just because we can.</a:t>
            </a:r>
            <a:endParaRPr b="0" i="0" spc="0" sz="1200" u="none" cap="none" strike="noStrike">
              <a:solidFill>
                <a:schemeClr val="dk1"/>
              </a:solidFill>
              <a:latin typeface="Calibri"/>
              <a:ea typeface="Calibri"/>
              <a:cs typeface="Calibri"/>
              <a:sym typeface="Calibri"/>
            </a:endParaRPr>
          </a:p>
        </p:txBody>
      </p:sp>
      <p:sp>
        <p:nvSpPr>
          <p:cNvPr id="341" name="Google Shape;341;p17"/>
          <p:cNvSpPr/>
          <p:nvPr/>
        </p:nvSpPr>
        <p:spPr>
          <a:xfrm>
            <a:off x="411480" y="1325880"/>
            <a:ext cx="3108960" cy="2331720"/>
          </a:xfrm>
          <a:prstGeom prst="roundRect">
            <a:avLst>
              <a:gd fmla="val 3137"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2" name="Google Shape;342;p17"/>
          <p:cNvSpPr txBox="1"/>
          <p:nvPr/>
        </p:nvSpPr>
        <p:spPr>
          <a:xfrm>
            <a:off x="640080" y="1325880"/>
            <a:ext cx="2697480" cy="2331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Play"/>
              <a:buNone/>
            </a:pPr>
            <a:r>
              <a:rPr b="1" i="0" lang="en-US" spc="0" sz="1500" u="none" cap="none" strike="noStrike">
                <a:solidFill>
                  <a:srgbClr val="FFFFFF"/>
                </a:solidFill>
                <a:latin typeface="Play"/>
                <a:ea typeface="Play"/>
                <a:cs typeface="Play"/>
                <a:sym typeface="Play"/>
              </a:rPr>
              <a:t>Offer in your first response</a:t>
            </a:r>
            <a:endParaRPr b="0" i="0" spc="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050"/>
              <a:buFont typeface="Arial"/>
              <a:buNone/>
            </a:pPr>
            <a:r>
              <a:rPr b="0" i="0" lang="en-US" spc="0" sz="1050" u="none" cap="none" strike="noStrike">
                <a:solidFill>
                  <a:srgbClr val="FFFFFF"/>
                </a:solidFill>
                <a:latin typeface="Arial"/>
                <a:ea typeface="Arial"/>
                <a:cs typeface="Arial"/>
                <a:sym typeface="Arial"/>
              </a:rPr>
              <a:t>if the situation calls for it. The easiest customers to retain haven't decided to leave yet.</a:t>
            </a:r>
            <a:endParaRPr b="0" i="0" spc="0" sz="1500" u="none" cap="none" strike="noStrike">
              <a:solidFill>
                <a:schemeClr val="dk1"/>
              </a:solidFill>
              <a:latin typeface="Calibri"/>
              <a:ea typeface="Calibri"/>
              <a:cs typeface="Calibri"/>
              <a:sym typeface="Calibri"/>
            </a:endParaRPr>
          </a:p>
        </p:txBody>
      </p:sp>
      <p:sp>
        <p:nvSpPr>
          <p:cNvPr id="343" name="Google Shape;343;p17"/>
          <p:cNvSpPr txBox="1"/>
          <p:nvPr/>
        </p:nvSpPr>
        <p:spPr>
          <a:xfrm>
            <a:off x="3703320" y="132588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EVERY OFFER HAS A JOB</a:t>
            </a:r>
            <a:endParaRPr b="0" i="0" spc="0" sz="800" u="none" cap="none" strike="noStrike">
              <a:solidFill>
                <a:schemeClr val="dk1"/>
              </a:solidFill>
              <a:latin typeface="Calibri"/>
              <a:ea typeface="Calibri"/>
              <a:cs typeface="Calibri"/>
              <a:sym typeface="Calibri"/>
            </a:endParaRPr>
          </a:p>
        </p:txBody>
      </p:sp>
      <p:sp>
        <p:nvSpPr>
          <p:cNvPr id="344" name="Google Shape;344;p17"/>
          <p:cNvSpPr/>
          <p:nvPr/>
        </p:nvSpPr>
        <p:spPr>
          <a:xfrm>
            <a:off x="3703320" y="1572768"/>
            <a:ext cx="502920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5" name="Google Shape;345;p17"/>
          <p:cNvSpPr/>
          <p:nvPr/>
        </p:nvSpPr>
        <p:spPr>
          <a:xfrm>
            <a:off x="3813048" y="1636776"/>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46" name="Google Shape;346;p17"/>
          <p:cNvPicPr preferRelativeResize="0"/>
          <p:nvPr/>
        </p:nvPicPr>
        <p:blipFill rotWithShape="1">
          <a:blip r:embed="rId3">
            <a:alphaModFix/>
          </a:blip>
          <a:srcRect b="0" l="0" r="0" t="0"/>
          <a:stretch/>
        </p:blipFill>
        <p:spPr>
          <a:xfrm>
            <a:off x="3892052" y="1715780"/>
            <a:ext cx="171176" cy="171176"/>
          </a:xfrm>
          <a:prstGeom prst="rect">
            <a:avLst/>
          </a:prstGeom>
          <a:noFill/>
          <a:ln>
            <a:noFill/>
          </a:ln>
        </p:spPr>
      </p:pic>
      <p:sp>
        <p:nvSpPr>
          <p:cNvPr id="347" name="Google Shape;347;p17"/>
          <p:cNvSpPr txBox="1"/>
          <p:nvPr/>
        </p:nvSpPr>
        <p:spPr>
          <a:xfrm>
            <a:off x="4251960" y="1572768"/>
            <a:ext cx="43891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Rebuild trust after a bad experience</a:t>
            </a:r>
            <a:endParaRPr b="0" i="0" spc="0" sz="1100" u="none" cap="none" strike="noStrike">
              <a:solidFill>
                <a:schemeClr val="dk1"/>
              </a:solidFill>
              <a:latin typeface="Calibri"/>
              <a:ea typeface="Calibri"/>
              <a:cs typeface="Calibri"/>
              <a:sym typeface="Calibri"/>
            </a:endParaRPr>
          </a:p>
        </p:txBody>
      </p:sp>
      <p:sp>
        <p:nvSpPr>
          <p:cNvPr id="348" name="Google Shape;348;p17"/>
          <p:cNvSpPr/>
          <p:nvPr/>
        </p:nvSpPr>
        <p:spPr>
          <a:xfrm>
            <a:off x="3703320" y="2103120"/>
            <a:ext cx="502920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49" name="Google Shape;349;p17"/>
          <p:cNvSpPr/>
          <p:nvPr/>
        </p:nvSpPr>
        <p:spPr>
          <a:xfrm>
            <a:off x="3813048" y="2167128"/>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50" name="Google Shape;350;p17"/>
          <p:cNvPicPr preferRelativeResize="0"/>
          <p:nvPr/>
        </p:nvPicPr>
        <p:blipFill rotWithShape="1">
          <a:blip r:embed="rId4">
            <a:alphaModFix/>
          </a:blip>
          <a:srcRect b="0" l="0" r="0" t="0"/>
          <a:stretch/>
        </p:blipFill>
        <p:spPr>
          <a:xfrm>
            <a:off x="3892052" y="2246132"/>
            <a:ext cx="171176" cy="171176"/>
          </a:xfrm>
          <a:prstGeom prst="rect">
            <a:avLst/>
          </a:prstGeom>
          <a:noFill/>
          <a:ln>
            <a:noFill/>
          </a:ln>
        </p:spPr>
      </p:pic>
      <p:sp>
        <p:nvSpPr>
          <p:cNvPr id="351" name="Google Shape;351;p17"/>
          <p:cNvSpPr txBox="1"/>
          <p:nvPr/>
        </p:nvSpPr>
        <p:spPr>
          <a:xfrm>
            <a:off x="4251960" y="2103120"/>
            <a:ext cx="43891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Remove a financial barrier</a:t>
            </a:r>
            <a:endParaRPr b="0" i="0" spc="0" sz="1100" u="none" cap="none" strike="noStrike">
              <a:solidFill>
                <a:schemeClr val="dk1"/>
              </a:solidFill>
              <a:latin typeface="Calibri"/>
              <a:ea typeface="Calibri"/>
              <a:cs typeface="Calibri"/>
              <a:sym typeface="Calibri"/>
            </a:endParaRPr>
          </a:p>
        </p:txBody>
      </p:sp>
      <p:sp>
        <p:nvSpPr>
          <p:cNvPr id="352" name="Google Shape;352;p17"/>
          <p:cNvSpPr/>
          <p:nvPr/>
        </p:nvSpPr>
        <p:spPr>
          <a:xfrm>
            <a:off x="3703320" y="2633472"/>
            <a:ext cx="502920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3" name="Google Shape;353;p17"/>
          <p:cNvSpPr/>
          <p:nvPr/>
        </p:nvSpPr>
        <p:spPr>
          <a:xfrm>
            <a:off x="3813048" y="2697480"/>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54" name="Google Shape;354;p17"/>
          <p:cNvPicPr preferRelativeResize="0"/>
          <p:nvPr/>
        </p:nvPicPr>
        <p:blipFill rotWithShape="1">
          <a:blip r:embed="rId5">
            <a:alphaModFix/>
          </a:blip>
          <a:srcRect b="0" l="0" r="0" t="0"/>
          <a:stretch/>
        </p:blipFill>
        <p:spPr>
          <a:xfrm>
            <a:off x="3892052" y="2776484"/>
            <a:ext cx="171176" cy="171176"/>
          </a:xfrm>
          <a:prstGeom prst="rect">
            <a:avLst/>
          </a:prstGeom>
          <a:noFill/>
          <a:ln>
            <a:noFill/>
          </a:ln>
        </p:spPr>
      </p:pic>
      <p:sp>
        <p:nvSpPr>
          <p:cNvPr id="355" name="Google Shape;355;p17"/>
          <p:cNvSpPr txBox="1"/>
          <p:nvPr/>
        </p:nvSpPr>
        <p:spPr>
          <a:xfrm>
            <a:off x="4251960" y="2633472"/>
            <a:ext cx="43891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Make it easier to keep using Homeaglow</a:t>
            </a:r>
            <a:endParaRPr b="0" i="0" spc="0" sz="1100" u="none" cap="none" strike="noStrike">
              <a:solidFill>
                <a:schemeClr val="dk1"/>
              </a:solidFill>
              <a:latin typeface="Calibri"/>
              <a:ea typeface="Calibri"/>
              <a:cs typeface="Calibri"/>
              <a:sym typeface="Calibri"/>
            </a:endParaRPr>
          </a:p>
        </p:txBody>
      </p:sp>
      <p:sp>
        <p:nvSpPr>
          <p:cNvPr id="356" name="Google Shape;356;p17"/>
          <p:cNvSpPr/>
          <p:nvPr/>
        </p:nvSpPr>
        <p:spPr>
          <a:xfrm>
            <a:off x="3703320" y="3163824"/>
            <a:ext cx="502920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57" name="Google Shape;357;p17"/>
          <p:cNvSpPr/>
          <p:nvPr/>
        </p:nvSpPr>
        <p:spPr>
          <a:xfrm>
            <a:off x="3813048" y="322783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58" name="Google Shape;358;p17"/>
          <p:cNvPicPr preferRelativeResize="0"/>
          <p:nvPr/>
        </p:nvPicPr>
        <p:blipFill rotWithShape="1">
          <a:blip r:embed="rId6">
            <a:alphaModFix/>
          </a:blip>
          <a:srcRect b="0" l="0" r="0" t="0"/>
          <a:stretch/>
        </p:blipFill>
        <p:spPr>
          <a:xfrm>
            <a:off x="3892052" y="3306836"/>
            <a:ext cx="171176" cy="171176"/>
          </a:xfrm>
          <a:prstGeom prst="rect">
            <a:avLst/>
          </a:prstGeom>
          <a:noFill/>
          <a:ln>
            <a:noFill/>
          </a:ln>
        </p:spPr>
      </p:pic>
      <p:sp>
        <p:nvSpPr>
          <p:cNvPr id="359" name="Google Shape;359;p17"/>
          <p:cNvSpPr txBox="1"/>
          <p:nvPr/>
        </p:nvSpPr>
        <p:spPr>
          <a:xfrm>
            <a:off x="4251960" y="3163824"/>
            <a:ext cx="43891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Close out a membership fairly</a:t>
            </a:r>
            <a:endParaRPr b="0" i="0" spc="0" sz="1100" u="none" cap="none" strike="noStrike">
              <a:solidFill>
                <a:schemeClr val="dk1"/>
              </a:solidFill>
              <a:latin typeface="Calibri"/>
              <a:ea typeface="Calibri"/>
              <a:cs typeface="Calibri"/>
              <a:sym typeface="Calibri"/>
            </a:endParaRPr>
          </a:p>
        </p:txBody>
      </p:sp>
      <p:sp>
        <p:nvSpPr>
          <p:cNvPr id="360" name="Google Shape;360;p17"/>
          <p:cNvSpPr/>
          <p:nvPr/>
        </p:nvSpPr>
        <p:spPr>
          <a:xfrm>
            <a:off x="411480" y="384048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61" name="Google Shape;361;p17"/>
          <p:cNvPicPr preferRelativeResize="0"/>
          <p:nvPr/>
        </p:nvPicPr>
        <p:blipFill rotWithShape="1">
          <a:blip r:embed="rId7">
            <a:alphaModFix/>
          </a:blip>
          <a:srcRect b="0" l="0" r="0" t="0"/>
          <a:stretch/>
        </p:blipFill>
        <p:spPr>
          <a:xfrm>
            <a:off x="566928" y="3950208"/>
            <a:ext cx="164592" cy="164592"/>
          </a:xfrm>
          <a:prstGeom prst="rect">
            <a:avLst/>
          </a:prstGeom>
          <a:noFill/>
          <a:ln>
            <a:noFill/>
          </a:ln>
        </p:spPr>
      </p:pic>
      <p:sp>
        <p:nvSpPr>
          <p:cNvPr id="362" name="Google Shape;362;p17"/>
          <p:cNvSpPr txBox="1"/>
          <p:nvPr/>
        </p:nvSpPr>
        <p:spPr>
          <a:xfrm>
            <a:off x="822960" y="394106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Ask:  </a:t>
            </a:r>
            <a:r>
              <a:rPr b="0" i="0" lang="en-US" spc="0" sz="1000" u="none" cap="none" strike="noStrike">
                <a:solidFill>
                  <a:srgbClr val="1D1D1F"/>
                </a:solidFill>
                <a:latin typeface="Arial"/>
                <a:ea typeface="Arial"/>
                <a:cs typeface="Arial"/>
                <a:sym typeface="Arial"/>
              </a:rPr>
              <a:t>"Is this the problem this offer was designed to solve?" Not "Am I allowed to use this?"</a:t>
            </a:r>
            <a:endParaRPr b="0" i="0" spc="0" sz="1000" u="none" cap="none" strike="noStrike">
              <a:solidFill>
                <a:schemeClr val="dk1"/>
              </a:solidFill>
              <a:latin typeface="Calibri"/>
              <a:ea typeface="Calibri"/>
              <a:cs typeface="Calibri"/>
              <a:sym typeface="Calibri"/>
            </a:endParaRPr>
          </a:p>
        </p:txBody>
      </p:sp>
      <p:sp>
        <p:nvSpPr>
          <p:cNvPr id="363" name="Google Shape;363;p1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OFFER LOGIC</a:t>
            </a:r>
            <a:endParaRPr b="0" i="0" spc="0" sz="800" u="none" cap="none" strike="noStrike">
              <a:solidFill>
                <a:schemeClr val="dk1"/>
              </a:solidFill>
              <a:latin typeface="Calibri"/>
              <a:ea typeface="Calibri"/>
              <a:cs typeface="Calibri"/>
              <a:sym typeface="Calibri"/>
            </a:endParaRPr>
          </a:p>
        </p:txBody>
      </p:sp>
      <p:sp>
        <p:nvSpPr>
          <p:cNvPr id="370" name="Google Shape;370;p1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Three kinds of offers</a:t>
            </a:r>
            <a:endParaRPr b="0" i="0" spc="0" sz="2400" u="none" cap="none" strike="noStrike">
              <a:solidFill>
                <a:schemeClr val="dk1"/>
              </a:solidFill>
              <a:latin typeface="Calibri"/>
              <a:ea typeface="Calibri"/>
              <a:cs typeface="Calibri"/>
              <a:sym typeface="Calibri"/>
            </a:endParaRPr>
          </a:p>
        </p:txBody>
      </p:sp>
      <p:sp>
        <p:nvSpPr>
          <p:cNvPr id="371" name="Google Shape;371;p1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Every offer does one of three jobs.</a:t>
            </a:r>
            <a:endParaRPr b="0" i="0" spc="0" sz="1200" u="none" cap="none" strike="noStrike">
              <a:solidFill>
                <a:schemeClr val="dk1"/>
              </a:solidFill>
              <a:latin typeface="Calibri"/>
              <a:ea typeface="Calibri"/>
              <a:cs typeface="Calibri"/>
              <a:sym typeface="Calibri"/>
            </a:endParaRPr>
          </a:p>
        </p:txBody>
      </p:sp>
      <p:sp>
        <p:nvSpPr>
          <p:cNvPr id="372" name="Google Shape;372;p18"/>
          <p:cNvSpPr/>
          <p:nvPr/>
        </p:nvSpPr>
        <p:spPr>
          <a:xfrm>
            <a:off x="411480" y="1325880"/>
            <a:ext cx="2682240" cy="2743200"/>
          </a:xfrm>
          <a:prstGeom prst="roundRect">
            <a:avLst>
              <a:gd fmla="val 2727"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3" name="Google Shape;373;p18"/>
          <p:cNvSpPr/>
          <p:nvPr/>
        </p:nvSpPr>
        <p:spPr>
          <a:xfrm>
            <a:off x="411480" y="1325880"/>
            <a:ext cx="2682240" cy="384048"/>
          </a:xfrm>
          <a:prstGeom prst="roundRect">
            <a:avLst>
              <a:gd fmla="val 14286" name="adj"/>
            </a:avLst>
          </a:prstGeom>
          <a:solidFill>
            <a:srgbClr val="0B7A6F"/>
          </a:solidFill>
          <a:ln cap="flat" cmpd="sng" w="9525">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Play"/>
              <a:buNone/>
            </a:pPr>
            <a:r>
              <a:rPr b="1" i="0" lang="en-US" spc="0" sz="1300" u="none" cap="none" strike="noStrike">
                <a:solidFill>
                  <a:srgbClr val="FFFFFF"/>
                </a:solidFill>
                <a:latin typeface="Play"/>
                <a:ea typeface="Play"/>
                <a:cs typeface="Play"/>
                <a:sym typeface="Play"/>
              </a:rPr>
              <a:t>Retention</a:t>
            </a:r>
            <a:endParaRPr b="0" i="0" spc="0" sz="1300" u="none" cap="none" strike="noStrike">
              <a:solidFill>
                <a:schemeClr val="dk1"/>
              </a:solidFill>
              <a:latin typeface="Calibri"/>
              <a:ea typeface="Calibri"/>
              <a:cs typeface="Calibri"/>
              <a:sym typeface="Calibri"/>
            </a:endParaRPr>
          </a:p>
        </p:txBody>
      </p:sp>
      <p:sp>
        <p:nvSpPr>
          <p:cNvPr id="374" name="Google Shape;374;p18"/>
          <p:cNvSpPr txBox="1"/>
          <p:nvPr/>
        </p:nvSpPr>
        <p:spPr>
          <a:xfrm>
            <a:off x="576072" y="1828800"/>
            <a:ext cx="2353056" cy="214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750"/>
              <a:buFont typeface="Play"/>
              <a:buNone/>
            </a:pPr>
            <a:r>
              <a:rPr b="1" i="0" lang="en-US" spc="0" sz="750" u="none" cap="none" strike="noStrike">
                <a:solidFill>
                  <a:srgbClr val="6E6E73"/>
                </a:solidFill>
                <a:latin typeface="Play"/>
                <a:ea typeface="Play"/>
                <a:cs typeface="Play"/>
                <a:sym typeface="Play"/>
              </a:rPr>
              <a:t>GOAL</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Keep the membership active</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500"/>
              <a:buFont typeface="Arial"/>
              <a:buNone/>
            </a:pPr>
            <a:r>
              <a:rPr b="0" i="0" lang="en-US" spc="0" sz="500" u="none" cap="none" strike="noStrike">
                <a:solidFill>
                  <a:srgbClr val="1D1D1F"/>
                </a:solidFill>
                <a:latin typeface="Arial"/>
                <a:ea typeface="Arial"/>
                <a:cs typeface="Arial"/>
                <a:sym typeface="Arial"/>
              </a:rPr>
              <a:t> </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750"/>
              <a:buFont typeface="Play"/>
              <a:buNone/>
            </a:pPr>
            <a:r>
              <a:rPr b="1" i="0" lang="en-US" spc="0" sz="750" u="none" cap="none" strike="noStrike">
                <a:solidFill>
                  <a:srgbClr val="6E6E73"/>
                </a:solidFill>
                <a:latin typeface="Play"/>
                <a:ea typeface="Play"/>
                <a:cs typeface="Play"/>
                <a:sym typeface="Play"/>
              </a:rPr>
              <a:t>ASK</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000"/>
              <a:buFont typeface="Arial"/>
              <a:buNone/>
            </a:pPr>
            <a:r>
              <a:rPr b="0" i="1" lang="en-US" spc="0" sz="1000" u="none" cap="none" strike="noStrike">
                <a:solidFill>
                  <a:srgbClr val="1D1D1F"/>
                </a:solidFill>
                <a:latin typeface="Arial"/>
                <a:ea typeface="Arial"/>
                <a:cs typeface="Arial"/>
                <a:sym typeface="Arial"/>
              </a:rPr>
              <a:t>What's standing in the way of them staying?</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500"/>
              <a:buFont typeface="Arial"/>
              <a:buNone/>
            </a:pPr>
            <a:r>
              <a:rPr b="0" i="0" lang="en-US" spc="0" sz="500" u="none" cap="none" strike="noStrike">
                <a:solidFill>
                  <a:srgbClr val="1D1D1F"/>
                </a:solidFill>
                <a:latin typeface="Arial"/>
                <a:ea typeface="Arial"/>
                <a:cs typeface="Arial"/>
                <a:sym typeface="Arial"/>
              </a:rPr>
              <a:t> </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750"/>
              <a:buFont typeface="Play"/>
              <a:buNone/>
            </a:pPr>
            <a:r>
              <a:rPr b="1" i="0" lang="en-US" spc="0" sz="750" u="none" cap="none" strike="noStrike">
                <a:solidFill>
                  <a:srgbClr val="6E6E73"/>
                </a:solidFill>
                <a:latin typeface="Play"/>
                <a:ea typeface="Play"/>
                <a:cs typeface="Play"/>
                <a:sym typeface="Play"/>
              </a:rPr>
              <a:t>TOOLS</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950"/>
              <a:buFont typeface="Arial"/>
              <a:buNone/>
            </a:pPr>
            <a:r>
              <a:rPr b="0" i="0" lang="en-US" spc="0" sz="950" u="none" cap="none" strike="noStrike">
                <a:solidFill>
                  <a:srgbClr val="1D1D1F"/>
                </a:solidFill>
                <a:latin typeface="Arial"/>
                <a:ea typeface="Arial"/>
                <a:cs typeface="Arial"/>
                <a:sym typeface="Arial"/>
              </a:rPr>
              <a:t>Vouchers &amp; credits, MF reduction, MCT reduction (Job 1), free months</a:t>
            </a:r>
            <a:endParaRPr b="0" i="0" spc="0" sz="750" u="none" cap="none" strike="noStrike">
              <a:solidFill>
                <a:schemeClr val="dk1"/>
              </a:solidFill>
              <a:latin typeface="Calibri"/>
              <a:ea typeface="Calibri"/>
              <a:cs typeface="Calibri"/>
              <a:sym typeface="Calibri"/>
            </a:endParaRPr>
          </a:p>
        </p:txBody>
      </p:sp>
      <p:sp>
        <p:nvSpPr>
          <p:cNvPr id="375" name="Google Shape;375;p18"/>
          <p:cNvSpPr/>
          <p:nvPr/>
        </p:nvSpPr>
        <p:spPr>
          <a:xfrm>
            <a:off x="3230880" y="1325880"/>
            <a:ext cx="2682240" cy="2743200"/>
          </a:xfrm>
          <a:prstGeom prst="roundRect">
            <a:avLst>
              <a:gd fmla="val 2727" name="adj"/>
            </a:avLst>
          </a:prstGeom>
          <a:solidFill>
            <a:srgbClr val="FFFFFF"/>
          </a:solidFill>
          <a:ln cap="flat" cmpd="sng" w="9525">
            <a:solidFill>
              <a:srgbClr val="1D1D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6" name="Google Shape;376;p18"/>
          <p:cNvSpPr/>
          <p:nvPr/>
        </p:nvSpPr>
        <p:spPr>
          <a:xfrm>
            <a:off x="3230880" y="1325880"/>
            <a:ext cx="2682240" cy="384048"/>
          </a:xfrm>
          <a:prstGeom prst="roundRect">
            <a:avLst>
              <a:gd fmla="val 14286" name="adj"/>
            </a:avLst>
          </a:prstGeom>
          <a:solidFill>
            <a:srgbClr val="1D1D1F"/>
          </a:solidFill>
          <a:ln cap="flat" cmpd="sng" w="9525">
            <a:solidFill>
              <a:srgbClr val="1D1D1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Play"/>
              <a:buNone/>
            </a:pPr>
            <a:r>
              <a:rPr b="1" i="0" lang="en-US" spc="0" sz="1300" u="none" cap="none" strike="noStrike">
                <a:solidFill>
                  <a:srgbClr val="FFFFFF"/>
                </a:solidFill>
                <a:latin typeface="Play"/>
                <a:ea typeface="Play"/>
                <a:cs typeface="Play"/>
                <a:sym typeface="Play"/>
              </a:rPr>
              <a:t>Exit</a:t>
            </a:r>
            <a:endParaRPr b="0" i="0" spc="0" sz="1300" u="none" cap="none" strike="noStrike">
              <a:solidFill>
                <a:schemeClr val="dk1"/>
              </a:solidFill>
              <a:latin typeface="Calibri"/>
              <a:ea typeface="Calibri"/>
              <a:cs typeface="Calibri"/>
              <a:sym typeface="Calibri"/>
            </a:endParaRPr>
          </a:p>
        </p:txBody>
      </p:sp>
      <p:sp>
        <p:nvSpPr>
          <p:cNvPr id="377" name="Google Shape;377;p18"/>
          <p:cNvSpPr txBox="1"/>
          <p:nvPr/>
        </p:nvSpPr>
        <p:spPr>
          <a:xfrm>
            <a:off x="3395472" y="1828800"/>
            <a:ext cx="2353056" cy="214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750"/>
              <a:buFont typeface="Play"/>
              <a:buNone/>
            </a:pPr>
            <a:r>
              <a:rPr b="1" i="0" lang="en-US" spc="0" sz="750" u="none" cap="none" strike="noStrike">
                <a:solidFill>
                  <a:srgbClr val="6E6E73"/>
                </a:solidFill>
                <a:latin typeface="Play"/>
                <a:ea typeface="Play"/>
                <a:cs typeface="Play"/>
                <a:sym typeface="Play"/>
              </a:rPr>
              <a:t>GOAL</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Close the membership out fairly</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500"/>
              <a:buFont typeface="Arial"/>
              <a:buNone/>
            </a:pPr>
            <a:r>
              <a:rPr b="0" i="0" lang="en-US" spc="0" sz="500" u="none" cap="none" strike="noStrike">
                <a:solidFill>
                  <a:srgbClr val="1D1D1F"/>
                </a:solidFill>
                <a:latin typeface="Arial"/>
                <a:ea typeface="Arial"/>
                <a:cs typeface="Arial"/>
                <a:sym typeface="Arial"/>
              </a:rPr>
              <a:t> </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750"/>
              <a:buFont typeface="Play"/>
              <a:buNone/>
            </a:pPr>
            <a:r>
              <a:rPr b="1" i="0" lang="en-US" spc="0" sz="750" u="none" cap="none" strike="noStrike">
                <a:solidFill>
                  <a:srgbClr val="6E6E73"/>
                </a:solidFill>
                <a:latin typeface="Play"/>
                <a:ea typeface="Play"/>
                <a:cs typeface="Play"/>
                <a:sym typeface="Play"/>
              </a:rPr>
              <a:t>ASK</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000"/>
              <a:buFont typeface="Arial"/>
              <a:buNone/>
            </a:pPr>
            <a:r>
              <a:rPr b="0" i="1" lang="en-US" spc="0" sz="1000" u="none" cap="none" strike="noStrike">
                <a:solidFill>
                  <a:srgbClr val="1D1D1F"/>
                </a:solidFill>
                <a:latin typeface="Arial"/>
                <a:ea typeface="Arial"/>
                <a:cs typeface="Arial"/>
                <a:sym typeface="Arial"/>
              </a:rPr>
              <a:t>What's the lowest-cost way for them to leave?</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500"/>
              <a:buFont typeface="Arial"/>
              <a:buNone/>
            </a:pPr>
            <a:r>
              <a:rPr b="0" i="0" lang="en-US" spc="0" sz="500" u="none" cap="none" strike="noStrike">
                <a:solidFill>
                  <a:srgbClr val="1D1D1F"/>
                </a:solidFill>
                <a:latin typeface="Arial"/>
                <a:ea typeface="Arial"/>
                <a:cs typeface="Arial"/>
                <a:sym typeface="Arial"/>
              </a:rPr>
              <a:t> </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750"/>
              <a:buFont typeface="Play"/>
              <a:buNone/>
            </a:pPr>
            <a:r>
              <a:rPr b="1" i="0" lang="en-US" spc="0" sz="750" u="none" cap="none" strike="noStrike">
                <a:solidFill>
                  <a:srgbClr val="6E6E73"/>
                </a:solidFill>
                <a:latin typeface="Play"/>
                <a:ea typeface="Play"/>
                <a:cs typeface="Play"/>
                <a:sym typeface="Play"/>
              </a:rPr>
              <a:t>TOOLS</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950"/>
              <a:buFont typeface="Arial"/>
              <a:buNone/>
            </a:pPr>
            <a:r>
              <a:rPr b="0" i="0" lang="en-US" spc="0" sz="950" u="none" cap="none" strike="noStrike">
                <a:solidFill>
                  <a:srgbClr val="1D1D1F"/>
                </a:solidFill>
                <a:latin typeface="Arial"/>
                <a:ea typeface="Arial"/>
                <a:cs typeface="Arial"/>
                <a:sym typeface="Arial"/>
              </a:rPr>
              <a:t>MCT reduction (Job 2), ETF reduction</a:t>
            </a:r>
            <a:endParaRPr b="0" i="0" spc="0" sz="750" u="none" cap="none" strike="noStrike">
              <a:solidFill>
                <a:schemeClr val="dk1"/>
              </a:solidFill>
              <a:latin typeface="Calibri"/>
              <a:ea typeface="Calibri"/>
              <a:cs typeface="Calibri"/>
              <a:sym typeface="Calibri"/>
            </a:endParaRPr>
          </a:p>
        </p:txBody>
      </p:sp>
      <p:sp>
        <p:nvSpPr>
          <p:cNvPr id="378" name="Google Shape;378;p18"/>
          <p:cNvSpPr/>
          <p:nvPr/>
        </p:nvSpPr>
        <p:spPr>
          <a:xfrm>
            <a:off x="6050280" y="1325880"/>
            <a:ext cx="2682240" cy="2743200"/>
          </a:xfrm>
          <a:prstGeom prst="roundRect">
            <a:avLst>
              <a:gd fmla="val 2727"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79" name="Google Shape;379;p18"/>
          <p:cNvSpPr/>
          <p:nvPr/>
        </p:nvSpPr>
        <p:spPr>
          <a:xfrm>
            <a:off x="6050280" y="1325880"/>
            <a:ext cx="2682240" cy="384048"/>
          </a:xfrm>
          <a:prstGeom prst="roundRect">
            <a:avLst>
              <a:gd fmla="val 14286" name="adj"/>
            </a:avLst>
          </a:prstGeom>
          <a:solidFill>
            <a:srgbClr val="9A6410"/>
          </a:solidFill>
          <a:ln cap="flat" cmpd="sng" w="9525">
            <a:solidFill>
              <a:srgbClr val="9A641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Play"/>
              <a:buNone/>
            </a:pPr>
            <a:r>
              <a:rPr b="1" i="0" lang="en-US" spc="0" sz="1300" u="none" cap="none" strike="noStrike">
                <a:solidFill>
                  <a:srgbClr val="FFFFFF"/>
                </a:solidFill>
                <a:latin typeface="Play"/>
                <a:ea typeface="Play"/>
                <a:cs typeface="Play"/>
                <a:sym typeface="Play"/>
              </a:rPr>
              <a:t>Make-Right</a:t>
            </a:r>
            <a:endParaRPr b="0" i="0" spc="0" sz="1300" u="none" cap="none" strike="noStrike">
              <a:solidFill>
                <a:schemeClr val="dk1"/>
              </a:solidFill>
              <a:latin typeface="Calibri"/>
              <a:ea typeface="Calibri"/>
              <a:cs typeface="Calibri"/>
              <a:sym typeface="Calibri"/>
            </a:endParaRPr>
          </a:p>
        </p:txBody>
      </p:sp>
      <p:sp>
        <p:nvSpPr>
          <p:cNvPr id="380" name="Google Shape;380;p18"/>
          <p:cNvSpPr txBox="1"/>
          <p:nvPr/>
        </p:nvSpPr>
        <p:spPr>
          <a:xfrm>
            <a:off x="6214872" y="1828800"/>
            <a:ext cx="2353056" cy="2148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750"/>
              <a:buFont typeface="Play"/>
              <a:buNone/>
            </a:pPr>
            <a:r>
              <a:rPr b="1" i="0" lang="en-US" spc="0" sz="750" u="none" cap="none" strike="noStrike">
                <a:solidFill>
                  <a:srgbClr val="6E6E73"/>
                </a:solidFill>
                <a:latin typeface="Play"/>
                <a:ea typeface="Play"/>
                <a:cs typeface="Play"/>
                <a:sym typeface="Play"/>
              </a:rPr>
              <a:t>GOAL</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Correct a Homeaglow or system error</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500"/>
              <a:buFont typeface="Arial"/>
              <a:buNone/>
            </a:pPr>
            <a:r>
              <a:rPr b="0" i="0" lang="en-US" spc="0" sz="500" u="none" cap="none" strike="noStrike">
                <a:solidFill>
                  <a:srgbClr val="1D1D1F"/>
                </a:solidFill>
                <a:latin typeface="Arial"/>
                <a:ea typeface="Arial"/>
                <a:cs typeface="Arial"/>
                <a:sym typeface="Arial"/>
              </a:rPr>
              <a:t> </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750"/>
              <a:buFont typeface="Play"/>
              <a:buNone/>
            </a:pPr>
            <a:r>
              <a:rPr b="1" i="0" lang="en-US" spc="0" sz="750" u="none" cap="none" strike="noStrike">
                <a:solidFill>
                  <a:srgbClr val="6E6E73"/>
                </a:solidFill>
                <a:latin typeface="Play"/>
                <a:ea typeface="Play"/>
                <a:cs typeface="Play"/>
                <a:sym typeface="Play"/>
              </a:rPr>
              <a:t>ASK</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000"/>
              <a:buFont typeface="Arial"/>
              <a:buNone/>
            </a:pPr>
            <a:r>
              <a:rPr b="0" i="1" lang="en-US" spc="0" sz="1000" u="none" cap="none" strike="noStrike">
                <a:solidFill>
                  <a:srgbClr val="1D1D1F"/>
                </a:solidFill>
                <a:latin typeface="Arial"/>
                <a:ea typeface="Arial"/>
                <a:cs typeface="Arial"/>
                <a:sym typeface="Arial"/>
              </a:rPr>
              <a:t>What did we cause, and what makes it right?</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500"/>
              <a:buFont typeface="Arial"/>
              <a:buNone/>
            </a:pPr>
            <a:r>
              <a:rPr b="0" i="0" lang="en-US" spc="0" sz="500" u="none" cap="none" strike="noStrike">
                <a:solidFill>
                  <a:srgbClr val="1D1D1F"/>
                </a:solidFill>
                <a:latin typeface="Arial"/>
                <a:ea typeface="Arial"/>
                <a:cs typeface="Arial"/>
                <a:sym typeface="Arial"/>
              </a:rPr>
              <a:t> </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750"/>
              <a:buFont typeface="Play"/>
              <a:buNone/>
            </a:pPr>
            <a:r>
              <a:rPr b="1" i="0" lang="en-US" spc="0" sz="750" u="none" cap="none" strike="noStrike">
                <a:solidFill>
                  <a:srgbClr val="6E6E73"/>
                </a:solidFill>
                <a:latin typeface="Play"/>
                <a:ea typeface="Play"/>
                <a:cs typeface="Play"/>
                <a:sym typeface="Play"/>
              </a:rPr>
              <a:t>TOOLS</a:t>
            </a:r>
            <a:endParaRPr b="0" i="0" spc="0" sz="7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950"/>
              <a:buFont typeface="Arial"/>
              <a:buNone/>
            </a:pPr>
            <a:r>
              <a:rPr b="0" i="0" lang="en-US" spc="0" sz="950" u="none" cap="none" strike="noStrike">
                <a:solidFill>
                  <a:srgbClr val="1D1D1F"/>
                </a:solidFill>
                <a:latin typeface="Arial"/>
                <a:ea typeface="Arial"/>
                <a:cs typeface="Arial"/>
                <a:sym typeface="Arial"/>
              </a:rPr>
              <a:t>The individual charge and refund pages (LMC, Lockout, Priority Fee…)</a:t>
            </a:r>
            <a:endParaRPr b="0" i="0" spc="0" sz="750" u="none" cap="none" strike="noStrike">
              <a:solidFill>
                <a:schemeClr val="dk1"/>
              </a:solidFill>
              <a:latin typeface="Calibri"/>
              <a:ea typeface="Calibri"/>
              <a:cs typeface="Calibri"/>
              <a:sym typeface="Calibri"/>
            </a:endParaRPr>
          </a:p>
        </p:txBody>
      </p:sp>
      <p:sp>
        <p:nvSpPr>
          <p:cNvPr id="381" name="Google Shape;381;p18"/>
          <p:cNvSpPr/>
          <p:nvPr/>
        </p:nvSpPr>
        <p:spPr>
          <a:xfrm>
            <a:off x="411480" y="42062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382" name="Google Shape;382;p18"/>
          <p:cNvPicPr preferRelativeResize="0"/>
          <p:nvPr/>
        </p:nvPicPr>
        <p:blipFill rotWithShape="1">
          <a:blip r:embed="rId3">
            <a:alphaModFix/>
          </a:blip>
          <a:srcRect b="0" l="0" r="0" t="0"/>
          <a:stretch/>
        </p:blipFill>
        <p:spPr>
          <a:xfrm>
            <a:off x="566928" y="4315968"/>
            <a:ext cx="164592" cy="164592"/>
          </a:xfrm>
          <a:prstGeom prst="rect">
            <a:avLst/>
          </a:prstGeom>
          <a:noFill/>
          <a:ln>
            <a:noFill/>
          </a:ln>
        </p:spPr>
      </p:pic>
      <p:sp>
        <p:nvSpPr>
          <p:cNvPr id="383" name="Google Shape;383;p18"/>
          <p:cNvSpPr txBox="1"/>
          <p:nvPr/>
        </p:nvSpPr>
        <p:spPr>
          <a:xfrm>
            <a:off x="822960" y="43068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The line:  </a:t>
            </a:r>
            <a:r>
              <a:rPr b="0" i="0" lang="en-US" spc="0" sz="1000" u="none" cap="none" strike="noStrike">
                <a:solidFill>
                  <a:srgbClr val="1D1D1F"/>
                </a:solidFill>
                <a:latin typeface="Arial"/>
                <a:ea typeface="Arial"/>
                <a:cs typeface="Arial"/>
                <a:sym typeface="Arial"/>
              </a:rPr>
              <a:t>not "did they ask to cancel?" but "have I assessed them as unretainable?"</a:t>
            </a:r>
            <a:endParaRPr b="0" i="0" spc="0" sz="1000" u="none" cap="none" strike="noStrike">
              <a:solidFill>
                <a:schemeClr val="dk1"/>
              </a:solidFill>
              <a:latin typeface="Calibri"/>
              <a:ea typeface="Calibri"/>
              <a:cs typeface="Calibri"/>
              <a:sym typeface="Calibri"/>
            </a:endParaRPr>
          </a:p>
        </p:txBody>
      </p:sp>
      <p:sp>
        <p:nvSpPr>
          <p:cNvPr id="384" name="Google Shape;384;p1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1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OFFER LOGIC</a:t>
            </a:r>
            <a:endParaRPr b="0" i="0" spc="0" sz="800" u="none" cap="none" strike="noStrike">
              <a:solidFill>
                <a:schemeClr val="dk1"/>
              </a:solidFill>
              <a:latin typeface="Calibri"/>
              <a:ea typeface="Calibri"/>
              <a:cs typeface="Calibri"/>
              <a:sym typeface="Calibri"/>
            </a:endParaRPr>
          </a:p>
        </p:txBody>
      </p:sp>
      <p:sp>
        <p:nvSpPr>
          <p:cNvPr id="391" name="Google Shape;391;p1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Before you choose an offer</a:t>
            </a:r>
            <a:endParaRPr b="0" i="0" spc="0" sz="2400" u="none" cap="none" strike="noStrike">
              <a:solidFill>
                <a:schemeClr val="dk1"/>
              </a:solidFill>
              <a:latin typeface="Calibri"/>
              <a:ea typeface="Calibri"/>
              <a:cs typeface="Calibri"/>
              <a:sym typeface="Calibri"/>
            </a:endParaRPr>
          </a:p>
        </p:txBody>
      </p:sp>
      <p:sp>
        <p:nvSpPr>
          <p:cNvPr id="392" name="Google Shape;392;p1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Run the quick test, then three questions.</a:t>
            </a:r>
            <a:endParaRPr b="0" i="0" spc="0" sz="1200" u="none" cap="none" strike="noStrike">
              <a:solidFill>
                <a:schemeClr val="dk1"/>
              </a:solidFill>
              <a:latin typeface="Calibri"/>
              <a:ea typeface="Calibri"/>
              <a:cs typeface="Calibri"/>
              <a:sym typeface="Calibri"/>
            </a:endParaRPr>
          </a:p>
        </p:txBody>
      </p:sp>
      <p:sp>
        <p:nvSpPr>
          <p:cNvPr id="393" name="Google Shape;393;p19"/>
          <p:cNvSpPr txBox="1"/>
          <p:nvPr/>
        </p:nvSpPr>
        <p:spPr>
          <a:xfrm>
            <a:off x="411480" y="1298448"/>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QUICK TEST</a:t>
            </a:r>
            <a:endParaRPr b="0" i="0" spc="0" sz="800" u="none" cap="none" strike="noStrike">
              <a:solidFill>
                <a:schemeClr val="dk1"/>
              </a:solidFill>
              <a:latin typeface="Calibri"/>
              <a:ea typeface="Calibri"/>
              <a:cs typeface="Calibri"/>
              <a:sym typeface="Calibri"/>
            </a:endParaRPr>
          </a:p>
        </p:txBody>
      </p:sp>
      <p:sp>
        <p:nvSpPr>
          <p:cNvPr id="394" name="Google Shape;394;p19"/>
          <p:cNvSpPr/>
          <p:nvPr/>
        </p:nvSpPr>
        <p:spPr>
          <a:xfrm>
            <a:off x="411480" y="1508760"/>
            <a:ext cx="3291840" cy="457200"/>
          </a:xfrm>
          <a:prstGeom prst="roundRect">
            <a:avLst>
              <a:gd fmla="val 16000" name="adj"/>
            </a:avLst>
          </a:prstGeom>
          <a:solidFill>
            <a:srgbClr val="FFF3D6"/>
          </a:solidFill>
          <a:ln cap="flat" cmpd="sng" w="12700">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5" name="Google Shape;395;p19"/>
          <p:cNvSpPr txBox="1"/>
          <p:nvPr/>
        </p:nvSpPr>
        <p:spPr>
          <a:xfrm>
            <a:off x="411480" y="1508760"/>
            <a:ext cx="32918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1000"/>
              <a:buFont typeface="Play"/>
              <a:buNone/>
            </a:pPr>
            <a:r>
              <a:rPr b="1" i="0" lang="en-US" spc="0" sz="1000" u="none" cap="none" strike="noStrike">
                <a:solidFill>
                  <a:srgbClr val="9A6410"/>
                </a:solidFill>
                <a:latin typeface="Play"/>
                <a:ea typeface="Play"/>
                <a:cs typeface="Play"/>
                <a:sym typeface="Play"/>
              </a:rPr>
              <a:t>Account error or system-caused charge?</a:t>
            </a:r>
            <a:endParaRPr b="0" i="0" spc="0" sz="1000" u="none" cap="none" strike="noStrike">
              <a:solidFill>
                <a:schemeClr val="dk1"/>
              </a:solidFill>
              <a:latin typeface="Calibri"/>
              <a:ea typeface="Calibri"/>
              <a:cs typeface="Calibri"/>
              <a:sym typeface="Calibri"/>
            </a:endParaRPr>
          </a:p>
        </p:txBody>
      </p:sp>
      <p:cxnSp>
        <p:nvCxnSpPr>
          <p:cNvPr id="396" name="Google Shape;396;p19"/>
          <p:cNvCxnSpPr/>
          <p:nvPr/>
        </p:nvCxnSpPr>
        <p:spPr>
          <a:xfrm>
            <a:off x="3703320" y="1737360"/>
            <a:ext cx="228600" cy="0"/>
          </a:xfrm>
          <a:prstGeom prst="straightConnector1">
            <a:avLst/>
          </a:prstGeom>
          <a:noFill/>
          <a:ln cap="flat" cmpd="sng" w="12700">
            <a:solidFill>
              <a:srgbClr val="6E6E73"/>
            </a:solidFill>
            <a:prstDash val="solid"/>
            <a:round/>
            <a:headEnd len="sm" w="sm" type="none"/>
            <a:tailEnd len="med" w="med" type="triangle"/>
          </a:ln>
        </p:spPr>
      </p:cxnSp>
      <p:sp>
        <p:nvSpPr>
          <p:cNvPr id="397" name="Google Shape;397;p19"/>
          <p:cNvSpPr/>
          <p:nvPr/>
        </p:nvSpPr>
        <p:spPr>
          <a:xfrm>
            <a:off x="3931920" y="1536192"/>
            <a:ext cx="960120" cy="402336"/>
          </a:xfrm>
          <a:prstGeom prst="roundRect">
            <a:avLst>
              <a:gd fmla="val 18182" name="adj"/>
            </a:avLst>
          </a:prstGeom>
          <a:solidFill>
            <a:srgbClr val="FFFFFF"/>
          </a:solidFill>
          <a:ln cap="flat" cmpd="sng" w="12700">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98" name="Google Shape;398;p19"/>
          <p:cNvSpPr txBox="1"/>
          <p:nvPr/>
        </p:nvSpPr>
        <p:spPr>
          <a:xfrm>
            <a:off x="3931920" y="1536192"/>
            <a:ext cx="960120"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Make-Right</a:t>
            </a:r>
            <a:endParaRPr b="0" i="0" spc="0" sz="1000" u="none" cap="none" strike="noStrike">
              <a:solidFill>
                <a:schemeClr val="dk1"/>
              </a:solidFill>
              <a:latin typeface="Calibri"/>
              <a:ea typeface="Calibri"/>
              <a:cs typeface="Calibri"/>
              <a:sym typeface="Calibri"/>
            </a:endParaRPr>
          </a:p>
        </p:txBody>
      </p:sp>
      <p:sp>
        <p:nvSpPr>
          <p:cNvPr id="399" name="Google Shape;399;p19"/>
          <p:cNvSpPr txBox="1"/>
          <p:nvPr/>
        </p:nvSpPr>
        <p:spPr>
          <a:xfrm>
            <a:off x="3730752" y="1554480"/>
            <a:ext cx="274320" cy="1645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750"/>
              <a:buFont typeface="Arial"/>
              <a:buNone/>
            </a:pPr>
            <a:r>
              <a:rPr b="1" i="0" lang="en-US" spc="0" sz="750" u="none" cap="none" strike="noStrike">
                <a:solidFill>
                  <a:srgbClr val="6E6E73"/>
                </a:solidFill>
                <a:latin typeface="Arial"/>
                <a:ea typeface="Arial"/>
                <a:cs typeface="Arial"/>
                <a:sym typeface="Arial"/>
              </a:rPr>
              <a:t>Yes</a:t>
            </a:r>
            <a:endParaRPr b="0" i="0" spc="0" sz="750" u="none" cap="none" strike="noStrike">
              <a:solidFill>
                <a:schemeClr val="dk1"/>
              </a:solidFill>
              <a:latin typeface="Calibri"/>
              <a:ea typeface="Calibri"/>
              <a:cs typeface="Calibri"/>
              <a:sym typeface="Calibri"/>
            </a:endParaRPr>
          </a:p>
        </p:txBody>
      </p:sp>
      <p:cxnSp>
        <p:nvCxnSpPr>
          <p:cNvPr id="400" name="Google Shape;400;p19"/>
          <p:cNvCxnSpPr/>
          <p:nvPr/>
        </p:nvCxnSpPr>
        <p:spPr>
          <a:xfrm>
            <a:off x="2057400" y="1965960"/>
            <a:ext cx="0" cy="228600"/>
          </a:xfrm>
          <a:prstGeom prst="straightConnector1">
            <a:avLst/>
          </a:prstGeom>
          <a:noFill/>
          <a:ln cap="flat" cmpd="sng" w="12700">
            <a:solidFill>
              <a:srgbClr val="6E6E73"/>
            </a:solidFill>
            <a:prstDash val="solid"/>
            <a:round/>
            <a:headEnd len="sm" w="sm" type="none"/>
            <a:tailEnd len="med" w="med" type="triangle"/>
          </a:ln>
        </p:spPr>
      </p:cxnSp>
      <p:sp>
        <p:nvSpPr>
          <p:cNvPr id="401" name="Google Shape;401;p19"/>
          <p:cNvSpPr txBox="1"/>
          <p:nvPr/>
        </p:nvSpPr>
        <p:spPr>
          <a:xfrm>
            <a:off x="2121408" y="1984248"/>
            <a:ext cx="36576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750"/>
              <a:buFont typeface="Arial"/>
              <a:buNone/>
            </a:pPr>
            <a:r>
              <a:rPr b="1" i="0" lang="en-US" spc="0" sz="750" u="none" cap="none" strike="noStrike">
                <a:solidFill>
                  <a:srgbClr val="6E6E73"/>
                </a:solidFill>
                <a:latin typeface="Arial"/>
                <a:ea typeface="Arial"/>
                <a:cs typeface="Arial"/>
                <a:sym typeface="Arial"/>
              </a:rPr>
              <a:t>No</a:t>
            </a:r>
            <a:endParaRPr b="0" i="0" spc="0" sz="750" u="none" cap="none" strike="noStrike">
              <a:solidFill>
                <a:schemeClr val="dk1"/>
              </a:solidFill>
              <a:latin typeface="Calibri"/>
              <a:ea typeface="Calibri"/>
              <a:cs typeface="Calibri"/>
              <a:sym typeface="Calibri"/>
            </a:endParaRPr>
          </a:p>
        </p:txBody>
      </p:sp>
      <p:sp>
        <p:nvSpPr>
          <p:cNvPr id="402" name="Google Shape;402;p19"/>
          <p:cNvSpPr/>
          <p:nvPr/>
        </p:nvSpPr>
        <p:spPr>
          <a:xfrm>
            <a:off x="411480" y="2194560"/>
            <a:ext cx="3291840" cy="457200"/>
          </a:xfrm>
          <a:prstGeom prst="roundRect">
            <a:avLst>
              <a:gd fmla="val 16000" name="adj"/>
            </a:avLst>
          </a:prstGeom>
          <a:solidFill>
            <a:srgbClr val="FFF3D6"/>
          </a:solidFill>
          <a:ln cap="flat" cmpd="sng" w="12700">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03" name="Google Shape;403;p19"/>
          <p:cNvSpPr txBox="1"/>
          <p:nvPr/>
        </p:nvSpPr>
        <p:spPr>
          <a:xfrm>
            <a:off x="411480" y="2194560"/>
            <a:ext cx="32918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1000"/>
              <a:buFont typeface="Play"/>
              <a:buNone/>
            </a:pPr>
            <a:r>
              <a:rPr b="1" i="0" lang="en-US" spc="0" sz="1000" u="none" cap="none" strike="noStrike">
                <a:solidFill>
                  <a:srgbClr val="9A6410"/>
                </a:solidFill>
                <a:latin typeface="Play"/>
                <a:ea typeface="Play"/>
                <a:cs typeface="Play"/>
                <a:sym typeface="Play"/>
              </a:rPr>
              <a:t>Already assessed as unretainable?</a:t>
            </a:r>
            <a:endParaRPr b="0" i="0" spc="0" sz="1000" u="none" cap="none" strike="noStrike">
              <a:solidFill>
                <a:schemeClr val="dk1"/>
              </a:solidFill>
              <a:latin typeface="Calibri"/>
              <a:ea typeface="Calibri"/>
              <a:cs typeface="Calibri"/>
              <a:sym typeface="Calibri"/>
            </a:endParaRPr>
          </a:p>
        </p:txBody>
      </p:sp>
      <p:cxnSp>
        <p:nvCxnSpPr>
          <p:cNvPr id="404" name="Google Shape;404;p19"/>
          <p:cNvCxnSpPr/>
          <p:nvPr/>
        </p:nvCxnSpPr>
        <p:spPr>
          <a:xfrm>
            <a:off x="2057400" y="2651760"/>
            <a:ext cx="0" cy="137160"/>
          </a:xfrm>
          <a:prstGeom prst="straightConnector1">
            <a:avLst/>
          </a:prstGeom>
          <a:noFill/>
          <a:ln cap="flat" cmpd="sng" w="12700">
            <a:solidFill>
              <a:srgbClr val="6E6E73"/>
            </a:solidFill>
            <a:prstDash val="solid"/>
            <a:round/>
            <a:headEnd len="sm" w="sm" type="none"/>
            <a:tailEnd len="sm" w="sm" type="none"/>
          </a:ln>
        </p:spPr>
      </p:cxnSp>
      <p:cxnSp>
        <p:nvCxnSpPr>
          <p:cNvPr id="405" name="Google Shape;405;p19"/>
          <p:cNvCxnSpPr/>
          <p:nvPr/>
        </p:nvCxnSpPr>
        <p:spPr>
          <a:xfrm>
            <a:off x="1051560" y="2788920"/>
            <a:ext cx="2011680" cy="0"/>
          </a:xfrm>
          <a:prstGeom prst="straightConnector1">
            <a:avLst/>
          </a:prstGeom>
          <a:noFill/>
          <a:ln cap="flat" cmpd="sng" w="12700">
            <a:solidFill>
              <a:srgbClr val="6E6E73"/>
            </a:solidFill>
            <a:prstDash val="solid"/>
            <a:round/>
            <a:headEnd len="sm" w="sm" type="none"/>
            <a:tailEnd len="sm" w="sm" type="none"/>
          </a:ln>
        </p:spPr>
      </p:cxnSp>
      <p:cxnSp>
        <p:nvCxnSpPr>
          <p:cNvPr id="406" name="Google Shape;406;p19"/>
          <p:cNvCxnSpPr/>
          <p:nvPr/>
        </p:nvCxnSpPr>
        <p:spPr>
          <a:xfrm>
            <a:off x="1051560" y="2788920"/>
            <a:ext cx="0" cy="137160"/>
          </a:xfrm>
          <a:prstGeom prst="straightConnector1">
            <a:avLst/>
          </a:prstGeom>
          <a:noFill/>
          <a:ln cap="flat" cmpd="sng" w="12700">
            <a:solidFill>
              <a:srgbClr val="6E6E73"/>
            </a:solidFill>
            <a:prstDash val="solid"/>
            <a:round/>
            <a:headEnd len="sm" w="sm" type="none"/>
            <a:tailEnd len="med" w="med" type="triangle"/>
          </a:ln>
        </p:spPr>
      </p:cxnSp>
      <p:cxnSp>
        <p:nvCxnSpPr>
          <p:cNvPr id="407" name="Google Shape;407;p19"/>
          <p:cNvCxnSpPr/>
          <p:nvPr/>
        </p:nvCxnSpPr>
        <p:spPr>
          <a:xfrm>
            <a:off x="3063240" y="2788920"/>
            <a:ext cx="0" cy="137160"/>
          </a:xfrm>
          <a:prstGeom prst="straightConnector1">
            <a:avLst/>
          </a:prstGeom>
          <a:noFill/>
          <a:ln cap="flat" cmpd="sng" w="12700">
            <a:solidFill>
              <a:srgbClr val="6E6E73"/>
            </a:solidFill>
            <a:prstDash val="solid"/>
            <a:round/>
            <a:headEnd len="sm" w="sm" type="none"/>
            <a:tailEnd len="med" w="med" type="triangle"/>
          </a:ln>
        </p:spPr>
      </p:cxnSp>
      <p:sp>
        <p:nvSpPr>
          <p:cNvPr id="408" name="Google Shape;408;p19"/>
          <p:cNvSpPr txBox="1"/>
          <p:nvPr/>
        </p:nvSpPr>
        <p:spPr>
          <a:xfrm>
            <a:off x="1124712" y="2807208"/>
            <a:ext cx="5486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50"/>
              <a:buFont typeface="Arial"/>
              <a:buNone/>
            </a:pPr>
            <a:r>
              <a:rPr b="1" i="0" lang="en-US" spc="0" sz="850" u="none" cap="none" strike="noStrike">
                <a:solidFill>
                  <a:srgbClr val="6E6E73"/>
                </a:solidFill>
                <a:latin typeface="Arial"/>
                <a:ea typeface="Arial"/>
                <a:cs typeface="Arial"/>
                <a:sym typeface="Arial"/>
              </a:rPr>
              <a:t>No</a:t>
            </a:r>
            <a:endParaRPr b="0" i="0" spc="0" sz="850" u="none" cap="none" strike="noStrike">
              <a:solidFill>
                <a:schemeClr val="dk1"/>
              </a:solidFill>
              <a:latin typeface="Calibri"/>
              <a:ea typeface="Calibri"/>
              <a:cs typeface="Calibri"/>
              <a:sym typeface="Calibri"/>
            </a:endParaRPr>
          </a:p>
        </p:txBody>
      </p:sp>
      <p:sp>
        <p:nvSpPr>
          <p:cNvPr id="409" name="Google Shape;409;p19"/>
          <p:cNvSpPr txBox="1"/>
          <p:nvPr/>
        </p:nvSpPr>
        <p:spPr>
          <a:xfrm>
            <a:off x="3136392" y="2807208"/>
            <a:ext cx="54864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50"/>
              <a:buFont typeface="Arial"/>
              <a:buNone/>
            </a:pPr>
            <a:r>
              <a:rPr b="1" i="0" lang="en-US" spc="0" sz="850" u="none" cap="none" strike="noStrike">
                <a:solidFill>
                  <a:srgbClr val="6E6E73"/>
                </a:solidFill>
                <a:latin typeface="Arial"/>
                <a:ea typeface="Arial"/>
                <a:cs typeface="Arial"/>
                <a:sym typeface="Arial"/>
              </a:rPr>
              <a:t>Yes</a:t>
            </a:r>
            <a:endParaRPr b="0" i="0" spc="0" sz="850" u="none" cap="none" strike="noStrike">
              <a:solidFill>
                <a:schemeClr val="dk1"/>
              </a:solidFill>
              <a:latin typeface="Calibri"/>
              <a:ea typeface="Calibri"/>
              <a:cs typeface="Calibri"/>
              <a:sym typeface="Calibri"/>
            </a:endParaRPr>
          </a:p>
        </p:txBody>
      </p:sp>
      <p:sp>
        <p:nvSpPr>
          <p:cNvPr id="410" name="Google Shape;410;p19"/>
          <p:cNvSpPr/>
          <p:nvPr/>
        </p:nvSpPr>
        <p:spPr>
          <a:xfrm>
            <a:off x="411480" y="2926080"/>
            <a:ext cx="1280160" cy="402336"/>
          </a:xfrm>
          <a:prstGeom prst="roundRect">
            <a:avLst>
              <a:gd fmla="val 18182" name="adj"/>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1" name="Google Shape;411;p19"/>
          <p:cNvSpPr txBox="1"/>
          <p:nvPr/>
        </p:nvSpPr>
        <p:spPr>
          <a:xfrm>
            <a:off x="411480" y="2926080"/>
            <a:ext cx="1280160"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Play"/>
              <a:buNone/>
            </a:pPr>
            <a:r>
              <a:rPr b="1" i="0" lang="en-US" spc="0" sz="1000" u="none" cap="none" strike="noStrike">
                <a:solidFill>
                  <a:srgbClr val="FFFFFF"/>
                </a:solidFill>
                <a:latin typeface="Play"/>
                <a:ea typeface="Play"/>
                <a:cs typeface="Play"/>
                <a:sym typeface="Play"/>
              </a:rPr>
              <a:t>Retention</a:t>
            </a:r>
            <a:endParaRPr b="0" i="0" spc="0" sz="1000" u="none" cap="none" strike="noStrike">
              <a:solidFill>
                <a:schemeClr val="dk1"/>
              </a:solidFill>
              <a:latin typeface="Calibri"/>
              <a:ea typeface="Calibri"/>
              <a:cs typeface="Calibri"/>
              <a:sym typeface="Calibri"/>
            </a:endParaRPr>
          </a:p>
        </p:txBody>
      </p:sp>
      <p:sp>
        <p:nvSpPr>
          <p:cNvPr id="412" name="Google Shape;412;p19"/>
          <p:cNvSpPr/>
          <p:nvPr/>
        </p:nvSpPr>
        <p:spPr>
          <a:xfrm>
            <a:off x="2423160" y="2926080"/>
            <a:ext cx="1280160" cy="402336"/>
          </a:xfrm>
          <a:prstGeom prst="roundRect">
            <a:avLst>
              <a:gd fmla="val 18182" name="adj"/>
            </a:avLst>
          </a:prstGeom>
          <a:solidFill>
            <a:srgbClr val="1D1D1F"/>
          </a:solidFill>
          <a:ln cap="flat" cmpd="sng" w="12700">
            <a:solidFill>
              <a:srgbClr val="1D1D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3" name="Google Shape;413;p19"/>
          <p:cNvSpPr txBox="1"/>
          <p:nvPr/>
        </p:nvSpPr>
        <p:spPr>
          <a:xfrm>
            <a:off x="2423160" y="2926080"/>
            <a:ext cx="1280160" cy="4023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Play"/>
              <a:buNone/>
            </a:pPr>
            <a:r>
              <a:rPr b="1" i="0" lang="en-US" spc="0" sz="1000" u="none" cap="none" strike="noStrike">
                <a:solidFill>
                  <a:srgbClr val="FFFFFF"/>
                </a:solidFill>
                <a:latin typeface="Play"/>
                <a:ea typeface="Play"/>
                <a:cs typeface="Play"/>
                <a:sym typeface="Play"/>
              </a:rPr>
              <a:t>Exit</a:t>
            </a:r>
            <a:endParaRPr b="0" i="0" spc="0" sz="1000" u="none" cap="none" strike="noStrike">
              <a:solidFill>
                <a:schemeClr val="dk1"/>
              </a:solidFill>
              <a:latin typeface="Calibri"/>
              <a:ea typeface="Calibri"/>
              <a:cs typeface="Calibri"/>
              <a:sym typeface="Calibri"/>
            </a:endParaRPr>
          </a:p>
        </p:txBody>
      </p:sp>
      <p:sp>
        <p:nvSpPr>
          <p:cNvPr id="414" name="Google Shape;414;p19"/>
          <p:cNvSpPr/>
          <p:nvPr/>
        </p:nvSpPr>
        <p:spPr>
          <a:xfrm>
            <a:off x="5120640" y="1325880"/>
            <a:ext cx="3611880" cy="603504"/>
          </a:xfrm>
          <a:prstGeom prst="roundRect">
            <a:avLst>
              <a:gd fmla="val 1212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5" name="Google Shape;415;p19"/>
          <p:cNvSpPr/>
          <p:nvPr/>
        </p:nvSpPr>
        <p:spPr>
          <a:xfrm>
            <a:off x="5230368" y="149047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6" name="Google Shape;416;p19"/>
          <p:cNvSpPr txBox="1"/>
          <p:nvPr/>
        </p:nvSpPr>
        <p:spPr>
          <a:xfrm>
            <a:off x="5230368" y="149047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417" name="Google Shape;417;p19"/>
          <p:cNvSpPr txBox="1"/>
          <p:nvPr/>
        </p:nvSpPr>
        <p:spPr>
          <a:xfrm>
            <a:off x="5596128" y="1325880"/>
            <a:ext cx="306324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US" spc="0" sz="1050" u="none" cap="none" strike="noStrike">
                <a:solidFill>
                  <a:srgbClr val="1D1D1F"/>
                </a:solidFill>
                <a:latin typeface="Play"/>
                <a:ea typeface="Play"/>
                <a:cs typeface="Play"/>
                <a:sym typeface="Play"/>
              </a:rPr>
              <a:t>What problem are they really solving?</a:t>
            </a:r>
            <a:endParaRPr b="0" i="0" spc="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Why they ask, not what they ask for.</a:t>
            </a:r>
            <a:endParaRPr b="0" i="0" spc="0" sz="1050" u="none" cap="none" strike="noStrike">
              <a:solidFill>
                <a:schemeClr val="dk1"/>
              </a:solidFill>
              <a:latin typeface="Calibri"/>
              <a:ea typeface="Calibri"/>
              <a:cs typeface="Calibri"/>
              <a:sym typeface="Calibri"/>
            </a:endParaRPr>
          </a:p>
        </p:txBody>
      </p:sp>
      <p:sp>
        <p:nvSpPr>
          <p:cNvPr id="418" name="Google Shape;418;p19"/>
          <p:cNvSpPr/>
          <p:nvPr/>
        </p:nvSpPr>
        <p:spPr>
          <a:xfrm>
            <a:off x="5120640" y="2011680"/>
            <a:ext cx="3611880" cy="603504"/>
          </a:xfrm>
          <a:prstGeom prst="roundRect">
            <a:avLst>
              <a:gd fmla="val 1212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9" name="Google Shape;419;p19"/>
          <p:cNvSpPr/>
          <p:nvPr/>
        </p:nvSpPr>
        <p:spPr>
          <a:xfrm>
            <a:off x="5230368" y="217627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0" name="Google Shape;420;p19"/>
          <p:cNvSpPr txBox="1"/>
          <p:nvPr/>
        </p:nvSpPr>
        <p:spPr>
          <a:xfrm>
            <a:off x="5230368" y="217627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421" name="Google Shape;421;p19"/>
          <p:cNvSpPr txBox="1"/>
          <p:nvPr/>
        </p:nvSpPr>
        <p:spPr>
          <a:xfrm>
            <a:off x="5596128" y="2011680"/>
            <a:ext cx="306324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US" spc="0" sz="1050" u="none" cap="none" strike="noStrike">
                <a:solidFill>
                  <a:srgbClr val="1D1D1F"/>
                </a:solidFill>
                <a:latin typeface="Play"/>
                <a:ea typeface="Play"/>
                <a:cs typeface="Play"/>
                <a:sym typeface="Play"/>
              </a:rPr>
              <a:t>Does an offer solve it?</a:t>
            </a:r>
            <a:endParaRPr b="0" i="0" spc="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Sometimes they just want an explanation.</a:t>
            </a:r>
            <a:endParaRPr b="0" i="0" spc="0" sz="1050" u="none" cap="none" strike="noStrike">
              <a:solidFill>
                <a:schemeClr val="dk1"/>
              </a:solidFill>
              <a:latin typeface="Calibri"/>
              <a:ea typeface="Calibri"/>
              <a:cs typeface="Calibri"/>
              <a:sym typeface="Calibri"/>
            </a:endParaRPr>
          </a:p>
        </p:txBody>
      </p:sp>
      <p:sp>
        <p:nvSpPr>
          <p:cNvPr id="422" name="Google Shape;422;p19"/>
          <p:cNvSpPr/>
          <p:nvPr/>
        </p:nvSpPr>
        <p:spPr>
          <a:xfrm>
            <a:off x="5120640" y="2697480"/>
            <a:ext cx="3611880" cy="603504"/>
          </a:xfrm>
          <a:prstGeom prst="roundRect">
            <a:avLst>
              <a:gd fmla="val 1212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3" name="Google Shape;423;p19"/>
          <p:cNvSpPr/>
          <p:nvPr/>
        </p:nvSpPr>
        <p:spPr>
          <a:xfrm>
            <a:off x="5230368" y="286207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24" name="Google Shape;424;p19"/>
          <p:cNvSpPr txBox="1"/>
          <p:nvPr/>
        </p:nvSpPr>
        <p:spPr>
          <a:xfrm>
            <a:off x="5230368" y="286207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425" name="Google Shape;425;p19"/>
          <p:cNvSpPr txBox="1"/>
          <p:nvPr/>
        </p:nvSpPr>
        <p:spPr>
          <a:xfrm>
            <a:off x="5596128" y="2697480"/>
            <a:ext cx="306324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US" spc="0" sz="1050" u="none" cap="none" strike="noStrike">
                <a:solidFill>
                  <a:srgbClr val="1D1D1F"/>
                </a:solidFill>
                <a:latin typeface="Play"/>
                <a:ea typeface="Play"/>
                <a:cs typeface="Play"/>
                <a:sym typeface="Play"/>
              </a:rPr>
              <a:t>Already addressed?</a:t>
            </a:r>
            <a:endParaRPr b="0" i="0" spc="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Use the existing offer, or upgrade it when appropriate</a:t>
            </a:r>
            <a:endParaRPr b="0" i="0" spc="0" sz="1050" u="none" cap="none" strike="noStrike">
              <a:solidFill>
                <a:schemeClr val="dk1"/>
              </a:solidFill>
              <a:latin typeface="Calibri"/>
              <a:ea typeface="Calibri"/>
              <a:cs typeface="Calibri"/>
              <a:sym typeface="Calibri"/>
            </a:endParaRPr>
          </a:p>
        </p:txBody>
      </p:sp>
      <p:sp>
        <p:nvSpPr>
          <p:cNvPr id="426" name="Google Shape;426;p19"/>
          <p:cNvSpPr/>
          <p:nvPr/>
        </p:nvSpPr>
        <p:spPr>
          <a:xfrm>
            <a:off x="411480" y="361188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427" name="Google Shape;427;p19"/>
          <p:cNvPicPr preferRelativeResize="0"/>
          <p:nvPr/>
        </p:nvPicPr>
        <p:blipFill rotWithShape="1">
          <a:blip r:embed="rId3">
            <a:alphaModFix/>
          </a:blip>
          <a:srcRect b="0" l="0" r="0" t="0"/>
          <a:stretch/>
        </p:blipFill>
        <p:spPr>
          <a:xfrm>
            <a:off x="566928" y="3721608"/>
            <a:ext cx="164592" cy="164592"/>
          </a:xfrm>
          <a:prstGeom prst="rect">
            <a:avLst/>
          </a:prstGeom>
          <a:noFill/>
          <a:ln>
            <a:noFill/>
          </a:ln>
        </p:spPr>
      </p:pic>
      <p:sp>
        <p:nvSpPr>
          <p:cNvPr id="428" name="Google Shape;428;p19"/>
          <p:cNvSpPr txBox="1"/>
          <p:nvPr/>
        </p:nvSpPr>
        <p:spPr>
          <a:xfrm>
            <a:off x="822960" y="371246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Not the count:  </a:t>
            </a:r>
            <a:r>
              <a:rPr b="0" i="0" lang="en-US" spc="0" sz="1000" u="none" cap="none" strike="noStrike">
                <a:solidFill>
                  <a:srgbClr val="1D1D1F"/>
                </a:solidFill>
                <a:latin typeface="Arial"/>
                <a:ea typeface="Arial"/>
                <a:cs typeface="Arial"/>
                <a:sym typeface="Arial"/>
              </a:rPr>
              <a:t>what matters is whether their current concern is already addressed.</a:t>
            </a:r>
            <a:endParaRPr b="0" i="0" spc="0" sz="1000" u="none" cap="none" strike="noStrike">
              <a:solidFill>
                <a:schemeClr val="dk1"/>
              </a:solidFill>
              <a:latin typeface="Calibri"/>
              <a:ea typeface="Calibri"/>
              <a:cs typeface="Calibri"/>
              <a:sym typeface="Calibri"/>
            </a:endParaRPr>
          </a:p>
        </p:txBody>
      </p:sp>
      <p:sp>
        <p:nvSpPr>
          <p:cNvPr id="429" name="Google Shape;429;p1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2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OFFER LOGIC</a:t>
            </a:r>
            <a:endParaRPr b="0" i="0" spc="0" sz="800" u="none" cap="none" strike="noStrike">
              <a:solidFill>
                <a:schemeClr val="dk1"/>
              </a:solidFill>
              <a:latin typeface="Calibri"/>
              <a:ea typeface="Calibri"/>
              <a:cs typeface="Calibri"/>
              <a:sym typeface="Calibri"/>
            </a:endParaRPr>
          </a:p>
        </p:txBody>
      </p:sp>
      <p:sp>
        <p:nvSpPr>
          <p:cNvPr id="436" name="Google Shape;436;p2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Vouchers &amp; credits</a:t>
            </a:r>
            <a:endParaRPr b="0" i="0" spc="0" sz="2400" u="none" cap="none" strike="noStrike">
              <a:solidFill>
                <a:schemeClr val="dk1"/>
              </a:solidFill>
              <a:latin typeface="Calibri"/>
              <a:ea typeface="Calibri"/>
              <a:cs typeface="Calibri"/>
              <a:sym typeface="Calibri"/>
            </a:endParaRPr>
          </a:p>
        </p:txBody>
      </p:sp>
      <p:sp>
        <p:nvSpPr>
          <p:cNvPr id="437" name="Google Shape;437;p2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When it makes sense to offer.</a:t>
            </a:r>
            <a:endParaRPr b="0" i="0" spc="0" sz="1200" u="none" cap="none" strike="noStrike">
              <a:solidFill>
                <a:schemeClr val="dk1"/>
              </a:solidFill>
              <a:latin typeface="Calibri"/>
              <a:ea typeface="Calibri"/>
              <a:cs typeface="Calibri"/>
              <a:sym typeface="Calibri"/>
            </a:endParaRPr>
          </a:p>
        </p:txBody>
      </p:sp>
      <p:sp>
        <p:nvSpPr>
          <p:cNvPr id="438" name="Google Shape;438;p20"/>
          <p:cNvSpPr/>
          <p:nvPr/>
        </p:nvSpPr>
        <p:spPr>
          <a:xfrm>
            <a:off x="411480" y="1325880"/>
            <a:ext cx="4091940" cy="1280160"/>
          </a:xfrm>
          <a:prstGeom prst="roundRect">
            <a:avLst>
              <a:gd fmla="val 571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39" name="Google Shape;439;p20"/>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440" name="Google Shape;440;p20"/>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441" name="Google Shape;441;p20"/>
          <p:cNvSpPr txBox="1"/>
          <p:nvPr/>
        </p:nvSpPr>
        <p:spPr>
          <a:xfrm>
            <a:off x="576072" y="192938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pc="0" sz="1200" u="none" cap="none" strike="noStrike">
                <a:solidFill>
                  <a:srgbClr val="1D1D1F"/>
                </a:solidFill>
                <a:latin typeface="Play"/>
                <a:ea typeface="Play"/>
                <a:cs typeface="Play"/>
                <a:sym typeface="Play"/>
              </a:rPr>
              <a:t>Gets customer to rebook </a:t>
            </a:r>
            <a:endParaRPr b="0" i="0" spc="0" sz="1200" u="none" cap="none" strike="noStrike">
              <a:solidFill>
                <a:schemeClr val="dk1"/>
              </a:solidFill>
              <a:latin typeface="Calibri"/>
              <a:ea typeface="Calibri"/>
              <a:cs typeface="Calibri"/>
              <a:sym typeface="Calibri"/>
            </a:endParaRPr>
          </a:p>
        </p:txBody>
      </p:sp>
      <p:sp>
        <p:nvSpPr>
          <p:cNvPr id="442" name="Google Shape;442;p20"/>
          <p:cNvSpPr txBox="1"/>
          <p:nvPr/>
        </p:nvSpPr>
        <p:spPr>
          <a:xfrm>
            <a:off x="576072" y="2104767"/>
            <a:ext cx="3762900" cy="292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00" u="none" cap="none" strike="noStrike">
                <a:solidFill>
                  <a:srgbClr val="666666"/>
                </a:solidFill>
                <a:latin typeface="Arial"/>
                <a:ea typeface="Arial"/>
                <a:cs typeface="Arial"/>
                <a:sym typeface="Arial"/>
              </a:rPr>
              <a:t>Encourages customer to book again.</a:t>
            </a:r>
            <a:endParaRPr b="0" i="0" spc="0" sz="900" u="none" cap="none" strike="noStrike">
              <a:solidFill>
                <a:srgbClr val="666666"/>
              </a:solidFill>
              <a:latin typeface="Arial"/>
              <a:ea typeface="Arial"/>
              <a:cs typeface="Arial"/>
              <a:sym typeface="Arial"/>
            </a:endParaRPr>
          </a:p>
          <a:p>
            <a:pPr indent="0" lvl="0" marL="0" marR="0" rtl="0" algn="l">
              <a:lnSpc>
                <a:spcPct val="100000"/>
              </a:lnSpc>
              <a:spcBef>
                <a:spcPts val="0"/>
              </a:spcBef>
              <a:spcAft>
                <a:spcPts val="0"/>
              </a:spcAft>
              <a:buClr>
                <a:srgbClr val="6E6E73"/>
              </a:buClr>
              <a:buSzPts val="950"/>
              <a:buFont typeface="Arial"/>
              <a:buNone/>
            </a:pPr>
            <a:r>
              <a:rPr b="0" i="0" lang="en-US" spc="0" sz="900" u="none" cap="none" strike="noStrike">
                <a:solidFill>
                  <a:srgbClr val="666666"/>
                </a:solidFill>
                <a:latin typeface="Arial"/>
                <a:ea typeface="Arial"/>
                <a:cs typeface="Arial"/>
                <a:sym typeface="Arial"/>
              </a:rPr>
              <a:t>When it doesn’t make sense to offer → if customer is already satisfied with how issue was resolved</a:t>
            </a:r>
            <a:endParaRPr b="0" i="0" spc="0" sz="900" u="none" cap="none" strike="noStrike">
              <a:solidFill>
                <a:srgbClr val="666666"/>
              </a:solidFill>
              <a:latin typeface="Arial"/>
              <a:ea typeface="Arial"/>
              <a:cs typeface="Arial"/>
              <a:sym typeface="Arial"/>
            </a:endParaRPr>
          </a:p>
        </p:txBody>
      </p:sp>
      <p:sp>
        <p:nvSpPr>
          <p:cNvPr id="443" name="Google Shape;443;p20"/>
          <p:cNvSpPr/>
          <p:nvPr/>
        </p:nvSpPr>
        <p:spPr>
          <a:xfrm>
            <a:off x="4640580" y="1325880"/>
            <a:ext cx="4091940" cy="1280160"/>
          </a:xfrm>
          <a:prstGeom prst="roundRect">
            <a:avLst>
              <a:gd fmla="val 571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4" name="Google Shape;444;p20"/>
          <p:cNvSpPr/>
          <p:nvPr/>
        </p:nvSpPr>
        <p:spPr>
          <a:xfrm>
            <a:off x="48051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445" name="Google Shape;445;p20"/>
          <p:cNvPicPr preferRelativeResize="0"/>
          <p:nvPr/>
        </p:nvPicPr>
        <p:blipFill rotWithShape="1">
          <a:blip r:embed="rId4">
            <a:alphaModFix/>
          </a:blip>
          <a:srcRect b="0" l="0" r="0" t="0"/>
          <a:stretch/>
        </p:blipFill>
        <p:spPr>
          <a:xfrm>
            <a:off x="4884176" y="1569476"/>
            <a:ext cx="171176" cy="171176"/>
          </a:xfrm>
          <a:prstGeom prst="rect">
            <a:avLst/>
          </a:prstGeom>
          <a:noFill/>
          <a:ln>
            <a:noFill/>
          </a:ln>
        </p:spPr>
      </p:pic>
      <p:sp>
        <p:nvSpPr>
          <p:cNvPr id="446" name="Google Shape;446;p20"/>
          <p:cNvSpPr txBox="1"/>
          <p:nvPr/>
        </p:nvSpPr>
        <p:spPr>
          <a:xfrm>
            <a:off x="4805172" y="192938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Repairs trust</a:t>
            </a:r>
            <a:endParaRPr b="0" i="0" spc="0" sz="1200" u="none" cap="none" strike="noStrike">
              <a:solidFill>
                <a:schemeClr val="dk1"/>
              </a:solidFill>
              <a:latin typeface="Calibri"/>
              <a:ea typeface="Calibri"/>
              <a:cs typeface="Calibri"/>
              <a:sym typeface="Calibri"/>
            </a:endParaRPr>
          </a:p>
        </p:txBody>
      </p:sp>
      <p:sp>
        <p:nvSpPr>
          <p:cNvPr id="447" name="Google Shape;447;p20"/>
          <p:cNvSpPr txBox="1"/>
          <p:nvPr/>
        </p:nvSpPr>
        <p:spPr>
          <a:xfrm>
            <a:off x="4805175" y="2240275"/>
            <a:ext cx="37626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Make up for an issue still sitting with them. Ready to book ≠ resolved.</a:t>
            </a:r>
            <a:endParaRPr b="0" i="0" spc="0" sz="950" u="none" cap="none" strike="noStrike">
              <a:solidFill>
                <a:schemeClr val="dk1"/>
              </a:solidFill>
              <a:latin typeface="Calibri"/>
              <a:ea typeface="Calibri"/>
              <a:cs typeface="Calibri"/>
              <a:sym typeface="Calibri"/>
            </a:endParaRPr>
          </a:p>
        </p:txBody>
      </p:sp>
      <p:sp>
        <p:nvSpPr>
          <p:cNvPr id="448" name="Google Shape;448;p20"/>
          <p:cNvSpPr txBox="1"/>
          <p:nvPr/>
        </p:nvSpPr>
        <p:spPr>
          <a:xfrm>
            <a:off x="411480" y="2761488"/>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CHECK FOR AN UNUSED ONE FIRST</a:t>
            </a:r>
            <a:endParaRPr b="0" i="0" spc="0" sz="800" u="none" cap="none" strike="noStrike">
              <a:solidFill>
                <a:schemeClr val="dk1"/>
              </a:solidFill>
              <a:latin typeface="Calibri"/>
              <a:ea typeface="Calibri"/>
              <a:cs typeface="Calibri"/>
              <a:sym typeface="Calibri"/>
            </a:endParaRPr>
          </a:p>
        </p:txBody>
      </p:sp>
      <p:sp>
        <p:nvSpPr>
          <p:cNvPr id="449" name="Google Shape;449;p20"/>
          <p:cNvSpPr/>
          <p:nvPr/>
        </p:nvSpPr>
        <p:spPr>
          <a:xfrm>
            <a:off x="411480" y="2990088"/>
            <a:ext cx="2682240" cy="566928"/>
          </a:xfrm>
          <a:prstGeom prst="roundRect">
            <a:avLst>
              <a:gd fmla="val 12903"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0" name="Google Shape;450;p20"/>
          <p:cNvSpPr txBox="1"/>
          <p:nvPr/>
        </p:nvSpPr>
        <p:spPr>
          <a:xfrm>
            <a:off x="548640" y="2990088"/>
            <a:ext cx="24079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Less than appropriate</a:t>
            </a:r>
            <a:endParaRPr b="0" i="0" spc="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B7A6F"/>
              </a:buClr>
              <a:buSzPts val="1100"/>
              <a:buFont typeface="Play"/>
              <a:buNone/>
            </a:pPr>
            <a:r>
              <a:rPr b="1" i="0" lang="en-US" spc="0" sz="1100" u="none" cap="none" strike="noStrike">
                <a:solidFill>
                  <a:srgbClr val="0B7A6F"/>
                </a:solidFill>
                <a:latin typeface="Play"/>
                <a:ea typeface="Play"/>
                <a:cs typeface="Play"/>
                <a:sym typeface="Play"/>
              </a:rPr>
              <a:t>→ Top it up</a:t>
            </a:r>
            <a:endParaRPr b="0" i="0" spc="0" sz="900" u="none" cap="none" strike="noStrike">
              <a:solidFill>
                <a:schemeClr val="dk1"/>
              </a:solidFill>
              <a:latin typeface="Calibri"/>
              <a:ea typeface="Calibri"/>
              <a:cs typeface="Calibri"/>
              <a:sym typeface="Calibri"/>
            </a:endParaRPr>
          </a:p>
        </p:txBody>
      </p:sp>
      <p:sp>
        <p:nvSpPr>
          <p:cNvPr id="451" name="Google Shape;451;p20"/>
          <p:cNvSpPr/>
          <p:nvPr/>
        </p:nvSpPr>
        <p:spPr>
          <a:xfrm>
            <a:off x="3230880" y="2990088"/>
            <a:ext cx="2682240" cy="566928"/>
          </a:xfrm>
          <a:prstGeom prst="roundRect">
            <a:avLst>
              <a:gd fmla="val 12903"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2" name="Google Shape;452;p20"/>
          <p:cNvSpPr txBox="1"/>
          <p:nvPr/>
        </p:nvSpPr>
        <p:spPr>
          <a:xfrm>
            <a:off x="3368040" y="2990088"/>
            <a:ext cx="24079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Meets or exceeds</a:t>
            </a:r>
            <a:endParaRPr b="0" i="0" spc="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B7A6F"/>
              </a:buClr>
              <a:buSzPts val="1100"/>
              <a:buFont typeface="Play"/>
              <a:buNone/>
            </a:pPr>
            <a:r>
              <a:rPr b="1" i="0" lang="en-US" spc="0" sz="1100" u="none" cap="none" strike="noStrike">
                <a:solidFill>
                  <a:srgbClr val="0B7A6F"/>
                </a:solidFill>
                <a:latin typeface="Play"/>
                <a:ea typeface="Play"/>
                <a:cs typeface="Play"/>
                <a:sym typeface="Play"/>
              </a:rPr>
              <a:t>→ Use that one instead of issuing more</a:t>
            </a:r>
            <a:endParaRPr b="0" i="0" spc="0" sz="900" u="none" cap="none" strike="noStrike">
              <a:solidFill>
                <a:schemeClr val="dk1"/>
              </a:solidFill>
              <a:latin typeface="Calibri"/>
              <a:ea typeface="Calibri"/>
              <a:cs typeface="Calibri"/>
              <a:sym typeface="Calibri"/>
            </a:endParaRPr>
          </a:p>
        </p:txBody>
      </p:sp>
      <p:sp>
        <p:nvSpPr>
          <p:cNvPr id="453" name="Google Shape;453;p20"/>
          <p:cNvSpPr/>
          <p:nvPr/>
        </p:nvSpPr>
        <p:spPr>
          <a:xfrm>
            <a:off x="6050280" y="2990088"/>
            <a:ext cx="2682240" cy="566928"/>
          </a:xfrm>
          <a:prstGeom prst="roundRect">
            <a:avLst>
              <a:gd fmla="val 12903"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4" name="Google Shape;454;p20"/>
          <p:cNvSpPr txBox="1"/>
          <p:nvPr/>
        </p:nvSpPr>
        <p:spPr>
          <a:xfrm>
            <a:off x="6187440" y="2990088"/>
            <a:ext cx="24079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Already used</a:t>
            </a:r>
            <a:endParaRPr b="0" i="0" spc="0" sz="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B7A6F"/>
              </a:buClr>
              <a:buSzPts val="1100"/>
              <a:buFont typeface="Play"/>
              <a:buNone/>
            </a:pPr>
            <a:r>
              <a:rPr b="1" i="0" lang="en-US" spc="0" sz="1100" u="none" cap="none" strike="noStrike">
                <a:solidFill>
                  <a:srgbClr val="0B7A6F"/>
                </a:solidFill>
                <a:latin typeface="Play"/>
                <a:ea typeface="Play"/>
                <a:cs typeface="Play"/>
                <a:sym typeface="Play"/>
              </a:rPr>
              <a:t>→ Issue new, if it qualifies</a:t>
            </a:r>
            <a:endParaRPr b="0" i="0" spc="0" sz="900" u="none" cap="none" strike="noStrike">
              <a:solidFill>
                <a:schemeClr val="dk1"/>
              </a:solidFill>
              <a:latin typeface="Calibri"/>
              <a:ea typeface="Calibri"/>
              <a:cs typeface="Calibri"/>
              <a:sym typeface="Calibri"/>
            </a:endParaRPr>
          </a:p>
        </p:txBody>
      </p:sp>
      <p:sp>
        <p:nvSpPr>
          <p:cNvPr id="455" name="Google Shape;455;p20"/>
          <p:cNvSpPr/>
          <p:nvPr/>
        </p:nvSpPr>
        <p:spPr>
          <a:xfrm>
            <a:off x="411480" y="3730752"/>
            <a:ext cx="8321040" cy="384048"/>
          </a:xfrm>
          <a:prstGeom prst="roundRect">
            <a:avLst>
              <a:gd fmla="val 19048"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456" name="Google Shape;456;p20"/>
          <p:cNvPicPr preferRelativeResize="0"/>
          <p:nvPr/>
        </p:nvPicPr>
        <p:blipFill rotWithShape="1">
          <a:blip r:embed="rId5">
            <a:alphaModFix/>
          </a:blip>
          <a:srcRect b="0" l="0" r="0" t="0"/>
          <a:stretch/>
        </p:blipFill>
        <p:spPr>
          <a:xfrm>
            <a:off x="566928" y="3840480"/>
            <a:ext cx="164592" cy="164592"/>
          </a:xfrm>
          <a:prstGeom prst="rect">
            <a:avLst/>
          </a:prstGeom>
          <a:noFill/>
          <a:ln>
            <a:noFill/>
          </a:ln>
        </p:spPr>
      </p:pic>
      <p:sp>
        <p:nvSpPr>
          <p:cNvPr id="457" name="Google Shape;457;p20"/>
          <p:cNvSpPr txBox="1"/>
          <p:nvPr/>
        </p:nvSpPr>
        <p:spPr>
          <a:xfrm>
            <a:off x="822960" y="3730752"/>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3261E"/>
              </a:buClr>
              <a:buSzPts val="1000"/>
              <a:buFont typeface="Arial"/>
              <a:buNone/>
            </a:pPr>
            <a:r>
              <a:rPr b="1" i="0" lang="en-US" spc="0" sz="1000" u="none" cap="none" strike="noStrike">
                <a:solidFill>
                  <a:srgbClr val="B3261E"/>
                </a:solidFill>
                <a:latin typeface="Arial"/>
                <a:ea typeface="Arial"/>
                <a:cs typeface="Arial"/>
                <a:sym typeface="Arial"/>
              </a:rPr>
              <a:t>Possible abuse?  </a:t>
            </a:r>
            <a:r>
              <a:rPr b="0" i="0" lang="en-US" spc="0" sz="1000" u="none" cap="none" strike="noStrike">
                <a:solidFill>
                  <a:srgbClr val="1D1D1F"/>
                </a:solidFill>
                <a:latin typeface="Arial"/>
                <a:ea typeface="Arial"/>
                <a:cs typeface="Arial"/>
                <a:sym typeface="Arial"/>
              </a:rPr>
              <a:t>don't issue another right away. Confirm the current complaint qualifies first.</a:t>
            </a:r>
            <a:endParaRPr b="0" i="0" spc="0" sz="1000" u="none" cap="none" strike="noStrike">
              <a:solidFill>
                <a:schemeClr val="dk1"/>
              </a:solidFill>
              <a:latin typeface="Calibri"/>
              <a:ea typeface="Calibri"/>
              <a:cs typeface="Calibri"/>
              <a:sym typeface="Calibri"/>
            </a:endParaRPr>
          </a:p>
        </p:txBody>
      </p:sp>
      <p:sp>
        <p:nvSpPr>
          <p:cNvPr id="458" name="Google Shape;458;p2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459" name="Google Shape;459;p20"/>
          <p:cNvSpPr/>
          <p:nvPr/>
        </p:nvSpPr>
        <p:spPr>
          <a:xfrm>
            <a:off x="411480" y="4251960"/>
            <a:ext cx="2651760" cy="365760"/>
          </a:xfrm>
          <a:prstGeom prst="roundRect">
            <a:avLst>
              <a:gd fmla="val 20000" name="adj"/>
            </a:avLst>
          </a:prstGeom>
          <a:solidFill>
            <a:srgbClr val="0B7A6F"/>
          </a:solidFill>
          <a:ln cap="flat" cmpd="sng" w="9525">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en-US" spc="0" sz="1050" u="none" cap="none" strike="noStrike">
                <a:solidFill>
                  <a:srgbClr val="FFFFFF"/>
                </a:solidFill>
                <a:latin typeface="Play"/>
                <a:ea typeface="Play"/>
                <a:cs typeface="Play"/>
                <a:sym typeface="Play"/>
              </a:rPr>
              <a:t>▶  Watch: Issuing credits</a:t>
            </a:r>
            <a:endParaRPr b="0" i="0" spc="0" sz="1400" u="none" cap="none" strike="noStrike">
              <a:solidFill>
                <a:srgbClr val="000000"/>
              </a:solidFill>
              <a:latin typeface="Arial"/>
              <a:ea typeface="Arial"/>
              <a:cs typeface="Arial"/>
              <a:sym typeface="Arial"/>
            </a:endParaRPr>
          </a:p>
        </p:txBody>
      </p:sp>
      <p:sp>
        <p:nvSpPr>
          <p:cNvPr id="460" name="Google Shape;460;p20"/>
          <p:cNvSpPr/>
          <p:nvPr/>
        </p:nvSpPr>
        <p:spPr>
          <a:xfrm>
            <a:off x="3200400" y="4251960"/>
            <a:ext cx="2651760" cy="365760"/>
          </a:xfrm>
          <a:prstGeom prst="roundRect">
            <a:avLst>
              <a:gd fmla="val 20000" name="adj"/>
            </a:avLst>
          </a:prstGeom>
          <a:solidFill>
            <a:srgbClr val="0B7A6F"/>
          </a:solidFill>
          <a:ln cap="flat" cmpd="sng" w="9525">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en-US" spc="0" sz="1050" u="none" cap="none" strike="noStrike">
                <a:solidFill>
                  <a:srgbClr val="FFFFFF"/>
                </a:solidFill>
                <a:latin typeface="Play"/>
                <a:ea typeface="Play"/>
                <a:cs typeface="Play"/>
                <a:sym typeface="Play"/>
              </a:rPr>
              <a:t>▶  Watch: Issuing a voucher</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2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OFFER LOGIC</a:t>
            </a:r>
            <a:endParaRPr b="0" i="0" spc="0" sz="800" u="none" cap="none" strike="noStrike">
              <a:solidFill>
                <a:schemeClr val="dk1"/>
              </a:solidFill>
              <a:latin typeface="Calibri"/>
              <a:ea typeface="Calibri"/>
              <a:cs typeface="Calibri"/>
              <a:sym typeface="Calibri"/>
            </a:endParaRPr>
          </a:p>
        </p:txBody>
      </p:sp>
      <p:sp>
        <p:nvSpPr>
          <p:cNvPr id="467" name="Google Shape;467;p2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MF reduction</a:t>
            </a:r>
            <a:endParaRPr b="0" i="0" spc="0" sz="2400" u="none" cap="none" strike="noStrike">
              <a:solidFill>
                <a:schemeClr val="dk1"/>
              </a:solidFill>
              <a:latin typeface="Calibri"/>
              <a:ea typeface="Calibri"/>
              <a:cs typeface="Calibri"/>
              <a:sym typeface="Calibri"/>
            </a:endParaRPr>
          </a:p>
        </p:txBody>
      </p:sp>
      <p:sp>
        <p:nvSpPr>
          <p:cNvPr id="468" name="Google Shape;468;p2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Retention offer for when the membership fee itself feels too costly.</a:t>
            </a:r>
            <a:endParaRPr b="0" i="0" spc="0" sz="1200" u="none" cap="none" strike="noStrike">
              <a:solidFill>
                <a:schemeClr val="dk1"/>
              </a:solidFill>
              <a:latin typeface="Calibri"/>
              <a:ea typeface="Calibri"/>
              <a:cs typeface="Calibri"/>
              <a:sym typeface="Calibri"/>
            </a:endParaRPr>
          </a:p>
        </p:txBody>
      </p:sp>
      <p:sp>
        <p:nvSpPr>
          <p:cNvPr id="469" name="Google Shape;469;p21"/>
          <p:cNvSpPr/>
          <p:nvPr/>
        </p:nvSpPr>
        <p:spPr>
          <a:xfrm>
            <a:off x="411480" y="1325880"/>
            <a:ext cx="4069080" cy="1188720"/>
          </a:xfrm>
          <a:prstGeom prst="roundRect">
            <a:avLst>
              <a:gd fmla="val 6154"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0" name="Google Shape;470;p21"/>
          <p:cNvSpPr/>
          <p:nvPr/>
        </p:nvSpPr>
        <p:spPr>
          <a:xfrm>
            <a:off x="411480" y="1325880"/>
            <a:ext cx="40690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Membership cost</a:t>
            </a:r>
            <a:endParaRPr b="0" i="0" spc="0" sz="1050" u="none" cap="none" strike="noStrike">
              <a:solidFill>
                <a:schemeClr val="dk1"/>
              </a:solidFill>
              <a:latin typeface="Calibri"/>
              <a:ea typeface="Calibri"/>
              <a:cs typeface="Calibri"/>
              <a:sym typeface="Calibri"/>
            </a:endParaRPr>
          </a:p>
        </p:txBody>
      </p:sp>
      <p:sp>
        <p:nvSpPr>
          <p:cNvPr id="471" name="Google Shape;471;p21"/>
          <p:cNvSpPr txBox="1"/>
          <p:nvPr/>
        </p:nvSpPr>
        <p:spPr>
          <a:xfrm>
            <a:off x="576072" y="1764792"/>
            <a:ext cx="3739896" cy="67665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"It isn't worth it" / "I can't afford it"</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1" i="0" lang="en-US" spc="0" sz="950" u="none" cap="none" strike="noStrike">
                <a:solidFill>
                  <a:srgbClr val="1D1D1F"/>
                </a:solidFill>
                <a:latin typeface="Arial"/>
                <a:ea typeface="Arial"/>
                <a:cs typeface="Arial"/>
                <a:sym typeface="Arial"/>
              </a:rPr>
              <a:t>MF reduction is your default </a:t>
            </a:r>
            <a:endParaRPr b="1" i="0" spc="0" sz="950" u="none" cap="none" strike="noStrike">
              <a:solidFill>
                <a:srgbClr val="1D1D1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1" i="0" lang="en-US" spc="0" sz="1050" u="none" cap="none" strike="noStrike">
                <a:solidFill>
                  <a:srgbClr val="FFFFFF"/>
                </a:solidFill>
                <a:latin typeface="Play"/>
                <a:ea typeface="Play"/>
                <a:cs typeface="Play"/>
                <a:sym typeface="Play"/>
              </a:rPr>
              <a:t>`</a:t>
            </a:r>
            <a:r>
              <a:rPr b="1" i="0" lang="en-US" spc="0" sz="1050" u="none" cap="none" strike="noStrike">
                <a:solidFill>
                  <a:schemeClr val="hlink"/>
                </a:solidFill>
                <a:uFill>
                  <a:noFill/>
                </a:uFill>
                <a:latin typeface="Play"/>
                <a:ea typeface="Play"/>
                <a:cs typeface="Play"/>
                <a:sym typeface="Play"/>
                <a:hlinkClick r:id="rId3"/>
              </a:rPr>
              <a:t>▶  Watch: Updating the MF</a:t>
            </a:r>
            <a:endParaRPr b="1" i="0" spc="0" sz="950" u="none" cap="none" strike="noStrike">
              <a:solidFill>
                <a:srgbClr val="0B7A6F"/>
              </a:solidFill>
              <a:latin typeface="Arial"/>
              <a:ea typeface="Arial"/>
              <a:cs typeface="Arial"/>
              <a:sym typeface="Arial"/>
            </a:endParaRPr>
          </a:p>
        </p:txBody>
      </p:sp>
      <p:sp>
        <p:nvSpPr>
          <p:cNvPr id="472" name="Google Shape;472;p21"/>
          <p:cNvSpPr/>
          <p:nvPr/>
        </p:nvSpPr>
        <p:spPr>
          <a:xfrm>
            <a:off x="4663440" y="1325880"/>
            <a:ext cx="4069080" cy="1188720"/>
          </a:xfrm>
          <a:prstGeom prst="roundRect">
            <a:avLst>
              <a:gd fmla="val 6154" name="adj"/>
            </a:avLst>
          </a:prstGeom>
          <a:solidFill>
            <a:srgbClr val="FFFFFF"/>
          </a:solidFill>
          <a:ln cap="flat" cmpd="sng" w="9525">
            <a:solidFill>
              <a:srgbClr val="1D1D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3" name="Google Shape;473;p21"/>
          <p:cNvSpPr/>
          <p:nvPr/>
        </p:nvSpPr>
        <p:spPr>
          <a:xfrm>
            <a:off x="4663440" y="1325880"/>
            <a:ext cx="4069080" cy="329184"/>
          </a:xfrm>
          <a:prstGeom prst="roundRect">
            <a:avLst>
              <a:gd fmla="val 16667" name="adj"/>
            </a:avLst>
          </a:prstGeom>
          <a:solidFill>
            <a:srgbClr val="1D1D1F"/>
          </a:solidFill>
          <a:ln cap="flat" cmpd="sng" w="12700">
            <a:solidFill>
              <a:srgbClr val="1D1D1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Cleaner's rate too high</a:t>
            </a:r>
            <a:endParaRPr b="0" i="0" spc="0" sz="1050" u="none" cap="none" strike="noStrike">
              <a:solidFill>
                <a:schemeClr val="dk1"/>
              </a:solidFill>
              <a:latin typeface="Calibri"/>
              <a:ea typeface="Calibri"/>
              <a:cs typeface="Calibri"/>
              <a:sym typeface="Calibri"/>
            </a:endParaRPr>
          </a:p>
        </p:txBody>
      </p:sp>
      <p:sp>
        <p:nvSpPr>
          <p:cNvPr id="474" name="Google Shape;474;p21"/>
          <p:cNvSpPr txBox="1"/>
          <p:nvPr/>
        </p:nvSpPr>
        <p:spPr>
          <a:xfrm>
            <a:off x="4828032" y="1764792"/>
            <a:ext cx="3739896" cy="67665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A per-cleaning cost problem</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1" i="0" lang="en-US" spc="0" sz="950" u="none" cap="none" strike="noStrike">
                <a:solidFill>
                  <a:srgbClr val="1D1D1F"/>
                </a:solidFill>
                <a:latin typeface="Arial"/>
                <a:ea typeface="Arial"/>
                <a:cs typeface="Arial"/>
                <a:sym typeface="Arial"/>
              </a:rPr>
              <a:t>See Setting Max CP Rate </a:t>
            </a:r>
            <a:r>
              <a:rPr b="1" i="0" lang="en-US" spc="0" sz="950" u="none" cap="none" strike="noStrike">
                <a:solidFill>
                  <a:schemeClr val="hlink"/>
                </a:solidFill>
                <a:uFill>
                  <a:noFill/>
                </a:uFill>
                <a:latin typeface="Arial"/>
                <a:ea typeface="Arial"/>
                <a:cs typeface="Arial"/>
                <a:sym typeface="Arial"/>
                <a:hlinkClick r:id="rId4"/>
              </a:rPr>
              <a:t>▶</a:t>
            </a:r>
            <a:r>
              <a:rPr b="1" i="0" lang="en-US" spc="0" sz="950" u="none" cap="none" strike="noStrike">
                <a:solidFill>
                  <a:srgbClr val="0B7A6F"/>
                </a:solidFill>
                <a:latin typeface="Arial"/>
                <a:ea typeface="Arial"/>
                <a:cs typeface="Arial"/>
                <a:sym typeface="Arial"/>
              </a:rPr>
              <a:t> </a:t>
            </a:r>
            <a:endParaRPr b="0" i="0" spc="0" sz="950" u="none" cap="none" strike="noStrike">
              <a:solidFill>
                <a:srgbClr val="0B7A6F"/>
              </a:solidFill>
              <a:latin typeface="Calibri"/>
              <a:ea typeface="Calibri"/>
              <a:cs typeface="Calibri"/>
              <a:sym typeface="Calibri"/>
            </a:endParaRPr>
          </a:p>
        </p:txBody>
      </p:sp>
      <p:sp>
        <p:nvSpPr>
          <p:cNvPr id="475" name="Google Shape;475;p21"/>
          <p:cNvSpPr/>
          <p:nvPr/>
        </p:nvSpPr>
        <p:spPr>
          <a:xfrm>
            <a:off x="411480" y="2697480"/>
            <a:ext cx="2651760" cy="1188720"/>
          </a:xfrm>
          <a:prstGeom prst="roundRect">
            <a:avLst>
              <a:gd fmla="val 615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6" name="Google Shape;476;p21"/>
          <p:cNvSpPr txBox="1"/>
          <p:nvPr/>
        </p:nvSpPr>
        <p:spPr>
          <a:xfrm>
            <a:off x="411480" y="2862072"/>
            <a:ext cx="265176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3000"/>
              <a:buFont typeface="Play"/>
              <a:buNone/>
            </a:pPr>
            <a:r>
              <a:rPr b="1" i="0" lang="en-US" spc="0" sz="3000" u="none" cap="none" strike="noStrike">
                <a:solidFill>
                  <a:srgbClr val="0B7A6F"/>
                </a:solidFill>
                <a:latin typeface="Play"/>
                <a:ea typeface="Play"/>
                <a:cs typeface="Play"/>
                <a:sym typeface="Play"/>
              </a:rPr>
              <a:t>$10–$15</a:t>
            </a:r>
            <a:endParaRPr b="0" i="0" spc="0" sz="3000" u="none" cap="none" strike="noStrike">
              <a:solidFill>
                <a:schemeClr val="dk1"/>
              </a:solidFill>
              <a:latin typeface="Calibri"/>
              <a:ea typeface="Calibri"/>
              <a:cs typeface="Calibri"/>
              <a:sym typeface="Calibri"/>
            </a:endParaRPr>
          </a:p>
        </p:txBody>
      </p:sp>
      <p:sp>
        <p:nvSpPr>
          <p:cNvPr id="477" name="Google Shape;477;p21"/>
          <p:cNvSpPr txBox="1"/>
          <p:nvPr/>
        </p:nvSpPr>
        <p:spPr>
          <a:xfrm>
            <a:off x="594360" y="3520440"/>
            <a:ext cx="228600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common, 1 to 5 months paid</a:t>
            </a:r>
            <a:endParaRPr b="0" i="0" spc="0" sz="1000" u="none" cap="none" strike="noStrike">
              <a:solidFill>
                <a:schemeClr val="dk1"/>
              </a:solidFill>
              <a:latin typeface="Calibri"/>
              <a:ea typeface="Calibri"/>
              <a:cs typeface="Calibri"/>
              <a:sym typeface="Calibri"/>
            </a:endParaRPr>
          </a:p>
        </p:txBody>
      </p:sp>
      <p:sp>
        <p:nvSpPr>
          <p:cNvPr id="478" name="Google Shape;478;p21"/>
          <p:cNvSpPr/>
          <p:nvPr/>
        </p:nvSpPr>
        <p:spPr>
          <a:xfrm>
            <a:off x="3200400" y="2697480"/>
            <a:ext cx="2651760" cy="1188720"/>
          </a:xfrm>
          <a:prstGeom prst="roundRect">
            <a:avLst>
              <a:gd fmla="val 615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9" name="Google Shape;479;p21"/>
          <p:cNvSpPr txBox="1"/>
          <p:nvPr/>
        </p:nvSpPr>
        <p:spPr>
          <a:xfrm>
            <a:off x="3200400" y="2862072"/>
            <a:ext cx="265176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3000"/>
              <a:buFont typeface="Play"/>
              <a:buNone/>
            </a:pPr>
            <a:r>
              <a:rPr b="1" i="0" lang="en-US" spc="0" sz="3000" u="none" cap="none" strike="noStrike">
                <a:solidFill>
                  <a:srgbClr val="9A6410"/>
                </a:solidFill>
                <a:latin typeface="Play"/>
                <a:ea typeface="Play"/>
                <a:cs typeface="Play"/>
                <a:sym typeface="Play"/>
              </a:rPr>
              <a:t>Up to 50%</a:t>
            </a:r>
            <a:endParaRPr b="0" i="0" spc="0" sz="3000" u="none" cap="none" strike="noStrike">
              <a:solidFill>
                <a:schemeClr val="dk1"/>
              </a:solidFill>
              <a:latin typeface="Calibri"/>
              <a:ea typeface="Calibri"/>
              <a:cs typeface="Calibri"/>
              <a:sym typeface="Calibri"/>
            </a:endParaRPr>
          </a:p>
        </p:txBody>
      </p:sp>
      <p:sp>
        <p:nvSpPr>
          <p:cNvPr id="480" name="Google Shape;480;p21"/>
          <p:cNvSpPr txBox="1"/>
          <p:nvPr/>
        </p:nvSpPr>
        <p:spPr>
          <a:xfrm>
            <a:off x="3383280" y="3520440"/>
            <a:ext cx="228600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rare cases, usually with Support approval</a:t>
            </a:r>
            <a:endParaRPr b="0" i="0" spc="0" sz="1000" u="none" cap="none" strike="noStrike">
              <a:solidFill>
                <a:schemeClr val="dk1"/>
              </a:solidFill>
              <a:latin typeface="Calibri"/>
              <a:ea typeface="Calibri"/>
              <a:cs typeface="Calibri"/>
              <a:sym typeface="Calibri"/>
            </a:endParaRPr>
          </a:p>
        </p:txBody>
      </p:sp>
      <p:sp>
        <p:nvSpPr>
          <p:cNvPr id="481" name="Google Shape;481;p21"/>
          <p:cNvSpPr/>
          <p:nvPr/>
        </p:nvSpPr>
        <p:spPr>
          <a:xfrm>
            <a:off x="5989320" y="2697480"/>
            <a:ext cx="2743200" cy="1188720"/>
          </a:xfrm>
          <a:prstGeom prst="roundRect">
            <a:avLst>
              <a:gd fmla="val 615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82" name="Google Shape;482;p21"/>
          <p:cNvSpPr txBox="1"/>
          <p:nvPr/>
        </p:nvSpPr>
        <p:spPr>
          <a:xfrm>
            <a:off x="6126480" y="2697480"/>
            <a:ext cx="2514600" cy="1188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1200"/>
              <a:buFont typeface="Play"/>
              <a:buNone/>
            </a:pPr>
            <a:r>
              <a:rPr b="1" i="0" lang="en-US" spc="0" sz="1200" u="none" cap="none" strike="noStrike">
                <a:solidFill>
                  <a:srgbClr val="0B7A6F"/>
                </a:solidFill>
                <a:latin typeface="Play"/>
                <a:ea typeface="Play"/>
                <a:cs typeface="Play"/>
                <a:sym typeface="Play"/>
              </a:rPr>
              <a:t>Always from $59</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On $49, now qualifies for $15:</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100"/>
              <a:buFont typeface="Arial"/>
              <a:buNone/>
            </a:pPr>
            <a:r>
              <a:rPr b="1" i="0" lang="en-US" spc="0" sz="1100" u="none" cap="none" strike="noStrike">
                <a:solidFill>
                  <a:srgbClr val="1D1D1F"/>
                </a:solidFill>
                <a:latin typeface="Arial"/>
                <a:ea typeface="Arial"/>
                <a:cs typeface="Arial"/>
                <a:sym typeface="Arial"/>
              </a:rPr>
              <a:t>$59 − $15 = $44</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B3261E"/>
              </a:buClr>
              <a:buSzPts val="900"/>
              <a:buFont typeface="Arial"/>
              <a:buNone/>
            </a:pPr>
            <a:r>
              <a:rPr b="0" i="0" lang="en-US" spc="0" sz="900" u="none" cap="none" strike="noStrike">
                <a:solidFill>
                  <a:srgbClr val="B3261E"/>
                </a:solidFill>
                <a:latin typeface="Arial"/>
                <a:ea typeface="Arial"/>
                <a:cs typeface="Arial"/>
                <a:sym typeface="Arial"/>
              </a:rPr>
              <a:t>not $34</a:t>
            </a:r>
            <a:endParaRPr b="0" i="0" spc="0" sz="1200" u="none" cap="none" strike="noStrike">
              <a:solidFill>
                <a:schemeClr val="dk1"/>
              </a:solidFill>
              <a:latin typeface="Calibri"/>
              <a:ea typeface="Calibri"/>
              <a:cs typeface="Calibri"/>
              <a:sym typeface="Calibri"/>
            </a:endParaRPr>
          </a:p>
        </p:txBody>
      </p:sp>
      <p:sp>
        <p:nvSpPr>
          <p:cNvPr id="483" name="Google Shape;483;p21"/>
          <p:cNvSpPr/>
          <p:nvPr/>
        </p:nvSpPr>
        <p:spPr>
          <a:xfrm>
            <a:off x="411480" y="40233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484" name="Google Shape;484;p21"/>
          <p:cNvPicPr preferRelativeResize="0"/>
          <p:nvPr/>
        </p:nvPicPr>
        <p:blipFill rotWithShape="1">
          <a:blip r:embed="rId5">
            <a:alphaModFix/>
          </a:blip>
          <a:srcRect b="0" l="0" r="0" t="0"/>
          <a:stretch/>
        </p:blipFill>
        <p:spPr>
          <a:xfrm>
            <a:off x="566928" y="4133088"/>
            <a:ext cx="164592" cy="164592"/>
          </a:xfrm>
          <a:prstGeom prst="rect">
            <a:avLst/>
          </a:prstGeom>
          <a:noFill/>
          <a:ln>
            <a:noFill/>
          </a:ln>
        </p:spPr>
      </p:pic>
      <p:sp>
        <p:nvSpPr>
          <p:cNvPr id="485" name="Google Shape;485;p21"/>
          <p:cNvSpPr txBox="1"/>
          <p:nvPr/>
        </p:nvSpPr>
        <p:spPr>
          <a:xfrm>
            <a:off x="822960" y="41239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Don't shorten the cleaning:  </a:t>
            </a:r>
            <a:r>
              <a:rPr b="0" i="0" lang="en-US" spc="0" sz="1000" u="none" cap="none" strike="noStrike">
                <a:solidFill>
                  <a:srgbClr val="1D1D1F"/>
                </a:solidFill>
                <a:latin typeface="Arial"/>
                <a:ea typeface="Arial"/>
                <a:cs typeface="Arial"/>
                <a:sym typeface="Arial"/>
              </a:rPr>
              <a:t>it trades a cost complaint for a quality complaint.</a:t>
            </a:r>
            <a:endParaRPr b="0" i="0" spc="0" sz="1000" u="none" cap="none" strike="noStrike">
              <a:solidFill>
                <a:schemeClr val="dk1"/>
              </a:solidFill>
              <a:latin typeface="Calibri"/>
              <a:ea typeface="Calibri"/>
              <a:cs typeface="Calibri"/>
              <a:sym typeface="Calibri"/>
            </a:endParaRPr>
          </a:p>
        </p:txBody>
      </p:sp>
      <p:sp>
        <p:nvSpPr>
          <p:cNvPr id="486" name="Google Shape;486;p2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2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OFFER LOGIC</a:t>
            </a:r>
            <a:endParaRPr b="0" i="0" spc="0" sz="800" u="none" cap="none" strike="noStrike">
              <a:solidFill>
                <a:schemeClr val="dk1"/>
              </a:solidFill>
              <a:latin typeface="Calibri"/>
              <a:ea typeface="Calibri"/>
              <a:cs typeface="Calibri"/>
              <a:sym typeface="Calibri"/>
            </a:endParaRPr>
          </a:p>
        </p:txBody>
      </p:sp>
      <p:sp>
        <p:nvSpPr>
          <p:cNvPr id="493" name="Google Shape;493;p2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MCT reduction</a:t>
            </a:r>
            <a:endParaRPr b="0" i="0" spc="0" sz="2400" u="none" cap="none" strike="noStrike">
              <a:solidFill>
                <a:schemeClr val="dk1"/>
              </a:solidFill>
              <a:latin typeface="Calibri"/>
              <a:ea typeface="Calibri"/>
              <a:cs typeface="Calibri"/>
              <a:sym typeface="Calibri"/>
            </a:endParaRPr>
          </a:p>
        </p:txBody>
      </p:sp>
      <p:sp>
        <p:nvSpPr>
          <p:cNvPr id="494" name="Google Shape;494;p2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Two jobs. Cap: 2 months off the original 6-month MCT.</a:t>
            </a:r>
            <a:endParaRPr b="0" i="0" spc="0" sz="1200" u="none" cap="none" strike="noStrike">
              <a:solidFill>
                <a:schemeClr val="dk1"/>
              </a:solidFill>
              <a:latin typeface="Calibri"/>
              <a:ea typeface="Calibri"/>
              <a:cs typeface="Calibri"/>
              <a:sym typeface="Calibri"/>
            </a:endParaRPr>
          </a:p>
        </p:txBody>
      </p:sp>
      <p:sp>
        <p:nvSpPr>
          <p:cNvPr id="495" name="Google Shape;495;p22"/>
          <p:cNvSpPr/>
          <p:nvPr/>
        </p:nvSpPr>
        <p:spPr>
          <a:xfrm>
            <a:off x="411480" y="1325880"/>
            <a:ext cx="4069080" cy="1280160"/>
          </a:xfrm>
          <a:prstGeom prst="roundRect">
            <a:avLst>
              <a:gd fmla="val 5714"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6" name="Google Shape;496;p22"/>
          <p:cNvSpPr/>
          <p:nvPr/>
        </p:nvSpPr>
        <p:spPr>
          <a:xfrm>
            <a:off x="411480" y="1325880"/>
            <a:ext cx="40690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Job 1: Retention</a:t>
            </a:r>
            <a:endParaRPr b="0" i="0" spc="0" sz="1050" u="none" cap="none" strike="noStrike">
              <a:solidFill>
                <a:schemeClr val="dk1"/>
              </a:solidFill>
              <a:latin typeface="Calibri"/>
              <a:ea typeface="Calibri"/>
              <a:cs typeface="Calibri"/>
              <a:sym typeface="Calibri"/>
            </a:endParaRPr>
          </a:p>
        </p:txBody>
      </p:sp>
      <p:sp>
        <p:nvSpPr>
          <p:cNvPr id="497" name="Google Shape;497;p22"/>
          <p:cNvSpPr txBox="1"/>
          <p:nvPr/>
        </p:nvSpPr>
        <p:spPr>
          <a:xfrm>
            <a:off x="576072" y="1764792"/>
            <a:ext cx="3739896" cy="76809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"Six months is too long"</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Vague concern: start with 1 month</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Concrete reason: go straight to 2</a:t>
            </a:r>
            <a:endParaRPr b="0" i="0" spc="0" sz="950" u="none" cap="none" strike="noStrike">
              <a:solidFill>
                <a:srgbClr val="1D1D1F"/>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50"/>
              <a:buFont typeface="Arial"/>
              <a:buNone/>
            </a:pPr>
            <a:r>
              <a:rPr b="1" i="0" lang="en-US" spc="0" sz="1050" u="none" cap="none" strike="noStrike">
                <a:solidFill>
                  <a:schemeClr val="lt1"/>
                </a:solidFill>
                <a:latin typeface="Play"/>
                <a:ea typeface="Play"/>
                <a:cs typeface="Play"/>
                <a:sym typeface="Play"/>
              </a:rPr>
              <a:t>`</a:t>
            </a:r>
            <a:r>
              <a:rPr b="1" i="0" lang="en-US" spc="0" sz="1050" u="none" cap="none" strike="noStrike">
                <a:solidFill>
                  <a:srgbClr val="0B7A6F"/>
                </a:solidFill>
                <a:latin typeface="Play"/>
                <a:ea typeface="Play"/>
                <a:cs typeface="Play"/>
                <a:sym typeface="Play"/>
              </a:rPr>
              <a:t>▶  Watch: Updating the MCT</a:t>
            </a:r>
            <a:endParaRPr b="0" i="0" spc="0" sz="950" u="none" cap="none" strike="noStrike">
              <a:solidFill>
                <a:srgbClr val="1D1D1F"/>
              </a:solidFill>
              <a:latin typeface="Arial"/>
              <a:ea typeface="Arial"/>
              <a:cs typeface="Arial"/>
              <a:sym typeface="Arial"/>
            </a:endParaRPr>
          </a:p>
        </p:txBody>
      </p:sp>
      <p:sp>
        <p:nvSpPr>
          <p:cNvPr id="498" name="Google Shape;498;p22"/>
          <p:cNvSpPr/>
          <p:nvPr/>
        </p:nvSpPr>
        <p:spPr>
          <a:xfrm>
            <a:off x="4663440" y="1325880"/>
            <a:ext cx="4069080" cy="1280160"/>
          </a:xfrm>
          <a:prstGeom prst="roundRect">
            <a:avLst>
              <a:gd fmla="val 5714" name="adj"/>
            </a:avLst>
          </a:prstGeom>
          <a:solidFill>
            <a:srgbClr val="FFFFFF"/>
          </a:solidFill>
          <a:ln cap="flat" cmpd="sng" w="9525">
            <a:solidFill>
              <a:srgbClr val="1D1D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9" name="Google Shape;499;p22"/>
          <p:cNvSpPr/>
          <p:nvPr/>
        </p:nvSpPr>
        <p:spPr>
          <a:xfrm>
            <a:off x="4663440" y="1325880"/>
            <a:ext cx="4069080" cy="329184"/>
          </a:xfrm>
          <a:prstGeom prst="roundRect">
            <a:avLst>
              <a:gd fmla="val 16667" name="adj"/>
            </a:avLst>
          </a:prstGeom>
          <a:solidFill>
            <a:srgbClr val="1D1D1F"/>
          </a:solidFill>
          <a:ln cap="flat" cmpd="sng" w="12700">
            <a:solidFill>
              <a:srgbClr val="1D1D1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Job 2: Exit</a:t>
            </a:r>
            <a:endParaRPr b="0" i="0" spc="0" sz="1050" u="none" cap="none" strike="noStrike">
              <a:solidFill>
                <a:schemeClr val="dk1"/>
              </a:solidFill>
              <a:latin typeface="Calibri"/>
              <a:ea typeface="Calibri"/>
              <a:cs typeface="Calibri"/>
              <a:sym typeface="Calibri"/>
            </a:endParaRPr>
          </a:p>
        </p:txBody>
      </p:sp>
      <p:sp>
        <p:nvSpPr>
          <p:cNvPr id="500" name="Google Shape;500;p22"/>
          <p:cNvSpPr txBox="1"/>
          <p:nvPr/>
        </p:nvSpPr>
        <p:spPr>
          <a:xfrm>
            <a:off x="4828032" y="1764792"/>
            <a:ext cx="3739896" cy="76809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Customer isn't retainable</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2 months if incredibly escalated</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Or it's the most amicable close</a:t>
            </a:r>
            <a:endParaRPr b="0" i="0" spc="0" sz="950" u="none" cap="none" strike="noStrike">
              <a:solidFill>
                <a:schemeClr val="dk1"/>
              </a:solidFill>
              <a:latin typeface="Calibri"/>
              <a:ea typeface="Calibri"/>
              <a:cs typeface="Calibri"/>
              <a:sym typeface="Calibri"/>
            </a:endParaRPr>
          </a:p>
        </p:txBody>
      </p:sp>
      <p:graphicFrame>
        <p:nvGraphicFramePr>
          <p:cNvPr id="501" name="Google Shape;501;p22"/>
          <p:cNvGraphicFramePr/>
          <p:nvPr/>
        </p:nvGraphicFramePr>
        <p:xfrm>
          <a:off x="411480" y="2743200"/>
          <a:ext cx="3000000" cy="3000000"/>
        </p:xfrm>
        <a:graphic>
          <a:graphicData uri="http://schemas.openxmlformats.org/drawingml/2006/table">
            <a:tbl>
              <a:tblPr>
                <a:noFill/>
                <a:tableStyleId>{8EFC85C5-4764-4BF5-A5AE-CCAC02DEFFEE}</a:tableStyleId>
              </a:tblPr>
              <a:tblGrid>
                <a:gridCol w="2011675"/>
                <a:gridCol w="6309350"/>
              </a:tblGrid>
              <a:tr h="292600">
                <a:tc>
                  <a:txBody>
                    <a:bodyPr/>
                    <a:lstStyle/>
                    <a:p>
                      <a:pPr indent="0" lvl="0" marL="0" marR="0" rtl="0" algn="l">
                        <a:lnSpc>
                          <a:spcPct val="100000"/>
                        </a:lnSpc>
                        <a:spcBef>
                          <a:spcPts val="0"/>
                        </a:spcBef>
                        <a:spcAft>
                          <a:spcPts val="0"/>
                        </a:spcAft>
                        <a:buClr>
                          <a:srgbClr val="0B7A6F"/>
                        </a:buClr>
                        <a:buSzPts val="1000"/>
                        <a:buFont typeface="Play"/>
                        <a:buNone/>
                      </a:pPr>
                      <a:r>
                        <a:rPr b="1" lang="en-US" spc="0" sz="1000" u="none" cap="none" strike="noStrike">
                          <a:solidFill>
                            <a:srgbClr val="0B7A6F"/>
                          </a:solidFill>
                          <a:latin typeface="Play"/>
                          <a:ea typeface="Play"/>
                          <a:cs typeface="Play"/>
                          <a:sym typeface="Play"/>
                        </a:rPr>
                        <a:t>Months paid</a:t>
                      </a:r>
                      <a:endParaRPr spc="0" sz="10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1000"/>
                        <a:buFont typeface="Play"/>
                        <a:buNone/>
                      </a:pPr>
                      <a:r>
                        <a:rPr b="1" lang="en-US" spc="0" sz="1000" u="none" cap="none" strike="noStrike">
                          <a:solidFill>
                            <a:srgbClr val="0B7A6F"/>
                          </a:solidFill>
                          <a:latin typeface="Play"/>
                          <a:ea typeface="Play"/>
                          <a:cs typeface="Play"/>
                          <a:sym typeface="Play"/>
                        </a:rPr>
                        <a:t>MCT reduction</a:t>
                      </a:r>
                      <a:endParaRPr spc="0" sz="10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29175">
                <a:tc>
                  <a:txBody>
                    <a:bodyPr/>
                    <a:lstStyle/>
                    <a:p>
                      <a:pPr indent="0" lvl="0" marL="0" marR="0" rtl="0" algn="l">
                        <a:lnSpc>
                          <a:spcPct val="100000"/>
                        </a:lnSpc>
                        <a:spcBef>
                          <a:spcPts val="0"/>
                        </a:spcBef>
                        <a:spcAft>
                          <a:spcPts val="0"/>
                        </a:spcAft>
                        <a:buClr>
                          <a:srgbClr val="1D1D1F"/>
                        </a:buClr>
                        <a:buSzPts val="1000"/>
                        <a:buFont typeface="Arial"/>
                        <a:buNone/>
                      </a:pPr>
                      <a:r>
                        <a:rPr b="1" lang="en-US" spc="0" sz="1000" u="none" cap="none" strike="noStrike">
                          <a:solidFill>
                            <a:srgbClr val="1D1D1F"/>
                          </a:solidFill>
                          <a:latin typeface="Arial"/>
                          <a:ea typeface="Arial"/>
                          <a:cs typeface="Arial"/>
                          <a:sym typeface="Arial"/>
                        </a:rPr>
                        <a:t>1–3 months</a:t>
                      </a:r>
                      <a:endParaRPr spc="0"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US" spc="0" sz="1000" u="none" cap="none" strike="noStrike">
                          <a:solidFill>
                            <a:srgbClr val="6E6E73"/>
                          </a:solidFill>
                          <a:latin typeface="Arial"/>
                          <a:ea typeface="Arial"/>
                          <a:cs typeface="Arial"/>
                          <a:sym typeface="Arial"/>
                        </a:rPr>
                        <a:t>1–2 months off the original MCT</a:t>
                      </a:r>
                      <a:endParaRPr spc="0"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1000"/>
                        <a:buFont typeface="Arial"/>
                        <a:buNone/>
                      </a:pPr>
                      <a:r>
                        <a:rPr b="1" lang="en-US" spc="0" sz="1000" u="none" cap="none" strike="noStrike">
                          <a:solidFill>
                            <a:srgbClr val="1D1D1F"/>
                          </a:solidFill>
                          <a:latin typeface="Arial"/>
                          <a:ea typeface="Arial"/>
                          <a:cs typeface="Arial"/>
                          <a:sym typeface="Arial"/>
                        </a:rPr>
                        <a:t>4 months</a:t>
                      </a:r>
                      <a:endParaRPr spc="0"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US" spc="0" sz="1000" u="none" cap="none" strike="noStrike">
                          <a:solidFill>
                            <a:srgbClr val="6E6E73"/>
                          </a:solidFill>
                          <a:latin typeface="Arial"/>
                          <a:ea typeface="Arial"/>
                          <a:cs typeface="Arial"/>
                          <a:sym typeface="Arial"/>
                        </a:rPr>
                        <a:t>1 month off (ETF still applies). 2 only if incredibly escalated</a:t>
                      </a:r>
                      <a:endParaRPr spc="0"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1000"/>
                        <a:buFont typeface="Arial"/>
                        <a:buNone/>
                      </a:pPr>
                      <a:r>
                        <a:rPr b="1" lang="en-US" spc="0" sz="1000" u="none" cap="none" strike="noStrike">
                          <a:solidFill>
                            <a:srgbClr val="1D1D1F"/>
                          </a:solidFill>
                          <a:latin typeface="Arial"/>
                          <a:ea typeface="Arial"/>
                          <a:cs typeface="Arial"/>
                          <a:sym typeface="Arial"/>
                        </a:rPr>
                        <a:t>5 months</a:t>
                      </a:r>
                      <a:endParaRPr spc="0"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US" spc="0" sz="1000" u="none" cap="none" strike="noStrike">
                          <a:solidFill>
                            <a:srgbClr val="6E6E73"/>
                          </a:solidFill>
                          <a:latin typeface="Arial"/>
                          <a:ea typeface="Arial"/>
                          <a:cs typeface="Arial"/>
                          <a:sym typeface="Arial"/>
                        </a:rPr>
                        <a:t>1 month off: effectively waives the ETF</a:t>
                      </a:r>
                      <a:endParaRPr spc="0"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502" name="Google Shape;502;p22"/>
          <p:cNvSpPr/>
          <p:nvPr/>
        </p:nvSpPr>
        <p:spPr>
          <a:xfrm>
            <a:off x="411480" y="416052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503" name="Google Shape;503;p22"/>
          <p:cNvPicPr preferRelativeResize="0"/>
          <p:nvPr/>
        </p:nvPicPr>
        <p:blipFill rotWithShape="1">
          <a:blip r:embed="rId3">
            <a:alphaModFix/>
          </a:blip>
          <a:srcRect b="0" l="0" r="0" t="0"/>
          <a:stretch/>
        </p:blipFill>
        <p:spPr>
          <a:xfrm>
            <a:off x="566928" y="4270248"/>
            <a:ext cx="164592" cy="164592"/>
          </a:xfrm>
          <a:prstGeom prst="rect">
            <a:avLst/>
          </a:prstGeom>
          <a:noFill/>
          <a:ln>
            <a:noFill/>
          </a:ln>
        </p:spPr>
      </p:pic>
      <p:sp>
        <p:nvSpPr>
          <p:cNvPr id="504" name="Google Shape;504;p22"/>
          <p:cNvSpPr txBox="1"/>
          <p:nvPr/>
        </p:nvSpPr>
        <p:spPr>
          <a:xfrm>
            <a:off x="822960" y="426110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Decide upfront:  </a:t>
            </a:r>
            <a:r>
              <a:rPr b="0" i="0" lang="en-US" spc="0" sz="1000" u="none" cap="none" strike="noStrike">
                <a:solidFill>
                  <a:srgbClr val="1D1D1F"/>
                </a:solidFill>
                <a:latin typeface="Arial"/>
                <a:ea typeface="Arial"/>
                <a:cs typeface="Arial"/>
                <a:sym typeface="Arial"/>
              </a:rPr>
              <a:t>don't offer 1 month and upgrade when they push back.</a:t>
            </a:r>
            <a:endParaRPr b="0" i="0" spc="0" sz="1000" u="none" cap="none" strike="noStrike">
              <a:solidFill>
                <a:schemeClr val="dk1"/>
              </a:solidFill>
              <a:latin typeface="Calibri"/>
              <a:ea typeface="Calibri"/>
              <a:cs typeface="Calibri"/>
              <a:sym typeface="Calibri"/>
            </a:endParaRPr>
          </a:p>
        </p:txBody>
      </p:sp>
      <p:sp>
        <p:nvSpPr>
          <p:cNvPr id="505" name="Google Shape;505;p2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2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OFFER LOGIC</a:t>
            </a:r>
            <a:endParaRPr b="0" i="0" spc="0" sz="800" u="none" cap="none" strike="noStrike">
              <a:solidFill>
                <a:schemeClr val="dk1"/>
              </a:solidFill>
              <a:latin typeface="Calibri"/>
              <a:ea typeface="Calibri"/>
              <a:cs typeface="Calibri"/>
              <a:sym typeface="Calibri"/>
            </a:endParaRPr>
          </a:p>
        </p:txBody>
      </p:sp>
      <p:sp>
        <p:nvSpPr>
          <p:cNvPr id="512" name="Google Shape;512;p2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Free months: two jobs</a:t>
            </a:r>
            <a:endParaRPr b="0" i="0" spc="0" sz="2400" u="none" cap="none" strike="noStrike">
              <a:solidFill>
                <a:schemeClr val="dk1"/>
              </a:solidFill>
              <a:latin typeface="Calibri"/>
              <a:ea typeface="Calibri"/>
              <a:cs typeface="Calibri"/>
              <a:sym typeface="Calibri"/>
            </a:endParaRPr>
          </a:p>
        </p:txBody>
      </p:sp>
      <p:sp>
        <p:nvSpPr>
          <p:cNvPr id="513" name="Google Shape;513;p2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Retention offer. Give back paid time, or moves a badly timed charge.</a:t>
            </a:r>
            <a:endParaRPr b="0" i="0" spc="0" sz="1200" u="none" cap="none" strike="noStrike">
              <a:solidFill>
                <a:schemeClr val="dk1"/>
              </a:solidFill>
              <a:latin typeface="Calibri"/>
              <a:ea typeface="Calibri"/>
              <a:cs typeface="Calibri"/>
              <a:sym typeface="Calibri"/>
            </a:endParaRPr>
          </a:p>
        </p:txBody>
      </p:sp>
      <p:sp>
        <p:nvSpPr>
          <p:cNvPr id="514" name="Google Shape;514;p23"/>
          <p:cNvSpPr/>
          <p:nvPr/>
        </p:nvSpPr>
        <p:spPr>
          <a:xfrm>
            <a:off x="411480" y="1325880"/>
            <a:ext cx="3657600" cy="2514600"/>
          </a:xfrm>
          <a:prstGeom prst="roundRect">
            <a:avLst>
              <a:gd fmla="val 2909"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5" name="Google Shape;515;p23"/>
          <p:cNvSpPr/>
          <p:nvPr/>
        </p:nvSpPr>
        <p:spPr>
          <a:xfrm>
            <a:off x="411480" y="1325880"/>
            <a:ext cx="365760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Job 1: Give back paid time</a:t>
            </a:r>
            <a:endParaRPr b="0" i="0" spc="0" sz="1050" u="none" cap="none" strike="noStrike">
              <a:solidFill>
                <a:schemeClr val="dk1"/>
              </a:solidFill>
              <a:latin typeface="Calibri"/>
              <a:ea typeface="Calibri"/>
              <a:cs typeface="Calibri"/>
              <a:sym typeface="Calibri"/>
            </a:endParaRPr>
          </a:p>
        </p:txBody>
      </p:sp>
      <p:sp>
        <p:nvSpPr>
          <p:cNvPr id="516" name="Google Shape;516;p23"/>
          <p:cNvSpPr txBox="1"/>
          <p:nvPr/>
        </p:nvSpPr>
        <p:spPr>
          <a:xfrm>
            <a:off x="576072" y="1764792"/>
            <a:ext cx="3328416" cy="20025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Unused MF within the 120-day window</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Doesn't need to be recent or in a row</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Check by month, not by customer</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1" i="0" lang="en-US" spc="0" sz="950" u="none" cap="none" strike="noStrike">
                <a:solidFill>
                  <a:srgbClr val="1D1D1F"/>
                </a:solidFill>
                <a:latin typeface="Arial"/>
                <a:ea typeface="Arial"/>
                <a:cs typeface="Arial"/>
                <a:sym typeface="Arial"/>
              </a:rPr>
              <a:t>Older than 120 days: </a:t>
            </a:r>
            <a:r>
              <a:rPr b="0" i="0" lang="en-US" spc="0" sz="950" u="none" cap="none" strike="noStrike">
                <a:solidFill>
                  <a:srgbClr val="1D1D1F"/>
                </a:solidFill>
                <a:latin typeface="Arial"/>
                <a:ea typeface="Arial"/>
                <a:cs typeface="Arial"/>
                <a:sym typeface="Arial"/>
              </a:rPr>
              <a:t>Support approves first</a:t>
            </a:r>
            <a:endParaRPr b="0" i="0" spc="0" sz="950" u="none" cap="none" strike="noStrike">
              <a:solidFill>
                <a:srgbClr val="1D1D1F"/>
              </a:solidFill>
              <a:latin typeface="Arial"/>
              <a:ea typeface="Arial"/>
              <a:cs typeface="Arial"/>
              <a:sym typeface="Arial"/>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No lifetime cap (unless you see a pattern of abuse)</a:t>
            </a:r>
            <a:endParaRPr b="0" i="0" spc="0" sz="950" u="none" cap="none" strike="noStrike">
              <a:solidFill>
                <a:srgbClr val="1D1D1F"/>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950"/>
              <a:buFont typeface="Arial"/>
              <a:buNone/>
            </a:pPr>
            <a:r>
              <a:t/>
            </a:r>
            <a:endParaRPr b="0" i="0" spc="0" sz="950" u="none" cap="none" strike="noStrike">
              <a:solidFill>
                <a:srgbClr val="1D1D1F"/>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950"/>
              <a:buFont typeface="Arial"/>
              <a:buNone/>
            </a:pPr>
            <a:r>
              <a:rPr b="0" i="0" lang="en-US" spc="0" sz="950" u="none" cap="none" strike="noStrike">
                <a:solidFill>
                  <a:srgbClr val="1D1D1F"/>
                </a:solidFill>
                <a:latin typeface="Arial"/>
                <a:ea typeface="Arial"/>
                <a:cs typeface="Arial"/>
                <a:sym typeface="Arial"/>
              </a:rPr>
              <a:t>	</a:t>
            </a:r>
            <a:r>
              <a:rPr b="1" i="0" lang="en-US" spc="0" sz="1050" u="none" cap="none" strike="noStrike">
                <a:solidFill>
                  <a:schemeClr val="lt1"/>
                </a:solidFill>
                <a:latin typeface="Play"/>
                <a:ea typeface="Play"/>
                <a:cs typeface="Play"/>
                <a:sym typeface="Play"/>
              </a:rPr>
              <a:t>`</a:t>
            </a:r>
            <a:r>
              <a:rPr b="1" i="0" lang="en-US" spc="0" sz="1050" u="none" cap="none" strike="noStrike">
                <a:solidFill>
                  <a:srgbClr val="0B7A6F"/>
                </a:solidFill>
                <a:latin typeface="Play"/>
                <a:ea typeface="Play"/>
                <a:cs typeface="Play"/>
                <a:sym typeface="Play"/>
              </a:rPr>
              <a:t>▶  Watch: Adding Free Months</a:t>
            </a:r>
            <a:endParaRPr b="0" i="0" spc="0" sz="950" u="none" cap="none" strike="noStrike">
              <a:solidFill>
                <a:srgbClr val="1D1D1F"/>
              </a:solidFill>
              <a:latin typeface="Arial"/>
              <a:ea typeface="Arial"/>
              <a:cs typeface="Arial"/>
              <a:sym typeface="Arial"/>
            </a:endParaRPr>
          </a:p>
        </p:txBody>
      </p:sp>
      <p:graphicFrame>
        <p:nvGraphicFramePr>
          <p:cNvPr id="517" name="Google Shape;517;p23"/>
          <p:cNvGraphicFramePr/>
          <p:nvPr/>
        </p:nvGraphicFramePr>
        <p:xfrm>
          <a:off x="4206240" y="1325880"/>
          <a:ext cx="3000000" cy="3000000"/>
        </p:xfrm>
        <a:graphic>
          <a:graphicData uri="http://schemas.openxmlformats.org/drawingml/2006/table">
            <a:tbl>
              <a:tblPr>
                <a:noFill/>
                <a:tableStyleId>{8EFC85C5-4764-4BF5-A5AE-CCAC02DEFFEE}</a:tableStyleId>
              </a:tblPr>
              <a:tblGrid>
                <a:gridCol w="3246125"/>
                <a:gridCol w="1280150"/>
              </a:tblGrid>
              <a:tr h="310900">
                <a:tc>
                  <a:txBody>
                    <a:bodyPr/>
                    <a:lstStyle/>
                    <a:p>
                      <a:pPr indent="0" lvl="0" marL="0" marR="0" rtl="0" algn="l">
                        <a:lnSpc>
                          <a:spcPct val="100000"/>
                        </a:lnSpc>
                        <a:spcBef>
                          <a:spcPts val="0"/>
                        </a:spcBef>
                        <a:spcAft>
                          <a:spcPts val="0"/>
                        </a:spcAft>
                        <a:buClr>
                          <a:srgbClr val="0B7A6F"/>
                        </a:buClr>
                        <a:buSzPts val="850"/>
                        <a:buFont typeface="Play"/>
                        <a:buNone/>
                      </a:pPr>
                      <a:r>
                        <a:rPr b="1" lang="en-US" spc="0" sz="850" u="none" cap="none" strike="noStrike">
                          <a:solidFill>
                            <a:srgbClr val="0B7A6F"/>
                          </a:solidFill>
                          <a:latin typeface="Play"/>
                          <a:ea typeface="Play"/>
                          <a:cs typeface="Play"/>
                          <a:sym typeface="Play"/>
                        </a:rPr>
                        <a:t>Job 2: moves charge coming at a bad time</a:t>
                      </a:r>
                      <a:endParaRPr spc="0" sz="8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850"/>
                        <a:buFont typeface="Play"/>
                        <a:buNone/>
                      </a:pPr>
                      <a:r>
                        <a:rPr b="1" lang="en-US" spc="0" sz="850" u="none" cap="none" strike="noStrike">
                          <a:solidFill>
                            <a:srgbClr val="0B7A6F"/>
                          </a:solidFill>
                          <a:latin typeface="Play"/>
                          <a:ea typeface="Play"/>
                          <a:cs typeface="Play"/>
                          <a:sym typeface="Play"/>
                        </a:rPr>
                        <a:t>Give</a:t>
                      </a:r>
                      <a:endParaRPr spc="0" sz="8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438900">
                <a:tc>
                  <a:txBody>
                    <a:bodyPr/>
                    <a:lstStyle/>
                    <a:p>
                      <a:pPr indent="0" lvl="0" marL="0" marR="0" rtl="0" algn="l">
                        <a:lnSpc>
                          <a:spcPct val="100000"/>
                        </a:lnSpc>
                        <a:spcBef>
                          <a:spcPts val="0"/>
                        </a:spcBef>
                        <a:spcAft>
                          <a:spcPts val="0"/>
                        </a:spcAft>
                        <a:buClr>
                          <a:srgbClr val="1D1D1F"/>
                        </a:buClr>
                        <a:buSzPts val="850"/>
                        <a:buFont typeface="Arial"/>
                        <a:buNone/>
                      </a:pPr>
                      <a:r>
                        <a:rPr lang="en-US" spc="0" sz="850" u="none" cap="none" strike="noStrike">
                          <a:solidFill>
                            <a:srgbClr val="1D1D1F"/>
                          </a:solidFill>
                          <a:latin typeface="Arial"/>
                          <a:ea typeface="Arial"/>
                          <a:cs typeface="Arial"/>
                          <a:sym typeface="Arial"/>
                        </a:rPr>
                        <a:t>Legacy DHJ: cancelling, ≤3 weeks into the MF cycle</a:t>
                      </a:r>
                      <a:endParaRPr spc="0"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B7A6F"/>
                        </a:buClr>
                        <a:buSzPts val="850"/>
                        <a:buFont typeface="Arial"/>
                        <a:buNone/>
                      </a:pPr>
                      <a:r>
                        <a:rPr b="1" lang="en-US" spc="0" sz="850" u="none" cap="none" strike="noStrike">
                          <a:solidFill>
                            <a:srgbClr val="0B7A6F"/>
                          </a:solidFill>
                          <a:latin typeface="Arial"/>
                          <a:ea typeface="Arial"/>
                          <a:cs typeface="Arial"/>
                          <a:sym typeface="Arial"/>
                        </a:rPr>
                        <a:t>Free month</a:t>
                      </a:r>
                      <a:endParaRPr spc="0"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38900">
                <a:tc>
                  <a:txBody>
                    <a:bodyPr/>
                    <a:lstStyle/>
                    <a:p>
                      <a:pPr indent="0" lvl="0" marL="0" marR="0" rtl="0" algn="l">
                        <a:lnSpc>
                          <a:spcPct val="100000"/>
                        </a:lnSpc>
                        <a:spcBef>
                          <a:spcPts val="0"/>
                        </a:spcBef>
                        <a:spcAft>
                          <a:spcPts val="0"/>
                        </a:spcAft>
                        <a:buClr>
                          <a:srgbClr val="1D1D1F"/>
                        </a:buClr>
                        <a:buSzPts val="850"/>
                        <a:buFont typeface="Arial"/>
                        <a:buNone/>
                      </a:pPr>
                      <a:r>
                        <a:rPr lang="en-US" spc="0" sz="850" u="none" cap="none" strike="noStrike">
                          <a:solidFill>
                            <a:srgbClr val="1D1D1F"/>
                          </a:solidFill>
                          <a:latin typeface="Arial"/>
                          <a:ea typeface="Arial"/>
                          <a:cs typeface="Arial"/>
                          <a:sym typeface="Arial"/>
                        </a:rPr>
                        <a:t>FCF: cancelling over a service issue AND MF due within 2 weeks</a:t>
                      </a:r>
                      <a:endParaRPr spc="0"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B7A6F"/>
                        </a:buClr>
                        <a:buSzPts val="850"/>
                        <a:buFont typeface="Arial"/>
                        <a:buNone/>
                      </a:pPr>
                      <a:r>
                        <a:rPr b="1" lang="en-US" spc="0" sz="850" u="none" cap="none" strike="noStrike">
                          <a:solidFill>
                            <a:srgbClr val="0B7A6F"/>
                          </a:solidFill>
                          <a:latin typeface="Arial"/>
                          <a:ea typeface="Arial"/>
                          <a:cs typeface="Arial"/>
                          <a:sym typeface="Arial"/>
                        </a:rPr>
                        <a:t>Free month</a:t>
                      </a:r>
                      <a:endParaRPr spc="0"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84050">
                <a:tc>
                  <a:txBody>
                    <a:bodyPr/>
                    <a:lstStyle/>
                    <a:p>
                      <a:pPr indent="0" lvl="0" marL="0" marR="0" rtl="0" algn="l">
                        <a:lnSpc>
                          <a:spcPct val="100000"/>
                        </a:lnSpc>
                        <a:spcBef>
                          <a:spcPts val="0"/>
                        </a:spcBef>
                        <a:spcAft>
                          <a:spcPts val="0"/>
                        </a:spcAft>
                        <a:buClr>
                          <a:srgbClr val="1D1D1F"/>
                        </a:buClr>
                        <a:buSzPts val="850"/>
                        <a:buFont typeface="Arial"/>
                        <a:buNone/>
                      </a:pPr>
                      <a:r>
                        <a:rPr lang="en-US" spc="0" sz="850" u="none" cap="none" strike="noStrike">
                          <a:solidFill>
                            <a:srgbClr val="1D1D1F"/>
                          </a:solidFill>
                          <a:latin typeface="Arial"/>
                          <a:ea typeface="Arial"/>
                          <a:cs typeface="Arial"/>
                          <a:sym typeface="Arial"/>
                        </a:rPr>
                        <a:t>Cancelling, next MF within in </a:t>
                      </a:r>
                      <a:r>
                        <a:rPr lang="en-US" spc="0" sz="850" u="none" cap="none" strike="noStrike">
                          <a:solidFill>
                            <a:srgbClr val="1D1D1F"/>
                          </a:solidFill>
                        </a:rPr>
                        <a:t>7</a:t>
                      </a:r>
                      <a:r>
                        <a:rPr lang="en-US" spc="0" sz="850" u="none" cap="none" strike="noStrike">
                          <a:solidFill>
                            <a:srgbClr val="1D1D1F"/>
                          </a:solidFill>
                          <a:latin typeface="Arial"/>
                          <a:ea typeface="Arial"/>
                          <a:cs typeface="Arial"/>
                          <a:sym typeface="Arial"/>
                        </a:rPr>
                        <a:t> days</a:t>
                      </a:r>
                      <a:endParaRPr spc="0"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B7A6F"/>
                        </a:buClr>
                        <a:buSzPts val="850"/>
                        <a:buFont typeface="Arial"/>
                        <a:buNone/>
                      </a:pPr>
                      <a:r>
                        <a:rPr b="1" lang="en-US" spc="0" sz="850" u="none" cap="none" strike="noStrike">
                          <a:solidFill>
                            <a:srgbClr val="0B7A6F"/>
                          </a:solidFill>
                          <a:latin typeface="Arial"/>
                          <a:ea typeface="Arial"/>
                          <a:cs typeface="Arial"/>
                          <a:sym typeface="Arial"/>
                        </a:rPr>
                        <a:t>Free time now</a:t>
                      </a:r>
                      <a:endParaRPr spc="0"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84050">
                <a:tc>
                  <a:txBody>
                    <a:bodyPr/>
                    <a:lstStyle/>
                    <a:p>
                      <a:pPr indent="0" lvl="0" marL="0" marR="0" rtl="0" algn="l">
                        <a:lnSpc>
                          <a:spcPct val="100000"/>
                        </a:lnSpc>
                        <a:spcBef>
                          <a:spcPts val="0"/>
                        </a:spcBef>
                        <a:spcAft>
                          <a:spcPts val="0"/>
                        </a:spcAft>
                        <a:buClr>
                          <a:srgbClr val="1D1D1F"/>
                        </a:buClr>
                        <a:buSzPts val="850"/>
                        <a:buFont typeface="Arial"/>
                        <a:buNone/>
                      </a:pPr>
                      <a:r>
                        <a:rPr lang="en-US" spc="0" sz="850" u="none" cap="none" strike="noStrike">
                          <a:solidFill>
                            <a:srgbClr val="1D1D1F"/>
                          </a:solidFill>
                          <a:latin typeface="Arial"/>
                          <a:ea typeface="Arial"/>
                          <a:cs typeface="Arial"/>
                          <a:sym typeface="Arial"/>
                        </a:rPr>
                        <a:t>Cancelling, MF already overdue</a:t>
                      </a:r>
                      <a:endParaRPr spc="0"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B7A6F"/>
                        </a:buClr>
                        <a:buSzPts val="850"/>
                        <a:buFont typeface="Arial"/>
                        <a:buNone/>
                      </a:pPr>
                      <a:r>
                        <a:rPr b="1" lang="en-US" spc="0" sz="850" u="none" cap="none" strike="noStrike">
                          <a:solidFill>
                            <a:srgbClr val="0B7A6F"/>
                          </a:solidFill>
                          <a:latin typeface="Arial"/>
                          <a:ea typeface="Arial"/>
                          <a:cs typeface="Arial"/>
                          <a:sym typeface="Arial"/>
                        </a:rPr>
                        <a:t>Bring MF current</a:t>
                      </a:r>
                      <a:endParaRPr spc="0"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38900">
                <a:tc>
                  <a:txBody>
                    <a:bodyPr/>
                    <a:lstStyle/>
                    <a:p>
                      <a:pPr indent="0" lvl="0" marL="0" marR="0" rtl="0" algn="l">
                        <a:lnSpc>
                          <a:spcPct val="100000"/>
                        </a:lnSpc>
                        <a:spcBef>
                          <a:spcPts val="0"/>
                        </a:spcBef>
                        <a:spcAft>
                          <a:spcPts val="0"/>
                        </a:spcAft>
                        <a:buClr>
                          <a:srgbClr val="1D1D1F"/>
                        </a:buClr>
                        <a:buSzPts val="850"/>
                        <a:buFont typeface="Arial"/>
                        <a:buNone/>
                      </a:pPr>
                      <a:r>
                        <a:rPr lang="en-US" spc="0" sz="850" u="none" cap="none" strike="noStrike">
                          <a:solidFill>
                            <a:srgbClr val="1D1D1F"/>
                          </a:solidFill>
                          <a:latin typeface="Arial"/>
                          <a:ea typeface="Arial"/>
                          <a:cs typeface="Arial"/>
                          <a:sym typeface="Arial"/>
                        </a:rPr>
                        <a:t>Not cancelling, 2+ overdue MFs (or within 7 days)</a:t>
                      </a:r>
                      <a:endParaRPr spc="0"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B7A6F"/>
                        </a:buClr>
                        <a:buSzPts val="850"/>
                        <a:buFont typeface="Arial"/>
                        <a:buNone/>
                      </a:pPr>
                      <a:r>
                        <a:rPr b="1" lang="en-US" spc="0" sz="850" u="none" cap="none" strike="noStrike">
                          <a:solidFill>
                            <a:srgbClr val="0B7A6F"/>
                          </a:solidFill>
                          <a:latin typeface="Arial"/>
                          <a:ea typeface="Arial"/>
                          <a:cs typeface="Arial"/>
                          <a:sym typeface="Arial"/>
                        </a:rPr>
                        <a:t>Bring MF current</a:t>
                      </a:r>
                      <a:endParaRPr spc="0"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518" name="Google Shape;518;p23"/>
          <p:cNvSpPr/>
          <p:nvPr/>
        </p:nvSpPr>
        <p:spPr>
          <a:xfrm>
            <a:off x="411480" y="39776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519" name="Google Shape;519;p23"/>
          <p:cNvPicPr preferRelativeResize="0"/>
          <p:nvPr/>
        </p:nvPicPr>
        <p:blipFill rotWithShape="1">
          <a:blip r:embed="rId3">
            <a:alphaModFix/>
          </a:blip>
          <a:srcRect b="0" l="0" r="0" t="0"/>
          <a:stretch/>
        </p:blipFill>
        <p:spPr>
          <a:xfrm>
            <a:off x="566928" y="4087368"/>
            <a:ext cx="164592" cy="164592"/>
          </a:xfrm>
          <a:prstGeom prst="rect">
            <a:avLst/>
          </a:prstGeom>
          <a:noFill/>
          <a:ln>
            <a:noFill/>
          </a:ln>
        </p:spPr>
      </p:pic>
      <p:sp>
        <p:nvSpPr>
          <p:cNvPr id="520" name="Google Shape;520;p23"/>
          <p:cNvSpPr txBox="1"/>
          <p:nvPr/>
        </p:nvSpPr>
        <p:spPr>
          <a:xfrm>
            <a:off x="822960" y="40782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Job 2:  </a:t>
            </a:r>
            <a:r>
              <a:rPr b="0" i="0" lang="en-US" spc="0" sz="1000" u="none" cap="none" strike="noStrike">
                <a:solidFill>
                  <a:srgbClr val="1D1D1F"/>
                </a:solidFill>
                <a:latin typeface="Arial"/>
                <a:ea typeface="Arial"/>
                <a:cs typeface="Arial"/>
                <a:sym typeface="Arial"/>
              </a:rPr>
              <a:t>give it now. Don't offer and wait, or they may be charged before they reply.</a:t>
            </a:r>
            <a:endParaRPr b="0" i="0" spc="0" sz="1000" u="none" cap="none" strike="noStrike">
              <a:solidFill>
                <a:schemeClr val="dk1"/>
              </a:solidFill>
              <a:latin typeface="Calibri"/>
              <a:ea typeface="Calibri"/>
              <a:cs typeface="Calibri"/>
              <a:sym typeface="Calibri"/>
            </a:endParaRPr>
          </a:p>
        </p:txBody>
      </p:sp>
      <p:sp>
        <p:nvSpPr>
          <p:cNvPr id="521" name="Google Shape;521;p2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2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OFFER LOGIC</a:t>
            </a:r>
            <a:endParaRPr b="0" i="0" spc="0" sz="800" u="none" cap="none" strike="noStrike">
              <a:solidFill>
                <a:schemeClr val="dk1"/>
              </a:solidFill>
              <a:latin typeface="Calibri"/>
              <a:ea typeface="Calibri"/>
              <a:cs typeface="Calibri"/>
              <a:sym typeface="Calibri"/>
            </a:endParaRPr>
          </a:p>
        </p:txBody>
      </p:sp>
      <p:sp>
        <p:nvSpPr>
          <p:cNvPr id="528" name="Google Shape;528;p2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Free month caps &amp; repeat pauses</a:t>
            </a:r>
            <a:endParaRPr b="0" i="0" spc="0" sz="2400" u="none" cap="none" strike="noStrike">
              <a:solidFill>
                <a:schemeClr val="dk1"/>
              </a:solidFill>
              <a:latin typeface="Calibri"/>
              <a:ea typeface="Calibri"/>
              <a:cs typeface="Calibri"/>
              <a:sym typeface="Calibri"/>
            </a:endParaRPr>
          </a:p>
        </p:txBody>
      </p:sp>
      <p:sp>
        <p:nvSpPr>
          <p:cNvPr id="529" name="Google Shape;529;p2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Free months only work while FC is active.</a:t>
            </a:r>
            <a:endParaRPr b="0" i="0" spc="0" sz="1200" u="none" cap="none" strike="noStrike">
              <a:solidFill>
                <a:schemeClr val="dk1"/>
              </a:solidFill>
              <a:latin typeface="Calibri"/>
              <a:ea typeface="Calibri"/>
              <a:cs typeface="Calibri"/>
              <a:sym typeface="Calibri"/>
            </a:endParaRPr>
          </a:p>
        </p:txBody>
      </p:sp>
      <p:sp>
        <p:nvSpPr>
          <p:cNvPr id="530" name="Google Shape;530;p24"/>
          <p:cNvSpPr/>
          <p:nvPr/>
        </p:nvSpPr>
        <p:spPr>
          <a:xfrm>
            <a:off x="411480" y="1325880"/>
            <a:ext cx="2682240" cy="1143000"/>
          </a:xfrm>
          <a:prstGeom prst="roundRect">
            <a:avLst>
              <a:gd fmla="val 64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1" name="Google Shape;531;p24"/>
          <p:cNvSpPr txBox="1"/>
          <p:nvPr/>
        </p:nvSpPr>
        <p:spPr>
          <a:xfrm>
            <a:off x="411480" y="1490472"/>
            <a:ext cx="268224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3000"/>
              <a:buFont typeface="Play"/>
              <a:buNone/>
            </a:pPr>
            <a:r>
              <a:rPr b="1" i="0" lang="en-US" spc="0" sz="3000" u="none" cap="none" strike="noStrike">
                <a:solidFill>
                  <a:srgbClr val="0B7A6F"/>
                </a:solidFill>
                <a:latin typeface="Play"/>
                <a:ea typeface="Play"/>
                <a:cs typeface="Play"/>
                <a:sym typeface="Play"/>
              </a:rPr>
              <a:t>3 months</a:t>
            </a:r>
            <a:endParaRPr b="0" i="0" spc="0" sz="3000" u="none" cap="none" strike="noStrike">
              <a:solidFill>
                <a:schemeClr val="dk1"/>
              </a:solidFill>
              <a:latin typeface="Calibri"/>
              <a:ea typeface="Calibri"/>
              <a:cs typeface="Calibri"/>
              <a:sym typeface="Calibri"/>
            </a:endParaRPr>
          </a:p>
        </p:txBody>
      </p:sp>
      <p:sp>
        <p:nvSpPr>
          <p:cNvPr id="532" name="Google Shape;532;p24"/>
          <p:cNvSpPr txBox="1"/>
          <p:nvPr/>
        </p:nvSpPr>
        <p:spPr>
          <a:xfrm>
            <a:off x="594360" y="2148840"/>
            <a:ext cx="2316480" cy="228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Standard cap</a:t>
            </a:r>
            <a:endParaRPr b="0" i="0" spc="0" sz="1000" u="none" cap="none" strike="noStrike">
              <a:solidFill>
                <a:schemeClr val="dk1"/>
              </a:solidFill>
              <a:latin typeface="Calibri"/>
              <a:ea typeface="Calibri"/>
              <a:cs typeface="Calibri"/>
              <a:sym typeface="Calibri"/>
            </a:endParaRPr>
          </a:p>
        </p:txBody>
      </p:sp>
      <p:sp>
        <p:nvSpPr>
          <p:cNvPr id="533" name="Google Shape;533;p24"/>
          <p:cNvSpPr/>
          <p:nvPr/>
        </p:nvSpPr>
        <p:spPr>
          <a:xfrm>
            <a:off x="3230880" y="1325880"/>
            <a:ext cx="2682240" cy="1143000"/>
          </a:xfrm>
          <a:prstGeom prst="roundRect">
            <a:avLst>
              <a:gd fmla="val 64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4" name="Google Shape;534;p24"/>
          <p:cNvSpPr txBox="1"/>
          <p:nvPr/>
        </p:nvSpPr>
        <p:spPr>
          <a:xfrm>
            <a:off x="3230880" y="1490472"/>
            <a:ext cx="268224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3000"/>
              <a:buFont typeface="Play"/>
              <a:buNone/>
            </a:pPr>
            <a:r>
              <a:rPr b="1" i="0" lang="en-US" spc="0" sz="3000" u="none" cap="none" strike="noStrike">
                <a:solidFill>
                  <a:srgbClr val="9A6410"/>
                </a:solidFill>
                <a:latin typeface="Play"/>
                <a:ea typeface="Play"/>
                <a:cs typeface="Play"/>
                <a:sym typeface="Play"/>
              </a:rPr>
              <a:t>6 months</a:t>
            </a:r>
            <a:endParaRPr b="0" i="0" spc="0" sz="3000" u="none" cap="none" strike="noStrike">
              <a:solidFill>
                <a:schemeClr val="dk1"/>
              </a:solidFill>
              <a:latin typeface="Calibri"/>
              <a:ea typeface="Calibri"/>
              <a:cs typeface="Calibri"/>
              <a:sym typeface="Calibri"/>
            </a:endParaRPr>
          </a:p>
        </p:txBody>
      </p:sp>
      <p:sp>
        <p:nvSpPr>
          <p:cNvPr id="535" name="Google Shape;535;p24"/>
          <p:cNvSpPr txBox="1"/>
          <p:nvPr/>
        </p:nvSpPr>
        <p:spPr>
          <a:xfrm>
            <a:off x="3413760" y="2148840"/>
            <a:ext cx="2316480" cy="228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Pausing. More needs Support</a:t>
            </a:r>
            <a:endParaRPr b="0" i="0" spc="0" sz="1000" u="none" cap="none" strike="noStrike">
              <a:solidFill>
                <a:schemeClr val="dk1"/>
              </a:solidFill>
              <a:latin typeface="Calibri"/>
              <a:ea typeface="Calibri"/>
              <a:cs typeface="Calibri"/>
              <a:sym typeface="Calibri"/>
            </a:endParaRPr>
          </a:p>
        </p:txBody>
      </p:sp>
      <p:sp>
        <p:nvSpPr>
          <p:cNvPr id="536" name="Google Shape;536;p24"/>
          <p:cNvSpPr/>
          <p:nvPr/>
        </p:nvSpPr>
        <p:spPr>
          <a:xfrm>
            <a:off x="6050280" y="1325880"/>
            <a:ext cx="2682240" cy="1143000"/>
          </a:xfrm>
          <a:prstGeom prst="roundRect">
            <a:avLst>
              <a:gd fmla="val 64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7" name="Google Shape;537;p24"/>
          <p:cNvSpPr txBox="1"/>
          <p:nvPr/>
        </p:nvSpPr>
        <p:spPr>
          <a:xfrm>
            <a:off x="6050280" y="1490472"/>
            <a:ext cx="268224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3000"/>
              <a:buFont typeface="Play"/>
              <a:buNone/>
            </a:pPr>
            <a:r>
              <a:rPr b="1" i="0" lang="en-US" spc="0" sz="3000" u="none" cap="none" strike="noStrike">
                <a:solidFill>
                  <a:srgbClr val="0B7A6F"/>
                </a:solidFill>
                <a:latin typeface="Play"/>
                <a:ea typeface="Play"/>
                <a:cs typeface="Play"/>
                <a:sym typeface="Play"/>
              </a:rPr>
              <a:t>As needed</a:t>
            </a:r>
            <a:endParaRPr b="0" i="0" spc="0" sz="3000" u="none" cap="none" strike="noStrike">
              <a:solidFill>
                <a:schemeClr val="dk1"/>
              </a:solidFill>
              <a:latin typeface="Calibri"/>
              <a:ea typeface="Calibri"/>
              <a:cs typeface="Calibri"/>
              <a:sym typeface="Calibri"/>
            </a:endParaRPr>
          </a:p>
        </p:txBody>
      </p:sp>
      <p:sp>
        <p:nvSpPr>
          <p:cNvPr id="538" name="Google Shape;538;p24"/>
          <p:cNvSpPr txBox="1"/>
          <p:nvPr/>
        </p:nvSpPr>
        <p:spPr>
          <a:xfrm>
            <a:off x="6233160" y="2148840"/>
            <a:ext cx="2316480" cy="228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Bulk overdue charges</a:t>
            </a:r>
            <a:endParaRPr b="0" i="0" spc="0" sz="1000" u="none" cap="none" strike="noStrike">
              <a:solidFill>
                <a:schemeClr val="dk1"/>
              </a:solidFill>
              <a:latin typeface="Calibri"/>
              <a:ea typeface="Calibri"/>
              <a:cs typeface="Calibri"/>
              <a:sym typeface="Calibri"/>
            </a:endParaRPr>
          </a:p>
        </p:txBody>
      </p:sp>
      <p:sp>
        <p:nvSpPr>
          <p:cNvPr id="539" name="Google Shape;539;p24"/>
          <p:cNvSpPr txBox="1"/>
          <p:nvPr/>
        </p:nvSpPr>
        <p:spPr>
          <a:xfrm>
            <a:off x="411480" y="2633472"/>
            <a:ext cx="6400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ASKS TO PAUSE AGAIN? ALL THREE MUST BE TRUE</a:t>
            </a:r>
            <a:endParaRPr b="0" i="0" spc="0" sz="800" u="none" cap="none" strike="noStrike">
              <a:solidFill>
                <a:schemeClr val="dk1"/>
              </a:solidFill>
              <a:latin typeface="Calibri"/>
              <a:ea typeface="Calibri"/>
              <a:cs typeface="Calibri"/>
              <a:sym typeface="Calibri"/>
            </a:endParaRPr>
          </a:p>
        </p:txBody>
      </p:sp>
      <p:sp>
        <p:nvSpPr>
          <p:cNvPr id="540" name="Google Shape;540;p24"/>
          <p:cNvSpPr/>
          <p:nvPr/>
        </p:nvSpPr>
        <p:spPr>
          <a:xfrm>
            <a:off x="411480" y="2852928"/>
            <a:ext cx="2682240" cy="658368"/>
          </a:xfrm>
          <a:prstGeom prst="roundRect">
            <a:avLst>
              <a:gd fmla="val 1111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1" name="Google Shape;541;p24"/>
          <p:cNvSpPr/>
          <p:nvPr/>
        </p:nvSpPr>
        <p:spPr>
          <a:xfrm>
            <a:off x="539496" y="3017520"/>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542" name="Google Shape;542;p24"/>
          <p:cNvPicPr preferRelativeResize="0"/>
          <p:nvPr/>
        </p:nvPicPr>
        <p:blipFill rotWithShape="1">
          <a:blip r:embed="rId3">
            <a:alphaModFix/>
          </a:blip>
          <a:srcRect b="0" l="0" r="0" t="0"/>
          <a:stretch/>
        </p:blipFill>
        <p:spPr>
          <a:xfrm>
            <a:off x="618500" y="3096524"/>
            <a:ext cx="171176" cy="171176"/>
          </a:xfrm>
          <a:prstGeom prst="rect">
            <a:avLst/>
          </a:prstGeom>
          <a:noFill/>
          <a:ln>
            <a:noFill/>
          </a:ln>
        </p:spPr>
      </p:pic>
      <p:sp>
        <p:nvSpPr>
          <p:cNvPr id="543" name="Google Shape;543;p24"/>
          <p:cNvSpPr txBox="1"/>
          <p:nvPr/>
        </p:nvSpPr>
        <p:spPr>
          <a:xfrm>
            <a:off x="960120" y="2852928"/>
            <a:ext cx="204216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2+ MFs charged and paid</a:t>
            </a:r>
            <a:endParaRPr b="0" i="0" spc="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0" lang="en-US" spc="0" sz="850" u="none" cap="none" strike="noStrike">
                <a:solidFill>
                  <a:srgbClr val="6E6E73"/>
                </a:solidFill>
                <a:latin typeface="Arial"/>
                <a:ea typeface="Arial"/>
                <a:cs typeface="Arial"/>
                <a:sym typeface="Arial"/>
              </a:rPr>
              <a:t>since the last pause ended</a:t>
            </a:r>
            <a:endParaRPr b="0" i="0" spc="0" sz="1000" u="none" cap="none" strike="noStrike">
              <a:solidFill>
                <a:schemeClr val="dk1"/>
              </a:solidFill>
              <a:latin typeface="Calibri"/>
              <a:ea typeface="Calibri"/>
              <a:cs typeface="Calibri"/>
              <a:sym typeface="Calibri"/>
            </a:endParaRPr>
          </a:p>
        </p:txBody>
      </p:sp>
      <p:sp>
        <p:nvSpPr>
          <p:cNvPr id="544" name="Google Shape;544;p24"/>
          <p:cNvSpPr/>
          <p:nvPr/>
        </p:nvSpPr>
        <p:spPr>
          <a:xfrm>
            <a:off x="3230880" y="2852928"/>
            <a:ext cx="2682240" cy="658368"/>
          </a:xfrm>
          <a:prstGeom prst="roundRect">
            <a:avLst>
              <a:gd fmla="val 1111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5" name="Google Shape;545;p24"/>
          <p:cNvSpPr/>
          <p:nvPr/>
        </p:nvSpPr>
        <p:spPr>
          <a:xfrm>
            <a:off x="3358896" y="3017520"/>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546" name="Google Shape;546;p24"/>
          <p:cNvPicPr preferRelativeResize="0"/>
          <p:nvPr/>
        </p:nvPicPr>
        <p:blipFill rotWithShape="1">
          <a:blip r:embed="rId4">
            <a:alphaModFix/>
          </a:blip>
          <a:srcRect b="0" l="0" r="0" t="0"/>
          <a:stretch/>
        </p:blipFill>
        <p:spPr>
          <a:xfrm>
            <a:off x="3437900" y="3096524"/>
            <a:ext cx="171176" cy="171176"/>
          </a:xfrm>
          <a:prstGeom prst="rect">
            <a:avLst/>
          </a:prstGeom>
          <a:noFill/>
          <a:ln>
            <a:noFill/>
          </a:ln>
        </p:spPr>
      </p:pic>
      <p:sp>
        <p:nvSpPr>
          <p:cNvPr id="547" name="Google Shape;547;p24"/>
          <p:cNvSpPr txBox="1"/>
          <p:nvPr/>
        </p:nvSpPr>
        <p:spPr>
          <a:xfrm>
            <a:off x="3779520" y="2852928"/>
            <a:ext cx="204216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Actually using the service</a:t>
            </a:r>
            <a:endParaRPr b="0" i="0" spc="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0" lang="en-US" spc="0" sz="850" u="none" cap="none" strike="noStrike">
                <a:solidFill>
                  <a:srgbClr val="6E6E73"/>
                </a:solidFill>
                <a:latin typeface="Arial"/>
                <a:ea typeface="Arial"/>
                <a:cs typeface="Arial"/>
                <a:sym typeface="Arial"/>
              </a:rPr>
              <a:t>booked or completed cleanings</a:t>
            </a:r>
            <a:endParaRPr b="0" i="0" spc="0" sz="1000" u="none" cap="none" strike="noStrike">
              <a:solidFill>
                <a:schemeClr val="dk1"/>
              </a:solidFill>
              <a:latin typeface="Calibri"/>
              <a:ea typeface="Calibri"/>
              <a:cs typeface="Calibri"/>
              <a:sym typeface="Calibri"/>
            </a:endParaRPr>
          </a:p>
        </p:txBody>
      </p:sp>
      <p:sp>
        <p:nvSpPr>
          <p:cNvPr id="548" name="Google Shape;548;p24"/>
          <p:cNvSpPr/>
          <p:nvPr/>
        </p:nvSpPr>
        <p:spPr>
          <a:xfrm>
            <a:off x="6050280" y="2852928"/>
            <a:ext cx="2682240" cy="658368"/>
          </a:xfrm>
          <a:prstGeom prst="roundRect">
            <a:avLst>
              <a:gd fmla="val 1111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49" name="Google Shape;549;p24"/>
          <p:cNvSpPr/>
          <p:nvPr/>
        </p:nvSpPr>
        <p:spPr>
          <a:xfrm>
            <a:off x="6178296" y="3017520"/>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550" name="Google Shape;550;p24"/>
          <p:cNvPicPr preferRelativeResize="0"/>
          <p:nvPr/>
        </p:nvPicPr>
        <p:blipFill rotWithShape="1">
          <a:blip r:embed="rId5">
            <a:alphaModFix/>
          </a:blip>
          <a:srcRect b="0" l="0" r="0" t="0"/>
          <a:stretch/>
        </p:blipFill>
        <p:spPr>
          <a:xfrm>
            <a:off x="6257300" y="3096524"/>
            <a:ext cx="171176" cy="171176"/>
          </a:xfrm>
          <a:prstGeom prst="rect">
            <a:avLst/>
          </a:prstGeom>
          <a:noFill/>
          <a:ln>
            <a:noFill/>
          </a:ln>
        </p:spPr>
      </p:pic>
      <p:sp>
        <p:nvSpPr>
          <p:cNvPr id="551" name="Google Shape;551;p24"/>
          <p:cNvSpPr txBox="1"/>
          <p:nvPr/>
        </p:nvSpPr>
        <p:spPr>
          <a:xfrm>
            <a:off x="6598920" y="2852928"/>
            <a:ext cx="204216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Not asking for a refund</a:t>
            </a:r>
            <a:endParaRPr b="0" i="0" spc="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0" lang="en-US" spc="0" sz="850" u="none" cap="none" strike="noStrike">
                <a:solidFill>
                  <a:srgbClr val="6E6E73"/>
                </a:solidFill>
                <a:latin typeface="Arial"/>
                <a:ea typeface="Arial"/>
                <a:cs typeface="Arial"/>
                <a:sym typeface="Arial"/>
              </a:rPr>
              <a:t>at the same time</a:t>
            </a:r>
            <a:endParaRPr b="0" i="0" spc="0" sz="1000" u="none" cap="none" strike="noStrike">
              <a:solidFill>
                <a:schemeClr val="dk1"/>
              </a:solidFill>
              <a:latin typeface="Calibri"/>
              <a:ea typeface="Calibri"/>
              <a:cs typeface="Calibri"/>
              <a:sym typeface="Calibri"/>
            </a:endParaRPr>
          </a:p>
        </p:txBody>
      </p:sp>
      <p:sp>
        <p:nvSpPr>
          <p:cNvPr id="552" name="Google Shape;552;p24"/>
          <p:cNvSpPr/>
          <p:nvPr/>
        </p:nvSpPr>
        <p:spPr>
          <a:xfrm>
            <a:off x="411480" y="3657600"/>
            <a:ext cx="8321040" cy="384048"/>
          </a:xfrm>
          <a:prstGeom prst="roundRect">
            <a:avLst>
              <a:gd fmla="val 19048"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553" name="Google Shape;553;p24"/>
          <p:cNvPicPr preferRelativeResize="0"/>
          <p:nvPr/>
        </p:nvPicPr>
        <p:blipFill rotWithShape="1">
          <a:blip r:embed="rId6">
            <a:alphaModFix/>
          </a:blip>
          <a:srcRect b="0" l="0" r="0" t="0"/>
          <a:stretch/>
        </p:blipFill>
        <p:spPr>
          <a:xfrm>
            <a:off x="566928" y="3767328"/>
            <a:ext cx="164592" cy="164592"/>
          </a:xfrm>
          <a:prstGeom prst="rect">
            <a:avLst/>
          </a:prstGeom>
          <a:noFill/>
          <a:ln>
            <a:noFill/>
          </a:ln>
        </p:spPr>
      </p:pic>
      <p:sp>
        <p:nvSpPr>
          <p:cNvPr id="554" name="Google Shape;554;p24"/>
          <p:cNvSpPr txBox="1"/>
          <p:nvPr/>
        </p:nvSpPr>
        <p:spPr>
          <a:xfrm>
            <a:off x="822960" y="365760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3261E"/>
              </a:buClr>
              <a:buSzPts val="1000"/>
              <a:buFont typeface="Arial"/>
              <a:buNone/>
            </a:pPr>
            <a:r>
              <a:rPr b="1" i="0" lang="en-US" spc="0" sz="1000" u="none" cap="none" strike="noStrike">
                <a:solidFill>
                  <a:srgbClr val="B3261E"/>
                </a:solidFill>
                <a:latin typeface="Arial"/>
                <a:ea typeface="Arial"/>
                <a:cs typeface="Arial"/>
                <a:sym typeface="Arial"/>
              </a:rPr>
              <a:t>Important!   </a:t>
            </a:r>
            <a:r>
              <a:rPr b="0" i="0" lang="en-US" spc="0" sz="1000" u="none" cap="none" strike="noStrike">
                <a:solidFill>
                  <a:srgbClr val="1D1D1F"/>
                </a:solidFill>
                <a:latin typeface="Arial"/>
                <a:ea typeface="Arial"/>
                <a:cs typeface="Arial"/>
                <a:sym typeface="Arial"/>
              </a:rPr>
              <a:t>Free months only work while FC is active. You can’t add free months to a cancelled FC.</a:t>
            </a:r>
            <a:endParaRPr b="0" i="0" spc="0" sz="1000" u="none" cap="none" strike="noStrike">
              <a:solidFill>
                <a:schemeClr val="dk1"/>
              </a:solidFill>
              <a:latin typeface="Calibri"/>
              <a:ea typeface="Calibri"/>
              <a:cs typeface="Calibri"/>
              <a:sym typeface="Calibri"/>
            </a:endParaRPr>
          </a:p>
        </p:txBody>
      </p:sp>
      <p:sp>
        <p:nvSpPr>
          <p:cNvPr id="555" name="Google Shape;555;p2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2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OFFER LOGIC</a:t>
            </a:r>
            <a:endParaRPr b="0" i="0" spc="0" sz="800" u="none" cap="none" strike="noStrike">
              <a:solidFill>
                <a:schemeClr val="dk1"/>
              </a:solidFill>
              <a:latin typeface="Calibri"/>
              <a:ea typeface="Calibri"/>
              <a:cs typeface="Calibri"/>
              <a:sym typeface="Calibri"/>
            </a:endParaRPr>
          </a:p>
        </p:txBody>
      </p:sp>
      <p:sp>
        <p:nvSpPr>
          <p:cNvPr id="562" name="Google Shape;562;p2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Guardrail: asked to pause again</a:t>
            </a:r>
            <a:endParaRPr b="0" i="0" spc="0" sz="2400" u="none" cap="none" strike="noStrike">
              <a:solidFill>
                <a:schemeClr val="dk1"/>
              </a:solidFill>
              <a:latin typeface="Calibri"/>
              <a:ea typeface="Calibri"/>
              <a:cs typeface="Calibri"/>
              <a:sym typeface="Calibri"/>
            </a:endParaRPr>
          </a:p>
        </p:txBody>
      </p:sp>
      <p:sp>
        <p:nvSpPr>
          <p:cNvPr id="563" name="Google Shape;563;p2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When a customer asks for a new pause right after a previous one.</a:t>
            </a:r>
            <a:endParaRPr b="0" i="0" spc="0" sz="1200" u="none" cap="none" strike="noStrike">
              <a:solidFill>
                <a:schemeClr val="dk1"/>
              </a:solidFill>
              <a:latin typeface="Calibri"/>
              <a:ea typeface="Calibri"/>
              <a:cs typeface="Calibri"/>
              <a:sym typeface="Calibri"/>
            </a:endParaRPr>
          </a:p>
        </p:txBody>
      </p:sp>
      <p:sp>
        <p:nvSpPr>
          <p:cNvPr id="564" name="Google Shape;564;p2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565" name="Google Shape;565;p25"/>
          <p:cNvSpPr txBox="1"/>
          <p:nvPr/>
        </p:nvSpPr>
        <p:spPr>
          <a:xfrm>
            <a:off x="411480" y="1298448"/>
            <a:ext cx="4754880" cy="18288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800" u="none" cap="none" strike="noStrike">
                <a:solidFill>
                  <a:srgbClr val="6E6E73"/>
                </a:solidFill>
                <a:latin typeface="Play"/>
                <a:ea typeface="Play"/>
                <a:cs typeface="Play"/>
                <a:sym typeface="Play"/>
              </a:rPr>
              <a:t>SITUATION</a:t>
            </a:r>
            <a:endParaRPr/>
          </a:p>
        </p:txBody>
      </p:sp>
      <p:sp>
        <p:nvSpPr>
          <p:cNvPr id="566" name="Google Shape;566;p25"/>
          <p:cNvSpPr txBox="1"/>
          <p:nvPr/>
        </p:nvSpPr>
        <p:spPr>
          <a:xfrm>
            <a:off x="5303520" y="1298448"/>
            <a:ext cx="3429000" cy="18288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800" u="none" cap="none" strike="noStrike">
                <a:solidFill>
                  <a:srgbClr val="6E6E73"/>
                </a:solidFill>
                <a:latin typeface="Play"/>
                <a:ea typeface="Play"/>
                <a:cs typeface="Play"/>
                <a:sym typeface="Play"/>
              </a:rPr>
              <a:t>WHAT TO DO</a:t>
            </a:r>
            <a:endParaRPr/>
          </a:p>
        </p:txBody>
      </p:sp>
      <p:sp>
        <p:nvSpPr>
          <p:cNvPr id="567" name="Google Shape;567;p25"/>
          <p:cNvSpPr/>
          <p:nvPr/>
        </p:nvSpPr>
        <p:spPr>
          <a:xfrm>
            <a:off x="411480" y="1517904"/>
            <a:ext cx="4754880" cy="566928"/>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568" name="Google Shape;568;p25"/>
          <p:cNvSpPr/>
          <p:nvPr/>
        </p:nvSpPr>
        <p:spPr>
          <a:xfrm>
            <a:off x="411480" y="1591056"/>
            <a:ext cx="45720" cy="420623"/>
          </a:xfrm>
          <a:prstGeom prst="rect">
            <a:avLst/>
          </a:prstGeom>
          <a:solidFill>
            <a:srgbClr val="B3261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569" name="Google Shape;569;p25"/>
          <p:cNvSpPr txBox="1"/>
          <p:nvPr/>
        </p:nvSpPr>
        <p:spPr>
          <a:xfrm>
            <a:off x="594360" y="1517904"/>
            <a:ext cx="448056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pc="0" sz="1050" u="none" cap="none" strike="noStrike">
                <a:solidFill>
                  <a:srgbClr val="1D1D1F"/>
                </a:solidFill>
                <a:latin typeface="Arial"/>
                <a:ea typeface="Arial"/>
                <a:cs typeface="Arial"/>
                <a:sym typeface="Arial"/>
              </a:rPr>
              <a:t>Fewer than </a:t>
            </a:r>
            <a:r>
              <a:rPr b="1" i="0" lang="en-US" spc="0" sz="1050" u="none" cap="none" strike="noStrike">
                <a:solidFill>
                  <a:srgbClr val="1D1D1F"/>
                </a:solidFill>
                <a:latin typeface="Play"/>
                <a:ea typeface="Play"/>
                <a:cs typeface="Play"/>
                <a:sym typeface="Play"/>
              </a:rPr>
              <a:t>2 MFs</a:t>
            </a:r>
            <a:r>
              <a:rPr b="0" i="0" lang="en-US" spc="0" sz="1050" u="none" cap="none" strike="noStrike">
                <a:solidFill>
                  <a:srgbClr val="1D1D1F"/>
                </a:solidFill>
                <a:latin typeface="Arial"/>
                <a:ea typeface="Arial"/>
                <a:cs typeface="Arial"/>
                <a:sym typeface="Arial"/>
              </a:rPr>
              <a:t> charged and paid since the last pause ended</a:t>
            </a:r>
            <a:endParaRPr/>
          </a:p>
        </p:txBody>
      </p:sp>
      <p:sp>
        <p:nvSpPr>
          <p:cNvPr id="570" name="Google Shape;570;p25"/>
          <p:cNvSpPr/>
          <p:nvPr/>
        </p:nvSpPr>
        <p:spPr>
          <a:xfrm>
            <a:off x="5303520" y="1517904"/>
            <a:ext cx="3429000" cy="566928"/>
          </a:xfrm>
          <a:prstGeom prst="roundRect">
            <a:avLst>
              <a:gd fmla="val 8000" name="adj"/>
            </a:avLst>
          </a:prstGeom>
          <a:solidFill>
            <a:srgbClr val="FCEBEA"/>
          </a:solidFill>
          <a:ln cap="flat" cmpd="sng" w="9525">
            <a:solidFill>
              <a:srgbClr val="B3261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571" name="Google Shape;571;p25"/>
          <p:cNvSpPr txBox="1"/>
          <p:nvPr/>
        </p:nvSpPr>
        <p:spPr>
          <a:xfrm>
            <a:off x="5468112" y="1517904"/>
            <a:ext cx="315468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1050" u="none" cap="none" strike="noStrike">
                <a:solidFill>
                  <a:srgbClr val="B3261E"/>
                </a:solidFill>
                <a:latin typeface="Play"/>
                <a:ea typeface="Play"/>
                <a:cs typeface="Play"/>
                <a:sym typeface="Play"/>
              </a:rPr>
              <a:t>🚩  Support approval first</a:t>
            </a:r>
            <a:endParaRPr/>
          </a:p>
          <a:p>
            <a:pPr indent="0" lvl="0" marL="0" marR="0" rtl="0" algn="l">
              <a:lnSpc>
                <a:spcPct val="100000"/>
              </a:lnSpc>
              <a:spcBef>
                <a:spcPts val="200"/>
              </a:spcBef>
              <a:spcAft>
                <a:spcPts val="0"/>
              </a:spcAft>
              <a:buNone/>
            </a:pPr>
            <a:r>
              <a:rPr b="0" i="0" lang="en-US" spc="0" sz="900" u="none" cap="none" strike="noStrike">
                <a:solidFill>
                  <a:srgbClr val="1D1D1F"/>
                </a:solidFill>
                <a:latin typeface="Arial"/>
                <a:ea typeface="Arial"/>
                <a:cs typeface="Arial"/>
                <a:sym typeface="Arial"/>
              </a:rPr>
              <a:t>No matter how long they’re asking for</a:t>
            </a:r>
            <a:endParaRPr/>
          </a:p>
        </p:txBody>
      </p:sp>
      <p:sp>
        <p:nvSpPr>
          <p:cNvPr id="572" name="Google Shape;572;p25"/>
          <p:cNvSpPr/>
          <p:nvPr/>
        </p:nvSpPr>
        <p:spPr>
          <a:xfrm>
            <a:off x="411480" y="2176272"/>
            <a:ext cx="4754880" cy="91440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573" name="Google Shape;573;p25"/>
          <p:cNvSpPr/>
          <p:nvPr/>
        </p:nvSpPr>
        <p:spPr>
          <a:xfrm>
            <a:off x="411480" y="2249424"/>
            <a:ext cx="45720" cy="768096"/>
          </a:xfrm>
          <a:prstGeom prst="rect">
            <a:avLst/>
          </a:prstGeom>
          <a:solidFill>
            <a:srgbClr val="0B7A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574" name="Google Shape;574;p25"/>
          <p:cNvSpPr txBox="1"/>
          <p:nvPr/>
        </p:nvSpPr>
        <p:spPr>
          <a:xfrm>
            <a:off x="594360" y="2176272"/>
            <a:ext cx="4480560" cy="914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1050" u="none" cap="none" strike="noStrike">
                <a:solidFill>
                  <a:srgbClr val="1D1D1F"/>
                </a:solidFill>
                <a:latin typeface="Play"/>
                <a:ea typeface="Play"/>
                <a:cs typeface="Play"/>
                <a:sym typeface="Play"/>
              </a:rPr>
              <a:t>All three</a:t>
            </a:r>
            <a:r>
              <a:rPr b="0" i="0" lang="en-US" spc="0" sz="1050" u="none" cap="none" strike="noStrike">
                <a:solidFill>
                  <a:srgbClr val="1D1D1F"/>
                </a:solidFill>
                <a:latin typeface="Arial"/>
                <a:ea typeface="Arial"/>
                <a:cs typeface="Arial"/>
                <a:sym typeface="Arial"/>
              </a:rPr>
              <a:t> are true:</a:t>
            </a:r>
            <a:endParaRPr/>
          </a:p>
          <a:p>
            <a:pPr indent="0" lvl="0" marL="0" marR="0" rtl="0" algn="l">
              <a:lnSpc>
                <a:spcPct val="100000"/>
              </a:lnSpc>
              <a:spcBef>
                <a:spcPts val="200"/>
              </a:spcBef>
              <a:spcAft>
                <a:spcPts val="0"/>
              </a:spcAft>
              <a:buNone/>
            </a:pPr>
            <a:r>
              <a:rPr b="0" i="0" lang="en-US" spc="0" sz="950" u="none" cap="none" strike="noStrike">
                <a:solidFill>
                  <a:srgbClr val="1D1D1F"/>
                </a:solidFill>
                <a:latin typeface="Arial"/>
                <a:ea typeface="Arial"/>
                <a:cs typeface="Arial"/>
                <a:sym typeface="Arial"/>
              </a:rPr>
              <a:t>•  At least 2 MFs charged and paid since the last pause ended</a:t>
            </a:r>
            <a:endParaRPr/>
          </a:p>
          <a:p>
            <a:pPr indent="0" lvl="0" marL="0" marR="0" rtl="0" algn="l">
              <a:lnSpc>
                <a:spcPct val="100000"/>
              </a:lnSpc>
              <a:spcBef>
                <a:spcPts val="200"/>
              </a:spcBef>
              <a:spcAft>
                <a:spcPts val="0"/>
              </a:spcAft>
              <a:buNone/>
            </a:pPr>
            <a:r>
              <a:rPr b="0" i="0" lang="en-US" spc="0" sz="950" u="none" cap="none" strike="noStrike">
                <a:solidFill>
                  <a:srgbClr val="1D1D1F"/>
                </a:solidFill>
                <a:latin typeface="Arial"/>
                <a:ea typeface="Arial"/>
                <a:cs typeface="Arial"/>
                <a:sym typeface="Arial"/>
              </a:rPr>
              <a:t>•  Actually </a:t>
            </a:r>
            <a:r>
              <a:rPr b="1" i="0" lang="en-US" spc="0" sz="950" u="none" cap="none" strike="noStrike">
                <a:solidFill>
                  <a:srgbClr val="1D1D1F"/>
                </a:solidFill>
                <a:latin typeface="Play"/>
                <a:ea typeface="Play"/>
                <a:cs typeface="Play"/>
                <a:sym typeface="Play"/>
              </a:rPr>
              <a:t>using the service</a:t>
            </a:r>
            <a:r>
              <a:rPr b="0" i="0" lang="en-US" spc="0" sz="950" u="none" cap="none" strike="noStrike">
                <a:solidFill>
                  <a:srgbClr val="1D1D1F"/>
                </a:solidFill>
                <a:latin typeface="Arial"/>
                <a:ea typeface="Arial"/>
                <a:cs typeface="Arial"/>
                <a:sym typeface="Arial"/>
              </a:rPr>
              <a:t> since then (booked or completed cleanings)</a:t>
            </a:r>
            <a:endParaRPr/>
          </a:p>
          <a:p>
            <a:pPr indent="0" lvl="0" marL="0" marR="0" rtl="0" algn="l">
              <a:lnSpc>
                <a:spcPct val="100000"/>
              </a:lnSpc>
              <a:spcBef>
                <a:spcPts val="200"/>
              </a:spcBef>
              <a:spcAft>
                <a:spcPts val="0"/>
              </a:spcAft>
              <a:buNone/>
            </a:pPr>
            <a:r>
              <a:rPr b="0" i="0" lang="en-US" spc="0" sz="950" u="none" cap="none" strike="noStrike">
                <a:solidFill>
                  <a:srgbClr val="1D1D1F"/>
                </a:solidFill>
                <a:latin typeface="Arial"/>
                <a:ea typeface="Arial"/>
                <a:cs typeface="Arial"/>
                <a:sym typeface="Arial"/>
              </a:rPr>
              <a:t>•  </a:t>
            </a:r>
            <a:r>
              <a:rPr b="1" i="0" lang="en-US" spc="0" sz="950" u="none" cap="none" strike="noStrike">
                <a:solidFill>
                  <a:srgbClr val="1D1D1F"/>
                </a:solidFill>
                <a:latin typeface="Play"/>
                <a:ea typeface="Play"/>
                <a:cs typeface="Play"/>
                <a:sym typeface="Play"/>
              </a:rPr>
              <a:t>Not</a:t>
            </a:r>
            <a:r>
              <a:rPr b="0" i="0" lang="en-US" spc="0" sz="950" u="none" cap="none" strike="noStrike">
                <a:solidFill>
                  <a:srgbClr val="1D1D1F"/>
                </a:solidFill>
                <a:latin typeface="Arial"/>
                <a:ea typeface="Arial"/>
                <a:cs typeface="Arial"/>
                <a:sym typeface="Arial"/>
              </a:rPr>
              <a:t> also asking for a refund right now</a:t>
            </a:r>
            <a:endParaRPr/>
          </a:p>
        </p:txBody>
      </p:sp>
      <p:sp>
        <p:nvSpPr>
          <p:cNvPr id="575" name="Google Shape;575;p25"/>
          <p:cNvSpPr/>
          <p:nvPr/>
        </p:nvSpPr>
        <p:spPr>
          <a:xfrm>
            <a:off x="5303520" y="2176272"/>
            <a:ext cx="3429000" cy="914400"/>
          </a:xfrm>
          <a:prstGeom prst="roundRect">
            <a:avLst>
              <a:gd fmla="val 8000" name="adj"/>
            </a:avLst>
          </a:prstGeom>
          <a:solidFill>
            <a:srgbClr val="E3F4F1"/>
          </a:solidFill>
          <a:ln cap="flat" cmpd="sng" w="9525">
            <a:solidFill>
              <a:srgbClr val="0B7A6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576" name="Google Shape;576;p25"/>
          <p:cNvSpPr txBox="1"/>
          <p:nvPr/>
        </p:nvSpPr>
        <p:spPr>
          <a:xfrm>
            <a:off x="5468112" y="2176272"/>
            <a:ext cx="3154680" cy="914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1050" u="none" cap="none" strike="noStrike">
                <a:solidFill>
                  <a:srgbClr val="0B7A6F"/>
                </a:solidFill>
                <a:latin typeface="Play"/>
                <a:ea typeface="Play"/>
                <a:cs typeface="Play"/>
                <a:sym typeface="Play"/>
              </a:rPr>
              <a:t>✅  Give the pause normally</a:t>
            </a:r>
            <a:endParaRPr/>
          </a:p>
          <a:p>
            <a:pPr indent="0" lvl="0" marL="0" marR="0" rtl="0" algn="l">
              <a:lnSpc>
                <a:spcPct val="100000"/>
              </a:lnSpc>
              <a:spcBef>
                <a:spcPts val="200"/>
              </a:spcBef>
              <a:spcAft>
                <a:spcPts val="0"/>
              </a:spcAft>
              <a:buNone/>
            </a:pPr>
            <a:r>
              <a:rPr b="0" i="0" lang="en-US" spc="0" sz="900" u="none" cap="none" strike="noStrike">
                <a:solidFill>
                  <a:srgbClr val="1D1D1F"/>
                </a:solidFill>
                <a:latin typeface="Arial"/>
                <a:ea typeface="Arial"/>
                <a:cs typeface="Arial"/>
                <a:sym typeface="Arial"/>
              </a:rPr>
              <a:t>Within the caps (up to 6 months)</a:t>
            </a:r>
            <a:endParaRPr/>
          </a:p>
        </p:txBody>
      </p:sp>
      <p:sp>
        <p:nvSpPr>
          <p:cNvPr id="577" name="Google Shape;577;p25"/>
          <p:cNvSpPr/>
          <p:nvPr/>
        </p:nvSpPr>
        <p:spPr>
          <a:xfrm>
            <a:off x="411480" y="3182112"/>
            <a:ext cx="4754880" cy="566928"/>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578" name="Google Shape;578;p25"/>
          <p:cNvSpPr/>
          <p:nvPr/>
        </p:nvSpPr>
        <p:spPr>
          <a:xfrm>
            <a:off x="411480" y="3255264"/>
            <a:ext cx="45720" cy="420623"/>
          </a:xfrm>
          <a:prstGeom prst="rect">
            <a:avLst/>
          </a:prstGeom>
          <a:solidFill>
            <a:srgbClr val="B3261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579" name="Google Shape;579;p25"/>
          <p:cNvSpPr txBox="1"/>
          <p:nvPr/>
        </p:nvSpPr>
        <p:spPr>
          <a:xfrm>
            <a:off x="594360" y="3182112"/>
            <a:ext cx="448056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1050" u="none" cap="none" strike="noStrike">
                <a:solidFill>
                  <a:srgbClr val="1D1D1F"/>
                </a:solidFill>
                <a:latin typeface="Play"/>
                <a:ea typeface="Play"/>
                <a:cs typeface="Play"/>
                <a:sym typeface="Play"/>
              </a:rPr>
              <a:t>Any one</a:t>
            </a:r>
            <a:r>
              <a:rPr b="0" i="0" lang="en-US" spc="0" sz="1050" u="none" cap="none" strike="noStrike">
                <a:solidFill>
                  <a:srgbClr val="1D1D1F"/>
                </a:solidFill>
                <a:latin typeface="Arial"/>
                <a:ea typeface="Arial"/>
                <a:cs typeface="Arial"/>
                <a:sym typeface="Arial"/>
              </a:rPr>
              <a:t> of those three is </a:t>
            </a:r>
            <a:r>
              <a:rPr b="1" i="0" lang="en-US" spc="0" sz="1050" u="none" cap="none" strike="noStrike">
                <a:solidFill>
                  <a:srgbClr val="1D1D1F"/>
                </a:solidFill>
                <a:latin typeface="Play"/>
                <a:ea typeface="Play"/>
                <a:cs typeface="Play"/>
                <a:sym typeface="Play"/>
              </a:rPr>
              <a:t>not</a:t>
            </a:r>
            <a:r>
              <a:rPr b="0" i="0" lang="en-US" spc="0" sz="1050" u="none" cap="none" strike="noStrike">
                <a:solidFill>
                  <a:srgbClr val="1D1D1F"/>
                </a:solidFill>
                <a:latin typeface="Arial"/>
                <a:ea typeface="Arial"/>
                <a:cs typeface="Arial"/>
                <a:sym typeface="Arial"/>
              </a:rPr>
              <a:t> true</a:t>
            </a:r>
            <a:endParaRPr/>
          </a:p>
        </p:txBody>
      </p:sp>
      <p:sp>
        <p:nvSpPr>
          <p:cNvPr id="580" name="Google Shape;580;p25"/>
          <p:cNvSpPr/>
          <p:nvPr/>
        </p:nvSpPr>
        <p:spPr>
          <a:xfrm>
            <a:off x="5303520" y="3182112"/>
            <a:ext cx="3429000" cy="566928"/>
          </a:xfrm>
          <a:prstGeom prst="roundRect">
            <a:avLst>
              <a:gd fmla="val 8000" name="adj"/>
            </a:avLst>
          </a:prstGeom>
          <a:solidFill>
            <a:srgbClr val="FCEBEA"/>
          </a:solidFill>
          <a:ln cap="flat" cmpd="sng" w="9525">
            <a:solidFill>
              <a:srgbClr val="B3261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581" name="Google Shape;581;p25"/>
          <p:cNvSpPr txBox="1"/>
          <p:nvPr/>
        </p:nvSpPr>
        <p:spPr>
          <a:xfrm>
            <a:off x="5468112" y="3182112"/>
            <a:ext cx="315468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1050" u="none" cap="none" strike="noStrike">
                <a:solidFill>
                  <a:srgbClr val="B3261E"/>
                </a:solidFill>
                <a:latin typeface="Play"/>
                <a:ea typeface="Play"/>
                <a:cs typeface="Play"/>
                <a:sym typeface="Play"/>
              </a:rPr>
              <a:t>🚩  Support approval first</a:t>
            </a:r>
            <a:endParaRPr/>
          </a:p>
          <a:p>
            <a:pPr indent="0" lvl="0" marL="0" marR="0" rtl="0" algn="l">
              <a:lnSpc>
                <a:spcPct val="100000"/>
              </a:lnSpc>
              <a:spcBef>
                <a:spcPts val="200"/>
              </a:spcBef>
              <a:spcAft>
                <a:spcPts val="0"/>
              </a:spcAft>
              <a:buNone/>
            </a:pPr>
            <a:r>
              <a:rPr b="0" i="0" lang="en-US" spc="0" sz="900" u="none" cap="none" strike="noStrike">
                <a:solidFill>
                  <a:srgbClr val="1D1D1F"/>
                </a:solidFill>
                <a:latin typeface="Arial"/>
                <a:ea typeface="Arial"/>
                <a:cs typeface="Arial"/>
                <a:sym typeface="Arial"/>
              </a:rPr>
              <a:t>It could be abuse, not a real need for a pause</a:t>
            </a:r>
            <a:endParaRPr/>
          </a:p>
        </p:txBody>
      </p:sp>
      <p:sp>
        <p:nvSpPr>
          <p:cNvPr id="582" name="Google Shape;582;p25"/>
          <p:cNvSpPr/>
          <p:nvPr/>
        </p:nvSpPr>
        <p:spPr>
          <a:xfrm>
            <a:off x="411480" y="3895344"/>
            <a:ext cx="8321040" cy="786384"/>
          </a:xfrm>
          <a:prstGeom prst="roundRect">
            <a:avLst>
              <a:gd fmla="val 8000" name="adj"/>
            </a:avLst>
          </a:prstGeom>
          <a:solidFill>
            <a:srgbClr val="FFF3D6"/>
          </a:solidFill>
          <a:ln cap="flat" cmpd="sng" w="9525">
            <a:solidFill>
              <a:srgbClr val="FFF3D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583" name="Google Shape;583;p25"/>
          <p:cNvSpPr txBox="1"/>
          <p:nvPr/>
        </p:nvSpPr>
        <p:spPr>
          <a:xfrm>
            <a:off x="594360" y="3895344"/>
            <a:ext cx="7955279" cy="78638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950" u="none" cap="none" strike="noStrike">
                <a:solidFill>
                  <a:srgbClr val="9A6410"/>
                </a:solidFill>
                <a:latin typeface="Play"/>
                <a:ea typeface="Play"/>
                <a:cs typeface="Play"/>
                <a:sym typeface="Play"/>
              </a:rPr>
              <a:t>Why this matters: </a:t>
            </a:r>
            <a:r>
              <a:rPr b="0" i="0" lang="en-US" spc="0" sz="950" u="none" cap="none" strike="noStrike">
                <a:solidFill>
                  <a:srgbClr val="1D1D1F"/>
                </a:solidFill>
                <a:latin typeface="Arial"/>
                <a:ea typeface="Arial"/>
                <a:cs typeface="Arial"/>
                <a:sym typeface="Arial"/>
              </a:rPr>
              <a:t>pausing again with no MF charged in between looks like avoiding the MF (and the ETF that comes with cancelling), not needing a break. Payment alone doesn’t prove it’s genuine. Payment + actual usage + no refund request together closes those gaps.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2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OFFER LOGIC</a:t>
            </a:r>
            <a:endParaRPr b="0" i="0" spc="0" sz="800" u="none" cap="none" strike="noStrike">
              <a:solidFill>
                <a:schemeClr val="dk1"/>
              </a:solidFill>
              <a:latin typeface="Calibri"/>
              <a:ea typeface="Calibri"/>
              <a:cs typeface="Calibri"/>
              <a:sym typeface="Calibri"/>
            </a:endParaRPr>
          </a:p>
        </p:txBody>
      </p:sp>
      <p:sp>
        <p:nvSpPr>
          <p:cNvPr id="590" name="Google Shape;590;p2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They cancel anyway</a:t>
            </a:r>
            <a:endParaRPr b="0" i="0" spc="0" sz="2400" u="none" cap="none" strike="noStrike">
              <a:solidFill>
                <a:schemeClr val="dk1"/>
              </a:solidFill>
              <a:latin typeface="Calibri"/>
              <a:ea typeface="Calibri"/>
              <a:cs typeface="Calibri"/>
              <a:sym typeface="Calibri"/>
            </a:endParaRPr>
          </a:p>
        </p:txBody>
      </p:sp>
      <p:sp>
        <p:nvSpPr>
          <p:cNvPr id="591" name="Google Shape;591;p2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Invalidate the retention offer, with two exemptions.</a:t>
            </a:r>
            <a:endParaRPr b="0" i="0" spc="0" sz="1200" u="none" cap="none" strike="noStrike">
              <a:solidFill>
                <a:schemeClr val="dk1"/>
              </a:solidFill>
              <a:latin typeface="Calibri"/>
              <a:ea typeface="Calibri"/>
              <a:cs typeface="Calibri"/>
              <a:sym typeface="Calibri"/>
            </a:endParaRPr>
          </a:p>
        </p:txBody>
      </p:sp>
      <p:sp>
        <p:nvSpPr>
          <p:cNvPr id="592" name="Google Shape;592;p26"/>
          <p:cNvSpPr/>
          <p:nvPr/>
        </p:nvSpPr>
        <p:spPr>
          <a:xfrm>
            <a:off x="411480" y="1325880"/>
            <a:ext cx="8321040" cy="548640"/>
          </a:xfrm>
          <a:prstGeom prst="roundRect">
            <a:avLst>
              <a:gd fmla="val 13333" name="adj"/>
            </a:avLst>
          </a:prstGeom>
          <a:solidFill>
            <a:srgbClr val="1D1D1F"/>
          </a:solidFill>
          <a:ln cap="flat" cmpd="sng" w="9525">
            <a:solidFill>
              <a:srgbClr val="1D1D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3" name="Google Shape;593;p26"/>
          <p:cNvSpPr txBox="1"/>
          <p:nvPr/>
        </p:nvSpPr>
        <p:spPr>
          <a:xfrm>
            <a:off x="640080" y="1325880"/>
            <a:ext cx="7955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00"/>
              <a:buFont typeface="Play"/>
              <a:buNone/>
            </a:pPr>
            <a:r>
              <a:rPr b="1" i="0" lang="en-US" spc="0" sz="1200" u="none" cap="none" strike="noStrike">
                <a:solidFill>
                  <a:srgbClr val="FFFFFF"/>
                </a:solidFill>
                <a:latin typeface="Play"/>
                <a:ea typeface="Play"/>
                <a:cs typeface="Play"/>
                <a:sym typeface="Play"/>
              </a:rPr>
              <a:t>Default: invalidate the retention offer when you process the cancellation.</a:t>
            </a:r>
            <a:endParaRPr b="0" i="0" spc="0" sz="1200" u="none" cap="none" strike="noStrike">
              <a:solidFill>
                <a:schemeClr val="dk1"/>
              </a:solidFill>
              <a:latin typeface="Calibri"/>
              <a:ea typeface="Calibri"/>
              <a:cs typeface="Calibri"/>
              <a:sym typeface="Calibri"/>
            </a:endParaRPr>
          </a:p>
        </p:txBody>
      </p:sp>
      <p:sp>
        <p:nvSpPr>
          <p:cNvPr id="594" name="Google Shape;594;p26"/>
          <p:cNvSpPr/>
          <p:nvPr/>
        </p:nvSpPr>
        <p:spPr>
          <a:xfrm>
            <a:off x="411480" y="2011680"/>
            <a:ext cx="4091940" cy="1463040"/>
          </a:xfrm>
          <a:prstGeom prst="roundRect">
            <a:avLst>
              <a:gd fmla="val 5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95" name="Google Shape;595;p26"/>
          <p:cNvSpPr/>
          <p:nvPr/>
        </p:nvSpPr>
        <p:spPr>
          <a:xfrm>
            <a:off x="576072" y="21762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596" name="Google Shape;596;p26"/>
          <p:cNvPicPr preferRelativeResize="0"/>
          <p:nvPr/>
        </p:nvPicPr>
        <p:blipFill rotWithShape="1">
          <a:blip r:embed="rId3">
            <a:alphaModFix/>
          </a:blip>
          <a:srcRect b="0" l="0" r="0" t="0"/>
          <a:stretch/>
        </p:blipFill>
        <p:spPr>
          <a:xfrm>
            <a:off x="655076" y="2255276"/>
            <a:ext cx="171176" cy="171176"/>
          </a:xfrm>
          <a:prstGeom prst="rect">
            <a:avLst/>
          </a:prstGeom>
          <a:noFill/>
          <a:ln>
            <a:noFill/>
          </a:ln>
        </p:spPr>
      </p:pic>
      <p:sp>
        <p:nvSpPr>
          <p:cNvPr id="597" name="Google Shape;597;p26"/>
          <p:cNvSpPr txBox="1"/>
          <p:nvPr/>
        </p:nvSpPr>
        <p:spPr>
          <a:xfrm>
            <a:off x="576072" y="261518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Paid for: keep it</a:t>
            </a:r>
            <a:endParaRPr b="0" i="0" spc="0" sz="1200" u="none" cap="none" strike="noStrike">
              <a:solidFill>
                <a:schemeClr val="dk1"/>
              </a:solidFill>
              <a:latin typeface="Calibri"/>
              <a:ea typeface="Calibri"/>
              <a:cs typeface="Calibri"/>
              <a:sym typeface="Calibri"/>
            </a:endParaRPr>
          </a:p>
        </p:txBody>
      </p:sp>
      <p:sp>
        <p:nvSpPr>
          <p:cNvPr id="598" name="Google Shape;598;p26"/>
          <p:cNvSpPr txBox="1"/>
          <p:nvPr/>
        </p:nvSpPr>
        <p:spPr>
          <a:xfrm>
            <a:off x="576072" y="2907792"/>
            <a:ext cx="3762756"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Admin courtesy voucher for the unused hours of a partly used Legacy DHJ voucher.</a:t>
            </a:r>
            <a:endParaRPr b="0" i="0" spc="0" sz="950" u="none" cap="none" strike="noStrike">
              <a:solidFill>
                <a:schemeClr val="dk1"/>
              </a:solidFill>
              <a:latin typeface="Calibri"/>
              <a:ea typeface="Calibri"/>
              <a:cs typeface="Calibri"/>
              <a:sym typeface="Calibri"/>
            </a:endParaRPr>
          </a:p>
        </p:txBody>
      </p:sp>
      <p:sp>
        <p:nvSpPr>
          <p:cNvPr id="599" name="Google Shape;599;p26"/>
          <p:cNvSpPr/>
          <p:nvPr/>
        </p:nvSpPr>
        <p:spPr>
          <a:xfrm>
            <a:off x="4640580" y="2011680"/>
            <a:ext cx="4091940" cy="1463040"/>
          </a:xfrm>
          <a:prstGeom prst="roundRect">
            <a:avLst>
              <a:gd fmla="val 5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00" name="Google Shape;600;p26"/>
          <p:cNvSpPr/>
          <p:nvPr/>
        </p:nvSpPr>
        <p:spPr>
          <a:xfrm>
            <a:off x="4805172" y="21762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601" name="Google Shape;601;p26"/>
          <p:cNvPicPr preferRelativeResize="0"/>
          <p:nvPr/>
        </p:nvPicPr>
        <p:blipFill rotWithShape="1">
          <a:blip r:embed="rId4">
            <a:alphaModFix/>
          </a:blip>
          <a:srcRect b="0" l="0" r="0" t="0"/>
          <a:stretch/>
        </p:blipFill>
        <p:spPr>
          <a:xfrm>
            <a:off x="4884176" y="2255276"/>
            <a:ext cx="171176" cy="171176"/>
          </a:xfrm>
          <a:prstGeom prst="rect">
            <a:avLst/>
          </a:prstGeom>
          <a:noFill/>
          <a:ln>
            <a:noFill/>
          </a:ln>
        </p:spPr>
      </p:pic>
      <p:sp>
        <p:nvSpPr>
          <p:cNvPr id="602" name="Google Shape;602;p26"/>
          <p:cNvSpPr txBox="1"/>
          <p:nvPr/>
        </p:nvSpPr>
        <p:spPr>
          <a:xfrm>
            <a:off x="4805172" y="261518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Earned: keep it</a:t>
            </a:r>
            <a:endParaRPr b="0" i="0" spc="0" sz="1200" u="none" cap="none" strike="noStrike">
              <a:solidFill>
                <a:schemeClr val="dk1"/>
              </a:solidFill>
              <a:latin typeface="Calibri"/>
              <a:ea typeface="Calibri"/>
              <a:cs typeface="Calibri"/>
              <a:sym typeface="Calibri"/>
            </a:endParaRPr>
          </a:p>
        </p:txBody>
      </p:sp>
      <p:sp>
        <p:nvSpPr>
          <p:cNvPr id="603" name="Google Shape;603;p26"/>
          <p:cNvSpPr txBox="1"/>
          <p:nvPr/>
        </p:nvSpPr>
        <p:spPr>
          <a:xfrm>
            <a:off x="4805172" y="2907792"/>
            <a:ext cx="3762756"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Credits accepted inside MCT, then MCT completed. Refund or reissue what the system stripped.</a:t>
            </a:r>
            <a:endParaRPr b="0" i="0" spc="0" sz="950" u="none" cap="none" strike="noStrike">
              <a:solidFill>
                <a:schemeClr val="dk1"/>
              </a:solidFill>
              <a:latin typeface="Calibri"/>
              <a:ea typeface="Calibri"/>
              <a:cs typeface="Calibri"/>
              <a:sym typeface="Calibri"/>
            </a:endParaRPr>
          </a:p>
        </p:txBody>
      </p:sp>
      <p:sp>
        <p:nvSpPr>
          <p:cNvPr id="604" name="Google Shape;604;p26"/>
          <p:cNvSpPr/>
          <p:nvPr/>
        </p:nvSpPr>
        <p:spPr>
          <a:xfrm>
            <a:off x="411480" y="36576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605" name="Google Shape;605;p26"/>
          <p:cNvPicPr preferRelativeResize="0"/>
          <p:nvPr/>
        </p:nvPicPr>
        <p:blipFill rotWithShape="1">
          <a:blip r:embed="rId5">
            <a:alphaModFix/>
          </a:blip>
          <a:srcRect b="0" l="0" r="0" t="0"/>
          <a:stretch/>
        </p:blipFill>
        <p:spPr>
          <a:xfrm>
            <a:off x="566928" y="3767328"/>
            <a:ext cx="164592" cy="164592"/>
          </a:xfrm>
          <a:prstGeom prst="rect">
            <a:avLst/>
          </a:prstGeom>
          <a:noFill/>
          <a:ln>
            <a:noFill/>
          </a:ln>
        </p:spPr>
      </p:pic>
      <p:sp>
        <p:nvSpPr>
          <p:cNvPr id="606" name="Google Shape;606;p26"/>
          <p:cNvSpPr txBox="1"/>
          <p:nvPr/>
        </p:nvSpPr>
        <p:spPr>
          <a:xfrm>
            <a:off x="822960" y="37581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Ask:  </a:t>
            </a:r>
            <a:r>
              <a:rPr b="0" i="0" lang="en-US" spc="0" sz="1000" u="none" cap="none" strike="noStrike">
                <a:solidFill>
                  <a:srgbClr val="1D1D1F"/>
                </a:solidFill>
                <a:latin typeface="Arial"/>
                <a:ea typeface="Arial"/>
                <a:cs typeface="Arial"/>
                <a:sym typeface="Arial"/>
              </a:rPr>
              <a:t>did the customer pay for it, or earn it by staying? Then it survives the cancellation.</a:t>
            </a:r>
            <a:endParaRPr b="0" i="0" spc="0" sz="1000" u="none" cap="none" strike="noStrike">
              <a:solidFill>
                <a:schemeClr val="dk1"/>
              </a:solidFill>
              <a:latin typeface="Calibri"/>
              <a:ea typeface="Calibri"/>
              <a:cs typeface="Calibri"/>
              <a:sym typeface="Calibri"/>
            </a:endParaRPr>
          </a:p>
        </p:txBody>
      </p:sp>
      <p:sp>
        <p:nvSpPr>
          <p:cNvPr id="607" name="Google Shape;607;p2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2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OFFER LOGIC</a:t>
            </a:r>
            <a:endParaRPr b="0" i="0" spc="0" sz="800" u="none" cap="none" strike="noStrike">
              <a:solidFill>
                <a:schemeClr val="dk1"/>
              </a:solidFill>
              <a:latin typeface="Calibri"/>
              <a:ea typeface="Calibri"/>
              <a:cs typeface="Calibri"/>
              <a:sym typeface="Calibri"/>
            </a:endParaRPr>
          </a:p>
        </p:txBody>
      </p:sp>
      <p:sp>
        <p:nvSpPr>
          <p:cNvPr id="614" name="Google Shape;614;p2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Exit offers: MCT or ETF reduction?</a:t>
            </a:r>
            <a:endParaRPr b="0" i="0" spc="0" sz="2400" u="none" cap="none" strike="noStrike">
              <a:solidFill>
                <a:schemeClr val="dk1"/>
              </a:solidFill>
              <a:latin typeface="Calibri"/>
              <a:ea typeface="Calibri"/>
              <a:cs typeface="Calibri"/>
              <a:sym typeface="Calibri"/>
            </a:endParaRPr>
          </a:p>
        </p:txBody>
      </p:sp>
      <p:sp>
        <p:nvSpPr>
          <p:cNvPr id="615" name="Google Shape;615;p27"/>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Pick whichever gets the customer out for less.</a:t>
            </a:r>
            <a:endParaRPr b="0" i="0" spc="0" sz="1200" u="none" cap="none" strike="noStrike">
              <a:solidFill>
                <a:schemeClr val="dk1"/>
              </a:solidFill>
              <a:latin typeface="Calibri"/>
              <a:ea typeface="Calibri"/>
              <a:cs typeface="Calibri"/>
              <a:sym typeface="Calibri"/>
            </a:endParaRPr>
          </a:p>
        </p:txBody>
      </p:sp>
      <p:sp>
        <p:nvSpPr>
          <p:cNvPr id="616" name="Google Shape;616;p27"/>
          <p:cNvSpPr/>
          <p:nvPr/>
        </p:nvSpPr>
        <p:spPr>
          <a:xfrm>
            <a:off x="411480" y="1325880"/>
            <a:ext cx="4069080" cy="1371600"/>
          </a:xfrm>
          <a:prstGeom prst="roundRect">
            <a:avLst>
              <a:gd fmla="val 5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7" name="Google Shape;617;p27"/>
          <p:cNvSpPr txBox="1"/>
          <p:nvPr/>
        </p:nvSpPr>
        <p:spPr>
          <a:xfrm>
            <a:off x="594360" y="1325880"/>
            <a:ext cx="3749040" cy="137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1200"/>
              <a:buFont typeface="Play"/>
              <a:buNone/>
            </a:pPr>
            <a:r>
              <a:rPr b="1" i="0" lang="en-US" spc="0" sz="1200" u="none" cap="none" strike="noStrike">
                <a:solidFill>
                  <a:srgbClr val="0B7A6F"/>
                </a:solidFill>
                <a:latin typeface="Play"/>
                <a:ea typeface="Play"/>
                <a:cs typeface="Play"/>
                <a:sym typeface="Play"/>
              </a:rPr>
              <a:t>Fix the first job first</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050"/>
              <a:buFont typeface="Arial"/>
              <a:buNone/>
            </a:pPr>
            <a:r>
              <a:rPr b="1" i="0" lang="en-US" spc="0" sz="1050" u="none" cap="none" strike="noStrike">
                <a:solidFill>
                  <a:srgbClr val="1D1D1F"/>
                </a:solidFill>
                <a:latin typeface="Arial"/>
                <a:ea typeface="Arial"/>
                <a:cs typeface="Arial"/>
                <a:sym typeface="Arial"/>
              </a:rPr>
              <a:t>ETF = $35/hr × first-cleaning hours</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Invoiced 4 hrs, CP messages show 2.5 → refund 1.5 hrs</a:t>
            </a:r>
            <a:endParaRPr b="0" i="0" spc="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B7A6F"/>
              </a:buClr>
              <a:buSzPts val="1200"/>
              <a:buFont typeface="Arial"/>
              <a:buNone/>
            </a:pPr>
            <a:r>
              <a:rPr b="1" i="0" lang="en-US" spc="0" sz="1200" u="none" cap="none" strike="noStrike">
                <a:solidFill>
                  <a:srgbClr val="0B7A6F"/>
                </a:solidFill>
                <a:latin typeface="Arial"/>
                <a:ea typeface="Arial"/>
                <a:cs typeface="Arial"/>
                <a:sym typeface="Arial"/>
              </a:rPr>
              <a:t>ETF $140 → $87.50</a:t>
            </a:r>
            <a:endParaRPr b="0" i="0" spc="0" sz="1200" u="none" cap="none" strike="noStrike">
              <a:solidFill>
                <a:schemeClr val="dk1"/>
              </a:solidFill>
              <a:latin typeface="Calibri"/>
              <a:ea typeface="Calibri"/>
              <a:cs typeface="Calibri"/>
              <a:sym typeface="Calibri"/>
            </a:endParaRPr>
          </a:p>
        </p:txBody>
      </p:sp>
      <p:sp>
        <p:nvSpPr>
          <p:cNvPr id="618" name="Google Shape;618;p27"/>
          <p:cNvSpPr/>
          <p:nvPr/>
        </p:nvSpPr>
        <p:spPr>
          <a:xfrm>
            <a:off x="4663440" y="1325880"/>
            <a:ext cx="4069080" cy="1371600"/>
          </a:xfrm>
          <a:prstGeom prst="roundRect">
            <a:avLst>
              <a:gd fmla="val 5333" name="adj"/>
            </a:avLst>
          </a:prstGeom>
          <a:solidFill>
            <a:srgbClr val="FFFFFF"/>
          </a:solidFill>
          <a:ln cap="flat" cmpd="sng" w="9525">
            <a:solidFill>
              <a:srgbClr val="1D1D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9" name="Google Shape;619;p27"/>
          <p:cNvSpPr/>
          <p:nvPr/>
        </p:nvSpPr>
        <p:spPr>
          <a:xfrm>
            <a:off x="4663440" y="1325880"/>
            <a:ext cx="4069080" cy="329184"/>
          </a:xfrm>
          <a:prstGeom prst="roundRect">
            <a:avLst>
              <a:gd fmla="val 16667" name="adj"/>
            </a:avLst>
          </a:prstGeom>
          <a:solidFill>
            <a:srgbClr val="1D1D1F"/>
          </a:solidFill>
          <a:ln cap="flat" cmpd="sng" w="12700">
            <a:solidFill>
              <a:srgbClr val="1D1D1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Which tool?</a:t>
            </a:r>
            <a:endParaRPr b="0" i="0" spc="0" sz="1050" u="none" cap="none" strike="noStrike">
              <a:solidFill>
                <a:schemeClr val="dk1"/>
              </a:solidFill>
              <a:latin typeface="Calibri"/>
              <a:ea typeface="Calibri"/>
              <a:cs typeface="Calibri"/>
              <a:sym typeface="Calibri"/>
            </a:endParaRPr>
          </a:p>
        </p:txBody>
      </p:sp>
      <p:sp>
        <p:nvSpPr>
          <p:cNvPr id="620" name="Google Shape;620;p27"/>
          <p:cNvSpPr txBox="1"/>
          <p:nvPr/>
        </p:nvSpPr>
        <p:spPr>
          <a:xfrm>
            <a:off x="4828032" y="1764792"/>
            <a:ext cx="3739896" cy="8595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Not retainable, no ETF waiver</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Compare MCT vs ETF reduction</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1" i="0" lang="en-US" spc="0" sz="950" u="none" cap="none" strike="noStrike">
                <a:solidFill>
                  <a:srgbClr val="1D1D1F"/>
                </a:solidFill>
                <a:latin typeface="Arial"/>
                <a:ea typeface="Arial"/>
                <a:cs typeface="Arial"/>
                <a:sym typeface="Arial"/>
              </a:rPr>
              <a:t>Use whichever costs the customer less</a:t>
            </a:r>
            <a:endParaRPr b="0" i="0" spc="0" sz="950" u="none" cap="none" strike="noStrike">
              <a:solidFill>
                <a:schemeClr val="dk1"/>
              </a:solidFill>
              <a:latin typeface="Calibri"/>
              <a:ea typeface="Calibri"/>
              <a:cs typeface="Calibri"/>
              <a:sym typeface="Calibri"/>
            </a:endParaRPr>
          </a:p>
        </p:txBody>
      </p:sp>
      <p:graphicFrame>
        <p:nvGraphicFramePr>
          <p:cNvPr id="621" name="Google Shape;621;p27"/>
          <p:cNvGraphicFramePr/>
          <p:nvPr/>
        </p:nvGraphicFramePr>
        <p:xfrm>
          <a:off x="411480" y="2834640"/>
          <a:ext cx="3000000" cy="3000000"/>
        </p:xfrm>
        <a:graphic>
          <a:graphicData uri="http://schemas.openxmlformats.org/drawingml/2006/table">
            <a:tbl>
              <a:tblPr>
                <a:noFill/>
                <a:tableStyleId>{8EFC85C5-4764-4BF5-A5AE-CCAC02DEFFEE}</a:tableStyleId>
              </a:tblPr>
              <a:tblGrid>
                <a:gridCol w="3657600"/>
                <a:gridCol w="4663450"/>
              </a:tblGrid>
              <a:tr h="292600">
                <a:tc>
                  <a:txBody>
                    <a:bodyPr/>
                    <a:lstStyle/>
                    <a:p>
                      <a:pPr indent="0" lvl="0" marL="0" marR="0" rtl="0" algn="l">
                        <a:lnSpc>
                          <a:spcPct val="100000"/>
                        </a:lnSpc>
                        <a:spcBef>
                          <a:spcPts val="0"/>
                        </a:spcBef>
                        <a:spcAft>
                          <a:spcPts val="0"/>
                        </a:spcAft>
                        <a:buClr>
                          <a:srgbClr val="0B7A6F"/>
                        </a:buClr>
                        <a:buSzPts val="950"/>
                        <a:buFont typeface="Play"/>
                        <a:buNone/>
                      </a:pPr>
                      <a:r>
                        <a:rPr b="1" lang="en-US" spc="0" sz="950" u="none" cap="none" strike="noStrike">
                          <a:solidFill>
                            <a:srgbClr val="0B7A6F"/>
                          </a:solidFill>
                          <a:latin typeface="Play"/>
                          <a:ea typeface="Play"/>
                          <a:cs typeface="Play"/>
                          <a:sym typeface="Play"/>
                        </a:rPr>
                        <a:t>Why they're cancelling</a:t>
                      </a:r>
                      <a:endParaRPr spc="0"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US" spc="0" sz="950" u="none" cap="none" strike="noStrike">
                          <a:solidFill>
                            <a:srgbClr val="0B7A6F"/>
                          </a:solidFill>
                          <a:latin typeface="Play"/>
                          <a:ea typeface="Play"/>
                          <a:cs typeface="Play"/>
                          <a:sym typeface="Play"/>
                        </a:rPr>
                        <a:t>ETF reduction</a:t>
                      </a:r>
                      <a:endParaRPr spc="0"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47475">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Unawareness only (or "one-time cleaning")</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Don't offer proactively. Wait for a hint they'd pay</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Any other reason mixed in</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Standard exit tool once retention is exhausted</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Extreme financial hardship</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Straight to 50% off. Declines? Waive the ETF</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622" name="Google Shape;622;p2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2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OFFER LOGIC</a:t>
            </a:r>
            <a:endParaRPr b="0" i="0" spc="0" sz="800" u="none" cap="none" strike="noStrike">
              <a:solidFill>
                <a:schemeClr val="dk1"/>
              </a:solidFill>
              <a:latin typeface="Calibri"/>
              <a:ea typeface="Calibri"/>
              <a:cs typeface="Calibri"/>
              <a:sym typeface="Calibri"/>
            </a:endParaRPr>
          </a:p>
        </p:txBody>
      </p:sp>
      <p:sp>
        <p:nvSpPr>
          <p:cNvPr id="629" name="Google Shape;629;p2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ETF reduction: the 50% cap</a:t>
            </a:r>
            <a:endParaRPr b="0" i="0" spc="0" sz="2400" u="none" cap="none" strike="noStrike">
              <a:solidFill>
                <a:schemeClr val="dk1"/>
              </a:solidFill>
              <a:latin typeface="Calibri"/>
              <a:ea typeface="Calibri"/>
              <a:cs typeface="Calibri"/>
              <a:sym typeface="Calibri"/>
            </a:endParaRPr>
          </a:p>
        </p:txBody>
      </p:sp>
      <p:sp>
        <p:nvSpPr>
          <p:cNvPr id="630" name="Google Shape;630;p2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Deductions change how you get there, not the ceiling.</a:t>
            </a:r>
            <a:endParaRPr b="0" i="0" spc="0" sz="1200" u="none" cap="none" strike="noStrike">
              <a:solidFill>
                <a:schemeClr val="dk1"/>
              </a:solidFill>
              <a:latin typeface="Calibri"/>
              <a:ea typeface="Calibri"/>
              <a:cs typeface="Calibri"/>
              <a:sym typeface="Calibri"/>
            </a:endParaRPr>
          </a:p>
        </p:txBody>
      </p:sp>
      <p:sp>
        <p:nvSpPr>
          <p:cNvPr id="631" name="Google Shape;631;p28"/>
          <p:cNvSpPr/>
          <p:nvPr/>
        </p:nvSpPr>
        <p:spPr>
          <a:xfrm>
            <a:off x="411480" y="1325880"/>
            <a:ext cx="2377440" cy="2103120"/>
          </a:xfrm>
          <a:prstGeom prst="roundRect">
            <a:avLst>
              <a:gd fmla="val 34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32" name="Google Shape;632;p28"/>
          <p:cNvSpPr txBox="1"/>
          <p:nvPr/>
        </p:nvSpPr>
        <p:spPr>
          <a:xfrm>
            <a:off x="411480" y="1490472"/>
            <a:ext cx="237744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3000"/>
              <a:buFont typeface="Play"/>
              <a:buNone/>
            </a:pPr>
            <a:r>
              <a:rPr b="1" i="0" lang="en-US" spc="0" sz="3000" u="none" cap="none" strike="noStrike">
                <a:solidFill>
                  <a:srgbClr val="0B7A6F"/>
                </a:solidFill>
                <a:latin typeface="Play"/>
                <a:ea typeface="Play"/>
                <a:cs typeface="Play"/>
                <a:sym typeface="Play"/>
              </a:rPr>
              <a:t>50%</a:t>
            </a:r>
            <a:endParaRPr b="0" i="0" spc="0" sz="3000" u="none" cap="none" strike="noStrike">
              <a:solidFill>
                <a:schemeClr val="dk1"/>
              </a:solidFill>
              <a:latin typeface="Calibri"/>
              <a:ea typeface="Calibri"/>
              <a:cs typeface="Calibri"/>
              <a:sym typeface="Calibri"/>
            </a:endParaRPr>
          </a:p>
        </p:txBody>
      </p:sp>
      <p:sp>
        <p:nvSpPr>
          <p:cNvPr id="633" name="Google Shape;633;p28"/>
          <p:cNvSpPr txBox="1"/>
          <p:nvPr/>
        </p:nvSpPr>
        <p:spPr>
          <a:xfrm>
            <a:off x="594360" y="2148840"/>
            <a:ext cx="2011680" cy="11887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max off the original ETF, whatever is deducted</a:t>
            </a:r>
            <a:endParaRPr b="0" i="0" spc="0" sz="1000" u="none" cap="none" strike="noStrike">
              <a:solidFill>
                <a:srgbClr val="6E6E73"/>
              </a:solidFill>
              <a:latin typeface="Arial"/>
              <a:ea typeface="Arial"/>
              <a:cs typeface="Arial"/>
              <a:sym typeface="Arial"/>
            </a:endParaRPr>
          </a:p>
          <a:p>
            <a:pPr indent="0" lvl="0" marL="0" marR="0" rtl="0" algn="ctr">
              <a:lnSpc>
                <a:spcPct val="100000"/>
              </a:lnSpc>
              <a:spcBef>
                <a:spcPts val="0"/>
              </a:spcBef>
              <a:spcAft>
                <a:spcPts val="0"/>
              </a:spcAft>
              <a:buClr>
                <a:srgbClr val="6E6E73"/>
              </a:buClr>
              <a:buSzPts val="1000"/>
              <a:buFont typeface="Arial"/>
              <a:buNone/>
            </a:pPr>
            <a:r>
              <a:t/>
            </a:r>
            <a:endParaRPr b="0" i="0" spc="0" sz="1000" u="none" cap="none" strike="noStrike">
              <a:solidFill>
                <a:srgbClr val="6E6E73"/>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en-US" spc="0" sz="1050" u="none" cap="none" strike="noStrike">
                <a:solidFill>
                  <a:schemeClr val="lt1"/>
                </a:solidFill>
                <a:latin typeface="Play"/>
                <a:ea typeface="Play"/>
                <a:cs typeface="Play"/>
                <a:sym typeface="Play"/>
              </a:rPr>
              <a:t>`</a:t>
            </a:r>
            <a:r>
              <a:rPr b="1" i="0" lang="en-US" spc="0" sz="1050" u="none" cap="none" strike="noStrike">
                <a:solidFill>
                  <a:srgbClr val="0B7A6F"/>
                </a:solidFill>
                <a:latin typeface="Play"/>
                <a:ea typeface="Play"/>
                <a:cs typeface="Play"/>
                <a:sym typeface="Play"/>
              </a:rPr>
              <a:t>▶  Watch: Updating the ETF</a:t>
            </a:r>
            <a:endParaRPr b="0" i="0" spc="0" sz="1000" u="none" cap="none" strike="noStrike">
              <a:solidFill>
                <a:srgbClr val="6E6E73"/>
              </a:solidFill>
              <a:latin typeface="Arial"/>
              <a:ea typeface="Arial"/>
              <a:cs typeface="Arial"/>
              <a:sym typeface="Arial"/>
            </a:endParaRPr>
          </a:p>
        </p:txBody>
      </p:sp>
      <p:sp>
        <p:nvSpPr>
          <p:cNvPr id="634" name="Google Shape;634;p28"/>
          <p:cNvSpPr txBox="1"/>
          <p:nvPr/>
        </p:nvSpPr>
        <p:spPr>
          <a:xfrm>
            <a:off x="2971800" y="132588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WHAT CAN BE DEDUCTED</a:t>
            </a:r>
            <a:endParaRPr b="0" i="0" spc="0" sz="800" u="none" cap="none" strike="noStrike">
              <a:solidFill>
                <a:schemeClr val="dk1"/>
              </a:solidFill>
              <a:latin typeface="Calibri"/>
              <a:ea typeface="Calibri"/>
              <a:cs typeface="Calibri"/>
              <a:sym typeface="Calibri"/>
            </a:endParaRPr>
          </a:p>
        </p:txBody>
      </p:sp>
      <p:sp>
        <p:nvSpPr>
          <p:cNvPr id="635" name="Google Shape;635;p28"/>
          <p:cNvSpPr/>
          <p:nvPr/>
        </p:nvSpPr>
        <p:spPr>
          <a:xfrm>
            <a:off x="2971800" y="1572768"/>
            <a:ext cx="5760720" cy="603504"/>
          </a:xfrm>
          <a:prstGeom prst="roundRect">
            <a:avLst>
              <a:gd fmla="val 1212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36" name="Google Shape;636;p28"/>
          <p:cNvSpPr/>
          <p:nvPr/>
        </p:nvSpPr>
        <p:spPr>
          <a:xfrm>
            <a:off x="3090672" y="1709928"/>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637" name="Google Shape;637;p28"/>
          <p:cNvPicPr preferRelativeResize="0"/>
          <p:nvPr/>
        </p:nvPicPr>
        <p:blipFill rotWithShape="1">
          <a:blip r:embed="rId3">
            <a:alphaModFix/>
          </a:blip>
          <a:srcRect b="0" l="0" r="0" t="0"/>
          <a:stretch/>
        </p:blipFill>
        <p:spPr>
          <a:xfrm>
            <a:off x="3169676" y="1788932"/>
            <a:ext cx="171176" cy="171176"/>
          </a:xfrm>
          <a:prstGeom prst="rect">
            <a:avLst/>
          </a:prstGeom>
          <a:noFill/>
          <a:ln>
            <a:noFill/>
          </a:ln>
        </p:spPr>
      </p:pic>
      <p:sp>
        <p:nvSpPr>
          <p:cNvPr id="638" name="Google Shape;638;p28"/>
          <p:cNvSpPr txBox="1"/>
          <p:nvPr/>
        </p:nvSpPr>
        <p:spPr>
          <a:xfrm>
            <a:off x="3520440" y="1572768"/>
            <a:ext cx="512064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US" spc="0" sz="1050" u="none" cap="none" strike="noStrike">
                <a:solidFill>
                  <a:srgbClr val="1D1D1F"/>
                </a:solidFill>
                <a:latin typeface="Play"/>
                <a:ea typeface="Play"/>
                <a:cs typeface="Play"/>
                <a:sym typeface="Play"/>
              </a:rPr>
              <a:t>MF and/or voucher price</a:t>
            </a:r>
            <a:endParaRPr b="0" i="0" spc="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Standard. Stack only when justified.</a:t>
            </a:r>
            <a:endParaRPr b="0" i="0" spc="0" sz="1050" u="none" cap="none" strike="noStrike">
              <a:solidFill>
                <a:schemeClr val="dk1"/>
              </a:solidFill>
              <a:latin typeface="Calibri"/>
              <a:ea typeface="Calibri"/>
              <a:cs typeface="Calibri"/>
              <a:sym typeface="Calibri"/>
            </a:endParaRPr>
          </a:p>
        </p:txBody>
      </p:sp>
      <p:sp>
        <p:nvSpPr>
          <p:cNvPr id="639" name="Google Shape;639;p28"/>
          <p:cNvSpPr/>
          <p:nvPr/>
        </p:nvSpPr>
        <p:spPr>
          <a:xfrm>
            <a:off x="2971800" y="2258568"/>
            <a:ext cx="5760720" cy="603504"/>
          </a:xfrm>
          <a:prstGeom prst="roundRect">
            <a:avLst>
              <a:gd fmla="val 1212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40" name="Google Shape;640;p28"/>
          <p:cNvSpPr/>
          <p:nvPr/>
        </p:nvSpPr>
        <p:spPr>
          <a:xfrm>
            <a:off x="3090672" y="2395728"/>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641" name="Google Shape;641;p28"/>
          <p:cNvPicPr preferRelativeResize="0"/>
          <p:nvPr/>
        </p:nvPicPr>
        <p:blipFill rotWithShape="1">
          <a:blip r:embed="rId4">
            <a:alphaModFix/>
          </a:blip>
          <a:srcRect b="0" l="0" r="0" t="0"/>
          <a:stretch/>
        </p:blipFill>
        <p:spPr>
          <a:xfrm>
            <a:off x="3169676" y="2474732"/>
            <a:ext cx="171176" cy="171176"/>
          </a:xfrm>
          <a:prstGeom prst="rect">
            <a:avLst/>
          </a:prstGeom>
          <a:noFill/>
          <a:ln>
            <a:noFill/>
          </a:ln>
        </p:spPr>
      </p:pic>
      <p:sp>
        <p:nvSpPr>
          <p:cNvPr id="642" name="Google Shape;642;p28"/>
          <p:cNvSpPr txBox="1"/>
          <p:nvPr/>
        </p:nvSpPr>
        <p:spPr>
          <a:xfrm>
            <a:off x="3520440" y="2258568"/>
            <a:ext cx="512064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US" spc="0" sz="1050" u="none" cap="none" strike="noStrike">
                <a:solidFill>
                  <a:srgbClr val="1D1D1F"/>
                </a:solidFill>
                <a:latin typeface="Play"/>
                <a:ea typeface="Play"/>
                <a:cs typeface="Play"/>
                <a:sym typeface="Play"/>
              </a:rPr>
              <a:t>Additional-hours charge</a:t>
            </a:r>
            <a:endParaRPr b="0" i="0" spc="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If the FC-triggering job ran over the voucher's hours.</a:t>
            </a:r>
            <a:endParaRPr b="0" i="0" spc="0" sz="1050" u="none" cap="none" strike="noStrike">
              <a:solidFill>
                <a:schemeClr val="dk1"/>
              </a:solidFill>
              <a:latin typeface="Calibri"/>
              <a:ea typeface="Calibri"/>
              <a:cs typeface="Calibri"/>
              <a:sym typeface="Calibri"/>
            </a:endParaRPr>
          </a:p>
        </p:txBody>
      </p:sp>
      <p:sp>
        <p:nvSpPr>
          <p:cNvPr id="643" name="Google Shape;643;p28"/>
          <p:cNvSpPr/>
          <p:nvPr/>
        </p:nvSpPr>
        <p:spPr>
          <a:xfrm>
            <a:off x="411480" y="361188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644" name="Google Shape;644;p28"/>
          <p:cNvPicPr preferRelativeResize="0"/>
          <p:nvPr/>
        </p:nvPicPr>
        <p:blipFill rotWithShape="1">
          <a:blip r:embed="rId5">
            <a:alphaModFix/>
          </a:blip>
          <a:srcRect b="0" l="0" r="0" t="0"/>
          <a:stretch/>
        </p:blipFill>
        <p:spPr>
          <a:xfrm>
            <a:off x="566928" y="3721608"/>
            <a:ext cx="164592" cy="164592"/>
          </a:xfrm>
          <a:prstGeom prst="rect">
            <a:avLst/>
          </a:prstGeom>
          <a:noFill/>
          <a:ln>
            <a:noFill/>
          </a:ln>
        </p:spPr>
      </p:pic>
      <p:sp>
        <p:nvSpPr>
          <p:cNvPr id="645" name="Google Shape;645;p28"/>
          <p:cNvSpPr txBox="1"/>
          <p:nvPr/>
        </p:nvSpPr>
        <p:spPr>
          <a:xfrm>
            <a:off x="822960" y="371246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Internal note:  </a:t>
            </a:r>
            <a:r>
              <a:rPr b="0" i="0" lang="en-US" spc="0" sz="1000" u="none" cap="none" strike="noStrike">
                <a:solidFill>
                  <a:srgbClr val="1D1D1F"/>
                </a:solidFill>
                <a:latin typeface="Arial"/>
                <a:ea typeface="Arial"/>
                <a:cs typeface="Arial"/>
                <a:sym typeface="Arial"/>
              </a:rPr>
              <a:t>record the customer's LTNR. Context only, not a limit.</a:t>
            </a:r>
            <a:endParaRPr b="0" i="0" spc="0" sz="1000" u="none" cap="none" strike="noStrike">
              <a:solidFill>
                <a:schemeClr val="dk1"/>
              </a:solidFill>
              <a:latin typeface="Calibri"/>
              <a:ea typeface="Calibri"/>
              <a:cs typeface="Calibri"/>
              <a:sym typeface="Calibri"/>
            </a:endParaRPr>
          </a:p>
        </p:txBody>
      </p:sp>
      <p:sp>
        <p:nvSpPr>
          <p:cNvPr id="646" name="Google Shape;646;p28"/>
          <p:cNvSpPr/>
          <p:nvPr/>
        </p:nvSpPr>
        <p:spPr>
          <a:xfrm>
            <a:off x="411480" y="4087368"/>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647" name="Google Shape;647;p28"/>
          <p:cNvPicPr preferRelativeResize="0"/>
          <p:nvPr/>
        </p:nvPicPr>
        <p:blipFill rotWithShape="1">
          <a:blip r:embed="rId6">
            <a:alphaModFix/>
          </a:blip>
          <a:srcRect b="0" l="0" r="0" t="0"/>
          <a:stretch/>
        </p:blipFill>
        <p:spPr>
          <a:xfrm>
            <a:off x="566928" y="4197096"/>
            <a:ext cx="164592" cy="164592"/>
          </a:xfrm>
          <a:prstGeom prst="rect">
            <a:avLst/>
          </a:prstGeom>
          <a:noFill/>
          <a:ln>
            <a:noFill/>
          </a:ln>
        </p:spPr>
      </p:pic>
      <p:sp>
        <p:nvSpPr>
          <p:cNvPr id="648" name="Google Shape;648;p28"/>
          <p:cNvSpPr txBox="1"/>
          <p:nvPr/>
        </p:nvSpPr>
        <p:spPr>
          <a:xfrm>
            <a:off x="822960" y="4187952"/>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Always from the original ETF:  </a:t>
            </a:r>
            <a:r>
              <a:rPr b="0" i="0" lang="en-US" spc="0" sz="1000" u="none" cap="none" strike="noStrike">
                <a:solidFill>
                  <a:srgbClr val="1D1D1F"/>
                </a:solidFill>
                <a:latin typeface="Arial"/>
                <a:ea typeface="Arial"/>
                <a:cs typeface="Arial"/>
                <a:sym typeface="Arial"/>
              </a:rPr>
              <a:t>never an already-discounted amount. Check for an existing reduction.</a:t>
            </a:r>
            <a:endParaRPr b="0" i="0" spc="0" sz="1000" u="none" cap="none" strike="noStrike">
              <a:solidFill>
                <a:schemeClr val="dk1"/>
              </a:solidFill>
              <a:latin typeface="Calibri"/>
              <a:ea typeface="Calibri"/>
              <a:cs typeface="Calibri"/>
              <a:sym typeface="Calibri"/>
            </a:endParaRPr>
          </a:p>
        </p:txBody>
      </p:sp>
      <p:sp>
        <p:nvSpPr>
          <p:cNvPr id="649" name="Google Shape;649;p2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2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OFFER LOGIC  ·  KNOWLEDGE CHECK</a:t>
            </a:r>
            <a:endParaRPr b="0" i="0" spc="0" sz="800" u="none" cap="none" strike="noStrike">
              <a:solidFill>
                <a:schemeClr val="dk1"/>
              </a:solidFill>
              <a:latin typeface="Calibri"/>
              <a:ea typeface="Calibri"/>
              <a:cs typeface="Calibri"/>
              <a:sym typeface="Calibri"/>
            </a:endParaRPr>
          </a:p>
        </p:txBody>
      </p:sp>
      <p:sp>
        <p:nvSpPr>
          <p:cNvPr id="656" name="Google Shape;656;p2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See What You’ve Got!</a:t>
            </a:r>
            <a:endParaRPr b="0" i="0" spc="0" sz="2400" u="none" cap="none" strike="noStrike">
              <a:solidFill>
                <a:schemeClr val="dk1"/>
              </a:solidFill>
              <a:latin typeface="Calibri"/>
              <a:ea typeface="Calibri"/>
              <a:cs typeface="Calibri"/>
              <a:sym typeface="Calibri"/>
            </a:endParaRPr>
          </a:p>
        </p:txBody>
      </p:sp>
      <p:sp>
        <p:nvSpPr>
          <p:cNvPr id="657" name="Google Shape;657;p29"/>
          <p:cNvSpPr/>
          <p:nvPr/>
        </p:nvSpPr>
        <p:spPr>
          <a:xfrm>
            <a:off x="411480" y="1280160"/>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8" name="Google Shape;658;p29"/>
          <p:cNvSpPr/>
          <p:nvPr/>
        </p:nvSpPr>
        <p:spPr>
          <a:xfrm>
            <a:off x="548640" y="153619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9" name="Google Shape;659;p29"/>
          <p:cNvSpPr txBox="1"/>
          <p:nvPr/>
        </p:nvSpPr>
        <p:spPr>
          <a:xfrm>
            <a:off x="548640" y="153619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660" name="Google Shape;660;p29"/>
          <p:cNvSpPr txBox="1"/>
          <p:nvPr/>
        </p:nvSpPr>
        <p:spPr>
          <a:xfrm>
            <a:off x="960120" y="1280160"/>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A customer complains about a poor cleaning but hasn't mentioned cancelling. Can you offer a voucher?</a:t>
            </a:r>
            <a:endParaRPr b="0" i="0" spc="0" sz="1000" u="none" cap="none" strike="noStrike">
              <a:solidFill>
                <a:schemeClr val="dk1"/>
              </a:solidFill>
              <a:latin typeface="Calibri"/>
              <a:ea typeface="Calibri"/>
              <a:cs typeface="Calibri"/>
              <a:sym typeface="Calibri"/>
            </a:endParaRPr>
          </a:p>
        </p:txBody>
      </p:sp>
      <p:sp>
        <p:nvSpPr>
          <p:cNvPr id="661" name="Google Shape;661;p29"/>
          <p:cNvSpPr/>
          <p:nvPr/>
        </p:nvSpPr>
        <p:spPr>
          <a:xfrm>
            <a:off x="5120640" y="1280160"/>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2" name="Google Shape;662;p29"/>
          <p:cNvSpPr txBox="1"/>
          <p:nvPr/>
        </p:nvSpPr>
        <p:spPr>
          <a:xfrm>
            <a:off x="5257800" y="1280160"/>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Yes. You don't need cancellation intent if an offer fixes the problem.</a:t>
            </a:r>
            <a:endParaRPr b="0" i="0" spc="0" sz="900" u="none" cap="none" strike="noStrike">
              <a:solidFill>
                <a:schemeClr val="dk1"/>
              </a:solidFill>
              <a:latin typeface="Calibri"/>
              <a:ea typeface="Calibri"/>
              <a:cs typeface="Calibri"/>
              <a:sym typeface="Calibri"/>
            </a:endParaRPr>
          </a:p>
        </p:txBody>
      </p:sp>
      <p:sp>
        <p:nvSpPr>
          <p:cNvPr id="663" name="Google Shape;663;p29"/>
          <p:cNvSpPr/>
          <p:nvPr/>
        </p:nvSpPr>
        <p:spPr>
          <a:xfrm>
            <a:off x="411480" y="2139696"/>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4" name="Google Shape;664;p29"/>
          <p:cNvSpPr/>
          <p:nvPr/>
        </p:nvSpPr>
        <p:spPr>
          <a:xfrm>
            <a:off x="548640" y="23957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5" name="Google Shape;665;p29"/>
          <p:cNvSpPr txBox="1"/>
          <p:nvPr/>
        </p:nvSpPr>
        <p:spPr>
          <a:xfrm>
            <a:off x="548640" y="23957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666" name="Google Shape;666;p29"/>
          <p:cNvSpPr txBox="1"/>
          <p:nvPr/>
        </p:nvSpPr>
        <p:spPr>
          <a:xfrm>
            <a:off x="960120" y="2139696"/>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Customer is on $49 (a $10 reduction) and now qualifies for $15. New fee?</a:t>
            </a:r>
            <a:endParaRPr b="0" i="0" spc="0" sz="1000" u="none" cap="none" strike="noStrike">
              <a:solidFill>
                <a:schemeClr val="dk1"/>
              </a:solidFill>
              <a:latin typeface="Calibri"/>
              <a:ea typeface="Calibri"/>
              <a:cs typeface="Calibri"/>
              <a:sym typeface="Calibri"/>
            </a:endParaRPr>
          </a:p>
        </p:txBody>
      </p:sp>
      <p:sp>
        <p:nvSpPr>
          <p:cNvPr id="667" name="Google Shape;667;p29"/>
          <p:cNvSpPr/>
          <p:nvPr/>
        </p:nvSpPr>
        <p:spPr>
          <a:xfrm>
            <a:off x="5120640" y="2139696"/>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8" name="Google Shape;668;p29"/>
          <p:cNvSpPr txBox="1"/>
          <p:nvPr/>
        </p:nvSpPr>
        <p:spPr>
          <a:xfrm>
            <a:off x="5257800" y="2139696"/>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$44: always from $59. $59 − $15.</a:t>
            </a:r>
            <a:endParaRPr b="0" i="0" spc="0" sz="900" u="none" cap="none" strike="noStrike">
              <a:solidFill>
                <a:schemeClr val="dk1"/>
              </a:solidFill>
              <a:latin typeface="Calibri"/>
              <a:ea typeface="Calibri"/>
              <a:cs typeface="Calibri"/>
              <a:sym typeface="Calibri"/>
            </a:endParaRPr>
          </a:p>
        </p:txBody>
      </p:sp>
      <p:sp>
        <p:nvSpPr>
          <p:cNvPr id="669" name="Google Shape;669;p29"/>
          <p:cNvSpPr/>
          <p:nvPr/>
        </p:nvSpPr>
        <p:spPr>
          <a:xfrm>
            <a:off x="411480" y="2999232"/>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0" name="Google Shape;670;p29"/>
          <p:cNvSpPr/>
          <p:nvPr/>
        </p:nvSpPr>
        <p:spPr>
          <a:xfrm>
            <a:off x="548640" y="325526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1" name="Google Shape;671;p29"/>
          <p:cNvSpPr txBox="1"/>
          <p:nvPr/>
        </p:nvSpPr>
        <p:spPr>
          <a:xfrm>
            <a:off x="548640" y="32552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672" name="Google Shape;672;p29"/>
          <p:cNvSpPr txBox="1"/>
          <p:nvPr/>
        </p:nvSpPr>
        <p:spPr>
          <a:xfrm>
            <a:off x="960120" y="2999232"/>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FC was cancelled, but RC ran and charged a Lockout fee. What kind of offer is the refund?</a:t>
            </a:r>
            <a:endParaRPr b="0" i="0" spc="0" sz="1000" u="none" cap="none" strike="noStrike">
              <a:solidFill>
                <a:schemeClr val="dk1"/>
              </a:solidFill>
              <a:latin typeface="Calibri"/>
              <a:ea typeface="Calibri"/>
              <a:cs typeface="Calibri"/>
              <a:sym typeface="Calibri"/>
            </a:endParaRPr>
          </a:p>
        </p:txBody>
      </p:sp>
      <p:sp>
        <p:nvSpPr>
          <p:cNvPr id="673" name="Google Shape;673;p29"/>
          <p:cNvSpPr/>
          <p:nvPr/>
        </p:nvSpPr>
        <p:spPr>
          <a:xfrm>
            <a:off x="5120640" y="2999232"/>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4" name="Google Shape;674;p29"/>
          <p:cNvSpPr txBox="1"/>
          <p:nvPr/>
        </p:nvSpPr>
        <p:spPr>
          <a:xfrm>
            <a:off x="5257800" y="2999232"/>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Make-Right: we caused it, whatever their status.</a:t>
            </a:r>
            <a:endParaRPr b="0" i="0" spc="0" sz="900" u="none" cap="none" strike="noStrike">
              <a:solidFill>
                <a:schemeClr val="dk1"/>
              </a:solidFill>
              <a:latin typeface="Calibri"/>
              <a:ea typeface="Calibri"/>
              <a:cs typeface="Calibri"/>
              <a:sym typeface="Calibri"/>
            </a:endParaRPr>
          </a:p>
        </p:txBody>
      </p:sp>
      <p:sp>
        <p:nvSpPr>
          <p:cNvPr id="675" name="Google Shape;675;p29"/>
          <p:cNvSpPr/>
          <p:nvPr/>
        </p:nvSpPr>
        <p:spPr>
          <a:xfrm>
            <a:off x="411480" y="3858768"/>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6" name="Google Shape;676;p29"/>
          <p:cNvSpPr/>
          <p:nvPr/>
        </p:nvSpPr>
        <p:spPr>
          <a:xfrm>
            <a:off x="548640" y="41148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77" name="Google Shape;677;p29"/>
          <p:cNvSpPr txBox="1"/>
          <p:nvPr/>
        </p:nvSpPr>
        <p:spPr>
          <a:xfrm>
            <a:off x="548640" y="41148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4</a:t>
            </a:r>
            <a:endParaRPr b="0" i="0" spc="0" sz="900" u="none" cap="none" strike="noStrike">
              <a:solidFill>
                <a:schemeClr val="dk1"/>
              </a:solidFill>
              <a:latin typeface="Calibri"/>
              <a:ea typeface="Calibri"/>
              <a:cs typeface="Calibri"/>
              <a:sym typeface="Calibri"/>
            </a:endParaRPr>
          </a:p>
        </p:txBody>
      </p:sp>
      <p:sp>
        <p:nvSpPr>
          <p:cNvPr id="678" name="Google Shape;678;p29"/>
          <p:cNvSpPr txBox="1"/>
          <p:nvPr/>
        </p:nvSpPr>
        <p:spPr>
          <a:xfrm>
            <a:off x="960120" y="3858768"/>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Cancelling only because they were unaware of FC. Offer an ETF reduction?</a:t>
            </a:r>
            <a:endParaRPr b="0" i="0" spc="0" sz="1000" u="none" cap="none" strike="noStrike">
              <a:solidFill>
                <a:schemeClr val="dk1"/>
              </a:solidFill>
              <a:latin typeface="Calibri"/>
              <a:ea typeface="Calibri"/>
              <a:cs typeface="Calibri"/>
              <a:sym typeface="Calibri"/>
            </a:endParaRPr>
          </a:p>
        </p:txBody>
      </p:sp>
      <p:sp>
        <p:nvSpPr>
          <p:cNvPr id="679" name="Google Shape;679;p29"/>
          <p:cNvSpPr/>
          <p:nvPr/>
        </p:nvSpPr>
        <p:spPr>
          <a:xfrm>
            <a:off x="5120640" y="3858768"/>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0" name="Google Shape;680;p29"/>
          <p:cNvSpPr txBox="1"/>
          <p:nvPr/>
        </p:nvSpPr>
        <p:spPr>
          <a:xfrm>
            <a:off x="5257800" y="3858768"/>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Not proactively. Wait for a hint they'd pay a reduced ETF.</a:t>
            </a:r>
            <a:endParaRPr b="0" i="0" spc="0" sz="900" u="none" cap="none" strike="noStrike">
              <a:solidFill>
                <a:schemeClr val="dk1"/>
              </a:solidFill>
              <a:latin typeface="Calibri"/>
              <a:ea typeface="Calibri"/>
              <a:cs typeface="Calibri"/>
              <a:sym typeface="Calibri"/>
            </a:endParaRPr>
          </a:p>
        </p:txBody>
      </p:sp>
      <p:sp>
        <p:nvSpPr>
          <p:cNvPr id="681" name="Google Shape;681;p2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2"/>
                                        </p:tgtEl>
                                        <p:attrNameLst>
                                          <p:attrName>style.visibility</p:attrName>
                                        </p:attrNameLst>
                                      </p:cBhvr>
                                      <p:to>
                                        <p:strVal val="visible"/>
                                      </p:to>
                                    </p:set>
                                    <p:animEffect filter="fade" transition="in">
                                      <p:cBhvr>
                                        <p:cTn dur="600"/>
                                        <p:tgtEl>
                                          <p:spTgt spid="6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8"/>
                                        </p:tgtEl>
                                        <p:attrNameLst>
                                          <p:attrName>style.visibility</p:attrName>
                                        </p:attrNameLst>
                                      </p:cBhvr>
                                      <p:to>
                                        <p:strVal val="visible"/>
                                      </p:to>
                                    </p:set>
                                    <p:animEffect filter="fade" transition="in">
                                      <p:cBhvr>
                                        <p:cTn dur="600"/>
                                        <p:tgtEl>
                                          <p:spTgt spid="6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4"/>
                                        </p:tgtEl>
                                        <p:attrNameLst>
                                          <p:attrName>style.visibility</p:attrName>
                                        </p:attrNameLst>
                                      </p:cBhvr>
                                      <p:to>
                                        <p:strVal val="visible"/>
                                      </p:to>
                                    </p:set>
                                    <p:animEffect filter="fade" transition="in">
                                      <p:cBhvr>
                                        <p:cTn dur="600"/>
                                        <p:tgtEl>
                                          <p:spTgt spid="6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0"/>
                                        </p:tgtEl>
                                        <p:attrNameLst>
                                          <p:attrName>style.visibility</p:attrName>
                                        </p:attrNameLst>
                                      </p:cBhvr>
                                      <p:to>
                                        <p:strVal val="visible"/>
                                      </p:to>
                                    </p:set>
                                    <p:animEffect filter="fade" transition="in">
                                      <p:cBhvr>
                                        <p:cTn dur="600"/>
                                        <p:tgtEl>
                                          <p:spTgt spid="6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3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OFFER LOGIC  ·  PRACTICE</a:t>
            </a:r>
            <a:endParaRPr b="0" i="0" spc="0" sz="800" u="none" cap="none" strike="noStrike">
              <a:solidFill>
                <a:schemeClr val="dk1"/>
              </a:solidFill>
              <a:latin typeface="Calibri"/>
              <a:ea typeface="Calibri"/>
              <a:cs typeface="Calibri"/>
              <a:sym typeface="Calibri"/>
            </a:endParaRPr>
          </a:p>
        </p:txBody>
      </p:sp>
      <p:sp>
        <p:nvSpPr>
          <p:cNvPr id="688" name="Google Shape;688;p3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investigate together!</a:t>
            </a:r>
            <a:endParaRPr b="0" i="0" spc="0" sz="2400" u="none" cap="none" strike="noStrike">
              <a:solidFill>
                <a:schemeClr val="dk1"/>
              </a:solidFill>
              <a:latin typeface="Calibri"/>
              <a:ea typeface="Calibri"/>
              <a:cs typeface="Calibri"/>
              <a:sym typeface="Calibri"/>
            </a:endParaRPr>
          </a:p>
        </p:txBody>
      </p:sp>
      <p:sp>
        <p:nvSpPr>
          <p:cNvPr id="689" name="Google Shape;689;p3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Review the live ticket and investigate.</a:t>
            </a:r>
            <a:endParaRPr b="0" i="0" spc="0" sz="1200" u="none" cap="none" strike="noStrike">
              <a:solidFill>
                <a:schemeClr val="dk1"/>
              </a:solidFill>
              <a:latin typeface="Calibri"/>
              <a:ea typeface="Calibri"/>
              <a:cs typeface="Calibri"/>
              <a:sym typeface="Calibri"/>
            </a:endParaRPr>
          </a:p>
        </p:txBody>
      </p:sp>
      <p:sp>
        <p:nvSpPr>
          <p:cNvPr id="690" name="Google Shape;690;p30"/>
          <p:cNvSpPr/>
          <p:nvPr/>
        </p:nvSpPr>
        <p:spPr>
          <a:xfrm>
            <a:off x="411480" y="1298448"/>
            <a:ext cx="3383280" cy="2633472"/>
          </a:xfrm>
          <a:prstGeom prst="roundRect">
            <a:avLst>
              <a:gd fmla="val 27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1" name="Google Shape;691;p30"/>
          <p:cNvSpPr/>
          <p:nvPr/>
        </p:nvSpPr>
        <p:spPr>
          <a:xfrm>
            <a:off x="594360" y="148132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692" name="Google Shape;692;p30"/>
          <p:cNvPicPr preferRelativeResize="0"/>
          <p:nvPr/>
        </p:nvPicPr>
        <p:blipFill rotWithShape="1">
          <a:blip r:embed="rId3">
            <a:alphaModFix/>
          </a:blip>
          <a:srcRect b="0" l="0" r="0" t="0"/>
          <a:stretch/>
        </p:blipFill>
        <p:spPr>
          <a:xfrm>
            <a:off x="686532" y="1573500"/>
            <a:ext cx="199705" cy="199705"/>
          </a:xfrm>
          <a:prstGeom prst="rect">
            <a:avLst/>
          </a:prstGeom>
          <a:noFill/>
          <a:ln>
            <a:noFill/>
          </a:ln>
        </p:spPr>
      </p:pic>
      <p:sp>
        <p:nvSpPr>
          <p:cNvPr id="693" name="Google Shape;693;p30"/>
          <p:cNvSpPr txBox="1"/>
          <p:nvPr/>
        </p:nvSpPr>
        <p:spPr>
          <a:xfrm>
            <a:off x="594360" y="2011680"/>
            <a:ext cx="301752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Live ticket</a:t>
            </a:r>
            <a:endParaRPr b="0" i="0" spc="0" sz="1300" u="none" cap="none" strike="noStrike">
              <a:solidFill>
                <a:schemeClr val="dk1"/>
              </a:solidFill>
              <a:latin typeface="Calibri"/>
              <a:ea typeface="Calibri"/>
              <a:cs typeface="Calibri"/>
              <a:sym typeface="Calibri"/>
            </a:endParaRPr>
          </a:p>
        </p:txBody>
      </p:sp>
      <p:sp>
        <p:nvSpPr>
          <p:cNvPr id="694" name="Google Shape;694;p30"/>
          <p:cNvSpPr txBox="1"/>
          <p:nvPr/>
        </p:nvSpPr>
        <p:spPr>
          <a:xfrm>
            <a:off x="594360" y="2350008"/>
            <a:ext cx="301752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050"/>
              <a:buFont typeface="Arial"/>
              <a:buNone/>
            </a:pPr>
            <a:r>
              <a:rPr b="0" i="0" lang="en-US" spc="0" sz="1050" u="none" cap="none" strike="noStrike">
                <a:solidFill>
                  <a:srgbClr val="6E6E73"/>
                </a:solidFill>
                <a:latin typeface="Arial"/>
                <a:ea typeface="Arial"/>
                <a:cs typeface="Arial"/>
                <a:sym typeface="Arial"/>
              </a:rPr>
              <a:t>Your trainer will provide a live ticket. Review it and investigate before you decide anything.</a:t>
            </a:r>
            <a:endParaRPr b="0" i="0" spc="0" sz="1050" u="none" cap="none" strike="noStrike">
              <a:solidFill>
                <a:schemeClr val="dk1"/>
              </a:solidFill>
              <a:latin typeface="Calibri"/>
              <a:ea typeface="Calibri"/>
              <a:cs typeface="Calibri"/>
              <a:sym typeface="Calibri"/>
            </a:endParaRPr>
          </a:p>
        </p:txBody>
      </p:sp>
      <p:sp>
        <p:nvSpPr>
          <p:cNvPr id="695" name="Google Shape;695;p30"/>
          <p:cNvSpPr/>
          <p:nvPr/>
        </p:nvSpPr>
        <p:spPr>
          <a:xfrm>
            <a:off x="594360" y="3401568"/>
            <a:ext cx="1371600" cy="329184"/>
          </a:xfrm>
          <a:prstGeom prst="roundRect">
            <a:avLst>
              <a:gd fmla="val 22222" name="adj"/>
            </a:avLst>
          </a:prstGeom>
          <a:solidFill>
            <a:srgbClr val="FFF3D6"/>
          </a:solidFill>
          <a:ln cap="flat" cmpd="sng" w="9525">
            <a:solidFill>
              <a:srgbClr val="FFF3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950"/>
              <a:buFont typeface="Arial"/>
              <a:buNone/>
            </a:pPr>
            <a:r>
              <a:rPr b="1" i="0" lang="en-US" spc="0" sz="950" u="none" cap="none" strike="noStrike">
                <a:solidFill>
                  <a:srgbClr val="9A6410"/>
                </a:solidFill>
                <a:latin typeface="Arial"/>
                <a:ea typeface="Arial"/>
                <a:cs typeface="Arial"/>
                <a:sym typeface="Arial"/>
              </a:rPr>
              <a:t>Trainer provides</a:t>
            </a:r>
            <a:endParaRPr b="0" i="0" spc="0" sz="950" u="none" cap="none" strike="noStrike">
              <a:solidFill>
                <a:schemeClr val="dk1"/>
              </a:solidFill>
              <a:latin typeface="Calibri"/>
              <a:ea typeface="Calibri"/>
              <a:cs typeface="Calibri"/>
              <a:sym typeface="Calibri"/>
            </a:endParaRPr>
          </a:p>
        </p:txBody>
      </p:sp>
      <p:sp>
        <p:nvSpPr>
          <p:cNvPr id="696" name="Google Shape;696;p30"/>
          <p:cNvSpPr/>
          <p:nvPr/>
        </p:nvSpPr>
        <p:spPr>
          <a:xfrm>
            <a:off x="3931920" y="1298448"/>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7" name="Google Shape;697;p30"/>
          <p:cNvSpPr/>
          <p:nvPr/>
        </p:nvSpPr>
        <p:spPr>
          <a:xfrm>
            <a:off x="4114800"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8" name="Google Shape;698;p30"/>
          <p:cNvSpPr txBox="1"/>
          <p:nvPr/>
        </p:nvSpPr>
        <p:spPr>
          <a:xfrm>
            <a:off x="4114800"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699" name="Google Shape;699;p30"/>
          <p:cNvSpPr txBox="1"/>
          <p:nvPr/>
        </p:nvSpPr>
        <p:spPr>
          <a:xfrm>
            <a:off x="4572000" y="1426464"/>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What problem is the customer solving?</a:t>
            </a:r>
            <a:endParaRPr b="0" i="0" spc="0" sz="1250" u="none" cap="none" strike="noStrike">
              <a:solidFill>
                <a:schemeClr val="dk1"/>
              </a:solidFill>
              <a:latin typeface="Calibri"/>
              <a:ea typeface="Calibri"/>
              <a:cs typeface="Calibri"/>
              <a:sym typeface="Calibri"/>
            </a:endParaRPr>
          </a:p>
        </p:txBody>
      </p:sp>
      <p:sp>
        <p:nvSpPr>
          <p:cNvPr id="700" name="Google Shape;700;p30"/>
          <p:cNvSpPr txBox="1"/>
          <p:nvPr/>
        </p:nvSpPr>
        <p:spPr>
          <a:xfrm>
            <a:off x="4572000" y="1737360"/>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And which kind of offer fits: Retention, Exit or Make-Right?</a:t>
            </a:r>
            <a:endParaRPr b="0" i="0" spc="0" sz="1000" u="none" cap="none" strike="noStrike">
              <a:solidFill>
                <a:schemeClr val="dk1"/>
              </a:solidFill>
              <a:latin typeface="Calibri"/>
              <a:ea typeface="Calibri"/>
              <a:cs typeface="Calibri"/>
              <a:sym typeface="Calibri"/>
            </a:endParaRPr>
          </a:p>
        </p:txBody>
      </p:sp>
      <p:sp>
        <p:nvSpPr>
          <p:cNvPr id="701" name="Google Shape;701;p30"/>
          <p:cNvSpPr/>
          <p:nvPr/>
        </p:nvSpPr>
        <p:spPr>
          <a:xfrm>
            <a:off x="3931920" y="2221992"/>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2" name="Google Shape;702;p30"/>
          <p:cNvSpPr/>
          <p:nvPr/>
        </p:nvSpPr>
        <p:spPr>
          <a:xfrm>
            <a:off x="4114800" y="247802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3" name="Google Shape;703;p30"/>
          <p:cNvSpPr txBox="1"/>
          <p:nvPr/>
        </p:nvSpPr>
        <p:spPr>
          <a:xfrm>
            <a:off x="4114800" y="247802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704" name="Google Shape;704;p30"/>
          <p:cNvSpPr txBox="1"/>
          <p:nvPr/>
        </p:nvSpPr>
        <p:spPr>
          <a:xfrm>
            <a:off x="4572000" y="2350008"/>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What actions are you going to take?</a:t>
            </a:r>
            <a:endParaRPr b="0" i="0" spc="0" sz="1250" u="none" cap="none" strike="noStrike">
              <a:solidFill>
                <a:schemeClr val="dk1"/>
              </a:solidFill>
              <a:latin typeface="Calibri"/>
              <a:ea typeface="Calibri"/>
              <a:cs typeface="Calibri"/>
              <a:sym typeface="Calibri"/>
            </a:endParaRPr>
          </a:p>
        </p:txBody>
      </p:sp>
      <p:sp>
        <p:nvSpPr>
          <p:cNvPr id="705" name="Google Shape;705;p30"/>
          <p:cNvSpPr txBox="1"/>
          <p:nvPr/>
        </p:nvSpPr>
        <p:spPr>
          <a:xfrm>
            <a:off x="4572000" y="2660904"/>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Which offer, how much, and any existing offer?</a:t>
            </a:r>
            <a:endParaRPr b="0" i="0" spc="0" sz="1000" u="none" cap="none" strike="noStrike">
              <a:solidFill>
                <a:schemeClr val="dk1"/>
              </a:solidFill>
              <a:latin typeface="Calibri"/>
              <a:ea typeface="Calibri"/>
              <a:cs typeface="Calibri"/>
              <a:sym typeface="Calibri"/>
            </a:endParaRPr>
          </a:p>
        </p:txBody>
      </p:sp>
      <p:sp>
        <p:nvSpPr>
          <p:cNvPr id="706" name="Google Shape;706;p30"/>
          <p:cNvSpPr/>
          <p:nvPr/>
        </p:nvSpPr>
        <p:spPr>
          <a:xfrm>
            <a:off x="3931920" y="3145536"/>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7" name="Google Shape;707;p30"/>
          <p:cNvSpPr/>
          <p:nvPr/>
        </p:nvSpPr>
        <p:spPr>
          <a:xfrm>
            <a:off x="4114800" y="340156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8" name="Google Shape;708;p30"/>
          <p:cNvSpPr txBox="1"/>
          <p:nvPr/>
        </p:nvSpPr>
        <p:spPr>
          <a:xfrm>
            <a:off x="4114800" y="340156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709" name="Google Shape;709;p30"/>
          <p:cNvSpPr txBox="1"/>
          <p:nvPr/>
        </p:nvSpPr>
        <p:spPr>
          <a:xfrm>
            <a:off x="4572000" y="3273552"/>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5-min writing challenge</a:t>
            </a:r>
            <a:endParaRPr b="0" i="0" spc="0" sz="1250" u="none" cap="none" strike="noStrike">
              <a:solidFill>
                <a:schemeClr val="dk1"/>
              </a:solidFill>
              <a:latin typeface="Calibri"/>
              <a:ea typeface="Calibri"/>
              <a:cs typeface="Calibri"/>
              <a:sym typeface="Calibri"/>
            </a:endParaRPr>
          </a:p>
        </p:txBody>
      </p:sp>
      <p:sp>
        <p:nvSpPr>
          <p:cNvPr id="710" name="Google Shape;710;p30"/>
          <p:cNvSpPr txBox="1"/>
          <p:nvPr/>
        </p:nvSpPr>
        <p:spPr>
          <a:xfrm>
            <a:off x="4572000" y="3584448"/>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Create your comms for the customer.</a:t>
            </a:r>
            <a:endParaRPr b="0" i="0" spc="0" sz="1000" u="none" cap="none" strike="noStrike">
              <a:solidFill>
                <a:schemeClr val="dk1"/>
              </a:solidFill>
              <a:latin typeface="Calibri"/>
              <a:ea typeface="Calibri"/>
              <a:cs typeface="Calibri"/>
              <a:sym typeface="Calibri"/>
            </a:endParaRPr>
          </a:p>
        </p:txBody>
      </p:sp>
      <p:sp>
        <p:nvSpPr>
          <p:cNvPr id="711" name="Google Shape;711;p30"/>
          <p:cNvSpPr/>
          <p:nvPr/>
        </p:nvSpPr>
        <p:spPr>
          <a:xfrm>
            <a:off x="411480" y="4069080"/>
            <a:ext cx="8321040" cy="502920"/>
          </a:xfrm>
          <a:prstGeom prst="roundRect">
            <a:avLst>
              <a:gd fmla="val 14545"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712" name="Google Shape;712;p30"/>
          <p:cNvPicPr preferRelativeResize="0"/>
          <p:nvPr/>
        </p:nvPicPr>
        <p:blipFill rotWithShape="1">
          <a:blip r:embed="rId4">
            <a:alphaModFix/>
          </a:blip>
          <a:srcRect b="0" l="0" r="0" t="0"/>
          <a:stretch/>
        </p:blipFill>
        <p:spPr>
          <a:xfrm>
            <a:off x="640080" y="4192524"/>
            <a:ext cx="256032" cy="256032"/>
          </a:xfrm>
          <a:prstGeom prst="rect">
            <a:avLst/>
          </a:prstGeom>
          <a:noFill/>
          <a:ln>
            <a:noFill/>
          </a:ln>
        </p:spPr>
      </p:pic>
      <p:sp>
        <p:nvSpPr>
          <p:cNvPr id="713" name="Google Shape;713;p30"/>
          <p:cNvSpPr txBox="1"/>
          <p:nvPr/>
        </p:nvSpPr>
        <p:spPr>
          <a:xfrm>
            <a:off x="1051560" y="4069080"/>
            <a:ext cx="74980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Play"/>
              <a:buNone/>
            </a:pPr>
            <a:r>
              <a:rPr b="1" i="0" lang="en-US" spc="0" sz="1400" u="none" cap="none" strike="noStrike">
                <a:solidFill>
                  <a:srgbClr val="FFFFFF"/>
                </a:solidFill>
                <a:latin typeface="Play"/>
                <a:ea typeface="Play"/>
                <a:cs typeface="Play"/>
                <a:sym typeface="Play"/>
              </a:rPr>
              <a:t>Questions?  </a:t>
            </a:r>
            <a:r>
              <a:rPr b="0" i="0" lang="en-US" spc="0" sz="1100" u="none" cap="none" strike="noStrike">
                <a:solidFill>
                  <a:srgbClr val="FFFFFF"/>
                </a:solidFill>
                <a:latin typeface="Arial"/>
                <a:ea typeface="Arial"/>
                <a:cs typeface="Arial"/>
                <a:sym typeface="Arial"/>
              </a:rPr>
              <a:t>Open the floor before we move to the next topic.</a:t>
            </a:r>
            <a:endParaRPr b="0" i="0" spc="0" sz="1400" u="none" cap="none" strike="noStrike">
              <a:solidFill>
                <a:schemeClr val="dk1"/>
              </a:solidFill>
              <a:latin typeface="Calibri"/>
              <a:ea typeface="Calibri"/>
              <a:cs typeface="Calibri"/>
              <a:sym typeface="Calibri"/>
            </a:endParaRPr>
          </a:p>
        </p:txBody>
      </p:sp>
      <p:sp>
        <p:nvSpPr>
          <p:cNvPr id="714" name="Google Shape;714;p3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31"/>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TOPIC 03 OF 07</a:t>
            </a:r>
            <a:endParaRPr b="0" i="0" spc="0" sz="800" u="none" cap="none" strike="noStrike">
              <a:solidFill>
                <a:schemeClr val="dk1"/>
              </a:solidFill>
              <a:latin typeface="Calibri"/>
              <a:ea typeface="Calibri"/>
              <a:cs typeface="Calibri"/>
              <a:sym typeface="Calibri"/>
            </a:endParaRPr>
          </a:p>
        </p:txBody>
      </p:sp>
      <p:sp>
        <p:nvSpPr>
          <p:cNvPr id="721" name="Google Shape;721;p31"/>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US" spc="0" sz="2800" u="none" cap="none" strike="noStrike">
                <a:solidFill>
                  <a:srgbClr val="1D1D1F"/>
                </a:solidFill>
                <a:latin typeface="Play"/>
                <a:ea typeface="Play"/>
                <a:cs typeface="Play"/>
                <a:sym typeface="Play"/>
              </a:rPr>
              <a:t>Cancellation Intent in C/CP Comms</a:t>
            </a:r>
            <a:endParaRPr b="0" i="0" spc="0" sz="2800" u="none" cap="none" strike="noStrike">
              <a:solidFill>
                <a:schemeClr val="dk1"/>
              </a:solidFill>
              <a:latin typeface="Calibri"/>
              <a:ea typeface="Calibri"/>
              <a:cs typeface="Calibri"/>
              <a:sym typeface="Calibri"/>
            </a:endParaRPr>
          </a:p>
        </p:txBody>
      </p:sp>
      <p:sp>
        <p:nvSpPr>
          <p:cNvPr id="722" name="Google Shape;722;p31"/>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US" spc="0" sz="1150" u="none" cap="none" strike="noStrike">
                <a:solidFill>
                  <a:srgbClr val="6E6E73"/>
                </a:solidFill>
                <a:latin typeface="Arial"/>
                <a:ea typeface="Arial"/>
                <a:cs typeface="Arial"/>
                <a:sym typeface="Arial"/>
              </a:rPr>
              <a:t>The customer told their CP they want to cancel. They haven't told us yet.</a:t>
            </a:r>
            <a:endParaRPr b="0" i="0" spc="0" sz="1150" u="none" cap="none" strike="noStrike">
              <a:solidFill>
                <a:schemeClr val="dk1"/>
              </a:solidFill>
              <a:latin typeface="Calibri"/>
              <a:ea typeface="Calibri"/>
              <a:cs typeface="Calibri"/>
              <a:sym typeface="Calibri"/>
            </a:endParaRPr>
          </a:p>
        </p:txBody>
      </p:sp>
      <p:sp>
        <p:nvSpPr>
          <p:cNvPr id="723" name="Google Shape;723;p31"/>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YOU'LL LEARN</a:t>
            </a:r>
            <a:endParaRPr b="0" i="0" spc="0" sz="800" u="none" cap="none" strike="noStrike">
              <a:solidFill>
                <a:schemeClr val="dk1"/>
              </a:solidFill>
              <a:latin typeface="Calibri"/>
              <a:ea typeface="Calibri"/>
              <a:cs typeface="Calibri"/>
              <a:sym typeface="Calibri"/>
            </a:endParaRPr>
          </a:p>
        </p:txBody>
      </p:sp>
      <p:sp>
        <p:nvSpPr>
          <p:cNvPr id="724" name="Google Shape;724;p31"/>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725" name="Google Shape;725;p31"/>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726" name="Google Shape;726;p31"/>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Why we reach out first</a:t>
            </a:r>
            <a:endParaRPr b="0" i="0" spc="0" sz="1050" u="none" cap="none" strike="noStrike">
              <a:solidFill>
                <a:schemeClr val="dk1"/>
              </a:solidFill>
              <a:latin typeface="Calibri"/>
              <a:ea typeface="Calibri"/>
              <a:cs typeface="Calibri"/>
              <a:sym typeface="Calibri"/>
            </a:endParaRPr>
          </a:p>
        </p:txBody>
      </p:sp>
      <p:sp>
        <p:nvSpPr>
          <p:cNvPr id="727" name="Google Shape;727;p31"/>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728" name="Google Shape;728;p31"/>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729" name="Google Shape;729;p31"/>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Opening the conversation the right way</a:t>
            </a:r>
            <a:endParaRPr b="0" i="0" spc="0" sz="1050" u="none" cap="none" strike="noStrike">
              <a:solidFill>
                <a:schemeClr val="dk1"/>
              </a:solidFill>
              <a:latin typeface="Calibri"/>
              <a:ea typeface="Calibri"/>
              <a:cs typeface="Calibri"/>
              <a:sym typeface="Calibri"/>
            </a:endParaRPr>
          </a:p>
        </p:txBody>
      </p:sp>
      <p:sp>
        <p:nvSpPr>
          <p:cNvPr id="730" name="Google Shape;730;p31"/>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731" name="Google Shape;731;p31"/>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732" name="Google Shape;732;p31"/>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The 5-step process</a:t>
            </a:r>
            <a:endParaRPr b="0" i="0" spc="0" sz="1050" u="none" cap="none" strike="noStrike">
              <a:solidFill>
                <a:schemeClr val="dk1"/>
              </a:solidFill>
              <a:latin typeface="Calibri"/>
              <a:ea typeface="Calibri"/>
              <a:cs typeface="Calibri"/>
              <a:sym typeface="Calibri"/>
            </a:endParaRPr>
          </a:p>
        </p:txBody>
      </p:sp>
      <p:sp>
        <p:nvSpPr>
          <p:cNvPr id="733" name="Google Shape;733;p31"/>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734" name="Google Shape;734;p31"/>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735" name="Google Shape;735;p31"/>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Routing to the right playbook</a:t>
            </a:r>
            <a:endParaRPr b="0" i="0" spc="0" sz="1050" u="none" cap="none" strike="noStrike">
              <a:solidFill>
                <a:schemeClr val="dk1"/>
              </a:solidFill>
              <a:latin typeface="Calibri"/>
              <a:ea typeface="Calibri"/>
              <a:cs typeface="Calibri"/>
              <a:sym typeface="Calibri"/>
            </a:endParaRPr>
          </a:p>
        </p:txBody>
      </p:sp>
      <p:sp>
        <p:nvSpPr>
          <p:cNvPr id="736" name="Google Shape;736;p31"/>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7" name="Google Shape;737;p31"/>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7/ill30.png" id="738" name="Google Shape;738;p31"/>
          <p:cNvPicPr preferRelativeResize="0"/>
          <p:nvPr/>
        </p:nvPicPr>
        <p:blipFill rotWithShape="1">
          <a:blip r:embed="rId4">
            <a:alphaModFix/>
          </a:blip>
          <a:srcRect b="0" l="0" r="0" t="0"/>
          <a:stretch/>
        </p:blipFill>
        <p:spPr>
          <a:xfrm>
            <a:off x="5577187" y="1517904"/>
            <a:ext cx="2854234" cy="2103120"/>
          </a:xfrm>
          <a:prstGeom prst="rect">
            <a:avLst/>
          </a:prstGeom>
          <a:noFill/>
          <a:ln>
            <a:noFill/>
          </a:ln>
        </p:spPr>
      </p:pic>
      <p:sp>
        <p:nvSpPr>
          <p:cNvPr id="739" name="Google Shape;739;p31"/>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0" name="Google Shape;740;p31"/>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1" name="Google Shape;741;p31"/>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2" name="Google Shape;742;p31"/>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3" name="Google Shape;743;p31"/>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4" name="Google Shape;744;p31"/>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45" name="Google Shape;745;p3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3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CANCELLATION INTENT</a:t>
            </a:r>
            <a:endParaRPr b="0" i="0" spc="0" sz="800" u="none" cap="none" strike="noStrike">
              <a:solidFill>
                <a:schemeClr val="dk1"/>
              </a:solidFill>
              <a:latin typeface="Calibri"/>
              <a:ea typeface="Calibri"/>
              <a:cs typeface="Calibri"/>
              <a:sym typeface="Calibri"/>
            </a:endParaRPr>
          </a:p>
        </p:txBody>
      </p:sp>
      <p:sp>
        <p:nvSpPr>
          <p:cNvPr id="752" name="Google Shape;752;p3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What is this?</a:t>
            </a:r>
            <a:endParaRPr b="0" i="0" spc="0" sz="2400" u="none" cap="none" strike="noStrike">
              <a:solidFill>
                <a:schemeClr val="dk1"/>
              </a:solidFill>
              <a:latin typeface="Calibri"/>
              <a:ea typeface="Calibri"/>
              <a:cs typeface="Calibri"/>
              <a:sym typeface="Calibri"/>
            </a:endParaRPr>
          </a:p>
        </p:txBody>
      </p:sp>
      <p:sp>
        <p:nvSpPr>
          <p:cNvPr id="753" name="Google Shape;753;p3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We spotted it in C/CP messages while investigating something else.</a:t>
            </a:r>
            <a:endParaRPr b="0" i="0" spc="0" sz="1200" u="none" cap="none" strike="noStrike">
              <a:solidFill>
                <a:schemeClr val="dk1"/>
              </a:solidFill>
              <a:latin typeface="Calibri"/>
              <a:ea typeface="Calibri"/>
              <a:cs typeface="Calibri"/>
              <a:sym typeface="Calibri"/>
            </a:endParaRPr>
          </a:p>
        </p:txBody>
      </p:sp>
      <p:sp>
        <p:nvSpPr>
          <p:cNvPr id="754" name="Google Shape;754;p32"/>
          <p:cNvSpPr/>
          <p:nvPr/>
        </p:nvSpPr>
        <p:spPr>
          <a:xfrm>
            <a:off x="411480" y="1508760"/>
            <a:ext cx="2514600" cy="640080"/>
          </a:xfrm>
          <a:prstGeom prst="roundRect">
            <a:avLst>
              <a:gd fmla="val 11429" name="adj"/>
            </a:avLst>
          </a:prstGeom>
          <a:solidFill>
            <a:srgbClr val="FFFFFF"/>
          </a:solidFill>
          <a:ln cap="flat" cmpd="sng" w="12700">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5" name="Google Shape;755;p32"/>
          <p:cNvSpPr txBox="1"/>
          <p:nvPr/>
        </p:nvSpPr>
        <p:spPr>
          <a:xfrm>
            <a:off x="411480" y="1508760"/>
            <a:ext cx="251460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C tells the CP: "I want to cancel"</a:t>
            </a:r>
            <a:endParaRPr b="0" i="0" spc="0" sz="1000" u="none" cap="none" strike="noStrike">
              <a:solidFill>
                <a:schemeClr val="dk1"/>
              </a:solidFill>
              <a:latin typeface="Calibri"/>
              <a:ea typeface="Calibri"/>
              <a:cs typeface="Calibri"/>
              <a:sym typeface="Calibri"/>
            </a:endParaRPr>
          </a:p>
        </p:txBody>
      </p:sp>
      <p:cxnSp>
        <p:nvCxnSpPr>
          <p:cNvPr id="756" name="Google Shape;756;p32"/>
          <p:cNvCxnSpPr/>
          <p:nvPr/>
        </p:nvCxnSpPr>
        <p:spPr>
          <a:xfrm>
            <a:off x="2926080" y="1828800"/>
            <a:ext cx="388620" cy="0"/>
          </a:xfrm>
          <a:prstGeom prst="straightConnector1">
            <a:avLst/>
          </a:prstGeom>
          <a:noFill/>
          <a:ln cap="flat" cmpd="sng" w="12700">
            <a:solidFill>
              <a:srgbClr val="6E6E73"/>
            </a:solidFill>
            <a:prstDash val="solid"/>
            <a:round/>
            <a:headEnd len="sm" w="sm" type="none"/>
            <a:tailEnd len="med" w="med" type="triangle"/>
          </a:ln>
        </p:spPr>
      </p:cxnSp>
      <p:sp>
        <p:nvSpPr>
          <p:cNvPr id="757" name="Google Shape;757;p32"/>
          <p:cNvSpPr/>
          <p:nvPr/>
        </p:nvSpPr>
        <p:spPr>
          <a:xfrm>
            <a:off x="3314700" y="1508760"/>
            <a:ext cx="2514600" cy="640080"/>
          </a:xfrm>
          <a:prstGeom prst="roundRect">
            <a:avLst>
              <a:gd fmla="val 11429" name="adj"/>
            </a:avLst>
          </a:prstGeom>
          <a:solidFill>
            <a:srgbClr val="FFF3D6"/>
          </a:solidFill>
          <a:ln cap="flat" cmpd="sng" w="12700">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8" name="Google Shape;758;p32"/>
          <p:cNvSpPr txBox="1"/>
          <p:nvPr/>
        </p:nvSpPr>
        <p:spPr>
          <a:xfrm>
            <a:off x="3314700" y="1508760"/>
            <a:ext cx="251460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1000"/>
              <a:buFont typeface="Play"/>
              <a:buNone/>
            </a:pPr>
            <a:r>
              <a:rPr b="1" i="0" lang="en-US" spc="0" sz="1000" u="none" cap="none" strike="noStrike">
                <a:solidFill>
                  <a:srgbClr val="9A6410"/>
                </a:solidFill>
                <a:latin typeface="Play"/>
                <a:ea typeface="Play"/>
                <a:cs typeface="Play"/>
                <a:sym typeface="Play"/>
              </a:rPr>
              <a:t>CP can cancel a job, not FC</a:t>
            </a:r>
            <a:endParaRPr b="0" i="0" spc="0" sz="1000" u="none" cap="none" strike="noStrike">
              <a:solidFill>
                <a:schemeClr val="dk1"/>
              </a:solidFill>
              <a:latin typeface="Calibri"/>
              <a:ea typeface="Calibri"/>
              <a:cs typeface="Calibri"/>
              <a:sym typeface="Calibri"/>
            </a:endParaRPr>
          </a:p>
        </p:txBody>
      </p:sp>
      <p:cxnSp>
        <p:nvCxnSpPr>
          <p:cNvPr id="759" name="Google Shape;759;p32"/>
          <p:cNvCxnSpPr/>
          <p:nvPr/>
        </p:nvCxnSpPr>
        <p:spPr>
          <a:xfrm>
            <a:off x="5829300" y="1828800"/>
            <a:ext cx="388620" cy="0"/>
          </a:xfrm>
          <a:prstGeom prst="straightConnector1">
            <a:avLst/>
          </a:prstGeom>
          <a:noFill/>
          <a:ln cap="flat" cmpd="sng" w="12700">
            <a:solidFill>
              <a:srgbClr val="6E6E73"/>
            </a:solidFill>
            <a:prstDash val="solid"/>
            <a:round/>
            <a:headEnd len="sm" w="sm" type="none"/>
            <a:tailEnd len="med" w="med" type="triangle"/>
          </a:ln>
        </p:spPr>
      </p:cxnSp>
      <p:sp>
        <p:nvSpPr>
          <p:cNvPr id="760" name="Google Shape;760;p32"/>
          <p:cNvSpPr/>
          <p:nvPr/>
        </p:nvSpPr>
        <p:spPr>
          <a:xfrm>
            <a:off x="6217920" y="1508760"/>
            <a:ext cx="2514600" cy="640080"/>
          </a:xfrm>
          <a:prstGeom prst="roundRect">
            <a:avLst>
              <a:gd fmla="val 11429" name="adj"/>
            </a:avLst>
          </a:prstGeom>
          <a:solidFill>
            <a:srgbClr val="1D1D1F"/>
          </a:solidFill>
          <a:ln cap="flat" cmpd="sng" w="12700">
            <a:solidFill>
              <a:srgbClr val="1D1D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61" name="Google Shape;761;p32"/>
          <p:cNvSpPr txBox="1"/>
          <p:nvPr/>
        </p:nvSpPr>
        <p:spPr>
          <a:xfrm>
            <a:off x="6217920" y="1508760"/>
            <a:ext cx="251460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Play"/>
              <a:buNone/>
            </a:pPr>
            <a:r>
              <a:rPr b="1" i="0" lang="en-US" spc="0" sz="1000" u="none" cap="none" strike="noStrike">
                <a:solidFill>
                  <a:srgbClr val="FFFFFF"/>
                </a:solidFill>
                <a:latin typeface="Play"/>
                <a:ea typeface="Play"/>
                <a:cs typeface="Play"/>
                <a:sym typeface="Play"/>
              </a:rPr>
              <a:t>The MF hits again. Frustration</a:t>
            </a:r>
            <a:endParaRPr b="0" i="0" spc="0" sz="1000" u="none" cap="none" strike="noStrike">
              <a:solidFill>
                <a:schemeClr val="dk1"/>
              </a:solidFill>
              <a:latin typeface="Calibri"/>
              <a:ea typeface="Calibri"/>
              <a:cs typeface="Calibri"/>
              <a:sym typeface="Calibri"/>
            </a:endParaRPr>
          </a:p>
        </p:txBody>
      </p:sp>
      <p:sp>
        <p:nvSpPr>
          <p:cNvPr id="762" name="Google Shape;762;p32"/>
          <p:cNvSpPr txBox="1"/>
          <p:nvPr/>
        </p:nvSpPr>
        <p:spPr>
          <a:xfrm>
            <a:off x="411480" y="1298448"/>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IF WE DO NOTHING</a:t>
            </a:r>
            <a:endParaRPr b="0" i="0" spc="0" sz="800" u="none" cap="none" strike="noStrike">
              <a:solidFill>
                <a:schemeClr val="dk1"/>
              </a:solidFill>
              <a:latin typeface="Calibri"/>
              <a:ea typeface="Calibri"/>
              <a:cs typeface="Calibri"/>
              <a:sym typeface="Calibri"/>
            </a:endParaRPr>
          </a:p>
        </p:txBody>
      </p:sp>
      <p:sp>
        <p:nvSpPr>
          <p:cNvPr id="763" name="Google Shape;763;p32"/>
          <p:cNvSpPr/>
          <p:nvPr/>
        </p:nvSpPr>
        <p:spPr>
          <a:xfrm>
            <a:off x="411480" y="2377440"/>
            <a:ext cx="8321040" cy="868680"/>
          </a:xfrm>
          <a:prstGeom prst="roundRect">
            <a:avLst>
              <a:gd fmla="val 8421"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764" name="Google Shape;764;p32"/>
          <p:cNvPicPr preferRelativeResize="0"/>
          <p:nvPr/>
        </p:nvPicPr>
        <p:blipFill rotWithShape="1">
          <a:blip r:embed="rId3">
            <a:alphaModFix/>
          </a:blip>
          <a:srcRect b="0" l="0" r="0" t="0"/>
          <a:stretch/>
        </p:blipFill>
        <p:spPr>
          <a:xfrm>
            <a:off x="685800" y="2633472"/>
            <a:ext cx="347472" cy="347472"/>
          </a:xfrm>
          <a:prstGeom prst="rect">
            <a:avLst/>
          </a:prstGeom>
          <a:noFill/>
          <a:ln>
            <a:noFill/>
          </a:ln>
        </p:spPr>
      </p:pic>
      <p:sp>
        <p:nvSpPr>
          <p:cNvPr id="765" name="Google Shape;765;p32"/>
          <p:cNvSpPr txBox="1"/>
          <p:nvPr/>
        </p:nvSpPr>
        <p:spPr>
          <a:xfrm>
            <a:off x="1234440" y="2377440"/>
            <a:ext cx="7315200" cy="868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Play"/>
              <a:buNone/>
            </a:pPr>
            <a:r>
              <a:rPr b="1" i="0" lang="en-US" spc="0" sz="1500" u="none" cap="none" strike="noStrike">
                <a:solidFill>
                  <a:srgbClr val="FFFFFF"/>
                </a:solidFill>
                <a:latin typeface="Play"/>
                <a:ea typeface="Play"/>
                <a:cs typeface="Play"/>
                <a:sym typeface="Play"/>
              </a:rPr>
              <a:t>So we reach out first</a:t>
            </a:r>
            <a:endParaRPr b="0" i="0" spc="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050"/>
              <a:buFont typeface="Arial"/>
              <a:buNone/>
            </a:pPr>
            <a:r>
              <a:rPr b="0" i="0" lang="en-US" spc="0" sz="1050" u="none" cap="none" strike="noStrike">
                <a:solidFill>
                  <a:srgbClr val="FFFFFF"/>
                </a:solidFill>
                <a:latin typeface="Arial"/>
                <a:ea typeface="Arial"/>
                <a:cs typeface="Arial"/>
                <a:sym typeface="Arial"/>
              </a:rPr>
              <a:t>It reads as attentive, not intrusive, if we open it the right way.</a:t>
            </a:r>
            <a:endParaRPr b="0" i="0" spc="0" sz="1500" u="none" cap="none" strike="noStrike">
              <a:solidFill>
                <a:schemeClr val="dk1"/>
              </a:solidFill>
              <a:latin typeface="Calibri"/>
              <a:ea typeface="Calibri"/>
              <a:cs typeface="Calibri"/>
              <a:sym typeface="Calibri"/>
            </a:endParaRPr>
          </a:p>
        </p:txBody>
      </p:sp>
      <p:sp>
        <p:nvSpPr>
          <p:cNvPr id="766" name="Google Shape;766;p32"/>
          <p:cNvSpPr/>
          <p:nvPr/>
        </p:nvSpPr>
        <p:spPr>
          <a:xfrm>
            <a:off x="411480" y="34290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767" name="Google Shape;767;p32"/>
          <p:cNvPicPr preferRelativeResize="0"/>
          <p:nvPr/>
        </p:nvPicPr>
        <p:blipFill rotWithShape="1">
          <a:blip r:embed="rId4">
            <a:alphaModFix/>
          </a:blip>
          <a:srcRect b="0" l="0" r="0" t="0"/>
          <a:stretch/>
        </p:blipFill>
        <p:spPr>
          <a:xfrm>
            <a:off x="566928" y="3538728"/>
            <a:ext cx="164592" cy="164592"/>
          </a:xfrm>
          <a:prstGeom prst="rect">
            <a:avLst/>
          </a:prstGeom>
          <a:noFill/>
          <a:ln>
            <a:noFill/>
          </a:ln>
        </p:spPr>
      </p:pic>
      <p:sp>
        <p:nvSpPr>
          <p:cNvPr id="768" name="Google Shape;768;p32"/>
          <p:cNvSpPr txBox="1"/>
          <p:nvPr/>
        </p:nvSpPr>
        <p:spPr>
          <a:xfrm>
            <a:off x="822960" y="35295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Customer contacted us about cancelling?  </a:t>
            </a:r>
            <a:r>
              <a:rPr b="0" i="0" lang="en-US" spc="0" sz="1000" u="none" cap="none" strike="noStrike">
                <a:solidFill>
                  <a:srgbClr val="1D1D1F"/>
                </a:solidFill>
                <a:latin typeface="Arial"/>
                <a:ea typeface="Arial"/>
                <a:cs typeface="Arial"/>
                <a:sym typeface="Arial"/>
              </a:rPr>
              <a:t>that's a normal retention conversation. Go to the Retention Playbook.</a:t>
            </a:r>
            <a:endParaRPr b="0" i="0" spc="0" sz="1000" u="none" cap="none" strike="noStrike">
              <a:solidFill>
                <a:schemeClr val="dk1"/>
              </a:solidFill>
              <a:latin typeface="Calibri"/>
              <a:ea typeface="Calibri"/>
              <a:cs typeface="Calibri"/>
              <a:sym typeface="Calibri"/>
            </a:endParaRPr>
          </a:p>
        </p:txBody>
      </p:sp>
      <p:sp>
        <p:nvSpPr>
          <p:cNvPr id="769" name="Google Shape;769;p3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33"/>
          <p:cNvSpPr txBox="1"/>
          <p:nvPr/>
        </p:nvSpPr>
        <p:spPr>
          <a:xfrm>
            <a:off x="438912" y="274320"/>
            <a:ext cx="82296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CANCELLATION INTENT</a:t>
            </a:r>
            <a:endParaRPr b="0" i="0" spc="0" sz="800" u="none" cap="none" strike="noStrike">
              <a:solidFill>
                <a:schemeClr val="dk1"/>
              </a:solidFill>
              <a:latin typeface="Calibri"/>
              <a:ea typeface="Calibri"/>
              <a:cs typeface="Calibri"/>
              <a:sym typeface="Calibri"/>
            </a:endParaRPr>
          </a:p>
        </p:txBody>
      </p:sp>
      <p:sp>
        <p:nvSpPr>
          <p:cNvPr id="776" name="Google Shape;776;p3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Get the opening right</a:t>
            </a:r>
            <a:endParaRPr b="0" i="0" spc="0" sz="2400" u="none" cap="none" strike="noStrike">
              <a:solidFill>
                <a:schemeClr val="dk1"/>
              </a:solidFill>
              <a:latin typeface="Calibri"/>
              <a:ea typeface="Calibri"/>
              <a:cs typeface="Calibri"/>
              <a:sym typeface="Calibri"/>
            </a:endParaRPr>
          </a:p>
        </p:txBody>
      </p:sp>
      <p:sp>
        <p:nvSpPr>
          <p:cNvPr id="777" name="Google Shape;777;p33"/>
          <p:cNvSpPr txBox="1"/>
          <p:nvPr/>
        </p:nvSpPr>
        <p:spPr>
          <a:xfrm>
            <a:off x="438912" y="960120"/>
            <a:ext cx="82296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Know something, not everything.</a:t>
            </a:r>
            <a:endParaRPr b="0" i="0" spc="0" sz="1200" u="none" cap="none" strike="noStrike">
              <a:solidFill>
                <a:schemeClr val="dk1"/>
              </a:solidFill>
              <a:latin typeface="Calibri"/>
              <a:ea typeface="Calibri"/>
              <a:cs typeface="Calibri"/>
              <a:sym typeface="Calibri"/>
            </a:endParaRPr>
          </a:p>
        </p:txBody>
      </p:sp>
      <p:sp>
        <p:nvSpPr>
          <p:cNvPr id="778" name="Google Shape;778;p33"/>
          <p:cNvSpPr/>
          <p:nvPr/>
        </p:nvSpPr>
        <p:spPr>
          <a:xfrm>
            <a:off x="411480" y="1325880"/>
            <a:ext cx="2682300" cy="2011800"/>
          </a:xfrm>
          <a:prstGeom prst="roundRect">
            <a:avLst>
              <a:gd fmla="val 3636"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9" name="Google Shape;779;p33"/>
          <p:cNvSpPr/>
          <p:nvPr/>
        </p:nvSpPr>
        <p:spPr>
          <a:xfrm>
            <a:off x="594360" y="1508760"/>
            <a:ext cx="384000" cy="3840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780" name="Google Shape;780;p33"/>
          <p:cNvPicPr preferRelativeResize="0"/>
          <p:nvPr/>
        </p:nvPicPr>
        <p:blipFill rotWithShape="1">
          <a:blip r:embed="rId3">
            <a:alphaModFix/>
          </a:blip>
          <a:srcRect b="0" l="0" r="0" t="0"/>
          <a:stretch/>
        </p:blipFill>
        <p:spPr>
          <a:xfrm>
            <a:off x="686532" y="1600932"/>
            <a:ext cx="199705" cy="199705"/>
          </a:xfrm>
          <a:prstGeom prst="rect">
            <a:avLst/>
          </a:prstGeom>
          <a:noFill/>
          <a:ln>
            <a:noFill/>
          </a:ln>
        </p:spPr>
      </p:pic>
      <p:sp>
        <p:nvSpPr>
          <p:cNvPr id="781" name="Google Shape;781;p33"/>
          <p:cNvSpPr txBox="1"/>
          <p:nvPr/>
        </p:nvSpPr>
        <p:spPr>
          <a:xfrm>
            <a:off x="2590800" y="1481328"/>
            <a:ext cx="365700" cy="411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3261E"/>
              </a:buClr>
              <a:buSzPts val="2000"/>
              <a:buFont typeface="Play"/>
              <a:buNone/>
            </a:pPr>
            <a:r>
              <a:rPr b="1" i="0" lang="en-US" spc="0" sz="2000" u="none" cap="none" strike="noStrike">
                <a:solidFill>
                  <a:srgbClr val="B3261E"/>
                </a:solidFill>
                <a:latin typeface="Play"/>
                <a:ea typeface="Play"/>
                <a:cs typeface="Play"/>
                <a:sym typeface="Play"/>
              </a:rPr>
              <a:t>✕</a:t>
            </a:r>
            <a:endParaRPr b="0" i="0" spc="0" sz="2000" u="none" cap="none" strike="noStrike">
              <a:solidFill>
                <a:schemeClr val="dk1"/>
              </a:solidFill>
              <a:latin typeface="Calibri"/>
              <a:ea typeface="Calibri"/>
              <a:cs typeface="Calibri"/>
              <a:sym typeface="Calibri"/>
            </a:endParaRPr>
          </a:p>
        </p:txBody>
      </p:sp>
      <p:sp>
        <p:nvSpPr>
          <p:cNvPr id="782" name="Google Shape;782;p33"/>
          <p:cNvSpPr txBox="1"/>
          <p:nvPr/>
        </p:nvSpPr>
        <p:spPr>
          <a:xfrm>
            <a:off x="594360" y="2011680"/>
            <a:ext cx="2316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Pretend you don't know</a:t>
            </a:r>
            <a:endParaRPr b="0" i="0" spc="0" sz="1200" u="none" cap="none" strike="noStrike">
              <a:solidFill>
                <a:schemeClr val="dk1"/>
              </a:solidFill>
              <a:latin typeface="Calibri"/>
              <a:ea typeface="Calibri"/>
              <a:cs typeface="Calibri"/>
              <a:sym typeface="Calibri"/>
            </a:endParaRPr>
          </a:p>
        </p:txBody>
      </p:sp>
      <p:sp>
        <p:nvSpPr>
          <p:cNvPr id="783" name="Google Shape;783;p33"/>
          <p:cNvSpPr txBox="1"/>
          <p:nvPr/>
        </p:nvSpPr>
        <p:spPr>
          <a:xfrm>
            <a:off x="594360" y="2514600"/>
            <a:ext cx="2316600" cy="73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Looks like we ignored a clear signal, and delays what they want.</a:t>
            </a:r>
            <a:endParaRPr b="0" i="0" spc="0" sz="950" u="none" cap="none" strike="noStrike">
              <a:solidFill>
                <a:schemeClr val="dk1"/>
              </a:solidFill>
              <a:latin typeface="Calibri"/>
              <a:ea typeface="Calibri"/>
              <a:cs typeface="Calibri"/>
              <a:sym typeface="Calibri"/>
            </a:endParaRPr>
          </a:p>
        </p:txBody>
      </p:sp>
      <p:sp>
        <p:nvSpPr>
          <p:cNvPr id="784" name="Google Shape;784;p33"/>
          <p:cNvSpPr/>
          <p:nvPr/>
        </p:nvSpPr>
        <p:spPr>
          <a:xfrm>
            <a:off x="3230880" y="1325880"/>
            <a:ext cx="2682300" cy="2011800"/>
          </a:xfrm>
          <a:prstGeom prst="roundRect">
            <a:avLst>
              <a:gd fmla="val 3636"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85" name="Google Shape;785;p33"/>
          <p:cNvSpPr/>
          <p:nvPr/>
        </p:nvSpPr>
        <p:spPr>
          <a:xfrm>
            <a:off x="3413760" y="1508760"/>
            <a:ext cx="384000" cy="3840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786" name="Google Shape;786;p33"/>
          <p:cNvPicPr preferRelativeResize="0"/>
          <p:nvPr/>
        </p:nvPicPr>
        <p:blipFill rotWithShape="1">
          <a:blip r:embed="rId4">
            <a:alphaModFix/>
          </a:blip>
          <a:srcRect b="0" l="0" r="0" t="0"/>
          <a:stretch/>
        </p:blipFill>
        <p:spPr>
          <a:xfrm>
            <a:off x="3505932" y="1600932"/>
            <a:ext cx="199705" cy="199705"/>
          </a:xfrm>
          <a:prstGeom prst="rect">
            <a:avLst/>
          </a:prstGeom>
          <a:noFill/>
          <a:ln>
            <a:noFill/>
          </a:ln>
        </p:spPr>
      </p:pic>
      <p:sp>
        <p:nvSpPr>
          <p:cNvPr id="787" name="Google Shape;787;p33"/>
          <p:cNvSpPr txBox="1"/>
          <p:nvPr/>
        </p:nvSpPr>
        <p:spPr>
          <a:xfrm>
            <a:off x="5410200" y="1481328"/>
            <a:ext cx="365700" cy="411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B7A6F"/>
              </a:buClr>
              <a:buSzPts val="2000"/>
              <a:buFont typeface="Play"/>
              <a:buNone/>
            </a:pPr>
            <a:r>
              <a:rPr b="1" i="0" lang="en-US" spc="0" sz="2000" u="none" cap="none" strike="noStrike">
                <a:solidFill>
                  <a:srgbClr val="0B7A6F"/>
                </a:solidFill>
                <a:latin typeface="Play"/>
                <a:ea typeface="Play"/>
                <a:cs typeface="Play"/>
                <a:sym typeface="Play"/>
              </a:rPr>
              <a:t>✓</a:t>
            </a:r>
            <a:endParaRPr b="0" i="0" spc="0" sz="2000" u="none" cap="none" strike="noStrike">
              <a:solidFill>
                <a:schemeClr val="dk1"/>
              </a:solidFill>
              <a:latin typeface="Calibri"/>
              <a:ea typeface="Calibri"/>
              <a:cs typeface="Calibri"/>
              <a:sym typeface="Calibri"/>
            </a:endParaRPr>
          </a:p>
        </p:txBody>
      </p:sp>
      <p:sp>
        <p:nvSpPr>
          <p:cNvPr id="788" name="Google Shape;788;p33"/>
          <p:cNvSpPr txBox="1"/>
          <p:nvPr/>
        </p:nvSpPr>
        <p:spPr>
          <a:xfrm>
            <a:off x="3413760" y="2011680"/>
            <a:ext cx="2316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Know something, not everything</a:t>
            </a:r>
            <a:endParaRPr b="0" i="0" spc="0" sz="1200" u="none" cap="none" strike="noStrike">
              <a:solidFill>
                <a:schemeClr val="dk1"/>
              </a:solidFill>
              <a:latin typeface="Calibri"/>
              <a:ea typeface="Calibri"/>
              <a:cs typeface="Calibri"/>
              <a:sym typeface="Calibri"/>
            </a:endParaRPr>
          </a:p>
        </p:txBody>
      </p:sp>
      <p:sp>
        <p:nvSpPr>
          <p:cNvPr id="789" name="Google Shape;789;p33"/>
          <p:cNvSpPr txBox="1"/>
          <p:nvPr/>
        </p:nvSpPr>
        <p:spPr>
          <a:xfrm>
            <a:off x="3413760" y="2514600"/>
            <a:ext cx="2316600" cy="73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No awkward pretending, and they still tell it in their own words.</a:t>
            </a:r>
            <a:endParaRPr b="0" i="0" spc="0" sz="950" u="none" cap="none" strike="noStrike">
              <a:solidFill>
                <a:schemeClr val="dk1"/>
              </a:solidFill>
              <a:latin typeface="Calibri"/>
              <a:ea typeface="Calibri"/>
              <a:cs typeface="Calibri"/>
              <a:sym typeface="Calibri"/>
            </a:endParaRPr>
          </a:p>
        </p:txBody>
      </p:sp>
      <p:sp>
        <p:nvSpPr>
          <p:cNvPr id="790" name="Google Shape;790;p33"/>
          <p:cNvSpPr/>
          <p:nvPr/>
        </p:nvSpPr>
        <p:spPr>
          <a:xfrm>
            <a:off x="6050280" y="1325880"/>
            <a:ext cx="2682300" cy="2011800"/>
          </a:xfrm>
          <a:prstGeom prst="roundRect">
            <a:avLst>
              <a:gd fmla="val 3636"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91" name="Google Shape;791;p33"/>
          <p:cNvSpPr/>
          <p:nvPr/>
        </p:nvSpPr>
        <p:spPr>
          <a:xfrm>
            <a:off x="6233160" y="1508760"/>
            <a:ext cx="384000" cy="3840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792" name="Google Shape;792;p33"/>
          <p:cNvPicPr preferRelativeResize="0"/>
          <p:nvPr/>
        </p:nvPicPr>
        <p:blipFill rotWithShape="1">
          <a:blip r:embed="rId5">
            <a:alphaModFix/>
          </a:blip>
          <a:srcRect b="0" l="0" r="0" t="0"/>
          <a:stretch/>
        </p:blipFill>
        <p:spPr>
          <a:xfrm>
            <a:off x="6325332" y="1600932"/>
            <a:ext cx="199705" cy="199705"/>
          </a:xfrm>
          <a:prstGeom prst="rect">
            <a:avLst/>
          </a:prstGeom>
          <a:noFill/>
          <a:ln>
            <a:noFill/>
          </a:ln>
        </p:spPr>
      </p:pic>
      <p:sp>
        <p:nvSpPr>
          <p:cNvPr id="793" name="Google Shape;793;p33"/>
          <p:cNvSpPr txBox="1"/>
          <p:nvPr/>
        </p:nvSpPr>
        <p:spPr>
          <a:xfrm>
            <a:off x="8229600" y="1481328"/>
            <a:ext cx="365700" cy="411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B3261E"/>
              </a:buClr>
              <a:buSzPts val="2000"/>
              <a:buFont typeface="Play"/>
              <a:buNone/>
            </a:pPr>
            <a:r>
              <a:rPr b="1" i="0" lang="en-US" spc="0" sz="2000" u="none" cap="none" strike="noStrike">
                <a:solidFill>
                  <a:srgbClr val="B3261E"/>
                </a:solidFill>
                <a:latin typeface="Play"/>
                <a:ea typeface="Play"/>
                <a:cs typeface="Play"/>
                <a:sym typeface="Play"/>
              </a:rPr>
              <a:t>✕</a:t>
            </a:r>
            <a:endParaRPr b="0" i="0" spc="0" sz="2000" u="none" cap="none" strike="noStrike">
              <a:solidFill>
                <a:schemeClr val="dk1"/>
              </a:solidFill>
              <a:latin typeface="Calibri"/>
              <a:ea typeface="Calibri"/>
              <a:cs typeface="Calibri"/>
              <a:sym typeface="Calibri"/>
            </a:endParaRPr>
          </a:p>
        </p:txBody>
      </p:sp>
      <p:sp>
        <p:nvSpPr>
          <p:cNvPr id="794" name="Google Shape;794;p33"/>
          <p:cNvSpPr txBox="1"/>
          <p:nvPr/>
        </p:nvSpPr>
        <p:spPr>
          <a:xfrm>
            <a:off x="6233160" y="2011680"/>
            <a:ext cx="2316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Recite everything they told the CP</a:t>
            </a:r>
            <a:endParaRPr b="0" i="0" spc="0" sz="1200" u="none" cap="none" strike="noStrike">
              <a:solidFill>
                <a:schemeClr val="dk1"/>
              </a:solidFill>
              <a:latin typeface="Calibri"/>
              <a:ea typeface="Calibri"/>
              <a:cs typeface="Calibri"/>
              <a:sym typeface="Calibri"/>
            </a:endParaRPr>
          </a:p>
        </p:txBody>
      </p:sp>
      <p:sp>
        <p:nvSpPr>
          <p:cNvPr id="795" name="Google Shape;795;p33"/>
          <p:cNvSpPr txBox="1"/>
          <p:nvPr/>
        </p:nvSpPr>
        <p:spPr>
          <a:xfrm>
            <a:off x="6233160" y="2514600"/>
            <a:ext cx="2316600" cy="73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Feels like we were reading over their shoulder.</a:t>
            </a:r>
            <a:endParaRPr b="0" i="0" spc="0" sz="950" u="none" cap="none" strike="noStrike">
              <a:solidFill>
                <a:schemeClr val="dk1"/>
              </a:solidFill>
              <a:latin typeface="Calibri"/>
              <a:ea typeface="Calibri"/>
              <a:cs typeface="Calibri"/>
              <a:sym typeface="Calibri"/>
            </a:endParaRPr>
          </a:p>
        </p:txBody>
      </p:sp>
      <p:sp>
        <p:nvSpPr>
          <p:cNvPr id="796" name="Google Shape;796;p33"/>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797" name="Google Shape;797;p33"/>
          <p:cNvSpPr/>
          <p:nvPr/>
        </p:nvSpPr>
        <p:spPr>
          <a:xfrm>
            <a:off x="411480" y="3520440"/>
            <a:ext cx="4023360" cy="411480"/>
          </a:xfrm>
          <a:prstGeom prst="roundRect">
            <a:avLst>
              <a:gd fmla="val 18000" name="adj"/>
            </a:avLst>
          </a:prstGeom>
          <a:solidFill>
            <a:srgbClr val="0B7A6F"/>
          </a:solidFill>
          <a:ln cap="flat" cmpd="sng" w="9525">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en-US" spc="0" sz="1050" u="none" cap="none" strike="noStrike">
                <a:solidFill>
                  <a:srgbClr val="FFFFFF"/>
                </a:solidFill>
                <a:latin typeface="Play"/>
                <a:ea typeface="Play"/>
                <a:cs typeface="Play"/>
                <a:sym typeface="Play"/>
              </a:rPr>
              <a:t>▶  See a sample: triggered ticket + CP’s message</a:t>
            </a:r>
            <a:endParaRPr b="0" i="0" spc="0" sz="1400" u="none" cap="none" strike="noStrike">
              <a:solidFill>
                <a:srgbClr val="000000"/>
              </a:solidFill>
              <a:latin typeface="Arial"/>
              <a:ea typeface="Arial"/>
              <a:cs typeface="Arial"/>
              <a:sym typeface="Arial"/>
            </a:endParaRPr>
          </a:p>
        </p:txBody>
      </p:sp>
      <p:sp>
        <p:nvSpPr>
          <p:cNvPr id="798" name="Google Shape;798;p33"/>
          <p:cNvSpPr txBox="1"/>
          <p:nvPr/>
        </p:nvSpPr>
        <p:spPr>
          <a:xfrm>
            <a:off x="4526280" y="3520440"/>
            <a:ext cx="4206240" cy="41148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en-US" spc="0" sz="900" u="none" cap="none" strike="noStrike">
                <a:solidFill>
                  <a:srgbClr val="6E6E73"/>
                </a:solidFill>
                <a:latin typeface="Play"/>
                <a:ea typeface="Play"/>
                <a:cs typeface="Play"/>
                <a:sym typeface="Play"/>
              </a:rPr>
              <a:t>Click once to show both, click again to close.</a:t>
            </a:r>
            <a:endParaRPr b="0" i="0" spc="0" sz="1400" u="none" cap="none" strike="noStrike">
              <a:solidFill>
                <a:srgbClr val="000000"/>
              </a:solidFill>
              <a:latin typeface="Arial"/>
              <a:ea typeface="Arial"/>
              <a:cs typeface="Arial"/>
              <a:sym typeface="Arial"/>
            </a:endParaRPr>
          </a:p>
        </p:txBody>
      </p:sp>
      <p:sp>
        <p:nvSpPr>
          <p:cNvPr id="799" name="Google Shape;799;p33"/>
          <p:cNvSpPr/>
          <p:nvPr/>
        </p:nvSpPr>
        <p:spPr>
          <a:xfrm>
            <a:off x="347472" y="1188720"/>
            <a:ext cx="8449056" cy="3584448"/>
          </a:xfrm>
          <a:prstGeom prst="roundRect">
            <a:avLst>
              <a:gd fmla="val 4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00" name="Google Shape;800;p33"/>
          <p:cNvSpPr txBox="1"/>
          <p:nvPr/>
        </p:nvSpPr>
        <p:spPr>
          <a:xfrm>
            <a:off x="640080" y="1298448"/>
            <a:ext cx="7863840"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pc="0" sz="1000" u="none" cap="none" strike="noStrike">
                <a:solidFill>
                  <a:srgbClr val="0B7A6F"/>
                </a:solidFill>
                <a:latin typeface="Play"/>
                <a:ea typeface="Play"/>
                <a:cs typeface="Play"/>
                <a:sym typeface="Play"/>
              </a:rPr>
              <a:t>1  </a:t>
            </a:r>
            <a:r>
              <a:rPr b="1" i="0" lang="en-US" spc="0" sz="1000" u="none" cap="none" strike="noStrike">
                <a:solidFill>
                  <a:srgbClr val="1D1D1F"/>
                </a:solidFill>
                <a:latin typeface="Play"/>
                <a:ea typeface="Play"/>
                <a:cs typeface="Play"/>
                <a:sym typeface="Play"/>
              </a:rPr>
              <a:t>Triggered ticket</a:t>
            </a:r>
            <a:r>
              <a:rPr b="0" i="0" lang="en-US" spc="0" sz="1000" u="none" cap="none" strike="noStrike">
                <a:solidFill>
                  <a:srgbClr val="6E6E73"/>
                </a:solidFill>
                <a:latin typeface="Play"/>
                <a:ea typeface="Play"/>
                <a:cs typeface="Play"/>
                <a:sym typeface="Play"/>
              </a:rPr>
              <a:t>  — what Care takes action on</a:t>
            </a:r>
            <a:endParaRPr b="0" i="0" spc="0" sz="1400" u="none" cap="none" strike="noStrike">
              <a:solidFill>
                <a:srgbClr val="000000"/>
              </a:solidFill>
              <a:latin typeface="Arial"/>
              <a:ea typeface="Arial"/>
              <a:cs typeface="Arial"/>
              <a:sym typeface="Arial"/>
            </a:endParaRPr>
          </a:p>
        </p:txBody>
      </p:sp>
      <p:pic>
        <p:nvPicPr>
          <p:cNvPr descr="ci_triggered_ticket.png" id="801" name="Google Shape;801;p33"/>
          <p:cNvPicPr preferRelativeResize="0"/>
          <p:nvPr/>
        </p:nvPicPr>
        <p:blipFill rotWithShape="1">
          <a:blip r:embed="rId6">
            <a:alphaModFix/>
          </a:blip>
          <a:srcRect b="0" l="0" r="0" t="0"/>
          <a:stretch/>
        </p:blipFill>
        <p:spPr>
          <a:xfrm>
            <a:off x="640080" y="1554480"/>
            <a:ext cx="4480560" cy="1589876"/>
          </a:xfrm>
          <a:prstGeom prst="rect">
            <a:avLst/>
          </a:prstGeom>
          <a:noFill/>
          <a:ln cap="flat" cmpd="sng" w="9525">
            <a:solidFill>
              <a:srgbClr val="DCE1E7"/>
            </a:solidFill>
            <a:prstDash val="solid"/>
            <a:round/>
            <a:headEnd len="sm" w="sm" type="none"/>
            <a:tailEnd len="sm" w="sm" type="none"/>
          </a:ln>
        </p:spPr>
      </p:pic>
      <p:sp>
        <p:nvSpPr>
          <p:cNvPr id="802" name="Google Shape;802;p33"/>
          <p:cNvSpPr txBox="1"/>
          <p:nvPr/>
        </p:nvSpPr>
        <p:spPr>
          <a:xfrm>
            <a:off x="640080" y="3254084"/>
            <a:ext cx="7863840"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000"/>
              <a:buFont typeface="Arial"/>
              <a:buNone/>
            </a:pPr>
            <a:r>
              <a:rPr b="1" i="0" lang="en-US" spc="0" sz="1000" u="none" cap="none" strike="noStrike">
                <a:solidFill>
                  <a:srgbClr val="0B7A6F"/>
                </a:solidFill>
                <a:latin typeface="Play"/>
                <a:ea typeface="Play"/>
                <a:cs typeface="Play"/>
                <a:sym typeface="Play"/>
              </a:rPr>
              <a:t>2  </a:t>
            </a:r>
            <a:r>
              <a:rPr b="1" i="0" lang="en-US" spc="0" sz="1000" u="none" cap="none" strike="noStrike">
                <a:solidFill>
                  <a:srgbClr val="1D1D1F"/>
                </a:solidFill>
                <a:latin typeface="Play"/>
                <a:ea typeface="Play"/>
                <a:cs typeface="Play"/>
                <a:sym typeface="Play"/>
              </a:rPr>
              <a:t>CP’s message</a:t>
            </a:r>
            <a:r>
              <a:rPr b="0" i="0" lang="en-US" spc="0" sz="1000" u="none" cap="none" strike="noStrike">
                <a:solidFill>
                  <a:srgbClr val="6E6E73"/>
                </a:solidFill>
                <a:latin typeface="Play"/>
                <a:ea typeface="Play"/>
                <a:cs typeface="Play"/>
                <a:sym typeface="Play"/>
              </a:rPr>
              <a:t>  — the cleaner reporting that the customer wants to cancel</a:t>
            </a:r>
            <a:endParaRPr b="0" i="0" spc="0" sz="1400" u="none" cap="none" strike="noStrike">
              <a:solidFill>
                <a:srgbClr val="000000"/>
              </a:solidFill>
              <a:latin typeface="Arial"/>
              <a:ea typeface="Arial"/>
              <a:cs typeface="Arial"/>
              <a:sym typeface="Arial"/>
            </a:endParaRPr>
          </a:p>
        </p:txBody>
      </p:sp>
      <p:pic>
        <p:nvPicPr>
          <p:cNvPr descr="ci_cp_message.png" id="803" name="Google Shape;803;p33"/>
          <p:cNvPicPr preferRelativeResize="0"/>
          <p:nvPr/>
        </p:nvPicPr>
        <p:blipFill rotWithShape="1">
          <a:blip r:embed="rId7">
            <a:alphaModFix/>
          </a:blip>
          <a:srcRect b="0" l="0" r="0" t="0"/>
          <a:stretch/>
        </p:blipFill>
        <p:spPr>
          <a:xfrm>
            <a:off x="640080" y="3510116"/>
            <a:ext cx="6217920" cy="1163353"/>
          </a:xfrm>
          <a:prstGeom prst="rect">
            <a:avLst/>
          </a:prstGeom>
          <a:noFill/>
          <a:ln cap="flat" cmpd="sng" w="9525">
            <a:solidFill>
              <a:srgbClr val="DCE1E7"/>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9"/>
                                        </p:tgtEl>
                                        <p:attrNameLst>
                                          <p:attrName>style.visibility</p:attrName>
                                        </p:attrNameLst>
                                      </p:cBhvr>
                                      <p:to>
                                        <p:strVal val="visible"/>
                                      </p:to>
                                    </p:set>
                                    <p:animEffect filter="fade" transition="in">
                                      <p:cBhvr>
                                        <p:cTn dur="600"/>
                                        <p:tgtEl>
                                          <p:spTgt spid="799"/>
                                        </p:tgtEl>
                                      </p:cBhvr>
                                    </p:animEffect>
                                  </p:childTnLst>
                                </p:cTn>
                              </p:par>
                              <p:par>
                                <p:cTn fill="hold" nodeType="withEffect" presetClass="entr" presetID="10" presetSubtype="0">
                                  <p:stCondLst>
                                    <p:cond delay="0"/>
                                  </p:stCondLst>
                                  <p:childTnLst>
                                    <p:set>
                                      <p:cBhvr>
                                        <p:cTn dur="1" fill="hold">
                                          <p:stCondLst>
                                            <p:cond delay="0"/>
                                          </p:stCondLst>
                                        </p:cTn>
                                        <p:tgtEl>
                                          <p:spTgt spid="800"/>
                                        </p:tgtEl>
                                        <p:attrNameLst>
                                          <p:attrName>style.visibility</p:attrName>
                                        </p:attrNameLst>
                                      </p:cBhvr>
                                      <p:to>
                                        <p:strVal val="visible"/>
                                      </p:to>
                                    </p:set>
                                    <p:animEffect filter="fade" transition="in">
                                      <p:cBhvr>
                                        <p:cTn dur="600"/>
                                        <p:tgtEl>
                                          <p:spTgt spid="800"/>
                                        </p:tgtEl>
                                      </p:cBhvr>
                                    </p:animEffect>
                                  </p:childTnLst>
                                </p:cTn>
                              </p:par>
                              <p:par>
                                <p:cTn fill="hold" nodeType="withEffect" presetClass="entr" presetID="10" presetSubtype="0">
                                  <p:stCondLst>
                                    <p:cond delay="0"/>
                                  </p:stCondLst>
                                  <p:childTnLst>
                                    <p:set>
                                      <p:cBhvr>
                                        <p:cTn dur="1" fill="hold">
                                          <p:stCondLst>
                                            <p:cond delay="0"/>
                                          </p:stCondLst>
                                        </p:cTn>
                                        <p:tgtEl>
                                          <p:spTgt spid="801"/>
                                        </p:tgtEl>
                                        <p:attrNameLst>
                                          <p:attrName>style.visibility</p:attrName>
                                        </p:attrNameLst>
                                      </p:cBhvr>
                                      <p:to>
                                        <p:strVal val="visible"/>
                                      </p:to>
                                    </p:set>
                                    <p:animEffect filter="fade" transition="in">
                                      <p:cBhvr>
                                        <p:cTn dur="600"/>
                                        <p:tgtEl>
                                          <p:spTgt spid="801"/>
                                        </p:tgtEl>
                                      </p:cBhvr>
                                    </p:animEffect>
                                  </p:childTnLst>
                                </p:cTn>
                              </p:par>
                              <p:par>
                                <p:cTn fill="hold" nodeType="withEffect" presetClass="entr" presetID="10" presetSubtype="0">
                                  <p:stCondLst>
                                    <p:cond delay="0"/>
                                  </p:stCondLst>
                                  <p:childTnLst>
                                    <p:set>
                                      <p:cBhvr>
                                        <p:cTn dur="1" fill="hold">
                                          <p:stCondLst>
                                            <p:cond delay="0"/>
                                          </p:stCondLst>
                                        </p:cTn>
                                        <p:tgtEl>
                                          <p:spTgt spid="802"/>
                                        </p:tgtEl>
                                        <p:attrNameLst>
                                          <p:attrName>style.visibility</p:attrName>
                                        </p:attrNameLst>
                                      </p:cBhvr>
                                      <p:to>
                                        <p:strVal val="visible"/>
                                      </p:to>
                                    </p:set>
                                    <p:animEffect filter="fade" transition="in">
                                      <p:cBhvr>
                                        <p:cTn dur="600"/>
                                        <p:tgtEl>
                                          <p:spTgt spid="802"/>
                                        </p:tgtEl>
                                      </p:cBhvr>
                                    </p:animEffect>
                                  </p:childTnLst>
                                </p:cTn>
                              </p:par>
                              <p:par>
                                <p:cTn fill="hold" nodeType="withEffect" presetClass="entr" presetID="10" presetSubtype="0">
                                  <p:stCondLst>
                                    <p:cond delay="0"/>
                                  </p:stCondLst>
                                  <p:childTnLst>
                                    <p:set>
                                      <p:cBhvr>
                                        <p:cTn dur="1" fill="hold">
                                          <p:stCondLst>
                                            <p:cond delay="0"/>
                                          </p:stCondLst>
                                        </p:cTn>
                                        <p:tgtEl>
                                          <p:spTgt spid="803"/>
                                        </p:tgtEl>
                                        <p:attrNameLst>
                                          <p:attrName>style.visibility</p:attrName>
                                        </p:attrNameLst>
                                      </p:cBhvr>
                                      <p:to>
                                        <p:strVal val="visible"/>
                                      </p:to>
                                    </p:set>
                                    <p:animEffect filter="fade" transition="in">
                                      <p:cBhvr>
                                        <p:cTn dur="600"/>
                                        <p:tgtEl>
                                          <p:spTgt spid="8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9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80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80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80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80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3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CANCELLATION INTENT</a:t>
            </a:r>
            <a:endParaRPr b="0" i="0" spc="0" sz="800" u="none" cap="none" strike="noStrike">
              <a:solidFill>
                <a:schemeClr val="dk1"/>
              </a:solidFill>
              <a:latin typeface="Calibri"/>
              <a:ea typeface="Calibri"/>
              <a:cs typeface="Calibri"/>
              <a:sym typeface="Calibri"/>
            </a:endParaRPr>
          </a:p>
        </p:txBody>
      </p:sp>
      <p:sp>
        <p:nvSpPr>
          <p:cNvPr id="810" name="Google Shape;810;p3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The process</a:t>
            </a:r>
            <a:endParaRPr b="0" i="0" spc="0" sz="2400" u="none" cap="none" strike="noStrike">
              <a:solidFill>
                <a:schemeClr val="dk1"/>
              </a:solidFill>
              <a:latin typeface="Calibri"/>
              <a:ea typeface="Calibri"/>
              <a:cs typeface="Calibri"/>
              <a:sym typeface="Calibri"/>
            </a:endParaRPr>
          </a:p>
        </p:txBody>
      </p:sp>
      <p:sp>
        <p:nvSpPr>
          <p:cNvPr id="811" name="Google Shape;811;p3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Reach out, let them explain, then it's a normal retention conversation.</a:t>
            </a:r>
            <a:endParaRPr b="0" i="0" spc="0" sz="1200" u="none" cap="none" strike="noStrike">
              <a:solidFill>
                <a:schemeClr val="dk1"/>
              </a:solidFill>
              <a:latin typeface="Calibri"/>
              <a:ea typeface="Calibri"/>
              <a:cs typeface="Calibri"/>
              <a:sym typeface="Calibri"/>
            </a:endParaRPr>
          </a:p>
        </p:txBody>
      </p:sp>
      <p:sp>
        <p:nvSpPr>
          <p:cNvPr id="812" name="Google Shape;812;p34"/>
          <p:cNvSpPr/>
          <p:nvPr/>
        </p:nvSpPr>
        <p:spPr>
          <a:xfrm>
            <a:off x="411480" y="1325880"/>
            <a:ext cx="1591056" cy="1691640"/>
          </a:xfrm>
          <a:prstGeom prst="roundRect">
            <a:avLst>
              <a:gd fmla="val 459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3" name="Google Shape;813;p34"/>
          <p:cNvSpPr/>
          <p:nvPr/>
        </p:nvSpPr>
        <p:spPr>
          <a:xfrm>
            <a:off x="521208" y="143560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4" name="Google Shape;814;p34"/>
          <p:cNvSpPr txBox="1"/>
          <p:nvPr/>
        </p:nvSpPr>
        <p:spPr>
          <a:xfrm>
            <a:off x="521208" y="143560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815" name="Google Shape;815;p34"/>
          <p:cNvSpPr/>
          <p:nvPr/>
        </p:nvSpPr>
        <p:spPr>
          <a:xfrm>
            <a:off x="1545336" y="1417320"/>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816" name="Google Shape;816;p34"/>
          <p:cNvPicPr preferRelativeResize="0"/>
          <p:nvPr/>
        </p:nvPicPr>
        <p:blipFill rotWithShape="1">
          <a:blip r:embed="rId3">
            <a:alphaModFix/>
          </a:blip>
          <a:srcRect b="0" l="0" r="0" t="0"/>
          <a:stretch/>
        </p:blipFill>
        <p:spPr>
          <a:xfrm>
            <a:off x="1624340" y="1496324"/>
            <a:ext cx="171176" cy="171176"/>
          </a:xfrm>
          <a:prstGeom prst="rect">
            <a:avLst/>
          </a:prstGeom>
          <a:noFill/>
          <a:ln>
            <a:noFill/>
          </a:ln>
        </p:spPr>
      </p:pic>
      <p:sp>
        <p:nvSpPr>
          <p:cNvPr id="817" name="Google Shape;817;p34"/>
          <p:cNvSpPr txBox="1"/>
          <p:nvPr/>
        </p:nvSpPr>
        <p:spPr>
          <a:xfrm>
            <a:off x="521208" y="1874520"/>
            <a:ext cx="13716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Reach out</a:t>
            </a:r>
            <a:endParaRPr b="0" i="0" spc="0" sz="1100" u="none" cap="none" strike="noStrike">
              <a:solidFill>
                <a:schemeClr val="dk1"/>
              </a:solidFill>
              <a:latin typeface="Calibri"/>
              <a:ea typeface="Calibri"/>
              <a:cs typeface="Calibri"/>
              <a:sym typeface="Calibri"/>
            </a:endParaRPr>
          </a:p>
        </p:txBody>
      </p:sp>
      <p:sp>
        <p:nvSpPr>
          <p:cNvPr id="818" name="Google Shape;818;p34"/>
          <p:cNvSpPr txBox="1"/>
          <p:nvPr/>
        </p:nvSpPr>
        <p:spPr>
          <a:xfrm>
            <a:off x="521208" y="2258568"/>
            <a:ext cx="137160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Don't wait for them to raise it.</a:t>
            </a:r>
            <a:endParaRPr b="0" i="0" spc="0" sz="900" u="none" cap="none" strike="noStrike">
              <a:solidFill>
                <a:schemeClr val="dk1"/>
              </a:solidFill>
              <a:latin typeface="Calibri"/>
              <a:ea typeface="Calibri"/>
              <a:cs typeface="Calibri"/>
              <a:sym typeface="Calibri"/>
            </a:endParaRPr>
          </a:p>
        </p:txBody>
      </p:sp>
      <p:sp>
        <p:nvSpPr>
          <p:cNvPr id="819" name="Google Shape;819;p34"/>
          <p:cNvSpPr/>
          <p:nvPr/>
        </p:nvSpPr>
        <p:spPr>
          <a:xfrm>
            <a:off x="2093976" y="1325880"/>
            <a:ext cx="1591056" cy="1691640"/>
          </a:xfrm>
          <a:prstGeom prst="roundRect">
            <a:avLst>
              <a:gd fmla="val 459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0" name="Google Shape;820;p34"/>
          <p:cNvSpPr/>
          <p:nvPr/>
        </p:nvSpPr>
        <p:spPr>
          <a:xfrm>
            <a:off x="2203704" y="143560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1" name="Google Shape;821;p34"/>
          <p:cNvSpPr txBox="1"/>
          <p:nvPr/>
        </p:nvSpPr>
        <p:spPr>
          <a:xfrm>
            <a:off x="2203704" y="143560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822" name="Google Shape;822;p34"/>
          <p:cNvSpPr/>
          <p:nvPr/>
        </p:nvSpPr>
        <p:spPr>
          <a:xfrm>
            <a:off x="3227832" y="1417320"/>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823" name="Google Shape;823;p34"/>
          <p:cNvPicPr preferRelativeResize="0"/>
          <p:nvPr/>
        </p:nvPicPr>
        <p:blipFill rotWithShape="1">
          <a:blip r:embed="rId4">
            <a:alphaModFix/>
          </a:blip>
          <a:srcRect b="0" l="0" r="0" t="0"/>
          <a:stretch/>
        </p:blipFill>
        <p:spPr>
          <a:xfrm>
            <a:off x="3306836" y="1496324"/>
            <a:ext cx="171176" cy="171176"/>
          </a:xfrm>
          <a:prstGeom prst="rect">
            <a:avLst/>
          </a:prstGeom>
          <a:noFill/>
          <a:ln>
            <a:noFill/>
          </a:ln>
        </p:spPr>
      </p:pic>
      <p:sp>
        <p:nvSpPr>
          <p:cNvPr id="824" name="Google Shape;824;p34"/>
          <p:cNvSpPr txBox="1"/>
          <p:nvPr/>
        </p:nvSpPr>
        <p:spPr>
          <a:xfrm>
            <a:off x="2203704" y="1874520"/>
            <a:ext cx="13716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Probe</a:t>
            </a:r>
            <a:endParaRPr b="0" i="0" spc="0" sz="1100" u="none" cap="none" strike="noStrike">
              <a:solidFill>
                <a:schemeClr val="dk1"/>
              </a:solidFill>
              <a:latin typeface="Calibri"/>
              <a:ea typeface="Calibri"/>
              <a:cs typeface="Calibri"/>
              <a:sym typeface="Calibri"/>
            </a:endParaRPr>
          </a:p>
        </p:txBody>
      </p:sp>
      <p:sp>
        <p:nvSpPr>
          <p:cNvPr id="825" name="Google Shape;825;p34"/>
          <p:cNvSpPr txBox="1"/>
          <p:nvPr/>
        </p:nvSpPr>
        <p:spPr>
          <a:xfrm>
            <a:off x="2203704" y="2258568"/>
            <a:ext cx="137160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Let them explain in their own words.</a:t>
            </a:r>
            <a:endParaRPr b="0" i="0" spc="0" sz="900" u="none" cap="none" strike="noStrike">
              <a:solidFill>
                <a:schemeClr val="dk1"/>
              </a:solidFill>
              <a:latin typeface="Calibri"/>
              <a:ea typeface="Calibri"/>
              <a:cs typeface="Calibri"/>
              <a:sym typeface="Calibri"/>
            </a:endParaRPr>
          </a:p>
        </p:txBody>
      </p:sp>
      <p:sp>
        <p:nvSpPr>
          <p:cNvPr id="826" name="Google Shape;826;p34"/>
          <p:cNvSpPr/>
          <p:nvPr/>
        </p:nvSpPr>
        <p:spPr>
          <a:xfrm>
            <a:off x="3776472" y="1325880"/>
            <a:ext cx="1591056" cy="1691640"/>
          </a:xfrm>
          <a:prstGeom prst="roundRect">
            <a:avLst>
              <a:gd fmla="val 459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7" name="Google Shape;827;p34"/>
          <p:cNvSpPr/>
          <p:nvPr/>
        </p:nvSpPr>
        <p:spPr>
          <a:xfrm>
            <a:off x="3886200" y="143560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8" name="Google Shape;828;p34"/>
          <p:cNvSpPr txBox="1"/>
          <p:nvPr/>
        </p:nvSpPr>
        <p:spPr>
          <a:xfrm>
            <a:off x="3886200" y="143560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829" name="Google Shape;829;p34"/>
          <p:cNvSpPr/>
          <p:nvPr/>
        </p:nvSpPr>
        <p:spPr>
          <a:xfrm>
            <a:off x="4910328" y="1417320"/>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830" name="Google Shape;830;p34"/>
          <p:cNvPicPr preferRelativeResize="0"/>
          <p:nvPr/>
        </p:nvPicPr>
        <p:blipFill rotWithShape="1">
          <a:blip r:embed="rId5">
            <a:alphaModFix/>
          </a:blip>
          <a:srcRect b="0" l="0" r="0" t="0"/>
          <a:stretch/>
        </p:blipFill>
        <p:spPr>
          <a:xfrm>
            <a:off x="4989332" y="1496324"/>
            <a:ext cx="171176" cy="171176"/>
          </a:xfrm>
          <a:prstGeom prst="rect">
            <a:avLst/>
          </a:prstGeom>
          <a:noFill/>
          <a:ln>
            <a:noFill/>
          </a:ln>
        </p:spPr>
      </p:pic>
      <p:sp>
        <p:nvSpPr>
          <p:cNvPr id="831" name="Google Shape;831;p34"/>
          <p:cNvSpPr txBox="1"/>
          <p:nvPr/>
        </p:nvSpPr>
        <p:spPr>
          <a:xfrm>
            <a:off x="3886200" y="1874520"/>
            <a:ext cx="13716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Explain FC &amp; ETF</a:t>
            </a:r>
            <a:endParaRPr b="0" i="0" spc="0" sz="1100" u="none" cap="none" strike="noStrike">
              <a:solidFill>
                <a:schemeClr val="dk1"/>
              </a:solidFill>
              <a:latin typeface="Calibri"/>
              <a:ea typeface="Calibri"/>
              <a:cs typeface="Calibri"/>
              <a:sym typeface="Calibri"/>
            </a:endParaRPr>
          </a:p>
        </p:txBody>
      </p:sp>
      <p:sp>
        <p:nvSpPr>
          <p:cNvPr id="832" name="Google Shape;832;p34"/>
          <p:cNvSpPr txBox="1"/>
          <p:nvPr/>
        </p:nvSpPr>
        <p:spPr>
          <a:xfrm>
            <a:off x="3886200" y="2258568"/>
            <a:ext cx="137160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If the ETF applies. Don't skip it.</a:t>
            </a:r>
            <a:endParaRPr b="0" i="0" spc="0" sz="900" u="none" cap="none" strike="noStrike">
              <a:solidFill>
                <a:schemeClr val="dk1"/>
              </a:solidFill>
              <a:latin typeface="Calibri"/>
              <a:ea typeface="Calibri"/>
              <a:cs typeface="Calibri"/>
              <a:sym typeface="Calibri"/>
            </a:endParaRPr>
          </a:p>
        </p:txBody>
      </p:sp>
      <p:sp>
        <p:nvSpPr>
          <p:cNvPr id="833" name="Google Shape;833;p34"/>
          <p:cNvSpPr/>
          <p:nvPr/>
        </p:nvSpPr>
        <p:spPr>
          <a:xfrm>
            <a:off x="5458968" y="1325880"/>
            <a:ext cx="1591056" cy="1691640"/>
          </a:xfrm>
          <a:prstGeom prst="roundRect">
            <a:avLst>
              <a:gd fmla="val 459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4" name="Google Shape;834;p34"/>
          <p:cNvSpPr/>
          <p:nvPr/>
        </p:nvSpPr>
        <p:spPr>
          <a:xfrm>
            <a:off x="5568696" y="143560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5" name="Google Shape;835;p34"/>
          <p:cNvSpPr txBox="1"/>
          <p:nvPr/>
        </p:nvSpPr>
        <p:spPr>
          <a:xfrm>
            <a:off x="5568696" y="143560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4</a:t>
            </a:r>
            <a:endParaRPr b="0" i="0" spc="0" sz="900" u="none" cap="none" strike="noStrike">
              <a:solidFill>
                <a:schemeClr val="dk1"/>
              </a:solidFill>
              <a:latin typeface="Calibri"/>
              <a:ea typeface="Calibri"/>
              <a:cs typeface="Calibri"/>
              <a:sym typeface="Calibri"/>
            </a:endParaRPr>
          </a:p>
        </p:txBody>
      </p:sp>
      <p:sp>
        <p:nvSpPr>
          <p:cNvPr id="836" name="Google Shape;836;p34"/>
          <p:cNvSpPr/>
          <p:nvPr/>
        </p:nvSpPr>
        <p:spPr>
          <a:xfrm>
            <a:off x="6592824" y="1417320"/>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837" name="Google Shape;837;p34"/>
          <p:cNvPicPr preferRelativeResize="0"/>
          <p:nvPr/>
        </p:nvPicPr>
        <p:blipFill rotWithShape="1">
          <a:blip r:embed="rId6">
            <a:alphaModFix/>
          </a:blip>
          <a:srcRect b="0" l="0" r="0" t="0"/>
          <a:stretch/>
        </p:blipFill>
        <p:spPr>
          <a:xfrm>
            <a:off x="6671828" y="1496324"/>
            <a:ext cx="171176" cy="171176"/>
          </a:xfrm>
          <a:prstGeom prst="rect">
            <a:avLst/>
          </a:prstGeom>
          <a:noFill/>
          <a:ln>
            <a:noFill/>
          </a:ln>
        </p:spPr>
      </p:pic>
      <p:sp>
        <p:nvSpPr>
          <p:cNvPr id="838" name="Google Shape;838;p34"/>
          <p:cNvSpPr txBox="1"/>
          <p:nvPr/>
        </p:nvSpPr>
        <p:spPr>
          <a:xfrm>
            <a:off x="5568696" y="1874520"/>
            <a:ext cx="13716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Appointments &amp; RC</a:t>
            </a:r>
            <a:endParaRPr b="0" i="0" spc="0" sz="1100" u="none" cap="none" strike="noStrike">
              <a:solidFill>
                <a:schemeClr val="dk1"/>
              </a:solidFill>
              <a:latin typeface="Calibri"/>
              <a:ea typeface="Calibri"/>
              <a:cs typeface="Calibri"/>
              <a:sym typeface="Calibri"/>
            </a:endParaRPr>
          </a:p>
        </p:txBody>
      </p:sp>
      <p:sp>
        <p:nvSpPr>
          <p:cNvPr id="839" name="Google Shape;839;p34"/>
          <p:cNvSpPr txBox="1"/>
          <p:nvPr/>
        </p:nvSpPr>
        <p:spPr>
          <a:xfrm>
            <a:off x="5568696" y="2258568"/>
            <a:ext cx="137160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Cancel by default, unless they want to keep them.</a:t>
            </a:r>
            <a:endParaRPr b="0" i="0" spc="0" sz="900" u="none" cap="none" strike="noStrike">
              <a:solidFill>
                <a:schemeClr val="dk1"/>
              </a:solidFill>
              <a:latin typeface="Calibri"/>
              <a:ea typeface="Calibri"/>
              <a:cs typeface="Calibri"/>
              <a:sym typeface="Calibri"/>
            </a:endParaRPr>
          </a:p>
        </p:txBody>
      </p:sp>
      <p:sp>
        <p:nvSpPr>
          <p:cNvPr id="840" name="Google Shape;840;p34"/>
          <p:cNvSpPr/>
          <p:nvPr/>
        </p:nvSpPr>
        <p:spPr>
          <a:xfrm>
            <a:off x="7141464" y="1325880"/>
            <a:ext cx="1591056" cy="1691640"/>
          </a:xfrm>
          <a:prstGeom prst="roundRect">
            <a:avLst>
              <a:gd fmla="val 459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1" name="Google Shape;841;p34"/>
          <p:cNvSpPr/>
          <p:nvPr/>
        </p:nvSpPr>
        <p:spPr>
          <a:xfrm>
            <a:off x="7251192" y="143560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2" name="Google Shape;842;p34"/>
          <p:cNvSpPr txBox="1"/>
          <p:nvPr/>
        </p:nvSpPr>
        <p:spPr>
          <a:xfrm>
            <a:off x="7251192" y="143560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5</a:t>
            </a:r>
            <a:endParaRPr b="0" i="0" spc="0" sz="900" u="none" cap="none" strike="noStrike">
              <a:solidFill>
                <a:schemeClr val="dk1"/>
              </a:solidFill>
              <a:latin typeface="Calibri"/>
              <a:ea typeface="Calibri"/>
              <a:cs typeface="Calibri"/>
              <a:sym typeface="Calibri"/>
            </a:endParaRPr>
          </a:p>
        </p:txBody>
      </p:sp>
      <p:sp>
        <p:nvSpPr>
          <p:cNvPr id="843" name="Google Shape;843;p34"/>
          <p:cNvSpPr/>
          <p:nvPr/>
        </p:nvSpPr>
        <p:spPr>
          <a:xfrm>
            <a:off x="8275320" y="1417320"/>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844" name="Google Shape;844;p34"/>
          <p:cNvPicPr preferRelativeResize="0"/>
          <p:nvPr/>
        </p:nvPicPr>
        <p:blipFill rotWithShape="1">
          <a:blip r:embed="rId7">
            <a:alphaModFix/>
          </a:blip>
          <a:srcRect b="0" l="0" r="0" t="0"/>
          <a:stretch/>
        </p:blipFill>
        <p:spPr>
          <a:xfrm>
            <a:off x="8354324" y="1496324"/>
            <a:ext cx="171176" cy="171176"/>
          </a:xfrm>
          <a:prstGeom prst="rect">
            <a:avLst/>
          </a:prstGeom>
          <a:noFill/>
          <a:ln>
            <a:noFill/>
          </a:ln>
        </p:spPr>
      </p:pic>
      <p:sp>
        <p:nvSpPr>
          <p:cNvPr id="845" name="Google Shape;845;p34"/>
          <p:cNvSpPr txBox="1"/>
          <p:nvPr/>
        </p:nvSpPr>
        <p:spPr>
          <a:xfrm>
            <a:off x="7251192" y="1874520"/>
            <a:ext cx="13716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Route</a:t>
            </a:r>
            <a:endParaRPr b="0" i="0" spc="0" sz="1100" u="none" cap="none" strike="noStrike">
              <a:solidFill>
                <a:schemeClr val="dk1"/>
              </a:solidFill>
              <a:latin typeface="Calibri"/>
              <a:ea typeface="Calibri"/>
              <a:cs typeface="Calibri"/>
              <a:sym typeface="Calibri"/>
            </a:endParaRPr>
          </a:p>
        </p:txBody>
      </p:sp>
      <p:sp>
        <p:nvSpPr>
          <p:cNvPr id="846" name="Google Shape;846;p34"/>
          <p:cNvSpPr txBox="1"/>
          <p:nvPr/>
        </p:nvSpPr>
        <p:spPr>
          <a:xfrm>
            <a:off x="7251192" y="2258568"/>
            <a:ext cx="137160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Customer responds? Address pain points, then follow the right retention playbook.</a:t>
            </a:r>
            <a:endParaRPr b="0" i="0" spc="0" sz="900" u="none" cap="none" strike="noStrike">
              <a:solidFill>
                <a:schemeClr val="dk1"/>
              </a:solidFill>
              <a:latin typeface="Calibri"/>
              <a:ea typeface="Calibri"/>
              <a:cs typeface="Calibri"/>
              <a:sym typeface="Calibri"/>
            </a:endParaRPr>
          </a:p>
        </p:txBody>
      </p:sp>
      <p:sp>
        <p:nvSpPr>
          <p:cNvPr id="847" name="Google Shape;847;p34"/>
          <p:cNvSpPr/>
          <p:nvPr/>
        </p:nvSpPr>
        <p:spPr>
          <a:xfrm>
            <a:off x="411450" y="3137750"/>
            <a:ext cx="8321100" cy="1552800"/>
          </a:xfrm>
          <a:prstGeom prst="roundRect">
            <a:avLst>
              <a:gd fmla="val 13333"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8" name="Google Shape;848;p34"/>
          <p:cNvSpPr/>
          <p:nvPr/>
        </p:nvSpPr>
        <p:spPr>
          <a:xfrm>
            <a:off x="411480" y="3273552"/>
            <a:ext cx="45720" cy="402336"/>
          </a:xfrm>
          <a:prstGeom prst="rect">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49" name="Google Shape;849;p34"/>
          <p:cNvSpPr txBox="1"/>
          <p:nvPr/>
        </p:nvSpPr>
        <p:spPr>
          <a:xfrm>
            <a:off x="603500" y="3400175"/>
            <a:ext cx="8001000" cy="787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0" sz="800" u="none" cap="none" strike="noStrike">
                <a:solidFill>
                  <a:srgbClr val="0B7A6F"/>
                </a:solidFill>
                <a:latin typeface="Play"/>
                <a:ea typeface="Play"/>
                <a:cs typeface="Play"/>
                <a:sym typeface="Play"/>
              </a:rPr>
              <a:t>OPEN WITH</a:t>
            </a:r>
            <a:endParaRPr b="0" i="0" spc="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000"/>
              <a:buFont typeface="Arial"/>
              <a:buNone/>
            </a:pPr>
            <a:r>
              <a:rPr b="1" i="1" lang="en-US" spc="0" sz="800" u="none" cap="none" strike="noStrike">
                <a:solidFill>
                  <a:srgbClr val="999999"/>
                </a:solidFill>
                <a:latin typeface="Arial"/>
                <a:ea typeface="Arial"/>
                <a:cs typeface="Arial"/>
                <a:sym typeface="Arial"/>
              </a:rPr>
              <a:t>“</a:t>
            </a:r>
            <a:r>
              <a:rPr b="0" i="1" lang="en-US" spc="0" sz="800" u="none" cap="none" strike="noStrike">
                <a:solidFill>
                  <a:srgbClr val="666666"/>
                </a:solidFill>
                <a:latin typeface="Arial"/>
                <a:ea typeface="Arial"/>
                <a:cs typeface="Arial"/>
                <a:sym typeface="Arial"/>
              </a:rPr>
              <a:t>Hey [Name], your cleaner mentioned you might be looking to cancel your membership. Wanted to check in directly.”</a:t>
            </a:r>
            <a:endParaRPr b="0" i="0" spc="0" sz="600" u="none" cap="none" strike="noStrike">
              <a:solidFill>
                <a:srgbClr val="666666"/>
              </a:solidFill>
              <a:latin typeface="Play"/>
              <a:ea typeface="Play"/>
              <a:cs typeface="Play"/>
              <a:sym typeface="Play"/>
            </a:endParaRPr>
          </a:p>
          <a:p>
            <a:pPr indent="0" lvl="0" marL="0" marR="0" rtl="0" algn="l">
              <a:lnSpc>
                <a:spcPct val="100000"/>
              </a:lnSpc>
              <a:spcBef>
                <a:spcPts val="0"/>
              </a:spcBef>
              <a:spcAft>
                <a:spcPts val="0"/>
              </a:spcAft>
              <a:buClr>
                <a:srgbClr val="0B7A6F"/>
              </a:buClr>
              <a:buSzPts val="800"/>
              <a:buFont typeface="Play"/>
              <a:buNone/>
            </a:pPr>
            <a:r>
              <a:t/>
            </a:r>
            <a:endParaRPr b="1" i="0" spc="0" sz="800" u="none" cap="none" strike="noStrike">
              <a:solidFill>
                <a:srgbClr val="0B7A6F"/>
              </a:solidFill>
              <a:latin typeface="Play"/>
              <a:ea typeface="Play"/>
              <a:cs typeface="Play"/>
              <a:sym typeface="Play"/>
            </a:endParaRPr>
          </a:p>
          <a:p>
            <a:pPr indent="0" lvl="0" marL="0" marR="0" rtl="0" algn="l">
              <a:lnSpc>
                <a:spcPct val="100000"/>
              </a:lnSpc>
              <a:spcBef>
                <a:spcPts val="0"/>
              </a:spcBef>
              <a:spcAft>
                <a:spcPts val="0"/>
              </a:spcAft>
              <a:buClr>
                <a:srgbClr val="0B7A6F"/>
              </a:buClr>
              <a:buSzPts val="800"/>
              <a:buFont typeface="Play"/>
              <a:buNone/>
            </a:pPr>
            <a:r>
              <a:rPr b="1" i="0" lang="en-US" spc="0" sz="800" u="none" cap="none" strike="noStrike">
                <a:solidFill>
                  <a:srgbClr val="0B7A6F"/>
                </a:solidFill>
                <a:latin typeface="Play"/>
                <a:ea typeface="Play"/>
                <a:cs typeface="Play"/>
                <a:sym typeface="Play"/>
              </a:rPr>
              <a:t>PROBE</a:t>
            </a:r>
            <a:endParaRPr b="0" i="0" spc="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000"/>
              <a:buFont typeface="Arial"/>
              <a:buNone/>
            </a:pPr>
            <a:r>
              <a:rPr b="0" i="1" lang="en-US" spc="0" sz="800" u="none" cap="none" strike="noStrike">
                <a:solidFill>
                  <a:srgbClr val="666666"/>
                </a:solidFill>
                <a:latin typeface="Arial"/>
                <a:ea typeface="Arial"/>
                <a:cs typeface="Arial"/>
                <a:sym typeface="Arial"/>
              </a:rPr>
              <a:t>“Do you mind sharing why? That'll help me figure out the best way to handle this for you.”</a:t>
            </a:r>
            <a:endParaRPr b="0" i="1" spc="0" sz="800" u="none" cap="none" strike="noStrike">
              <a:solidFill>
                <a:srgbClr val="666666"/>
              </a:solidFill>
              <a:latin typeface="Arial"/>
              <a:ea typeface="Arial"/>
              <a:cs typeface="Arial"/>
              <a:sym typeface="Arial"/>
            </a:endParaRPr>
          </a:p>
        </p:txBody>
      </p:sp>
      <p:sp>
        <p:nvSpPr>
          <p:cNvPr id="850" name="Google Shape;850;p34"/>
          <p:cNvSpPr txBox="1"/>
          <p:nvPr/>
        </p:nvSpPr>
        <p:spPr>
          <a:xfrm>
            <a:off x="822960" y="39867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t/>
            </a:r>
            <a:endParaRPr b="0" i="0" spc="0" sz="1000" u="none" cap="none" strike="noStrike">
              <a:solidFill>
                <a:schemeClr val="dk1"/>
              </a:solidFill>
              <a:latin typeface="Calibri"/>
              <a:ea typeface="Calibri"/>
              <a:cs typeface="Calibri"/>
              <a:sym typeface="Calibri"/>
            </a:endParaRPr>
          </a:p>
        </p:txBody>
      </p:sp>
      <p:sp>
        <p:nvSpPr>
          <p:cNvPr id="851" name="Google Shape;851;p3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852" name="Google Shape;852;p34"/>
          <p:cNvSpPr txBox="1"/>
          <p:nvPr/>
        </p:nvSpPr>
        <p:spPr>
          <a:xfrm>
            <a:off x="523550" y="4092600"/>
            <a:ext cx="7289400" cy="7080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B7A6F"/>
              </a:buClr>
              <a:buSzPts val="800"/>
              <a:buFont typeface="Play"/>
              <a:buNone/>
            </a:pPr>
            <a:r>
              <a:rPr b="1" i="0" lang="en-US" spc="0" sz="800" u="none" cap="none" strike="noStrike">
                <a:solidFill>
                  <a:srgbClr val="0B7A6F"/>
                </a:solidFill>
                <a:latin typeface="Play"/>
                <a:ea typeface="Play"/>
                <a:cs typeface="Play"/>
                <a:sym typeface="Play"/>
              </a:rPr>
              <a:t>Explain FC Terms</a:t>
            </a:r>
            <a:endParaRPr b="1" i="0" spc="0" sz="800" u="none" cap="none" strike="noStrike">
              <a:solidFill>
                <a:schemeClr val="dk1"/>
              </a:solidFill>
              <a:latin typeface="Play"/>
              <a:ea typeface="Play"/>
              <a:cs typeface="Play"/>
              <a:sym typeface="Play"/>
            </a:endParaRPr>
          </a:p>
          <a:p>
            <a:pPr indent="0" lvl="0" marL="0" marR="0" rtl="0" algn="l">
              <a:lnSpc>
                <a:spcPct val="100000"/>
              </a:lnSpc>
              <a:spcBef>
                <a:spcPts val="0"/>
              </a:spcBef>
              <a:spcAft>
                <a:spcPts val="0"/>
              </a:spcAft>
              <a:buClr>
                <a:srgbClr val="000000"/>
              </a:buClr>
              <a:buSzPts val="800"/>
              <a:buFont typeface="Arial"/>
              <a:buNone/>
            </a:pPr>
            <a:r>
              <a:rPr b="0" i="1" lang="en-US" spc="0" sz="800" u="none" cap="none" strike="noStrike">
                <a:solidFill>
                  <a:srgbClr val="666666"/>
                </a:solidFill>
                <a:latin typeface="Arial"/>
                <a:ea typeface="Arial"/>
                <a:cs typeface="Arial"/>
                <a:sym typeface="Arial"/>
              </a:rPr>
              <a:t>“I also want to quickly explain how the membership works. It includes a 6-month minimum commitment, and if you choose to cancel early, there’s an early termination fee of $35 per hour of your initial cleaning (which would be $[[insert amount=]] in your case).</a:t>
            </a:r>
            <a:endParaRPr b="0" i="1" spc="0" sz="800" u="none" cap="none" strike="noStrike">
              <a:solidFill>
                <a:srgbClr val="66666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000"/>
              <a:buFont typeface="Arial"/>
              <a:buNone/>
            </a:pPr>
            <a:r>
              <a:t/>
            </a:r>
            <a:endParaRPr b="0" i="1" spc="0" sz="1000" u="none" cap="none" strike="noStrike">
              <a:solidFill>
                <a:srgbClr val="1D1D1F"/>
              </a:solidFill>
              <a:latin typeface="Arial"/>
              <a:ea typeface="Arial"/>
              <a:cs typeface="Arial"/>
              <a:sym typeface="Arial"/>
            </a:endParaRPr>
          </a:p>
        </p:txBody>
      </p:sp>
      <p:pic>
        <p:nvPicPr>
          <p:cNvPr descr="preencoded.png" id="853" name="Google Shape;853;p34"/>
          <p:cNvPicPr preferRelativeResize="0"/>
          <p:nvPr/>
        </p:nvPicPr>
        <p:blipFill rotWithShape="1">
          <a:blip r:embed="rId8">
            <a:alphaModFix/>
          </a:blip>
          <a:srcRect b="0" l="0" r="0" t="0"/>
          <a:stretch/>
        </p:blipFill>
        <p:spPr>
          <a:xfrm>
            <a:off x="585227" y="3273547"/>
            <a:ext cx="201175" cy="201175"/>
          </a:xfrm>
          <a:prstGeom prst="rect">
            <a:avLst/>
          </a:prstGeom>
          <a:noFill/>
          <a:ln>
            <a:noFill/>
          </a:ln>
          <a:effectLst>
            <a:outerShdw blurRad="57150" rotWithShape="0" algn="bl" dir="5400000" dist="19050">
              <a:srgbClr val="0B7A6F">
                <a:alpha val="50196"/>
              </a:srgbClr>
            </a:outerShdw>
            <a:reflection blurRad="0" dir="5400000" dist="38100" endA="0" endPos="30000" fadeDir="5400012" kx="0" rotWithShape="0" algn="bl" stPos="0" sy="-100000" ky="0"/>
          </a:effectLst>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3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CANCELLATION INTENT</a:t>
            </a:r>
            <a:endParaRPr b="0" i="0" spc="0" sz="800" u="none" cap="none" strike="noStrike">
              <a:solidFill>
                <a:schemeClr val="dk1"/>
              </a:solidFill>
              <a:latin typeface="Calibri"/>
              <a:ea typeface="Calibri"/>
              <a:cs typeface="Calibri"/>
              <a:sym typeface="Calibri"/>
            </a:endParaRPr>
          </a:p>
        </p:txBody>
      </p:sp>
      <p:sp>
        <p:nvSpPr>
          <p:cNvPr id="860" name="Google Shape;860;p3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Route to the right playbook</a:t>
            </a:r>
            <a:endParaRPr b="0" i="0" spc="0" sz="2400" u="none" cap="none" strike="noStrike">
              <a:solidFill>
                <a:schemeClr val="dk1"/>
              </a:solidFill>
              <a:latin typeface="Calibri"/>
              <a:ea typeface="Calibri"/>
              <a:cs typeface="Calibri"/>
              <a:sym typeface="Calibri"/>
            </a:endParaRPr>
          </a:p>
        </p:txBody>
      </p:sp>
      <p:sp>
        <p:nvSpPr>
          <p:cNvPr id="861" name="Google Shape;861;p3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Once they've told you why, follow the root cause.</a:t>
            </a:r>
            <a:endParaRPr b="0" i="0" spc="0" sz="1200" u="none" cap="none" strike="noStrike">
              <a:solidFill>
                <a:schemeClr val="dk1"/>
              </a:solidFill>
              <a:latin typeface="Calibri"/>
              <a:ea typeface="Calibri"/>
              <a:cs typeface="Calibri"/>
              <a:sym typeface="Calibri"/>
            </a:endParaRPr>
          </a:p>
        </p:txBody>
      </p:sp>
      <p:sp>
        <p:nvSpPr>
          <p:cNvPr id="862" name="Google Shape;862;p35"/>
          <p:cNvSpPr/>
          <p:nvPr/>
        </p:nvSpPr>
        <p:spPr>
          <a:xfrm>
            <a:off x="411480" y="1325880"/>
            <a:ext cx="3749040" cy="621792"/>
          </a:xfrm>
          <a:prstGeom prst="roundRect">
            <a:avLst>
              <a:gd fmla="val 1176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3" name="Google Shape;863;p35"/>
          <p:cNvSpPr/>
          <p:nvPr/>
        </p:nvSpPr>
        <p:spPr>
          <a:xfrm>
            <a:off x="530352" y="1472184"/>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864" name="Google Shape;864;p35"/>
          <p:cNvPicPr preferRelativeResize="0"/>
          <p:nvPr/>
        </p:nvPicPr>
        <p:blipFill rotWithShape="1">
          <a:blip r:embed="rId3">
            <a:alphaModFix/>
          </a:blip>
          <a:srcRect b="0" l="0" r="0" t="0"/>
          <a:stretch/>
        </p:blipFill>
        <p:spPr>
          <a:xfrm>
            <a:off x="609356" y="1551188"/>
            <a:ext cx="171176" cy="171176"/>
          </a:xfrm>
          <a:prstGeom prst="rect">
            <a:avLst/>
          </a:prstGeom>
          <a:noFill/>
          <a:ln>
            <a:noFill/>
          </a:ln>
        </p:spPr>
      </p:pic>
      <p:sp>
        <p:nvSpPr>
          <p:cNvPr id="865" name="Google Shape;865;p35"/>
          <p:cNvSpPr txBox="1"/>
          <p:nvPr/>
        </p:nvSpPr>
        <p:spPr>
          <a:xfrm>
            <a:off x="960120" y="1325880"/>
            <a:ext cx="310896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Membership terms</a:t>
            </a:r>
            <a:endParaRPr b="0" i="0" spc="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Unaware, cost, MCT length</a:t>
            </a:r>
            <a:endParaRPr b="0" i="0" spc="0" sz="1100" u="none" cap="none" strike="noStrike">
              <a:solidFill>
                <a:schemeClr val="dk1"/>
              </a:solidFill>
              <a:latin typeface="Calibri"/>
              <a:ea typeface="Calibri"/>
              <a:cs typeface="Calibri"/>
              <a:sym typeface="Calibri"/>
            </a:endParaRPr>
          </a:p>
        </p:txBody>
      </p:sp>
      <p:cxnSp>
        <p:nvCxnSpPr>
          <p:cNvPr id="866" name="Google Shape;866;p35"/>
          <p:cNvCxnSpPr/>
          <p:nvPr/>
        </p:nvCxnSpPr>
        <p:spPr>
          <a:xfrm>
            <a:off x="4160520" y="1636776"/>
            <a:ext cx="411480" cy="0"/>
          </a:xfrm>
          <a:prstGeom prst="straightConnector1">
            <a:avLst/>
          </a:prstGeom>
          <a:noFill/>
          <a:ln cap="flat" cmpd="sng" w="12700">
            <a:solidFill>
              <a:srgbClr val="6E6E73"/>
            </a:solidFill>
            <a:prstDash val="solid"/>
            <a:round/>
            <a:headEnd len="sm" w="sm" type="none"/>
            <a:tailEnd len="med" w="med" type="triangle"/>
          </a:ln>
        </p:spPr>
      </p:cxnSp>
      <p:sp>
        <p:nvSpPr>
          <p:cNvPr id="867" name="Google Shape;867;p35"/>
          <p:cNvSpPr/>
          <p:nvPr/>
        </p:nvSpPr>
        <p:spPr>
          <a:xfrm>
            <a:off x="4572000" y="1325880"/>
            <a:ext cx="4160520" cy="621792"/>
          </a:xfrm>
          <a:prstGeom prst="roundRect">
            <a:avLst>
              <a:gd fmla="val 11765" name="adj"/>
            </a:avLst>
          </a:prstGeom>
          <a:solidFill>
            <a:srgbClr val="0B7A6F"/>
          </a:solidFill>
          <a:ln cap="flat" cmpd="sng" w="9525">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Membership Retention Playbook</a:t>
            </a:r>
            <a:endParaRPr b="0" i="0" spc="0" sz="1050" u="none" cap="none" strike="noStrike">
              <a:solidFill>
                <a:schemeClr val="dk1"/>
              </a:solidFill>
              <a:latin typeface="Calibri"/>
              <a:ea typeface="Calibri"/>
              <a:cs typeface="Calibri"/>
              <a:sym typeface="Calibri"/>
            </a:endParaRPr>
          </a:p>
        </p:txBody>
      </p:sp>
      <p:sp>
        <p:nvSpPr>
          <p:cNvPr id="868" name="Google Shape;868;p35"/>
          <p:cNvSpPr/>
          <p:nvPr/>
        </p:nvSpPr>
        <p:spPr>
          <a:xfrm>
            <a:off x="411480" y="2039112"/>
            <a:ext cx="3749040" cy="621792"/>
          </a:xfrm>
          <a:prstGeom prst="roundRect">
            <a:avLst>
              <a:gd fmla="val 1176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9" name="Google Shape;869;p35"/>
          <p:cNvSpPr/>
          <p:nvPr/>
        </p:nvSpPr>
        <p:spPr>
          <a:xfrm>
            <a:off x="530352" y="2185416"/>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870" name="Google Shape;870;p35"/>
          <p:cNvPicPr preferRelativeResize="0"/>
          <p:nvPr/>
        </p:nvPicPr>
        <p:blipFill rotWithShape="1">
          <a:blip r:embed="rId4">
            <a:alphaModFix/>
          </a:blip>
          <a:srcRect b="0" l="0" r="0" t="0"/>
          <a:stretch/>
        </p:blipFill>
        <p:spPr>
          <a:xfrm>
            <a:off x="609356" y="2264420"/>
            <a:ext cx="171176" cy="171176"/>
          </a:xfrm>
          <a:prstGeom prst="rect">
            <a:avLst/>
          </a:prstGeom>
          <a:noFill/>
          <a:ln>
            <a:noFill/>
          </a:ln>
        </p:spPr>
      </p:pic>
      <p:sp>
        <p:nvSpPr>
          <p:cNvPr id="871" name="Google Shape;871;p35"/>
          <p:cNvSpPr txBox="1"/>
          <p:nvPr/>
        </p:nvSpPr>
        <p:spPr>
          <a:xfrm>
            <a:off x="960120" y="2039112"/>
            <a:ext cx="310896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Service issue</a:t>
            </a:r>
            <a:endParaRPr b="0" i="0" spc="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Quality or reliability</a:t>
            </a:r>
            <a:endParaRPr b="0" i="0" spc="0" sz="1100" u="none" cap="none" strike="noStrike">
              <a:solidFill>
                <a:schemeClr val="dk1"/>
              </a:solidFill>
              <a:latin typeface="Calibri"/>
              <a:ea typeface="Calibri"/>
              <a:cs typeface="Calibri"/>
              <a:sym typeface="Calibri"/>
            </a:endParaRPr>
          </a:p>
        </p:txBody>
      </p:sp>
      <p:cxnSp>
        <p:nvCxnSpPr>
          <p:cNvPr id="872" name="Google Shape;872;p35"/>
          <p:cNvCxnSpPr/>
          <p:nvPr/>
        </p:nvCxnSpPr>
        <p:spPr>
          <a:xfrm>
            <a:off x="4160520" y="2350008"/>
            <a:ext cx="411480" cy="0"/>
          </a:xfrm>
          <a:prstGeom prst="straightConnector1">
            <a:avLst/>
          </a:prstGeom>
          <a:noFill/>
          <a:ln cap="flat" cmpd="sng" w="12700">
            <a:solidFill>
              <a:srgbClr val="6E6E73"/>
            </a:solidFill>
            <a:prstDash val="solid"/>
            <a:round/>
            <a:headEnd len="sm" w="sm" type="none"/>
            <a:tailEnd len="med" w="med" type="triangle"/>
          </a:ln>
        </p:spPr>
      </p:cxnSp>
      <p:sp>
        <p:nvSpPr>
          <p:cNvPr id="873" name="Google Shape;873;p35"/>
          <p:cNvSpPr/>
          <p:nvPr/>
        </p:nvSpPr>
        <p:spPr>
          <a:xfrm>
            <a:off x="4572000" y="2039112"/>
            <a:ext cx="4160520" cy="621792"/>
          </a:xfrm>
          <a:prstGeom prst="roundRect">
            <a:avLst>
              <a:gd fmla="val 11765" name="adj"/>
            </a:avLst>
          </a:prstGeom>
          <a:solidFill>
            <a:srgbClr val="0B7A6F"/>
          </a:solidFill>
          <a:ln cap="flat" cmpd="sng" w="9525">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PCQ or Service Reliability Retention Playbook</a:t>
            </a:r>
            <a:endParaRPr b="0" i="0" spc="0" sz="1050" u="none" cap="none" strike="noStrike">
              <a:solidFill>
                <a:schemeClr val="dk1"/>
              </a:solidFill>
              <a:latin typeface="Calibri"/>
              <a:ea typeface="Calibri"/>
              <a:cs typeface="Calibri"/>
              <a:sym typeface="Calibri"/>
            </a:endParaRPr>
          </a:p>
        </p:txBody>
      </p:sp>
      <p:sp>
        <p:nvSpPr>
          <p:cNvPr id="874" name="Google Shape;874;p35"/>
          <p:cNvSpPr/>
          <p:nvPr/>
        </p:nvSpPr>
        <p:spPr>
          <a:xfrm>
            <a:off x="411480" y="2752344"/>
            <a:ext cx="3749040" cy="621792"/>
          </a:xfrm>
          <a:prstGeom prst="roundRect">
            <a:avLst>
              <a:gd fmla="val 1176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75" name="Google Shape;875;p35"/>
          <p:cNvSpPr/>
          <p:nvPr/>
        </p:nvSpPr>
        <p:spPr>
          <a:xfrm>
            <a:off x="530352" y="2898648"/>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876" name="Google Shape;876;p35"/>
          <p:cNvPicPr preferRelativeResize="0"/>
          <p:nvPr/>
        </p:nvPicPr>
        <p:blipFill rotWithShape="1">
          <a:blip r:embed="rId5">
            <a:alphaModFix/>
          </a:blip>
          <a:srcRect b="0" l="0" r="0" t="0"/>
          <a:stretch/>
        </p:blipFill>
        <p:spPr>
          <a:xfrm>
            <a:off x="609356" y="2977652"/>
            <a:ext cx="171176" cy="171176"/>
          </a:xfrm>
          <a:prstGeom prst="rect">
            <a:avLst/>
          </a:prstGeom>
          <a:noFill/>
          <a:ln>
            <a:noFill/>
          </a:ln>
        </p:spPr>
      </p:pic>
      <p:sp>
        <p:nvSpPr>
          <p:cNvPr id="877" name="Google Shape;877;p35"/>
          <p:cNvSpPr txBox="1"/>
          <p:nvPr/>
        </p:nvSpPr>
        <p:spPr>
          <a:xfrm>
            <a:off x="960120" y="2752344"/>
            <a:ext cx="310896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Is this customer retainable?</a:t>
            </a:r>
            <a:endParaRPr b="0" i="0" spc="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The five key factors</a:t>
            </a:r>
            <a:endParaRPr b="0" i="0" spc="0" sz="1100" u="none" cap="none" strike="noStrike">
              <a:solidFill>
                <a:schemeClr val="dk1"/>
              </a:solidFill>
              <a:latin typeface="Calibri"/>
              <a:ea typeface="Calibri"/>
              <a:cs typeface="Calibri"/>
              <a:sym typeface="Calibri"/>
            </a:endParaRPr>
          </a:p>
        </p:txBody>
      </p:sp>
      <p:cxnSp>
        <p:nvCxnSpPr>
          <p:cNvPr id="878" name="Google Shape;878;p35"/>
          <p:cNvCxnSpPr/>
          <p:nvPr/>
        </p:nvCxnSpPr>
        <p:spPr>
          <a:xfrm>
            <a:off x="4160520" y="3063240"/>
            <a:ext cx="411480" cy="0"/>
          </a:xfrm>
          <a:prstGeom prst="straightConnector1">
            <a:avLst/>
          </a:prstGeom>
          <a:noFill/>
          <a:ln cap="flat" cmpd="sng" w="12700">
            <a:solidFill>
              <a:srgbClr val="6E6E73"/>
            </a:solidFill>
            <a:prstDash val="solid"/>
            <a:round/>
            <a:headEnd len="sm" w="sm" type="none"/>
            <a:tailEnd len="med" w="med" type="triangle"/>
          </a:ln>
        </p:spPr>
      </p:cxnSp>
      <p:sp>
        <p:nvSpPr>
          <p:cNvPr id="879" name="Google Shape;879;p35"/>
          <p:cNvSpPr/>
          <p:nvPr/>
        </p:nvSpPr>
        <p:spPr>
          <a:xfrm>
            <a:off x="4572000" y="2752344"/>
            <a:ext cx="4160520" cy="621792"/>
          </a:xfrm>
          <a:prstGeom prst="roundRect">
            <a:avLst>
              <a:gd fmla="val 11765" name="adj"/>
            </a:avLst>
          </a:prstGeom>
          <a:solidFill>
            <a:srgbClr val="0B7A6F"/>
          </a:solidFill>
          <a:ln cap="flat" cmpd="sng" w="9525">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General Retention Playbook</a:t>
            </a:r>
            <a:endParaRPr b="0" i="0" spc="0" sz="1050" u="none" cap="none" strike="noStrike">
              <a:solidFill>
                <a:schemeClr val="dk1"/>
              </a:solidFill>
              <a:latin typeface="Calibri"/>
              <a:ea typeface="Calibri"/>
              <a:cs typeface="Calibri"/>
              <a:sym typeface="Calibri"/>
            </a:endParaRPr>
          </a:p>
        </p:txBody>
      </p:sp>
      <p:sp>
        <p:nvSpPr>
          <p:cNvPr id="880" name="Google Shape;880;p35"/>
          <p:cNvSpPr/>
          <p:nvPr/>
        </p:nvSpPr>
        <p:spPr>
          <a:xfrm>
            <a:off x="411480" y="3520440"/>
            <a:ext cx="8321040" cy="384048"/>
          </a:xfrm>
          <a:prstGeom prst="roundRect">
            <a:avLst>
              <a:gd fmla="val 19048"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881" name="Google Shape;881;p35"/>
          <p:cNvPicPr preferRelativeResize="0"/>
          <p:nvPr/>
        </p:nvPicPr>
        <p:blipFill rotWithShape="1">
          <a:blip r:embed="rId6">
            <a:alphaModFix/>
          </a:blip>
          <a:srcRect b="0" l="0" r="0" t="0"/>
          <a:stretch/>
        </p:blipFill>
        <p:spPr>
          <a:xfrm>
            <a:off x="566928" y="3630168"/>
            <a:ext cx="164592" cy="164592"/>
          </a:xfrm>
          <a:prstGeom prst="rect">
            <a:avLst/>
          </a:prstGeom>
          <a:noFill/>
          <a:ln>
            <a:noFill/>
          </a:ln>
        </p:spPr>
      </p:pic>
      <p:sp>
        <p:nvSpPr>
          <p:cNvPr id="882" name="Google Shape;882;p35"/>
          <p:cNvSpPr txBox="1"/>
          <p:nvPr/>
        </p:nvSpPr>
        <p:spPr>
          <a:xfrm>
            <a:off x="822960" y="3520440"/>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3261E"/>
              </a:buClr>
              <a:buSzPts val="1000"/>
              <a:buFont typeface="Arial"/>
              <a:buNone/>
            </a:pPr>
            <a:r>
              <a:rPr b="1" i="0" lang="en-US" spc="0" sz="1000" u="none" cap="none" strike="noStrike">
                <a:solidFill>
                  <a:srgbClr val="B3261E"/>
                </a:solidFill>
                <a:latin typeface="Arial"/>
                <a:ea typeface="Arial"/>
                <a:cs typeface="Arial"/>
                <a:sym typeface="Arial"/>
              </a:rPr>
              <a:t>Washington customer?  </a:t>
            </a:r>
            <a:r>
              <a:rPr b="0" i="0" lang="en-US" spc="0" sz="1000" u="none" cap="none" strike="noStrike">
                <a:solidFill>
                  <a:srgbClr val="1D1D1F"/>
                </a:solidFill>
                <a:latin typeface="Arial"/>
                <a:ea typeface="Arial"/>
                <a:cs typeface="Arial"/>
                <a:sym typeface="Arial"/>
              </a:rPr>
              <a:t>use the WA process: send the self-cancel link and never mention the ETF.</a:t>
            </a:r>
            <a:endParaRPr b="0" i="0" spc="0" sz="1000" u="none" cap="none" strike="noStrike">
              <a:solidFill>
                <a:schemeClr val="dk1"/>
              </a:solidFill>
              <a:latin typeface="Calibri"/>
              <a:ea typeface="Calibri"/>
              <a:cs typeface="Calibri"/>
              <a:sym typeface="Calibri"/>
            </a:endParaRPr>
          </a:p>
        </p:txBody>
      </p:sp>
      <p:sp>
        <p:nvSpPr>
          <p:cNvPr id="883" name="Google Shape;883;p3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3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CANCELLATION INTENT  ·  KNOWLEDGE CHECK</a:t>
            </a:r>
            <a:endParaRPr b="0" i="0" spc="0" sz="800" u="none" cap="none" strike="noStrike">
              <a:solidFill>
                <a:schemeClr val="dk1"/>
              </a:solidFill>
              <a:latin typeface="Calibri"/>
              <a:ea typeface="Calibri"/>
              <a:cs typeface="Calibri"/>
              <a:sym typeface="Calibri"/>
            </a:endParaRPr>
          </a:p>
        </p:txBody>
      </p:sp>
      <p:sp>
        <p:nvSpPr>
          <p:cNvPr id="890" name="Google Shape;890;p3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See What You’ve Got!</a:t>
            </a:r>
            <a:endParaRPr b="0" i="0" spc="0" sz="2400" u="none" cap="none" strike="noStrike">
              <a:solidFill>
                <a:schemeClr val="dk1"/>
              </a:solidFill>
              <a:latin typeface="Calibri"/>
              <a:ea typeface="Calibri"/>
              <a:cs typeface="Calibri"/>
              <a:sym typeface="Calibri"/>
            </a:endParaRPr>
          </a:p>
        </p:txBody>
      </p:sp>
      <p:sp>
        <p:nvSpPr>
          <p:cNvPr id="891" name="Google Shape;891;p36"/>
          <p:cNvSpPr/>
          <p:nvPr/>
        </p:nvSpPr>
        <p:spPr>
          <a:xfrm>
            <a:off x="411480" y="1280160"/>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92" name="Google Shape;892;p36"/>
          <p:cNvSpPr/>
          <p:nvPr/>
        </p:nvSpPr>
        <p:spPr>
          <a:xfrm>
            <a:off x="548640" y="153619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93" name="Google Shape;893;p36"/>
          <p:cNvSpPr txBox="1"/>
          <p:nvPr/>
        </p:nvSpPr>
        <p:spPr>
          <a:xfrm>
            <a:off x="548640" y="153619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894" name="Google Shape;894;p36"/>
          <p:cNvSpPr txBox="1"/>
          <p:nvPr/>
        </p:nvSpPr>
        <p:spPr>
          <a:xfrm>
            <a:off x="960120" y="1280160"/>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While checking a PCQ, you see the C told the CP they want to cancel. Wait for them to contact us?</a:t>
            </a:r>
            <a:endParaRPr b="0" i="0" spc="0" sz="1000" u="none" cap="none" strike="noStrike">
              <a:solidFill>
                <a:schemeClr val="dk1"/>
              </a:solidFill>
              <a:latin typeface="Calibri"/>
              <a:ea typeface="Calibri"/>
              <a:cs typeface="Calibri"/>
              <a:sym typeface="Calibri"/>
            </a:endParaRPr>
          </a:p>
        </p:txBody>
      </p:sp>
      <p:sp>
        <p:nvSpPr>
          <p:cNvPr id="895" name="Google Shape;895;p36"/>
          <p:cNvSpPr/>
          <p:nvPr/>
        </p:nvSpPr>
        <p:spPr>
          <a:xfrm>
            <a:off x="5120640" y="1280160"/>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96" name="Google Shape;896;p36"/>
          <p:cNvSpPr txBox="1"/>
          <p:nvPr/>
        </p:nvSpPr>
        <p:spPr>
          <a:xfrm>
            <a:off x="5257800" y="1280160"/>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 Reach out proactively.</a:t>
            </a:r>
            <a:endParaRPr b="0" i="0" spc="0" sz="900" u="none" cap="none" strike="noStrike">
              <a:solidFill>
                <a:schemeClr val="dk1"/>
              </a:solidFill>
              <a:latin typeface="Calibri"/>
              <a:ea typeface="Calibri"/>
              <a:cs typeface="Calibri"/>
              <a:sym typeface="Calibri"/>
            </a:endParaRPr>
          </a:p>
        </p:txBody>
      </p:sp>
      <p:sp>
        <p:nvSpPr>
          <p:cNvPr id="897" name="Google Shape;897;p36"/>
          <p:cNvSpPr/>
          <p:nvPr/>
        </p:nvSpPr>
        <p:spPr>
          <a:xfrm>
            <a:off x="411480" y="2139696"/>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98" name="Google Shape;898;p36"/>
          <p:cNvSpPr/>
          <p:nvPr/>
        </p:nvSpPr>
        <p:spPr>
          <a:xfrm>
            <a:off x="548640" y="23957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99" name="Google Shape;899;p36"/>
          <p:cNvSpPr txBox="1"/>
          <p:nvPr/>
        </p:nvSpPr>
        <p:spPr>
          <a:xfrm>
            <a:off x="548640" y="23957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900" name="Google Shape;900;p36"/>
          <p:cNvSpPr txBox="1"/>
          <p:nvPr/>
        </p:nvSpPr>
        <p:spPr>
          <a:xfrm>
            <a:off x="960120" y="2139696"/>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How do you open the conversation?</a:t>
            </a:r>
            <a:endParaRPr b="0" i="0" spc="0" sz="1000" u="none" cap="none" strike="noStrike">
              <a:solidFill>
                <a:schemeClr val="dk1"/>
              </a:solidFill>
              <a:latin typeface="Calibri"/>
              <a:ea typeface="Calibri"/>
              <a:cs typeface="Calibri"/>
              <a:sym typeface="Calibri"/>
            </a:endParaRPr>
          </a:p>
        </p:txBody>
      </p:sp>
      <p:sp>
        <p:nvSpPr>
          <p:cNvPr id="901" name="Google Shape;901;p36"/>
          <p:cNvSpPr/>
          <p:nvPr/>
        </p:nvSpPr>
        <p:spPr>
          <a:xfrm>
            <a:off x="5120640" y="2139696"/>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2" name="Google Shape;902;p36"/>
          <p:cNvSpPr txBox="1"/>
          <p:nvPr/>
        </p:nvSpPr>
        <p:spPr>
          <a:xfrm>
            <a:off x="5257800" y="2139696"/>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Know something, not everything: "Your cleaner mentioned you might be looking to cancel…"</a:t>
            </a:r>
            <a:endParaRPr b="0" i="0" spc="0" sz="900" u="none" cap="none" strike="noStrike">
              <a:solidFill>
                <a:schemeClr val="dk1"/>
              </a:solidFill>
              <a:latin typeface="Calibri"/>
              <a:ea typeface="Calibri"/>
              <a:cs typeface="Calibri"/>
              <a:sym typeface="Calibri"/>
            </a:endParaRPr>
          </a:p>
        </p:txBody>
      </p:sp>
      <p:sp>
        <p:nvSpPr>
          <p:cNvPr id="903" name="Google Shape;903;p36"/>
          <p:cNvSpPr/>
          <p:nvPr/>
        </p:nvSpPr>
        <p:spPr>
          <a:xfrm>
            <a:off x="411480" y="2999232"/>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4" name="Google Shape;904;p36"/>
          <p:cNvSpPr/>
          <p:nvPr/>
        </p:nvSpPr>
        <p:spPr>
          <a:xfrm>
            <a:off x="548640" y="325526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5" name="Google Shape;905;p36"/>
          <p:cNvSpPr txBox="1"/>
          <p:nvPr/>
        </p:nvSpPr>
        <p:spPr>
          <a:xfrm>
            <a:off x="548640" y="32552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906" name="Google Shape;906;p36"/>
          <p:cNvSpPr txBox="1"/>
          <p:nvPr/>
        </p:nvSpPr>
        <p:spPr>
          <a:xfrm>
            <a:off x="960120" y="2999232"/>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The customer sounds set on cancelling. Skip explaining the ETF?</a:t>
            </a:r>
            <a:endParaRPr b="0" i="0" spc="0" sz="1000" u="none" cap="none" strike="noStrike">
              <a:solidFill>
                <a:schemeClr val="dk1"/>
              </a:solidFill>
              <a:latin typeface="Calibri"/>
              <a:ea typeface="Calibri"/>
              <a:cs typeface="Calibri"/>
              <a:sym typeface="Calibri"/>
            </a:endParaRPr>
          </a:p>
        </p:txBody>
      </p:sp>
      <p:sp>
        <p:nvSpPr>
          <p:cNvPr id="907" name="Google Shape;907;p36"/>
          <p:cNvSpPr/>
          <p:nvPr/>
        </p:nvSpPr>
        <p:spPr>
          <a:xfrm>
            <a:off x="5120640" y="2999232"/>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08" name="Google Shape;908;p36"/>
          <p:cNvSpPr txBox="1"/>
          <p:nvPr/>
        </p:nvSpPr>
        <p:spPr>
          <a:xfrm>
            <a:off x="5257800" y="2999232"/>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 If it applies, explain FC and ETF terms.</a:t>
            </a:r>
            <a:endParaRPr b="0" i="0" spc="0" sz="900" u="none" cap="none" strike="noStrike">
              <a:solidFill>
                <a:schemeClr val="dk1"/>
              </a:solidFill>
              <a:latin typeface="Calibri"/>
              <a:ea typeface="Calibri"/>
              <a:cs typeface="Calibri"/>
              <a:sym typeface="Calibri"/>
            </a:endParaRPr>
          </a:p>
        </p:txBody>
      </p:sp>
      <p:sp>
        <p:nvSpPr>
          <p:cNvPr id="909" name="Google Shape;909;p36"/>
          <p:cNvSpPr/>
          <p:nvPr/>
        </p:nvSpPr>
        <p:spPr>
          <a:xfrm>
            <a:off x="411480" y="3858768"/>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10" name="Google Shape;910;p36"/>
          <p:cNvSpPr/>
          <p:nvPr/>
        </p:nvSpPr>
        <p:spPr>
          <a:xfrm>
            <a:off x="548640" y="41148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11" name="Google Shape;911;p36"/>
          <p:cNvSpPr txBox="1"/>
          <p:nvPr/>
        </p:nvSpPr>
        <p:spPr>
          <a:xfrm>
            <a:off x="548640" y="41148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4</a:t>
            </a:r>
            <a:endParaRPr b="0" i="0" spc="0" sz="900" u="none" cap="none" strike="noStrike">
              <a:solidFill>
                <a:schemeClr val="dk1"/>
              </a:solidFill>
              <a:latin typeface="Calibri"/>
              <a:ea typeface="Calibri"/>
              <a:cs typeface="Calibri"/>
              <a:sym typeface="Calibri"/>
            </a:endParaRPr>
          </a:p>
        </p:txBody>
      </p:sp>
      <p:sp>
        <p:nvSpPr>
          <p:cNvPr id="912" name="Google Shape;912;p36"/>
          <p:cNvSpPr txBox="1"/>
          <p:nvPr/>
        </p:nvSpPr>
        <p:spPr>
          <a:xfrm>
            <a:off x="960120" y="3858768"/>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What happens to upcoming appointments and RC?</a:t>
            </a:r>
            <a:endParaRPr b="0" i="0" spc="0" sz="1000" u="none" cap="none" strike="noStrike">
              <a:solidFill>
                <a:schemeClr val="dk1"/>
              </a:solidFill>
              <a:latin typeface="Calibri"/>
              <a:ea typeface="Calibri"/>
              <a:cs typeface="Calibri"/>
              <a:sym typeface="Calibri"/>
            </a:endParaRPr>
          </a:p>
        </p:txBody>
      </p:sp>
      <p:sp>
        <p:nvSpPr>
          <p:cNvPr id="913" name="Google Shape;913;p36"/>
          <p:cNvSpPr/>
          <p:nvPr/>
        </p:nvSpPr>
        <p:spPr>
          <a:xfrm>
            <a:off x="5120640" y="3858768"/>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14" name="Google Shape;914;p36"/>
          <p:cNvSpPr txBox="1"/>
          <p:nvPr/>
        </p:nvSpPr>
        <p:spPr>
          <a:xfrm>
            <a:off x="5257800" y="3858768"/>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Cancel by default, unless they clearly want to keep them.</a:t>
            </a:r>
            <a:endParaRPr b="0" i="0" spc="0" sz="900" u="none" cap="none" strike="noStrike">
              <a:solidFill>
                <a:schemeClr val="dk1"/>
              </a:solidFill>
              <a:latin typeface="Calibri"/>
              <a:ea typeface="Calibri"/>
              <a:cs typeface="Calibri"/>
              <a:sym typeface="Calibri"/>
            </a:endParaRPr>
          </a:p>
        </p:txBody>
      </p:sp>
      <p:sp>
        <p:nvSpPr>
          <p:cNvPr id="915" name="Google Shape;915;p3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6"/>
                                        </p:tgtEl>
                                        <p:attrNameLst>
                                          <p:attrName>style.visibility</p:attrName>
                                        </p:attrNameLst>
                                      </p:cBhvr>
                                      <p:to>
                                        <p:strVal val="visible"/>
                                      </p:to>
                                    </p:set>
                                    <p:animEffect filter="fade" transition="in">
                                      <p:cBhvr>
                                        <p:cTn dur="600"/>
                                        <p:tgtEl>
                                          <p:spTgt spid="8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
                                        </p:tgtEl>
                                        <p:attrNameLst>
                                          <p:attrName>style.visibility</p:attrName>
                                        </p:attrNameLst>
                                      </p:cBhvr>
                                      <p:to>
                                        <p:strVal val="visible"/>
                                      </p:to>
                                    </p:set>
                                    <p:animEffect filter="fade" transition="in">
                                      <p:cBhvr>
                                        <p:cTn dur="600"/>
                                        <p:tgtEl>
                                          <p:spTgt spid="9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8"/>
                                        </p:tgtEl>
                                        <p:attrNameLst>
                                          <p:attrName>style.visibility</p:attrName>
                                        </p:attrNameLst>
                                      </p:cBhvr>
                                      <p:to>
                                        <p:strVal val="visible"/>
                                      </p:to>
                                    </p:set>
                                    <p:animEffect filter="fade" transition="in">
                                      <p:cBhvr>
                                        <p:cTn dur="600"/>
                                        <p:tgtEl>
                                          <p:spTgt spid="9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gtEl>
                                        <p:attrNameLst>
                                          <p:attrName>style.visibility</p:attrName>
                                        </p:attrNameLst>
                                      </p:cBhvr>
                                      <p:to>
                                        <p:strVal val="visible"/>
                                      </p:to>
                                    </p:set>
                                    <p:animEffect filter="fade" transition="in">
                                      <p:cBhvr>
                                        <p:cTn dur="600"/>
                                        <p:tgtEl>
                                          <p:spTgt spid="9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3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CANCELLATION INTENT  ·  PRACTICE</a:t>
            </a:r>
            <a:endParaRPr b="0" i="0" spc="0" sz="800" u="none" cap="none" strike="noStrike">
              <a:solidFill>
                <a:schemeClr val="dk1"/>
              </a:solidFill>
              <a:latin typeface="Calibri"/>
              <a:ea typeface="Calibri"/>
              <a:cs typeface="Calibri"/>
              <a:sym typeface="Calibri"/>
            </a:endParaRPr>
          </a:p>
        </p:txBody>
      </p:sp>
      <p:sp>
        <p:nvSpPr>
          <p:cNvPr id="922" name="Google Shape;922;p3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investigate together!</a:t>
            </a:r>
            <a:endParaRPr b="0" i="0" spc="0" sz="2400" u="none" cap="none" strike="noStrike">
              <a:solidFill>
                <a:schemeClr val="dk1"/>
              </a:solidFill>
              <a:latin typeface="Calibri"/>
              <a:ea typeface="Calibri"/>
              <a:cs typeface="Calibri"/>
              <a:sym typeface="Calibri"/>
            </a:endParaRPr>
          </a:p>
        </p:txBody>
      </p:sp>
      <p:sp>
        <p:nvSpPr>
          <p:cNvPr id="923" name="Google Shape;923;p37"/>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Review the live ticket and investigate.</a:t>
            </a:r>
            <a:endParaRPr b="0" i="0" spc="0" sz="1200" u="none" cap="none" strike="noStrike">
              <a:solidFill>
                <a:schemeClr val="dk1"/>
              </a:solidFill>
              <a:latin typeface="Calibri"/>
              <a:ea typeface="Calibri"/>
              <a:cs typeface="Calibri"/>
              <a:sym typeface="Calibri"/>
            </a:endParaRPr>
          </a:p>
        </p:txBody>
      </p:sp>
      <p:sp>
        <p:nvSpPr>
          <p:cNvPr id="924" name="Google Shape;924;p37"/>
          <p:cNvSpPr/>
          <p:nvPr/>
        </p:nvSpPr>
        <p:spPr>
          <a:xfrm>
            <a:off x="411480" y="1298448"/>
            <a:ext cx="3383280" cy="2633472"/>
          </a:xfrm>
          <a:prstGeom prst="roundRect">
            <a:avLst>
              <a:gd fmla="val 27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25" name="Google Shape;925;p37"/>
          <p:cNvSpPr/>
          <p:nvPr/>
        </p:nvSpPr>
        <p:spPr>
          <a:xfrm>
            <a:off x="594360" y="148132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926" name="Google Shape;926;p37"/>
          <p:cNvPicPr preferRelativeResize="0"/>
          <p:nvPr/>
        </p:nvPicPr>
        <p:blipFill rotWithShape="1">
          <a:blip r:embed="rId3">
            <a:alphaModFix/>
          </a:blip>
          <a:srcRect b="0" l="0" r="0" t="0"/>
          <a:stretch/>
        </p:blipFill>
        <p:spPr>
          <a:xfrm>
            <a:off x="686532" y="1573500"/>
            <a:ext cx="199705" cy="199705"/>
          </a:xfrm>
          <a:prstGeom prst="rect">
            <a:avLst/>
          </a:prstGeom>
          <a:noFill/>
          <a:ln>
            <a:noFill/>
          </a:ln>
        </p:spPr>
      </p:pic>
      <p:sp>
        <p:nvSpPr>
          <p:cNvPr id="927" name="Google Shape;927;p37"/>
          <p:cNvSpPr txBox="1"/>
          <p:nvPr/>
        </p:nvSpPr>
        <p:spPr>
          <a:xfrm>
            <a:off x="594360" y="2011680"/>
            <a:ext cx="301752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Live ticket</a:t>
            </a:r>
            <a:endParaRPr b="0" i="0" spc="0" sz="1300" u="none" cap="none" strike="noStrike">
              <a:solidFill>
                <a:schemeClr val="dk1"/>
              </a:solidFill>
              <a:latin typeface="Calibri"/>
              <a:ea typeface="Calibri"/>
              <a:cs typeface="Calibri"/>
              <a:sym typeface="Calibri"/>
            </a:endParaRPr>
          </a:p>
        </p:txBody>
      </p:sp>
      <p:sp>
        <p:nvSpPr>
          <p:cNvPr id="928" name="Google Shape;928;p37"/>
          <p:cNvSpPr txBox="1"/>
          <p:nvPr/>
        </p:nvSpPr>
        <p:spPr>
          <a:xfrm>
            <a:off x="594360" y="2350008"/>
            <a:ext cx="301752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050"/>
              <a:buFont typeface="Arial"/>
              <a:buNone/>
            </a:pPr>
            <a:r>
              <a:rPr b="0" i="0" lang="en-US" spc="0" sz="1050" u="none" cap="none" strike="noStrike">
                <a:solidFill>
                  <a:srgbClr val="6E6E73"/>
                </a:solidFill>
                <a:latin typeface="Arial"/>
                <a:ea typeface="Arial"/>
                <a:cs typeface="Arial"/>
                <a:sym typeface="Arial"/>
              </a:rPr>
              <a:t>Your trainer will provide a live ticket. Review it and investigate before you decide anything.</a:t>
            </a:r>
            <a:endParaRPr b="0" i="0" spc="0" sz="1050" u="none" cap="none" strike="noStrike">
              <a:solidFill>
                <a:schemeClr val="dk1"/>
              </a:solidFill>
              <a:latin typeface="Calibri"/>
              <a:ea typeface="Calibri"/>
              <a:cs typeface="Calibri"/>
              <a:sym typeface="Calibri"/>
            </a:endParaRPr>
          </a:p>
        </p:txBody>
      </p:sp>
      <p:sp>
        <p:nvSpPr>
          <p:cNvPr id="929" name="Google Shape;929;p37"/>
          <p:cNvSpPr/>
          <p:nvPr/>
        </p:nvSpPr>
        <p:spPr>
          <a:xfrm>
            <a:off x="594360" y="3401568"/>
            <a:ext cx="1371600" cy="329184"/>
          </a:xfrm>
          <a:prstGeom prst="roundRect">
            <a:avLst>
              <a:gd fmla="val 22222" name="adj"/>
            </a:avLst>
          </a:prstGeom>
          <a:solidFill>
            <a:srgbClr val="FFF3D6"/>
          </a:solidFill>
          <a:ln cap="flat" cmpd="sng" w="9525">
            <a:solidFill>
              <a:srgbClr val="FFF3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950"/>
              <a:buFont typeface="Arial"/>
              <a:buNone/>
            </a:pPr>
            <a:r>
              <a:rPr b="1" i="0" lang="en-US" spc="0" sz="950" u="none" cap="none" strike="noStrike">
                <a:solidFill>
                  <a:srgbClr val="9A6410"/>
                </a:solidFill>
                <a:latin typeface="Arial"/>
                <a:ea typeface="Arial"/>
                <a:cs typeface="Arial"/>
                <a:sym typeface="Arial"/>
              </a:rPr>
              <a:t>Trainer provides</a:t>
            </a:r>
            <a:endParaRPr b="0" i="0" spc="0" sz="950" u="none" cap="none" strike="noStrike">
              <a:solidFill>
                <a:schemeClr val="dk1"/>
              </a:solidFill>
              <a:latin typeface="Calibri"/>
              <a:ea typeface="Calibri"/>
              <a:cs typeface="Calibri"/>
              <a:sym typeface="Calibri"/>
            </a:endParaRPr>
          </a:p>
        </p:txBody>
      </p:sp>
      <p:sp>
        <p:nvSpPr>
          <p:cNvPr id="930" name="Google Shape;930;p37"/>
          <p:cNvSpPr/>
          <p:nvPr/>
        </p:nvSpPr>
        <p:spPr>
          <a:xfrm>
            <a:off x="3931920" y="1298448"/>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1" name="Google Shape;931;p37"/>
          <p:cNvSpPr/>
          <p:nvPr/>
        </p:nvSpPr>
        <p:spPr>
          <a:xfrm>
            <a:off x="4114800"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2" name="Google Shape;932;p37"/>
          <p:cNvSpPr txBox="1"/>
          <p:nvPr/>
        </p:nvSpPr>
        <p:spPr>
          <a:xfrm>
            <a:off x="4114800"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933" name="Google Shape;933;p37"/>
          <p:cNvSpPr txBox="1"/>
          <p:nvPr/>
        </p:nvSpPr>
        <p:spPr>
          <a:xfrm>
            <a:off x="4572000" y="1426464"/>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Where did the cancellation intent come from?</a:t>
            </a:r>
            <a:endParaRPr b="0" i="0" spc="0" sz="1250" u="none" cap="none" strike="noStrike">
              <a:solidFill>
                <a:schemeClr val="dk1"/>
              </a:solidFill>
              <a:latin typeface="Calibri"/>
              <a:ea typeface="Calibri"/>
              <a:cs typeface="Calibri"/>
              <a:sym typeface="Calibri"/>
            </a:endParaRPr>
          </a:p>
        </p:txBody>
      </p:sp>
      <p:sp>
        <p:nvSpPr>
          <p:cNvPr id="934" name="Google Shape;934;p37"/>
          <p:cNvSpPr txBox="1"/>
          <p:nvPr/>
        </p:nvSpPr>
        <p:spPr>
          <a:xfrm>
            <a:off x="4572000" y="1737360"/>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And what is the customer's real reason?</a:t>
            </a:r>
            <a:endParaRPr b="0" i="0" spc="0" sz="1000" u="none" cap="none" strike="noStrike">
              <a:solidFill>
                <a:schemeClr val="dk1"/>
              </a:solidFill>
              <a:latin typeface="Calibri"/>
              <a:ea typeface="Calibri"/>
              <a:cs typeface="Calibri"/>
              <a:sym typeface="Calibri"/>
            </a:endParaRPr>
          </a:p>
        </p:txBody>
      </p:sp>
      <p:sp>
        <p:nvSpPr>
          <p:cNvPr id="935" name="Google Shape;935;p37"/>
          <p:cNvSpPr/>
          <p:nvPr/>
        </p:nvSpPr>
        <p:spPr>
          <a:xfrm>
            <a:off x="3931920" y="2221992"/>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6" name="Google Shape;936;p37"/>
          <p:cNvSpPr/>
          <p:nvPr/>
        </p:nvSpPr>
        <p:spPr>
          <a:xfrm>
            <a:off x="4114800" y="247802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37" name="Google Shape;937;p37"/>
          <p:cNvSpPr txBox="1"/>
          <p:nvPr/>
        </p:nvSpPr>
        <p:spPr>
          <a:xfrm>
            <a:off x="4114800" y="247802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938" name="Google Shape;938;p37"/>
          <p:cNvSpPr txBox="1"/>
          <p:nvPr/>
        </p:nvSpPr>
        <p:spPr>
          <a:xfrm>
            <a:off x="4572000" y="2350008"/>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What actions are you going to take?</a:t>
            </a:r>
            <a:endParaRPr b="0" i="0" spc="0" sz="1250" u="none" cap="none" strike="noStrike">
              <a:solidFill>
                <a:schemeClr val="dk1"/>
              </a:solidFill>
              <a:latin typeface="Calibri"/>
              <a:ea typeface="Calibri"/>
              <a:cs typeface="Calibri"/>
              <a:sym typeface="Calibri"/>
            </a:endParaRPr>
          </a:p>
        </p:txBody>
      </p:sp>
      <p:sp>
        <p:nvSpPr>
          <p:cNvPr id="939" name="Google Shape;939;p37"/>
          <p:cNvSpPr txBox="1"/>
          <p:nvPr/>
        </p:nvSpPr>
        <p:spPr>
          <a:xfrm>
            <a:off x="4572000" y="2660904"/>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Opening, probe, terms, appointments, playbook.</a:t>
            </a:r>
            <a:endParaRPr b="0" i="0" spc="0" sz="1000" u="none" cap="none" strike="noStrike">
              <a:solidFill>
                <a:schemeClr val="dk1"/>
              </a:solidFill>
              <a:latin typeface="Calibri"/>
              <a:ea typeface="Calibri"/>
              <a:cs typeface="Calibri"/>
              <a:sym typeface="Calibri"/>
            </a:endParaRPr>
          </a:p>
        </p:txBody>
      </p:sp>
      <p:sp>
        <p:nvSpPr>
          <p:cNvPr id="940" name="Google Shape;940;p37"/>
          <p:cNvSpPr/>
          <p:nvPr/>
        </p:nvSpPr>
        <p:spPr>
          <a:xfrm>
            <a:off x="3931920" y="3145536"/>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41" name="Google Shape;941;p37"/>
          <p:cNvSpPr/>
          <p:nvPr/>
        </p:nvSpPr>
        <p:spPr>
          <a:xfrm>
            <a:off x="4114800" y="340156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42" name="Google Shape;942;p37"/>
          <p:cNvSpPr txBox="1"/>
          <p:nvPr/>
        </p:nvSpPr>
        <p:spPr>
          <a:xfrm>
            <a:off x="4114800" y="340156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943" name="Google Shape;943;p37"/>
          <p:cNvSpPr txBox="1"/>
          <p:nvPr/>
        </p:nvSpPr>
        <p:spPr>
          <a:xfrm>
            <a:off x="4572000" y="3273552"/>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5-min writing challenge</a:t>
            </a:r>
            <a:endParaRPr b="0" i="0" spc="0" sz="1250" u="none" cap="none" strike="noStrike">
              <a:solidFill>
                <a:schemeClr val="dk1"/>
              </a:solidFill>
              <a:latin typeface="Calibri"/>
              <a:ea typeface="Calibri"/>
              <a:cs typeface="Calibri"/>
              <a:sym typeface="Calibri"/>
            </a:endParaRPr>
          </a:p>
        </p:txBody>
      </p:sp>
      <p:sp>
        <p:nvSpPr>
          <p:cNvPr id="944" name="Google Shape;944;p37"/>
          <p:cNvSpPr txBox="1"/>
          <p:nvPr/>
        </p:nvSpPr>
        <p:spPr>
          <a:xfrm>
            <a:off x="4572000" y="3584448"/>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Create your outreach message.</a:t>
            </a:r>
            <a:endParaRPr b="0" i="0" spc="0" sz="1000" u="none" cap="none" strike="noStrike">
              <a:solidFill>
                <a:schemeClr val="dk1"/>
              </a:solidFill>
              <a:latin typeface="Calibri"/>
              <a:ea typeface="Calibri"/>
              <a:cs typeface="Calibri"/>
              <a:sym typeface="Calibri"/>
            </a:endParaRPr>
          </a:p>
        </p:txBody>
      </p:sp>
      <p:sp>
        <p:nvSpPr>
          <p:cNvPr id="945" name="Google Shape;945;p37"/>
          <p:cNvSpPr/>
          <p:nvPr/>
        </p:nvSpPr>
        <p:spPr>
          <a:xfrm>
            <a:off x="411480" y="4069080"/>
            <a:ext cx="8321040" cy="502920"/>
          </a:xfrm>
          <a:prstGeom prst="roundRect">
            <a:avLst>
              <a:gd fmla="val 14545"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946" name="Google Shape;946;p37"/>
          <p:cNvPicPr preferRelativeResize="0"/>
          <p:nvPr/>
        </p:nvPicPr>
        <p:blipFill rotWithShape="1">
          <a:blip r:embed="rId4">
            <a:alphaModFix/>
          </a:blip>
          <a:srcRect b="0" l="0" r="0" t="0"/>
          <a:stretch/>
        </p:blipFill>
        <p:spPr>
          <a:xfrm>
            <a:off x="640080" y="4192524"/>
            <a:ext cx="256032" cy="256032"/>
          </a:xfrm>
          <a:prstGeom prst="rect">
            <a:avLst/>
          </a:prstGeom>
          <a:noFill/>
          <a:ln>
            <a:noFill/>
          </a:ln>
        </p:spPr>
      </p:pic>
      <p:sp>
        <p:nvSpPr>
          <p:cNvPr id="947" name="Google Shape;947;p37"/>
          <p:cNvSpPr txBox="1"/>
          <p:nvPr/>
        </p:nvSpPr>
        <p:spPr>
          <a:xfrm>
            <a:off x="1051560" y="4069080"/>
            <a:ext cx="74980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Play"/>
              <a:buNone/>
            </a:pPr>
            <a:r>
              <a:rPr b="1" i="0" lang="en-US" spc="0" sz="1400" u="none" cap="none" strike="noStrike">
                <a:solidFill>
                  <a:srgbClr val="FFFFFF"/>
                </a:solidFill>
                <a:latin typeface="Play"/>
                <a:ea typeface="Play"/>
                <a:cs typeface="Play"/>
                <a:sym typeface="Play"/>
              </a:rPr>
              <a:t>Questions?  </a:t>
            </a:r>
            <a:r>
              <a:rPr b="0" i="0" lang="en-US" spc="0" sz="1100" u="none" cap="none" strike="noStrike">
                <a:solidFill>
                  <a:srgbClr val="FFFFFF"/>
                </a:solidFill>
                <a:latin typeface="Arial"/>
                <a:ea typeface="Arial"/>
                <a:cs typeface="Arial"/>
                <a:sym typeface="Arial"/>
              </a:rPr>
              <a:t>Open the floor before we move to the next topic.</a:t>
            </a:r>
            <a:endParaRPr b="0" i="0" spc="0" sz="1400" u="none" cap="none" strike="noStrike">
              <a:solidFill>
                <a:schemeClr val="dk1"/>
              </a:solidFill>
              <a:latin typeface="Calibri"/>
              <a:ea typeface="Calibri"/>
              <a:cs typeface="Calibri"/>
              <a:sym typeface="Calibri"/>
            </a:endParaRPr>
          </a:p>
        </p:txBody>
      </p:sp>
      <p:sp>
        <p:nvSpPr>
          <p:cNvPr id="948" name="Google Shape;948;p3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38"/>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TOPIC 04 OF 07</a:t>
            </a:r>
            <a:endParaRPr b="0" i="0" spc="0" sz="800" u="none" cap="none" strike="noStrike">
              <a:solidFill>
                <a:schemeClr val="dk1"/>
              </a:solidFill>
              <a:latin typeface="Calibri"/>
              <a:ea typeface="Calibri"/>
              <a:cs typeface="Calibri"/>
              <a:sym typeface="Calibri"/>
            </a:endParaRPr>
          </a:p>
        </p:txBody>
      </p:sp>
      <p:sp>
        <p:nvSpPr>
          <p:cNvPr id="955" name="Google Shape;955;p38"/>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US" spc="0" sz="2800" u="none" cap="none" strike="noStrike">
                <a:solidFill>
                  <a:srgbClr val="1D1D1F"/>
                </a:solidFill>
                <a:latin typeface="Play"/>
                <a:ea typeface="Play"/>
                <a:cs typeface="Play"/>
                <a:sym typeface="Play"/>
              </a:rPr>
              <a:t>General Retention Playbook</a:t>
            </a:r>
            <a:endParaRPr b="0" i="0" spc="0" sz="2800" u="none" cap="none" strike="noStrike">
              <a:solidFill>
                <a:schemeClr val="dk1"/>
              </a:solidFill>
              <a:latin typeface="Calibri"/>
              <a:ea typeface="Calibri"/>
              <a:cs typeface="Calibri"/>
              <a:sym typeface="Calibri"/>
            </a:endParaRPr>
          </a:p>
        </p:txBody>
      </p:sp>
      <p:sp>
        <p:nvSpPr>
          <p:cNvPr id="956" name="Google Shape;956;p38"/>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US" spc="0" sz="1150" u="none" cap="none" strike="noStrike">
                <a:solidFill>
                  <a:srgbClr val="6E6E73"/>
                </a:solidFill>
                <a:latin typeface="Arial"/>
                <a:ea typeface="Arial"/>
                <a:cs typeface="Arial"/>
                <a:sym typeface="Arial"/>
              </a:rPr>
              <a:t>The thinking behind every retention conversation.</a:t>
            </a:r>
            <a:endParaRPr b="0" i="0" spc="0" sz="1150" u="none" cap="none" strike="noStrike">
              <a:solidFill>
                <a:schemeClr val="dk1"/>
              </a:solidFill>
              <a:latin typeface="Calibri"/>
              <a:ea typeface="Calibri"/>
              <a:cs typeface="Calibri"/>
              <a:sym typeface="Calibri"/>
            </a:endParaRPr>
          </a:p>
        </p:txBody>
      </p:sp>
      <p:sp>
        <p:nvSpPr>
          <p:cNvPr id="957" name="Google Shape;957;p38"/>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YOU'LL LEARN</a:t>
            </a:r>
            <a:endParaRPr b="0" i="0" spc="0" sz="800" u="none" cap="none" strike="noStrike">
              <a:solidFill>
                <a:schemeClr val="dk1"/>
              </a:solidFill>
              <a:latin typeface="Calibri"/>
              <a:ea typeface="Calibri"/>
              <a:cs typeface="Calibri"/>
              <a:sym typeface="Calibri"/>
            </a:endParaRPr>
          </a:p>
        </p:txBody>
      </p:sp>
      <p:sp>
        <p:nvSpPr>
          <p:cNvPr id="958" name="Google Shape;958;p38"/>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959" name="Google Shape;959;p38"/>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960" name="Google Shape;960;p38"/>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Fix the real problem, not just offer something</a:t>
            </a:r>
            <a:endParaRPr b="0" i="0" spc="0" sz="1050" u="none" cap="none" strike="noStrike">
              <a:solidFill>
                <a:schemeClr val="dk1"/>
              </a:solidFill>
              <a:latin typeface="Calibri"/>
              <a:ea typeface="Calibri"/>
              <a:cs typeface="Calibri"/>
              <a:sym typeface="Calibri"/>
            </a:endParaRPr>
          </a:p>
        </p:txBody>
      </p:sp>
      <p:sp>
        <p:nvSpPr>
          <p:cNvPr id="961" name="Google Shape;961;p38"/>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962" name="Google Shape;962;p38"/>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963" name="Google Shape;963;p38"/>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The 5 key factors: weigh, don't count</a:t>
            </a:r>
            <a:endParaRPr b="0" i="0" spc="0" sz="1050" u="none" cap="none" strike="noStrike">
              <a:solidFill>
                <a:schemeClr val="dk1"/>
              </a:solidFill>
              <a:latin typeface="Calibri"/>
              <a:ea typeface="Calibri"/>
              <a:cs typeface="Calibri"/>
              <a:sym typeface="Calibri"/>
            </a:endParaRPr>
          </a:p>
        </p:txBody>
      </p:sp>
      <p:sp>
        <p:nvSpPr>
          <p:cNvPr id="964" name="Google Shape;964;p38"/>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965" name="Google Shape;965;p38"/>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966" name="Google Shape;966;p38"/>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Matching and presenting the offer</a:t>
            </a:r>
            <a:endParaRPr b="0" i="0" spc="0" sz="1050" u="none" cap="none" strike="noStrike">
              <a:solidFill>
                <a:schemeClr val="dk1"/>
              </a:solidFill>
              <a:latin typeface="Calibri"/>
              <a:ea typeface="Calibri"/>
              <a:cs typeface="Calibri"/>
              <a:sym typeface="Calibri"/>
            </a:endParaRPr>
          </a:p>
        </p:txBody>
      </p:sp>
      <p:sp>
        <p:nvSpPr>
          <p:cNvPr id="967" name="Google Shape;967;p38"/>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968" name="Google Shape;968;p38"/>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969" name="Google Shape;969;p38"/>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When retention isn't the right call</a:t>
            </a:r>
            <a:endParaRPr b="0" i="0" spc="0" sz="1050" u="none" cap="none" strike="noStrike">
              <a:solidFill>
                <a:schemeClr val="dk1"/>
              </a:solidFill>
              <a:latin typeface="Calibri"/>
              <a:ea typeface="Calibri"/>
              <a:cs typeface="Calibri"/>
              <a:sym typeface="Calibri"/>
            </a:endParaRPr>
          </a:p>
        </p:txBody>
      </p:sp>
      <p:sp>
        <p:nvSpPr>
          <p:cNvPr id="970" name="Google Shape;970;p38"/>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1" name="Google Shape;971;p38"/>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7/ill10.png" id="972" name="Google Shape;972;p38"/>
          <p:cNvPicPr preferRelativeResize="0"/>
          <p:nvPr/>
        </p:nvPicPr>
        <p:blipFill rotWithShape="1">
          <a:blip r:embed="rId4">
            <a:alphaModFix/>
          </a:blip>
          <a:srcRect b="0" l="0" r="0" t="0"/>
          <a:stretch/>
        </p:blipFill>
        <p:spPr>
          <a:xfrm>
            <a:off x="5541264" y="1776984"/>
            <a:ext cx="2926080" cy="1584960"/>
          </a:xfrm>
          <a:prstGeom prst="rect">
            <a:avLst/>
          </a:prstGeom>
          <a:noFill/>
          <a:ln>
            <a:noFill/>
          </a:ln>
        </p:spPr>
      </p:pic>
      <p:sp>
        <p:nvSpPr>
          <p:cNvPr id="973" name="Google Shape;973;p38"/>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4" name="Google Shape;974;p38"/>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5" name="Google Shape;975;p38"/>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6" name="Google Shape;976;p38"/>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7" name="Google Shape;977;p38"/>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8" name="Google Shape;978;p38"/>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79" name="Google Shape;979;p3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3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RETENTION PLAYBOOK</a:t>
            </a:r>
            <a:endParaRPr b="0" i="0" spc="0" sz="800" u="none" cap="none" strike="noStrike">
              <a:solidFill>
                <a:schemeClr val="dk1"/>
              </a:solidFill>
              <a:latin typeface="Calibri"/>
              <a:ea typeface="Calibri"/>
              <a:cs typeface="Calibri"/>
              <a:sym typeface="Calibri"/>
            </a:endParaRPr>
          </a:p>
        </p:txBody>
      </p:sp>
      <p:sp>
        <p:nvSpPr>
          <p:cNvPr id="986" name="Google Shape;986;p3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Fix the real problem</a:t>
            </a:r>
            <a:endParaRPr b="0" i="0" spc="0" sz="2400" u="none" cap="none" strike="noStrike">
              <a:solidFill>
                <a:schemeClr val="dk1"/>
              </a:solidFill>
              <a:latin typeface="Calibri"/>
              <a:ea typeface="Calibri"/>
              <a:cs typeface="Calibri"/>
              <a:sym typeface="Calibri"/>
            </a:endParaRPr>
          </a:p>
        </p:txBody>
      </p:sp>
      <p:sp>
        <p:nvSpPr>
          <p:cNvPr id="987" name="Google Shape;987;p3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Not just offer something.</a:t>
            </a:r>
            <a:endParaRPr b="0" i="0" spc="0" sz="1200" u="none" cap="none" strike="noStrike">
              <a:solidFill>
                <a:schemeClr val="dk1"/>
              </a:solidFill>
              <a:latin typeface="Calibri"/>
              <a:ea typeface="Calibri"/>
              <a:cs typeface="Calibri"/>
              <a:sym typeface="Calibri"/>
            </a:endParaRPr>
          </a:p>
        </p:txBody>
      </p:sp>
      <p:sp>
        <p:nvSpPr>
          <p:cNvPr id="988" name="Google Shape;988;p39"/>
          <p:cNvSpPr/>
          <p:nvPr/>
        </p:nvSpPr>
        <p:spPr>
          <a:xfrm>
            <a:off x="411480" y="1325880"/>
            <a:ext cx="4069080" cy="1920240"/>
          </a:xfrm>
          <a:prstGeom prst="roundRect">
            <a:avLst>
              <a:gd fmla="val 3810" name="adj"/>
            </a:avLst>
          </a:prstGeom>
          <a:solidFill>
            <a:srgbClr val="FFFFFF"/>
          </a:solidFill>
          <a:ln cap="flat" cmpd="sng" w="9525">
            <a:solidFill>
              <a:srgbClr val="1D1D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89" name="Google Shape;989;p39"/>
          <p:cNvSpPr/>
          <p:nvPr/>
        </p:nvSpPr>
        <p:spPr>
          <a:xfrm>
            <a:off x="411480" y="1325880"/>
            <a:ext cx="4069080" cy="329184"/>
          </a:xfrm>
          <a:prstGeom prst="roundRect">
            <a:avLst>
              <a:gd fmla="val 16667" name="adj"/>
            </a:avLst>
          </a:prstGeom>
          <a:solidFill>
            <a:srgbClr val="1D1D1F"/>
          </a:solidFill>
          <a:ln cap="flat" cmpd="sng" w="12700">
            <a:solidFill>
              <a:srgbClr val="1D1D1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Old: the retention ladder</a:t>
            </a:r>
            <a:endParaRPr b="0" i="0" spc="0" sz="1050" u="none" cap="none" strike="noStrike">
              <a:solidFill>
                <a:schemeClr val="dk1"/>
              </a:solidFill>
              <a:latin typeface="Calibri"/>
              <a:ea typeface="Calibri"/>
              <a:cs typeface="Calibri"/>
              <a:sym typeface="Calibri"/>
            </a:endParaRPr>
          </a:p>
        </p:txBody>
      </p:sp>
      <p:sp>
        <p:nvSpPr>
          <p:cNvPr id="990" name="Google Shape;990;p39"/>
          <p:cNvSpPr txBox="1"/>
          <p:nvPr/>
        </p:nvSpPr>
        <p:spPr>
          <a:xfrm>
            <a:off x="576072" y="1764792"/>
            <a:ext cx="3739896" cy="140817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50"/>
              <a:buFont typeface="Arial"/>
              <a:buChar char="•"/>
            </a:pPr>
            <a:r>
              <a:rPr b="0" i="0" lang="en-US" spc="0" sz="1050" u="none" cap="none" strike="noStrike">
                <a:solidFill>
                  <a:srgbClr val="1D1D1F"/>
                </a:solidFill>
                <a:latin typeface="Arial"/>
                <a:ea typeface="Arial"/>
                <a:cs typeface="Arial"/>
                <a:sym typeface="Arial"/>
              </a:rPr>
              <a:t>Start small</a:t>
            </a:r>
            <a:endParaRPr b="0" i="0" spc="0" sz="10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50"/>
              <a:buFont typeface="Arial"/>
              <a:buChar char="•"/>
            </a:pPr>
            <a:r>
              <a:rPr b="0" i="0" lang="en-US" spc="0" sz="1050" u="none" cap="none" strike="noStrike">
                <a:solidFill>
                  <a:srgbClr val="1D1D1F"/>
                </a:solidFill>
                <a:latin typeface="Arial"/>
                <a:ea typeface="Arial"/>
                <a:cs typeface="Arial"/>
                <a:sym typeface="Arial"/>
              </a:rPr>
              <a:t>Escalate only if they push back</a:t>
            </a:r>
            <a:endParaRPr b="0" i="0" spc="0" sz="10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50"/>
              <a:buFont typeface="Arial"/>
              <a:buChar char="•"/>
            </a:pPr>
            <a:r>
              <a:rPr b="0" i="0" lang="en-US" spc="0" sz="1050" u="none" cap="none" strike="noStrike">
                <a:solidFill>
                  <a:srgbClr val="1D1D1F"/>
                </a:solidFill>
                <a:latin typeface="Arial"/>
                <a:ea typeface="Arial"/>
                <a:cs typeface="Arial"/>
                <a:sym typeface="Arial"/>
              </a:rPr>
              <a:t>Feels like being managed with incentives</a:t>
            </a:r>
            <a:endParaRPr b="0" i="0" spc="0" sz="1050" u="none" cap="none" strike="noStrike">
              <a:solidFill>
                <a:schemeClr val="dk1"/>
              </a:solidFill>
              <a:latin typeface="Calibri"/>
              <a:ea typeface="Calibri"/>
              <a:cs typeface="Calibri"/>
              <a:sym typeface="Calibri"/>
            </a:endParaRPr>
          </a:p>
        </p:txBody>
      </p:sp>
      <p:sp>
        <p:nvSpPr>
          <p:cNvPr id="991" name="Google Shape;991;p39"/>
          <p:cNvSpPr/>
          <p:nvPr/>
        </p:nvSpPr>
        <p:spPr>
          <a:xfrm>
            <a:off x="4663440" y="1325880"/>
            <a:ext cx="4069080" cy="1920240"/>
          </a:xfrm>
          <a:prstGeom prst="roundRect">
            <a:avLst>
              <a:gd fmla="val 3810"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992" name="Google Shape;992;p39"/>
          <p:cNvSpPr/>
          <p:nvPr/>
        </p:nvSpPr>
        <p:spPr>
          <a:xfrm>
            <a:off x="4663440" y="1325880"/>
            <a:ext cx="40690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Now: root cause first</a:t>
            </a:r>
            <a:endParaRPr b="0" i="0" spc="0" sz="1050" u="none" cap="none" strike="noStrike">
              <a:solidFill>
                <a:schemeClr val="dk1"/>
              </a:solidFill>
              <a:latin typeface="Calibri"/>
              <a:ea typeface="Calibri"/>
              <a:cs typeface="Calibri"/>
              <a:sym typeface="Calibri"/>
            </a:endParaRPr>
          </a:p>
        </p:txBody>
      </p:sp>
      <p:sp>
        <p:nvSpPr>
          <p:cNvPr id="993" name="Google Shape;993;p39"/>
          <p:cNvSpPr txBox="1"/>
          <p:nvPr/>
        </p:nvSpPr>
        <p:spPr>
          <a:xfrm>
            <a:off x="4828032" y="1764792"/>
            <a:ext cx="3739896" cy="140817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50"/>
              <a:buFont typeface="Arial"/>
              <a:buChar char="•"/>
            </a:pPr>
            <a:r>
              <a:rPr b="0" i="0" lang="en-US" spc="0" sz="1050" u="none" cap="none" strike="noStrike">
                <a:solidFill>
                  <a:srgbClr val="1D1D1F"/>
                </a:solidFill>
                <a:latin typeface="Arial"/>
                <a:ea typeface="Arial"/>
                <a:cs typeface="Arial"/>
                <a:sym typeface="Arial"/>
              </a:rPr>
              <a:t>Find why they want to leave</a:t>
            </a:r>
            <a:endParaRPr b="0" i="0" spc="0" sz="10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50"/>
              <a:buFont typeface="Arial"/>
              <a:buChar char="•"/>
            </a:pPr>
            <a:r>
              <a:rPr b="0" i="0" lang="en-US" spc="0" sz="1050" u="none" cap="none" strike="noStrike">
                <a:solidFill>
                  <a:srgbClr val="1D1D1F"/>
                </a:solidFill>
                <a:latin typeface="Arial"/>
                <a:ea typeface="Arial"/>
                <a:cs typeface="Arial"/>
                <a:sym typeface="Arial"/>
              </a:rPr>
              <a:t>Match the offer to that reason</a:t>
            </a:r>
            <a:endParaRPr b="0" i="0" spc="0" sz="10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50"/>
              <a:buFont typeface="Arial"/>
              <a:buChar char="•"/>
            </a:pPr>
            <a:r>
              <a:rPr b="0" i="0" lang="en-US" spc="0" sz="1050" u="none" cap="none" strike="noStrike">
                <a:solidFill>
                  <a:srgbClr val="1D1D1F"/>
                </a:solidFill>
                <a:latin typeface="Arial"/>
                <a:ea typeface="Arial"/>
                <a:cs typeface="Arial"/>
                <a:sym typeface="Arial"/>
              </a:rPr>
              <a:t>Show its value clearly</a:t>
            </a:r>
            <a:endParaRPr b="0" i="0" spc="0" sz="1050" u="none" cap="none" strike="noStrike">
              <a:solidFill>
                <a:schemeClr val="dk1"/>
              </a:solidFill>
              <a:latin typeface="Calibri"/>
              <a:ea typeface="Calibri"/>
              <a:cs typeface="Calibri"/>
              <a:sym typeface="Calibri"/>
            </a:endParaRPr>
          </a:p>
        </p:txBody>
      </p:sp>
      <p:sp>
        <p:nvSpPr>
          <p:cNvPr id="994" name="Google Shape;994;p39"/>
          <p:cNvSpPr/>
          <p:nvPr/>
        </p:nvSpPr>
        <p:spPr>
          <a:xfrm>
            <a:off x="411480" y="347472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995" name="Google Shape;995;p39"/>
          <p:cNvPicPr preferRelativeResize="0"/>
          <p:nvPr/>
        </p:nvPicPr>
        <p:blipFill rotWithShape="1">
          <a:blip r:embed="rId3">
            <a:alphaModFix/>
          </a:blip>
          <a:srcRect b="0" l="0" r="0" t="0"/>
          <a:stretch/>
        </p:blipFill>
        <p:spPr>
          <a:xfrm>
            <a:off x="566928" y="3584448"/>
            <a:ext cx="164592" cy="164592"/>
          </a:xfrm>
          <a:prstGeom prst="rect">
            <a:avLst/>
          </a:prstGeom>
          <a:noFill/>
          <a:ln>
            <a:noFill/>
          </a:ln>
        </p:spPr>
      </p:pic>
      <p:sp>
        <p:nvSpPr>
          <p:cNvPr id="996" name="Google Shape;996;p39"/>
          <p:cNvSpPr txBox="1"/>
          <p:nvPr/>
        </p:nvSpPr>
        <p:spPr>
          <a:xfrm>
            <a:off x="822960" y="357530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The goal:  </a:t>
            </a:r>
            <a:r>
              <a:rPr b="0" i="0" lang="en-US" spc="0" sz="1000" u="none" cap="none" strike="noStrike">
                <a:solidFill>
                  <a:srgbClr val="1D1D1F"/>
                </a:solidFill>
                <a:latin typeface="Arial"/>
                <a:ea typeface="Arial"/>
                <a:cs typeface="Arial"/>
                <a:sym typeface="Arial"/>
              </a:rPr>
              <a:t>the customer feels understood, and their specific problem gets solved.</a:t>
            </a:r>
            <a:endParaRPr b="0" i="0" spc="0" sz="1000" u="none" cap="none" strike="noStrike">
              <a:solidFill>
                <a:schemeClr val="dk1"/>
              </a:solidFill>
              <a:latin typeface="Calibri"/>
              <a:ea typeface="Calibri"/>
              <a:cs typeface="Calibri"/>
              <a:sym typeface="Calibri"/>
            </a:endParaRPr>
          </a:p>
        </p:txBody>
      </p:sp>
      <p:sp>
        <p:nvSpPr>
          <p:cNvPr id="997" name="Google Shape;997;p3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4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RETENTION PLAYBOOK</a:t>
            </a:r>
            <a:endParaRPr b="0" i="0" spc="0" sz="800" u="none" cap="none" strike="noStrike">
              <a:solidFill>
                <a:schemeClr val="dk1"/>
              </a:solidFill>
              <a:latin typeface="Calibri"/>
              <a:ea typeface="Calibri"/>
              <a:cs typeface="Calibri"/>
              <a:sym typeface="Calibri"/>
            </a:endParaRPr>
          </a:p>
        </p:txBody>
      </p:sp>
      <p:sp>
        <p:nvSpPr>
          <p:cNvPr id="1004" name="Google Shape;1004;p4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The 5 key factors</a:t>
            </a:r>
            <a:endParaRPr b="0" i="0" spc="0" sz="2400" u="none" cap="none" strike="noStrike">
              <a:solidFill>
                <a:schemeClr val="dk1"/>
              </a:solidFill>
              <a:latin typeface="Calibri"/>
              <a:ea typeface="Calibri"/>
              <a:cs typeface="Calibri"/>
              <a:sym typeface="Calibri"/>
            </a:endParaRPr>
          </a:p>
        </p:txBody>
      </p:sp>
      <p:sp>
        <p:nvSpPr>
          <p:cNvPr id="1005" name="Google Shape;1005;p4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Look at all five together.</a:t>
            </a:r>
            <a:endParaRPr b="0" i="0" spc="0" sz="1200" u="none" cap="none" strike="noStrike">
              <a:solidFill>
                <a:schemeClr val="dk1"/>
              </a:solidFill>
              <a:latin typeface="Calibri"/>
              <a:ea typeface="Calibri"/>
              <a:cs typeface="Calibri"/>
              <a:sym typeface="Calibri"/>
            </a:endParaRPr>
          </a:p>
        </p:txBody>
      </p:sp>
      <p:graphicFrame>
        <p:nvGraphicFramePr>
          <p:cNvPr id="1006" name="Google Shape;1006;p40"/>
          <p:cNvGraphicFramePr/>
          <p:nvPr/>
        </p:nvGraphicFramePr>
        <p:xfrm>
          <a:off x="411480" y="1298448"/>
          <a:ext cx="3000000" cy="3000000"/>
        </p:xfrm>
        <a:graphic>
          <a:graphicData uri="http://schemas.openxmlformats.org/drawingml/2006/table">
            <a:tbl>
              <a:tblPr>
                <a:noFill/>
                <a:tableStyleId>{8EFC85C5-4764-4BF5-A5AE-CCAC02DEFFEE}</a:tableStyleId>
              </a:tblPr>
              <a:tblGrid>
                <a:gridCol w="1463050"/>
                <a:gridCol w="3200400"/>
                <a:gridCol w="3657600"/>
              </a:tblGrid>
              <a:tr h="384050">
                <a:tc>
                  <a:txBody>
                    <a:bodyPr/>
                    <a:lstStyle/>
                    <a:p>
                      <a:pPr indent="0" lvl="0" marL="0" marR="0" rtl="0" algn="l">
                        <a:lnSpc>
                          <a:spcPct val="100000"/>
                        </a:lnSpc>
                        <a:spcBef>
                          <a:spcPts val="0"/>
                        </a:spcBef>
                        <a:spcAft>
                          <a:spcPts val="0"/>
                        </a:spcAft>
                        <a:buClr>
                          <a:srgbClr val="0B7A6F"/>
                        </a:buClr>
                        <a:buSzPts val="950"/>
                        <a:buFont typeface="Play"/>
                        <a:buNone/>
                      </a:pPr>
                      <a:r>
                        <a:rPr b="1" lang="en-US" spc="0" sz="950" u="none" cap="none" strike="noStrike">
                          <a:solidFill>
                            <a:srgbClr val="0B7A6F"/>
                          </a:solidFill>
                          <a:latin typeface="Play"/>
                          <a:ea typeface="Play"/>
                          <a:cs typeface="Play"/>
                          <a:sym typeface="Play"/>
                        </a:rPr>
                        <a:t>Factor</a:t>
                      </a:r>
                      <a:endParaRPr spc="0"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US" spc="0" sz="950" u="none" cap="none" strike="noStrike">
                          <a:solidFill>
                            <a:srgbClr val="0B7A6F"/>
                          </a:solidFill>
                          <a:latin typeface="Play"/>
                          <a:ea typeface="Play"/>
                          <a:cs typeface="Play"/>
                          <a:sym typeface="Play"/>
                        </a:rPr>
                        <a:t>Retainable signal</a:t>
                      </a:r>
                      <a:endParaRPr spc="0"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B3261E"/>
                        </a:buClr>
                        <a:buSzPts val="950"/>
                        <a:buFont typeface="Play"/>
                        <a:buNone/>
                      </a:pPr>
                      <a:r>
                        <a:rPr b="1" lang="en-US" spc="0" sz="950" u="none" cap="none" strike="noStrike">
                          <a:solidFill>
                            <a:srgbClr val="B3261E"/>
                          </a:solidFill>
                          <a:latin typeface="Play"/>
                          <a:ea typeface="Play"/>
                          <a:cs typeface="Play"/>
                          <a:sym typeface="Play"/>
                        </a:rPr>
                        <a:t>Harder to retain</a:t>
                      </a:r>
                      <a:endParaRPr spc="0"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CEBEA"/>
                    </a:solidFill>
                  </a:tcPr>
                </a:tc>
              </a:tr>
              <a:tr h="384050">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Intent</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Asking for help or clarification</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Already decided. Not automatically unretainable</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84050">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Issue type</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Fixable: quality, scheduling, confusion</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Repeated failures, broken promises. Still try</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84050">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Emotion</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Mild frustration, wants it fixed</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Strong, final language: slow down, test openness</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84050">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Escalation risk</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Frustrated, no material legal threat</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AG threat, legal letter, lawyer: cancel + waive ETF</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84050">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History</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First occurrence</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Repeated bad experiences. Still worth a try</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007" name="Google Shape;1007;p40"/>
          <p:cNvSpPr/>
          <p:nvPr/>
        </p:nvSpPr>
        <p:spPr>
          <a:xfrm>
            <a:off x="411480" y="37947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008" name="Google Shape;1008;p40"/>
          <p:cNvPicPr preferRelativeResize="0"/>
          <p:nvPr/>
        </p:nvPicPr>
        <p:blipFill rotWithShape="1">
          <a:blip r:embed="rId3">
            <a:alphaModFix/>
          </a:blip>
          <a:srcRect b="0" l="0" r="0" t="0"/>
          <a:stretch/>
        </p:blipFill>
        <p:spPr>
          <a:xfrm>
            <a:off x="566928" y="3904488"/>
            <a:ext cx="164592" cy="164592"/>
          </a:xfrm>
          <a:prstGeom prst="rect">
            <a:avLst/>
          </a:prstGeom>
          <a:noFill/>
          <a:ln>
            <a:noFill/>
          </a:ln>
        </p:spPr>
      </p:pic>
      <p:sp>
        <p:nvSpPr>
          <p:cNvPr id="1009" name="Google Shape;1009;p40"/>
          <p:cNvSpPr txBox="1"/>
          <p:nvPr/>
        </p:nvSpPr>
        <p:spPr>
          <a:xfrm>
            <a:off x="822960" y="38953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History:  </a:t>
            </a:r>
            <a:r>
              <a:rPr b="0" i="0" lang="en-US" spc="0" sz="1000" u="none" cap="none" strike="noStrike">
                <a:solidFill>
                  <a:srgbClr val="1D1D1F"/>
                </a:solidFill>
                <a:latin typeface="Arial"/>
                <a:ea typeface="Arial"/>
                <a:cs typeface="Arial"/>
                <a:sym typeface="Arial"/>
              </a:rPr>
              <a:t>only stop after two consecutive job problems and the customer declined help.</a:t>
            </a:r>
            <a:endParaRPr b="0" i="0" spc="0" sz="1000" u="none" cap="none" strike="noStrike">
              <a:solidFill>
                <a:schemeClr val="dk1"/>
              </a:solidFill>
              <a:latin typeface="Calibri"/>
              <a:ea typeface="Calibri"/>
              <a:cs typeface="Calibri"/>
              <a:sym typeface="Calibri"/>
            </a:endParaRPr>
          </a:p>
        </p:txBody>
      </p:sp>
      <p:sp>
        <p:nvSpPr>
          <p:cNvPr id="1010" name="Google Shape;1010;p4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sp>
        <p:nvSpPr>
          <p:cNvPr id="1016" name="Google Shape;1016;p4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RETENTION PLAYBOOK</a:t>
            </a:r>
            <a:endParaRPr b="0" i="0" spc="0" sz="800" u="none" cap="none" strike="noStrike">
              <a:solidFill>
                <a:schemeClr val="dk1"/>
              </a:solidFill>
              <a:latin typeface="Calibri"/>
              <a:ea typeface="Calibri"/>
              <a:cs typeface="Calibri"/>
              <a:sym typeface="Calibri"/>
            </a:endParaRPr>
          </a:p>
        </p:txBody>
      </p:sp>
      <p:sp>
        <p:nvSpPr>
          <p:cNvPr id="1017" name="Google Shape;1017;p4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Weigh, don't count</a:t>
            </a:r>
            <a:endParaRPr b="0" i="0" spc="0" sz="2400" u="none" cap="none" strike="noStrike">
              <a:solidFill>
                <a:schemeClr val="dk1"/>
              </a:solidFill>
              <a:latin typeface="Calibri"/>
              <a:ea typeface="Calibri"/>
              <a:cs typeface="Calibri"/>
              <a:sym typeface="Calibri"/>
            </a:endParaRPr>
          </a:p>
        </p:txBody>
      </p:sp>
      <p:sp>
        <p:nvSpPr>
          <p:cNvPr id="1018" name="Google Shape;1018;p4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Read the situation, not the scoreboard.</a:t>
            </a:r>
            <a:endParaRPr b="0" i="0" spc="0" sz="1200" u="none" cap="none" strike="noStrike">
              <a:solidFill>
                <a:schemeClr val="dk1"/>
              </a:solidFill>
              <a:latin typeface="Calibri"/>
              <a:ea typeface="Calibri"/>
              <a:cs typeface="Calibri"/>
              <a:sym typeface="Calibri"/>
            </a:endParaRPr>
          </a:p>
        </p:txBody>
      </p:sp>
      <p:sp>
        <p:nvSpPr>
          <p:cNvPr id="1019" name="Google Shape;1019;p41"/>
          <p:cNvSpPr/>
          <p:nvPr/>
        </p:nvSpPr>
        <p:spPr>
          <a:xfrm>
            <a:off x="411480" y="1325880"/>
            <a:ext cx="4069080" cy="1828800"/>
          </a:xfrm>
          <a:prstGeom prst="roundRect">
            <a:avLst>
              <a:gd fmla="val 4000"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0" name="Google Shape;1020;p41"/>
          <p:cNvSpPr/>
          <p:nvPr/>
        </p:nvSpPr>
        <p:spPr>
          <a:xfrm>
            <a:off x="411480" y="1325880"/>
            <a:ext cx="4069080" cy="329184"/>
          </a:xfrm>
          <a:prstGeom prst="roundRect">
            <a:avLst>
              <a:gd fmla="val 16667" name="adj"/>
            </a:avLst>
          </a:prstGeom>
          <a:solidFill>
            <a:srgbClr val="B3261E"/>
          </a:solidFill>
          <a:ln cap="flat" cmpd="sng" w="12700">
            <a:solidFill>
              <a:srgbClr val="B3261E"/>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Hard overrides: this alone decides</a:t>
            </a:r>
            <a:endParaRPr b="0" i="0" spc="0" sz="1050" u="none" cap="none" strike="noStrike">
              <a:solidFill>
                <a:schemeClr val="dk1"/>
              </a:solidFill>
              <a:latin typeface="Calibri"/>
              <a:ea typeface="Calibri"/>
              <a:cs typeface="Calibri"/>
              <a:sym typeface="Calibri"/>
            </a:endParaRPr>
          </a:p>
        </p:txBody>
      </p:sp>
      <p:sp>
        <p:nvSpPr>
          <p:cNvPr id="1021" name="Google Shape;1021;p41"/>
          <p:cNvSpPr txBox="1"/>
          <p:nvPr/>
        </p:nvSpPr>
        <p:spPr>
          <a:xfrm>
            <a:off x="576072" y="1764792"/>
            <a:ext cx="3739896" cy="13167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Material legal threat</a:t>
            </a:r>
            <a:endParaRPr b="0" i="0" spc="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Confirmed abuse toward a cleaner</a:t>
            </a:r>
            <a:endParaRPr b="0" i="0" spc="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Retention is off the table, whatever the other factors say</a:t>
            </a:r>
            <a:endParaRPr b="0" i="0" spc="0" sz="1000" u="none" cap="none" strike="noStrike">
              <a:solidFill>
                <a:schemeClr val="dk1"/>
              </a:solidFill>
              <a:latin typeface="Calibri"/>
              <a:ea typeface="Calibri"/>
              <a:cs typeface="Calibri"/>
              <a:sym typeface="Calibri"/>
            </a:endParaRPr>
          </a:p>
        </p:txBody>
      </p:sp>
      <p:sp>
        <p:nvSpPr>
          <p:cNvPr id="1022" name="Google Shape;1022;p41"/>
          <p:cNvSpPr/>
          <p:nvPr/>
        </p:nvSpPr>
        <p:spPr>
          <a:xfrm>
            <a:off x="4663440" y="1325880"/>
            <a:ext cx="4069080" cy="1828800"/>
          </a:xfrm>
          <a:prstGeom prst="roundRect">
            <a:avLst>
              <a:gd fmla="val 4000"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23" name="Google Shape;1023;p41"/>
          <p:cNvSpPr/>
          <p:nvPr/>
        </p:nvSpPr>
        <p:spPr>
          <a:xfrm>
            <a:off x="4663440" y="1325880"/>
            <a:ext cx="40690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Weigh it: a signal to slow down</a:t>
            </a:r>
            <a:endParaRPr b="0" i="0" spc="0" sz="1050" u="none" cap="none" strike="noStrike">
              <a:solidFill>
                <a:schemeClr val="dk1"/>
              </a:solidFill>
              <a:latin typeface="Calibri"/>
              <a:ea typeface="Calibri"/>
              <a:cs typeface="Calibri"/>
              <a:sym typeface="Calibri"/>
            </a:endParaRPr>
          </a:p>
        </p:txBody>
      </p:sp>
      <p:sp>
        <p:nvSpPr>
          <p:cNvPr id="1024" name="Google Shape;1024;p41"/>
          <p:cNvSpPr txBox="1"/>
          <p:nvPr/>
        </p:nvSpPr>
        <p:spPr>
          <a:xfrm>
            <a:off x="4828032" y="1764792"/>
            <a:ext cx="3739896" cy="13167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Strong, final language</a:t>
            </a:r>
            <a:endParaRPr b="0" i="0" spc="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Already decided to cancel</a:t>
            </a:r>
            <a:endParaRPr b="0" i="0" spc="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Repeated failures</a:t>
            </a:r>
            <a:endParaRPr b="0" i="0" spc="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Test openness. Not a disqualifier</a:t>
            </a:r>
            <a:endParaRPr b="0" i="0" spc="0" sz="1000" u="none" cap="none" strike="noStrike">
              <a:solidFill>
                <a:schemeClr val="dk1"/>
              </a:solidFill>
              <a:latin typeface="Calibri"/>
              <a:ea typeface="Calibri"/>
              <a:cs typeface="Calibri"/>
              <a:sym typeface="Calibri"/>
            </a:endParaRPr>
          </a:p>
        </p:txBody>
      </p:sp>
      <p:sp>
        <p:nvSpPr>
          <p:cNvPr id="1025" name="Google Shape;1025;p41"/>
          <p:cNvSpPr/>
          <p:nvPr/>
        </p:nvSpPr>
        <p:spPr>
          <a:xfrm>
            <a:off x="411480" y="33375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026" name="Google Shape;1026;p41"/>
          <p:cNvPicPr preferRelativeResize="0"/>
          <p:nvPr/>
        </p:nvPicPr>
        <p:blipFill rotWithShape="1">
          <a:blip r:embed="rId3">
            <a:alphaModFix/>
          </a:blip>
          <a:srcRect b="0" l="0" r="0" t="0"/>
          <a:stretch/>
        </p:blipFill>
        <p:spPr>
          <a:xfrm>
            <a:off x="566928" y="3447288"/>
            <a:ext cx="164592" cy="164592"/>
          </a:xfrm>
          <a:prstGeom prst="rect">
            <a:avLst/>
          </a:prstGeom>
          <a:noFill/>
          <a:ln>
            <a:noFill/>
          </a:ln>
        </p:spPr>
      </p:pic>
      <p:sp>
        <p:nvSpPr>
          <p:cNvPr id="1027" name="Google Shape;1027;p41"/>
          <p:cNvSpPr txBox="1"/>
          <p:nvPr/>
        </p:nvSpPr>
        <p:spPr>
          <a:xfrm>
            <a:off x="822960" y="34381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3 of 5 "harder"?  </a:t>
            </a:r>
            <a:r>
              <a:rPr b="0" i="0" lang="en-US" spc="0" sz="1000" u="none" cap="none" strike="noStrike">
                <a:solidFill>
                  <a:srgbClr val="1D1D1F"/>
                </a:solidFill>
                <a:latin typeface="Arial"/>
                <a:ea typeface="Arial"/>
                <a:cs typeface="Arial"/>
                <a:sym typeface="Arial"/>
              </a:rPr>
              <a:t>can still be worth a real attempt. 4 of 5 "retainable" can still be a no.</a:t>
            </a:r>
            <a:endParaRPr b="0" i="0" spc="0" sz="1000" u="none" cap="none" strike="noStrike">
              <a:solidFill>
                <a:schemeClr val="dk1"/>
              </a:solidFill>
              <a:latin typeface="Calibri"/>
              <a:ea typeface="Calibri"/>
              <a:cs typeface="Calibri"/>
              <a:sym typeface="Calibri"/>
            </a:endParaRPr>
          </a:p>
        </p:txBody>
      </p:sp>
      <p:sp>
        <p:nvSpPr>
          <p:cNvPr id="1028" name="Google Shape;1028;p4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4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RETENTION PLAYBOOK</a:t>
            </a:r>
            <a:endParaRPr b="0" i="0" spc="0" sz="800" u="none" cap="none" strike="noStrike">
              <a:solidFill>
                <a:schemeClr val="dk1"/>
              </a:solidFill>
              <a:latin typeface="Calibri"/>
              <a:ea typeface="Calibri"/>
              <a:cs typeface="Calibri"/>
              <a:sym typeface="Calibri"/>
            </a:endParaRPr>
          </a:p>
        </p:txBody>
      </p:sp>
      <p:sp>
        <p:nvSpPr>
          <p:cNvPr id="1035" name="Google Shape;1035;p4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Four steps</a:t>
            </a:r>
            <a:endParaRPr b="0" i="0" spc="0" sz="2400" u="none" cap="none" strike="noStrike">
              <a:solidFill>
                <a:schemeClr val="dk1"/>
              </a:solidFill>
              <a:latin typeface="Calibri"/>
              <a:ea typeface="Calibri"/>
              <a:cs typeface="Calibri"/>
              <a:sym typeface="Calibri"/>
            </a:endParaRPr>
          </a:p>
        </p:txBody>
      </p:sp>
      <p:sp>
        <p:nvSpPr>
          <p:cNvPr id="1036" name="Google Shape;1036;p4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Acknowledge, understand, align, then offer with purpose.</a:t>
            </a:r>
            <a:endParaRPr b="0" i="0" spc="0" sz="1200" u="none" cap="none" strike="noStrike">
              <a:solidFill>
                <a:schemeClr val="dk1"/>
              </a:solidFill>
              <a:latin typeface="Calibri"/>
              <a:ea typeface="Calibri"/>
              <a:cs typeface="Calibri"/>
              <a:sym typeface="Calibri"/>
            </a:endParaRPr>
          </a:p>
        </p:txBody>
      </p:sp>
      <p:sp>
        <p:nvSpPr>
          <p:cNvPr id="1037" name="Google Shape;1037;p42"/>
          <p:cNvSpPr/>
          <p:nvPr/>
        </p:nvSpPr>
        <p:spPr>
          <a:xfrm>
            <a:off x="411480" y="1325880"/>
            <a:ext cx="1977390" cy="1554480"/>
          </a:xfrm>
          <a:prstGeom prst="roundRect">
            <a:avLst>
              <a:gd fmla="val 470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8" name="Google Shape;1038;p42"/>
          <p:cNvSpPr/>
          <p:nvPr/>
        </p:nvSpPr>
        <p:spPr>
          <a:xfrm>
            <a:off x="576072" y="150876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39" name="Google Shape;1039;p42"/>
          <p:cNvSpPr txBox="1"/>
          <p:nvPr/>
        </p:nvSpPr>
        <p:spPr>
          <a:xfrm>
            <a:off x="576072" y="150876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1040" name="Google Shape;1040;p42"/>
          <p:cNvSpPr txBox="1"/>
          <p:nvPr/>
        </p:nvSpPr>
        <p:spPr>
          <a:xfrm>
            <a:off x="576072" y="192938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Acknowledge</a:t>
            </a:r>
            <a:endParaRPr b="0" i="0" spc="0" sz="1200" u="none" cap="none" strike="noStrike">
              <a:solidFill>
                <a:schemeClr val="dk1"/>
              </a:solidFill>
              <a:latin typeface="Calibri"/>
              <a:ea typeface="Calibri"/>
              <a:cs typeface="Calibri"/>
              <a:sym typeface="Calibri"/>
            </a:endParaRPr>
          </a:p>
        </p:txBody>
      </p:sp>
      <p:sp>
        <p:nvSpPr>
          <p:cNvPr id="1041" name="Google Shape;1041;p42"/>
          <p:cNvSpPr txBox="1"/>
          <p:nvPr/>
        </p:nvSpPr>
        <p:spPr>
          <a:xfrm>
            <a:off x="576072" y="2221992"/>
            <a:ext cx="1648206"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Make them feel heard. Acknowledge the request, then probe.</a:t>
            </a:r>
            <a:endParaRPr b="0" i="0" spc="0" sz="950" u="none" cap="none" strike="noStrike">
              <a:solidFill>
                <a:schemeClr val="dk1"/>
              </a:solidFill>
              <a:latin typeface="Calibri"/>
              <a:ea typeface="Calibri"/>
              <a:cs typeface="Calibri"/>
              <a:sym typeface="Calibri"/>
            </a:endParaRPr>
          </a:p>
        </p:txBody>
      </p:sp>
      <p:sp>
        <p:nvSpPr>
          <p:cNvPr id="1042" name="Google Shape;1042;p42"/>
          <p:cNvSpPr/>
          <p:nvPr/>
        </p:nvSpPr>
        <p:spPr>
          <a:xfrm>
            <a:off x="2526030" y="1325880"/>
            <a:ext cx="1977390" cy="1554480"/>
          </a:xfrm>
          <a:prstGeom prst="roundRect">
            <a:avLst>
              <a:gd fmla="val 470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3" name="Google Shape;1043;p42"/>
          <p:cNvSpPr/>
          <p:nvPr/>
        </p:nvSpPr>
        <p:spPr>
          <a:xfrm>
            <a:off x="2690622" y="150876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4" name="Google Shape;1044;p42"/>
          <p:cNvSpPr txBox="1"/>
          <p:nvPr/>
        </p:nvSpPr>
        <p:spPr>
          <a:xfrm>
            <a:off x="2690622" y="150876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1045" name="Google Shape;1045;p42"/>
          <p:cNvSpPr txBox="1"/>
          <p:nvPr/>
        </p:nvSpPr>
        <p:spPr>
          <a:xfrm>
            <a:off x="2690622" y="192938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Find the root cause</a:t>
            </a:r>
            <a:endParaRPr b="0" i="0" spc="0" sz="1200" u="none" cap="none" strike="noStrike">
              <a:solidFill>
                <a:schemeClr val="dk1"/>
              </a:solidFill>
              <a:latin typeface="Calibri"/>
              <a:ea typeface="Calibri"/>
              <a:cs typeface="Calibri"/>
              <a:sym typeface="Calibri"/>
            </a:endParaRPr>
          </a:p>
        </p:txBody>
      </p:sp>
      <p:sp>
        <p:nvSpPr>
          <p:cNvPr id="1046" name="Google Shape;1046;p42"/>
          <p:cNvSpPr txBox="1"/>
          <p:nvPr/>
        </p:nvSpPr>
        <p:spPr>
          <a:xfrm>
            <a:off x="2690622" y="2221992"/>
            <a:ext cx="1648206"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Unaware of FC? Explain FC &amp; ETF first. No discount yet.</a:t>
            </a:r>
            <a:endParaRPr b="0" i="0" spc="0" sz="950" u="none" cap="none" strike="noStrike">
              <a:solidFill>
                <a:schemeClr val="dk1"/>
              </a:solidFill>
              <a:latin typeface="Calibri"/>
              <a:ea typeface="Calibri"/>
              <a:cs typeface="Calibri"/>
              <a:sym typeface="Calibri"/>
            </a:endParaRPr>
          </a:p>
        </p:txBody>
      </p:sp>
      <p:sp>
        <p:nvSpPr>
          <p:cNvPr id="1047" name="Google Shape;1047;p42"/>
          <p:cNvSpPr/>
          <p:nvPr/>
        </p:nvSpPr>
        <p:spPr>
          <a:xfrm>
            <a:off x="4640580" y="1325880"/>
            <a:ext cx="1977390" cy="1554480"/>
          </a:xfrm>
          <a:prstGeom prst="roundRect">
            <a:avLst>
              <a:gd fmla="val 470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8" name="Google Shape;1048;p42"/>
          <p:cNvSpPr/>
          <p:nvPr/>
        </p:nvSpPr>
        <p:spPr>
          <a:xfrm>
            <a:off x="4805172" y="150876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9" name="Google Shape;1049;p42"/>
          <p:cNvSpPr txBox="1"/>
          <p:nvPr/>
        </p:nvSpPr>
        <p:spPr>
          <a:xfrm>
            <a:off x="4805172" y="150876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1050" name="Google Shape;1050;p42"/>
          <p:cNvSpPr txBox="1"/>
          <p:nvPr/>
        </p:nvSpPr>
        <p:spPr>
          <a:xfrm>
            <a:off x="4805172" y="192938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Align the offer</a:t>
            </a:r>
            <a:endParaRPr b="0" i="0" spc="0" sz="1200" u="none" cap="none" strike="noStrike">
              <a:solidFill>
                <a:schemeClr val="dk1"/>
              </a:solidFill>
              <a:latin typeface="Calibri"/>
              <a:ea typeface="Calibri"/>
              <a:cs typeface="Calibri"/>
              <a:sym typeface="Calibri"/>
            </a:endParaRPr>
          </a:p>
        </p:txBody>
      </p:sp>
      <p:sp>
        <p:nvSpPr>
          <p:cNvPr id="1051" name="Google Shape;1051;p42"/>
          <p:cNvSpPr txBox="1"/>
          <p:nvPr/>
        </p:nvSpPr>
        <p:spPr>
          <a:xfrm>
            <a:off x="4805172" y="2221992"/>
            <a:ext cx="1648206"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Match the offer to the reason they want to leave.</a:t>
            </a:r>
            <a:endParaRPr b="0" i="0" spc="0" sz="950" u="none" cap="none" strike="noStrike">
              <a:solidFill>
                <a:schemeClr val="dk1"/>
              </a:solidFill>
              <a:latin typeface="Calibri"/>
              <a:ea typeface="Calibri"/>
              <a:cs typeface="Calibri"/>
              <a:sym typeface="Calibri"/>
            </a:endParaRPr>
          </a:p>
        </p:txBody>
      </p:sp>
      <p:sp>
        <p:nvSpPr>
          <p:cNvPr id="1052" name="Google Shape;1052;p42"/>
          <p:cNvSpPr/>
          <p:nvPr/>
        </p:nvSpPr>
        <p:spPr>
          <a:xfrm>
            <a:off x="6755130" y="1325880"/>
            <a:ext cx="1977390" cy="1554480"/>
          </a:xfrm>
          <a:prstGeom prst="roundRect">
            <a:avLst>
              <a:gd fmla="val 470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53" name="Google Shape;1053;p42"/>
          <p:cNvSpPr/>
          <p:nvPr/>
        </p:nvSpPr>
        <p:spPr>
          <a:xfrm>
            <a:off x="6919722" y="150876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54" name="Google Shape;1054;p42"/>
          <p:cNvSpPr txBox="1"/>
          <p:nvPr/>
        </p:nvSpPr>
        <p:spPr>
          <a:xfrm>
            <a:off x="6919722" y="150876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4</a:t>
            </a:r>
            <a:endParaRPr b="0" i="0" spc="0" sz="900" u="none" cap="none" strike="noStrike">
              <a:solidFill>
                <a:schemeClr val="dk1"/>
              </a:solidFill>
              <a:latin typeface="Calibri"/>
              <a:ea typeface="Calibri"/>
              <a:cs typeface="Calibri"/>
              <a:sym typeface="Calibri"/>
            </a:endParaRPr>
          </a:p>
        </p:txBody>
      </p:sp>
      <p:sp>
        <p:nvSpPr>
          <p:cNvPr id="1055" name="Google Shape;1055;p42"/>
          <p:cNvSpPr txBox="1"/>
          <p:nvPr/>
        </p:nvSpPr>
        <p:spPr>
          <a:xfrm>
            <a:off x="6919722" y="192938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Tools, not defaults</a:t>
            </a:r>
            <a:endParaRPr b="0" i="0" spc="0" sz="1200" u="none" cap="none" strike="noStrike">
              <a:solidFill>
                <a:schemeClr val="dk1"/>
              </a:solidFill>
              <a:latin typeface="Calibri"/>
              <a:ea typeface="Calibri"/>
              <a:cs typeface="Calibri"/>
              <a:sym typeface="Calibri"/>
            </a:endParaRPr>
          </a:p>
        </p:txBody>
      </p:sp>
      <p:sp>
        <p:nvSpPr>
          <p:cNvPr id="1056" name="Google Shape;1056;p42"/>
          <p:cNvSpPr txBox="1"/>
          <p:nvPr/>
        </p:nvSpPr>
        <p:spPr>
          <a:xfrm>
            <a:off x="6919722" y="2221992"/>
            <a:ext cx="1648206"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Does this offer answer their specific reason?</a:t>
            </a:r>
            <a:endParaRPr b="0" i="0" spc="0" sz="950" u="none" cap="none" strike="noStrike">
              <a:solidFill>
                <a:schemeClr val="dk1"/>
              </a:solidFill>
              <a:latin typeface="Calibri"/>
              <a:ea typeface="Calibri"/>
              <a:cs typeface="Calibri"/>
              <a:sym typeface="Calibri"/>
            </a:endParaRPr>
          </a:p>
        </p:txBody>
      </p:sp>
      <p:graphicFrame>
        <p:nvGraphicFramePr>
          <p:cNvPr id="1057" name="Google Shape;1057;p42"/>
          <p:cNvGraphicFramePr/>
          <p:nvPr/>
        </p:nvGraphicFramePr>
        <p:xfrm>
          <a:off x="411480" y="3063240"/>
          <a:ext cx="3000000" cy="3000000"/>
        </p:xfrm>
        <a:graphic>
          <a:graphicData uri="http://schemas.openxmlformats.org/drawingml/2006/table">
            <a:tbl>
              <a:tblPr>
                <a:noFill/>
                <a:tableStyleId>{8EFC85C5-4764-4BF5-A5AE-CCAC02DEFFEE}</a:tableStyleId>
              </a:tblPr>
              <a:tblGrid>
                <a:gridCol w="3291850"/>
                <a:gridCol w="5029200"/>
              </a:tblGrid>
              <a:tr h="310900">
                <a:tc>
                  <a:txBody>
                    <a:bodyPr/>
                    <a:lstStyle/>
                    <a:p>
                      <a:pPr indent="0" lvl="0" marL="0" marR="0" rtl="0" algn="l">
                        <a:lnSpc>
                          <a:spcPct val="100000"/>
                        </a:lnSpc>
                        <a:spcBef>
                          <a:spcPts val="0"/>
                        </a:spcBef>
                        <a:spcAft>
                          <a:spcPts val="0"/>
                        </a:spcAft>
                        <a:buClr>
                          <a:srgbClr val="0B7A6F"/>
                        </a:buClr>
                        <a:buSzPts val="1000"/>
                        <a:buFont typeface="Play"/>
                        <a:buNone/>
                      </a:pPr>
                      <a:r>
                        <a:rPr b="1" lang="en-US" spc="0" sz="1000" u="none" cap="none" strike="noStrike">
                          <a:solidFill>
                            <a:srgbClr val="0B7A6F"/>
                          </a:solidFill>
                          <a:latin typeface="Play"/>
                          <a:ea typeface="Play"/>
                          <a:cs typeface="Play"/>
                          <a:sym typeface="Play"/>
                        </a:rPr>
                        <a:t>Root cause</a:t>
                      </a:r>
                      <a:endParaRPr spc="0" sz="10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1000"/>
                        <a:buFont typeface="Play"/>
                        <a:buNone/>
                      </a:pPr>
                      <a:r>
                        <a:rPr b="1" lang="en-US" spc="0" sz="1000" u="none" cap="none" strike="noStrike">
                          <a:solidFill>
                            <a:srgbClr val="0B7A6F"/>
                          </a:solidFill>
                          <a:latin typeface="Play"/>
                          <a:ea typeface="Play"/>
                          <a:cs typeface="Play"/>
                          <a:sym typeface="Play"/>
                        </a:rPr>
                        <a:t>Right move on first response</a:t>
                      </a:r>
                      <a:endParaRPr spc="0" sz="10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47475">
                <a:tc>
                  <a:txBody>
                    <a:bodyPr/>
                    <a:lstStyle/>
                    <a:p>
                      <a:pPr indent="0" lvl="0" marL="0" marR="0" rtl="0" algn="l">
                        <a:lnSpc>
                          <a:spcPct val="100000"/>
                        </a:lnSpc>
                        <a:spcBef>
                          <a:spcPts val="0"/>
                        </a:spcBef>
                        <a:spcAft>
                          <a:spcPts val="0"/>
                        </a:spcAft>
                        <a:buClr>
                          <a:srgbClr val="1D1D1F"/>
                        </a:buClr>
                        <a:buSzPts val="1000"/>
                        <a:buFont typeface="Arial"/>
                        <a:buNone/>
                      </a:pPr>
                      <a:r>
                        <a:rPr b="1" lang="en-US" spc="0" sz="1000" u="none" cap="none" strike="noStrike">
                          <a:solidFill>
                            <a:srgbClr val="1D1D1F"/>
                          </a:solidFill>
                          <a:latin typeface="Arial"/>
                          <a:ea typeface="Arial"/>
                          <a:cs typeface="Arial"/>
                          <a:sym typeface="Arial"/>
                        </a:rPr>
                        <a:t>Service-related (e.g. PCQ)</a:t>
                      </a:r>
                      <a:endParaRPr spc="0"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US" spc="0" sz="1000" u="none" cap="none" strike="noStrike">
                          <a:solidFill>
                            <a:srgbClr val="6E6E73"/>
                          </a:solidFill>
                          <a:latin typeface="Arial"/>
                          <a:ea typeface="Arial"/>
                          <a:cs typeface="Arial"/>
                          <a:sym typeface="Arial"/>
                        </a:rPr>
                        <a:t>Offer a voucher or credit right away</a:t>
                      </a:r>
                      <a:endParaRPr spc="0"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Clr>
                          <a:srgbClr val="1D1D1F"/>
                        </a:buClr>
                        <a:buSzPts val="1000"/>
                        <a:buFont typeface="Arial"/>
                        <a:buNone/>
                      </a:pPr>
                      <a:r>
                        <a:rPr b="1" lang="en-US" spc="0" sz="1000" u="none" cap="none" strike="noStrike">
                          <a:solidFill>
                            <a:srgbClr val="1D1D1F"/>
                          </a:solidFill>
                          <a:latin typeface="Arial"/>
                          <a:ea typeface="Arial"/>
                          <a:cs typeface="Arial"/>
                          <a:sym typeface="Arial"/>
                        </a:rPr>
                        <a:t>Cost or commitment (MF or MCT)</a:t>
                      </a:r>
                      <a:endParaRPr spc="0"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US" spc="0" sz="1000" u="none" cap="none" strike="noStrike">
                          <a:solidFill>
                            <a:srgbClr val="6E6E73"/>
                          </a:solidFill>
                          <a:latin typeface="Arial"/>
                          <a:ea typeface="Arial"/>
                          <a:cs typeface="Arial"/>
                          <a:sym typeface="Arial"/>
                        </a:rPr>
                        <a:t>Offer a reduction right away</a:t>
                      </a:r>
                      <a:endParaRPr spc="0"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058" name="Google Shape;1058;p42"/>
          <p:cNvSpPr/>
          <p:nvPr/>
        </p:nvSpPr>
        <p:spPr>
          <a:xfrm>
            <a:off x="411480" y="42062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059" name="Google Shape;1059;p42"/>
          <p:cNvPicPr preferRelativeResize="0"/>
          <p:nvPr/>
        </p:nvPicPr>
        <p:blipFill rotWithShape="1">
          <a:blip r:embed="rId3">
            <a:alphaModFix/>
          </a:blip>
          <a:srcRect b="0" l="0" r="0" t="0"/>
          <a:stretch/>
        </p:blipFill>
        <p:spPr>
          <a:xfrm>
            <a:off x="566928" y="4315968"/>
            <a:ext cx="164592" cy="164592"/>
          </a:xfrm>
          <a:prstGeom prst="rect">
            <a:avLst/>
          </a:prstGeom>
          <a:noFill/>
          <a:ln>
            <a:noFill/>
          </a:ln>
        </p:spPr>
      </p:pic>
      <p:sp>
        <p:nvSpPr>
          <p:cNvPr id="1060" name="Google Shape;1060;p42"/>
          <p:cNvSpPr txBox="1"/>
          <p:nvPr/>
        </p:nvSpPr>
        <p:spPr>
          <a:xfrm>
            <a:off x="822960" y="43068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Unaware of the membership?  </a:t>
            </a:r>
            <a:r>
              <a:rPr b="0" i="0" lang="en-US" spc="0" sz="1000" u="none" cap="none" strike="noStrike">
                <a:solidFill>
                  <a:srgbClr val="1D1D1F"/>
                </a:solidFill>
                <a:latin typeface="Arial"/>
                <a:ea typeface="Arial"/>
                <a:cs typeface="Arial"/>
                <a:sym typeface="Arial"/>
              </a:rPr>
              <a:t>MF/MCT reductions don't fix that. Explain first.</a:t>
            </a:r>
            <a:endParaRPr b="0" i="0" spc="0" sz="1000" u="none" cap="none" strike="noStrike">
              <a:solidFill>
                <a:schemeClr val="dk1"/>
              </a:solidFill>
              <a:latin typeface="Calibri"/>
              <a:ea typeface="Calibri"/>
              <a:cs typeface="Calibri"/>
              <a:sym typeface="Calibri"/>
            </a:endParaRPr>
          </a:p>
        </p:txBody>
      </p:sp>
      <p:sp>
        <p:nvSpPr>
          <p:cNvPr id="1061" name="Google Shape;1061;p4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4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RETENTION PLAYBOOK</a:t>
            </a:r>
            <a:endParaRPr b="0" i="0" spc="0" sz="800" u="none" cap="none" strike="noStrike">
              <a:solidFill>
                <a:schemeClr val="dk1"/>
              </a:solidFill>
              <a:latin typeface="Calibri"/>
              <a:ea typeface="Calibri"/>
              <a:cs typeface="Calibri"/>
              <a:sym typeface="Calibri"/>
            </a:endParaRPr>
          </a:p>
        </p:txBody>
      </p:sp>
      <p:sp>
        <p:nvSpPr>
          <p:cNvPr id="1068" name="Google Shape;1068;p4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Why the ladder fails</a:t>
            </a:r>
            <a:endParaRPr b="0" i="0" spc="0" sz="2400" u="none" cap="none" strike="noStrike">
              <a:solidFill>
                <a:schemeClr val="dk1"/>
              </a:solidFill>
              <a:latin typeface="Calibri"/>
              <a:ea typeface="Calibri"/>
              <a:cs typeface="Calibri"/>
              <a:sym typeface="Calibri"/>
            </a:endParaRPr>
          </a:p>
        </p:txBody>
      </p:sp>
      <p:sp>
        <p:nvSpPr>
          <p:cNvPr id="1069" name="Google Shape;1069;p4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Any stronger offer must be tied to their reason, not to their "no".</a:t>
            </a:r>
            <a:endParaRPr b="0" i="0" spc="0" sz="1200" u="none" cap="none" strike="noStrike">
              <a:solidFill>
                <a:schemeClr val="dk1"/>
              </a:solidFill>
              <a:latin typeface="Calibri"/>
              <a:ea typeface="Calibri"/>
              <a:cs typeface="Calibri"/>
              <a:sym typeface="Calibri"/>
            </a:endParaRPr>
          </a:p>
        </p:txBody>
      </p:sp>
      <p:sp>
        <p:nvSpPr>
          <p:cNvPr id="1070" name="Google Shape;1070;p43"/>
          <p:cNvSpPr/>
          <p:nvPr/>
        </p:nvSpPr>
        <p:spPr>
          <a:xfrm>
            <a:off x="411480" y="1371600"/>
            <a:ext cx="1920240" cy="502920"/>
          </a:xfrm>
          <a:prstGeom prst="roundRect">
            <a:avLst>
              <a:gd fmla="val 14545" name="adj"/>
            </a:avLst>
          </a:prstGeom>
          <a:solidFill>
            <a:srgbClr val="FFFFFF"/>
          </a:solidFill>
          <a:ln cap="flat" cmpd="sng" w="12700">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71" name="Google Shape;1071;p43"/>
          <p:cNvSpPr txBox="1"/>
          <p:nvPr/>
        </p:nvSpPr>
        <p:spPr>
          <a:xfrm>
            <a:off x="411480" y="1371600"/>
            <a:ext cx="19202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Small offer</a:t>
            </a:r>
            <a:endParaRPr b="0" i="0" spc="0" sz="1000" u="none" cap="none" strike="noStrike">
              <a:solidFill>
                <a:schemeClr val="dk1"/>
              </a:solidFill>
              <a:latin typeface="Calibri"/>
              <a:ea typeface="Calibri"/>
              <a:cs typeface="Calibri"/>
              <a:sym typeface="Calibri"/>
            </a:endParaRPr>
          </a:p>
        </p:txBody>
      </p:sp>
      <p:cxnSp>
        <p:nvCxnSpPr>
          <p:cNvPr id="1072" name="Google Shape;1072;p43"/>
          <p:cNvCxnSpPr/>
          <p:nvPr/>
        </p:nvCxnSpPr>
        <p:spPr>
          <a:xfrm>
            <a:off x="2331720" y="1623060"/>
            <a:ext cx="213055" cy="0"/>
          </a:xfrm>
          <a:prstGeom prst="straightConnector1">
            <a:avLst/>
          </a:prstGeom>
          <a:noFill/>
          <a:ln cap="flat" cmpd="sng" w="12700">
            <a:solidFill>
              <a:srgbClr val="6E6E73"/>
            </a:solidFill>
            <a:prstDash val="solid"/>
            <a:round/>
            <a:headEnd len="sm" w="sm" type="none"/>
            <a:tailEnd len="med" w="med" type="triangle"/>
          </a:ln>
        </p:spPr>
      </p:cxnSp>
      <p:sp>
        <p:nvSpPr>
          <p:cNvPr id="1073" name="Google Shape;1073;p43"/>
          <p:cNvSpPr/>
          <p:nvPr/>
        </p:nvSpPr>
        <p:spPr>
          <a:xfrm>
            <a:off x="2544775" y="1371600"/>
            <a:ext cx="1920240" cy="502920"/>
          </a:xfrm>
          <a:prstGeom prst="roundRect">
            <a:avLst>
              <a:gd fmla="val 14545" name="adj"/>
            </a:avLst>
          </a:prstGeom>
          <a:solidFill>
            <a:srgbClr val="FFF3D6"/>
          </a:solidFill>
          <a:ln cap="flat" cmpd="sng" w="12700">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74" name="Google Shape;1074;p43"/>
          <p:cNvSpPr txBox="1"/>
          <p:nvPr/>
        </p:nvSpPr>
        <p:spPr>
          <a:xfrm>
            <a:off x="2544775" y="1371600"/>
            <a:ext cx="19202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1000"/>
              <a:buFont typeface="Play"/>
              <a:buNone/>
            </a:pPr>
            <a:r>
              <a:rPr b="1" i="0" lang="en-US" spc="0" sz="1000" u="none" cap="none" strike="noStrike">
                <a:solidFill>
                  <a:srgbClr val="9A6410"/>
                </a:solidFill>
                <a:latin typeface="Play"/>
                <a:ea typeface="Play"/>
                <a:cs typeface="Play"/>
                <a:sym typeface="Play"/>
              </a:rPr>
              <a:t>They decline</a:t>
            </a:r>
            <a:endParaRPr b="0" i="0" spc="0" sz="1000" u="none" cap="none" strike="noStrike">
              <a:solidFill>
                <a:schemeClr val="dk1"/>
              </a:solidFill>
              <a:latin typeface="Calibri"/>
              <a:ea typeface="Calibri"/>
              <a:cs typeface="Calibri"/>
              <a:sym typeface="Calibri"/>
            </a:endParaRPr>
          </a:p>
        </p:txBody>
      </p:sp>
      <p:cxnSp>
        <p:nvCxnSpPr>
          <p:cNvPr id="1075" name="Google Shape;1075;p43"/>
          <p:cNvCxnSpPr/>
          <p:nvPr/>
        </p:nvCxnSpPr>
        <p:spPr>
          <a:xfrm>
            <a:off x="4465015" y="1623060"/>
            <a:ext cx="213055" cy="0"/>
          </a:xfrm>
          <a:prstGeom prst="straightConnector1">
            <a:avLst/>
          </a:prstGeom>
          <a:noFill/>
          <a:ln cap="flat" cmpd="sng" w="12700">
            <a:solidFill>
              <a:srgbClr val="6E6E73"/>
            </a:solidFill>
            <a:prstDash val="solid"/>
            <a:round/>
            <a:headEnd len="sm" w="sm" type="none"/>
            <a:tailEnd len="med" w="med" type="triangle"/>
          </a:ln>
        </p:spPr>
      </p:cxnSp>
      <p:sp>
        <p:nvSpPr>
          <p:cNvPr id="1076" name="Google Shape;1076;p43"/>
          <p:cNvSpPr/>
          <p:nvPr/>
        </p:nvSpPr>
        <p:spPr>
          <a:xfrm>
            <a:off x="4678070" y="1371600"/>
            <a:ext cx="1920240" cy="502920"/>
          </a:xfrm>
          <a:prstGeom prst="roundRect">
            <a:avLst>
              <a:gd fmla="val 14545" name="adj"/>
            </a:avLst>
          </a:prstGeom>
          <a:solidFill>
            <a:srgbClr val="FFFFFF"/>
          </a:solidFill>
          <a:ln cap="flat" cmpd="sng" w="12700">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77" name="Google Shape;1077;p43"/>
          <p:cNvSpPr txBox="1"/>
          <p:nvPr/>
        </p:nvSpPr>
        <p:spPr>
          <a:xfrm>
            <a:off x="4678070" y="1371600"/>
            <a:ext cx="19202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Bigger offer</a:t>
            </a:r>
            <a:endParaRPr b="0" i="0" spc="0" sz="1000" u="none" cap="none" strike="noStrike">
              <a:solidFill>
                <a:schemeClr val="dk1"/>
              </a:solidFill>
              <a:latin typeface="Calibri"/>
              <a:ea typeface="Calibri"/>
              <a:cs typeface="Calibri"/>
              <a:sym typeface="Calibri"/>
            </a:endParaRPr>
          </a:p>
        </p:txBody>
      </p:sp>
      <p:cxnSp>
        <p:nvCxnSpPr>
          <p:cNvPr id="1078" name="Google Shape;1078;p43"/>
          <p:cNvCxnSpPr/>
          <p:nvPr/>
        </p:nvCxnSpPr>
        <p:spPr>
          <a:xfrm>
            <a:off x="6598310" y="1623060"/>
            <a:ext cx="213055" cy="0"/>
          </a:xfrm>
          <a:prstGeom prst="straightConnector1">
            <a:avLst/>
          </a:prstGeom>
          <a:noFill/>
          <a:ln cap="flat" cmpd="sng" w="12700">
            <a:solidFill>
              <a:srgbClr val="6E6E73"/>
            </a:solidFill>
            <a:prstDash val="solid"/>
            <a:round/>
            <a:headEnd len="sm" w="sm" type="none"/>
            <a:tailEnd len="med" w="med" type="triangle"/>
          </a:ln>
        </p:spPr>
      </p:cxnSp>
      <p:sp>
        <p:nvSpPr>
          <p:cNvPr id="1079" name="Google Shape;1079;p43"/>
          <p:cNvSpPr/>
          <p:nvPr/>
        </p:nvSpPr>
        <p:spPr>
          <a:xfrm>
            <a:off x="6811366" y="1371600"/>
            <a:ext cx="1920240" cy="502920"/>
          </a:xfrm>
          <a:prstGeom prst="roundRect">
            <a:avLst>
              <a:gd fmla="val 14545" name="adj"/>
            </a:avLst>
          </a:prstGeom>
          <a:solidFill>
            <a:srgbClr val="1D1D1F"/>
          </a:solidFill>
          <a:ln cap="flat" cmpd="sng" w="12700">
            <a:solidFill>
              <a:srgbClr val="1D1D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80" name="Google Shape;1080;p43"/>
          <p:cNvSpPr txBox="1"/>
          <p:nvPr/>
        </p:nvSpPr>
        <p:spPr>
          <a:xfrm>
            <a:off x="6811366" y="1371600"/>
            <a:ext cx="19202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Play"/>
              <a:buNone/>
            </a:pPr>
            <a:r>
              <a:rPr b="1" i="0" lang="en-US" spc="0" sz="1000" u="none" cap="none" strike="noStrike">
                <a:solidFill>
                  <a:srgbClr val="FFFFFF"/>
                </a:solidFill>
                <a:latin typeface="Play"/>
                <a:ea typeface="Play"/>
                <a:cs typeface="Play"/>
                <a:sym typeface="Play"/>
              </a:rPr>
              <a:t>Repeat…</a:t>
            </a:r>
            <a:endParaRPr b="0" i="0" spc="0" sz="1000" u="none" cap="none" strike="noStrike">
              <a:solidFill>
                <a:schemeClr val="dk1"/>
              </a:solidFill>
              <a:latin typeface="Calibri"/>
              <a:ea typeface="Calibri"/>
              <a:cs typeface="Calibri"/>
              <a:sym typeface="Calibri"/>
            </a:endParaRPr>
          </a:p>
        </p:txBody>
      </p:sp>
      <p:sp>
        <p:nvSpPr>
          <p:cNvPr id="1081" name="Google Shape;1081;p43"/>
          <p:cNvSpPr/>
          <p:nvPr/>
        </p:nvSpPr>
        <p:spPr>
          <a:xfrm>
            <a:off x="411480" y="2103120"/>
            <a:ext cx="2682240" cy="1325880"/>
          </a:xfrm>
          <a:prstGeom prst="roundRect">
            <a:avLst>
              <a:gd fmla="val 551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82" name="Google Shape;1082;p43"/>
          <p:cNvSpPr/>
          <p:nvPr/>
        </p:nvSpPr>
        <p:spPr>
          <a:xfrm>
            <a:off x="576072" y="226771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083" name="Google Shape;1083;p43"/>
          <p:cNvPicPr preferRelativeResize="0"/>
          <p:nvPr/>
        </p:nvPicPr>
        <p:blipFill rotWithShape="1">
          <a:blip r:embed="rId3">
            <a:alphaModFix/>
          </a:blip>
          <a:srcRect b="0" l="0" r="0" t="0"/>
          <a:stretch/>
        </p:blipFill>
        <p:spPr>
          <a:xfrm>
            <a:off x="655076" y="2346716"/>
            <a:ext cx="171176" cy="171176"/>
          </a:xfrm>
          <a:prstGeom prst="rect">
            <a:avLst/>
          </a:prstGeom>
          <a:noFill/>
          <a:ln>
            <a:noFill/>
          </a:ln>
        </p:spPr>
      </p:pic>
      <p:sp>
        <p:nvSpPr>
          <p:cNvPr id="1084" name="Google Shape;1084;p43"/>
          <p:cNvSpPr txBox="1"/>
          <p:nvPr/>
        </p:nvSpPr>
        <p:spPr>
          <a:xfrm>
            <a:off x="576072" y="270662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Feels pushy</a:t>
            </a:r>
            <a:endParaRPr b="0" i="0" spc="0" sz="1200" u="none" cap="none" strike="noStrike">
              <a:solidFill>
                <a:schemeClr val="dk1"/>
              </a:solidFill>
              <a:latin typeface="Calibri"/>
              <a:ea typeface="Calibri"/>
              <a:cs typeface="Calibri"/>
              <a:sym typeface="Calibri"/>
            </a:endParaRPr>
          </a:p>
        </p:txBody>
      </p:sp>
      <p:sp>
        <p:nvSpPr>
          <p:cNvPr id="1085" name="Google Shape;1085;p43"/>
          <p:cNvSpPr txBox="1"/>
          <p:nvPr/>
        </p:nvSpPr>
        <p:spPr>
          <a:xfrm>
            <a:off x="576072" y="2999232"/>
            <a:ext cx="2353056" cy="3383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Transactional, and it reduces trust.</a:t>
            </a:r>
            <a:endParaRPr b="0" i="0" spc="0" sz="950" u="none" cap="none" strike="noStrike">
              <a:solidFill>
                <a:schemeClr val="dk1"/>
              </a:solidFill>
              <a:latin typeface="Calibri"/>
              <a:ea typeface="Calibri"/>
              <a:cs typeface="Calibri"/>
              <a:sym typeface="Calibri"/>
            </a:endParaRPr>
          </a:p>
        </p:txBody>
      </p:sp>
      <p:sp>
        <p:nvSpPr>
          <p:cNvPr id="1086" name="Google Shape;1086;p43"/>
          <p:cNvSpPr/>
          <p:nvPr/>
        </p:nvSpPr>
        <p:spPr>
          <a:xfrm>
            <a:off x="3230880" y="2103120"/>
            <a:ext cx="2682240" cy="1325880"/>
          </a:xfrm>
          <a:prstGeom prst="roundRect">
            <a:avLst>
              <a:gd fmla="val 551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87" name="Google Shape;1087;p43"/>
          <p:cNvSpPr/>
          <p:nvPr/>
        </p:nvSpPr>
        <p:spPr>
          <a:xfrm>
            <a:off x="3395472" y="226771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088" name="Google Shape;1088;p43"/>
          <p:cNvPicPr preferRelativeResize="0"/>
          <p:nvPr/>
        </p:nvPicPr>
        <p:blipFill rotWithShape="1">
          <a:blip r:embed="rId4">
            <a:alphaModFix/>
          </a:blip>
          <a:srcRect b="0" l="0" r="0" t="0"/>
          <a:stretch/>
        </p:blipFill>
        <p:spPr>
          <a:xfrm>
            <a:off x="3474476" y="2346716"/>
            <a:ext cx="171176" cy="171176"/>
          </a:xfrm>
          <a:prstGeom prst="rect">
            <a:avLst/>
          </a:prstGeom>
          <a:noFill/>
          <a:ln>
            <a:noFill/>
          </a:ln>
        </p:spPr>
      </p:pic>
      <p:sp>
        <p:nvSpPr>
          <p:cNvPr id="1089" name="Google Shape;1089;p43"/>
          <p:cNvSpPr txBox="1"/>
          <p:nvPr/>
        </p:nvSpPr>
        <p:spPr>
          <a:xfrm>
            <a:off x="3395472" y="270662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Rewards saying no</a:t>
            </a:r>
            <a:endParaRPr b="0" i="0" spc="0" sz="1200" u="none" cap="none" strike="noStrike">
              <a:solidFill>
                <a:schemeClr val="dk1"/>
              </a:solidFill>
              <a:latin typeface="Calibri"/>
              <a:ea typeface="Calibri"/>
              <a:cs typeface="Calibri"/>
              <a:sym typeface="Calibri"/>
            </a:endParaRPr>
          </a:p>
        </p:txBody>
      </p:sp>
      <p:sp>
        <p:nvSpPr>
          <p:cNvPr id="1090" name="Google Shape;1090;p43"/>
          <p:cNvSpPr txBox="1"/>
          <p:nvPr/>
        </p:nvSpPr>
        <p:spPr>
          <a:xfrm>
            <a:off x="3395472" y="2999232"/>
            <a:ext cx="2353056" cy="3383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Unfair to customers who accept the first reasonable offer.</a:t>
            </a:r>
            <a:endParaRPr b="0" i="0" spc="0" sz="950" u="none" cap="none" strike="noStrike">
              <a:solidFill>
                <a:schemeClr val="dk1"/>
              </a:solidFill>
              <a:latin typeface="Calibri"/>
              <a:ea typeface="Calibri"/>
              <a:cs typeface="Calibri"/>
              <a:sym typeface="Calibri"/>
            </a:endParaRPr>
          </a:p>
        </p:txBody>
      </p:sp>
      <p:sp>
        <p:nvSpPr>
          <p:cNvPr id="1091" name="Google Shape;1091;p43"/>
          <p:cNvSpPr/>
          <p:nvPr/>
        </p:nvSpPr>
        <p:spPr>
          <a:xfrm>
            <a:off x="6050280" y="2103120"/>
            <a:ext cx="2682240" cy="1325880"/>
          </a:xfrm>
          <a:prstGeom prst="roundRect">
            <a:avLst>
              <a:gd fmla="val 551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92" name="Google Shape;1092;p43"/>
          <p:cNvSpPr/>
          <p:nvPr/>
        </p:nvSpPr>
        <p:spPr>
          <a:xfrm>
            <a:off x="6214872" y="226771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093" name="Google Shape;1093;p43"/>
          <p:cNvPicPr preferRelativeResize="0"/>
          <p:nvPr/>
        </p:nvPicPr>
        <p:blipFill rotWithShape="1">
          <a:blip r:embed="rId5">
            <a:alphaModFix/>
          </a:blip>
          <a:srcRect b="0" l="0" r="0" t="0"/>
          <a:stretch/>
        </p:blipFill>
        <p:spPr>
          <a:xfrm>
            <a:off x="6293876" y="2346716"/>
            <a:ext cx="171176" cy="171176"/>
          </a:xfrm>
          <a:prstGeom prst="rect">
            <a:avLst/>
          </a:prstGeom>
          <a:noFill/>
          <a:ln>
            <a:noFill/>
          </a:ln>
        </p:spPr>
      </p:pic>
      <p:sp>
        <p:nvSpPr>
          <p:cNvPr id="1094" name="Google Shape;1094;p43"/>
          <p:cNvSpPr txBox="1"/>
          <p:nvPr/>
        </p:nvSpPr>
        <p:spPr>
          <a:xfrm>
            <a:off x="6214872" y="270662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Cheapens FC</a:t>
            </a:r>
            <a:endParaRPr b="0" i="0" spc="0" sz="1200" u="none" cap="none" strike="noStrike">
              <a:solidFill>
                <a:schemeClr val="dk1"/>
              </a:solidFill>
              <a:latin typeface="Calibri"/>
              <a:ea typeface="Calibri"/>
              <a:cs typeface="Calibri"/>
              <a:sym typeface="Calibri"/>
            </a:endParaRPr>
          </a:p>
        </p:txBody>
      </p:sp>
      <p:sp>
        <p:nvSpPr>
          <p:cNvPr id="1095" name="Google Shape;1095;p43"/>
          <p:cNvSpPr txBox="1"/>
          <p:nvPr/>
        </p:nvSpPr>
        <p:spPr>
          <a:xfrm>
            <a:off x="6214872" y="2999232"/>
            <a:ext cx="2353056" cy="3383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An offer that misses their concern lowers its value.</a:t>
            </a:r>
            <a:endParaRPr b="0" i="0" spc="0" sz="950" u="none" cap="none" strike="noStrike">
              <a:solidFill>
                <a:schemeClr val="dk1"/>
              </a:solidFill>
              <a:latin typeface="Calibri"/>
              <a:ea typeface="Calibri"/>
              <a:cs typeface="Calibri"/>
              <a:sym typeface="Calibri"/>
            </a:endParaRPr>
          </a:p>
        </p:txBody>
      </p:sp>
      <p:sp>
        <p:nvSpPr>
          <p:cNvPr id="1096" name="Google Shape;1096;p43"/>
          <p:cNvSpPr/>
          <p:nvPr/>
        </p:nvSpPr>
        <p:spPr>
          <a:xfrm>
            <a:off x="411480" y="361188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097" name="Google Shape;1097;p43"/>
          <p:cNvPicPr preferRelativeResize="0"/>
          <p:nvPr/>
        </p:nvPicPr>
        <p:blipFill rotWithShape="1">
          <a:blip r:embed="rId6">
            <a:alphaModFix/>
          </a:blip>
          <a:srcRect b="0" l="0" r="0" t="0"/>
          <a:stretch/>
        </p:blipFill>
        <p:spPr>
          <a:xfrm>
            <a:off x="566928" y="3721608"/>
            <a:ext cx="164592" cy="164592"/>
          </a:xfrm>
          <a:prstGeom prst="rect">
            <a:avLst/>
          </a:prstGeom>
          <a:noFill/>
          <a:ln>
            <a:noFill/>
          </a:ln>
        </p:spPr>
      </p:pic>
      <p:sp>
        <p:nvSpPr>
          <p:cNvPr id="1098" name="Google Shape;1098;p43"/>
          <p:cNvSpPr txBox="1"/>
          <p:nvPr/>
        </p:nvSpPr>
        <p:spPr>
          <a:xfrm>
            <a:off x="822960" y="371246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Stronger offer?  </a:t>
            </a:r>
            <a:r>
              <a:rPr b="0" i="0" lang="en-US" spc="0" sz="1000" u="none" cap="none" strike="noStrike">
                <a:solidFill>
                  <a:srgbClr val="1D1D1F"/>
                </a:solidFill>
                <a:latin typeface="Arial"/>
                <a:ea typeface="Arial"/>
                <a:cs typeface="Arial"/>
                <a:sym typeface="Arial"/>
              </a:rPr>
              <a:t>only when it's tied to their specific reason, not because they said no.</a:t>
            </a:r>
            <a:endParaRPr b="0" i="0" spc="0" sz="1000" u="none" cap="none" strike="noStrike">
              <a:solidFill>
                <a:schemeClr val="dk1"/>
              </a:solidFill>
              <a:latin typeface="Calibri"/>
              <a:ea typeface="Calibri"/>
              <a:cs typeface="Calibri"/>
              <a:sym typeface="Calibri"/>
            </a:endParaRPr>
          </a:p>
        </p:txBody>
      </p:sp>
      <p:sp>
        <p:nvSpPr>
          <p:cNvPr id="1099" name="Google Shape;1099;p4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4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RETENTION PLAYBOOK</a:t>
            </a:r>
            <a:endParaRPr b="0" i="0" spc="0" sz="800" u="none" cap="none" strike="noStrike">
              <a:solidFill>
                <a:schemeClr val="dk1"/>
              </a:solidFill>
              <a:latin typeface="Calibri"/>
              <a:ea typeface="Calibri"/>
              <a:cs typeface="Calibri"/>
              <a:sym typeface="Calibri"/>
            </a:endParaRPr>
          </a:p>
        </p:txBody>
      </p:sp>
      <p:sp>
        <p:nvSpPr>
          <p:cNvPr id="1106" name="Google Shape;1106;p4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Presenting an offer</a:t>
            </a:r>
            <a:endParaRPr b="0" i="0" spc="0" sz="2400" u="none" cap="none" strike="noStrike">
              <a:solidFill>
                <a:schemeClr val="dk1"/>
              </a:solidFill>
              <a:latin typeface="Calibri"/>
              <a:ea typeface="Calibri"/>
              <a:cs typeface="Calibri"/>
              <a:sym typeface="Calibri"/>
            </a:endParaRPr>
          </a:p>
        </p:txBody>
      </p:sp>
      <p:sp>
        <p:nvSpPr>
          <p:cNvPr id="1107" name="Google Shape;1107;p4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Present it and wait, or issue it right away. Just be clear which.</a:t>
            </a:r>
            <a:endParaRPr b="0" i="0" spc="0" sz="1200" u="none" cap="none" strike="noStrike">
              <a:solidFill>
                <a:schemeClr val="dk1"/>
              </a:solidFill>
              <a:latin typeface="Calibri"/>
              <a:ea typeface="Calibri"/>
              <a:cs typeface="Calibri"/>
              <a:sym typeface="Calibri"/>
            </a:endParaRPr>
          </a:p>
        </p:txBody>
      </p:sp>
      <p:sp>
        <p:nvSpPr>
          <p:cNvPr id="1108" name="Google Shape;1108;p44"/>
          <p:cNvSpPr/>
          <p:nvPr/>
        </p:nvSpPr>
        <p:spPr>
          <a:xfrm>
            <a:off x="411480" y="1325880"/>
            <a:ext cx="4069080" cy="1325880"/>
          </a:xfrm>
          <a:prstGeom prst="roundRect">
            <a:avLst>
              <a:gd fmla="val 5517"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09" name="Google Shape;1109;p44"/>
          <p:cNvSpPr/>
          <p:nvPr/>
        </p:nvSpPr>
        <p:spPr>
          <a:xfrm>
            <a:off x="411480" y="1325880"/>
            <a:ext cx="40690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Present and wait</a:t>
            </a:r>
            <a:endParaRPr b="0" i="0" spc="0" sz="1050" u="none" cap="none" strike="noStrike">
              <a:solidFill>
                <a:schemeClr val="dk1"/>
              </a:solidFill>
              <a:latin typeface="Calibri"/>
              <a:ea typeface="Calibri"/>
              <a:cs typeface="Calibri"/>
              <a:sym typeface="Calibri"/>
            </a:endParaRPr>
          </a:p>
        </p:txBody>
      </p:sp>
      <p:sp>
        <p:nvSpPr>
          <p:cNvPr id="1110" name="Google Shape;1110;p44"/>
          <p:cNvSpPr txBox="1"/>
          <p:nvPr/>
        </p:nvSpPr>
        <p:spPr>
          <a:xfrm>
            <a:off x="576072" y="1764792"/>
            <a:ext cx="3739896" cy="81381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Collaborative: gives them a choice</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Shows you care about their experience</a:t>
            </a:r>
            <a:endParaRPr b="0" i="0" spc="0" sz="950" u="none" cap="none" strike="noStrike">
              <a:solidFill>
                <a:schemeClr val="dk1"/>
              </a:solidFill>
              <a:latin typeface="Calibri"/>
              <a:ea typeface="Calibri"/>
              <a:cs typeface="Calibri"/>
              <a:sym typeface="Calibri"/>
            </a:endParaRPr>
          </a:p>
        </p:txBody>
      </p:sp>
      <p:sp>
        <p:nvSpPr>
          <p:cNvPr id="1111" name="Google Shape;1111;p44"/>
          <p:cNvSpPr/>
          <p:nvPr/>
        </p:nvSpPr>
        <p:spPr>
          <a:xfrm>
            <a:off x="4663440" y="1325880"/>
            <a:ext cx="4069080" cy="1325880"/>
          </a:xfrm>
          <a:prstGeom prst="roundRect">
            <a:avLst>
              <a:gd fmla="val 5517"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12" name="Google Shape;1112;p44"/>
          <p:cNvSpPr/>
          <p:nvPr/>
        </p:nvSpPr>
        <p:spPr>
          <a:xfrm>
            <a:off x="4663440" y="1325880"/>
            <a:ext cx="4069080" cy="329184"/>
          </a:xfrm>
          <a:prstGeom prst="roundRect">
            <a:avLst>
              <a:gd fmla="val 16667" name="adj"/>
            </a:avLst>
          </a:prstGeom>
          <a:solidFill>
            <a:srgbClr val="9A6410"/>
          </a:solidFill>
          <a:ln cap="flat" cmpd="sng" w="12700">
            <a:solidFill>
              <a:srgbClr val="9A641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Issue right away when…</a:t>
            </a:r>
            <a:endParaRPr b="0" i="0" spc="0" sz="1050" u="none" cap="none" strike="noStrike">
              <a:solidFill>
                <a:schemeClr val="dk1"/>
              </a:solidFill>
              <a:latin typeface="Calibri"/>
              <a:ea typeface="Calibri"/>
              <a:cs typeface="Calibri"/>
              <a:sym typeface="Calibri"/>
            </a:endParaRPr>
          </a:p>
        </p:txBody>
      </p:sp>
      <p:sp>
        <p:nvSpPr>
          <p:cNvPr id="1113" name="Google Shape;1113;p44"/>
          <p:cNvSpPr txBox="1"/>
          <p:nvPr/>
        </p:nvSpPr>
        <p:spPr>
          <a:xfrm>
            <a:off x="4828032" y="1764792"/>
            <a:ext cx="3739896" cy="81381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The customer asked for it</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The MF is overdue or almost due</a:t>
            </a:r>
            <a:endParaRPr b="0" i="0" spc="0" sz="950" u="none" cap="none" strike="noStrike">
              <a:solidFill>
                <a:schemeClr val="dk1"/>
              </a:solidFill>
              <a:latin typeface="Calibri"/>
              <a:ea typeface="Calibri"/>
              <a:cs typeface="Calibri"/>
              <a:sym typeface="Calibri"/>
            </a:endParaRPr>
          </a:p>
        </p:txBody>
      </p:sp>
      <p:sp>
        <p:nvSpPr>
          <p:cNvPr id="1114" name="Google Shape;1114;p44"/>
          <p:cNvSpPr/>
          <p:nvPr/>
        </p:nvSpPr>
        <p:spPr>
          <a:xfrm>
            <a:off x="411480" y="2788920"/>
            <a:ext cx="8321040" cy="548640"/>
          </a:xfrm>
          <a:prstGeom prst="roundRect">
            <a:avLst>
              <a:gd fmla="val 13333"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15" name="Google Shape;1115;p44"/>
          <p:cNvSpPr/>
          <p:nvPr/>
        </p:nvSpPr>
        <p:spPr>
          <a:xfrm>
            <a:off x="411480" y="2862072"/>
            <a:ext cx="45720" cy="402336"/>
          </a:xfrm>
          <a:prstGeom prst="rect">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16" name="Google Shape;1116;p44"/>
          <p:cNvSpPr txBox="1"/>
          <p:nvPr/>
        </p:nvSpPr>
        <p:spPr>
          <a:xfrm>
            <a:off x="594360" y="2788920"/>
            <a:ext cx="80010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0" sz="800" u="none" cap="none" strike="noStrike">
                <a:solidFill>
                  <a:srgbClr val="0B7A6F"/>
                </a:solidFill>
                <a:latin typeface="Play"/>
                <a:ea typeface="Play"/>
                <a:cs typeface="Play"/>
                <a:sym typeface="Play"/>
              </a:rPr>
              <a:t>BEYOND POLICY? USE "NO… BUT"</a:t>
            </a:r>
            <a:endParaRPr b="0" i="0" spc="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000"/>
              <a:buFont typeface="Arial"/>
              <a:buNone/>
            </a:pPr>
            <a:r>
              <a:rPr b="0" i="1" lang="en-US" spc="0" sz="1000" u="none" cap="none" strike="noStrike">
                <a:solidFill>
                  <a:srgbClr val="1D1D1F"/>
                </a:solidFill>
                <a:latin typeface="Arial"/>
                <a:ea typeface="Arial"/>
                <a:cs typeface="Arial"/>
                <a:sym typeface="Arial"/>
              </a:rPr>
              <a:t>“I'm not able to [X], but what I can do is [Y].”</a:t>
            </a:r>
            <a:endParaRPr b="0" i="0" spc="0" sz="1000" u="none" cap="none" strike="noStrike">
              <a:solidFill>
                <a:schemeClr val="dk1"/>
              </a:solidFill>
              <a:latin typeface="Calibri"/>
              <a:ea typeface="Calibri"/>
              <a:cs typeface="Calibri"/>
              <a:sym typeface="Calibri"/>
            </a:endParaRPr>
          </a:p>
        </p:txBody>
      </p:sp>
      <p:sp>
        <p:nvSpPr>
          <p:cNvPr id="1117" name="Google Shape;1117;p44"/>
          <p:cNvSpPr/>
          <p:nvPr/>
        </p:nvSpPr>
        <p:spPr>
          <a:xfrm>
            <a:off x="411480" y="35204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118" name="Google Shape;1118;p44"/>
          <p:cNvPicPr preferRelativeResize="0"/>
          <p:nvPr/>
        </p:nvPicPr>
        <p:blipFill rotWithShape="1">
          <a:blip r:embed="rId3">
            <a:alphaModFix/>
          </a:blip>
          <a:srcRect b="0" l="0" r="0" t="0"/>
          <a:stretch/>
        </p:blipFill>
        <p:spPr>
          <a:xfrm>
            <a:off x="566928" y="3630168"/>
            <a:ext cx="164592" cy="164592"/>
          </a:xfrm>
          <a:prstGeom prst="rect">
            <a:avLst/>
          </a:prstGeom>
          <a:noFill/>
          <a:ln>
            <a:noFill/>
          </a:ln>
        </p:spPr>
      </p:pic>
      <p:sp>
        <p:nvSpPr>
          <p:cNvPr id="1119" name="Google Shape;1119;p44"/>
          <p:cNvSpPr txBox="1"/>
          <p:nvPr/>
        </p:nvSpPr>
        <p:spPr>
          <a:xfrm>
            <a:off x="822960" y="36210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Either way:  </a:t>
            </a:r>
            <a:r>
              <a:rPr b="0" i="0" lang="en-US" spc="0" sz="1000" u="none" cap="none" strike="noStrike">
                <a:solidFill>
                  <a:srgbClr val="1D1D1F"/>
                </a:solidFill>
                <a:latin typeface="Arial"/>
                <a:ea typeface="Arial"/>
                <a:cs typeface="Arial"/>
                <a:sym typeface="Arial"/>
              </a:rPr>
              <a:t>say clearly whether the offer is already on the account or not.</a:t>
            </a:r>
            <a:endParaRPr b="0" i="0" spc="0" sz="1000" u="none" cap="none" strike="noStrike">
              <a:solidFill>
                <a:schemeClr val="dk1"/>
              </a:solidFill>
              <a:latin typeface="Calibri"/>
              <a:ea typeface="Calibri"/>
              <a:cs typeface="Calibri"/>
              <a:sym typeface="Calibri"/>
            </a:endParaRPr>
          </a:p>
        </p:txBody>
      </p:sp>
      <p:sp>
        <p:nvSpPr>
          <p:cNvPr id="1120" name="Google Shape;1120;p4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4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RETENTION PLAYBOOK</a:t>
            </a:r>
            <a:endParaRPr b="0" i="0" spc="0" sz="800" u="none" cap="none" strike="noStrike">
              <a:solidFill>
                <a:schemeClr val="dk1"/>
              </a:solidFill>
              <a:latin typeface="Calibri"/>
              <a:ea typeface="Calibri"/>
              <a:cs typeface="Calibri"/>
              <a:sym typeface="Calibri"/>
            </a:endParaRPr>
          </a:p>
        </p:txBody>
      </p:sp>
      <p:sp>
        <p:nvSpPr>
          <p:cNvPr id="1127" name="Google Shape;1127;p4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Who isn't retainable?</a:t>
            </a:r>
            <a:endParaRPr b="0" i="0" spc="0" sz="2400" u="none" cap="none" strike="noStrike">
              <a:solidFill>
                <a:schemeClr val="dk1"/>
              </a:solidFill>
              <a:latin typeface="Calibri"/>
              <a:ea typeface="Calibri"/>
              <a:cs typeface="Calibri"/>
              <a:sym typeface="Calibri"/>
            </a:endParaRPr>
          </a:p>
        </p:txBody>
      </p:sp>
      <p:sp>
        <p:nvSpPr>
          <p:cNvPr id="1128" name="Google Shape;1128;p4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The list is narrower than you think.</a:t>
            </a:r>
            <a:endParaRPr b="0" i="0" spc="0" sz="1200" u="none" cap="none" strike="noStrike">
              <a:solidFill>
                <a:schemeClr val="dk1"/>
              </a:solidFill>
              <a:latin typeface="Calibri"/>
              <a:ea typeface="Calibri"/>
              <a:cs typeface="Calibri"/>
              <a:sym typeface="Calibri"/>
            </a:endParaRPr>
          </a:p>
        </p:txBody>
      </p:sp>
      <p:sp>
        <p:nvSpPr>
          <p:cNvPr id="1129" name="Google Shape;1129;p45"/>
          <p:cNvSpPr/>
          <p:nvPr/>
        </p:nvSpPr>
        <p:spPr>
          <a:xfrm>
            <a:off x="411480" y="1325880"/>
            <a:ext cx="26822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30" name="Google Shape;1130;p45"/>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131" name="Google Shape;1131;p45"/>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132" name="Google Shape;1132;p45"/>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No ongoing need</a:t>
            </a:r>
            <a:endParaRPr b="0" i="0" spc="0" sz="1200" u="none" cap="none" strike="noStrike">
              <a:solidFill>
                <a:schemeClr val="dk1"/>
              </a:solidFill>
              <a:latin typeface="Calibri"/>
              <a:ea typeface="Calibri"/>
              <a:cs typeface="Calibri"/>
              <a:sym typeface="Calibri"/>
            </a:endParaRPr>
          </a:p>
        </p:txBody>
      </p:sp>
      <p:sp>
        <p:nvSpPr>
          <p:cNvPr id="1133" name="Google Shape;1133;p45"/>
          <p:cNvSpPr txBox="1"/>
          <p:nvPr/>
        </p:nvSpPr>
        <p:spPr>
          <a:xfrm>
            <a:off x="576072" y="2221992"/>
            <a:ext cx="235305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No longer has a home, or moved to a care facility.</a:t>
            </a:r>
            <a:endParaRPr b="0" i="0" spc="0" sz="950" u="none" cap="none" strike="noStrike">
              <a:solidFill>
                <a:schemeClr val="dk1"/>
              </a:solidFill>
              <a:latin typeface="Calibri"/>
              <a:ea typeface="Calibri"/>
              <a:cs typeface="Calibri"/>
              <a:sym typeface="Calibri"/>
            </a:endParaRPr>
          </a:p>
        </p:txBody>
      </p:sp>
      <p:sp>
        <p:nvSpPr>
          <p:cNvPr id="1134" name="Google Shape;1134;p45"/>
          <p:cNvSpPr/>
          <p:nvPr/>
        </p:nvSpPr>
        <p:spPr>
          <a:xfrm>
            <a:off x="3230880" y="1325880"/>
            <a:ext cx="26822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35" name="Google Shape;1135;p45"/>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136" name="Google Shape;1136;p45"/>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137" name="Google Shape;1137;p45"/>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Extreme hardship</a:t>
            </a:r>
            <a:endParaRPr b="0" i="0" spc="0" sz="1200" u="none" cap="none" strike="noStrike">
              <a:solidFill>
                <a:schemeClr val="dk1"/>
              </a:solidFill>
              <a:latin typeface="Calibri"/>
              <a:ea typeface="Calibri"/>
              <a:cs typeface="Calibri"/>
              <a:sym typeface="Calibri"/>
            </a:endParaRPr>
          </a:p>
        </p:txBody>
      </p:sp>
      <p:sp>
        <p:nvSpPr>
          <p:cNvPr id="1138" name="Google Shape;1138;p45"/>
          <p:cNvSpPr txBox="1"/>
          <p:nvPr/>
        </p:nvSpPr>
        <p:spPr>
          <a:xfrm>
            <a:off x="3395472" y="2221992"/>
            <a:ext cx="235305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Even a reduced fee isn't reasonable. Empathy, not a sales pitch.</a:t>
            </a:r>
            <a:endParaRPr b="0" i="0" spc="0" sz="950" u="none" cap="none" strike="noStrike">
              <a:solidFill>
                <a:schemeClr val="dk1"/>
              </a:solidFill>
              <a:latin typeface="Calibri"/>
              <a:ea typeface="Calibri"/>
              <a:cs typeface="Calibri"/>
              <a:sym typeface="Calibri"/>
            </a:endParaRPr>
          </a:p>
        </p:txBody>
      </p:sp>
      <p:sp>
        <p:nvSpPr>
          <p:cNvPr id="1139" name="Google Shape;1139;p45"/>
          <p:cNvSpPr/>
          <p:nvPr/>
        </p:nvSpPr>
        <p:spPr>
          <a:xfrm>
            <a:off x="6050280" y="1325880"/>
            <a:ext cx="26822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40" name="Google Shape;1140;p45"/>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141" name="Google Shape;1141;p45"/>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142" name="Google Shape;1142;p45"/>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Material legal threat</a:t>
            </a:r>
            <a:endParaRPr b="0" i="0" spc="0" sz="1200" u="none" cap="none" strike="noStrike">
              <a:solidFill>
                <a:schemeClr val="dk1"/>
              </a:solidFill>
              <a:latin typeface="Calibri"/>
              <a:ea typeface="Calibri"/>
              <a:cs typeface="Calibri"/>
              <a:sym typeface="Calibri"/>
            </a:endParaRPr>
          </a:p>
        </p:txBody>
      </p:sp>
      <p:sp>
        <p:nvSpPr>
          <p:cNvPr id="1143" name="Google Shape;1143;p45"/>
          <p:cNvSpPr txBox="1"/>
          <p:nvPr/>
        </p:nvSpPr>
        <p:spPr>
          <a:xfrm>
            <a:off x="6214872" y="2221992"/>
            <a:ext cx="235305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AG complaint, litigation, formal legal proceedings.</a:t>
            </a:r>
            <a:endParaRPr b="0" i="0" spc="0" sz="950" u="none" cap="none" strike="noStrike">
              <a:solidFill>
                <a:schemeClr val="dk1"/>
              </a:solidFill>
              <a:latin typeface="Calibri"/>
              <a:ea typeface="Calibri"/>
              <a:cs typeface="Calibri"/>
              <a:sym typeface="Calibri"/>
            </a:endParaRPr>
          </a:p>
        </p:txBody>
      </p:sp>
      <p:sp>
        <p:nvSpPr>
          <p:cNvPr id="1144" name="Google Shape;1144;p45"/>
          <p:cNvSpPr/>
          <p:nvPr/>
        </p:nvSpPr>
        <p:spPr>
          <a:xfrm>
            <a:off x="411480" y="3063240"/>
            <a:ext cx="8321040" cy="1005840"/>
          </a:xfrm>
          <a:prstGeom prst="roundRect">
            <a:avLst>
              <a:gd fmla="val 7273"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45" name="Google Shape;1145;p45"/>
          <p:cNvSpPr/>
          <p:nvPr/>
        </p:nvSpPr>
        <p:spPr>
          <a:xfrm>
            <a:off x="411480" y="3063240"/>
            <a:ext cx="832104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Still worth a real attempt</a:t>
            </a:r>
            <a:endParaRPr b="0" i="0" spc="0" sz="1050" u="none" cap="none" strike="noStrike">
              <a:solidFill>
                <a:schemeClr val="dk1"/>
              </a:solidFill>
              <a:latin typeface="Calibri"/>
              <a:ea typeface="Calibri"/>
              <a:cs typeface="Calibri"/>
              <a:sym typeface="Calibri"/>
            </a:endParaRPr>
          </a:p>
        </p:txBody>
      </p:sp>
      <p:sp>
        <p:nvSpPr>
          <p:cNvPr id="1146" name="Google Shape;1146;p45"/>
          <p:cNvSpPr txBox="1"/>
          <p:nvPr/>
        </p:nvSpPr>
        <p:spPr>
          <a:xfrm>
            <a:off x="576072" y="3502152"/>
            <a:ext cx="7991856" cy="49377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Angry, distrustful or frustrated customers: many calm down once heard</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"I can't afford it": MF/MCT reduction, a pause or free months may work</a:t>
            </a:r>
            <a:endParaRPr b="0" i="0" spc="0" sz="950" u="none" cap="none" strike="noStrike">
              <a:solidFill>
                <a:schemeClr val="dk1"/>
              </a:solidFill>
              <a:latin typeface="Calibri"/>
              <a:ea typeface="Calibri"/>
              <a:cs typeface="Calibri"/>
              <a:sym typeface="Calibri"/>
            </a:endParaRPr>
          </a:p>
        </p:txBody>
      </p:sp>
      <p:sp>
        <p:nvSpPr>
          <p:cNvPr id="1147" name="Google Shape;1147;p4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p4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RETENTION PLAYBOOK</a:t>
            </a:r>
            <a:endParaRPr b="0" i="0" spc="0" sz="800" u="none" cap="none" strike="noStrike">
              <a:solidFill>
                <a:schemeClr val="dk1"/>
              </a:solidFill>
              <a:latin typeface="Calibri"/>
              <a:ea typeface="Calibri"/>
              <a:cs typeface="Calibri"/>
              <a:sym typeface="Calibri"/>
            </a:endParaRPr>
          </a:p>
        </p:txBody>
      </p:sp>
      <p:sp>
        <p:nvSpPr>
          <p:cNvPr id="1154" name="Google Shape;1154;p4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Usually not a retention target</a:t>
            </a:r>
            <a:endParaRPr b="0" i="0" spc="0" sz="2400" u="none" cap="none" strike="noStrike">
              <a:solidFill>
                <a:schemeClr val="dk1"/>
              </a:solidFill>
              <a:latin typeface="Calibri"/>
              <a:ea typeface="Calibri"/>
              <a:cs typeface="Calibri"/>
              <a:sym typeface="Calibri"/>
            </a:endParaRPr>
          </a:p>
        </p:txBody>
      </p:sp>
      <p:sp>
        <p:nvSpPr>
          <p:cNvPr id="1155" name="Google Shape;1155;p4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Common patterns, not automatic answers.</a:t>
            </a:r>
            <a:endParaRPr b="0" i="0" spc="0" sz="1200" u="none" cap="none" strike="noStrike">
              <a:solidFill>
                <a:schemeClr val="dk1"/>
              </a:solidFill>
              <a:latin typeface="Calibri"/>
              <a:ea typeface="Calibri"/>
              <a:cs typeface="Calibri"/>
              <a:sym typeface="Calibri"/>
            </a:endParaRPr>
          </a:p>
        </p:txBody>
      </p:sp>
      <p:sp>
        <p:nvSpPr>
          <p:cNvPr id="1156" name="Google Shape;1156;p46"/>
          <p:cNvSpPr/>
          <p:nvPr/>
        </p:nvSpPr>
        <p:spPr>
          <a:xfrm>
            <a:off x="411480" y="1325880"/>
            <a:ext cx="2682240" cy="365760"/>
          </a:xfrm>
          <a:prstGeom prst="roundRect">
            <a:avLst>
              <a:gd fmla="val 20000" name="adj"/>
            </a:avLst>
          </a:prstGeom>
          <a:solidFill>
            <a:srgbClr val="FFFFFF"/>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900"/>
              <a:buFont typeface="Arial"/>
              <a:buNone/>
            </a:pPr>
            <a:r>
              <a:rPr b="1" i="0" lang="en-US" spc="0" sz="900" u="none" cap="none" strike="noStrike">
                <a:solidFill>
                  <a:srgbClr val="1D1D1F"/>
                </a:solidFill>
                <a:latin typeface="Arial"/>
                <a:ea typeface="Arial"/>
                <a:cs typeface="Arial"/>
                <a:sym typeface="Arial"/>
              </a:rPr>
              <a:t>History of filing disputes</a:t>
            </a:r>
            <a:endParaRPr b="0" i="0" spc="0" sz="900" u="none" cap="none" strike="noStrike">
              <a:solidFill>
                <a:schemeClr val="dk1"/>
              </a:solidFill>
              <a:latin typeface="Calibri"/>
              <a:ea typeface="Calibri"/>
              <a:cs typeface="Calibri"/>
              <a:sym typeface="Calibri"/>
            </a:endParaRPr>
          </a:p>
        </p:txBody>
      </p:sp>
      <p:sp>
        <p:nvSpPr>
          <p:cNvPr id="1157" name="Google Shape;1157;p46"/>
          <p:cNvSpPr/>
          <p:nvPr/>
        </p:nvSpPr>
        <p:spPr>
          <a:xfrm>
            <a:off x="411480" y="1325880"/>
            <a:ext cx="2682240" cy="365760"/>
          </a:xfrm>
          <a:prstGeom prst="roundRect">
            <a:avLst>
              <a:gd fmla="val 20000" name="adj"/>
            </a:avLst>
          </a:prstGeom>
          <a:no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58" name="Google Shape;1158;p46"/>
          <p:cNvSpPr/>
          <p:nvPr/>
        </p:nvSpPr>
        <p:spPr>
          <a:xfrm>
            <a:off x="3230880" y="1325880"/>
            <a:ext cx="2682240" cy="365760"/>
          </a:xfrm>
          <a:prstGeom prst="roundRect">
            <a:avLst>
              <a:gd fmla="val 20000" name="adj"/>
            </a:avLst>
          </a:prstGeom>
          <a:solidFill>
            <a:srgbClr val="FFFFFF"/>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900"/>
              <a:buFont typeface="Arial"/>
              <a:buNone/>
            </a:pPr>
            <a:r>
              <a:rPr b="1" i="0" lang="en-US" spc="0" sz="900" u="none" cap="none" strike="noStrike">
                <a:solidFill>
                  <a:srgbClr val="1D1D1F"/>
                </a:solidFill>
                <a:latin typeface="Arial"/>
                <a:ea typeface="Arial"/>
                <a:cs typeface="Arial"/>
                <a:sym typeface="Arial"/>
              </a:rPr>
              <a:t>Bankruptcy / extreme hardship</a:t>
            </a:r>
            <a:endParaRPr b="0" i="0" spc="0" sz="900" u="none" cap="none" strike="noStrike">
              <a:solidFill>
                <a:schemeClr val="dk1"/>
              </a:solidFill>
              <a:latin typeface="Calibri"/>
              <a:ea typeface="Calibri"/>
              <a:cs typeface="Calibri"/>
              <a:sym typeface="Calibri"/>
            </a:endParaRPr>
          </a:p>
        </p:txBody>
      </p:sp>
      <p:sp>
        <p:nvSpPr>
          <p:cNvPr id="1159" name="Google Shape;1159;p46"/>
          <p:cNvSpPr/>
          <p:nvPr/>
        </p:nvSpPr>
        <p:spPr>
          <a:xfrm>
            <a:off x="3230880" y="1325880"/>
            <a:ext cx="2682240" cy="365760"/>
          </a:xfrm>
          <a:prstGeom prst="roundRect">
            <a:avLst>
              <a:gd fmla="val 20000" name="adj"/>
            </a:avLst>
          </a:prstGeom>
          <a:no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60" name="Google Shape;1160;p46"/>
          <p:cNvSpPr/>
          <p:nvPr/>
        </p:nvSpPr>
        <p:spPr>
          <a:xfrm>
            <a:off x="6050280" y="1325880"/>
            <a:ext cx="2682240" cy="365760"/>
          </a:xfrm>
          <a:prstGeom prst="roundRect">
            <a:avLst>
              <a:gd fmla="val 20000" name="adj"/>
            </a:avLst>
          </a:prstGeom>
          <a:solidFill>
            <a:srgbClr val="FFFFFF"/>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900"/>
              <a:buFont typeface="Arial"/>
              <a:buNone/>
            </a:pPr>
            <a:r>
              <a:rPr b="1" i="0" lang="en-US" spc="0" sz="900" u="none" cap="none" strike="noStrike">
                <a:solidFill>
                  <a:srgbClr val="1D1D1F"/>
                </a:solidFill>
                <a:latin typeface="Arial"/>
                <a:ea typeface="Arial"/>
                <a:cs typeface="Arial"/>
                <a:sym typeface="Arial"/>
              </a:rPr>
              <a:t>Military deployment</a:t>
            </a:r>
            <a:endParaRPr b="0" i="0" spc="0" sz="900" u="none" cap="none" strike="noStrike">
              <a:solidFill>
                <a:schemeClr val="dk1"/>
              </a:solidFill>
              <a:latin typeface="Calibri"/>
              <a:ea typeface="Calibri"/>
              <a:cs typeface="Calibri"/>
              <a:sym typeface="Calibri"/>
            </a:endParaRPr>
          </a:p>
        </p:txBody>
      </p:sp>
      <p:sp>
        <p:nvSpPr>
          <p:cNvPr id="1161" name="Google Shape;1161;p46"/>
          <p:cNvSpPr/>
          <p:nvPr/>
        </p:nvSpPr>
        <p:spPr>
          <a:xfrm>
            <a:off x="6050280" y="1325880"/>
            <a:ext cx="2682240" cy="365760"/>
          </a:xfrm>
          <a:prstGeom prst="roundRect">
            <a:avLst>
              <a:gd fmla="val 20000" name="adj"/>
            </a:avLst>
          </a:prstGeom>
          <a:no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62" name="Google Shape;1162;p46"/>
          <p:cNvSpPr/>
          <p:nvPr/>
        </p:nvSpPr>
        <p:spPr>
          <a:xfrm>
            <a:off x="411480" y="1783080"/>
            <a:ext cx="2682240" cy="365760"/>
          </a:xfrm>
          <a:prstGeom prst="roundRect">
            <a:avLst>
              <a:gd fmla="val 20000" name="adj"/>
            </a:avLst>
          </a:prstGeom>
          <a:solidFill>
            <a:srgbClr val="FFFFFF"/>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900"/>
              <a:buFont typeface="Arial"/>
              <a:buNone/>
            </a:pPr>
            <a:r>
              <a:rPr b="1" i="0" lang="en-US" spc="0" sz="900" u="none" cap="none" strike="noStrike">
                <a:solidFill>
                  <a:srgbClr val="1D1D1F"/>
                </a:solidFill>
                <a:latin typeface="Arial"/>
                <a:ea typeface="Arial"/>
                <a:cs typeface="Arial"/>
                <a:sym typeface="Arial"/>
              </a:rPr>
              <a:t>ADA accommodation needs</a:t>
            </a:r>
            <a:endParaRPr b="0" i="0" spc="0" sz="900" u="none" cap="none" strike="noStrike">
              <a:solidFill>
                <a:schemeClr val="dk1"/>
              </a:solidFill>
              <a:latin typeface="Calibri"/>
              <a:ea typeface="Calibri"/>
              <a:cs typeface="Calibri"/>
              <a:sym typeface="Calibri"/>
            </a:endParaRPr>
          </a:p>
        </p:txBody>
      </p:sp>
      <p:sp>
        <p:nvSpPr>
          <p:cNvPr id="1163" name="Google Shape;1163;p46"/>
          <p:cNvSpPr/>
          <p:nvPr/>
        </p:nvSpPr>
        <p:spPr>
          <a:xfrm>
            <a:off x="411480" y="1783080"/>
            <a:ext cx="2682240" cy="365760"/>
          </a:xfrm>
          <a:prstGeom prst="roundRect">
            <a:avLst>
              <a:gd fmla="val 20000" name="adj"/>
            </a:avLst>
          </a:prstGeom>
          <a:no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64" name="Google Shape;1164;p46"/>
          <p:cNvSpPr/>
          <p:nvPr/>
        </p:nvSpPr>
        <p:spPr>
          <a:xfrm>
            <a:off x="3230880" y="1783080"/>
            <a:ext cx="2682240" cy="365760"/>
          </a:xfrm>
          <a:prstGeom prst="roundRect">
            <a:avLst>
              <a:gd fmla="val 20000" name="adj"/>
            </a:avLst>
          </a:prstGeom>
          <a:solidFill>
            <a:srgbClr val="FFFFFF"/>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900"/>
              <a:buFont typeface="Arial"/>
              <a:buNone/>
            </a:pPr>
            <a:r>
              <a:rPr b="1" i="0" lang="en-US" spc="0" sz="900" u="none" cap="none" strike="noStrike">
                <a:solidFill>
                  <a:srgbClr val="1D1D1F"/>
                </a:solidFill>
                <a:latin typeface="Arial"/>
                <a:ea typeface="Arial"/>
                <a:cs typeface="Arial"/>
                <a:sym typeface="Arial"/>
              </a:rPr>
              <a:t>Severe weather / disaster</a:t>
            </a:r>
            <a:endParaRPr b="0" i="0" spc="0" sz="900" u="none" cap="none" strike="noStrike">
              <a:solidFill>
                <a:schemeClr val="dk1"/>
              </a:solidFill>
              <a:latin typeface="Calibri"/>
              <a:ea typeface="Calibri"/>
              <a:cs typeface="Calibri"/>
              <a:sym typeface="Calibri"/>
            </a:endParaRPr>
          </a:p>
        </p:txBody>
      </p:sp>
      <p:sp>
        <p:nvSpPr>
          <p:cNvPr id="1165" name="Google Shape;1165;p46"/>
          <p:cNvSpPr/>
          <p:nvPr/>
        </p:nvSpPr>
        <p:spPr>
          <a:xfrm>
            <a:off x="3230880" y="1783080"/>
            <a:ext cx="2682240" cy="365760"/>
          </a:xfrm>
          <a:prstGeom prst="roundRect">
            <a:avLst>
              <a:gd fmla="val 20000" name="adj"/>
            </a:avLst>
          </a:prstGeom>
          <a:no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66" name="Google Shape;1166;p46"/>
          <p:cNvSpPr/>
          <p:nvPr/>
        </p:nvSpPr>
        <p:spPr>
          <a:xfrm>
            <a:off x="6050280" y="1783080"/>
            <a:ext cx="2682240" cy="365760"/>
          </a:xfrm>
          <a:prstGeom prst="roundRect">
            <a:avLst>
              <a:gd fmla="val 20000" name="adj"/>
            </a:avLst>
          </a:prstGeom>
          <a:solidFill>
            <a:srgbClr val="FFFFFF"/>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900"/>
              <a:buFont typeface="Arial"/>
              <a:buNone/>
            </a:pPr>
            <a:r>
              <a:rPr b="1" i="0" lang="en-US" spc="0" sz="900" u="none" cap="none" strike="noStrike">
                <a:solidFill>
                  <a:srgbClr val="1D1D1F"/>
                </a:solidFill>
                <a:latin typeface="Arial"/>
                <a:ea typeface="Arial"/>
                <a:cs typeface="Arial"/>
                <a:sym typeface="Arial"/>
              </a:rPr>
              <a:t>Severe illness</a:t>
            </a:r>
            <a:endParaRPr b="0" i="0" spc="0" sz="900" u="none" cap="none" strike="noStrike">
              <a:solidFill>
                <a:schemeClr val="dk1"/>
              </a:solidFill>
              <a:latin typeface="Calibri"/>
              <a:ea typeface="Calibri"/>
              <a:cs typeface="Calibri"/>
              <a:sym typeface="Calibri"/>
            </a:endParaRPr>
          </a:p>
        </p:txBody>
      </p:sp>
      <p:sp>
        <p:nvSpPr>
          <p:cNvPr id="1167" name="Google Shape;1167;p46"/>
          <p:cNvSpPr/>
          <p:nvPr/>
        </p:nvSpPr>
        <p:spPr>
          <a:xfrm>
            <a:off x="6050280" y="1783080"/>
            <a:ext cx="2682240" cy="365760"/>
          </a:xfrm>
          <a:prstGeom prst="roundRect">
            <a:avLst>
              <a:gd fmla="val 20000" name="adj"/>
            </a:avLst>
          </a:prstGeom>
          <a:no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68" name="Google Shape;1168;p46"/>
          <p:cNvSpPr/>
          <p:nvPr/>
        </p:nvSpPr>
        <p:spPr>
          <a:xfrm>
            <a:off x="411480" y="2240280"/>
            <a:ext cx="2682240" cy="365760"/>
          </a:xfrm>
          <a:prstGeom prst="roundRect">
            <a:avLst>
              <a:gd fmla="val 20000" name="adj"/>
            </a:avLst>
          </a:prstGeom>
          <a:solidFill>
            <a:srgbClr val="FFFFFF"/>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900"/>
              <a:buFont typeface="Arial"/>
              <a:buNone/>
            </a:pPr>
            <a:r>
              <a:rPr b="1" i="0" lang="en-US" spc="0" sz="900" u="none" cap="none" strike="noStrike">
                <a:solidFill>
                  <a:srgbClr val="1D1D1F"/>
                </a:solidFill>
                <a:latin typeface="Arial"/>
                <a:ea typeface="Arial"/>
                <a:cs typeface="Arial"/>
                <a:sym typeface="Arial"/>
              </a:rPr>
              <a:t>Death in the household</a:t>
            </a:r>
            <a:endParaRPr b="0" i="0" spc="0" sz="900" u="none" cap="none" strike="noStrike">
              <a:solidFill>
                <a:schemeClr val="dk1"/>
              </a:solidFill>
              <a:latin typeface="Calibri"/>
              <a:ea typeface="Calibri"/>
              <a:cs typeface="Calibri"/>
              <a:sym typeface="Calibri"/>
            </a:endParaRPr>
          </a:p>
        </p:txBody>
      </p:sp>
      <p:sp>
        <p:nvSpPr>
          <p:cNvPr id="1169" name="Google Shape;1169;p46"/>
          <p:cNvSpPr/>
          <p:nvPr/>
        </p:nvSpPr>
        <p:spPr>
          <a:xfrm>
            <a:off x="411480" y="2240280"/>
            <a:ext cx="2682240" cy="365760"/>
          </a:xfrm>
          <a:prstGeom prst="roundRect">
            <a:avLst>
              <a:gd fmla="val 20000" name="adj"/>
            </a:avLst>
          </a:prstGeom>
          <a:no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70" name="Google Shape;1170;p46"/>
          <p:cNvSpPr/>
          <p:nvPr/>
        </p:nvSpPr>
        <p:spPr>
          <a:xfrm>
            <a:off x="3230880" y="2240280"/>
            <a:ext cx="2682240" cy="365760"/>
          </a:xfrm>
          <a:prstGeom prst="roundRect">
            <a:avLst>
              <a:gd fmla="val 20000" name="adj"/>
            </a:avLst>
          </a:prstGeom>
          <a:solidFill>
            <a:srgbClr val="FFFFFF"/>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900"/>
              <a:buFont typeface="Arial"/>
              <a:buNone/>
            </a:pPr>
            <a:r>
              <a:rPr b="1" i="0" lang="en-US" spc="0" sz="900" u="none" cap="none" strike="noStrike">
                <a:solidFill>
                  <a:srgbClr val="1D1D1F"/>
                </a:solidFill>
                <a:latin typeface="Arial"/>
                <a:ea typeface="Arial"/>
                <a:cs typeface="Arial"/>
                <a:sym typeface="Arial"/>
              </a:rPr>
              <a:t>Moving outside coverage</a:t>
            </a:r>
            <a:endParaRPr b="0" i="0" spc="0" sz="900" u="none" cap="none" strike="noStrike">
              <a:solidFill>
                <a:schemeClr val="dk1"/>
              </a:solidFill>
              <a:latin typeface="Calibri"/>
              <a:ea typeface="Calibri"/>
              <a:cs typeface="Calibri"/>
              <a:sym typeface="Calibri"/>
            </a:endParaRPr>
          </a:p>
        </p:txBody>
      </p:sp>
      <p:sp>
        <p:nvSpPr>
          <p:cNvPr id="1171" name="Google Shape;1171;p46"/>
          <p:cNvSpPr/>
          <p:nvPr/>
        </p:nvSpPr>
        <p:spPr>
          <a:xfrm>
            <a:off x="3230880" y="2240280"/>
            <a:ext cx="2682240" cy="365760"/>
          </a:xfrm>
          <a:prstGeom prst="roundRect">
            <a:avLst>
              <a:gd fmla="val 20000" name="adj"/>
            </a:avLst>
          </a:prstGeom>
          <a:no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72" name="Google Shape;1172;p46"/>
          <p:cNvSpPr/>
          <p:nvPr/>
        </p:nvSpPr>
        <p:spPr>
          <a:xfrm>
            <a:off x="6050280" y="2240280"/>
            <a:ext cx="2682240" cy="365760"/>
          </a:xfrm>
          <a:prstGeom prst="roundRect">
            <a:avLst>
              <a:gd fmla="val 20000" name="adj"/>
            </a:avLst>
          </a:prstGeom>
          <a:solidFill>
            <a:srgbClr val="FFFFFF"/>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900"/>
              <a:buFont typeface="Arial"/>
              <a:buNone/>
            </a:pPr>
            <a:r>
              <a:rPr b="1" i="0" lang="en-US" spc="0" sz="900" u="none" cap="none" strike="noStrike">
                <a:solidFill>
                  <a:srgbClr val="1D1D1F"/>
                </a:solidFill>
                <a:latin typeface="Arial"/>
                <a:ea typeface="Arial"/>
                <a:cs typeface="Arial"/>
                <a:sym typeface="Arial"/>
              </a:rPr>
              <a:t>Genuine attempt already declined</a:t>
            </a:r>
            <a:endParaRPr b="0" i="0" spc="0" sz="900" u="none" cap="none" strike="noStrike">
              <a:solidFill>
                <a:schemeClr val="dk1"/>
              </a:solidFill>
              <a:latin typeface="Calibri"/>
              <a:ea typeface="Calibri"/>
              <a:cs typeface="Calibri"/>
              <a:sym typeface="Calibri"/>
            </a:endParaRPr>
          </a:p>
        </p:txBody>
      </p:sp>
      <p:sp>
        <p:nvSpPr>
          <p:cNvPr id="1173" name="Google Shape;1173;p46"/>
          <p:cNvSpPr/>
          <p:nvPr/>
        </p:nvSpPr>
        <p:spPr>
          <a:xfrm>
            <a:off x="6050280" y="2240280"/>
            <a:ext cx="2682240" cy="365760"/>
          </a:xfrm>
          <a:prstGeom prst="roundRect">
            <a:avLst>
              <a:gd fmla="val 20000" name="adj"/>
            </a:avLst>
          </a:prstGeom>
          <a:no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74" name="Google Shape;1174;p46"/>
          <p:cNvSpPr/>
          <p:nvPr/>
        </p:nvSpPr>
        <p:spPr>
          <a:xfrm>
            <a:off x="411480" y="2697480"/>
            <a:ext cx="2682240" cy="365760"/>
          </a:xfrm>
          <a:prstGeom prst="roundRect">
            <a:avLst>
              <a:gd fmla="val 20000" name="adj"/>
            </a:avLst>
          </a:prstGeom>
          <a:solidFill>
            <a:srgbClr val="FFFFFF"/>
          </a:solidFill>
          <a:ln cap="flat" cmpd="sng" w="9525">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900"/>
              <a:buFont typeface="Arial"/>
              <a:buNone/>
            </a:pPr>
            <a:r>
              <a:rPr b="1" i="0" lang="en-US" spc="0" sz="900" u="none" cap="none" strike="noStrike">
                <a:solidFill>
                  <a:srgbClr val="1D1D1F"/>
                </a:solidFill>
                <a:latin typeface="Arial"/>
                <a:ea typeface="Arial"/>
                <a:cs typeface="Arial"/>
                <a:sym typeface="Arial"/>
              </a:rPr>
              <a:t>Multiple unused MFs + firm</a:t>
            </a:r>
            <a:endParaRPr b="0" i="0" spc="0" sz="900" u="none" cap="none" strike="noStrike">
              <a:solidFill>
                <a:schemeClr val="dk1"/>
              </a:solidFill>
              <a:latin typeface="Calibri"/>
              <a:ea typeface="Calibri"/>
              <a:cs typeface="Calibri"/>
              <a:sym typeface="Calibri"/>
            </a:endParaRPr>
          </a:p>
        </p:txBody>
      </p:sp>
      <p:sp>
        <p:nvSpPr>
          <p:cNvPr id="1175" name="Google Shape;1175;p46"/>
          <p:cNvSpPr/>
          <p:nvPr/>
        </p:nvSpPr>
        <p:spPr>
          <a:xfrm>
            <a:off x="411480" y="2697480"/>
            <a:ext cx="2682240" cy="365760"/>
          </a:xfrm>
          <a:prstGeom prst="roundRect">
            <a:avLst>
              <a:gd fmla="val 20000" name="adj"/>
            </a:avLst>
          </a:prstGeom>
          <a:no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76" name="Google Shape;1176;p46"/>
          <p:cNvSpPr/>
          <p:nvPr/>
        </p:nvSpPr>
        <p:spPr>
          <a:xfrm>
            <a:off x="3230880" y="2697480"/>
            <a:ext cx="2682240" cy="365760"/>
          </a:xfrm>
          <a:prstGeom prst="roundRect">
            <a:avLst>
              <a:gd fmla="val 20000" name="adj"/>
            </a:avLst>
          </a:prstGeom>
          <a:solidFill>
            <a:srgbClr val="FCEBEA"/>
          </a:solidFill>
          <a:ln cap="flat" cmpd="sng" w="9525">
            <a:solidFill>
              <a:srgbClr val="FCEBEA"/>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3261E"/>
              </a:buClr>
              <a:buSzPts val="900"/>
              <a:buFont typeface="Arial"/>
              <a:buNone/>
            </a:pPr>
            <a:r>
              <a:rPr b="1" i="0" lang="en-US" spc="0" sz="900" u="none" cap="none" strike="noStrike">
                <a:solidFill>
                  <a:srgbClr val="B3261E"/>
                </a:solidFill>
                <a:latin typeface="Arial"/>
                <a:ea typeface="Arial"/>
                <a:cs typeface="Arial"/>
                <a:sym typeface="Arial"/>
              </a:rPr>
              <a:t>Material legal threat</a:t>
            </a:r>
            <a:endParaRPr b="0" i="0" spc="0" sz="900" u="none" cap="none" strike="noStrike">
              <a:solidFill>
                <a:schemeClr val="dk1"/>
              </a:solidFill>
              <a:latin typeface="Calibri"/>
              <a:ea typeface="Calibri"/>
              <a:cs typeface="Calibri"/>
              <a:sym typeface="Calibri"/>
            </a:endParaRPr>
          </a:p>
        </p:txBody>
      </p:sp>
      <p:sp>
        <p:nvSpPr>
          <p:cNvPr id="1177" name="Google Shape;1177;p46"/>
          <p:cNvSpPr/>
          <p:nvPr/>
        </p:nvSpPr>
        <p:spPr>
          <a:xfrm>
            <a:off x="6050280" y="2697480"/>
            <a:ext cx="2682240" cy="365760"/>
          </a:xfrm>
          <a:prstGeom prst="roundRect">
            <a:avLst>
              <a:gd fmla="val 20000" name="adj"/>
            </a:avLst>
          </a:prstGeom>
          <a:solidFill>
            <a:srgbClr val="FCEBEA"/>
          </a:solidFill>
          <a:ln cap="flat" cmpd="sng" w="9525">
            <a:solidFill>
              <a:srgbClr val="FCEBEA"/>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3261E"/>
              </a:buClr>
              <a:buSzPts val="900"/>
              <a:buFont typeface="Arial"/>
              <a:buNone/>
            </a:pPr>
            <a:r>
              <a:rPr b="1" i="0" lang="en-US" spc="0" sz="900" u="none" cap="none" strike="noStrike">
                <a:solidFill>
                  <a:srgbClr val="B3261E"/>
                </a:solidFill>
                <a:latin typeface="Arial"/>
                <a:ea typeface="Arial"/>
                <a:cs typeface="Arial"/>
                <a:sym typeface="Arial"/>
              </a:rPr>
              <a:t>Abusive toward a cleaner</a:t>
            </a:r>
            <a:endParaRPr b="0" i="0" spc="0" sz="900" u="none" cap="none" strike="noStrike">
              <a:solidFill>
                <a:schemeClr val="dk1"/>
              </a:solidFill>
              <a:latin typeface="Calibri"/>
              <a:ea typeface="Calibri"/>
              <a:cs typeface="Calibri"/>
              <a:sym typeface="Calibri"/>
            </a:endParaRPr>
          </a:p>
        </p:txBody>
      </p:sp>
      <p:sp>
        <p:nvSpPr>
          <p:cNvPr id="1178" name="Google Shape;1178;p46"/>
          <p:cNvSpPr/>
          <p:nvPr/>
        </p:nvSpPr>
        <p:spPr>
          <a:xfrm>
            <a:off x="411480" y="32918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179" name="Google Shape;1179;p46"/>
          <p:cNvPicPr preferRelativeResize="0"/>
          <p:nvPr/>
        </p:nvPicPr>
        <p:blipFill rotWithShape="1">
          <a:blip r:embed="rId3">
            <a:alphaModFix/>
          </a:blip>
          <a:srcRect b="0" l="0" r="0" t="0"/>
          <a:stretch/>
        </p:blipFill>
        <p:spPr>
          <a:xfrm>
            <a:off x="566928" y="3401568"/>
            <a:ext cx="164592" cy="164592"/>
          </a:xfrm>
          <a:prstGeom prst="rect">
            <a:avLst/>
          </a:prstGeom>
          <a:noFill/>
          <a:ln>
            <a:noFill/>
          </a:ln>
        </p:spPr>
      </p:pic>
      <p:sp>
        <p:nvSpPr>
          <p:cNvPr id="1180" name="Google Shape;1180;p46"/>
          <p:cNvSpPr txBox="1"/>
          <p:nvPr/>
        </p:nvSpPr>
        <p:spPr>
          <a:xfrm>
            <a:off x="822960" y="33924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Abusive toward a cleaner:  </a:t>
            </a:r>
            <a:r>
              <a:rPr b="0" i="0" lang="en-US" spc="0" sz="1000" u="none" cap="none" strike="noStrike">
                <a:solidFill>
                  <a:srgbClr val="1D1D1F"/>
                </a:solidFill>
                <a:latin typeface="Arial"/>
                <a:ea typeface="Arial"/>
                <a:cs typeface="Arial"/>
                <a:sym typeface="Arial"/>
              </a:rPr>
              <a:t>retention is off the table. Only exit offers (ETF/MCT reduction) remain.</a:t>
            </a:r>
            <a:endParaRPr b="0" i="0" spc="0" sz="1000" u="none" cap="none" strike="noStrike">
              <a:solidFill>
                <a:schemeClr val="dk1"/>
              </a:solidFill>
              <a:latin typeface="Calibri"/>
              <a:ea typeface="Calibri"/>
              <a:cs typeface="Calibri"/>
              <a:sym typeface="Calibri"/>
            </a:endParaRPr>
          </a:p>
        </p:txBody>
      </p:sp>
      <p:sp>
        <p:nvSpPr>
          <p:cNvPr id="1181" name="Google Shape;1181;p46"/>
          <p:cNvSpPr/>
          <p:nvPr/>
        </p:nvSpPr>
        <p:spPr>
          <a:xfrm>
            <a:off x="411480" y="3767328"/>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182" name="Google Shape;1182;p46"/>
          <p:cNvPicPr preferRelativeResize="0"/>
          <p:nvPr/>
        </p:nvPicPr>
        <p:blipFill rotWithShape="1">
          <a:blip r:embed="rId4">
            <a:alphaModFix/>
          </a:blip>
          <a:srcRect b="0" l="0" r="0" t="0"/>
          <a:stretch/>
        </p:blipFill>
        <p:spPr>
          <a:xfrm>
            <a:off x="566928" y="3877056"/>
            <a:ext cx="164592" cy="164592"/>
          </a:xfrm>
          <a:prstGeom prst="rect">
            <a:avLst/>
          </a:prstGeom>
          <a:noFill/>
          <a:ln>
            <a:noFill/>
          </a:ln>
        </p:spPr>
      </p:pic>
      <p:sp>
        <p:nvSpPr>
          <p:cNvPr id="1183" name="Google Shape;1183;p46"/>
          <p:cNvSpPr txBox="1"/>
          <p:nvPr/>
        </p:nvSpPr>
        <p:spPr>
          <a:xfrm>
            <a:off x="822960" y="3867912"/>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Why:  </a:t>
            </a:r>
            <a:r>
              <a:rPr b="0" i="0" lang="en-US" spc="0" sz="1000" u="none" cap="none" strike="noStrike">
                <a:solidFill>
                  <a:srgbClr val="1D1D1F"/>
                </a:solidFill>
                <a:latin typeface="Arial"/>
                <a:ea typeface="Arial"/>
                <a:cs typeface="Arial"/>
                <a:sym typeface="Arial"/>
              </a:rPr>
              <a:t>their situation isn't about the service. Pushing retention looks tone-deaf.</a:t>
            </a:r>
            <a:endParaRPr b="0" i="0" spc="0" sz="1000" u="none" cap="none" strike="noStrike">
              <a:solidFill>
                <a:schemeClr val="dk1"/>
              </a:solidFill>
              <a:latin typeface="Calibri"/>
              <a:ea typeface="Calibri"/>
              <a:cs typeface="Calibri"/>
              <a:sym typeface="Calibri"/>
            </a:endParaRPr>
          </a:p>
        </p:txBody>
      </p:sp>
      <p:sp>
        <p:nvSpPr>
          <p:cNvPr id="1184" name="Google Shape;1184;p4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9" name="Shape 1189"/>
        <p:cNvGrpSpPr/>
        <p:nvPr/>
      </p:nvGrpSpPr>
      <p:grpSpPr>
        <a:xfrm>
          <a:off x="0" y="0"/>
          <a:ext cx="0" cy="0"/>
          <a:chOff x="0" y="0"/>
          <a:chExt cx="0" cy="0"/>
        </a:xfrm>
      </p:grpSpPr>
      <p:sp>
        <p:nvSpPr>
          <p:cNvPr id="1190" name="Google Shape;1190;p4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RETENTION PLAYBOOK</a:t>
            </a:r>
            <a:endParaRPr b="0" i="0" spc="0" sz="800" u="none" cap="none" strike="noStrike">
              <a:solidFill>
                <a:schemeClr val="dk1"/>
              </a:solidFill>
              <a:latin typeface="Calibri"/>
              <a:ea typeface="Calibri"/>
              <a:cs typeface="Calibri"/>
              <a:sym typeface="Calibri"/>
            </a:endParaRPr>
          </a:p>
        </p:txBody>
      </p:sp>
      <p:sp>
        <p:nvSpPr>
          <p:cNvPr id="1191" name="Google Shape;1191;p4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Context decides</a:t>
            </a:r>
            <a:endParaRPr b="0" i="0" spc="0" sz="2400" u="none" cap="none" strike="noStrike">
              <a:solidFill>
                <a:schemeClr val="dk1"/>
              </a:solidFill>
              <a:latin typeface="Calibri"/>
              <a:ea typeface="Calibri"/>
              <a:cs typeface="Calibri"/>
              <a:sym typeface="Calibri"/>
            </a:endParaRPr>
          </a:p>
        </p:txBody>
      </p:sp>
      <p:sp>
        <p:nvSpPr>
          <p:cNvPr id="1192" name="Google Shape;1192;p47"/>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The same situation can point to a different call. Investigate first.</a:t>
            </a:r>
            <a:endParaRPr b="0" i="0" spc="0" sz="1200" u="none" cap="none" strike="noStrike">
              <a:solidFill>
                <a:schemeClr val="dk1"/>
              </a:solidFill>
              <a:latin typeface="Calibri"/>
              <a:ea typeface="Calibri"/>
              <a:cs typeface="Calibri"/>
              <a:sym typeface="Calibri"/>
            </a:endParaRPr>
          </a:p>
        </p:txBody>
      </p:sp>
      <p:sp>
        <p:nvSpPr>
          <p:cNvPr id="1193" name="Google Shape;1193;p47"/>
          <p:cNvSpPr txBox="1"/>
          <p:nvPr/>
        </p:nvSpPr>
        <p:spPr>
          <a:xfrm>
            <a:off x="2514600" y="1261872"/>
            <a:ext cx="30175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3261E"/>
              </a:buClr>
              <a:buSzPts val="850"/>
              <a:buFont typeface="Arial"/>
              <a:buNone/>
            </a:pPr>
            <a:r>
              <a:rPr b="1" i="0" lang="en-US" spc="0" sz="850" u="none" cap="none" strike="noStrike">
                <a:solidFill>
                  <a:srgbClr val="B3261E"/>
                </a:solidFill>
                <a:latin typeface="Arial"/>
                <a:ea typeface="Arial"/>
                <a:cs typeface="Arial"/>
                <a:sym typeface="Arial"/>
              </a:rPr>
              <a:t>Leans non-retainable</a:t>
            </a:r>
            <a:endParaRPr b="0" i="0" spc="0" sz="850" u="none" cap="none" strike="noStrike">
              <a:solidFill>
                <a:schemeClr val="dk1"/>
              </a:solidFill>
              <a:latin typeface="Calibri"/>
              <a:ea typeface="Calibri"/>
              <a:cs typeface="Calibri"/>
              <a:sym typeface="Calibri"/>
            </a:endParaRPr>
          </a:p>
        </p:txBody>
      </p:sp>
      <p:sp>
        <p:nvSpPr>
          <p:cNvPr id="1194" name="Google Shape;1194;p47"/>
          <p:cNvSpPr txBox="1"/>
          <p:nvPr/>
        </p:nvSpPr>
        <p:spPr>
          <a:xfrm>
            <a:off x="5715000" y="1261872"/>
            <a:ext cx="30175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50"/>
              <a:buFont typeface="Arial"/>
              <a:buNone/>
            </a:pPr>
            <a:r>
              <a:rPr b="1" i="0" lang="en-US" spc="0" sz="850" u="none" cap="none" strike="noStrike">
                <a:solidFill>
                  <a:srgbClr val="0B7A6F"/>
                </a:solidFill>
                <a:latin typeface="Arial"/>
                <a:ea typeface="Arial"/>
                <a:cs typeface="Arial"/>
                <a:sym typeface="Arial"/>
              </a:rPr>
              <a:t>But…</a:t>
            </a:r>
            <a:endParaRPr b="0" i="0" spc="0" sz="850" u="none" cap="none" strike="noStrike">
              <a:solidFill>
                <a:schemeClr val="dk1"/>
              </a:solidFill>
              <a:latin typeface="Calibri"/>
              <a:ea typeface="Calibri"/>
              <a:cs typeface="Calibri"/>
              <a:sym typeface="Calibri"/>
            </a:endParaRPr>
          </a:p>
        </p:txBody>
      </p:sp>
      <p:sp>
        <p:nvSpPr>
          <p:cNvPr id="1195" name="Google Shape;1195;p47"/>
          <p:cNvSpPr/>
          <p:nvPr/>
        </p:nvSpPr>
        <p:spPr>
          <a:xfrm>
            <a:off x="411480" y="1481328"/>
            <a:ext cx="2011680" cy="640080"/>
          </a:xfrm>
          <a:prstGeom prst="roundRect">
            <a:avLst>
              <a:gd fmla="val 1142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196" name="Google Shape;1196;p47"/>
          <p:cNvSpPr/>
          <p:nvPr/>
        </p:nvSpPr>
        <p:spPr>
          <a:xfrm>
            <a:off x="502920" y="1636776"/>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197" name="Google Shape;1197;p47"/>
          <p:cNvPicPr preferRelativeResize="0"/>
          <p:nvPr/>
        </p:nvPicPr>
        <p:blipFill rotWithShape="1">
          <a:blip r:embed="rId3">
            <a:alphaModFix/>
          </a:blip>
          <a:srcRect b="0" l="0" r="0" t="0"/>
          <a:stretch/>
        </p:blipFill>
        <p:spPr>
          <a:xfrm>
            <a:off x="581924" y="1715780"/>
            <a:ext cx="171176" cy="171176"/>
          </a:xfrm>
          <a:prstGeom prst="rect">
            <a:avLst/>
          </a:prstGeom>
          <a:noFill/>
          <a:ln>
            <a:noFill/>
          </a:ln>
        </p:spPr>
      </p:pic>
      <p:sp>
        <p:nvSpPr>
          <p:cNvPr id="1198" name="Google Shape;1198;p47"/>
          <p:cNvSpPr txBox="1"/>
          <p:nvPr/>
        </p:nvSpPr>
        <p:spPr>
          <a:xfrm>
            <a:off x="914400" y="1481328"/>
            <a:ext cx="146304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US" spc="0" sz="1050" u="none" cap="none" strike="noStrike">
                <a:solidFill>
                  <a:srgbClr val="1D1D1F"/>
                </a:solidFill>
                <a:latin typeface="Play"/>
                <a:ea typeface="Play"/>
                <a:cs typeface="Play"/>
                <a:sym typeface="Play"/>
              </a:rPr>
              <a:t>History of disputes</a:t>
            </a:r>
            <a:endParaRPr b="0" i="0" spc="0" sz="1050" u="none" cap="none" strike="noStrike">
              <a:solidFill>
                <a:schemeClr val="dk1"/>
              </a:solidFill>
              <a:latin typeface="Calibri"/>
              <a:ea typeface="Calibri"/>
              <a:cs typeface="Calibri"/>
              <a:sym typeface="Calibri"/>
            </a:endParaRPr>
          </a:p>
        </p:txBody>
      </p:sp>
      <p:sp>
        <p:nvSpPr>
          <p:cNvPr id="1199" name="Google Shape;1199;p47"/>
          <p:cNvSpPr/>
          <p:nvPr/>
        </p:nvSpPr>
        <p:spPr>
          <a:xfrm>
            <a:off x="2514600" y="1481328"/>
            <a:ext cx="3108960" cy="640080"/>
          </a:xfrm>
          <a:prstGeom prst="roundRect">
            <a:avLst>
              <a:gd fmla="val 11429" name="adj"/>
            </a:avLst>
          </a:prstGeom>
          <a:solidFill>
            <a:srgbClr val="FCEBEA"/>
          </a:solidFill>
          <a:ln cap="flat" cmpd="sng" w="9525">
            <a:solidFill>
              <a:srgbClr val="FCEB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00" name="Google Shape;1200;p47"/>
          <p:cNvSpPr txBox="1"/>
          <p:nvPr/>
        </p:nvSpPr>
        <p:spPr>
          <a:xfrm>
            <a:off x="2651760" y="1481328"/>
            <a:ext cx="288036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US" spc="0" sz="950" u="none" cap="none" strike="noStrike">
                <a:solidFill>
                  <a:srgbClr val="1D1D1F"/>
                </a:solidFill>
                <a:latin typeface="Arial"/>
                <a:ea typeface="Arial"/>
                <a:cs typeface="Arial"/>
                <a:sym typeface="Arial"/>
              </a:rPr>
              <a:t>Wants to cancel or a refund → non-retainable</a:t>
            </a:r>
            <a:endParaRPr b="0" i="0" spc="0" sz="950" u="none" cap="none" strike="noStrike">
              <a:solidFill>
                <a:schemeClr val="dk1"/>
              </a:solidFill>
              <a:latin typeface="Calibri"/>
              <a:ea typeface="Calibri"/>
              <a:cs typeface="Calibri"/>
              <a:sym typeface="Calibri"/>
            </a:endParaRPr>
          </a:p>
        </p:txBody>
      </p:sp>
      <p:sp>
        <p:nvSpPr>
          <p:cNvPr id="1201" name="Google Shape;1201;p47"/>
          <p:cNvSpPr/>
          <p:nvPr/>
        </p:nvSpPr>
        <p:spPr>
          <a:xfrm>
            <a:off x="5715000" y="1481328"/>
            <a:ext cx="3017520" cy="640080"/>
          </a:xfrm>
          <a:prstGeom prst="roundRect">
            <a:avLst>
              <a:gd fmla="val 11429"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02" name="Google Shape;1202;p47"/>
          <p:cNvSpPr txBox="1"/>
          <p:nvPr/>
        </p:nvSpPr>
        <p:spPr>
          <a:xfrm>
            <a:off x="5852160" y="1481328"/>
            <a:ext cx="2788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US" spc="0" sz="950" u="none" cap="none" strike="noStrike">
                <a:solidFill>
                  <a:srgbClr val="1D1D1F"/>
                </a:solidFill>
                <a:latin typeface="Arial"/>
                <a:ea typeface="Arial"/>
                <a:cs typeface="Arial"/>
                <a:sym typeface="Arial"/>
              </a:rPr>
              <a:t>Wants to keep using it → let them (unless fraud)</a:t>
            </a:r>
            <a:endParaRPr b="0" i="0" spc="0" sz="950" u="none" cap="none" strike="noStrike">
              <a:solidFill>
                <a:schemeClr val="dk1"/>
              </a:solidFill>
              <a:latin typeface="Calibri"/>
              <a:ea typeface="Calibri"/>
              <a:cs typeface="Calibri"/>
              <a:sym typeface="Calibri"/>
            </a:endParaRPr>
          </a:p>
        </p:txBody>
      </p:sp>
      <p:sp>
        <p:nvSpPr>
          <p:cNvPr id="1203" name="Google Shape;1203;p47"/>
          <p:cNvSpPr/>
          <p:nvPr/>
        </p:nvSpPr>
        <p:spPr>
          <a:xfrm>
            <a:off x="411480" y="2212848"/>
            <a:ext cx="2011680" cy="640080"/>
          </a:xfrm>
          <a:prstGeom prst="roundRect">
            <a:avLst>
              <a:gd fmla="val 1142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04" name="Google Shape;1204;p47"/>
          <p:cNvSpPr/>
          <p:nvPr/>
        </p:nvSpPr>
        <p:spPr>
          <a:xfrm>
            <a:off x="502920" y="2368296"/>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205" name="Google Shape;1205;p47"/>
          <p:cNvPicPr preferRelativeResize="0"/>
          <p:nvPr/>
        </p:nvPicPr>
        <p:blipFill rotWithShape="1">
          <a:blip r:embed="rId4">
            <a:alphaModFix/>
          </a:blip>
          <a:srcRect b="0" l="0" r="0" t="0"/>
          <a:stretch/>
        </p:blipFill>
        <p:spPr>
          <a:xfrm>
            <a:off x="581924" y="2447300"/>
            <a:ext cx="171176" cy="171176"/>
          </a:xfrm>
          <a:prstGeom prst="rect">
            <a:avLst/>
          </a:prstGeom>
          <a:noFill/>
          <a:ln>
            <a:noFill/>
          </a:ln>
        </p:spPr>
      </p:pic>
      <p:sp>
        <p:nvSpPr>
          <p:cNvPr id="1206" name="Google Shape;1206;p47"/>
          <p:cNvSpPr txBox="1"/>
          <p:nvPr/>
        </p:nvSpPr>
        <p:spPr>
          <a:xfrm>
            <a:off x="914400" y="2212848"/>
            <a:ext cx="146304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US" spc="0" sz="1050" u="none" cap="none" strike="noStrike">
                <a:solidFill>
                  <a:srgbClr val="1D1D1F"/>
                </a:solidFill>
                <a:latin typeface="Play"/>
                <a:ea typeface="Play"/>
                <a:cs typeface="Play"/>
                <a:sym typeface="Play"/>
              </a:rPr>
              <a:t>Severe illness</a:t>
            </a:r>
            <a:endParaRPr b="0" i="0" spc="0" sz="1050" u="none" cap="none" strike="noStrike">
              <a:solidFill>
                <a:schemeClr val="dk1"/>
              </a:solidFill>
              <a:latin typeface="Calibri"/>
              <a:ea typeface="Calibri"/>
              <a:cs typeface="Calibri"/>
              <a:sym typeface="Calibri"/>
            </a:endParaRPr>
          </a:p>
        </p:txBody>
      </p:sp>
      <p:sp>
        <p:nvSpPr>
          <p:cNvPr id="1207" name="Google Shape;1207;p47"/>
          <p:cNvSpPr/>
          <p:nvPr/>
        </p:nvSpPr>
        <p:spPr>
          <a:xfrm>
            <a:off x="2514600" y="2212848"/>
            <a:ext cx="3108960" cy="640080"/>
          </a:xfrm>
          <a:prstGeom prst="roundRect">
            <a:avLst>
              <a:gd fmla="val 11429" name="adj"/>
            </a:avLst>
          </a:prstGeom>
          <a:solidFill>
            <a:srgbClr val="FCEBEA"/>
          </a:solidFill>
          <a:ln cap="flat" cmpd="sng" w="9525">
            <a:solidFill>
              <a:srgbClr val="FCEB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08" name="Google Shape;1208;p47"/>
          <p:cNvSpPr txBox="1"/>
          <p:nvPr/>
        </p:nvSpPr>
        <p:spPr>
          <a:xfrm>
            <a:off x="2651760" y="2212848"/>
            <a:ext cx="288036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US" spc="0" sz="950" u="none" cap="none" strike="noStrike">
                <a:solidFill>
                  <a:srgbClr val="1D1D1F"/>
                </a:solidFill>
                <a:latin typeface="Arial"/>
                <a:ea typeface="Arial"/>
                <a:cs typeface="Arial"/>
                <a:sym typeface="Arial"/>
              </a:rPr>
              <a:t>Cancelling because of it → cancel, waive ETF</a:t>
            </a:r>
            <a:endParaRPr b="0" i="0" spc="0" sz="950" u="none" cap="none" strike="noStrike">
              <a:solidFill>
                <a:schemeClr val="dk1"/>
              </a:solidFill>
              <a:latin typeface="Calibri"/>
              <a:ea typeface="Calibri"/>
              <a:cs typeface="Calibri"/>
              <a:sym typeface="Calibri"/>
            </a:endParaRPr>
          </a:p>
        </p:txBody>
      </p:sp>
      <p:sp>
        <p:nvSpPr>
          <p:cNvPr id="1209" name="Google Shape;1209;p47"/>
          <p:cNvSpPr/>
          <p:nvPr/>
        </p:nvSpPr>
        <p:spPr>
          <a:xfrm>
            <a:off x="5715000" y="2212848"/>
            <a:ext cx="3017520" cy="640080"/>
          </a:xfrm>
          <a:prstGeom prst="roundRect">
            <a:avLst>
              <a:gd fmla="val 11429"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10" name="Google Shape;1210;p47"/>
          <p:cNvSpPr txBox="1"/>
          <p:nvPr/>
        </p:nvSpPr>
        <p:spPr>
          <a:xfrm>
            <a:off x="5852160" y="2212848"/>
            <a:ext cx="2788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US" spc="0" sz="950" u="none" cap="none" strike="noStrike">
                <a:solidFill>
                  <a:srgbClr val="1D1D1F"/>
                </a:solidFill>
                <a:latin typeface="Arial"/>
                <a:ea typeface="Arial"/>
                <a:cs typeface="Arial"/>
                <a:sym typeface="Arial"/>
              </a:rPr>
              <a:t>Needs the help because of it → retain</a:t>
            </a:r>
            <a:endParaRPr b="0" i="0" spc="0" sz="950" u="none" cap="none" strike="noStrike">
              <a:solidFill>
                <a:schemeClr val="dk1"/>
              </a:solidFill>
              <a:latin typeface="Calibri"/>
              <a:ea typeface="Calibri"/>
              <a:cs typeface="Calibri"/>
              <a:sym typeface="Calibri"/>
            </a:endParaRPr>
          </a:p>
        </p:txBody>
      </p:sp>
      <p:sp>
        <p:nvSpPr>
          <p:cNvPr id="1211" name="Google Shape;1211;p47"/>
          <p:cNvSpPr/>
          <p:nvPr/>
        </p:nvSpPr>
        <p:spPr>
          <a:xfrm>
            <a:off x="411480" y="2944368"/>
            <a:ext cx="2011680" cy="640080"/>
          </a:xfrm>
          <a:prstGeom prst="roundRect">
            <a:avLst>
              <a:gd fmla="val 1142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12" name="Google Shape;1212;p47"/>
          <p:cNvSpPr/>
          <p:nvPr/>
        </p:nvSpPr>
        <p:spPr>
          <a:xfrm>
            <a:off x="502920" y="3099816"/>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213" name="Google Shape;1213;p47"/>
          <p:cNvPicPr preferRelativeResize="0"/>
          <p:nvPr/>
        </p:nvPicPr>
        <p:blipFill rotWithShape="1">
          <a:blip r:embed="rId5">
            <a:alphaModFix/>
          </a:blip>
          <a:srcRect b="0" l="0" r="0" t="0"/>
          <a:stretch/>
        </p:blipFill>
        <p:spPr>
          <a:xfrm>
            <a:off x="581924" y="3178820"/>
            <a:ext cx="171176" cy="171176"/>
          </a:xfrm>
          <a:prstGeom prst="rect">
            <a:avLst/>
          </a:prstGeom>
          <a:noFill/>
          <a:ln>
            <a:noFill/>
          </a:ln>
        </p:spPr>
      </p:pic>
      <p:sp>
        <p:nvSpPr>
          <p:cNvPr id="1214" name="Google Shape;1214;p47"/>
          <p:cNvSpPr txBox="1"/>
          <p:nvPr/>
        </p:nvSpPr>
        <p:spPr>
          <a:xfrm>
            <a:off x="914400" y="2944368"/>
            <a:ext cx="146304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US" spc="0" sz="1050" u="none" cap="none" strike="noStrike">
                <a:solidFill>
                  <a:srgbClr val="1D1D1F"/>
                </a:solidFill>
                <a:latin typeface="Play"/>
                <a:ea typeface="Play"/>
                <a:cs typeface="Play"/>
                <a:sym typeface="Play"/>
              </a:rPr>
              <a:t>Military deployment</a:t>
            </a:r>
            <a:endParaRPr b="0" i="0" spc="0" sz="1050" u="none" cap="none" strike="noStrike">
              <a:solidFill>
                <a:schemeClr val="dk1"/>
              </a:solidFill>
              <a:latin typeface="Calibri"/>
              <a:ea typeface="Calibri"/>
              <a:cs typeface="Calibri"/>
              <a:sym typeface="Calibri"/>
            </a:endParaRPr>
          </a:p>
        </p:txBody>
      </p:sp>
      <p:sp>
        <p:nvSpPr>
          <p:cNvPr id="1215" name="Google Shape;1215;p47"/>
          <p:cNvSpPr/>
          <p:nvPr/>
        </p:nvSpPr>
        <p:spPr>
          <a:xfrm>
            <a:off x="2514600" y="2944368"/>
            <a:ext cx="3108960" cy="640080"/>
          </a:xfrm>
          <a:prstGeom prst="roundRect">
            <a:avLst>
              <a:gd fmla="val 11429" name="adj"/>
            </a:avLst>
          </a:prstGeom>
          <a:solidFill>
            <a:srgbClr val="FCEBEA"/>
          </a:solidFill>
          <a:ln cap="flat" cmpd="sng" w="9525">
            <a:solidFill>
              <a:srgbClr val="FCEB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16" name="Google Shape;1216;p47"/>
          <p:cNvSpPr txBox="1"/>
          <p:nvPr/>
        </p:nvSpPr>
        <p:spPr>
          <a:xfrm>
            <a:off x="2651760" y="2944368"/>
            <a:ext cx="288036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US" spc="0" sz="950" u="none" cap="none" strike="noStrike">
                <a:solidFill>
                  <a:srgbClr val="1D1D1F"/>
                </a:solidFill>
                <a:latin typeface="Arial"/>
                <a:ea typeface="Arial"/>
                <a:cs typeface="Arial"/>
                <a:sym typeface="Arial"/>
              </a:rPr>
              <a:t>Deploying now → cancel</a:t>
            </a:r>
            <a:endParaRPr b="0" i="0" spc="0" sz="950" u="none" cap="none" strike="noStrike">
              <a:solidFill>
                <a:schemeClr val="dk1"/>
              </a:solidFill>
              <a:latin typeface="Calibri"/>
              <a:ea typeface="Calibri"/>
              <a:cs typeface="Calibri"/>
              <a:sym typeface="Calibri"/>
            </a:endParaRPr>
          </a:p>
        </p:txBody>
      </p:sp>
      <p:sp>
        <p:nvSpPr>
          <p:cNvPr id="1217" name="Google Shape;1217;p47"/>
          <p:cNvSpPr/>
          <p:nvPr/>
        </p:nvSpPr>
        <p:spPr>
          <a:xfrm>
            <a:off x="5715000" y="2944368"/>
            <a:ext cx="3017520" cy="640080"/>
          </a:xfrm>
          <a:prstGeom prst="roundRect">
            <a:avLst>
              <a:gd fmla="val 11429"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18" name="Google Shape;1218;p47"/>
          <p:cNvSpPr txBox="1"/>
          <p:nvPr/>
        </p:nvSpPr>
        <p:spPr>
          <a:xfrm>
            <a:off x="5852160" y="2944368"/>
            <a:ext cx="278892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US" spc="0" sz="950" u="none" cap="none" strike="noStrike">
                <a:solidFill>
                  <a:srgbClr val="1D1D1F"/>
                </a:solidFill>
                <a:latin typeface="Arial"/>
                <a:ea typeface="Arial"/>
                <a:cs typeface="Arial"/>
                <a:sym typeface="Arial"/>
              </a:rPr>
              <a:t>Deploying in a few months → Timed Reminder</a:t>
            </a:r>
            <a:endParaRPr b="0" i="0" spc="0" sz="950" u="none" cap="none" strike="noStrike">
              <a:solidFill>
                <a:schemeClr val="dk1"/>
              </a:solidFill>
              <a:latin typeface="Calibri"/>
              <a:ea typeface="Calibri"/>
              <a:cs typeface="Calibri"/>
              <a:sym typeface="Calibri"/>
            </a:endParaRPr>
          </a:p>
        </p:txBody>
      </p:sp>
      <p:sp>
        <p:nvSpPr>
          <p:cNvPr id="1219" name="Google Shape;1219;p47"/>
          <p:cNvSpPr/>
          <p:nvPr/>
        </p:nvSpPr>
        <p:spPr>
          <a:xfrm>
            <a:off x="411480" y="37947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220" name="Google Shape;1220;p47"/>
          <p:cNvPicPr preferRelativeResize="0"/>
          <p:nvPr/>
        </p:nvPicPr>
        <p:blipFill rotWithShape="1">
          <a:blip r:embed="rId6">
            <a:alphaModFix/>
          </a:blip>
          <a:srcRect b="0" l="0" r="0" t="0"/>
          <a:stretch/>
        </p:blipFill>
        <p:spPr>
          <a:xfrm>
            <a:off x="566928" y="3904488"/>
            <a:ext cx="164592" cy="164592"/>
          </a:xfrm>
          <a:prstGeom prst="rect">
            <a:avLst/>
          </a:prstGeom>
          <a:noFill/>
          <a:ln>
            <a:noFill/>
          </a:ln>
        </p:spPr>
      </p:pic>
      <p:sp>
        <p:nvSpPr>
          <p:cNvPr id="1221" name="Google Shape;1221;p47"/>
          <p:cNvSpPr txBox="1"/>
          <p:nvPr/>
        </p:nvSpPr>
        <p:spPr>
          <a:xfrm>
            <a:off x="822960" y="38953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Ask:  </a:t>
            </a:r>
            <a:r>
              <a:rPr b="0" i="0" lang="en-US" spc="0" sz="1000" u="none" cap="none" strike="noStrike">
                <a:solidFill>
                  <a:srgbClr val="1D1D1F"/>
                </a:solidFill>
                <a:latin typeface="Arial"/>
                <a:ea typeface="Arial"/>
                <a:cs typeface="Arial"/>
                <a:sym typeface="Arial"/>
              </a:rPr>
              <a:t>what is the customer asking for right now? Not just which situation is on the account.</a:t>
            </a:r>
            <a:endParaRPr b="0" i="0" spc="0" sz="1000" u="none" cap="none" strike="noStrike">
              <a:solidFill>
                <a:schemeClr val="dk1"/>
              </a:solidFill>
              <a:latin typeface="Calibri"/>
              <a:ea typeface="Calibri"/>
              <a:cs typeface="Calibri"/>
              <a:sym typeface="Calibri"/>
            </a:endParaRPr>
          </a:p>
        </p:txBody>
      </p:sp>
      <p:sp>
        <p:nvSpPr>
          <p:cNvPr id="1222" name="Google Shape;1222;p4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4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RETENTION PLAYBOOK</a:t>
            </a:r>
            <a:endParaRPr b="0" i="0" spc="0" sz="800" u="none" cap="none" strike="noStrike">
              <a:solidFill>
                <a:schemeClr val="dk1"/>
              </a:solidFill>
              <a:latin typeface="Calibri"/>
              <a:ea typeface="Calibri"/>
              <a:cs typeface="Calibri"/>
              <a:sym typeface="Calibri"/>
            </a:endParaRPr>
          </a:p>
        </p:txBody>
      </p:sp>
      <p:sp>
        <p:nvSpPr>
          <p:cNvPr id="1229" name="Google Shape;1229;p4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Clear signs they're retainable</a:t>
            </a:r>
            <a:endParaRPr b="0" i="0" spc="0" sz="2400" u="none" cap="none" strike="noStrike">
              <a:solidFill>
                <a:schemeClr val="dk1"/>
              </a:solidFill>
              <a:latin typeface="Calibri"/>
              <a:ea typeface="Calibri"/>
              <a:cs typeface="Calibri"/>
              <a:sym typeface="Calibri"/>
            </a:endParaRPr>
          </a:p>
        </p:txBody>
      </p:sp>
      <p:sp>
        <p:nvSpPr>
          <p:cNvPr id="1230" name="Google Shape;1230;p4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The objection is about structure, not value.</a:t>
            </a:r>
            <a:endParaRPr b="0" i="0" spc="0" sz="1200" u="none" cap="none" strike="noStrike">
              <a:solidFill>
                <a:schemeClr val="dk1"/>
              </a:solidFill>
              <a:latin typeface="Calibri"/>
              <a:ea typeface="Calibri"/>
              <a:cs typeface="Calibri"/>
              <a:sym typeface="Calibri"/>
            </a:endParaRPr>
          </a:p>
        </p:txBody>
      </p:sp>
      <p:sp>
        <p:nvSpPr>
          <p:cNvPr id="1231" name="Google Shape;1231;p48"/>
          <p:cNvSpPr/>
          <p:nvPr/>
        </p:nvSpPr>
        <p:spPr>
          <a:xfrm>
            <a:off x="411480" y="1325880"/>
            <a:ext cx="2682240" cy="2514600"/>
          </a:xfrm>
          <a:prstGeom prst="roundRect">
            <a:avLst>
              <a:gd fmla="val 290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32" name="Google Shape;1232;p48"/>
          <p:cNvSpPr/>
          <p:nvPr/>
        </p:nvSpPr>
        <p:spPr>
          <a:xfrm>
            <a:off x="576072" y="148132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233" name="Google Shape;1233;p48"/>
          <p:cNvPicPr preferRelativeResize="0"/>
          <p:nvPr/>
        </p:nvPicPr>
        <p:blipFill rotWithShape="1">
          <a:blip r:embed="rId3">
            <a:alphaModFix/>
          </a:blip>
          <a:srcRect b="0" l="0" r="0" t="0"/>
          <a:stretch/>
        </p:blipFill>
        <p:spPr>
          <a:xfrm>
            <a:off x="668244" y="1573500"/>
            <a:ext cx="199705" cy="199705"/>
          </a:xfrm>
          <a:prstGeom prst="rect">
            <a:avLst/>
          </a:prstGeom>
          <a:noFill/>
          <a:ln>
            <a:noFill/>
          </a:ln>
        </p:spPr>
      </p:pic>
      <p:sp>
        <p:nvSpPr>
          <p:cNvPr id="1234" name="Google Shape;1234;p48"/>
          <p:cNvSpPr txBox="1"/>
          <p:nvPr/>
        </p:nvSpPr>
        <p:spPr>
          <a:xfrm>
            <a:off x="576072" y="1938528"/>
            <a:ext cx="2353056"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Happy with the cleaning</a:t>
            </a:r>
            <a:endParaRPr b="0" i="0" spc="0" sz="1200" u="none" cap="none" strike="noStrike">
              <a:solidFill>
                <a:schemeClr val="dk1"/>
              </a:solidFill>
              <a:latin typeface="Calibri"/>
              <a:ea typeface="Calibri"/>
              <a:cs typeface="Calibri"/>
              <a:sym typeface="Calibri"/>
            </a:endParaRPr>
          </a:p>
        </p:txBody>
      </p:sp>
      <p:sp>
        <p:nvSpPr>
          <p:cNvPr id="1235" name="Google Shape;1235;p48"/>
          <p:cNvSpPr/>
          <p:nvPr/>
        </p:nvSpPr>
        <p:spPr>
          <a:xfrm>
            <a:off x="576072" y="2286000"/>
            <a:ext cx="2353056" cy="685800"/>
          </a:xfrm>
          <a:prstGeom prst="roundRect">
            <a:avLst>
              <a:gd fmla="val 10667"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36" name="Google Shape;1236;p48"/>
          <p:cNvSpPr txBox="1"/>
          <p:nvPr/>
        </p:nvSpPr>
        <p:spPr>
          <a:xfrm>
            <a:off x="667512" y="2286000"/>
            <a:ext cx="2170176"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1" lang="en-US" spc="0" sz="950" u="none" cap="none" strike="noStrike">
                <a:solidFill>
                  <a:srgbClr val="1D1D1F"/>
                </a:solidFill>
                <a:latin typeface="Arial"/>
                <a:ea typeface="Arial"/>
                <a:cs typeface="Arial"/>
                <a:sym typeface="Arial"/>
              </a:rPr>
              <a:t>“The cleaner did a good job but I don't want a membership.”</a:t>
            </a:r>
            <a:endParaRPr b="0" i="0" spc="0" sz="950" u="none" cap="none" strike="noStrike">
              <a:solidFill>
                <a:schemeClr val="dk1"/>
              </a:solidFill>
              <a:latin typeface="Calibri"/>
              <a:ea typeface="Calibri"/>
              <a:cs typeface="Calibri"/>
              <a:sym typeface="Calibri"/>
            </a:endParaRPr>
          </a:p>
        </p:txBody>
      </p:sp>
      <p:sp>
        <p:nvSpPr>
          <p:cNvPr id="1237" name="Google Shape;1237;p48"/>
          <p:cNvSpPr txBox="1"/>
          <p:nvPr/>
        </p:nvSpPr>
        <p:spPr>
          <a:xfrm>
            <a:off x="576072" y="3063240"/>
            <a:ext cx="2353056"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The service worked. It's about structure.</a:t>
            </a:r>
            <a:endParaRPr b="0" i="0" spc="0" sz="950" u="none" cap="none" strike="noStrike">
              <a:solidFill>
                <a:schemeClr val="dk1"/>
              </a:solidFill>
              <a:latin typeface="Calibri"/>
              <a:ea typeface="Calibri"/>
              <a:cs typeface="Calibri"/>
              <a:sym typeface="Calibri"/>
            </a:endParaRPr>
          </a:p>
        </p:txBody>
      </p:sp>
      <p:sp>
        <p:nvSpPr>
          <p:cNvPr id="1238" name="Google Shape;1238;p48"/>
          <p:cNvSpPr/>
          <p:nvPr/>
        </p:nvSpPr>
        <p:spPr>
          <a:xfrm>
            <a:off x="3230880" y="1325880"/>
            <a:ext cx="2682240" cy="2514600"/>
          </a:xfrm>
          <a:prstGeom prst="roundRect">
            <a:avLst>
              <a:gd fmla="val 290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39" name="Google Shape;1239;p48"/>
          <p:cNvSpPr/>
          <p:nvPr/>
        </p:nvSpPr>
        <p:spPr>
          <a:xfrm>
            <a:off x="3395472" y="148132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240" name="Google Shape;1240;p48"/>
          <p:cNvPicPr preferRelativeResize="0"/>
          <p:nvPr/>
        </p:nvPicPr>
        <p:blipFill rotWithShape="1">
          <a:blip r:embed="rId4">
            <a:alphaModFix/>
          </a:blip>
          <a:srcRect b="0" l="0" r="0" t="0"/>
          <a:stretch/>
        </p:blipFill>
        <p:spPr>
          <a:xfrm>
            <a:off x="3487644" y="1573500"/>
            <a:ext cx="199705" cy="199705"/>
          </a:xfrm>
          <a:prstGeom prst="rect">
            <a:avLst/>
          </a:prstGeom>
          <a:noFill/>
          <a:ln>
            <a:noFill/>
          </a:ln>
        </p:spPr>
      </p:pic>
      <p:sp>
        <p:nvSpPr>
          <p:cNvPr id="1241" name="Google Shape;1241;p48"/>
          <p:cNvSpPr txBox="1"/>
          <p:nvPr/>
        </p:nvSpPr>
        <p:spPr>
          <a:xfrm>
            <a:off x="3395472" y="1938528"/>
            <a:ext cx="2353056"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Temporary money concern</a:t>
            </a:r>
            <a:endParaRPr b="0" i="0" spc="0" sz="1200" u="none" cap="none" strike="noStrike">
              <a:solidFill>
                <a:schemeClr val="dk1"/>
              </a:solidFill>
              <a:latin typeface="Calibri"/>
              <a:ea typeface="Calibri"/>
              <a:cs typeface="Calibri"/>
              <a:sym typeface="Calibri"/>
            </a:endParaRPr>
          </a:p>
        </p:txBody>
      </p:sp>
      <p:sp>
        <p:nvSpPr>
          <p:cNvPr id="1242" name="Google Shape;1242;p48"/>
          <p:cNvSpPr/>
          <p:nvPr/>
        </p:nvSpPr>
        <p:spPr>
          <a:xfrm>
            <a:off x="3395472" y="2286000"/>
            <a:ext cx="2353056" cy="685800"/>
          </a:xfrm>
          <a:prstGeom prst="roundRect">
            <a:avLst>
              <a:gd fmla="val 10667"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43" name="Google Shape;1243;p48"/>
          <p:cNvSpPr txBox="1"/>
          <p:nvPr/>
        </p:nvSpPr>
        <p:spPr>
          <a:xfrm>
            <a:off x="3486912" y="2286000"/>
            <a:ext cx="2170176"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1" lang="en-US" spc="0" sz="950" u="none" cap="none" strike="noStrike">
                <a:solidFill>
                  <a:srgbClr val="1D1D1F"/>
                </a:solidFill>
                <a:latin typeface="Arial"/>
                <a:ea typeface="Arial"/>
                <a:cs typeface="Arial"/>
                <a:sym typeface="Arial"/>
              </a:rPr>
              <a:t>“I can't afford the monthly fee right now.”</a:t>
            </a:r>
            <a:endParaRPr b="0" i="0" spc="0" sz="950" u="none" cap="none" strike="noStrike">
              <a:solidFill>
                <a:schemeClr val="dk1"/>
              </a:solidFill>
              <a:latin typeface="Calibri"/>
              <a:ea typeface="Calibri"/>
              <a:cs typeface="Calibri"/>
              <a:sym typeface="Calibri"/>
            </a:endParaRPr>
          </a:p>
        </p:txBody>
      </p:sp>
      <p:sp>
        <p:nvSpPr>
          <p:cNvPr id="1244" name="Google Shape;1244;p48"/>
          <p:cNvSpPr txBox="1"/>
          <p:nvPr/>
        </p:nvSpPr>
        <p:spPr>
          <a:xfrm>
            <a:off x="3395472" y="3063240"/>
            <a:ext cx="2353056"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Fee adjustment or flexibility. Severe distress? Pause or help cancel.</a:t>
            </a:r>
            <a:endParaRPr b="0" i="0" spc="0" sz="950" u="none" cap="none" strike="noStrike">
              <a:solidFill>
                <a:schemeClr val="dk1"/>
              </a:solidFill>
              <a:latin typeface="Calibri"/>
              <a:ea typeface="Calibri"/>
              <a:cs typeface="Calibri"/>
              <a:sym typeface="Calibri"/>
            </a:endParaRPr>
          </a:p>
        </p:txBody>
      </p:sp>
      <p:sp>
        <p:nvSpPr>
          <p:cNvPr id="1245" name="Google Shape;1245;p48"/>
          <p:cNvSpPr/>
          <p:nvPr/>
        </p:nvSpPr>
        <p:spPr>
          <a:xfrm>
            <a:off x="6050280" y="1325880"/>
            <a:ext cx="2682240" cy="2514600"/>
          </a:xfrm>
          <a:prstGeom prst="roundRect">
            <a:avLst>
              <a:gd fmla="val 290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46" name="Google Shape;1246;p48"/>
          <p:cNvSpPr/>
          <p:nvPr/>
        </p:nvSpPr>
        <p:spPr>
          <a:xfrm>
            <a:off x="6214872" y="148132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247" name="Google Shape;1247;p48"/>
          <p:cNvPicPr preferRelativeResize="0"/>
          <p:nvPr/>
        </p:nvPicPr>
        <p:blipFill rotWithShape="1">
          <a:blip r:embed="rId5">
            <a:alphaModFix/>
          </a:blip>
          <a:srcRect b="0" l="0" r="0" t="0"/>
          <a:stretch/>
        </p:blipFill>
        <p:spPr>
          <a:xfrm>
            <a:off x="6307044" y="1573500"/>
            <a:ext cx="199705" cy="199705"/>
          </a:xfrm>
          <a:prstGeom prst="rect">
            <a:avLst/>
          </a:prstGeom>
          <a:noFill/>
          <a:ln>
            <a:noFill/>
          </a:ln>
        </p:spPr>
      </p:pic>
      <p:sp>
        <p:nvSpPr>
          <p:cNvPr id="1248" name="Google Shape;1248;p48"/>
          <p:cNvSpPr txBox="1"/>
          <p:nvPr/>
        </p:nvSpPr>
        <p:spPr>
          <a:xfrm>
            <a:off x="6214872" y="1938528"/>
            <a:ext cx="2353056"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Membership confusion</a:t>
            </a:r>
            <a:endParaRPr b="0" i="0" spc="0" sz="1200" u="none" cap="none" strike="noStrike">
              <a:solidFill>
                <a:schemeClr val="dk1"/>
              </a:solidFill>
              <a:latin typeface="Calibri"/>
              <a:ea typeface="Calibri"/>
              <a:cs typeface="Calibri"/>
              <a:sym typeface="Calibri"/>
            </a:endParaRPr>
          </a:p>
        </p:txBody>
      </p:sp>
      <p:sp>
        <p:nvSpPr>
          <p:cNvPr id="1249" name="Google Shape;1249;p48"/>
          <p:cNvSpPr/>
          <p:nvPr/>
        </p:nvSpPr>
        <p:spPr>
          <a:xfrm>
            <a:off x="6214872" y="2286000"/>
            <a:ext cx="2353056" cy="685800"/>
          </a:xfrm>
          <a:prstGeom prst="roundRect">
            <a:avLst>
              <a:gd fmla="val 10667"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50" name="Google Shape;1250;p48"/>
          <p:cNvSpPr txBox="1"/>
          <p:nvPr/>
        </p:nvSpPr>
        <p:spPr>
          <a:xfrm>
            <a:off x="6306312" y="2286000"/>
            <a:ext cx="2170176"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1" lang="en-US" spc="0" sz="950" u="none" cap="none" strike="noStrike">
                <a:solidFill>
                  <a:srgbClr val="1D1D1F"/>
                </a:solidFill>
                <a:latin typeface="Arial"/>
                <a:ea typeface="Arial"/>
                <a:cs typeface="Arial"/>
                <a:sym typeface="Arial"/>
              </a:rPr>
              <a:t>“I didn't realize I signed up for 6 months.”</a:t>
            </a:r>
            <a:endParaRPr b="0" i="0" spc="0" sz="950" u="none" cap="none" strike="noStrike">
              <a:solidFill>
                <a:schemeClr val="dk1"/>
              </a:solidFill>
              <a:latin typeface="Calibri"/>
              <a:ea typeface="Calibri"/>
              <a:cs typeface="Calibri"/>
              <a:sym typeface="Calibri"/>
            </a:endParaRPr>
          </a:p>
        </p:txBody>
      </p:sp>
      <p:sp>
        <p:nvSpPr>
          <p:cNvPr id="1251" name="Google Shape;1251;p48"/>
          <p:cNvSpPr txBox="1"/>
          <p:nvPr/>
        </p:nvSpPr>
        <p:spPr>
          <a:xfrm>
            <a:off x="6214872" y="3063240"/>
            <a:ext cx="2353056"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Clarify calmly, probe the service, keep going.</a:t>
            </a:r>
            <a:endParaRPr b="0" i="0" spc="0" sz="950" u="none" cap="none" strike="noStrike">
              <a:solidFill>
                <a:schemeClr val="dk1"/>
              </a:solidFill>
              <a:latin typeface="Calibri"/>
              <a:ea typeface="Calibri"/>
              <a:cs typeface="Calibri"/>
              <a:sym typeface="Calibri"/>
            </a:endParaRPr>
          </a:p>
        </p:txBody>
      </p:sp>
      <p:sp>
        <p:nvSpPr>
          <p:cNvPr id="1252" name="Google Shape;1252;p4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p4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RETENTION PLAYBOOK</a:t>
            </a:r>
            <a:endParaRPr b="0" i="0" spc="0" sz="800" u="none" cap="none" strike="noStrike">
              <a:solidFill>
                <a:schemeClr val="dk1"/>
              </a:solidFill>
              <a:latin typeface="Calibri"/>
              <a:ea typeface="Calibri"/>
              <a:cs typeface="Calibri"/>
              <a:sym typeface="Calibri"/>
            </a:endParaRPr>
          </a:p>
        </p:txBody>
      </p:sp>
      <p:sp>
        <p:nvSpPr>
          <p:cNvPr id="1259" name="Google Shape;1259;p4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Genuine unhappiness</a:t>
            </a:r>
            <a:endParaRPr b="0" i="0" spc="0" sz="2400" u="none" cap="none" strike="noStrike">
              <a:solidFill>
                <a:schemeClr val="dk1"/>
              </a:solidFill>
              <a:latin typeface="Calibri"/>
              <a:ea typeface="Calibri"/>
              <a:cs typeface="Calibri"/>
              <a:sym typeface="Calibri"/>
            </a:endParaRPr>
          </a:p>
        </p:txBody>
      </p:sp>
      <p:sp>
        <p:nvSpPr>
          <p:cNvPr id="1260" name="Google Shape;1260;p4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Don't assume they're non-retainable. Be human first.</a:t>
            </a:r>
            <a:endParaRPr b="0" i="0" spc="0" sz="1200" u="none" cap="none" strike="noStrike">
              <a:solidFill>
                <a:schemeClr val="dk1"/>
              </a:solidFill>
              <a:latin typeface="Calibri"/>
              <a:ea typeface="Calibri"/>
              <a:cs typeface="Calibri"/>
              <a:sym typeface="Calibri"/>
            </a:endParaRPr>
          </a:p>
        </p:txBody>
      </p:sp>
      <p:sp>
        <p:nvSpPr>
          <p:cNvPr id="1261" name="Google Shape;1261;p49"/>
          <p:cNvSpPr/>
          <p:nvPr/>
        </p:nvSpPr>
        <p:spPr>
          <a:xfrm>
            <a:off x="411480" y="1298448"/>
            <a:ext cx="8321040" cy="822960"/>
          </a:xfrm>
          <a:prstGeom prst="roundRect">
            <a:avLst>
              <a:gd fmla="val 888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62" name="Google Shape;1262;p49"/>
          <p:cNvSpPr/>
          <p:nvPr/>
        </p:nvSpPr>
        <p:spPr>
          <a:xfrm>
            <a:off x="548640" y="1517904"/>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263" name="Google Shape;1263;p49"/>
          <p:cNvPicPr preferRelativeResize="0"/>
          <p:nvPr/>
        </p:nvPicPr>
        <p:blipFill rotWithShape="1">
          <a:blip r:embed="rId3">
            <a:alphaModFix/>
          </a:blip>
          <a:srcRect b="0" l="0" r="0" t="0"/>
          <a:stretch/>
        </p:blipFill>
        <p:spPr>
          <a:xfrm>
            <a:off x="640812" y="1610076"/>
            <a:ext cx="199705" cy="199705"/>
          </a:xfrm>
          <a:prstGeom prst="rect">
            <a:avLst/>
          </a:prstGeom>
          <a:noFill/>
          <a:ln>
            <a:noFill/>
          </a:ln>
        </p:spPr>
      </p:pic>
      <p:sp>
        <p:nvSpPr>
          <p:cNvPr id="1264" name="Google Shape;1264;p49"/>
          <p:cNvSpPr txBox="1"/>
          <p:nvPr/>
        </p:nvSpPr>
        <p:spPr>
          <a:xfrm>
            <a:off x="1051560" y="1298448"/>
            <a:ext cx="25146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Extreme escalation</a:t>
            </a:r>
            <a:endParaRPr b="0" i="0" spc="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1" lang="en-US" spc="0" sz="900" u="none" cap="none" strike="noStrike">
                <a:solidFill>
                  <a:srgbClr val="6E6E73"/>
                </a:solidFill>
                <a:latin typeface="Arial"/>
                <a:ea typeface="Arial"/>
                <a:cs typeface="Arial"/>
                <a:sym typeface="Arial"/>
              </a:rPr>
              <a:t>"This is a scam, cancel this NOW"</a:t>
            </a:r>
            <a:endParaRPr b="0" i="0" spc="0" sz="1100" u="none" cap="none" strike="noStrike">
              <a:solidFill>
                <a:schemeClr val="dk1"/>
              </a:solidFill>
              <a:latin typeface="Calibri"/>
              <a:ea typeface="Calibri"/>
              <a:cs typeface="Calibri"/>
              <a:sym typeface="Calibri"/>
            </a:endParaRPr>
          </a:p>
        </p:txBody>
      </p:sp>
      <p:sp>
        <p:nvSpPr>
          <p:cNvPr id="1265" name="Google Shape;1265;p49"/>
          <p:cNvSpPr txBox="1"/>
          <p:nvPr/>
        </p:nvSpPr>
        <p:spPr>
          <a:xfrm>
            <a:off x="3611880" y="1298448"/>
            <a:ext cx="219456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950"/>
              <a:buFont typeface="Arial"/>
              <a:buNone/>
            </a:pPr>
            <a:r>
              <a:rPr b="1" i="0" lang="en-US" spc="0" sz="950" u="none" cap="none" strike="noStrike">
                <a:solidFill>
                  <a:srgbClr val="0B7A6F"/>
                </a:solidFill>
                <a:latin typeface="Arial"/>
                <a:ea typeface="Arial"/>
                <a:cs typeface="Arial"/>
                <a:sym typeface="Arial"/>
              </a:rPr>
              <a:t>No offer yet. Be human, probe gently.</a:t>
            </a:r>
            <a:endParaRPr b="0" i="0" spc="0" sz="950" u="none" cap="none" strike="noStrike">
              <a:solidFill>
                <a:schemeClr val="dk1"/>
              </a:solidFill>
              <a:latin typeface="Calibri"/>
              <a:ea typeface="Calibri"/>
              <a:cs typeface="Calibri"/>
              <a:sym typeface="Calibri"/>
            </a:endParaRPr>
          </a:p>
        </p:txBody>
      </p:sp>
      <p:sp>
        <p:nvSpPr>
          <p:cNvPr id="1266" name="Google Shape;1266;p49"/>
          <p:cNvSpPr/>
          <p:nvPr/>
        </p:nvSpPr>
        <p:spPr>
          <a:xfrm>
            <a:off x="5897880" y="1389888"/>
            <a:ext cx="2743200" cy="640080"/>
          </a:xfrm>
          <a:prstGeom prst="roundRect">
            <a:avLst>
              <a:gd fmla="val 11429"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67" name="Google Shape;1267;p49"/>
          <p:cNvSpPr txBox="1"/>
          <p:nvPr/>
        </p:nvSpPr>
        <p:spPr>
          <a:xfrm>
            <a:off x="5989320" y="1389888"/>
            <a:ext cx="260604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850"/>
              <a:buFont typeface="Arial"/>
              <a:buNone/>
            </a:pPr>
            <a:r>
              <a:rPr b="0" i="1" lang="en-US" spc="0" sz="850" u="none" cap="none" strike="noStrike">
                <a:solidFill>
                  <a:srgbClr val="1D1D1F"/>
                </a:solidFill>
                <a:latin typeface="Arial"/>
                <a:ea typeface="Arial"/>
                <a:cs typeface="Arial"/>
                <a:sym typeface="Arial"/>
              </a:rPr>
              <a:t>“I'm so sorry to hear that, I'm here to help! What happened?”</a:t>
            </a:r>
            <a:endParaRPr b="0" i="0" spc="0" sz="850" u="none" cap="none" strike="noStrike">
              <a:solidFill>
                <a:schemeClr val="dk1"/>
              </a:solidFill>
              <a:latin typeface="Calibri"/>
              <a:ea typeface="Calibri"/>
              <a:cs typeface="Calibri"/>
              <a:sym typeface="Calibri"/>
            </a:endParaRPr>
          </a:p>
        </p:txBody>
      </p:sp>
      <p:sp>
        <p:nvSpPr>
          <p:cNvPr id="1268" name="Google Shape;1268;p49"/>
          <p:cNvSpPr/>
          <p:nvPr/>
        </p:nvSpPr>
        <p:spPr>
          <a:xfrm>
            <a:off x="411480" y="2212848"/>
            <a:ext cx="8321040" cy="822960"/>
          </a:xfrm>
          <a:prstGeom prst="roundRect">
            <a:avLst>
              <a:gd fmla="val 888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69" name="Google Shape;1269;p49"/>
          <p:cNvSpPr/>
          <p:nvPr/>
        </p:nvSpPr>
        <p:spPr>
          <a:xfrm>
            <a:off x="548640" y="2432304"/>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270" name="Google Shape;1270;p49"/>
          <p:cNvPicPr preferRelativeResize="0"/>
          <p:nvPr/>
        </p:nvPicPr>
        <p:blipFill rotWithShape="1">
          <a:blip r:embed="rId4">
            <a:alphaModFix/>
          </a:blip>
          <a:srcRect b="0" l="0" r="0" t="0"/>
          <a:stretch/>
        </p:blipFill>
        <p:spPr>
          <a:xfrm>
            <a:off x="640812" y="2524476"/>
            <a:ext cx="199705" cy="199705"/>
          </a:xfrm>
          <a:prstGeom prst="rect">
            <a:avLst/>
          </a:prstGeom>
          <a:noFill/>
          <a:ln>
            <a:noFill/>
          </a:ln>
        </p:spPr>
      </p:pic>
      <p:sp>
        <p:nvSpPr>
          <p:cNvPr id="1271" name="Google Shape;1271;p49"/>
          <p:cNvSpPr txBox="1"/>
          <p:nvPr/>
        </p:nvSpPr>
        <p:spPr>
          <a:xfrm>
            <a:off x="1051560" y="2212848"/>
            <a:ext cx="25146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Repeated failures</a:t>
            </a:r>
            <a:endParaRPr b="0" i="0" spc="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1" lang="en-US" spc="0" sz="900" u="none" cap="none" strike="noStrike">
                <a:solidFill>
                  <a:srgbClr val="6E6E73"/>
                </a:solidFill>
                <a:latin typeface="Arial"/>
                <a:ea typeface="Arial"/>
                <a:cs typeface="Arial"/>
                <a:sym typeface="Arial"/>
              </a:rPr>
              <a:t>"I keep being disappointed"</a:t>
            </a:r>
            <a:endParaRPr b="0" i="0" spc="0" sz="1100" u="none" cap="none" strike="noStrike">
              <a:solidFill>
                <a:schemeClr val="dk1"/>
              </a:solidFill>
              <a:latin typeface="Calibri"/>
              <a:ea typeface="Calibri"/>
              <a:cs typeface="Calibri"/>
              <a:sym typeface="Calibri"/>
            </a:endParaRPr>
          </a:p>
        </p:txBody>
      </p:sp>
      <p:sp>
        <p:nvSpPr>
          <p:cNvPr id="1272" name="Google Shape;1272;p49"/>
          <p:cNvSpPr txBox="1"/>
          <p:nvPr/>
        </p:nvSpPr>
        <p:spPr>
          <a:xfrm>
            <a:off x="3611880" y="2212848"/>
            <a:ext cx="219456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950"/>
              <a:buFont typeface="Arial"/>
              <a:buNone/>
            </a:pPr>
            <a:r>
              <a:rPr b="1" i="0" lang="en-US" spc="0" sz="950" u="none" cap="none" strike="noStrike">
                <a:solidFill>
                  <a:srgbClr val="0B7A6F"/>
                </a:solidFill>
                <a:latin typeface="Arial"/>
                <a:ea typeface="Arial"/>
                <a:cs typeface="Arial"/>
                <a:sym typeface="Arial"/>
              </a:rPr>
              <a:t>Waive fees first, then gently offer one more try.</a:t>
            </a:r>
            <a:endParaRPr b="0" i="0" spc="0" sz="950" u="none" cap="none" strike="noStrike">
              <a:solidFill>
                <a:schemeClr val="dk1"/>
              </a:solidFill>
              <a:latin typeface="Calibri"/>
              <a:ea typeface="Calibri"/>
              <a:cs typeface="Calibri"/>
              <a:sym typeface="Calibri"/>
            </a:endParaRPr>
          </a:p>
        </p:txBody>
      </p:sp>
      <p:sp>
        <p:nvSpPr>
          <p:cNvPr id="1273" name="Google Shape;1273;p49"/>
          <p:cNvSpPr/>
          <p:nvPr/>
        </p:nvSpPr>
        <p:spPr>
          <a:xfrm>
            <a:off x="5897880" y="2304288"/>
            <a:ext cx="2743200" cy="640080"/>
          </a:xfrm>
          <a:prstGeom prst="roundRect">
            <a:avLst>
              <a:gd fmla="val 11429"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74" name="Google Shape;1274;p49"/>
          <p:cNvSpPr txBox="1"/>
          <p:nvPr/>
        </p:nvSpPr>
        <p:spPr>
          <a:xfrm>
            <a:off x="5989320" y="2304288"/>
            <a:ext cx="260604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850"/>
              <a:buFont typeface="Arial"/>
              <a:buNone/>
            </a:pPr>
            <a:r>
              <a:rPr b="0" i="1" lang="en-US" spc="0" sz="850" u="none" cap="none" strike="noStrike">
                <a:solidFill>
                  <a:srgbClr val="1D1D1F"/>
                </a:solidFill>
                <a:latin typeface="Arial"/>
                <a:ea typeface="Arial"/>
                <a:cs typeface="Arial"/>
                <a:sym typeface="Arial"/>
              </a:rPr>
              <a:t>“Given your experience we'll waive all fees… I'd love to set you up with someone great.”</a:t>
            </a:r>
            <a:endParaRPr b="0" i="0" spc="0" sz="850" u="none" cap="none" strike="noStrike">
              <a:solidFill>
                <a:schemeClr val="dk1"/>
              </a:solidFill>
              <a:latin typeface="Calibri"/>
              <a:ea typeface="Calibri"/>
              <a:cs typeface="Calibri"/>
              <a:sym typeface="Calibri"/>
            </a:endParaRPr>
          </a:p>
        </p:txBody>
      </p:sp>
      <p:sp>
        <p:nvSpPr>
          <p:cNvPr id="1275" name="Google Shape;1275;p49"/>
          <p:cNvSpPr/>
          <p:nvPr/>
        </p:nvSpPr>
        <p:spPr>
          <a:xfrm>
            <a:off x="411480" y="3127248"/>
            <a:ext cx="8321040" cy="822960"/>
          </a:xfrm>
          <a:prstGeom prst="roundRect">
            <a:avLst>
              <a:gd fmla="val 888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76" name="Google Shape;1276;p49"/>
          <p:cNvSpPr/>
          <p:nvPr/>
        </p:nvSpPr>
        <p:spPr>
          <a:xfrm>
            <a:off x="548640" y="3346704"/>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277" name="Google Shape;1277;p49"/>
          <p:cNvPicPr preferRelativeResize="0"/>
          <p:nvPr/>
        </p:nvPicPr>
        <p:blipFill rotWithShape="1">
          <a:blip r:embed="rId5">
            <a:alphaModFix/>
          </a:blip>
          <a:srcRect b="0" l="0" r="0" t="0"/>
          <a:stretch/>
        </p:blipFill>
        <p:spPr>
          <a:xfrm>
            <a:off x="640812" y="3438876"/>
            <a:ext cx="199705" cy="199705"/>
          </a:xfrm>
          <a:prstGeom prst="rect">
            <a:avLst/>
          </a:prstGeom>
          <a:noFill/>
          <a:ln>
            <a:noFill/>
          </a:ln>
        </p:spPr>
      </p:pic>
      <p:sp>
        <p:nvSpPr>
          <p:cNvPr id="1278" name="Google Shape;1278;p49"/>
          <p:cNvSpPr txBox="1"/>
          <p:nvPr/>
        </p:nvSpPr>
        <p:spPr>
          <a:xfrm>
            <a:off x="1051560" y="3127248"/>
            <a:ext cx="25146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Feels deceived or trapped</a:t>
            </a:r>
            <a:endParaRPr b="0" i="0" spc="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1" lang="en-US" spc="0" sz="900" u="none" cap="none" strike="noStrike">
                <a:solidFill>
                  <a:srgbClr val="6E6E73"/>
                </a:solidFill>
                <a:latin typeface="Arial"/>
                <a:ea typeface="Arial"/>
                <a:cs typeface="Arial"/>
                <a:sym typeface="Arial"/>
              </a:rPr>
              <a:t>"You never told me about the membership"</a:t>
            </a:r>
            <a:endParaRPr b="0" i="0" spc="0" sz="1100" u="none" cap="none" strike="noStrike">
              <a:solidFill>
                <a:schemeClr val="dk1"/>
              </a:solidFill>
              <a:latin typeface="Calibri"/>
              <a:ea typeface="Calibri"/>
              <a:cs typeface="Calibri"/>
              <a:sym typeface="Calibri"/>
            </a:endParaRPr>
          </a:p>
        </p:txBody>
      </p:sp>
      <p:sp>
        <p:nvSpPr>
          <p:cNvPr id="1279" name="Google Shape;1279;p49"/>
          <p:cNvSpPr txBox="1"/>
          <p:nvPr/>
        </p:nvSpPr>
        <p:spPr>
          <a:xfrm>
            <a:off x="3611880" y="3127248"/>
            <a:ext cx="219456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950"/>
              <a:buFont typeface="Arial"/>
              <a:buNone/>
            </a:pPr>
            <a:r>
              <a:rPr b="1" i="0" lang="en-US" spc="0" sz="950" u="none" cap="none" strike="noStrike">
                <a:solidFill>
                  <a:srgbClr val="0B7A6F"/>
                </a:solidFill>
                <a:latin typeface="Arial"/>
                <a:ea typeface="Arial"/>
                <a:cs typeface="Arial"/>
                <a:sym typeface="Arial"/>
              </a:rPr>
              <a:t>Explain FC factually, then probe the cleaning.</a:t>
            </a:r>
            <a:endParaRPr b="0" i="0" spc="0" sz="950" u="none" cap="none" strike="noStrike">
              <a:solidFill>
                <a:schemeClr val="dk1"/>
              </a:solidFill>
              <a:latin typeface="Calibri"/>
              <a:ea typeface="Calibri"/>
              <a:cs typeface="Calibri"/>
              <a:sym typeface="Calibri"/>
            </a:endParaRPr>
          </a:p>
        </p:txBody>
      </p:sp>
      <p:sp>
        <p:nvSpPr>
          <p:cNvPr id="1280" name="Google Shape;1280;p49"/>
          <p:cNvSpPr/>
          <p:nvPr/>
        </p:nvSpPr>
        <p:spPr>
          <a:xfrm>
            <a:off x="5897880" y="3218688"/>
            <a:ext cx="2743200" cy="640080"/>
          </a:xfrm>
          <a:prstGeom prst="roundRect">
            <a:avLst>
              <a:gd fmla="val 11429"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81" name="Google Shape;1281;p49"/>
          <p:cNvSpPr txBox="1"/>
          <p:nvPr/>
        </p:nvSpPr>
        <p:spPr>
          <a:xfrm>
            <a:off x="5989320" y="3218688"/>
            <a:ext cx="260604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850"/>
              <a:buFont typeface="Arial"/>
              <a:buNone/>
            </a:pPr>
            <a:r>
              <a:rPr b="0" i="0" lang="en-US" spc="0" sz="850" u="none" cap="none" strike="noStrike">
                <a:solidFill>
                  <a:srgbClr val="1D1D1F"/>
                </a:solidFill>
                <a:latin typeface="Arial"/>
                <a:ea typeface="Arial"/>
                <a:cs typeface="Arial"/>
                <a:sym typeface="Arial"/>
              </a:rPr>
              <a:t>Clarity and empathy before any solution.</a:t>
            </a:r>
            <a:endParaRPr b="0" i="0" spc="0" sz="850" u="none" cap="none" strike="noStrike">
              <a:solidFill>
                <a:schemeClr val="dk1"/>
              </a:solidFill>
              <a:latin typeface="Calibri"/>
              <a:ea typeface="Calibri"/>
              <a:cs typeface="Calibri"/>
              <a:sym typeface="Calibri"/>
            </a:endParaRPr>
          </a:p>
        </p:txBody>
      </p:sp>
      <p:sp>
        <p:nvSpPr>
          <p:cNvPr id="1282" name="Google Shape;1282;p49"/>
          <p:cNvSpPr/>
          <p:nvPr/>
        </p:nvSpPr>
        <p:spPr>
          <a:xfrm>
            <a:off x="411480" y="406908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283" name="Google Shape;1283;p49"/>
          <p:cNvPicPr preferRelativeResize="0"/>
          <p:nvPr/>
        </p:nvPicPr>
        <p:blipFill rotWithShape="1">
          <a:blip r:embed="rId6">
            <a:alphaModFix/>
          </a:blip>
          <a:srcRect b="0" l="0" r="0" t="0"/>
          <a:stretch/>
        </p:blipFill>
        <p:spPr>
          <a:xfrm>
            <a:off x="566928" y="4178808"/>
            <a:ext cx="164592" cy="164592"/>
          </a:xfrm>
          <a:prstGeom prst="rect">
            <a:avLst/>
          </a:prstGeom>
          <a:noFill/>
          <a:ln>
            <a:noFill/>
          </a:ln>
        </p:spPr>
      </p:pic>
      <p:sp>
        <p:nvSpPr>
          <p:cNvPr id="1284" name="Google Shape;1284;p49"/>
          <p:cNvSpPr txBox="1"/>
          <p:nvPr/>
        </p:nvSpPr>
        <p:spPr>
          <a:xfrm>
            <a:off x="822960" y="416966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Trust broken?  </a:t>
            </a:r>
            <a:r>
              <a:rPr b="0" i="0" lang="en-US" spc="0" sz="1000" u="none" cap="none" strike="noStrike">
                <a:solidFill>
                  <a:srgbClr val="1D1D1F"/>
                </a:solidFill>
                <a:latin typeface="Arial"/>
                <a:ea typeface="Arial"/>
                <a:cs typeface="Arial"/>
                <a:sym typeface="Arial"/>
              </a:rPr>
              <a:t>pushing retention too soon raises dispute risk.</a:t>
            </a:r>
            <a:endParaRPr b="0" i="0" spc="0" sz="1000" u="none" cap="none" strike="noStrike">
              <a:solidFill>
                <a:schemeClr val="dk1"/>
              </a:solidFill>
              <a:latin typeface="Calibri"/>
              <a:ea typeface="Calibri"/>
              <a:cs typeface="Calibri"/>
              <a:sym typeface="Calibri"/>
            </a:endParaRPr>
          </a:p>
        </p:txBody>
      </p:sp>
      <p:sp>
        <p:nvSpPr>
          <p:cNvPr id="1285" name="Google Shape;1285;p4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5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RETENTION PLAYBOOK</a:t>
            </a:r>
            <a:endParaRPr b="0" i="0" spc="0" sz="800" u="none" cap="none" strike="noStrike">
              <a:solidFill>
                <a:schemeClr val="dk1"/>
              </a:solidFill>
              <a:latin typeface="Calibri"/>
              <a:ea typeface="Calibri"/>
              <a:cs typeface="Calibri"/>
              <a:sym typeface="Calibri"/>
            </a:endParaRPr>
          </a:p>
        </p:txBody>
      </p:sp>
      <p:sp>
        <p:nvSpPr>
          <p:cNvPr id="1292" name="Google Shape;1292;p5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The Newspaper Test</a:t>
            </a:r>
            <a:endParaRPr b="0" i="0" spc="0" sz="2400" u="none" cap="none" strike="noStrike">
              <a:solidFill>
                <a:schemeClr val="dk1"/>
              </a:solidFill>
              <a:latin typeface="Calibri"/>
              <a:ea typeface="Calibri"/>
              <a:cs typeface="Calibri"/>
              <a:sym typeface="Calibri"/>
            </a:endParaRPr>
          </a:p>
        </p:txBody>
      </p:sp>
      <p:sp>
        <p:nvSpPr>
          <p:cNvPr id="1293" name="Google Shape;1293;p5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If this interaction were published, would we stand by it?</a:t>
            </a:r>
            <a:endParaRPr b="0" i="0" spc="0" sz="1200" u="none" cap="none" strike="noStrike">
              <a:solidFill>
                <a:schemeClr val="dk1"/>
              </a:solidFill>
              <a:latin typeface="Calibri"/>
              <a:ea typeface="Calibri"/>
              <a:cs typeface="Calibri"/>
              <a:sym typeface="Calibri"/>
            </a:endParaRPr>
          </a:p>
        </p:txBody>
      </p:sp>
      <p:sp>
        <p:nvSpPr>
          <p:cNvPr id="1294" name="Google Shape;1294;p50"/>
          <p:cNvSpPr/>
          <p:nvPr/>
        </p:nvSpPr>
        <p:spPr>
          <a:xfrm>
            <a:off x="411480" y="1325880"/>
            <a:ext cx="3108960" cy="2423160"/>
          </a:xfrm>
          <a:prstGeom prst="roundRect">
            <a:avLst>
              <a:gd fmla="val 3019"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295" name="Google Shape;1295;p50"/>
          <p:cNvPicPr preferRelativeResize="0"/>
          <p:nvPr/>
        </p:nvPicPr>
        <p:blipFill rotWithShape="1">
          <a:blip r:embed="rId3">
            <a:alphaModFix/>
          </a:blip>
          <a:srcRect b="0" l="0" r="0" t="0"/>
          <a:stretch/>
        </p:blipFill>
        <p:spPr>
          <a:xfrm>
            <a:off x="685800" y="1600200"/>
            <a:ext cx="457200" cy="457200"/>
          </a:xfrm>
          <a:prstGeom prst="rect">
            <a:avLst/>
          </a:prstGeom>
          <a:noFill/>
          <a:ln>
            <a:noFill/>
          </a:ln>
        </p:spPr>
      </p:pic>
      <p:sp>
        <p:nvSpPr>
          <p:cNvPr id="1296" name="Google Shape;1296;p50"/>
          <p:cNvSpPr txBox="1"/>
          <p:nvPr/>
        </p:nvSpPr>
        <p:spPr>
          <a:xfrm>
            <a:off x="685800" y="2194560"/>
            <a:ext cx="2606040" cy="1417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Play"/>
              <a:buNone/>
            </a:pPr>
            <a:r>
              <a:rPr b="1" i="0" lang="en-US" spc="0" sz="1300" u="none" cap="none" strike="noStrike">
                <a:solidFill>
                  <a:srgbClr val="FFFFFF"/>
                </a:solidFill>
                <a:latin typeface="Play"/>
                <a:ea typeface="Play"/>
                <a:cs typeface="Play"/>
                <a:sym typeface="Play"/>
              </a:rPr>
              <a:t>If enforcing a rule would feel gross, deceptive or shameful to explain publicly, don't enforce it.</a:t>
            </a:r>
            <a:endParaRPr b="0" i="0" spc="0" sz="1300" u="none" cap="none" strike="noStrike">
              <a:solidFill>
                <a:schemeClr val="dk1"/>
              </a:solidFill>
              <a:latin typeface="Calibri"/>
              <a:ea typeface="Calibri"/>
              <a:cs typeface="Calibri"/>
              <a:sym typeface="Calibri"/>
            </a:endParaRPr>
          </a:p>
        </p:txBody>
      </p:sp>
      <p:sp>
        <p:nvSpPr>
          <p:cNvPr id="1297" name="Google Shape;1297;p50"/>
          <p:cNvSpPr txBox="1"/>
          <p:nvPr/>
        </p:nvSpPr>
        <p:spPr>
          <a:xfrm>
            <a:off x="3703320" y="1325880"/>
            <a:ext cx="5029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EXAMPLE: FIXED INCOME, HAPPY WITH THE CLEANING, CAN'T AFFORD IT</a:t>
            </a:r>
            <a:endParaRPr b="0" i="0" spc="0" sz="800" u="none" cap="none" strike="noStrike">
              <a:solidFill>
                <a:schemeClr val="dk1"/>
              </a:solidFill>
              <a:latin typeface="Calibri"/>
              <a:ea typeface="Calibri"/>
              <a:cs typeface="Calibri"/>
              <a:sym typeface="Calibri"/>
            </a:endParaRPr>
          </a:p>
        </p:txBody>
      </p:sp>
      <p:sp>
        <p:nvSpPr>
          <p:cNvPr id="1298" name="Google Shape;1298;p50"/>
          <p:cNvSpPr/>
          <p:nvPr/>
        </p:nvSpPr>
        <p:spPr>
          <a:xfrm>
            <a:off x="3703320" y="1600200"/>
            <a:ext cx="2423160" cy="2148840"/>
          </a:xfrm>
          <a:prstGeom prst="roundRect">
            <a:avLst>
              <a:gd fmla="val 3404"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99" name="Google Shape;1299;p50"/>
          <p:cNvSpPr/>
          <p:nvPr/>
        </p:nvSpPr>
        <p:spPr>
          <a:xfrm>
            <a:off x="3703320" y="1600200"/>
            <a:ext cx="2423160" cy="329184"/>
          </a:xfrm>
          <a:prstGeom prst="roundRect">
            <a:avLst>
              <a:gd fmla="val 16667" name="adj"/>
            </a:avLst>
          </a:prstGeom>
          <a:solidFill>
            <a:srgbClr val="B3261E"/>
          </a:solidFill>
          <a:ln cap="flat" cmpd="sng" w="12700">
            <a:solidFill>
              <a:srgbClr val="B3261E"/>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Strict enforcement</a:t>
            </a:r>
            <a:endParaRPr b="0" i="0" spc="0" sz="1050" u="none" cap="none" strike="noStrike">
              <a:solidFill>
                <a:schemeClr val="dk1"/>
              </a:solidFill>
              <a:latin typeface="Calibri"/>
              <a:ea typeface="Calibri"/>
              <a:cs typeface="Calibri"/>
              <a:sym typeface="Calibri"/>
            </a:endParaRPr>
          </a:p>
        </p:txBody>
      </p:sp>
      <p:sp>
        <p:nvSpPr>
          <p:cNvPr id="1300" name="Google Shape;1300;p50"/>
          <p:cNvSpPr txBox="1"/>
          <p:nvPr/>
        </p:nvSpPr>
        <p:spPr>
          <a:xfrm>
            <a:off x="3867912" y="2039112"/>
            <a:ext cx="2093976" cy="163677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"Didn't read the terms: enforce the ETF"</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Looks like taking advantage of someone struggling</a:t>
            </a:r>
            <a:endParaRPr b="0" i="0" spc="0" sz="950" u="none" cap="none" strike="noStrike">
              <a:solidFill>
                <a:schemeClr val="dk1"/>
              </a:solidFill>
              <a:latin typeface="Calibri"/>
              <a:ea typeface="Calibri"/>
              <a:cs typeface="Calibri"/>
              <a:sym typeface="Calibri"/>
            </a:endParaRPr>
          </a:p>
        </p:txBody>
      </p:sp>
      <p:sp>
        <p:nvSpPr>
          <p:cNvPr id="1301" name="Google Shape;1301;p50"/>
          <p:cNvSpPr/>
          <p:nvPr/>
        </p:nvSpPr>
        <p:spPr>
          <a:xfrm>
            <a:off x="6309360" y="1600200"/>
            <a:ext cx="2423160" cy="2148840"/>
          </a:xfrm>
          <a:prstGeom prst="roundRect">
            <a:avLst>
              <a:gd fmla="val 3404"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02" name="Google Shape;1302;p50"/>
          <p:cNvSpPr/>
          <p:nvPr/>
        </p:nvSpPr>
        <p:spPr>
          <a:xfrm>
            <a:off x="6309360" y="1600200"/>
            <a:ext cx="242316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Retention-aware</a:t>
            </a:r>
            <a:endParaRPr b="0" i="0" spc="0" sz="1050" u="none" cap="none" strike="noStrike">
              <a:solidFill>
                <a:schemeClr val="dk1"/>
              </a:solidFill>
              <a:latin typeface="Calibri"/>
              <a:ea typeface="Calibri"/>
              <a:cs typeface="Calibri"/>
              <a:sym typeface="Calibri"/>
            </a:endParaRPr>
          </a:p>
        </p:txBody>
      </p:sp>
      <p:sp>
        <p:nvSpPr>
          <p:cNvPr id="1303" name="Google Shape;1303;p50"/>
          <p:cNvSpPr txBox="1"/>
          <p:nvPr/>
        </p:nvSpPr>
        <p:spPr>
          <a:xfrm>
            <a:off x="6473952" y="2039112"/>
            <a:ext cx="2093976" cy="163677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Recognize the limitation</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Apply compassion</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Consider an ETF waiver</a:t>
            </a:r>
            <a:endParaRPr b="0" i="0" spc="0" sz="950" u="none" cap="none" strike="noStrike">
              <a:solidFill>
                <a:schemeClr val="dk1"/>
              </a:solidFill>
              <a:latin typeface="Calibri"/>
              <a:ea typeface="Calibri"/>
              <a:cs typeface="Calibri"/>
              <a:sym typeface="Calibri"/>
            </a:endParaRPr>
          </a:p>
        </p:txBody>
      </p:sp>
      <p:sp>
        <p:nvSpPr>
          <p:cNvPr id="1304" name="Google Shape;1304;p50"/>
          <p:cNvSpPr/>
          <p:nvPr/>
        </p:nvSpPr>
        <p:spPr>
          <a:xfrm>
            <a:off x="411480" y="393192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305" name="Google Shape;1305;p50"/>
          <p:cNvPicPr preferRelativeResize="0"/>
          <p:nvPr/>
        </p:nvPicPr>
        <p:blipFill rotWithShape="1">
          <a:blip r:embed="rId4">
            <a:alphaModFix/>
          </a:blip>
          <a:srcRect b="0" l="0" r="0" t="0"/>
          <a:stretch/>
        </p:blipFill>
        <p:spPr>
          <a:xfrm>
            <a:off x="566928" y="4041648"/>
            <a:ext cx="164592" cy="164592"/>
          </a:xfrm>
          <a:prstGeom prst="rect">
            <a:avLst/>
          </a:prstGeom>
          <a:noFill/>
          <a:ln>
            <a:noFill/>
          </a:ln>
        </p:spPr>
      </p:pic>
      <p:sp>
        <p:nvSpPr>
          <p:cNvPr id="1306" name="Google Shape;1306;p50"/>
          <p:cNvSpPr txBox="1"/>
          <p:nvPr/>
        </p:nvSpPr>
        <p:spPr>
          <a:xfrm>
            <a:off x="822960" y="403250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That's why  </a:t>
            </a:r>
            <a:r>
              <a:rPr b="0" i="0" lang="en-US" spc="0" sz="1000" u="none" cap="none" strike="noStrike">
                <a:solidFill>
                  <a:srgbClr val="1D1D1F"/>
                </a:solidFill>
                <a:latin typeface="Arial"/>
                <a:ea typeface="Arial"/>
                <a:cs typeface="Arial"/>
                <a:sym typeface="Arial"/>
              </a:rPr>
              <a:t>ETF waivers exist for compassion and extreme hardship cases.</a:t>
            </a:r>
            <a:endParaRPr b="0" i="0" spc="0" sz="1000" u="none" cap="none" strike="noStrike">
              <a:solidFill>
                <a:schemeClr val="dk1"/>
              </a:solidFill>
              <a:latin typeface="Calibri"/>
              <a:ea typeface="Calibri"/>
              <a:cs typeface="Calibri"/>
              <a:sym typeface="Calibri"/>
            </a:endParaRPr>
          </a:p>
        </p:txBody>
      </p:sp>
      <p:sp>
        <p:nvSpPr>
          <p:cNvPr id="1307" name="Google Shape;1307;p5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p5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RETENTION PLAYBOOK</a:t>
            </a:r>
            <a:endParaRPr b="0" i="0" spc="0" sz="800" u="none" cap="none" strike="noStrike">
              <a:solidFill>
                <a:schemeClr val="dk1"/>
              </a:solidFill>
              <a:latin typeface="Calibri"/>
              <a:ea typeface="Calibri"/>
              <a:cs typeface="Calibri"/>
              <a:sym typeface="Calibri"/>
            </a:endParaRPr>
          </a:p>
        </p:txBody>
      </p:sp>
      <p:sp>
        <p:nvSpPr>
          <p:cNvPr id="1314" name="Google Shape;1314;p5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Probe, even when you know why</a:t>
            </a:r>
            <a:endParaRPr b="0" i="0" spc="0" sz="2400" u="none" cap="none" strike="noStrike">
              <a:solidFill>
                <a:schemeClr val="dk1"/>
              </a:solidFill>
              <a:latin typeface="Calibri"/>
              <a:ea typeface="Calibri"/>
              <a:cs typeface="Calibri"/>
              <a:sym typeface="Calibri"/>
            </a:endParaRPr>
          </a:p>
        </p:txBody>
      </p:sp>
      <p:sp>
        <p:nvSpPr>
          <p:cNvPr id="1315" name="Google Shape;1315;p5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Let the customer say it to you directly.</a:t>
            </a:r>
            <a:endParaRPr b="0" i="0" spc="0" sz="1200" u="none" cap="none" strike="noStrike">
              <a:solidFill>
                <a:schemeClr val="dk1"/>
              </a:solidFill>
              <a:latin typeface="Calibri"/>
              <a:ea typeface="Calibri"/>
              <a:cs typeface="Calibri"/>
              <a:sym typeface="Calibri"/>
            </a:endParaRPr>
          </a:p>
        </p:txBody>
      </p:sp>
      <p:sp>
        <p:nvSpPr>
          <p:cNvPr id="1316" name="Google Shape;1316;p51"/>
          <p:cNvSpPr/>
          <p:nvPr/>
        </p:nvSpPr>
        <p:spPr>
          <a:xfrm>
            <a:off x="411480" y="1325880"/>
            <a:ext cx="4069080" cy="1143000"/>
          </a:xfrm>
          <a:prstGeom prst="roundRect">
            <a:avLst>
              <a:gd fmla="val 6400"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17" name="Google Shape;1317;p51"/>
          <p:cNvSpPr/>
          <p:nvPr/>
        </p:nvSpPr>
        <p:spPr>
          <a:xfrm>
            <a:off x="411480" y="1399032"/>
            <a:ext cx="45720" cy="996696"/>
          </a:xfrm>
          <a:prstGeom prst="rect">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18" name="Google Shape;1318;p51"/>
          <p:cNvSpPr txBox="1"/>
          <p:nvPr/>
        </p:nvSpPr>
        <p:spPr>
          <a:xfrm>
            <a:off x="594360" y="1325880"/>
            <a:ext cx="3749040" cy="114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0" sz="800" u="none" cap="none" strike="noStrike">
                <a:solidFill>
                  <a:srgbClr val="0B7A6F"/>
                </a:solidFill>
                <a:latin typeface="Play"/>
                <a:ea typeface="Play"/>
                <a:cs typeface="Play"/>
                <a:sym typeface="Play"/>
              </a:rPr>
              <a:t>WEAK: ASSUMPTION-BASED</a:t>
            </a:r>
            <a:endParaRPr b="0" i="0" spc="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000"/>
              <a:buFont typeface="Arial"/>
              <a:buNone/>
            </a:pPr>
            <a:r>
              <a:rPr b="0" i="1" lang="en-US" spc="0" sz="1000" u="none" cap="none" strike="noStrike">
                <a:solidFill>
                  <a:srgbClr val="1D1D1F"/>
                </a:solidFill>
                <a:latin typeface="Arial"/>
                <a:ea typeface="Arial"/>
                <a:cs typeface="Arial"/>
                <a:sym typeface="Arial"/>
              </a:rPr>
              <a:t>“I'm sorry to hear you want to cancel, do you mind sharing why?”</a:t>
            </a:r>
            <a:endParaRPr b="0" i="0" spc="0" sz="1000" u="none" cap="none" strike="noStrike">
              <a:solidFill>
                <a:schemeClr val="dk1"/>
              </a:solidFill>
              <a:latin typeface="Calibri"/>
              <a:ea typeface="Calibri"/>
              <a:cs typeface="Calibri"/>
              <a:sym typeface="Calibri"/>
            </a:endParaRPr>
          </a:p>
        </p:txBody>
      </p:sp>
      <p:sp>
        <p:nvSpPr>
          <p:cNvPr id="1319" name="Google Shape;1319;p51"/>
          <p:cNvSpPr/>
          <p:nvPr/>
        </p:nvSpPr>
        <p:spPr>
          <a:xfrm>
            <a:off x="4663440" y="1325880"/>
            <a:ext cx="4069080" cy="1143000"/>
          </a:xfrm>
          <a:prstGeom prst="roundRect">
            <a:avLst>
              <a:gd fmla="val 6400"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20" name="Google Shape;1320;p51"/>
          <p:cNvSpPr/>
          <p:nvPr/>
        </p:nvSpPr>
        <p:spPr>
          <a:xfrm>
            <a:off x="4663440" y="1399032"/>
            <a:ext cx="45720" cy="996696"/>
          </a:xfrm>
          <a:prstGeom prst="rect">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21" name="Google Shape;1321;p51"/>
          <p:cNvSpPr txBox="1"/>
          <p:nvPr/>
        </p:nvSpPr>
        <p:spPr>
          <a:xfrm>
            <a:off x="4846320" y="1325880"/>
            <a:ext cx="3749040" cy="114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0" sz="800" u="none" cap="none" strike="noStrike">
                <a:solidFill>
                  <a:srgbClr val="0B7A6F"/>
                </a:solidFill>
                <a:latin typeface="Play"/>
                <a:ea typeface="Play"/>
                <a:cs typeface="Play"/>
                <a:sym typeface="Play"/>
              </a:rPr>
              <a:t>STRONG: CUSTOMER-LED</a:t>
            </a:r>
            <a:endParaRPr b="0" i="0" spc="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000"/>
              <a:buFont typeface="Arial"/>
              <a:buNone/>
            </a:pPr>
            <a:r>
              <a:rPr b="0" i="1" lang="en-US" spc="0" sz="1000" u="none" cap="none" strike="noStrike">
                <a:solidFill>
                  <a:srgbClr val="1D1D1F"/>
                </a:solidFill>
                <a:latin typeface="Arial"/>
                <a:ea typeface="Arial"/>
                <a:cs typeface="Arial"/>
                <a:sym typeface="Arial"/>
              </a:rPr>
              <a:t>“Your cleaner mentioned you want to cancel the service, but I'd like to hear directly from you. Would you mind sharing what led you to consider canceling?”</a:t>
            </a:r>
            <a:endParaRPr b="0" i="0" spc="0" sz="1000" u="none" cap="none" strike="noStrike">
              <a:solidFill>
                <a:schemeClr val="dk1"/>
              </a:solidFill>
              <a:latin typeface="Calibri"/>
              <a:ea typeface="Calibri"/>
              <a:cs typeface="Calibri"/>
              <a:sym typeface="Calibri"/>
            </a:endParaRPr>
          </a:p>
        </p:txBody>
      </p:sp>
      <p:sp>
        <p:nvSpPr>
          <p:cNvPr id="1322" name="Google Shape;1322;p51"/>
          <p:cNvSpPr/>
          <p:nvPr/>
        </p:nvSpPr>
        <p:spPr>
          <a:xfrm>
            <a:off x="411480" y="2606040"/>
            <a:ext cx="914400" cy="274320"/>
          </a:xfrm>
          <a:prstGeom prst="roundRect">
            <a:avLst>
              <a:gd fmla="val 26667" name="adj"/>
            </a:avLst>
          </a:prstGeom>
          <a:solidFill>
            <a:srgbClr val="FCEBEA"/>
          </a:solidFill>
          <a:ln cap="flat" cmpd="sng" w="9525">
            <a:solidFill>
              <a:srgbClr val="FCEBEA"/>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B3261E"/>
              </a:buClr>
              <a:buSzPts val="900"/>
              <a:buFont typeface="Arial"/>
              <a:buNone/>
            </a:pPr>
            <a:r>
              <a:rPr b="1" i="0" lang="en-US" spc="0" sz="900" u="none" cap="none" strike="noStrike">
                <a:solidFill>
                  <a:srgbClr val="B3261E"/>
                </a:solidFill>
                <a:latin typeface="Arial"/>
                <a:ea typeface="Arial"/>
                <a:cs typeface="Arial"/>
                <a:sym typeface="Arial"/>
              </a:rPr>
              <a:t>✕  Weak</a:t>
            </a:r>
            <a:endParaRPr b="0" i="0" spc="0" sz="900" u="none" cap="none" strike="noStrike">
              <a:solidFill>
                <a:schemeClr val="dk1"/>
              </a:solidFill>
              <a:latin typeface="Calibri"/>
              <a:ea typeface="Calibri"/>
              <a:cs typeface="Calibri"/>
              <a:sym typeface="Calibri"/>
            </a:endParaRPr>
          </a:p>
        </p:txBody>
      </p:sp>
      <p:sp>
        <p:nvSpPr>
          <p:cNvPr id="1323" name="Google Shape;1323;p51"/>
          <p:cNvSpPr/>
          <p:nvPr/>
        </p:nvSpPr>
        <p:spPr>
          <a:xfrm>
            <a:off x="4663440" y="2606040"/>
            <a:ext cx="914400" cy="274320"/>
          </a:xfrm>
          <a:prstGeom prst="roundRect">
            <a:avLst>
              <a:gd fmla="val 26667" name="adj"/>
            </a:avLst>
          </a:prstGeom>
          <a:solidFill>
            <a:srgbClr val="E3F4F1"/>
          </a:solidFill>
          <a:ln cap="flat" cmpd="sng" w="9525">
            <a:solidFill>
              <a:srgbClr val="E3F4F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Arial"/>
              <a:buNone/>
            </a:pPr>
            <a:r>
              <a:rPr b="1" i="0" lang="en-US" spc="0" sz="900" u="none" cap="none" strike="noStrike">
                <a:solidFill>
                  <a:srgbClr val="0B7A6F"/>
                </a:solidFill>
                <a:latin typeface="Arial"/>
                <a:ea typeface="Arial"/>
                <a:cs typeface="Arial"/>
                <a:sym typeface="Arial"/>
              </a:rPr>
              <a:t>✓  Strong</a:t>
            </a:r>
            <a:endParaRPr b="0" i="0" spc="0" sz="900" u="none" cap="none" strike="noStrike">
              <a:solidFill>
                <a:schemeClr val="dk1"/>
              </a:solidFill>
              <a:latin typeface="Calibri"/>
              <a:ea typeface="Calibri"/>
              <a:cs typeface="Calibri"/>
              <a:sym typeface="Calibri"/>
            </a:endParaRPr>
          </a:p>
        </p:txBody>
      </p:sp>
      <p:sp>
        <p:nvSpPr>
          <p:cNvPr id="1324" name="Google Shape;1324;p51"/>
          <p:cNvSpPr/>
          <p:nvPr/>
        </p:nvSpPr>
        <p:spPr>
          <a:xfrm>
            <a:off x="411480" y="31089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325" name="Google Shape;1325;p51"/>
          <p:cNvPicPr preferRelativeResize="0"/>
          <p:nvPr/>
        </p:nvPicPr>
        <p:blipFill rotWithShape="1">
          <a:blip r:embed="rId3">
            <a:alphaModFix/>
          </a:blip>
          <a:srcRect b="0" l="0" r="0" t="0"/>
          <a:stretch/>
        </p:blipFill>
        <p:spPr>
          <a:xfrm>
            <a:off x="566928" y="3218688"/>
            <a:ext cx="164592" cy="164592"/>
          </a:xfrm>
          <a:prstGeom prst="rect">
            <a:avLst/>
          </a:prstGeom>
          <a:noFill/>
          <a:ln>
            <a:noFill/>
          </a:ln>
        </p:spPr>
      </p:pic>
      <p:sp>
        <p:nvSpPr>
          <p:cNvPr id="1326" name="Google Shape;1326;p51"/>
          <p:cNvSpPr txBox="1"/>
          <p:nvPr/>
        </p:nvSpPr>
        <p:spPr>
          <a:xfrm>
            <a:off x="822960" y="32095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Why:  </a:t>
            </a:r>
            <a:r>
              <a:rPr b="0" i="0" lang="en-US" spc="0" sz="1000" u="none" cap="none" strike="noStrike">
                <a:solidFill>
                  <a:srgbClr val="1D1D1F"/>
                </a:solidFill>
                <a:latin typeface="Arial"/>
                <a:ea typeface="Arial"/>
                <a:cs typeface="Arial"/>
                <a:sym typeface="Arial"/>
              </a:rPr>
              <a:t>customers who explain their own situation are more likely to stay.</a:t>
            </a:r>
            <a:endParaRPr b="0" i="0" spc="0" sz="1000" u="none" cap="none" strike="noStrike">
              <a:solidFill>
                <a:schemeClr val="dk1"/>
              </a:solidFill>
              <a:latin typeface="Calibri"/>
              <a:ea typeface="Calibri"/>
              <a:cs typeface="Calibri"/>
              <a:sym typeface="Calibri"/>
            </a:endParaRPr>
          </a:p>
        </p:txBody>
      </p:sp>
      <p:sp>
        <p:nvSpPr>
          <p:cNvPr id="1327" name="Google Shape;1327;p5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p5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RETENTION PLAYBOOK</a:t>
            </a:r>
            <a:endParaRPr b="0" i="0" spc="0" sz="800" u="none" cap="none" strike="noStrike">
              <a:solidFill>
                <a:schemeClr val="dk1"/>
              </a:solidFill>
              <a:latin typeface="Calibri"/>
              <a:ea typeface="Calibri"/>
              <a:cs typeface="Calibri"/>
              <a:sym typeface="Calibri"/>
            </a:endParaRPr>
          </a:p>
        </p:txBody>
      </p:sp>
      <p:sp>
        <p:nvSpPr>
          <p:cNvPr id="1334" name="Google Shape;1334;p5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Don't close too soon</a:t>
            </a:r>
            <a:endParaRPr b="0" i="0" spc="0" sz="2400" u="none" cap="none" strike="noStrike">
              <a:solidFill>
                <a:schemeClr val="dk1"/>
              </a:solidFill>
              <a:latin typeface="Calibri"/>
              <a:ea typeface="Calibri"/>
              <a:cs typeface="Calibri"/>
              <a:sym typeface="Calibri"/>
            </a:endParaRPr>
          </a:p>
        </p:txBody>
      </p:sp>
      <p:sp>
        <p:nvSpPr>
          <p:cNvPr id="1335" name="Google Shape;1335;p5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Graceful Closure can't be reopened. Make sure you've explored everything.</a:t>
            </a:r>
            <a:endParaRPr b="0" i="0" spc="0" sz="1200" u="none" cap="none" strike="noStrike">
              <a:solidFill>
                <a:schemeClr val="dk1"/>
              </a:solidFill>
              <a:latin typeface="Calibri"/>
              <a:ea typeface="Calibri"/>
              <a:cs typeface="Calibri"/>
              <a:sym typeface="Calibri"/>
            </a:endParaRPr>
          </a:p>
        </p:txBody>
      </p:sp>
      <p:sp>
        <p:nvSpPr>
          <p:cNvPr id="1336" name="Google Shape;1336;p52"/>
          <p:cNvSpPr txBox="1"/>
          <p:nvPr/>
        </p:nvSpPr>
        <p:spPr>
          <a:xfrm>
            <a:off x="411480" y="1298448"/>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BEFORE GRACEFUL CLOSURE, ASK</a:t>
            </a:r>
            <a:endParaRPr b="0" i="0" spc="0" sz="800" u="none" cap="none" strike="noStrike">
              <a:solidFill>
                <a:schemeClr val="dk1"/>
              </a:solidFill>
              <a:latin typeface="Calibri"/>
              <a:ea typeface="Calibri"/>
              <a:cs typeface="Calibri"/>
              <a:sym typeface="Calibri"/>
            </a:endParaRPr>
          </a:p>
        </p:txBody>
      </p:sp>
      <p:sp>
        <p:nvSpPr>
          <p:cNvPr id="1337" name="Google Shape;1337;p52"/>
          <p:cNvSpPr/>
          <p:nvPr/>
        </p:nvSpPr>
        <p:spPr>
          <a:xfrm>
            <a:off x="411480" y="1508760"/>
            <a:ext cx="3017520" cy="457200"/>
          </a:xfrm>
          <a:prstGeom prst="roundRect">
            <a:avLst>
              <a:gd fmla="val 16000"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38" name="Google Shape;1338;p52"/>
          <p:cNvSpPr/>
          <p:nvPr/>
        </p:nvSpPr>
        <p:spPr>
          <a:xfrm>
            <a:off x="530352" y="16002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39" name="Google Shape;1339;p52"/>
          <p:cNvSpPr txBox="1"/>
          <p:nvPr/>
        </p:nvSpPr>
        <p:spPr>
          <a:xfrm>
            <a:off x="530352" y="16002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1340" name="Google Shape;1340;p52"/>
          <p:cNvSpPr txBox="1"/>
          <p:nvPr/>
        </p:nvSpPr>
        <p:spPr>
          <a:xfrm>
            <a:off x="914400" y="1508760"/>
            <a:ext cx="24688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US" spc="0" sz="1050" u="none" cap="none" strike="noStrike">
                <a:solidFill>
                  <a:srgbClr val="1D1D1F"/>
                </a:solidFill>
                <a:latin typeface="Play"/>
                <a:ea typeface="Play"/>
                <a:cs typeface="Play"/>
                <a:sym typeface="Play"/>
              </a:rPr>
              <a:t>Explored all options?</a:t>
            </a:r>
            <a:endParaRPr b="0" i="0" spc="0" sz="1050" u="none" cap="none" strike="noStrike">
              <a:solidFill>
                <a:schemeClr val="dk1"/>
              </a:solidFill>
              <a:latin typeface="Calibri"/>
              <a:ea typeface="Calibri"/>
              <a:cs typeface="Calibri"/>
              <a:sym typeface="Calibri"/>
            </a:endParaRPr>
          </a:p>
        </p:txBody>
      </p:sp>
      <p:sp>
        <p:nvSpPr>
          <p:cNvPr id="1341" name="Google Shape;1341;p52"/>
          <p:cNvSpPr/>
          <p:nvPr/>
        </p:nvSpPr>
        <p:spPr>
          <a:xfrm>
            <a:off x="3520440" y="1508760"/>
            <a:ext cx="521208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42" name="Google Shape;1342;p52"/>
          <p:cNvSpPr txBox="1"/>
          <p:nvPr/>
        </p:nvSpPr>
        <p:spPr>
          <a:xfrm>
            <a:off x="3657600" y="1508760"/>
            <a:ext cx="49834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Not just the one they declined.</a:t>
            </a:r>
            <a:endParaRPr b="0" i="0" spc="0" sz="900" u="none" cap="none" strike="noStrike">
              <a:solidFill>
                <a:schemeClr val="dk1"/>
              </a:solidFill>
              <a:latin typeface="Calibri"/>
              <a:ea typeface="Calibri"/>
              <a:cs typeface="Calibri"/>
              <a:sym typeface="Calibri"/>
            </a:endParaRPr>
          </a:p>
        </p:txBody>
      </p:sp>
      <p:sp>
        <p:nvSpPr>
          <p:cNvPr id="1343" name="Google Shape;1343;p52"/>
          <p:cNvSpPr/>
          <p:nvPr/>
        </p:nvSpPr>
        <p:spPr>
          <a:xfrm>
            <a:off x="411480" y="2039112"/>
            <a:ext cx="3017520" cy="457200"/>
          </a:xfrm>
          <a:prstGeom prst="roundRect">
            <a:avLst>
              <a:gd fmla="val 16000"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44" name="Google Shape;1344;p52"/>
          <p:cNvSpPr/>
          <p:nvPr/>
        </p:nvSpPr>
        <p:spPr>
          <a:xfrm>
            <a:off x="530352" y="213055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45" name="Google Shape;1345;p52"/>
          <p:cNvSpPr txBox="1"/>
          <p:nvPr/>
        </p:nvSpPr>
        <p:spPr>
          <a:xfrm>
            <a:off x="530352" y="213055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1346" name="Google Shape;1346;p52"/>
          <p:cNvSpPr txBox="1"/>
          <p:nvPr/>
        </p:nvSpPr>
        <p:spPr>
          <a:xfrm>
            <a:off x="914400" y="2039112"/>
            <a:ext cx="24688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US" spc="0" sz="1050" u="none" cap="none" strike="noStrike">
                <a:solidFill>
                  <a:srgbClr val="1D1D1F"/>
                </a:solidFill>
                <a:latin typeface="Play"/>
                <a:ea typeface="Play"/>
                <a:cs typeface="Play"/>
                <a:sym typeface="Play"/>
              </a:rPr>
              <a:t>Know the full picture?</a:t>
            </a:r>
            <a:endParaRPr b="0" i="0" spc="0" sz="1050" u="none" cap="none" strike="noStrike">
              <a:solidFill>
                <a:schemeClr val="dk1"/>
              </a:solidFill>
              <a:latin typeface="Calibri"/>
              <a:ea typeface="Calibri"/>
              <a:cs typeface="Calibri"/>
              <a:sym typeface="Calibri"/>
            </a:endParaRPr>
          </a:p>
        </p:txBody>
      </p:sp>
      <p:sp>
        <p:nvSpPr>
          <p:cNvPr id="1347" name="Google Shape;1347;p52"/>
          <p:cNvSpPr/>
          <p:nvPr/>
        </p:nvSpPr>
        <p:spPr>
          <a:xfrm>
            <a:off x="3520440" y="2039112"/>
            <a:ext cx="521208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48" name="Google Shape;1348;p52"/>
          <p:cNvSpPr txBox="1"/>
          <p:nvPr/>
        </p:nvSpPr>
        <p:spPr>
          <a:xfrm>
            <a:off x="3657600" y="2039112"/>
            <a:ext cx="498348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 reply to a probe ≠ no options left.</a:t>
            </a:r>
            <a:endParaRPr b="0" i="0" spc="0" sz="900" u="none" cap="none" strike="noStrike">
              <a:solidFill>
                <a:schemeClr val="dk1"/>
              </a:solidFill>
              <a:latin typeface="Calibri"/>
              <a:ea typeface="Calibri"/>
              <a:cs typeface="Calibri"/>
              <a:sym typeface="Calibri"/>
            </a:endParaRPr>
          </a:p>
        </p:txBody>
      </p:sp>
      <p:sp>
        <p:nvSpPr>
          <p:cNvPr id="1349" name="Google Shape;1349;p52"/>
          <p:cNvSpPr/>
          <p:nvPr/>
        </p:nvSpPr>
        <p:spPr>
          <a:xfrm>
            <a:off x="411480" y="2606040"/>
            <a:ext cx="8321040" cy="685800"/>
          </a:xfrm>
          <a:prstGeom prst="roundRect">
            <a:avLst>
              <a:gd fmla="val 10667"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50" name="Google Shape;1350;p52"/>
          <p:cNvSpPr/>
          <p:nvPr/>
        </p:nvSpPr>
        <p:spPr>
          <a:xfrm>
            <a:off x="411480" y="2679192"/>
            <a:ext cx="45720" cy="539496"/>
          </a:xfrm>
          <a:prstGeom prst="rect">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51" name="Google Shape;1351;p52"/>
          <p:cNvSpPr txBox="1"/>
          <p:nvPr/>
        </p:nvSpPr>
        <p:spPr>
          <a:xfrm>
            <a:off x="594360" y="2606040"/>
            <a:ext cx="80010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0" sz="800" u="none" cap="none" strike="noStrike">
                <a:solidFill>
                  <a:srgbClr val="0B7A6F"/>
                </a:solidFill>
                <a:latin typeface="Play"/>
                <a:ea typeface="Play"/>
                <a:cs typeface="Play"/>
                <a:sym typeface="Play"/>
              </a:rPr>
              <a:t>NOT RESPONDING? REFRAME</a:t>
            </a:r>
            <a:endParaRPr b="0" i="0" spc="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000"/>
              <a:buFont typeface="Arial"/>
              <a:buNone/>
            </a:pPr>
            <a:r>
              <a:rPr b="0" i="1" lang="en-US" spc="0" sz="1000" u="none" cap="none" strike="noStrike">
                <a:solidFill>
                  <a:srgbClr val="1D1D1F"/>
                </a:solidFill>
                <a:latin typeface="Arial"/>
                <a:ea typeface="Arial"/>
                <a:cs typeface="Arial"/>
                <a:sym typeface="Arial"/>
              </a:rPr>
              <a:t>“I just want to make sure I've explored all available options and that we're not missing anything that might better fit your needs.”</a:t>
            </a:r>
            <a:endParaRPr b="0" i="0" spc="0" sz="1000" u="none" cap="none" strike="noStrike">
              <a:solidFill>
                <a:schemeClr val="dk1"/>
              </a:solidFill>
              <a:latin typeface="Calibri"/>
              <a:ea typeface="Calibri"/>
              <a:cs typeface="Calibri"/>
              <a:sym typeface="Calibri"/>
            </a:endParaRPr>
          </a:p>
        </p:txBody>
      </p:sp>
      <p:sp>
        <p:nvSpPr>
          <p:cNvPr id="1352" name="Google Shape;1352;p52"/>
          <p:cNvSpPr/>
          <p:nvPr/>
        </p:nvSpPr>
        <p:spPr>
          <a:xfrm>
            <a:off x="411480" y="3429000"/>
            <a:ext cx="8321040" cy="457200"/>
          </a:xfrm>
          <a:prstGeom prst="roundRect">
            <a:avLst>
              <a:gd fmla="val 16000"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353" name="Google Shape;1353;p52"/>
          <p:cNvPicPr preferRelativeResize="0"/>
          <p:nvPr/>
        </p:nvPicPr>
        <p:blipFill rotWithShape="1">
          <a:blip r:embed="rId3">
            <a:alphaModFix/>
          </a:blip>
          <a:srcRect b="0" l="0" r="0" t="0"/>
          <a:stretch/>
        </p:blipFill>
        <p:spPr>
          <a:xfrm>
            <a:off x="566928" y="3575304"/>
            <a:ext cx="164592" cy="164592"/>
          </a:xfrm>
          <a:prstGeom prst="rect">
            <a:avLst/>
          </a:prstGeom>
          <a:noFill/>
          <a:ln>
            <a:noFill/>
          </a:ln>
        </p:spPr>
      </p:pic>
      <p:sp>
        <p:nvSpPr>
          <p:cNvPr id="1354" name="Google Shape;1354;p52"/>
          <p:cNvSpPr txBox="1"/>
          <p:nvPr/>
        </p:nvSpPr>
        <p:spPr>
          <a:xfrm>
            <a:off x="822960" y="3429000"/>
            <a:ext cx="77724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3261E"/>
              </a:buClr>
              <a:buSzPts val="1000"/>
              <a:buFont typeface="Arial"/>
              <a:buNone/>
            </a:pPr>
            <a:r>
              <a:rPr b="1" i="0" lang="en-US" spc="0" sz="1000" u="none" cap="none" strike="noStrike">
                <a:solidFill>
                  <a:srgbClr val="B3261E"/>
                </a:solidFill>
                <a:latin typeface="Arial"/>
                <a:ea typeface="Arial"/>
                <a:cs typeface="Arial"/>
                <a:sym typeface="Arial"/>
              </a:rPr>
              <a:t>Still no reason?  </a:t>
            </a:r>
            <a:r>
              <a:rPr b="0" i="0" lang="en-US" spc="0" sz="1000" u="none" cap="none" strike="noStrike">
                <a:solidFill>
                  <a:srgbClr val="1D1D1F"/>
                </a:solidFill>
                <a:latin typeface="Arial"/>
                <a:ea typeface="Arial"/>
                <a:cs typeface="Arial"/>
                <a:sym typeface="Arial"/>
              </a:rPr>
              <a:t>keep asking, don't close. Explain the ETF still applies, on its own terms.</a:t>
            </a:r>
            <a:endParaRPr b="0" i="0" spc="0" sz="1000" u="none" cap="none" strike="noStrike">
              <a:solidFill>
                <a:schemeClr val="dk1"/>
              </a:solidFill>
              <a:latin typeface="Calibri"/>
              <a:ea typeface="Calibri"/>
              <a:cs typeface="Calibri"/>
              <a:sym typeface="Calibri"/>
            </a:endParaRPr>
          </a:p>
        </p:txBody>
      </p:sp>
      <p:sp>
        <p:nvSpPr>
          <p:cNvPr id="1355" name="Google Shape;1355;p5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0" name="Shape 1360"/>
        <p:cNvGrpSpPr/>
        <p:nvPr/>
      </p:nvGrpSpPr>
      <p:grpSpPr>
        <a:xfrm>
          <a:off x="0" y="0"/>
          <a:ext cx="0" cy="0"/>
          <a:chOff x="0" y="0"/>
          <a:chExt cx="0" cy="0"/>
        </a:xfrm>
      </p:grpSpPr>
      <p:sp>
        <p:nvSpPr>
          <p:cNvPr id="1361" name="Google Shape;1361;p5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RETENTION PLAYBOOK</a:t>
            </a:r>
            <a:endParaRPr b="0" i="0" spc="0" sz="800" u="none" cap="none" strike="noStrike">
              <a:solidFill>
                <a:schemeClr val="dk1"/>
              </a:solidFill>
              <a:latin typeface="Calibri"/>
              <a:ea typeface="Calibri"/>
              <a:cs typeface="Calibri"/>
              <a:sym typeface="Calibri"/>
            </a:endParaRPr>
          </a:p>
        </p:txBody>
      </p:sp>
      <p:sp>
        <p:nvSpPr>
          <p:cNvPr id="1362" name="Google Shape;1362;p5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What not to do</a:t>
            </a:r>
            <a:endParaRPr b="0" i="0" spc="0" sz="2400" u="none" cap="none" strike="noStrike">
              <a:solidFill>
                <a:schemeClr val="dk1"/>
              </a:solidFill>
              <a:latin typeface="Calibri"/>
              <a:ea typeface="Calibri"/>
              <a:cs typeface="Calibri"/>
              <a:sym typeface="Calibri"/>
            </a:endParaRPr>
          </a:p>
        </p:txBody>
      </p:sp>
      <p:sp>
        <p:nvSpPr>
          <p:cNvPr id="1363" name="Google Shape;1363;p5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Four mistakes that cost trust or money.</a:t>
            </a:r>
            <a:endParaRPr b="0" i="0" spc="0" sz="1200" u="none" cap="none" strike="noStrike">
              <a:solidFill>
                <a:schemeClr val="dk1"/>
              </a:solidFill>
              <a:latin typeface="Calibri"/>
              <a:ea typeface="Calibri"/>
              <a:cs typeface="Calibri"/>
              <a:sym typeface="Calibri"/>
            </a:endParaRPr>
          </a:p>
        </p:txBody>
      </p:sp>
      <p:sp>
        <p:nvSpPr>
          <p:cNvPr id="1364" name="Google Shape;1364;p53"/>
          <p:cNvSpPr/>
          <p:nvPr/>
        </p:nvSpPr>
        <p:spPr>
          <a:xfrm>
            <a:off x="411480" y="13258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65" name="Google Shape;1365;p53"/>
          <p:cNvSpPr/>
          <p:nvPr/>
        </p:nvSpPr>
        <p:spPr>
          <a:xfrm>
            <a:off x="576072" y="1490472"/>
            <a:ext cx="365760" cy="365760"/>
          </a:xfrm>
          <a:prstGeom prst="ellipse">
            <a:avLst/>
          </a:prstGeom>
          <a:solidFill>
            <a:srgbClr val="FCEBEA"/>
          </a:solidFill>
          <a:ln cap="flat" cmpd="sng" w="12700">
            <a:solidFill>
              <a:srgbClr val="FCEB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366" name="Google Shape;1366;p53"/>
          <p:cNvPicPr preferRelativeResize="0"/>
          <p:nvPr/>
        </p:nvPicPr>
        <p:blipFill rotWithShape="1">
          <a:blip r:embed="rId3">
            <a:alphaModFix/>
          </a:blip>
          <a:srcRect b="0" l="0" r="0" t="0"/>
          <a:stretch/>
        </p:blipFill>
        <p:spPr>
          <a:xfrm>
            <a:off x="663854" y="1578254"/>
            <a:ext cx="190195" cy="190195"/>
          </a:xfrm>
          <a:prstGeom prst="rect">
            <a:avLst/>
          </a:prstGeom>
          <a:noFill/>
          <a:ln>
            <a:noFill/>
          </a:ln>
        </p:spPr>
      </p:pic>
      <p:sp>
        <p:nvSpPr>
          <p:cNvPr id="1367" name="Google Shape;1367;p53"/>
          <p:cNvSpPr txBox="1"/>
          <p:nvPr/>
        </p:nvSpPr>
        <p:spPr>
          <a:xfrm>
            <a:off x="1069848" y="1399032"/>
            <a:ext cx="3314700" cy="8138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Don't: Refund the MF and waive the ETF</a:t>
            </a:r>
            <a:endParaRPr b="0" i="0" spc="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Both cover the discounted first cleaning. Apply the MF toward the ETF instead.</a:t>
            </a:r>
            <a:endParaRPr b="0" i="0" spc="0" sz="1100" u="none" cap="none" strike="noStrike">
              <a:solidFill>
                <a:schemeClr val="dk1"/>
              </a:solidFill>
              <a:latin typeface="Calibri"/>
              <a:ea typeface="Calibri"/>
              <a:cs typeface="Calibri"/>
              <a:sym typeface="Calibri"/>
            </a:endParaRPr>
          </a:p>
        </p:txBody>
      </p:sp>
      <p:sp>
        <p:nvSpPr>
          <p:cNvPr id="1368" name="Google Shape;1368;p53"/>
          <p:cNvSpPr/>
          <p:nvPr/>
        </p:nvSpPr>
        <p:spPr>
          <a:xfrm>
            <a:off x="4640580" y="13258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69" name="Google Shape;1369;p53"/>
          <p:cNvSpPr/>
          <p:nvPr/>
        </p:nvSpPr>
        <p:spPr>
          <a:xfrm>
            <a:off x="4805172" y="1490472"/>
            <a:ext cx="365760" cy="365760"/>
          </a:xfrm>
          <a:prstGeom prst="ellipse">
            <a:avLst/>
          </a:prstGeom>
          <a:solidFill>
            <a:srgbClr val="FCEBEA"/>
          </a:solidFill>
          <a:ln cap="flat" cmpd="sng" w="12700">
            <a:solidFill>
              <a:srgbClr val="FCEB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370" name="Google Shape;1370;p53"/>
          <p:cNvPicPr preferRelativeResize="0"/>
          <p:nvPr/>
        </p:nvPicPr>
        <p:blipFill rotWithShape="1">
          <a:blip r:embed="rId4">
            <a:alphaModFix/>
          </a:blip>
          <a:srcRect b="0" l="0" r="0" t="0"/>
          <a:stretch/>
        </p:blipFill>
        <p:spPr>
          <a:xfrm>
            <a:off x="4892954" y="1578254"/>
            <a:ext cx="190195" cy="190195"/>
          </a:xfrm>
          <a:prstGeom prst="rect">
            <a:avLst/>
          </a:prstGeom>
          <a:noFill/>
          <a:ln>
            <a:noFill/>
          </a:ln>
        </p:spPr>
      </p:pic>
      <p:sp>
        <p:nvSpPr>
          <p:cNvPr id="1371" name="Google Shape;1371;p53"/>
          <p:cNvSpPr txBox="1"/>
          <p:nvPr/>
        </p:nvSpPr>
        <p:spPr>
          <a:xfrm>
            <a:off x="5298948" y="1399032"/>
            <a:ext cx="3314700" cy="8138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Don't: Raise membership unprompted</a:t>
            </a:r>
            <a:endParaRPr b="0" i="0" spc="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Stay on their stated issue. Don't manufacture a cancellation.</a:t>
            </a:r>
            <a:endParaRPr b="0" i="0" spc="0" sz="1100" u="none" cap="none" strike="noStrike">
              <a:solidFill>
                <a:schemeClr val="dk1"/>
              </a:solidFill>
              <a:latin typeface="Calibri"/>
              <a:ea typeface="Calibri"/>
              <a:cs typeface="Calibri"/>
              <a:sym typeface="Calibri"/>
            </a:endParaRPr>
          </a:p>
        </p:txBody>
      </p:sp>
      <p:sp>
        <p:nvSpPr>
          <p:cNvPr id="1372" name="Google Shape;1372;p53"/>
          <p:cNvSpPr/>
          <p:nvPr/>
        </p:nvSpPr>
        <p:spPr>
          <a:xfrm>
            <a:off x="411480" y="2395728"/>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73" name="Google Shape;1373;p53"/>
          <p:cNvSpPr/>
          <p:nvPr/>
        </p:nvSpPr>
        <p:spPr>
          <a:xfrm>
            <a:off x="576072" y="2560320"/>
            <a:ext cx="365760" cy="365760"/>
          </a:xfrm>
          <a:prstGeom prst="ellipse">
            <a:avLst/>
          </a:prstGeom>
          <a:solidFill>
            <a:srgbClr val="FCEBEA"/>
          </a:solidFill>
          <a:ln cap="flat" cmpd="sng" w="12700">
            <a:solidFill>
              <a:srgbClr val="FCEB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374" name="Google Shape;1374;p53"/>
          <p:cNvPicPr preferRelativeResize="0"/>
          <p:nvPr/>
        </p:nvPicPr>
        <p:blipFill rotWithShape="1">
          <a:blip r:embed="rId5">
            <a:alphaModFix/>
          </a:blip>
          <a:srcRect b="0" l="0" r="0" t="0"/>
          <a:stretch/>
        </p:blipFill>
        <p:spPr>
          <a:xfrm>
            <a:off x="663854" y="2648102"/>
            <a:ext cx="190195" cy="190195"/>
          </a:xfrm>
          <a:prstGeom prst="rect">
            <a:avLst/>
          </a:prstGeom>
          <a:noFill/>
          <a:ln>
            <a:noFill/>
          </a:ln>
        </p:spPr>
      </p:pic>
      <p:sp>
        <p:nvSpPr>
          <p:cNvPr id="1375" name="Google Shape;1375;p53"/>
          <p:cNvSpPr txBox="1"/>
          <p:nvPr/>
        </p:nvSpPr>
        <p:spPr>
          <a:xfrm>
            <a:off x="1069848" y="2468880"/>
            <a:ext cx="3314700" cy="8138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Don't: Repeat the same offer</a:t>
            </a:r>
            <a:endParaRPr b="0" i="0" spc="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Or reopen closed negotiations. See Graceful Closure.</a:t>
            </a:r>
            <a:endParaRPr b="0" i="0" spc="0" sz="1100" u="none" cap="none" strike="noStrike">
              <a:solidFill>
                <a:schemeClr val="dk1"/>
              </a:solidFill>
              <a:latin typeface="Calibri"/>
              <a:ea typeface="Calibri"/>
              <a:cs typeface="Calibri"/>
              <a:sym typeface="Calibri"/>
            </a:endParaRPr>
          </a:p>
        </p:txBody>
      </p:sp>
      <p:sp>
        <p:nvSpPr>
          <p:cNvPr id="1376" name="Google Shape;1376;p53"/>
          <p:cNvSpPr/>
          <p:nvPr/>
        </p:nvSpPr>
        <p:spPr>
          <a:xfrm>
            <a:off x="4640580" y="2395728"/>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77" name="Google Shape;1377;p53"/>
          <p:cNvSpPr/>
          <p:nvPr/>
        </p:nvSpPr>
        <p:spPr>
          <a:xfrm>
            <a:off x="4805172" y="2560320"/>
            <a:ext cx="365760" cy="365760"/>
          </a:xfrm>
          <a:prstGeom prst="ellipse">
            <a:avLst/>
          </a:prstGeom>
          <a:solidFill>
            <a:srgbClr val="FCEBEA"/>
          </a:solidFill>
          <a:ln cap="flat" cmpd="sng" w="12700">
            <a:solidFill>
              <a:srgbClr val="FCEBE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378" name="Google Shape;1378;p53"/>
          <p:cNvPicPr preferRelativeResize="0"/>
          <p:nvPr/>
        </p:nvPicPr>
        <p:blipFill rotWithShape="1">
          <a:blip r:embed="rId6">
            <a:alphaModFix/>
          </a:blip>
          <a:srcRect b="0" l="0" r="0" t="0"/>
          <a:stretch/>
        </p:blipFill>
        <p:spPr>
          <a:xfrm>
            <a:off x="4892954" y="2648102"/>
            <a:ext cx="190195" cy="190195"/>
          </a:xfrm>
          <a:prstGeom prst="rect">
            <a:avLst/>
          </a:prstGeom>
          <a:noFill/>
          <a:ln>
            <a:noFill/>
          </a:ln>
        </p:spPr>
      </p:pic>
      <p:sp>
        <p:nvSpPr>
          <p:cNvPr id="1379" name="Google Shape;1379;p53"/>
          <p:cNvSpPr txBox="1"/>
          <p:nvPr/>
        </p:nvSpPr>
        <p:spPr>
          <a:xfrm>
            <a:off x="5298948" y="2468880"/>
            <a:ext cx="3314700" cy="8138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Don't: Close too soon</a:t>
            </a:r>
            <a:endParaRPr b="0" i="0" spc="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Probe first. You can't reopen after Graceful Closure.</a:t>
            </a:r>
            <a:endParaRPr b="0" i="0" spc="0" sz="1100" u="none" cap="none" strike="noStrike">
              <a:solidFill>
                <a:schemeClr val="dk1"/>
              </a:solidFill>
              <a:latin typeface="Calibri"/>
              <a:ea typeface="Calibri"/>
              <a:cs typeface="Calibri"/>
              <a:sym typeface="Calibri"/>
            </a:endParaRPr>
          </a:p>
        </p:txBody>
      </p:sp>
      <p:sp>
        <p:nvSpPr>
          <p:cNvPr id="1380" name="Google Shape;1380;p53"/>
          <p:cNvSpPr/>
          <p:nvPr/>
        </p:nvSpPr>
        <p:spPr>
          <a:xfrm>
            <a:off x="411480" y="35204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381" name="Google Shape;1381;p53"/>
          <p:cNvPicPr preferRelativeResize="0"/>
          <p:nvPr/>
        </p:nvPicPr>
        <p:blipFill rotWithShape="1">
          <a:blip r:embed="rId7">
            <a:alphaModFix/>
          </a:blip>
          <a:srcRect b="0" l="0" r="0" t="0"/>
          <a:stretch/>
        </p:blipFill>
        <p:spPr>
          <a:xfrm>
            <a:off x="566928" y="3630168"/>
            <a:ext cx="164592" cy="164592"/>
          </a:xfrm>
          <a:prstGeom prst="rect">
            <a:avLst/>
          </a:prstGeom>
          <a:noFill/>
          <a:ln>
            <a:noFill/>
          </a:ln>
        </p:spPr>
      </p:pic>
      <p:sp>
        <p:nvSpPr>
          <p:cNvPr id="1382" name="Google Shape;1382;p53"/>
          <p:cNvSpPr txBox="1"/>
          <p:nvPr/>
        </p:nvSpPr>
        <p:spPr>
          <a:xfrm>
            <a:off x="822960" y="36210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Exemptions to MF + ETF:  </a:t>
            </a:r>
            <a:r>
              <a:rPr b="0" i="0" lang="en-US" spc="0" sz="1000" u="none" cap="none" strike="noStrike">
                <a:solidFill>
                  <a:srgbClr val="1D1D1F"/>
                </a:solidFill>
                <a:latin typeface="Arial"/>
                <a:ea typeface="Arial"/>
                <a:cs typeface="Arial"/>
                <a:sym typeface="Arial"/>
              </a:rPr>
              <a:t>extenuating circumstances, material legal threats, a history of disputes.</a:t>
            </a:r>
            <a:endParaRPr b="0" i="0" spc="0" sz="1000" u="none" cap="none" strike="noStrike">
              <a:solidFill>
                <a:schemeClr val="dk1"/>
              </a:solidFill>
              <a:latin typeface="Calibri"/>
              <a:ea typeface="Calibri"/>
              <a:cs typeface="Calibri"/>
              <a:sym typeface="Calibri"/>
            </a:endParaRPr>
          </a:p>
        </p:txBody>
      </p:sp>
      <p:sp>
        <p:nvSpPr>
          <p:cNvPr id="1383" name="Google Shape;1383;p5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8" name="Shape 1388"/>
        <p:cNvGrpSpPr/>
        <p:nvPr/>
      </p:nvGrpSpPr>
      <p:grpSpPr>
        <a:xfrm>
          <a:off x="0" y="0"/>
          <a:ext cx="0" cy="0"/>
          <a:chOff x="0" y="0"/>
          <a:chExt cx="0" cy="0"/>
        </a:xfrm>
      </p:grpSpPr>
      <p:sp>
        <p:nvSpPr>
          <p:cNvPr id="1389" name="Google Shape;1389;p5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RETENTION PLAYBOOK  ·  KNOWLEDGE CHECK</a:t>
            </a:r>
            <a:endParaRPr b="0" i="0" spc="0" sz="800" u="none" cap="none" strike="noStrike">
              <a:solidFill>
                <a:schemeClr val="dk1"/>
              </a:solidFill>
              <a:latin typeface="Calibri"/>
              <a:ea typeface="Calibri"/>
              <a:cs typeface="Calibri"/>
              <a:sym typeface="Calibri"/>
            </a:endParaRPr>
          </a:p>
        </p:txBody>
      </p:sp>
      <p:sp>
        <p:nvSpPr>
          <p:cNvPr id="1390" name="Google Shape;1390;p5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See What You’ve Got!</a:t>
            </a:r>
            <a:endParaRPr b="0" i="0" spc="0" sz="2400" u="none" cap="none" strike="noStrike">
              <a:solidFill>
                <a:schemeClr val="dk1"/>
              </a:solidFill>
              <a:latin typeface="Calibri"/>
              <a:ea typeface="Calibri"/>
              <a:cs typeface="Calibri"/>
              <a:sym typeface="Calibri"/>
            </a:endParaRPr>
          </a:p>
        </p:txBody>
      </p:sp>
      <p:sp>
        <p:nvSpPr>
          <p:cNvPr id="1391" name="Google Shape;1391;p54"/>
          <p:cNvSpPr/>
          <p:nvPr/>
        </p:nvSpPr>
        <p:spPr>
          <a:xfrm>
            <a:off x="411480" y="1280160"/>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92" name="Google Shape;1392;p54"/>
          <p:cNvSpPr/>
          <p:nvPr/>
        </p:nvSpPr>
        <p:spPr>
          <a:xfrm>
            <a:off x="548640" y="153619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93" name="Google Shape;1393;p54"/>
          <p:cNvSpPr txBox="1"/>
          <p:nvPr/>
        </p:nvSpPr>
        <p:spPr>
          <a:xfrm>
            <a:off x="548640" y="153619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1394" name="Google Shape;1394;p54"/>
          <p:cNvSpPr txBox="1"/>
          <p:nvPr/>
        </p:nvSpPr>
        <p:spPr>
          <a:xfrm>
            <a:off x="960120" y="1280160"/>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A customer threatens to file with the Attorney General, but the issue is first-time and fixable. Retain?</a:t>
            </a:r>
            <a:endParaRPr b="0" i="0" spc="0" sz="1000" u="none" cap="none" strike="noStrike">
              <a:solidFill>
                <a:schemeClr val="dk1"/>
              </a:solidFill>
              <a:latin typeface="Calibri"/>
              <a:ea typeface="Calibri"/>
              <a:cs typeface="Calibri"/>
              <a:sym typeface="Calibri"/>
            </a:endParaRPr>
          </a:p>
        </p:txBody>
      </p:sp>
      <p:sp>
        <p:nvSpPr>
          <p:cNvPr id="1395" name="Google Shape;1395;p54"/>
          <p:cNvSpPr/>
          <p:nvPr/>
        </p:nvSpPr>
        <p:spPr>
          <a:xfrm>
            <a:off x="5120640" y="1280160"/>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96" name="Google Shape;1396;p54"/>
          <p:cNvSpPr txBox="1"/>
          <p:nvPr/>
        </p:nvSpPr>
        <p:spPr>
          <a:xfrm>
            <a:off x="5257800" y="1280160"/>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 A material legal threat alone overrides. Cancel FC and waive the ETF.</a:t>
            </a:r>
            <a:endParaRPr b="0" i="0" spc="0" sz="900" u="none" cap="none" strike="noStrike">
              <a:solidFill>
                <a:schemeClr val="dk1"/>
              </a:solidFill>
              <a:latin typeface="Calibri"/>
              <a:ea typeface="Calibri"/>
              <a:cs typeface="Calibri"/>
              <a:sym typeface="Calibri"/>
            </a:endParaRPr>
          </a:p>
        </p:txBody>
      </p:sp>
      <p:sp>
        <p:nvSpPr>
          <p:cNvPr id="1397" name="Google Shape;1397;p54"/>
          <p:cNvSpPr/>
          <p:nvPr/>
        </p:nvSpPr>
        <p:spPr>
          <a:xfrm>
            <a:off x="411480" y="2139696"/>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98" name="Google Shape;1398;p54"/>
          <p:cNvSpPr/>
          <p:nvPr/>
        </p:nvSpPr>
        <p:spPr>
          <a:xfrm>
            <a:off x="548640" y="23957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399" name="Google Shape;1399;p54"/>
          <p:cNvSpPr txBox="1"/>
          <p:nvPr/>
        </p:nvSpPr>
        <p:spPr>
          <a:xfrm>
            <a:off x="548640" y="23957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1400" name="Google Shape;1400;p54"/>
          <p:cNvSpPr txBox="1"/>
          <p:nvPr/>
        </p:nvSpPr>
        <p:spPr>
          <a:xfrm>
            <a:off x="960120" y="2139696"/>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"I can't afford this." Stop attempting retention?</a:t>
            </a:r>
            <a:endParaRPr b="0" i="0" spc="0" sz="1000" u="none" cap="none" strike="noStrike">
              <a:solidFill>
                <a:schemeClr val="dk1"/>
              </a:solidFill>
              <a:latin typeface="Calibri"/>
              <a:ea typeface="Calibri"/>
              <a:cs typeface="Calibri"/>
              <a:sym typeface="Calibri"/>
            </a:endParaRPr>
          </a:p>
        </p:txBody>
      </p:sp>
      <p:sp>
        <p:nvSpPr>
          <p:cNvPr id="1401" name="Google Shape;1401;p54"/>
          <p:cNvSpPr/>
          <p:nvPr/>
        </p:nvSpPr>
        <p:spPr>
          <a:xfrm>
            <a:off x="5120640" y="2139696"/>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02" name="Google Shape;1402;p54"/>
          <p:cNvSpPr txBox="1"/>
          <p:nvPr/>
        </p:nvSpPr>
        <p:spPr>
          <a:xfrm>
            <a:off x="5257800" y="2139696"/>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 Affordability alone isn't a reason. Try an MF/MCT reduction, pause or free months.</a:t>
            </a:r>
            <a:endParaRPr b="0" i="0" spc="0" sz="900" u="none" cap="none" strike="noStrike">
              <a:solidFill>
                <a:schemeClr val="dk1"/>
              </a:solidFill>
              <a:latin typeface="Calibri"/>
              <a:ea typeface="Calibri"/>
              <a:cs typeface="Calibri"/>
              <a:sym typeface="Calibri"/>
            </a:endParaRPr>
          </a:p>
        </p:txBody>
      </p:sp>
      <p:sp>
        <p:nvSpPr>
          <p:cNvPr id="1403" name="Google Shape;1403;p54"/>
          <p:cNvSpPr/>
          <p:nvPr/>
        </p:nvSpPr>
        <p:spPr>
          <a:xfrm>
            <a:off x="411480" y="2999232"/>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04" name="Google Shape;1404;p54"/>
          <p:cNvSpPr/>
          <p:nvPr/>
        </p:nvSpPr>
        <p:spPr>
          <a:xfrm>
            <a:off x="548640" y="325526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05" name="Google Shape;1405;p54"/>
          <p:cNvSpPr txBox="1"/>
          <p:nvPr/>
        </p:nvSpPr>
        <p:spPr>
          <a:xfrm>
            <a:off x="548640" y="32552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1406" name="Google Shape;1406;p54"/>
          <p:cNvSpPr txBox="1"/>
          <p:nvPr/>
        </p:nvSpPr>
        <p:spPr>
          <a:xfrm>
            <a:off x="960120" y="2999232"/>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They declined your offer. Offer a bigger one?</a:t>
            </a:r>
            <a:endParaRPr b="0" i="0" spc="0" sz="1000" u="none" cap="none" strike="noStrike">
              <a:solidFill>
                <a:schemeClr val="dk1"/>
              </a:solidFill>
              <a:latin typeface="Calibri"/>
              <a:ea typeface="Calibri"/>
              <a:cs typeface="Calibri"/>
              <a:sym typeface="Calibri"/>
            </a:endParaRPr>
          </a:p>
        </p:txBody>
      </p:sp>
      <p:sp>
        <p:nvSpPr>
          <p:cNvPr id="1407" name="Google Shape;1407;p54"/>
          <p:cNvSpPr/>
          <p:nvPr/>
        </p:nvSpPr>
        <p:spPr>
          <a:xfrm>
            <a:off x="5120640" y="2999232"/>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08" name="Google Shape;1408;p54"/>
          <p:cNvSpPr txBox="1"/>
          <p:nvPr/>
        </p:nvSpPr>
        <p:spPr>
          <a:xfrm>
            <a:off x="5257800" y="2999232"/>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Only if it's tied to their specific reason, not just because they said no.</a:t>
            </a:r>
            <a:endParaRPr b="0" i="0" spc="0" sz="900" u="none" cap="none" strike="noStrike">
              <a:solidFill>
                <a:schemeClr val="dk1"/>
              </a:solidFill>
              <a:latin typeface="Calibri"/>
              <a:ea typeface="Calibri"/>
              <a:cs typeface="Calibri"/>
              <a:sym typeface="Calibri"/>
            </a:endParaRPr>
          </a:p>
        </p:txBody>
      </p:sp>
      <p:sp>
        <p:nvSpPr>
          <p:cNvPr id="1409" name="Google Shape;1409;p54"/>
          <p:cNvSpPr/>
          <p:nvPr/>
        </p:nvSpPr>
        <p:spPr>
          <a:xfrm>
            <a:off x="411480" y="3858768"/>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10" name="Google Shape;1410;p54"/>
          <p:cNvSpPr/>
          <p:nvPr/>
        </p:nvSpPr>
        <p:spPr>
          <a:xfrm>
            <a:off x="548640" y="41148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11" name="Google Shape;1411;p54"/>
          <p:cNvSpPr txBox="1"/>
          <p:nvPr/>
        </p:nvSpPr>
        <p:spPr>
          <a:xfrm>
            <a:off x="548640" y="41148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4</a:t>
            </a:r>
            <a:endParaRPr b="0" i="0" spc="0" sz="900" u="none" cap="none" strike="noStrike">
              <a:solidFill>
                <a:schemeClr val="dk1"/>
              </a:solidFill>
              <a:latin typeface="Calibri"/>
              <a:ea typeface="Calibri"/>
              <a:cs typeface="Calibri"/>
              <a:sym typeface="Calibri"/>
            </a:endParaRPr>
          </a:p>
        </p:txBody>
      </p:sp>
      <p:sp>
        <p:nvSpPr>
          <p:cNvPr id="1412" name="Google Shape;1412;p54"/>
          <p:cNvSpPr txBox="1"/>
          <p:nvPr/>
        </p:nvSpPr>
        <p:spPr>
          <a:xfrm>
            <a:off x="960120" y="3858768"/>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They want an MF refund and an ETF waiver. Both?</a:t>
            </a:r>
            <a:endParaRPr b="0" i="0" spc="0" sz="1000" u="none" cap="none" strike="noStrike">
              <a:solidFill>
                <a:schemeClr val="dk1"/>
              </a:solidFill>
              <a:latin typeface="Calibri"/>
              <a:ea typeface="Calibri"/>
              <a:cs typeface="Calibri"/>
              <a:sym typeface="Calibri"/>
            </a:endParaRPr>
          </a:p>
        </p:txBody>
      </p:sp>
      <p:sp>
        <p:nvSpPr>
          <p:cNvPr id="1413" name="Google Shape;1413;p54"/>
          <p:cNvSpPr/>
          <p:nvPr/>
        </p:nvSpPr>
        <p:spPr>
          <a:xfrm>
            <a:off x="5120640" y="3858768"/>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14" name="Google Shape;1414;p54"/>
          <p:cNvSpPr txBox="1"/>
          <p:nvPr/>
        </p:nvSpPr>
        <p:spPr>
          <a:xfrm>
            <a:off x="5257800" y="3858768"/>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Generally no. Apply the MF toward reducing the ETF (unless an exemption applies).</a:t>
            </a:r>
            <a:endParaRPr b="0" i="0" spc="0" sz="900" u="none" cap="none" strike="noStrike">
              <a:solidFill>
                <a:schemeClr val="dk1"/>
              </a:solidFill>
              <a:latin typeface="Calibri"/>
              <a:ea typeface="Calibri"/>
              <a:cs typeface="Calibri"/>
              <a:sym typeface="Calibri"/>
            </a:endParaRPr>
          </a:p>
        </p:txBody>
      </p:sp>
      <p:sp>
        <p:nvSpPr>
          <p:cNvPr id="1415" name="Google Shape;1415;p5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6"/>
                                        </p:tgtEl>
                                        <p:attrNameLst>
                                          <p:attrName>style.visibility</p:attrName>
                                        </p:attrNameLst>
                                      </p:cBhvr>
                                      <p:to>
                                        <p:strVal val="visible"/>
                                      </p:to>
                                    </p:set>
                                    <p:animEffect filter="fade" transition="in">
                                      <p:cBhvr>
                                        <p:cTn dur="600"/>
                                        <p:tgtEl>
                                          <p:spTgt spid="13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2"/>
                                        </p:tgtEl>
                                        <p:attrNameLst>
                                          <p:attrName>style.visibility</p:attrName>
                                        </p:attrNameLst>
                                      </p:cBhvr>
                                      <p:to>
                                        <p:strVal val="visible"/>
                                      </p:to>
                                    </p:set>
                                    <p:animEffect filter="fade" transition="in">
                                      <p:cBhvr>
                                        <p:cTn dur="600"/>
                                        <p:tgtEl>
                                          <p:spTgt spid="14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8"/>
                                        </p:tgtEl>
                                        <p:attrNameLst>
                                          <p:attrName>style.visibility</p:attrName>
                                        </p:attrNameLst>
                                      </p:cBhvr>
                                      <p:to>
                                        <p:strVal val="visible"/>
                                      </p:to>
                                    </p:set>
                                    <p:animEffect filter="fade" transition="in">
                                      <p:cBhvr>
                                        <p:cTn dur="600"/>
                                        <p:tgtEl>
                                          <p:spTgt spid="1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4"/>
                                        </p:tgtEl>
                                        <p:attrNameLst>
                                          <p:attrName>style.visibility</p:attrName>
                                        </p:attrNameLst>
                                      </p:cBhvr>
                                      <p:to>
                                        <p:strVal val="visible"/>
                                      </p:to>
                                    </p:set>
                                    <p:animEffect filter="fade" transition="in">
                                      <p:cBhvr>
                                        <p:cTn dur="600"/>
                                        <p:tgtEl>
                                          <p:spTgt spid="14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0" name="Shape 1420"/>
        <p:cNvGrpSpPr/>
        <p:nvPr/>
      </p:nvGrpSpPr>
      <p:grpSpPr>
        <a:xfrm>
          <a:off x="0" y="0"/>
          <a:ext cx="0" cy="0"/>
          <a:chOff x="0" y="0"/>
          <a:chExt cx="0" cy="0"/>
        </a:xfrm>
      </p:grpSpPr>
      <p:sp>
        <p:nvSpPr>
          <p:cNvPr id="1421" name="Google Shape;1421;p5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RETENTION PLAYBOOK  ·  PRACTICE</a:t>
            </a:r>
            <a:endParaRPr b="0" i="0" spc="0" sz="800" u="none" cap="none" strike="noStrike">
              <a:solidFill>
                <a:schemeClr val="dk1"/>
              </a:solidFill>
              <a:latin typeface="Calibri"/>
              <a:ea typeface="Calibri"/>
              <a:cs typeface="Calibri"/>
              <a:sym typeface="Calibri"/>
            </a:endParaRPr>
          </a:p>
        </p:txBody>
      </p:sp>
      <p:sp>
        <p:nvSpPr>
          <p:cNvPr id="1422" name="Google Shape;1422;p5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investigate together!</a:t>
            </a:r>
            <a:endParaRPr b="0" i="0" spc="0" sz="2400" u="none" cap="none" strike="noStrike">
              <a:solidFill>
                <a:schemeClr val="dk1"/>
              </a:solidFill>
              <a:latin typeface="Calibri"/>
              <a:ea typeface="Calibri"/>
              <a:cs typeface="Calibri"/>
              <a:sym typeface="Calibri"/>
            </a:endParaRPr>
          </a:p>
        </p:txBody>
      </p:sp>
      <p:sp>
        <p:nvSpPr>
          <p:cNvPr id="1423" name="Google Shape;1423;p5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Review the live ticket and investigate.</a:t>
            </a:r>
            <a:endParaRPr b="0" i="0" spc="0" sz="1200" u="none" cap="none" strike="noStrike">
              <a:solidFill>
                <a:schemeClr val="dk1"/>
              </a:solidFill>
              <a:latin typeface="Calibri"/>
              <a:ea typeface="Calibri"/>
              <a:cs typeface="Calibri"/>
              <a:sym typeface="Calibri"/>
            </a:endParaRPr>
          </a:p>
        </p:txBody>
      </p:sp>
      <p:sp>
        <p:nvSpPr>
          <p:cNvPr id="1424" name="Google Shape;1424;p55"/>
          <p:cNvSpPr/>
          <p:nvPr/>
        </p:nvSpPr>
        <p:spPr>
          <a:xfrm>
            <a:off x="411480" y="1298448"/>
            <a:ext cx="3383280" cy="2633472"/>
          </a:xfrm>
          <a:prstGeom prst="roundRect">
            <a:avLst>
              <a:gd fmla="val 27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25" name="Google Shape;1425;p55"/>
          <p:cNvSpPr/>
          <p:nvPr/>
        </p:nvSpPr>
        <p:spPr>
          <a:xfrm>
            <a:off x="594360" y="148132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426" name="Google Shape;1426;p55"/>
          <p:cNvPicPr preferRelativeResize="0"/>
          <p:nvPr/>
        </p:nvPicPr>
        <p:blipFill rotWithShape="1">
          <a:blip r:embed="rId3">
            <a:alphaModFix/>
          </a:blip>
          <a:srcRect b="0" l="0" r="0" t="0"/>
          <a:stretch/>
        </p:blipFill>
        <p:spPr>
          <a:xfrm>
            <a:off x="686532" y="1573500"/>
            <a:ext cx="199705" cy="199705"/>
          </a:xfrm>
          <a:prstGeom prst="rect">
            <a:avLst/>
          </a:prstGeom>
          <a:noFill/>
          <a:ln>
            <a:noFill/>
          </a:ln>
        </p:spPr>
      </p:pic>
      <p:sp>
        <p:nvSpPr>
          <p:cNvPr id="1427" name="Google Shape;1427;p55"/>
          <p:cNvSpPr txBox="1"/>
          <p:nvPr/>
        </p:nvSpPr>
        <p:spPr>
          <a:xfrm>
            <a:off x="594360" y="2011680"/>
            <a:ext cx="301752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Live ticket</a:t>
            </a:r>
            <a:endParaRPr b="0" i="0" spc="0" sz="1300" u="none" cap="none" strike="noStrike">
              <a:solidFill>
                <a:schemeClr val="dk1"/>
              </a:solidFill>
              <a:latin typeface="Calibri"/>
              <a:ea typeface="Calibri"/>
              <a:cs typeface="Calibri"/>
              <a:sym typeface="Calibri"/>
            </a:endParaRPr>
          </a:p>
        </p:txBody>
      </p:sp>
      <p:sp>
        <p:nvSpPr>
          <p:cNvPr id="1428" name="Google Shape;1428;p55"/>
          <p:cNvSpPr txBox="1"/>
          <p:nvPr/>
        </p:nvSpPr>
        <p:spPr>
          <a:xfrm>
            <a:off x="594360" y="2350008"/>
            <a:ext cx="301752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050"/>
              <a:buFont typeface="Arial"/>
              <a:buNone/>
            </a:pPr>
            <a:r>
              <a:rPr b="0" i="0" lang="en-US" spc="0" sz="1050" u="none" cap="none" strike="noStrike">
                <a:solidFill>
                  <a:srgbClr val="6E6E73"/>
                </a:solidFill>
                <a:latin typeface="Arial"/>
                <a:ea typeface="Arial"/>
                <a:cs typeface="Arial"/>
                <a:sym typeface="Arial"/>
              </a:rPr>
              <a:t>Your trainer will provide a live ticket. Review it and investigate before you decide anything.</a:t>
            </a:r>
            <a:endParaRPr b="0" i="0" spc="0" sz="1050" u="none" cap="none" strike="noStrike">
              <a:solidFill>
                <a:schemeClr val="dk1"/>
              </a:solidFill>
              <a:latin typeface="Calibri"/>
              <a:ea typeface="Calibri"/>
              <a:cs typeface="Calibri"/>
              <a:sym typeface="Calibri"/>
            </a:endParaRPr>
          </a:p>
        </p:txBody>
      </p:sp>
      <p:sp>
        <p:nvSpPr>
          <p:cNvPr id="1429" name="Google Shape;1429;p55"/>
          <p:cNvSpPr/>
          <p:nvPr/>
        </p:nvSpPr>
        <p:spPr>
          <a:xfrm>
            <a:off x="594360" y="3401568"/>
            <a:ext cx="1371600" cy="329184"/>
          </a:xfrm>
          <a:prstGeom prst="roundRect">
            <a:avLst>
              <a:gd fmla="val 22222" name="adj"/>
            </a:avLst>
          </a:prstGeom>
          <a:solidFill>
            <a:srgbClr val="FFF3D6"/>
          </a:solidFill>
          <a:ln cap="flat" cmpd="sng" w="9525">
            <a:solidFill>
              <a:srgbClr val="FFF3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950"/>
              <a:buFont typeface="Arial"/>
              <a:buNone/>
            </a:pPr>
            <a:r>
              <a:rPr b="1" i="0" lang="en-US" spc="0" sz="950" u="none" cap="none" strike="noStrike">
                <a:solidFill>
                  <a:srgbClr val="9A6410"/>
                </a:solidFill>
                <a:latin typeface="Arial"/>
                <a:ea typeface="Arial"/>
                <a:cs typeface="Arial"/>
                <a:sym typeface="Arial"/>
              </a:rPr>
              <a:t>Trainer provides</a:t>
            </a:r>
            <a:endParaRPr b="0" i="0" spc="0" sz="950" u="none" cap="none" strike="noStrike">
              <a:solidFill>
                <a:schemeClr val="dk1"/>
              </a:solidFill>
              <a:latin typeface="Calibri"/>
              <a:ea typeface="Calibri"/>
              <a:cs typeface="Calibri"/>
              <a:sym typeface="Calibri"/>
            </a:endParaRPr>
          </a:p>
        </p:txBody>
      </p:sp>
      <p:sp>
        <p:nvSpPr>
          <p:cNvPr id="1430" name="Google Shape;1430;p55"/>
          <p:cNvSpPr/>
          <p:nvPr/>
        </p:nvSpPr>
        <p:spPr>
          <a:xfrm>
            <a:off x="3931920" y="1298448"/>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31" name="Google Shape;1431;p55"/>
          <p:cNvSpPr/>
          <p:nvPr/>
        </p:nvSpPr>
        <p:spPr>
          <a:xfrm>
            <a:off x="4114800"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32" name="Google Shape;1432;p55"/>
          <p:cNvSpPr txBox="1"/>
          <p:nvPr/>
        </p:nvSpPr>
        <p:spPr>
          <a:xfrm>
            <a:off x="4114800"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1433" name="Google Shape;1433;p55"/>
          <p:cNvSpPr txBox="1"/>
          <p:nvPr/>
        </p:nvSpPr>
        <p:spPr>
          <a:xfrm>
            <a:off x="4572000" y="1426464"/>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Is the customer retainable? Why?</a:t>
            </a:r>
            <a:endParaRPr b="0" i="0" spc="0" sz="1250" u="none" cap="none" strike="noStrike">
              <a:solidFill>
                <a:schemeClr val="dk1"/>
              </a:solidFill>
              <a:latin typeface="Calibri"/>
              <a:ea typeface="Calibri"/>
              <a:cs typeface="Calibri"/>
              <a:sym typeface="Calibri"/>
            </a:endParaRPr>
          </a:p>
        </p:txBody>
      </p:sp>
      <p:sp>
        <p:nvSpPr>
          <p:cNvPr id="1434" name="Google Shape;1434;p55"/>
          <p:cNvSpPr txBox="1"/>
          <p:nvPr/>
        </p:nvSpPr>
        <p:spPr>
          <a:xfrm>
            <a:off x="4572000" y="1737360"/>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Weigh the five key factors. Any hard override?</a:t>
            </a:r>
            <a:endParaRPr b="0" i="0" spc="0" sz="1000" u="none" cap="none" strike="noStrike">
              <a:solidFill>
                <a:schemeClr val="dk1"/>
              </a:solidFill>
              <a:latin typeface="Calibri"/>
              <a:ea typeface="Calibri"/>
              <a:cs typeface="Calibri"/>
              <a:sym typeface="Calibri"/>
            </a:endParaRPr>
          </a:p>
        </p:txBody>
      </p:sp>
      <p:sp>
        <p:nvSpPr>
          <p:cNvPr id="1435" name="Google Shape;1435;p55"/>
          <p:cNvSpPr/>
          <p:nvPr/>
        </p:nvSpPr>
        <p:spPr>
          <a:xfrm>
            <a:off x="3931920" y="2221992"/>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36" name="Google Shape;1436;p55"/>
          <p:cNvSpPr/>
          <p:nvPr/>
        </p:nvSpPr>
        <p:spPr>
          <a:xfrm>
            <a:off x="4114800" y="247802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37" name="Google Shape;1437;p55"/>
          <p:cNvSpPr txBox="1"/>
          <p:nvPr/>
        </p:nvSpPr>
        <p:spPr>
          <a:xfrm>
            <a:off x="4114800" y="247802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1438" name="Google Shape;1438;p55"/>
          <p:cNvSpPr txBox="1"/>
          <p:nvPr/>
        </p:nvSpPr>
        <p:spPr>
          <a:xfrm>
            <a:off x="4572000" y="2350008"/>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What actions are you going to take?</a:t>
            </a:r>
            <a:endParaRPr b="0" i="0" spc="0" sz="1250" u="none" cap="none" strike="noStrike">
              <a:solidFill>
                <a:schemeClr val="dk1"/>
              </a:solidFill>
              <a:latin typeface="Calibri"/>
              <a:ea typeface="Calibri"/>
              <a:cs typeface="Calibri"/>
              <a:sym typeface="Calibri"/>
            </a:endParaRPr>
          </a:p>
        </p:txBody>
      </p:sp>
      <p:sp>
        <p:nvSpPr>
          <p:cNvPr id="1439" name="Google Shape;1439;p55"/>
          <p:cNvSpPr txBox="1"/>
          <p:nvPr/>
        </p:nvSpPr>
        <p:spPr>
          <a:xfrm>
            <a:off x="4572000" y="2660904"/>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Root cause, the matching offer, how you'll present it.</a:t>
            </a:r>
            <a:endParaRPr b="0" i="0" spc="0" sz="1000" u="none" cap="none" strike="noStrike">
              <a:solidFill>
                <a:schemeClr val="dk1"/>
              </a:solidFill>
              <a:latin typeface="Calibri"/>
              <a:ea typeface="Calibri"/>
              <a:cs typeface="Calibri"/>
              <a:sym typeface="Calibri"/>
            </a:endParaRPr>
          </a:p>
        </p:txBody>
      </p:sp>
      <p:sp>
        <p:nvSpPr>
          <p:cNvPr id="1440" name="Google Shape;1440;p55"/>
          <p:cNvSpPr/>
          <p:nvPr/>
        </p:nvSpPr>
        <p:spPr>
          <a:xfrm>
            <a:off x="3931920" y="3145536"/>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41" name="Google Shape;1441;p55"/>
          <p:cNvSpPr/>
          <p:nvPr/>
        </p:nvSpPr>
        <p:spPr>
          <a:xfrm>
            <a:off x="4114800" y="340156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42" name="Google Shape;1442;p55"/>
          <p:cNvSpPr txBox="1"/>
          <p:nvPr/>
        </p:nvSpPr>
        <p:spPr>
          <a:xfrm>
            <a:off x="4114800" y="340156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1443" name="Google Shape;1443;p55"/>
          <p:cNvSpPr txBox="1"/>
          <p:nvPr/>
        </p:nvSpPr>
        <p:spPr>
          <a:xfrm>
            <a:off x="4572000" y="3273552"/>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5-min writing challenge</a:t>
            </a:r>
            <a:endParaRPr b="0" i="0" spc="0" sz="1250" u="none" cap="none" strike="noStrike">
              <a:solidFill>
                <a:schemeClr val="dk1"/>
              </a:solidFill>
              <a:latin typeface="Calibri"/>
              <a:ea typeface="Calibri"/>
              <a:cs typeface="Calibri"/>
              <a:sym typeface="Calibri"/>
            </a:endParaRPr>
          </a:p>
        </p:txBody>
      </p:sp>
      <p:sp>
        <p:nvSpPr>
          <p:cNvPr id="1444" name="Google Shape;1444;p55"/>
          <p:cNvSpPr txBox="1"/>
          <p:nvPr/>
        </p:nvSpPr>
        <p:spPr>
          <a:xfrm>
            <a:off x="4572000" y="3584448"/>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Create your comms for the customer.</a:t>
            </a:r>
            <a:endParaRPr b="0" i="0" spc="0" sz="1000" u="none" cap="none" strike="noStrike">
              <a:solidFill>
                <a:schemeClr val="dk1"/>
              </a:solidFill>
              <a:latin typeface="Calibri"/>
              <a:ea typeface="Calibri"/>
              <a:cs typeface="Calibri"/>
              <a:sym typeface="Calibri"/>
            </a:endParaRPr>
          </a:p>
        </p:txBody>
      </p:sp>
      <p:sp>
        <p:nvSpPr>
          <p:cNvPr id="1445" name="Google Shape;1445;p55"/>
          <p:cNvSpPr/>
          <p:nvPr/>
        </p:nvSpPr>
        <p:spPr>
          <a:xfrm>
            <a:off x="411480" y="4069080"/>
            <a:ext cx="8321040" cy="502920"/>
          </a:xfrm>
          <a:prstGeom prst="roundRect">
            <a:avLst>
              <a:gd fmla="val 14545"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446" name="Google Shape;1446;p55"/>
          <p:cNvPicPr preferRelativeResize="0"/>
          <p:nvPr/>
        </p:nvPicPr>
        <p:blipFill rotWithShape="1">
          <a:blip r:embed="rId4">
            <a:alphaModFix/>
          </a:blip>
          <a:srcRect b="0" l="0" r="0" t="0"/>
          <a:stretch/>
        </p:blipFill>
        <p:spPr>
          <a:xfrm>
            <a:off x="640080" y="4192524"/>
            <a:ext cx="256032" cy="256032"/>
          </a:xfrm>
          <a:prstGeom prst="rect">
            <a:avLst/>
          </a:prstGeom>
          <a:noFill/>
          <a:ln>
            <a:noFill/>
          </a:ln>
        </p:spPr>
      </p:pic>
      <p:sp>
        <p:nvSpPr>
          <p:cNvPr id="1447" name="Google Shape;1447;p55"/>
          <p:cNvSpPr txBox="1"/>
          <p:nvPr/>
        </p:nvSpPr>
        <p:spPr>
          <a:xfrm>
            <a:off x="1051560" y="4069080"/>
            <a:ext cx="74980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Play"/>
              <a:buNone/>
            </a:pPr>
            <a:r>
              <a:rPr b="1" i="0" lang="en-US" spc="0" sz="1400" u="none" cap="none" strike="noStrike">
                <a:solidFill>
                  <a:srgbClr val="FFFFFF"/>
                </a:solidFill>
                <a:latin typeface="Play"/>
                <a:ea typeface="Play"/>
                <a:cs typeface="Play"/>
                <a:sym typeface="Play"/>
              </a:rPr>
              <a:t>Questions?  </a:t>
            </a:r>
            <a:r>
              <a:rPr b="0" i="0" lang="en-US" spc="0" sz="1100" u="none" cap="none" strike="noStrike">
                <a:solidFill>
                  <a:srgbClr val="FFFFFF"/>
                </a:solidFill>
                <a:latin typeface="Arial"/>
                <a:ea typeface="Arial"/>
                <a:cs typeface="Arial"/>
                <a:sym typeface="Arial"/>
              </a:rPr>
              <a:t>Open the floor before we move to the next topic.</a:t>
            </a:r>
            <a:endParaRPr b="0" i="0" spc="0" sz="1400" u="none" cap="none" strike="noStrike">
              <a:solidFill>
                <a:schemeClr val="dk1"/>
              </a:solidFill>
              <a:latin typeface="Calibri"/>
              <a:ea typeface="Calibri"/>
              <a:cs typeface="Calibri"/>
              <a:sym typeface="Calibri"/>
            </a:endParaRPr>
          </a:p>
        </p:txBody>
      </p:sp>
      <p:sp>
        <p:nvSpPr>
          <p:cNvPr id="1448" name="Google Shape;1448;p5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sp>
        <p:nvSpPr>
          <p:cNvPr id="1454" name="Google Shape;1454;p56"/>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TOPIC 05 OF 07</a:t>
            </a:r>
            <a:endParaRPr b="0" i="0" spc="0" sz="800" u="none" cap="none" strike="noStrike">
              <a:solidFill>
                <a:schemeClr val="dk1"/>
              </a:solidFill>
              <a:latin typeface="Calibri"/>
              <a:ea typeface="Calibri"/>
              <a:cs typeface="Calibri"/>
              <a:sym typeface="Calibri"/>
            </a:endParaRPr>
          </a:p>
        </p:txBody>
      </p:sp>
      <p:sp>
        <p:nvSpPr>
          <p:cNvPr id="1455" name="Google Shape;1455;p56"/>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US" spc="0" sz="2800" u="none" cap="none" strike="noStrike">
                <a:solidFill>
                  <a:srgbClr val="1D1D1F"/>
                </a:solidFill>
                <a:latin typeface="Play"/>
                <a:ea typeface="Play"/>
                <a:cs typeface="Play"/>
                <a:sym typeface="Play"/>
              </a:rPr>
              <a:t>Unused DHJ Voucher</a:t>
            </a:r>
            <a:endParaRPr b="0" i="0" spc="0" sz="2800" u="none" cap="none" strike="noStrike">
              <a:solidFill>
                <a:schemeClr val="dk1"/>
              </a:solidFill>
              <a:latin typeface="Calibri"/>
              <a:ea typeface="Calibri"/>
              <a:cs typeface="Calibri"/>
              <a:sym typeface="Calibri"/>
            </a:endParaRPr>
          </a:p>
        </p:txBody>
      </p:sp>
      <p:sp>
        <p:nvSpPr>
          <p:cNvPr id="1456" name="Google Shape;1456;p56"/>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US" spc="0" sz="1150" u="none" cap="none" strike="noStrike">
                <a:solidFill>
                  <a:srgbClr val="6E6E73"/>
                </a:solidFill>
                <a:latin typeface="Arial"/>
                <a:ea typeface="Arial"/>
                <a:cs typeface="Arial"/>
                <a:sym typeface="Arial"/>
              </a:rPr>
              <a:t>They bought a DHJ voucher, but haven't used it. FC hasn't started yet.</a:t>
            </a:r>
            <a:endParaRPr b="0" i="0" spc="0" sz="1150" u="none" cap="none" strike="noStrike">
              <a:solidFill>
                <a:schemeClr val="dk1"/>
              </a:solidFill>
              <a:latin typeface="Calibri"/>
              <a:ea typeface="Calibri"/>
              <a:cs typeface="Calibri"/>
              <a:sym typeface="Calibri"/>
            </a:endParaRPr>
          </a:p>
        </p:txBody>
      </p:sp>
      <p:sp>
        <p:nvSpPr>
          <p:cNvPr id="1457" name="Google Shape;1457;p56"/>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YOU'LL LEARN</a:t>
            </a:r>
            <a:endParaRPr b="0" i="0" spc="0" sz="800" u="none" cap="none" strike="noStrike">
              <a:solidFill>
                <a:schemeClr val="dk1"/>
              </a:solidFill>
              <a:latin typeface="Calibri"/>
              <a:ea typeface="Calibri"/>
              <a:cs typeface="Calibri"/>
              <a:sym typeface="Calibri"/>
            </a:endParaRPr>
          </a:p>
        </p:txBody>
      </p:sp>
      <p:sp>
        <p:nvSpPr>
          <p:cNvPr id="1458" name="Google Shape;1458;p56"/>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459" name="Google Shape;1459;p56"/>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1460" name="Google Shape;1460;p56"/>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Reading the account at this stage</a:t>
            </a:r>
            <a:endParaRPr b="0" i="0" spc="0" sz="1050" u="none" cap="none" strike="noStrike">
              <a:solidFill>
                <a:schemeClr val="dk1"/>
              </a:solidFill>
              <a:latin typeface="Calibri"/>
              <a:ea typeface="Calibri"/>
              <a:cs typeface="Calibri"/>
              <a:sym typeface="Calibri"/>
            </a:endParaRPr>
          </a:p>
        </p:txBody>
      </p:sp>
      <p:sp>
        <p:nvSpPr>
          <p:cNvPr id="1461" name="Google Shape;1461;p56"/>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462" name="Google Shape;1462;p56"/>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1463" name="Google Shape;1463;p56"/>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Sorting the request into 4 cases</a:t>
            </a:r>
            <a:endParaRPr b="0" i="0" spc="0" sz="1050" u="none" cap="none" strike="noStrike">
              <a:solidFill>
                <a:schemeClr val="dk1"/>
              </a:solidFill>
              <a:latin typeface="Calibri"/>
              <a:ea typeface="Calibri"/>
              <a:cs typeface="Calibri"/>
              <a:sym typeface="Calibri"/>
            </a:endParaRPr>
          </a:p>
        </p:txBody>
      </p:sp>
      <p:sp>
        <p:nvSpPr>
          <p:cNvPr id="1464" name="Google Shape;1464;p56"/>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465" name="Google Shape;1465;p56"/>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1466" name="Google Shape;1466;p56"/>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Retention offers for this customer</a:t>
            </a:r>
            <a:endParaRPr b="0" i="0" spc="0" sz="1050" u="none" cap="none" strike="noStrike">
              <a:solidFill>
                <a:schemeClr val="dk1"/>
              </a:solidFill>
              <a:latin typeface="Calibri"/>
              <a:ea typeface="Calibri"/>
              <a:cs typeface="Calibri"/>
              <a:sym typeface="Calibri"/>
            </a:endParaRPr>
          </a:p>
        </p:txBody>
      </p:sp>
      <p:sp>
        <p:nvSpPr>
          <p:cNvPr id="1467" name="Google Shape;1467;p56"/>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468" name="Google Shape;1468;p56"/>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1469" name="Google Shape;1469;p56"/>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Refunds and closing the account</a:t>
            </a:r>
            <a:endParaRPr b="0" i="0" spc="0" sz="1050" u="none" cap="none" strike="noStrike">
              <a:solidFill>
                <a:schemeClr val="dk1"/>
              </a:solidFill>
              <a:latin typeface="Calibri"/>
              <a:ea typeface="Calibri"/>
              <a:cs typeface="Calibri"/>
              <a:sym typeface="Calibri"/>
            </a:endParaRPr>
          </a:p>
        </p:txBody>
      </p:sp>
      <p:sp>
        <p:nvSpPr>
          <p:cNvPr id="1470" name="Google Shape;1470;p56"/>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71" name="Google Shape;1471;p56"/>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7/ill_pay.png" id="1472" name="Google Shape;1472;p56"/>
          <p:cNvPicPr preferRelativeResize="0"/>
          <p:nvPr/>
        </p:nvPicPr>
        <p:blipFill rotWithShape="1">
          <a:blip r:embed="rId4">
            <a:alphaModFix/>
          </a:blip>
          <a:srcRect b="0" l="0" r="0" t="0"/>
          <a:stretch/>
        </p:blipFill>
        <p:spPr>
          <a:xfrm>
            <a:off x="5541264" y="1540190"/>
            <a:ext cx="2926080" cy="2058549"/>
          </a:xfrm>
          <a:prstGeom prst="rect">
            <a:avLst/>
          </a:prstGeom>
          <a:noFill/>
          <a:ln>
            <a:noFill/>
          </a:ln>
        </p:spPr>
      </p:pic>
      <p:sp>
        <p:nvSpPr>
          <p:cNvPr id="1473" name="Google Shape;1473;p56"/>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74" name="Google Shape;1474;p56"/>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75" name="Google Shape;1475;p56"/>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76" name="Google Shape;1476;p56"/>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77" name="Google Shape;1477;p56"/>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78" name="Google Shape;1478;p56"/>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79" name="Google Shape;1479;p5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4" name="Shape 1484"/>
        <p:cNvGrpSpPr/>
        <p:nvPr/>
      </p:nvGrpSpPr>
      <p:grpSpPr>
        <a:xfrm>
          <a:off x="0" y="0"/>
          <a:ext cx="0" cy="0"/>
          <a:chOff x="0" y="0"/>
          <a:chExt cx="0" cy="0"/>
        </a:xfrm>
      </p:grpSpPr>
      <p:sp>
        <p:nvSpPr>
          <p:cNvPr id="1485" name="Google Shape;1485;p5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UNUSED DHJ VOUCHER</a:t>
            </a:r>
            <a:endParaRPr b="0" i="0" spc="0" sz="800" u="none" cap="none" strike="noStrike">
              <a:solidFill>
                <a:schemeClr val="dk1"/>
              </a:solidFill>
              <a:latin typeface="Calibri"/>
              <a:ea typeface="Calibri"/>
              <a:cs typeface="Calibri"/>
              <a:sym typeface="Calibri"/>
            </a:endParaRPr>
          </a:p>
        </p:txBody>
      </p:sp>
      <p:sp>
        <p:nvSpPr>
          <p:cNvPr id="1486" name="Google Shape;1486;p5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What is this?</a:t>
            </a:r>
            <a:endParaRPr b="0" i="0" spc="0" sz="2400" u="none" cap="none" strike="noStrike">
              <a:solidFill>
                <a:schemeClr val="dk1"/>
              </a:solidFill>
              <a:latin typeface="Calibri"/>
              <a:ea typeface="Calibri"/>
              <a:cs typeface="Calibri"/>
              <a:sym typeface="Calibri"/>
            </a:endParaRPr>
          </a:p>
        </p:txBody>
      </p:sp>
      <p:sp>
        <p:nvSpPr>
          <p:cNvPr id="1487" name="Google Shape;1487;p57"/>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Bought, not used. The membership starts only after a completed job.</a:t>
            </a:r>
            <a:endParaRPr b="0" i="0" spc="0" sz="1200" u="none" cap="none" strike="noStrike">
              <a:solidFill>
                <a:schemeClr val="dk1"/>
              </a:solidFill>
              <a:latin typeface="Calibri"/>
              <a:ea typeface="Calibri"/>
              <a:cs typeface="Calibri"/>
              <a:sym typeface="Calibri"/>
            </a:endParaRPr>
          </a:p>
        </p:txBody>
      </p:sp>
      <p:sp>
        <p:nvSpPr>
          <p:cNvPr id="1488" name="Google Shape;1488;p57"/>
          <p:cNvSpPr/>
          <p:nvPr/>
        </p:nvSpPr>
        <p:spPr>
          <a:xfrm>
            <a:off x="411480" y="1371600"/>
            <a:ext cx="1920240" cy="502920"/>
          </a:xfrm>
          <a:prstGeom prst="roundRect">
            <a:avLst>
              <a:gd fmla="val 14545" name="adj"/>
            </a:avLst>
          </a:prstGeom>
          <a:solidFill>
            <a:srgbClr val="FFFFFF"/>
          </a:solidFill>
          <a:ln cap="flat" cmpd="sng" w="12700">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89" name="Google Shape;1489;p57"/>
          <p:cNvSpPr txBox="1"/>
          <p:nvPr/>
        </p:nvSpPr>
        <p:spPr>
          <a:xfrm>
            <a:off x="411480" y="1371600"/>
            <a:ext cx="19202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Buys the voucher</a:t>
            </a:r>
            <a:endParaRPr b="0" i="0" spc="0" sz="1000" u="none" cap="none" strike="noStrike">
              <a:solidFill>
                <a:schemeClr val="dk1"/>
              </a:solidFill>
              <a:latin typeface="Calibri"/>
              <a:ea typeface="Calibri"/>
              <a:cs typeface="Calibri"/>
              <a:sym typeface="Calibri"/>
            </a:endParaRPr>
          </a:p>
        </p:txBody>
      </p:sp>
      <p:cxnSp>
        <p:nvCxnSpPr>
          <p:cNvPr id="1490" name="Google Shape;1490;p57"/>
          <p:cNvCxnSpPr/>
          <p:nvPr/>
        </p:nvCxnSpPr>
        <p:spPr>
          <a:xfrm>
            <a:off x="2331720" y="1623060"/>
            <a:ext cx="213055" cy="0"/>
          </a:xfrm>
          <a:prstGeom prst="straightConnector1">
            <a:avLst/>
          </a:prstGeom>
          <a:noFill/>
          <a:ln cap="flat" cmpd="sng" w="12700">
            <a:solidFill>
              <a:srgbClr val="6E6E73"/>
            </a:solidFill>
            <a:prstDash val="solid"/>
            <a:round/>
            <a:headEnd len="sm" w="sm" type="none"/>
            <a:tailEnd len="med" w="med" type="triangle"/>
          </a:ln>
        </p:spPr>
      </p:cxnSp>
      <p:sp>
        <p:nvSpPr>
          <p:cNvPr id="1491" name="Google Shape;1491;p57"/>
          <p:cNvSpPr txBox="1"/>
          <p:nvPr/>
        </p:nvSpPr>
        <p:spPr>
          <a:xfrm>
            <a:off x="411480" y="1938528"/>
            <a:ext cx="1920240" cy="411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Voucher shows. No FC table</a:t>
            </a:r>
            <a:endParaRPr b="0" i="0" spc="0" sz="900" u="none" cap="none" strike="noStrike">
              <a:solidFill>
                <a:schemeClr val="dk1"/>
              </a:solidFill>
              <a:latin typeface="Calibri"/>
              <a:ea typeface="Calibri"/>
              <a:cs typeface="Calibri"/>
              <a:sym typeface="Calibri"/>
            </a:endParaRPr>
          </a:p>
        </p:txBody>
      </p:sp>
      <p:sp>
        <p:nvSpPr>
          <p:cNvPr id="1492" name="Google Shape;1492;p57"/>
          <p:cNvSpPr/>
          <p:nvPr/>
        </p:nvSpPr>
        <p:spPr>
          <a:xfrm>
            <a:off x="2544775" y="1371600"/>
            <a:ext cx="1920240" cy="502920"/>
          </a:xfrm>
          <a:prstGeom prst="roundRect">
            <a:avLst>
              <a:gd fmla="val 14545" name="adj"/>
            </a:avLst>
          </a:prstGeom>
          <a:solidFill>
            <a:srgbClr val="FFF3D6"/>
          </a:solidFill>
          <a:ln cap="flat" cmpd="sng" w="12700">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93" name="Google Shape;1493;p57"/>
          <p:cNvSpPr txBox="1"/>
          <p:nvPr/>
        </p:nvSpPr>
        <p:spPr>
          <a:xfrm>
            <a:off x="2544775" y="1371600"/>
            <a:ext cx="19202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1000"/>
              <a:buFont typeface="Play"/>
              <a:buNone/>
            </a:pPr>
            <a:r>
              <a:rPr b="1" i="0" lang="en-US" spc="0" sz="1000" u="none" cap="none" strike="noStrike">
                <a:solidFill>
                  <a:srgbClr val="9A6410"/>
                </a:solidFill>
                <a:latin typeface="Play"/>
                <a:ea typeface="Play"/>
                <a:cs typeface="Play"/>
                <a:sym typeface="Play"/>
              </a:rPr>
              <a:t>Books a cleaning</a:t>
            </a:r>
            <a:endParaRPr b="0" i="0" spc="0" sz="1000" u="none" cap="none" strike="noStrike">
              <a:solidFill>
                <a:schemeClr val="dk1"/>
              </a:solidFill>
              <a:latin typeface="Calibri"/>
              <a:ea typeface="Calibri"/>
              <a:cs typeface="Calibri"/>
              <a:sym typeface="Calibri"/>
            </a:endParaRPr>
          </a:p>
        </p:txBody>
      </p:sp>
      <p:cxnSp>
        <p:nvCxnSpPr>
          <p:cNvPr id="1494" name="Google Shape;1494;p57"/>
          <p:cNvCxnSpPr/>
          <p:nvPr/>
        </p:nvCxnSpPr>
        <p:spPr>
          <a:xfrm>
            <a:off x="4465015" y="1623060"/>
            <a:ext cx="213055" cy="0"/>
          </a:xfrm>
          <a:prstGeom prst="straightConnector1">
            <a:avLst/>
          </a:prstGeom>
          <a:noFill/>
          <a:ln cap="flat" cmpd="sng" w="12700">
            <a:solidFill>
              <a:srgbClr val="6E6E73"/>
            </a:solidFill>
            <a:prstDash val="solid"/>
            <a:round/>
            <a:headEnd len="sm" w="sm" type="none"/>
            <a:tailEnd len="med" w="med" type="triangle"/>
          </a:ln>
        </p:spPr>
      </p:cxnSp>
      <p:sp>
        <p:nvSpPr>
          <p:cNvPr id="1495" name="Google Shape;1495;p57"/>
          <p:cNvSpPr txBox="1"/>
          <p:nvPr/>
        </p:nvSpPr>
        <p:spPr>
          <a:xfrm>
            <a:off x="2544775" y="1938528"/>
            <a:ext cx="1920240" cy="411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FC table appears: "active, 0 paid months"</a:t>
            </a:r>
            <a:endParaRPr b="0" i="0" spc="0" sz="900" u="none" cap="none" strike="noStrike">
              <a:solidFill>
                <a:schemeClr val="dk1"/>
              </a:solidFill>
              <a:latin typeface="Calibri"/>
              <a:ea typeface="Calibri"/>
              <a:cs typeface="Calibri"/>
              <a:sym typeface="Calibri"/>
            </a:endParaRPr>
          </a:p>
        </p:txBody>
      </p:sp>
      <p:sp>
        <p:nvSpPr>
          <p:cNvPr id="1496" name="Google Shape;1496;p57"/>
          <p:cNvSpPr/>
          <p:nvPr/>
        </p:nvSpPr>
        <p:spPr>
          <a:xfrm>
            <a:off x="4678070" y="1371600"/>
            <a:ext cx="1920240" cy="502920"/>
          </a:xfrm>
          <a:prstGeom prst="roundRect">
            <a:avLst>
              <a:gd fmla="val 14545" name="adj"/>
            </a:avLst>
          </a:prstGeom>
          <a:solidFill>
            <a:srgbClr val="FFFFFF"/>
          </a:solidFill>
          <a:ln cap="flat" cmpd="sng" w="12700">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97" name="Google Shape;1497;p57"/>
          <p:cNvSpPr txBox="1"/>
          <p:nvPr/>
        </p:nvSpPr>
        <p:spPr>
          <a:xfrm>
            <a:off x="4678070" y="1371600"/>
            <a:ext cx="19202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Cleaning completed</a:t>
            </a:r>
            <a:endParaRPr b="0" i="0" spc="0" sz="1000" u="none" cap="none" strike="noStrike">
              <a:solidFill>
                <a:schemeClr val="dk1"/>
              </a:solidFill>
              <a:latin typeface="Calibri"/>
              <a:ea typeface="Calibri"/>
              <a:cs typeface="Calibri"/>
              <a:sym typeface="Calibri"/>
            </a:endParaRPr>
          </a:p>
        </p:txBody>
      </p:sp>
      <p:cxnSp>
        <p:nvCxnSpPr>
          <p:cNvPr id="1498" name="Google Shape;1498;p57"/>
          <p:cNvCxnSpPr/>
          <p:nvPr/>
        </p:nvCxnSpPr>
        <p:spPr>
          <a:xfrm>
            <a:off x="6598310" y="1623060"/>
            <a:ext cx="213055" cy="0"/>
          </a:xfrm>
          <a:prstGeom prst="straightConnector1">
            <a:avLst/>
          </a:prstGeom>
          <a:noFill/>
          <a:ln cap="flat" cmpd="sng" w="12700">
            <a:solidFill>
              <a:srgbClr val="6E6E73"/>
            </a:solidFill>
            <a:prstDash val="solid"/>
            <a:round/>
            <a:headEnd len="sm" w="sm" type="none"/>
            <a:tailEnd len="med" w="med" type="triangle"/>
          </a:ln>
        </p:spPr>
      </p:cxnSp>
      <p:sp>
        <p:nvSpPr>
          <p:cNvPr id="1499" name="Google Shape;1499;p57"/>
          <p:cNvSpPr txBox="1"/>
          <p:nvPr/>
        </p:nvSpPr>
        <p:spPr>
          <a:xfrm>
            <a:off x="4678070" y="1938528"/>
            <a:ext cx="1920240" cy="411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Voucher applied to the job</a:t>
            </a:r>
            <a:endParaRPr b="0" i="0" spc="0" sz="900" u="none" cap="none" strike="noStrike">
              <a:solidFill>
                <a:schemeClr val="dk1"/>
              </a:solidFill>
              <a:latin typeface="Calibri"/>
              <a:ea typeface="Calibri"/>
              <a:cs typeface="Calibri"/>
              <a:sym typeface="Calibri"/>
            </a:endParaRPr>
          </a:p>
        </p:txBody>
      </p:sp>
      <p:sp>
        <p:nvSpPr>
          <p:cNvPr id="1500" name="Google Shape;1500;p57"/>
          <p:cNvSpPr/>
          <p:nvPr/>
        </p:nvSpPr>
        <p:spPr>
          <a:xfrm>
            <a:off x="6811366" y="1371600"/>
            <a:ext cx="1920240" cy="502920"/>
          </a:xfrm>
          <a:prstGeom prst="roundRect">
            <a:avLst>
              <a:gd fmla="val 14545" name="adj"/>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01" name="Google Shape;1501;p57"/>
          <p:cNvSpPr txBox="1"/>
          <p:nvPr/>
        </p:nvSpPr>
        <p:spPr>
          <a:xfrm>
            <a:off x="6811366" y="1371600"/>
            <a:ext cx="1920240" cy="5029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Play"/>
              <a:buNone/>
            </a:pPr>
            <a:r>
              <a:rPr b="1" i="0" lang="en-US" spc="0" sz="1000" u="none" cap="none" strike="noStrike">
                <a:solidFill>
                  <a:srgbClr val="FFFFFF"/>
                </a:solidFill>
                <a:latin typeface="Play"/>
                <a:ea typeface="Play"/>
                <a:cs typeface="Play"/>
                <a:sym typeface="Play"/>
              </a:rPr>
              <a:t>Membership starts</a:t>
            </a:r>
            <a:endParaRPr b="0" i="0" spc="0" sz="1000" u="none" cap="none" strike="noStrike">
              <a:solidFill>
                <a:schemeClr val="dk1"/>
              </a:solidFill>
              <a:latin typeface="Calibri"/>
              <a:ea typeface="Calibri"/>
              <a:cs typeface="Calibri"/>
              <a:sym typeface="Calibri"/>
            </a:endParaRPr>
          </a:p>
        </p:txBody>
      </p:sp>
      <p:sp>
        <p:nvSpPr>
          <p:cNvPr id="1502" name="Google Shape;1502;p57"/>
          <p:cNvSpPr txBox="1"/>
          <p:nvPr/>
        </p:nvSpPr>
        <p:spPr>
          <a:xfrm>
            <a:off x="6811366" y="1938528"/>
            <a:ext cx="1920240" cy="4114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900"/>
              <a:buFont typeface="Arial"/>
              <a:buNone/>
            </a:pPr>
            <a:r>
              <a:rPr b="0" i="0" lang="en-US" spc="0" sz="900" u="none" cap="none" strike="noStrike">
                <a:solidFill>
                  <a:srgbClr val="6E6E73"/>
                </a:solidFill>
                <a:latin typeface="Arial"/>
                <a:ea typeface="Arial"/>
                <a:cs typeface="Arial"/>
                <a:sym typeface="Arial"/>
              </a:rPr>
              <a:t>Now FC has really begun</a:t>
            </a:r>
            <a:endParaRPr b="0" i="0" spc="0" sz="900" u="none" cap="none" strike="noStrike">
              <a:solidFill>
                <a:schemeClr val="dk1"/>
              </a:solidFill>
              <a:latin typeface="Calibri"/>
              <a:ea typeface="Calibri"/>
              <a:cs typeface="Calibri"/>
              <a:sym typeface="Calibri"/>
            </a:endParaRPr>
          </a:p>
        </p:txBody>
      </p:sp>
      <p:sp>
        <p:nvSpPr>
          <p:cNvPr id="1503" name="Google Shape;1503;p57"/>
          <p:cNvSpPr/>
          <p:nvPr/>
        </p:nvSpPr>
        <p:spPr>
          <a:xfrm>
            <a:off x="411480" y="2606040"/>
            <a:ext cx="8321040" cy="457200"/>
          </a:xfrm>
          <a:prstGeom prst="roundRect">
            <a:avLst>
              <a:gd fmla="val 16000"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504" name="Google Shape;1504;p57"/>
          <p:cNvPicPr preferRelativeResize="0"/>
          <p:nvPr/>
        </p:nvPicPr>
        <p:blipFill rotWithShape="1">
          <a:blip r:embed="rId3">
            <a:alphaModFix/>
          </a:blip>
          <a:srcRect b="0" l="0" r="0" t="0"/>
          <a:stretch/>
        </p:blipFill>
        <p:spPr>
          <a:xfrm>
            <a:off x="566928" y="2752344"/>
            <a:ext cx="164592" cy="164592"/>
          </a:xfrm>
          <a:prstGeom prst="rect">
            <a:avLst/>
          </a:prstGeom>
          <a:noFill/>
          <a:ln>
            <a:noFill/>
          </a:ln>
        </p:spPr>
      </p:pic>
      <p:sp>
        <p:nvSpPr>
          <p:cNvPr id="1505" name="Google Shape;1505;p57"/>
          <p:cNvSpPr txBox="1"/>
          <p:nvPr/>
        </p:nvSpPr>
        <p:spPr>
          <a:xfrm>
            <a:off x="822960" y="2606040"/>
            <a:ext cx="77724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3261E"/>
              </a:buClr>
              <a:buSzPts val="1000"/>
              <a:buFont typeface="Arial"/>
              <a:buNone/>
            </a:pPr>
            <a:r>
              <a:rPr b="1" i="0" lang="en-US" spc="0" sz="1000" u="none" cap="none" strike="noStrike">
                <a:solidFill>
                  <a:srgbClr val="B3261E"/>
                </a:solidFill>
                <a:latin typeface="Arial"/>
                <a:ea typeface="Arial"/>
                <a:cs typeface="Arial"/>
                <a:sym typeface="Arial"/>
              </a:rPr>
              <a:t>"FC table &gt; Active, 0 paid months"  </a:t>
            </a:r>
            <a:r>
              <a:rPr b="0" i="0" lang="en-US" spc="0" sz="1000" u="none" cap="none" strike="noStrike">
                <a:solidFill>
                  <a:srgbClr val="1D1D1F"/>
                </a:solidFill>
                <a:latin typeface="Arial"/>
                <a:ea typeface="Arial"/>
                <a:cs typeface="Arial"/>
                <a:sym typeface="Arial"/>
              </a:rPr>
              <a:t>doesn't mean FC has started. Not until the voucher is used on a completed job.</a:t>
            </a:r>
            <a:endParaRPr b="0" i="0" spc="0" sz="1000" u="none" cap="none" strike="noStrike">
              <a:solidFill>
                <a:schemeClr val="dk1"/>
              </a:solidFill>
              <a:latin typeface="Calibri"/>
              <a:ea typeface="Calibri"/>
              <a:cs typeface="Calibri"/>
              <a:sym typeface="Calibri"/>
            </a:endParaRPr>
          </a:p>
        </p:txBody>
      </p:sp>
      <p:sp>
        <p:nvSpPr>
          <p:cNvPr id="1506" name="Google Shape;1506;p57"/>
          <p:cNvSpPr/>
          <p:nvPr/>
        </p:nvSpPr>
        <p:spPr>
          <a:xfrm>
            <a:off x="411480" y="324612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07" name="Google Shape;1507;p57"/>
          <p:cNvSpPr txBox="1"/>
          <p:nvPr/>
        </p:nvSpPr>
        <p:spPr>
          <a:xfrm>
            <a:off x="566925" y="3355850"/>
            <a:ext cx="8028300" cy="548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sng" cap="none" strike="noStrike">
                <a:solidFill>
                  <a:schemeClr val="hlink"/>
                </a:solidFill>
                <a:latin typeface="Arial"/>
                <a:ea typeface="Arial"/>
                <a:cs typeface="Arial"/>
                <a:sym typeface="Arial"/>
                <a:hlinkClick r:id="rId4"/>
              </a:rPr>
              <a:t>Lets see what DHJ Voucher Deal Customer looks like</a:t>
            </a:r>
            <a:r>
              <a:rPr b="0" i="0" lang="en-US" spc="0" sz="1000" u="none" cap="none" strike="noStrike">
                <a:solidFill>
                  <a:schemeClr val="hlink"/>
                </a:solidFill>
                <a:uFill>
                  <a:noFill/>
                </a:uFill>
                <a:latin typeface="Arial"/>
                <a:ea typeface="Arial"/>
                <a:cs typeface="Arial"/>
                <a:sym typeface="Arial"/>
                <a:hlinkClick r:id="rId5"/>
              </a:rPr>
              <a:t>🔗 </a:t>
            </a:r>
            <a:endParaRPr b="0" i="0" spc="0" sz="1000" u="none" cap="none" strike="noStrike">
              <a:solidFill>
                <a:srgbClr val="0B7A6F"/>
              </a:solidFill>
              <a:latin typeface="Calibri"/>
              <a:ea typeface="Calibri"/>
              <a:cs typeface="Calibri"/>
              <a:sym typeface="Calibri"/>
            </a:endParaRPr>
          </a:p>
        </p:txBody>
      </p:sp>
      <p:sp>
        <p:nvSpPr>
          <p:cNvPr id="1508" name="Google Shape;1508;p5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3" name="Shape 1513"/>
        <p:cNvGrpSpPr/>
        <p:nvPr/>
      </p:nvGrpSpPr>
      <p:grpSpPr>
        <a:xfrm>
          <a:off x="0" y="0"/>
          <a:ext cx="0" cy="0"/>
          <a:chOff x="0" y="0"/>
          <a:chExt cx="0" cy="0"/>
        </a:xfrm>
      </p:grpSpPr>
      <p:sp>
        <p:nvSpPr>
          <p:cNvPr id="1514" name="Google Shape;1514;p5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UNUSED DHJ VOUCHER</a:t>
            </a:r>
            <a:endParaRPr b="0" i="0" spc="0" sz="800" u="none" cap="none" strike="noStrike">
              <a:solidFill>
                <a:schemeClr val="dk1"/>
              </a:solidFill>
              <a:latin typeface="Calibri"/>
              <a:ea typeface="Calibri"/>
              <a:cs typeface="Calibri"/>
              <a:sym typeface="Calibri"/>
            </a:endParaRPr>
          </a:p>
        </p:txBody>
      </p:sp>
      <p:sp>
        <p:nvSpPr>
          <p:cNvPr id="1515" name="Google Shape;1515;p5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What does the customer want?</a:t>
            </a:r>
            <a:endParaRPr b="0" i="0" spc="0" sz="2400" u="none" cap="none" strike="noStrike">
              <a:solidFill>
                <a:schemeClr val="dk1"/>
              </a:solidFill>
              <a:latin typeface="Calibri"/>
              <a:ea typeface="Calibri"/>
              <a:cs typeface="Calibri"/>
              <a:sym typeface="Calibri"/>
            </a:endParaRPr>
          </a:p>
        </p:txBody>
      </p:sp>
      <p:sp>
        <p:nvSpPr>
          <p:cNvPr id="1516" name="Google Shape;1516;p5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Sort the request into one of four cases first. They lead to very different places.</a:t>
            </a:r>
            <a:endParaRPr b="0" i="0" spc="0" sz="1200" u="none" cap="none" strike="noStrike">
              <a:solidFill>
                <a:schemeClr val="dk1"/>
              </a:solidFill>
              <a:latin typeface="Calibri"/>
              <a:ea typeface="Calibri"/>
              <a:cs typeface="Calibri"/>
              <a:sym typeface="Calibri"/>
            </a:endParaRPr>
          </a:p>
        </p:txBody>
      </p:sp>
      <p:sp>
        <p:nvSpPr>
          <p:cNvPr id="1517" name="Google Shape;1517;p58"/>
          <p:cNvSpPr/>
          <p:nvPr/>
        </p:nvSpPr>
        <p:spPr>
          <a:xfrm>
            <a:off x="411480" y="1325880"/>
            <a:ext cx="4091940" cy="1188720"/>
          </a:xfrm>
          <a:prstGeom prst="roundRect">
            <a:avLst>
              <a:gd fmla="val 6154"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18" name="Google Shape;1518;p58"/>
          <p:cNvSpPr/>
          <p:nvPr/>
        </p:nvSpPr>
        <p:spPr>
          <a:xfrm>
            <a:off x="576072" y="150876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19" name="Google Shape;1519;p58"/>
          <p:cNvSpPr txBox="1"/>
          <p:nvPr/>
        </p:nvSpPr>
        <p:spPr>
          <a:xfrm>
            <a:off x="576072" y="150876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1520" name="Google Shape;1520;p58"/>
          <p:cNvSpPr/>
          <p:nvPr/>
        </p:nvSpPr>
        <p:spPr>
          <a:xfrm>
            <a:off x="3954780" y="1463040"/>
            <a:ext cx="384048" cy="384048"/>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521" name="Google Shape;1521;p58"/>
          <p:cNvPicPr preferRelativeResize="0"/>
          <p:nvPr/>
        </p:nvPicPr>
        <p:blipFill rotWithShape="1">
          <a:blip r:embed="rId3">
            <a:alphaModFix/>
          </a:blip>
          <a:srcRect b="0" l="0" r="0" t="0"/>
          <a:stretch/>
        </p:blipFill>
        <p:spPr>
          <a:xfrm>
            <a:off x="4046952" y="1555212"/>
            <a:ext cx="199705" cy="199705"/>
          </a:xfrm>
          <a:prstGeom prst="rect">
            <a:avLst/>
          </a:prstGeom>
          <a:noFill/>
          <a:ln>
            <a:noFill/>
          </a:ln>
        </p:spPr>
      </p:pic>
      <p:sp>
        <p:nvSpPr>
          <p:cNvPr id="1522" name="Google Shape;1522;p58"/>
          <p:cNvSpPr txBox="1"/>
          <p:nvPr/>
        </p:nvSpPr>
        <p:spPr>
          <a:xfrm>
            <a:off x="960120" y="1463040"/>
            <a:ext cx="29032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No refund or cancel intent</a:t>
            </a:r>
            <a:endParaRPr b="0" i="0" spc="0" sz="1250" u="none" cap="none" strike="noStrike">
              <a:solidFill>
                <a:schemeClr val="dk1"/>
              </a:solidFill>
              <a:latin typeface="Calibri"/>
              <a:ea typeface="Calibri"/>
              <a:cs typeface="Calibri"/>
              <a:sym typeface="Calibri"/>
            </a:endParaRPr>
          </a:p>
        </p:txBody>
      </p:sp>
      <p:sp>
        <p:nvSpPr>
          <p:cNvPr id="1523" name="Google Shape;1523;p58"/>
          <p:cNvSpPr txBox="1"/>
          <p:nvPr/>
        </p:nvSpPr>
        <p:spPr>
          <a:xfrm>
            <a:off x="960120" y="1892808"/>
            <a:ext cx="326898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Help with their concern. Remind them once about the membership.</a:t>
            </a:r>
            <a:endParaRPr b="0" i="0" spc="0" sz="1000" u="none" cap="none" strike="noStrike">
              <a:solidFill>
                <a:schemeClr val="dk1"/>
              </a:solidFill>
              <a:latin typeface="Calibri"/>
              <a:ea typeface="Calibri"/>
              <a:cs typeface="Calibri"/>
              <a:sym typeface="Calibri"/>
            </a:endParaRPr>
          </a:p>
        </p:txBody>
      </p:sp>
      <p:sp>
        <p:nvSpPr>
          <p:cNvPr id="1524" name="Google Shape;1524;p58"/>
          <p:cNvSpPr/>
          <p:nvPr/>
        </p:nvSpPr>
        <p:spPr>
          <a:xfrm>
            <a:off x="4640580" y="1325880"/>
            <a:ext cx="4091940" cy="1188720"/>
          </a:xfrm>
          <a:prstGeom prst="roundRect">
            <a:avLst>
              <a:gd fmla="val 6154"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25" name="Google Shape;1525;p58"/>
          <p:cNvSpPr/>
          <p:nvPr/>
        </p:nvSpPr>
        <p:spPr>
          <a:xfrm>
            <a:off x="4805172" y="150876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26" name="Google Shape;1526;p58"/>
          <p:cNvSpPr txBox="1"/>
          <p:nvPr/>
        </p:nvSpPr>
        <p:spPr>
          <a:xfrm>
            <a:off x="4805172" y="150876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1527" name="Google Shape;1527;p58"/>
          <p:cNvSpPr/>
          <p:nvPr/>
        </p:nvSpPr>
        <p:spPr>
          <a:xfrm>
            <a:off x="8183880" y="1463040"/>
            <a:ext cx="384048" cy="384048"/>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528" name="Google Shape;1528;p58"/>
          <p:cNvPicPr preferRelativeResize="0"/>
          <p:nvPr/>
        </p:nvPicPr>
        <p:blipFill rotWithShape="1">
          <a:blip r:embed="rId4">
            <a:alphaModFix/>
          </a:blip>
          <a:srcRect b="0" l="0" r="0" t="0"/>
          <a:stretch/>
        </p:blipFill>
        <p:spPr>
          <a:xfrm>
            <a:off x="8276052" y="1555212"/>
            <a:ext cx="199705" cy="199705"/>
          </a:xfrm>
          <a:prstGeom prst="rect">
            <a:avLst/>
          </a:prstGeom>
          <a:noFill/>
          <a:ln>
            <a:noFill/>
          </a:ln>
        </p:spPr>
      </p:pic>
      <p:sp>
        <p:nvSpPr>
          <p:cNvPr id="1529" name="Google Shape;1529;p58"/>
          <p:cNvSpPr txBox="1"/>
          <p:nvPr/>
        </p:nvSpPr>
        <p:spPr>
          <a:xfrm>
            <a:off x="5189220" y="1463040"/>
            <a:ext cx="29032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Wants a refund or to cancel</a:t>
            </a:r>
            <a:endParaRPr b="0" i="0" spc="0" sz="1250" u="none" cap="none" strike="noStrike">
              <a:solidFill>
                <a:schemeClr val="dk1"/>
              </a:solidFill>
              <a:latin typeface="Calibri"/>
              <a:ea typeface="Calibri"/>
              <a:cs typeface="Calibri"/>
              <a:sym typeface="Calibri"/>
            </a:endParaRPr>
          </a:p>
        </p:txBody>
      </p:sp>
      <p:sp>
        <p:nvSpPr>
          <p:cNvPr id="1530" name="Google Shape;1530;p58"/>
          <p:cNvSpPr txBox="1"/>
          <p:nvPr/>
        </p:nvSpPr>
        <p:spPr>
          <a:xfrm>
            <a:off x="5189220" y="1892808"/>
            <a:ext cx="326898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Probe, address the issue, present the right offer.</a:t>
            </a:r>
            <a:endParaRPr b="0" i="0" spc="0" sz="1000" u="none" cap="none" strike="noStrike">
              <a:solidFill>
                <a:schemeClr val="dk1"/>
              </a:solidFill>
              <a:latin typeface="Calibri"/>
              <a:ea typeface="Calibri"/>
              <a:cs typeface="Calibri"/>
              <a:sym typeface="Calibri"/>
            </a:endParaRPr>
          </a:p>
        </p:txBody>
      </p:sp>
      <p:sp>
        <p:nvSpPr>
          <p:cNvPr id="1531" name="Google Shape;1531;p58"/>
          <p:cNvSpPr/>
          <p:nvPr/>
        </p:nvSpPr>
        <p:spPr>
          <a:xfrm>
            <a:off x="411480" y="2651760"/>
            <a:ext cx="4091940" cy="1188720"/>
          </a:xfrm>
          <a:prstGeom prst="roundRect">
            <a:avLst>
              <a:gd fmla="val 6154" name="adj"/>
            </a:avLst>
          </a:prstGeom>
          <a:solidFill>
            <a:srgbClr val="FFFFFF"/>
          </a:solidFill>
          <a:ln cap="flat" cmpd="sng" w="9525">
            <a:solidFill>
              <a:srgbClr val="1D1D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32" name="Google Shape;1532;p58"/>
          <p:cNvSpPr/>
          <p:nvPr/>
        </p:nvSpPr>
        <p:spPr>
          <a:xfrm>
            <a:off x="576072" y="283464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33" name="Google Shape;1533;p58"/>
          <p:cNvSpPr txBox="1"/>
          <p:nvPr/>
        </p:nvSpPr>
        <p:spPr>
          <a:xfrm>
            <a:off x="576072" y="283464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1534" name="Google Shape;1534;p58"/>
          <p:cNvSpPr/>
          <p:nvPr/>
        </p:nvSpPr>
        <p:spPr>
          <a:xfrm>
            <a:off x="3954780" y="2788920"/>
            <a:ext cx="384048" cy="384048"/>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535" name="Google Shape;1535;p58"/>
          <p:cNvPicPr preferRelativeResize="0"/>
          <p:nvPr/>
        </p:nvPicPr>
        <p:blipFill rotWithShape="1">
          <a:blip r:embed="rId5">
            <a:alphaModFix/>
          </a:blip>
          <a:srcRect b="0" l="0" r="0" t="0"/>
          <a:stretch/>
        </p:blipFill>
        <p:spPr>
          <a:xfrm>
            <a:off x="4046952" y="2881092"/>
            <a:ext cx="199705" cy="199705"/>
          </a:xfrm>
          <a:prstGeom prst="rect">
            <a:avLst/>
          </a:prstGeom>
          <a:noFill/>
          <a:ln>
            <a:noFill/>
          </a:ln>
        </p:spPr>
      </p:pic>
      <p:sp>
        <p:nvSpPr>
          <p:cNvPr id="1536" name="Google Shape;1536;p58"/>
          <p:cNvSpPr txBox="1"/>
          <p:nvPr/>
        </p:nvSpPr>
        <p:spPr>
          <a:xfrm>
            <a:off x="960120" y="2788920"/>
            <a:ext cx="29032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Wants the account closed</a:t>
            </a:r>
            <a:endParaRPr b="0" i="0" spc="0" sz="1250" u="none" cap="none" strike="noStrike">
              <a:solidFill>
                <a:schemeClr val="dk1"/>
              </a:solidFill>
              <a:latin typeface="Calibri"/>
              <a:ea typeface="Calibri"/>
              <a:cs typeface="Calibri"/>
              <a:sym typeface="Calibri"/>
            </a:endParaRPr>
          </a:p>
        </p:txBody>
      </p:sp>
      <p:sp>
        <p:nvSpPr>
          <p:cNvPr id="1537" name="Google Shape;1537;p58"/>
          <p:cNvSpPr txBox="1"/>
          <p:nvPr/>
        </p:nvSpPr>
        <p:spPr>
          <a:xfrm>
            <a:off x="960120" y="3218688"/>
            <a:ext cx="326898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Treat it as cancellation intent. Then close it properly.</a:t>
            </a:r>
            <a:endParaRPr b="0" i="0" spc="0" sz="1000" u="none" cap="none" strike="noStrike">
              <a:solidFill>
                <a:schemeClr val="dk1"/>
              </a:solidFill>
              <a:latin typeface="Calibri"/>
              <a:ea typeface="Calibri"/>
              <a:cs typeface="Calibri"/>
              <a:sym typeface="Calibri"/>
            </a:endParaRPr>
          </a:p>
        </p:txBody>
      </p:sp>
      <p:sp>
        <p:nvSpPr>
          <p:cNvPr id="1538" name="Google Shape;1538;p58"/>
          <p:cNvSpPr/>
          <p:nvPr/>
        </p:nvSpPr>
        <p:spPr>
          <a:xfrm>
            <a:off x="4640580" y="2651760"/>
            <a:ext cx="4091940" cy="1188720"/>
          </a:xfrm>
          <a:prstGeom prst="roundRect">
            <a:avLst>
              <a:gd fmla="val 6154"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39" name="Google Shape;1539;p58"/>
          <p:cNvSpPr/>
          <p:nvPr/>
        </p:nvSpPr>
        <p:spPr>
          <a:xfrm>
            <a:off x="4805172" y="283464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40" name="Google Shape;1540;p58"/>
          <p:cNvSpPr txBox="1"/>
          <p:nvPr/>
        </p:nvSpPr>
        <p:spPr>
          <a:xfrm>
            <a:off x="4805172" y="283464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4</a:t>
            </a:r>
            <a:endParaRPr b="0" i="0" spc="0" sz="900" u="none" cap="none" strike="noStrike">
              <a:solidFill>
                <a:schemeClr val="dk1"/>
              </a:solidFill>
              <a:latin typeface="Calibri"/>
              <a:ea typeface="Calibri"/>
              <a:cs typeface="Calibri"/>
              <a:sym typeface="Calibri"/>
            </a:endParaRPr>
          </a:p>
        </p:txBody>
      </p:sp>
      <p:sp>
        <p:nvSpPr>
          <p:cNvPr id="1541" name="Google Shape;1541;p58"/>
          <p:cNvSpPr/>
          <p:nvPr/>
        </p:nvSpPr>
        <p:spPr>
          <a:xfrm>
            <a:off x="8183880" y="2788920"/>
            <a:ext cx="384048" cy="384048"/>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542" name="Google Shape;1542;p58"/>
          <p:cNvPicPr preferRelativeResize="0"/>
          <p:nvPr/>
        </p:nvPicPr>
        <p:blipFill rotWithShape="1">
          <a:blip r:embed="rId6">
            <a:alphaModFix/>
          </a:blip>
          <a:srcRect b="0" l="0" r="0" t="0"/>
          <a:stretch/>
        </p:blipFill>
        <p:spPr>
          <a:xfrm>
            <a:off x="8276052" y="2881092"/>
            <a:ext cx="199705" cy="199705"/>
          </a:xfrm>
          <a:prstGeom prst="rect">
            <a:avLst/>
          </a:prstGeom>
          <a:noFill/>
          <a:ln>
            <a:noFill/>
          </a:ln>
        </p:spPr>
      </p:pic>
      <p:sp>
        <p:nvSpPr>
          <p:cNvPr id="1543" name="Google Shape;1543;p58"/>
          <p:cNvSpPr txBox="1"/>
          <p:nvPr/>
        </p:nvSpPr>
        <p:spPr>
          <a:xfrm>
            <a:off x="5189220" y="2788920"/>
            <a:ext cx="29032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Already self-refunded</a:t>
            </a:r>
            <a:endParaRPr b="0" i="0" spc="0" sz="1250" u="none" cap="none" strike="noStrike">
              <a:solidFill>
                <a:schemeClr val="dk1"/>
              </a:solidFill>
              <a:latin typeface="Calibri"/>
              <a:ea typeface="Calibri"/>
              <a:cs typeface="Calibri"/>
              <a:sym typeface="Calibri"/>
            </a:endParaRPr>
          </a:p>
        </p:txBody>
      </p:sp>
      <p:sp>
        <p:nvSpPr>
          <p:cNvPr id="1544" name="Google Shape;1544;p58"/>
          <p:cNvSpPr txBox="1"/>
          <p:nvPr/>
        </p:nvSpPr>
        <p:spPr>
          <a:xfrm>
            <a:off x="5189220" y="3218688"/>
            <a:ext cx="326898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Accept it. Give a clean, hassle-free cancellation.</a:t>
            </a:r>
            <a:endParaRPr b="0" i="0" spc="0" sz="1000" u="none" cap="none" strike="noStrike">
              <a:solidFill>
                <a:schemeClr val="dk1"/>
              </a:solidFill>
              <a:latin typeface="Calibri"/>
              <a:ea typeface="Calibri"/>
              <a:cs typeface="Calibri"/>
              <a:sym typeface="Calibri"/>
            </a:endParaRPr>
          </a:p>
        </p:txBody>
      </p:sp>
      <p:sp>
        <p:nvSpPr>
          <p:cNvPr id="1545" name="Google Shape;1545;p5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0" name="Shape 1550"/>
        <p:cNvGrpSpPr/>
        <p:nvPr/>
      </p:nvGrpSpPr>
      <p:grpSpPr>
        <a:xfrm>
          <a:off x="0" y="0"/>
          <a:ext cx="0" cy="0"/>
          <a:chOff x="0" y="0"/>
          <a:chExt cx="0" cy="0"/>
        </a:xfrm>
      </p:grpSpPr>
      <p:sp>
        <p:nvSpPr>
          <p:cNvPr id="1551" name="Google Shape;1551;p5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UNUSED DHJ VOUCHER</a:t>
            </a:r>
            <a:endParaRPr b="0" i="0" spc="0" sz="800" u="none" cap="none" strike="noStrike">
              <a:solidFill>
                <a:schemeClr val="dk1"/>
              </a:solidFill>
              <a:latin typeface="Calibri"/>
              <a:ea typeface="Calibri"/>
              <a:cs typeface="Calibri"/>
              <a:sym typeface="Calibri"/>
            </a:endParaRPr>
          </a:p>
        </p:txBody>
      </p:sp>
      <p:sp>
        <p:nvSpPr>
          <p:cNvPr id="1552" name="Google Shape;1552;p5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Case 1: No refund or cancel intent</a:t>
            </a:r>
            <a:endParaRPr b="0" i="0" spc="0" sz="2400" u="none" cap="none" strike="noStrike">
              <a:solidFill>
                <a:schemeClr val="dk1"/>
              </a:solidFill>
              <a:latin typeface="Calibri"/>
              <a:ea typeface="Calibri"/>
              <a:cs typeface="Calibri"/>
              <a:sym typeface="Calibri"/>
            </a:endParaRPr>
          </a:p>
        </p:txBody>
      </p:sp>
      <p:sp>
        <p:nvSpPr>
          <p:cNvPr id="1553" name="Google Shape;1553;p5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Don't make it bigger than it needs to be.</a:t>
            </a:r>
            <a:endParaRPr b="0" i="0" spc="0" sz="1200" u="none" cap="none" strike="noStrike">
              <a:solidFill>
                <a:schemeClr val="dk1"/>
              </a:solidFill>
              <a:latin typeface="Calibri"/>
              <a:ea typeface="Calibri"/>
              <a:cs typeface="Calibri"/>
              <a:sym typeface="Calibri"/>
            </a:endParaRPr>
          </a:p>
        </p:txBody>
      </p:sp>
      <p:sp>
        <p:nvSpPr>
          <p:cNvPr id="1554" name="Google Shape;1554;p59"/>
          <p:cNvSpPr/>
          <p:nvPr/>
        </p:nvSpPr>
        <p:spPr>
          <a:xfrm>
            <a:off x="411480" y="1325880"/>
            <a:ext cx="2682240" cy="1234440"/>
          </a:xfrm>
          <a:prstGeom prst="roundRect">
            <a:avLst>
              <a:gd fmla="val 592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55" name="Google Shape;1555;p59"/>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556" name="Google Shape;1556;p59"/>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557" name="Google Shape;1557;p59"/>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Help with their concern</a:t>
            </a:r>
            <a:endParaRPr b="0" i="0" spc="0" sz="1200" u="none" cap="none" strike="noStrike">
              <a:solidFill>
                <a:schemeClr val="dk1"/>
              </a:solidFill>
              <a:latin typeface="Calibri"/>
              <a:ea typeface="Calibri"/>
              <a:cs typeface="Calibri"/>
              <a:sym typeface="Calibri"/>
            </a:endParaRPr>
          </a:p>
        </p:txBody>
      </p:sp>
      <p:sp>
        <p:nvSpPr>
          <p:cNvPr id="1558" name="Google Shape;1558;p59"/>
          <p:cNvSpPr txBox="1"/>
          <p:nvPr/>
        </p:nvSpPr>
        <p:spPr>
          <a:xfrm>
            <a:off x="576072" y="2221992"/>
            <a:ext cx="2353056" cy="246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That's why they reached out.</a:t>
            </a:r>
            <a:endParaRPr b="0" i="0" spc="0" sz="950" u="none" cap="none" strike="noStrike">
              <a:solidFill>
                <a:schemeClr val="dk1"/>
              </a:solidFill>
              <a:latin typeface="Calibri"/>
              <a:ea typeface="Calibri"/>
              <a:cs typeface="Calibri"/>
              <a:sym typeface="Calibri"/>
            </a:endParaRPr>
          </a:p>
        </p:txBody>
      </p:sp>
      <p:sp>
        <p:nvSpPr>
          <p:cNvPr id="1559" name="Google Shape;1559;p59"/>
          <p:cNvSpPr/>
          <p:nvPr/>
        </p:nvSpPr>
        <p:spPr>
          <a:xfrm>
            <a:off x="3230880" y="1325880"/>
            <a:ext cx="2682240" cy="1234440"/>
          </a:xfrm>
          <a:prstGeom prst="roundRect">
            <a:avLst>
              <a:gd fmla="val 592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60" name="Google Shape;1560;p59"/>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561" name="Google Shape;1561;p59"/>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562" name="Google Shape;1562;p59"/>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Remind them once</a:t>
            </a:r>
            <a:endParaRPr b="0" i="0" spc="0" sz="1200" u="none" cap="none" strike="noStrike">
              <a:solidFill>
                <a:schemeClr val="dk1"/>
              </a:solidFill>
              <a:latin typeface="Calibri"/>
              <a:ea typeface="Calibri"/>
              <a:cs typeface="Calibri"/>
              <a:sym typeface="Calibri"/>
            </a:endParaRPr>
          </a:p>
        </p:txBody>
      </p:sp>
      <p:sp>
        <p:nvSpPr>
          <p:cNvPr id="1563" name="Google Shape;1563;p59"/>
          <p:cNvSpPr txBox="1"/>
          <p:nvPr/>
        </p:nvSpPr>
        <p:spPr>
          <a:xfrm>
            <a:off x="3395472" y="2221992"/>
            <a:ext cx="2353056" cy="246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Skip it if they clearly already know.</a:t>
            </a:r>
            <a:endParaRPr b="0" i="0" spc="0" sz="950" u="none" cap="none" strike="noStrike">
              <a:solidFill>
                <a:schemeClr val="dk1"/>
              </a:solidFill>
              <a:latin typeface="Calibri"/>
              <a:ea typeface="Calibri"/>
              <a:cs typeface="Calibri"/>
              <a:sym typeface="Calibri"/>
            </a:endParaRPr>
          </a:p>
        </p:txBody>
      </p:sp>
      <p:sp>
        <p:nvSpPr>
          <p:cNvPr id="1564" name="Google Shape;1564;p59"/>
          <p:cNvSpPr/>
          <p:nvPr/>
        </p:nvSpPr>
        <p:spPr>
          <a:xfrm>
            <a:off x="6050280" y="1325880"/>
            <a:ext cx="2682240" cy="1234440"/>
          </a:xfrm>
          <a:prstGeom prst="roundRect">
            <a:avLst>
              <a:gd fmla="val 592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65" name="Google Shape;1565;p59"/>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566" name="Google Shape;1566;p59"/>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567" name="Google Shape;1567;p59"/>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Terms are the issue?</a:t>
            </a:r>
            <a:endParaRPr b="0" i="0" spc="0" sz="1200" u="none" cap="none" strike="noStrike">
              <a:solidFill>
                <a:schemeClr val="dk1"/>
              </a:solidFill>
              <a:latin typeface="Calibri"/>
              <a:ea typeface="Calibri"/>
              <a:cs typeface="Calibri"/>
              <a:sym typeface="Calibri"/>
            </a:endParaRPr>
          </a:p>
        </p:txBody>
      </p:sp>
      <p:sp>
        <p:nvSpPr>
          <p:cNvPr id="1568" name="Google Shape;1568;p59"/>
          <p:cNvSpPr txBox="1"/>
          <p:nvPr/>
        </p:nvSpPr>
        <p:spPr>
          <a:xfrm>
            <a:off x="6214872" y="2221992"/>
            <a:ext cx="2353056" cy="2468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Walk through MF, MCT and ETF.</a:t>
            </a:r>
            <a:endParaRPr b="0" i="0" spc="0" sz="950" u="none" cap="none" strike="noStrike">
              <a:solidFill>
                <a:schemeClr val="dk1"/>
              </a:solidFill>
              <a:latin typeface="Calibri"/>
              <a:ea typeface="Calibri"/>
              <a:cs typeface="Calibri"/>
              <a:sym typeface="Calibri"/>
            </a:endParaRPr>
          </a:p>
        </p:txBody>
      </p:sp>
      <p:sp>
        <p:nvSpPr>
          <p:cNvPr id="1569" name="Google Shape;1569;p59"/>
          <p:cNvSpPr/>
          <p:nvPr/>
        </p:nvSpPr>
        <p:spPr>
          <a:xfrm>
            <a:off x="411480" y="2743200"/>
            <a:ext cx="8321040" cy="594360"/>
          </a:xfrm>
          <a:prstGeom prst="roundRect">
            <a:avLst>
              <a:gd fmla="val 12308"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70" name="Google Shape;1570;p59"/>
          <p:cNvSpPr/>
          <p:nvPr/>
        </p:nvSpPr>
        <p:spPr>
          <a:xfrm>
            <a:off x="411480" y="2816352"/>
            <a:ext cx="45720" cy="448056"/>
          </a:xfrm>
          <a:prstGeom prst="rect">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71" name="Google Shape;1571;p59"/>
          <p:cNvSpPr txBox="1"/>
          <p:nvPr/>
        </p:nvSpPr>
        <p:spPr>
          <a:xfrm>
            <a:off x="594360" y="2743200"/>
            <a:ext cx="8001000" cy="5943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0" sz="800" u="none" cap="none" strike="noStrike">
                <a:solidFill>
                  <a:srgbClr val="0B7A6F"/>
                </a:solidFill>
                <a:latin typeface="Play"/>
                <a:ea typeface="Play"/>
                <a:cs typeface="Play"/>
                <a:sym typeface="Play"/>
              </a:rPr>
              <a:t>THIS IS ENOUGH</a:t>
            </a:r>
            <a:endParaRPr b="0" i="0" spc="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000"/>
              <a:buFont typeface="Arial"/>
              <a:buNone/>
            </a:pPr>
            <a:r>
              <a:rPr b="0" i="1" lang="en-US" spc="0" sz="1000" u="none" cap="none" strike="noStrike">
                <a:solidFill>
                  <a:srgbClr val="1D1D1F"/>
                </a:solidFill>
                <a:latin typeface="Arial"/>
                <a:ea typeface="Arial"/>
                <a:cs typeface="Arial"/>
                <a:sym typeface="Arial"/>
              </a:rPr>
              <a:t>“Just a quick reminder, your voucher comes with a membership which will start once it's used.”</a:t>
            </a:r>
            <a:endParaRPr b="0" i="0" spc="0" sz="1000" u="none" cap="none" strike="noStrike">
              <a:solidFill>
                <a:schemeClr val="dk1"/>
              </a:solidFill>
              <a:latin typeface="Calibri"/>
              <a:ea typeface="Calibri"/>
              <a:cs typeface="Calibri"/>
              <a:sym typeface="Calibri"/>
            </a:endParaRPr>
          </a:p>
        </p:txBody>
      </p:sp>
      <p:sp>
        <p:nvSpPr>
          <p:cNvPr id="1572" name="Google Shape;1572;p59"/>
          <p:cNvSpPr/>
          <p:nvPr/>
        </p:nvSpPr>
        <p:spPr>
          <a:xfrm>
            <a:off x="411480" y="35204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573" name="Google Shape;1573;p59"/>
          <p:cNvPicPr preferRelativeResize="0"/>
          <p:nvPr/>
        </p:nvPicPr>
        <p:blipFill rotWithShape="1">
          <a:blip r:embed="rId6">
            <a:alphaModFix/>
          </a:blip>
          <a:srcRect b="0" l="0" r="0" t="0"/>
          <a:stretch/>
        </p:blipFill>
        <p:spPr>
          <a:xfrm>
            <a:off x="566928" y="3630168"/>
            <a:ext cx="164592" cy="164592"/>
          </a:xfrm>
          <a:prstGeom prst="rect">
            <a:avLst/>
          </a:prstGeom>
          <a:noFill/>
          <a:ln>
            <a:noFill/>
          </a:ln>
        </p:spPr>
      </p:pic>
      <p:sp>
        <p:nvSpPr>
          <p:cNvPr id="1574" name="Google Shape;1574;p59"/>
          <p:cNvSpPr txBox="1"/>
          <p:nvPr/>
        </p:nvSpPr>
        <p:spPr>
          <a:xfrm>
            <a:off x="822960" y="36210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"I didn't realize there's a monthly fee"?  </a:t>
            </a:r>
            <a:r>
              <a:rPr b="0" i="0" lang="en-US" spc="0" sz="1000" u="none" cap="none" strike="noStrike">
                <a:solidFill>
                  <a:srgbClr val="1D1D1F"/>
                </a:solidFill>
                <a:latin typeface="Arial"/>
                <a:ea typeface="Arial"/>
                <a:cs typeface="Arial"/>
                <a:sym typeface="Arial"/>
              </a:rPr>
              <a:t>that's no longer a reminder. Explain the actual terms.</a:t>
            </a:r>
            <a:endParaRPr b="0" i="0" spc="0" sz="1000" u="none" cap="none" strike="noStrike">
              <a:solidFill>
                <a:schemeClr val="dk1"/>
              </a:solidFill>
              <a:latin typeface="Calibri"/>
              <a:ea typeface="Calibri"/>
              <a:cs typeface="Calibri"/>
              <a:sym typeface="Calibri"/>
            </a:endParaRPr>
          </a:p>
        </p:txBody>
      </p:sp>
      <p:sp>
        <p:nvSpPr>
          <p:cNvPr id="1575" name="Google Shape;1575;p5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0" name="Shape 1580"/>
        <p:cNvGrpSpPr/>
        <p:nvPr/>
      </p:nvGrpSpPr>
      <p:grpSpPr>
        <a:xfrm>
          <a:off x="0" y="0"/>
          <a:ext cx="0" cy="0"/>
          <a:chOff x="0" y="0"/>
          <a:chExt cx="0" cy="0"/>
        </a:xfrm>
      </p:grpSpPr>
      <p:sp>
        <p:nvSpPr>
          <p:cNvPr id="1581" name="Google Shape;1581;p6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UNUSED DHJ VOUCHER</a:t>
            </a:r>
            <a:endParaRPr b="0" i="0" spc="0" sz="800" u="none" cap="none" strike="noStrike">
              <a:solidFill>
                <a:schemeClr val="dk1"/>
              </a:solidFill>
              <a:latin typeface="Calibri"/>
              <a:ea typeface="Calibri"/>
              <a:cs typeface="Calibri"/>
              <a:sym typeface="Calibri"/>
            </a:endParaRPr>
          </a:p>
        </p:txBody>
      </p:sp>
      <p:sp>
        <p:nvSpPr>
          <p:cNvPr id="1582" name="Google Shape;1582;p6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Case 2: Refund or cancel intent</a:t>
            </a:r>
            <a:endParaRPr b="0" i="0" spc="0" sz="2400" u="none" cap="none" strike="noStrike">
              <a:solidFill>
                <a:schemeClr val="dk1"/>
              </a:solidFill>
              <a:latin typeface="Calibri"/>
              <a:ea typeface="Calibri"/>
              <a:cs typeface="Calibri"/>
              <a:sym typeface="Calibri"/>
            </a:endParaRPr>
          </a:p>
        </p:txBody>
      </p:sp>
      <p:sp>
        <p:nvSpPr>
          <p:cNvPr id="1583" name="Google Shape;1583;p6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Know what you're solving before you offer anything.</a:t>
            </a:r>
            <a:endParaRPr b="0" i="0" spc="0" sz="1200" u="none" cap="none" strike="noStrike">
              <a:solidFill>
                <a:schemeClr val="dk1"/>
              </a:solidFill>
              <a:latin typeface="Calibri"/>
              <a:ea typeface="Calibri"/>
              <a:cs typeface="Calibri"/>
              <a:sym typeface="Calibri"/>
            </a:endParaRPr>
          </a:p>
        </p:txBody>
      </p:sp>
      <p:sp>
        <p:nvSpPr>
          <p:cNvPr id="1584" name="Google Shape;1584;p60"/>
          <p:cNvSpPr/>
          <p:nvPr/>
        </p:nvSpPr>
        <p:spPr>
          <a:xfrm>
            <a:off x="411480" y="1298448"/>
            <a:ext cx="4389120" cy="347472"/>
          </a:xfrm>
          <a:prstGeom prst="roundRect">
            <a:avLst>
              <a:gd fmla="val 2105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85" name="Google Shape;1585;p60"/>
          <p:cNvSpPr/>
          <p:nvPr/>
        </p:nvSpPr>
        <p:spPr>
          <a:xfrm>
            <a:off x="484632" y="133502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86" name="Google Shape;1586;p60"/>
          <p:cNvSpPr txBox="1"/>
          <p:nvPr/>
        </p:nvSpPr>
        <p:spPr>
          <a:xfrm>
            <a:off x="484632" y="133502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1587" name="Google Shape;1587;p60"/>
          <p:cNvSpPr txBox="1"/>
          <p:nvPr/>
        </p:nvSpPr>
        <p:spPr>
          <a:xfrm>
            <a:off x="868680" y="1298448"/>
            <a:ext cx="38404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US" spc="0" sz="950" u="none" cap="none" strike="noStrike">
                <a:solidFill>
                  <a:srgbClr val="1D1D1F"/>
                </a:solidFill>
                <a:latin typeface="Arial"/>
                <a:ea typeface="Arial"/>
                <a:cs typeface="Arial"/>
                <a:sym typeface="Arial"/>
              </a:rPr>
              <a:t>Reason given? If not, probe</a:t>
            </a:r>
            <a:endParaRPr b="0" i="0" spc="0" sz="950" u="none" cap="none" strike="noStrike">
              <a:solidFill>
                <a:schemeClr val="dk1"/>
              </a:solidFill>
              <a:latin typeface="Calibri"/>
              <a:ea typeface="Calibri"/>
              <a:cs typeface="Calibri"/>
              <a:sym typeface="Calibri"/>
            </a:endParaRPr>
          </a:p>
        </p:txBody>
      </p:sp>
      <p:sp>
        <p:nvSpPr>
          <p:cNvPr id="1588" name="Google Shape;1588;p60"/>
          <p:cNvSpPr/>
          <p:nvPr/>
        </p:nvSpPr>
        <p:spPr>
          <a:xfrm>
            <a:off x="411480" y="1700784"/>
            <a:ext cx="4389120" cy="347472"/>
          </a:xfrm>
          <a:prstGeom prst="roundRect">
            <a:avLst>
              <a:gd fmla="val 2105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89" name="Google Shape;1589;p60"/>
          <p:cNvSpPr/>
          <p:nvPr/>
        </p:nvSpPr>
        <p:spPr>
          <a:xfrm>
            <a:off x="484632" y="173736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90" name="Google Shape;1590;p60"/>
          <p:cNvSpPr txBox="1"/>
          <p:nvPr/>
        </p:nvSpPr>
        <p:spPr>
          <a:xfrm>
            <a:off x="484632" y="173736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1591" name="Google Shape;1591;p60"/>
          <p:cNvSpPr txBox="1"/>
          <p:nvPr/>
        </p:nvSpPr>
        <p:spPr>
          <a:xfrm>
            <a:off x="868680" y="1700784"/>
            <a:ext cx="38404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US" spc="0" sz="950" u="none" cap="none" strike="noStrike">
                <a:solidFill>
                  <a:srgbClr val="1D1D1F"/>
                </a:solidFill>
                <a:latin typeface="Arial"/>
                <a:ea typeface="Arial"/>
                <a:cs typeface="Arial"/>
                <a:sym typeface="Arial"/>
              </a:rPr>
              <a:t>Acknowledge</a:t>
            </a:r>
            <a:endParaRPr b="0" i="0" spc="0" sz="950" u="none" cap="none" strike="noStrike">
              <a:solidFill>
                <a:schemeClr val="dk1"/>
              </a:solidFill>
              <a:latin typeface="Calibri"/>
              <a:ea typeface="Calibri"/>
              <a:cs typeface="Calibri"/>
              <a:sym typeface="Calibri"/>
            </a:endParaRPr>
          </a:p>
        </p:txBody>
      </p:sp>
      <p:sp>
        <p:nvSpPr>
          <p:cNvPr id="1592" name="Google Shape;1592;p60"/>
          <p:cNvSpPr/>
          <p:nvPr/>
        </p:nvSpPr>
        <p:spPr>
          <a:xfrm>
            <a:off x="411480" y="2103120"/>
            <a:ext cx="4389120" cy="347472"/>
          </a:xfrm>
          <a:prstGeom prst="roundRect">
            <a:avLst>
              <a:gd fmla="val 2105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93" name="Google Shape;1593;p60"/>
          <p:cNvSpPr/>
          <p:nvPr/>
        </p:nvSpPr>
        <p:spPr>
          <a:xfrm>
            <a:off x="484632" y="2139696"/>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94" name="Google Shape;1594;p60"/>
          <p:cNvSpPr txBox="1"/>
          <p:nvPr/>
        </p:nvSpPr>
        <p:spPr>
          <a:xfrm>
            <a:off x="484632" y="213969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1595" name="Google Shape;1595;p60"/>
          <p:cNvSpPr txBox="1"/>
          <p:nvPr/>
        </p:nvSpPr>
        <p:spPr>
          <a:xfrm>
            <a:off x="868680" y="2103120"/>
            <a:ext cx="38404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US" spc="0" sz="950" u="none" cap="none" strike="noStrike">
                <a:solidFill>
                  <a:srgbClr val="1D1D1F"/>
                </a:solidFill>
                <a:latin typeface="Arial"/>
                <a:ea typeface="Arial"/>
                <a:cs typeface="Arial"/>
                <a:sym typeface="Arial"/>
              </a:rPr>
              <a:t>Fix the actual issue</a:t>
            </a:r>
            <a:endParaRPr b="0" i="0" spc="0" sz="950" u="none" cap="none" strike="noStrike">
              <a:solidFill>
                <a:schemeClr val="dk1"/>
              </a:solidFill>
              <a:latin typeface="Calibri"/>
              <a:ea typeface="Calibri"/>
              <a:cs typeface="Calibri"/>
              <a:sym typeface="Calibri"/>
            </a:endParaRPr>
          </a:p>
        </p:txBody>
      </p:sp>
      <p:sp>
        <p:nvSpPr>
          <p:cNvPr id="1596" name="Google Shape;1596;p60"/>
          <p:cNvSpPr/>
          <p:nvPr/>
        </p:nvSpPr>
        <p:spPr>
          <a:xfrm>
            <a:off x="411480" y="2505456"/>
            <a:ext cx="4389120" cy="347472"/>
          </a:xfrm>
          <a:prstGeom prst="roundRect">
            <a:avLst>
              <a:gd fmla="val 2105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97" name="Google Shape;1597;p60"/>
          <p:cNvSpPr/>
          <p:nvPr/>
        </p:nvSpPr>
        <p:spPr>
          <a:xfrm>
            <a:off x="484632" y="254203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598" name="Google Shape;1598;p60"/>
          <p:cNvSpPr txBox="1"/>
          <p:nvPr/>
        </p:nvSpPr>
        <p:spPr>
          <a:xfrm>
            <a:off x="484632" y="254203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4</a:t>
            </a:r>
            <a:endParaRPr b="0" i="0" spc="0" sz="900" u="none" cap="none" strike="noStrike">
              <a:solidFill>
                <a:schemeClr val="dk1"/>
              </a:solidFill>
              <a:latin typeface="Calibri"/>
              <a:ea typeface="Calibri"/>
              <a:cs typeface="Calibri"/>
              <a:sym typeface="Calibri"/>
            </a:endParaRPr>
          </a:p>
        </p:txBody>
      </p:sp>
      <p:sp>
        <p:nvSpPr>
          <p:cNvPr id="1599" name="Google Shape;1599;p60"/>
          <p:cNvSpPr txBox="1"/>
          <p:nvPr/>
        </p:nvSpPr>
        <p:spPr>
          <a:xfrm>
            <a:off x="868680" y="2505456"/>
            <a:ext cx="38404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US" spc="0" sz="950" u="none" cap="none" strike="noStrike">
                <a:solidFill>
                  <a:srgbClr val="1D1D1F"/>
                </a:solidFill>
                <a:latin typeface="Arial"/>
                <a:ea typeface="Arial"/>
                <a:cs typeface="Arial"/>
                <a:sym typeface="Arial"/>
              </a:rPr>
              <a:t>Present the right offer</a:t>
            </a:r>
            <a:endParaRPr b="0" i="0" spc="0" sz="950" u="none" cap="none" strike="noStrike">
              <a:solidFill>
                <a:schemeClr val="dk1"/>
              </a:solidFill>
              <a:latin typeface="Calibri"/>
              <a:ea typeface="Calibri"/>
              <a:cs typeface="Calibri"/>
              <a:sym typeface="Calibri"/>
            </a:endParaRPr>
          </a:p>
        </p:txBody>
      </p:sp>
      <p:sp>
        <p:nvSpPr>
          <p:cNvPr id="1600" name="Google Shape;1600;p60"/>
          <p:cNvSpPr/>
          <p:nvPr/>
        </p:nvSpPr>
        <p:spPr>
          <a:xfrm>
            <a:off x="411480" y="2907792"/>
            <a:ext cx="4389120" cy="347472"/>
          </a:xfrm>
          <a:prstGeom prst="roundRect">
            <a:avLst>
              <a:gd fmla="val 2105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01" name="Google Shape;1601;p60"/>
          <p:cNvSpPr/>
          <p:nvPr/>
        </p:nvSpPr>
        <p:spPr>
          <a:xfrm>
            <a:off x="484632" y="294436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02" name="Google Shape;1602;p60"/>
          <p:cNvSpPr txBox="1"/>
          <p:nvPr/>
        </p:nvSpPr>
        <p:spPr>
          <a:xfrm>
            <a:off x="484632" y="294436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5</a:t>
            </a:r>
            <a:endParaRPr b="0" i="0" spc="0" sz="900" u="none" cap="none" strike="noStrike">
              <a:solidFill>
                <a:schemeClr val="dk1"/>
              </a:solidFill>
              <a:latin typeface="Calibri"/>
              <a:ea typeface="Calibri"/>
              <a:cs typeface="Calibri"/>
              <a:sym typeface="Calibri"/>
            </a:endParaRPr>
          </a:p>
        </p:txBody>
      </p:sp>
      <p:sp>
        <p:nvSpPr>
          <p:cNvPr id="1603" name="Google Shape;1603;p60"/>
          <p:cNvSpPr txBox="1"/>
          <p:nvPr/>
        </p:nvSpPr>
        <p:spPr>
          <a:xfrm>
            <a:off x="868680" y="2907792"/>
            <a:ext cx="38404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US" spc="0" sz="950" u="none" cap="none" strike="noStrike">
                <a:solidFill>
                  <a:srgbClr val="1D1D1F"/>
                </a:solidFill>
                <a:latin typeface="Arial"/>
                <a:ea typeface="Arial"/>
                <a:cs typeface="Arial"/>
                <a:sym typeface="Arial"/>
              </a:rPr>
              <a:t>Valid for a year. Comes with a membership</a:t>
            </a:r>
            <a:endParaRPr b="0" i="0" spc="0" sz="950" u="none" cap="none" strike="noStrike">
              <a:solidFill>
                <a:schemeClr val="dk1"/>
              </a:solidFill>
              <a:latin typeface="Calibri"/>
              <a:ea typeface="Calibri"/>
              <a:cs typeface="Calibri"/>
              <a:sym typeface="Calibri"/>
            </a:endParaRPr>
          </a:p>
        </p:txBody>
      </p:sp>
      <p:sp>
        <p:nvSpPr>
          <p:cNvPr id="1604" name="Google Shape;1604;p60"/>
          <p:cNvSpPr/>
          <p:nvPr/>
        </p:nvSpPr>
        <p:spPr>
          <a:xfrm>
            <a:off x="411480" y="3310128"/>
            <a:ext cx="4389120" cy="347472"/>
          </a:xfrm>
          <a:prstGeom prst="roundRect">
            <a:avLst>
              <a:gd fmla="val 2105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05" name="Google Shape;1605;p60"/>
          <p:cNvSpPr/>
          <p:nvPr/>
        </p:nvSpPr>
        <p:spPr>
          <a:xfrm>
            <a:off x="484632" y="334670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06" name="Google Shape;1606;p60"/>
          <p:cNvSpPr txBox="1"/>
          <p:nvPr/>
        </p:nvSpPr>
        <p:spPr>
          <a:xfrm>
            <a:off x="484632" y="334670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6</a:t>
            </a:r>
            <a:endParaRPr b="0" i="0" spc="0" sz="900" u="none" cap="none" strike="noStrike">
              <a:solidFill>
                <a:schemeClr val="dk1"/>
              </a:solidFill>
              <a:latin typeface="Calibri"/>
              <a:ea typeface="Calibri"/>
              <a:cs typeface="Calibri"/>
              <a:sym typeface="Calibri"/>
            </a:endParaRPr>
          </a:p>
        </p:txBody>
      </p:sp>
      <p:sp>
        <p:nvSpPr>
          <p:cNvPr id="1607" name="Google Shape;1607;p60"/>
          <p:cNvSpPr txBox="1"/>
          <p:nvPr/>
        </p:nvSpPr>
        <p:spPr>
          <a:xfrm>
            <a:off x="868680" y="3310128"/>
            <a:ext cx="38404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1" i="0" lang="en-US" spc="0" sz="950" u="none" cap="none" strike="noStrike">
                <a:solidFill>
                  <a:srgbClr val="1D1D1F"/>
                </a:solidFill>
                <a:latin typeface="Arial"/>
                <a:ea typeface="Arial"/>
                <a:cs typeface="Arial"/>
                <a:sym typeface="Arial"/>
              </a:rPr>
              <a:t>Refund intent? Send the self-refund link</a:t>
            </a:r>
            <a:endParaRPr b="0" i="0" spc="0" sz="950" u="none" cap="none" strike="noStrike">
              <a:solidFill>
                <a:schemeClr val="dk1"/>
              </a:solidFill>
              <a:latin typeface="Calibri"/>
              <a:ea typeface="Calibri"/>
              <a:cs typeface="Calibri"/>
              <a:sym typeface="Calibri"/>
            </a:endParaRPr>
          </a:p>
        </p:txBody>
      </p:sp>
      <p:sp>
        <p:nvSpPr>
          <p:cNvPr id="1608" name="Google Shape;1608;p60"/>
          <p:cNvSpPr/>
          <p:nvPr/>
        </p:nvSpPr>
        <p:spPr>
          <a:xfrm>
            <a:off x="411480" y="3712464"/>
            <a:ext cx="4389120" cy="347472"/>
          </a:xfrm>
          <a:prstGeom prst="roundRect">
            <a:avLst>
              <a:gd fmla="val 2105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09" name="Google Shape;1609;p60"/>
          <p:cNvSpPr/>
          <p:nvPr/>
        </p:nvSpPr>
        <p:spPr>
          <a:xfrm>
            <a:off x="484632" y="374904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10" name="Google Shape;1610;p60"/>
          <p:cNvSpPr txBox="1"/>
          <p:nvPr/>
        </p:nvSpPr>
        <p:spPr>
          <a:xfrm>
            <a:off x="484632" y="374904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7</a:t>
            </a:r>
            <a:endParaRPr b="0" i="0" spc="0" sz="900" u="none" cap="none" strike="noStrike">
              <a:solidFill>
                <a:schemeClr val="dk1"/>
              </a:solidFill>
              <a:latin typeface="Calibri"/>
              <a:ea typeface="Calibri"/>
              <a:cs typeface="Calibri"/>
              <a:sym typeface="Calibri"/>
            </a:endParaRPr>
          </a:p>
        </p:txBody>
      </p:sp>
      <p:sp>
        <p:nvSpPr>
          <p:cNvPr id="1611" name="Google Shape;1611;p60"/>
          <p:cNvSpPr txBox="1"/>
          <p:nvPr/>
        </p:nvSpPr>
        <p:spPr>
          <a:xfrm>
            <a:off x="868680" y="3712464"/>
            <a:ext cx="384048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0" lang="en-US" spc="0" sz="950" u="none" cap="none" strike="noStrike">
                <a:solidFill>
                  <a:srgbClr val="1D1D1F"/>
                </a:solidFill>
                <a:latin typeface="Arial"/>
                <a:ea typeface="Arial"/>
                <a:cs typeface="Arial"/>
                <a:sym typeface="Arial"/>
              </a:rPr>
              <a:t>Cancel appointments and RC if not wanted</a:t>
            </a:r>
            <a:endParaRPr b="0" i="0" spc="0" sz="950" u="none" cap="none" strike="noStrike">
              <a:solidFill>
                <a:schemeClr val="dk1"/>
              </a:solidFill>
              <a:latin typeface="Calibri"/>
              <a:ea typeface="Calibri"/>
              <a:cs typeface="Calibri"/>
              <a:sym typeface="Calibri"/>
            </a:endParaRPr>
          </a:p>
        </p:txBody>
      </p:sp>
      <p:sp>
        <p:nvSpPr>
          <p:cNvPr id="1612" name="Google Shape;1612;p60"/>
          <p:cNvSpPr/>
          <p:nvPr/>
        </p:nvSpPr>
        <p:spPr>
          <a:xfrm>
            <a:off x="4983480" y="1298448"/>
            <a:ext cx="3749040" cy="1325880"/>
          </a:xfrm>
          <a:prstGeom prst="roundRect">
            <a:avLst>
              <a:gd fmla="val 5517"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13" name="Google Shape;1613;p60"/>
          <p:cNvSpPr/>
          <p:nvPr/>
        </p:nvSpPr>
        <p:spPr>
          <a:xfrm>
            <a:off x="4983480" y="1298448"/>
            <a:ext cx="3749040" cy="329184"/>
          </a:xfrm>
          <a:prstGeom prst="roundRect">
            <a:avLst>
              <a:gd fmla="val 16667" name="adj"/>
            </a:avLst>
          </a:prstGeom>
          <a:solidFill>
            <a:srgbClr val="9A6410"/>
          </a:solidFill>
          <a:ln cap="flat" cmpd="sng" w="12700">
            <a:solidFill>
              <a:srgbClr val="9A641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Self-refund link</a:t>
            </a:r>
            <a:endParaRPr b="0" i="0" spc="0" sz="1050" u="none" cap="none" strike="noStrike">
              <a:solidFill>
                <a:schemeClr val="dk1"/>
              </a:solidFill>
              <a:latin typeface="Calibri"/>
              <a:ea typeface="Calibri"/>
              <a:cs typeface="Calibri"/>
              <a:sym typeface="Calibri"/>
            </a:endParaRPr>
          </a:p>
        </p:txBody>
      </p:sp>
      <p:sp>
        <p:nvSpPr>
          <p:cNvPr id="1614" name="Google Shape;1614;p60"/>
          <p:cNvSpPr txBox="1"/>
          <p:nvPr/>
        </p:nvSpPr>
        <p:spPr>
          <a:xfrm>
            <a:off x="5148072" y="1737360"/>
            <a:ext cx="3419856" cy="81381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Only if they want a refund</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Enter the voucher code before "Refund Voucher"</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Double-check the code in your message</a:t>
            </a:r>
            <a:endParaRPr b="0" i="0" spc="0" sz="950" u="none" cap="none" strike="noStrike">
              <a:solidFill>
                <a:schemeClr val="dk1"/>
              </a:solidFill>
              <a:latin typeface="Calibri"/>
              <a:ea typeface="Calibri"/>
              <a:cs typeface="Calibri"/>
              <a:sym typeface="Calibri"/>
            </a:endParaRPr>
          </a:p>
        </p:txBody>
      </p:sp>
      <p:sp>
        <p:nvSpPr>
          <p:cNvPr id="1615" name="Google Shape;1615;p60"/>
          <p:cNvSpPr/>
          <p:nvPr/>
        </p:nvSpPr>
        <p:spPr>
          <a:xfrm>
            <a:off x="4983480" y="2743200"/>
            <a:ext cx="3749040" cy="1325880"/>
          </a:xfrm>
          <a:prstGeom prst="roundRect">
            <a:avLst>
              <a:gd fmla="val 5517" name="adj"/>
            </a:avLst>
          </a:prstGeom>
          <a:solidFill>
            <a:srgbClr val="FFFFFF"/>
          </a:solidFill>
          <a:ln cap="flat" cmpd="sng" w="9525">
            <a:solidFill>
              <a:srgbClr val="1D1D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16" name="Google Shape;1616;p60"/>
          <p:cNvSpPr/>
          <p:nvPr/>
        </p:nvSpPr>
        <p:spPr>
          <a:xfrm>
            <a:off x="4983480" y="2743200"/>
            <a:ext cx="3749040" cy="329184"/>
          </a:xfrm>
          <a:prstGeom prst="roundRect">
            <a:avLst>
              <a:gd fmla="val 16667" name="adj"/>
            </a:avLst>
          </a:prstGeom>
          <a:solidFill>
            <a:srgbClr val="1D1D1F"/>
          </a:solidFill>
          <a:ln cap="flat" cmpd="sng" w="12700">
            <a:solidFill>
              <a:srgbClr val="1D1D1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Still insists on a refund?</a:t>
            </a:r>
            <a:endParaRPr b="0" i="0" spc="0" sz="1050" u="none" cap="none" strike="noStrike">
              <a:solidFill>
                <a:schemeClr val="dk1"/>
              </a:solidFill>
              <a:latin typeface="Calibri"/>
              <a:ea typeface="Calibri"/>
              <a:cs typeface="Calibri"/>
              <a:sym typeface="Calibri"/>
            </a:endParaRPr>
          </a:p>
        </p:txBody>
      </p:sp>
      <p:sp>
        <p:nvSpPr>
          <p:cNvPr id="1617" name="Google Shape;1617;p60"/>
          <p:cNvSpPr txBox="1"/>
          <p:nvPr/>
        </p:nvSpPr>
        <p:spPr>
          <a:xfrm>
            <a:off x="5148072" y="3182112"/>
            <a:ext cx="3419856" cy="81381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CRM &gt; voucher &gt; refund DHJ/FC, then invalidate</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Refund in 5–10 business days</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Deactivate the FC table if there is one</a:t>
            </a:r>
            <a:endParaRPr b="0" i="0" spc="0" sz="950" u="none" cap="none" strike="noStrike">
              <a:solidFill>
                <a:schemeClr val="dk1"/>
              </a:solidFill>
              <a:latin typeface="Calibri"/>
              <a:ea typeface="Calibri"/>
              <a:cs typeface="Calibri"/>
              <a:sym typeface="Calibri"/>
            </a:endParaRPr>
          </a:p>
        </p:txBody>
      </p:sp>
      <p:sp>
        <p:nvSpPr>
          <p:cNvPr id="1618" name="Google Shape;1618;p6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3" name="Shape 1623"/>
        <p:cNvGrpSpPr/>
        <p:nvPr/>
      </p:nvGrpSpPr>
      <p:grpSpPr>
        <a:xfrm>
          <a:off x="0" y="0"/>
          <a:ext cx="0" cy="0"/>
          <a:chOff x="0" y="0"/>
          <a:chExt cx="0" cy="0"/>
        </a:xfrm>
      </p:grpSpPr>
      <p:sp>
        <p:nvSpPr>
          <p:cNvPr id="1624" name="Google Shape;1624;p6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UNUSED DHJ VOUCHER</a:t>
            </a:r>
            <a:endParaRPr b="0" i="0" spc="0" sz="800" u="none" cap="none" strike="noStrike">
              <a:solidFill>
                <a:schemeClr val="dk1"/>
              </a:solidFill>
              <a:latin typeface="Calibri"/>
              <a:ea typeface="Calibri"/>
              <a:cs typeface="Calibri"/>
              <a:sym typeface="Calibri"/>
            </a:endParaRPr>
          </a:p>
        </p:txBody>
      </p:sp>
      <p:sp>
        <p:nvSpPr>
          <p:cNvPr id="1625" name="Google Shape;1625;p6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Case 2: Which offer?</a:t>
            </a:r>
            <a:endParaRPr b="0" i="0" spc="0" sz="2400" u="none" cap="none" strike="noStrike">
              <a:solidFill>
                <a:schemeClr val="dk1"/>
              </a:solidFill>
              <a:latin typeface="Calibri"/>
              <a:ea typeface="Calibri"/>
              <a:cs typeface="Calibri"/>
              <a:sym typeface="Calibri"/>
            </a:endParaRPr>
          </a:p>
        </p:txBody>
      </p:sp>
      <p:sp>
        <p:nvSpPr>
          <p:cNvPr id="1626" name="Google Shape;1626;p6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The Retention Strategy Table for unused DHJ vouchers.</a:t>
            </a:r>
            <a:endParaRPr b="0" i="0" spc="0" sz="1200" u="none" cap="none" strike="noStrike">
              <a:solidFill>
                <a:schemeClr val="dk1"/>
              </a:solidFill>
              <a:latin typeface="Calibri"/>
              <a:ea typeface="Calibri"/>
              <a:cs typeface="Calibri"/>
              <a:sym typeface="Calibri"/>
            </a:endParaRPr>
          </a:p>
        </p:txBody>
      </p:sp>
      <p:graphicFrame>
        <p:nvGraphicFramePr>
          <p:cNvPr id="1627" name="Google Shape;1627;p61"/>
          <p:cNvGraphicFramePr/>
          <p:nvPr/>
        </p:nvGraphicFramePr>
        <p:xfrm>
          <a:off x="411480" y="1298448"/>
          <a:ext cx="3000000" cy="3000000"/>
        </p:xfrm>
        <a:graphic>
          <a:graphicData uri="http://schemas.openxmlformats.org/drawingml/2006/table">
            <a:tbl>
              <a:tblPr>
                <a:noFill/>
                <a:tableStyleId>{8EFC85C5-4764-4BF5-A5AE-CCAC02DEFFEE}</a:tableStyleId>
              </a:tblPr>
              <a:tblGrid>
                <a:gridCol w="1371600"/>
                <a:gridCol w="4114800"/>
                <a:gridCol w="2834650"/>
              </a:tblGrid>
              <a:tr h="347475">
                <a:tc>
                  <a:txBody>
                    <a:bodyPr/>
                    <a:lstStyle/>
                    <a:p>
                      <a:pPr indent="0" lvl="0" marL="0" marR="0" rtl="0" algn="l">
                        <a:lnSpc>
                          <a:spcPct val="100000"/>
                        </a:lnSpc>
                        <a:spcBef>
                          <a:spcPts val="0"/>
                        </a:spcBef>
                        <a:spcAft>
                          <a:spcPts val="0"/>
                        </a:spcAft>
                        <a:buClr>
                          <a:srgbClr val="0B7A6F"/>
                        </a:buClr>
                        <a:buSzPts val="950"/>
                        <a:buFont typeface="Play"/>
                        <a:buNone/>
                      </a:pPr>
                      <a:r>
                        <a:rPr b="1" lang="en-US" spc="0" sz="950" u="none" cap="none" strike="noStrike">
                          <a:solidFill>
                            <a:srgbClr val="0B7A6F"/>
                          </a:solidFill>
                          <a:latin typeface="Play"/>
                          <a:ea typeface="Play"/>
                          <a:cs typeface="Play"/>
                          <a:sym typeface="Play"/>
                        </a:rPr>
                        <a:t>Root cause</a:t>
                      </a:r>
                      <a:endParaRPr spc="0"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US" spc="0" sz="950" u="none" cap="none" strike="noStrike">
                          <a:solidFill>
                            <a:srgbClr val="0B7A6F"/>
                          </a:solidFill>
                          <a:latin typeface="Play"/>
                          <a:ea typeface="Play"/>
                          <a:cs typeface="Play"/>
                          <a:sym typeface="Play"/>
                        </a:rPr>
                        <a:t>Condition</a:t>
                      </a:r>
                      <a:endParaRPr spc="0"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US" spc="0" sz="950" u="none" cap="none" strike="noStrike">
                          <a:solidFill>
                            <a:srgbClr val="0B7A6F"/>
                          </a:solidFill>
                          <a:latin typeface="Play"/>
                          <a:ea typeface="Play"/>
                          <a:cs typeface="Play"/>
                          <a:sym typeface="Play"/>
                        </a:rPr>
                        <a:t>Offer</a:t>
                      </a:r>
                      <a:endParaRPr spc="0"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47475">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Service</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CP no-show, CP cancellation, no CP claim</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$10–$20 credits</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Service</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Found another cleaner, wants same-day, moved, no phone support, will self-clean</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No offer needed</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Membership</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MF is expensive</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MF −$10–$15 off the original MF</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Membership</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MCT is too long</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MCT −2 months from the original</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Membership</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Doesn't want a membership at all</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No offer. Mention flexible terms; OTC if it fits</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Alternative</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Wants one cleaning only</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One-time cleaning: full price, upfront</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Alternative</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US" spc="0" sz="950" u="none" cap="none" strike="noStrike">
                          <a:solidFill>
                            <a:srgbClr val="6E6E73"/>
                          </a:solidFill>
                          <a:latin typeface="Arial"/>
                          <a:ea typeface="Arial"/>
                          <a:cs typeface="Arial"/>
                          <a:sym typeface="Arial"/>
                        </a:rPr>
                        <a:t>Wants to try it out</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Trial Cleaning: regular price, upfront</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628" name="Google Shape;1628;p6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3" name="Shape 1633"/>
        <p:cNvGrpSpPr/>
        <p:nvPr/>
      </p:nvGrpSpPr>
      <p:grpSpPr>
        <a:xfrm>
          <a:off x="0" y="0"/>
          <a:ext cx="0" cy="0"/>
          <a:chOff x="0" y="0"/>
          <a:chExt cx="0" cy="0"/>
        </a:xfrm>
      </p:grpSpPr>
      <p:sp>
        <p:nvSpPr>
          <p:cNvPr id="1634" name="Google Shape;1634;p6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UNUSED DHJ VOUCHER</a:t>
            </a:r>
            <a:endParaRPr b="0" i="0" spc="0" sz="800" u="none" cap="none" strike="noStrike">
              <a:solidFill>
                <a:schemeClr val="dk1"/>
              </a:solidFill>
              <a:latin typeface="Calibri"/>
              <a:ea typeface="Calibri"/>
              <a:cs typeface="Calibri"/>
              <a:sym typeface="Calibri"/>
            </a:endParaRPr>
          </a:p>
        </p:txBody>
      </p:sp>
      <p:sp>
        <p:nvSpPr>
          <p:cNvPr id="1635" name="Google Shape;1635;p6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Case 3: Close the account</a:t>
            </a:r>
            <a:endParaRPr b="0" i="0" spc="0" sz="2400" u="none" cap="none" strike="noStrike">
              <a:solidFill>
                <a:schemeClr val="dk1"/>
              </a:solidFill>
              <a:latin typeface="Calibri"/>
              <a:ea typeface="Calibri"/>
              <a:cs typeface="Calibri"/>
              <a:sym typeface="Calibri"/>
            </a:endParaRPr>
          </a:p>
        </p:txBody>
      </p:sp>
      <p:sp>
        <p:nvSpPr>
          <p:cNvPr id="1636" name="Google Shape;1636;p6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No refund intent. Treat the first reach-out as cancellation intent.</a:t>
            </a:r>
            <a:endParaRPr b="0" i="0" spc="0" sz="1200" u="none" cap="none" strike="noStrike">
              <a:solidFill>
                <a:schemeClr val="dk1"/>
              </a:solidFill>
              <a:latin typeface="Calibri"/>
              <a:ea typeface="Calibri"/>
              <a:cs typeface="Calibri"/>
              <a:sym typeface="Calibri"/>
            </a:endParaRPr>
          </a:p>
        </p:txBody>
      </p:sp>
      <p:sp>
        <p:nvSpPr>
          <p:cNvPr id="1637" name="Google Shape;1637;p62"/>
          <p:cNvSpPr txBox="1"/>
          <p:nvPr/>
        </p:nvSpPr>
        <p:spPr>
          <a:xfrm>
            <a:off x="411480" y="1298448"/>
            <a:ext cx="3657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FIRST REACH-OUT</a:t>
            </a:r>
            <a:endParaRPr b="0" i="0" spc="0" sz="800" u="none" cap="none" strike="noStrike">
              <a:solidFill>
                <a:schemeClr val="dk1"/>
              </a:solidFill>
              <a:latin typeface="Calibri"/>
              <a:ea typeface="Calibri"/>
              <a:cs typeface="Calibri"/>
              <a:sym typeface="Calibri"/>
            </a:endParaRPr>
          </a:p>
        </p:txBody>
      </p:sp>
      <p:sp>
        <p:nvSpPr>
          <p:cNvPr id="1638" name="Google Shape;1638;p62"/>
          <p:cNvSpPr txBox="1"/>
          <p:nvPr/>
        </p:nvSpPr>
        <p:spPr>
          <a:xfrm>
            <a:off x="411480" y="1536192"/>
            <a:ext cx="2743200" cy="128016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Acknowledge, probe for the reason</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Unsubscribe them from emails</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Voucher valid for a year, tied to a membership</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Check upcoming appointments</a:t>
            </a:r>
            <a:endParaRPr b="0" i="0" spc="0" sz="950" u="none" cap="none" strike="noStrike">
              <a:solidFill>
                <a:schemeClr val="dk1"/>
              </a:solidFill>
              <a:latin typeface="Calibri"/>
              <a:ea typeface="Calibri"/>
              <a:cs typeface="Calibri"/>
              <a:sym typeface="Calibri"/>
            </a:endParaRPr>
          </a:p>
        </p:txBody>
      </p:sp>
      <p:sp>
        <p:nvSpPr>
          <p:cNvPr id="1639" name="Google Shape;1639;p62"/>
          <p:cNvSpPr txBox="1"/>
          <p:nvPr/>
        </p:nvSpPr>
        <p:spPr>
          <a:xfrm>
            <a:off x="3383280" y="1298448"/>
            <a:ext cx="54864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STILL INSISTS? CLOSE IT IN THIS ORDER</a:t>
            </a:r>
            <a:endParaRPr b="0" i="0" spc="0" sz="800" u="none" cap="none" strike="noStrike">
              <a:solidFill>
                <a:schemeClr val="dk1"/>
              </a:solidFill>
              <a:latin typeface="Calibri"/>
              <a:ea typeface="Calibri"/>
              <a:cs typeface="Calibri"/>
              <a:sym typeface="Calibri"/>
            </a:endParaRPr>
          </a:p>
        </p:txBody>
      </p:sp>
      <p:sp>
        <p:nvSpPr>
          <p:cNvPr id="1640" name="Google Shape;1640;p62"/>
          <p:cNvSpPr/>
          <p:nvPr/>
        </p:nvSpPr>
        <p:spPr>
          <a:xfrm>
            <a:off x="3383280" y="1536192"/>
            <a:ext cx="5349240" cy="402336"/>
          </a:xfrm>
          <a:prstGeom prst="roundRect">
            <a:avLst>
              <a:gd fmla="val 1818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41" name="Google Shape;1641;p62"/>
          <p:cNvSpPr/>
          <p:nvPr/>
        </p:nvSpPr>
        <p:spPr>
          <a:xfrm>
            <a:off x="3474720" y="16002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42" name="Google Shape;1642;p62"/>
          <p:cNvSpPr txBox="1"/>
          <p:nvPr/>
        </p:nvSpPr>
        <p:spPr>
          <a:xfrm>
            <a:off x="3474720" y="16002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1643" name="Google Shape;1643;p62"/>
          <p:cNvSpPr txBox="1"/>
          <p:nvPr/>
        </p:nvSpPr>
        <p:spPr>
          <a:xfrm>
            <a:off x="3840480" y="1536192"/>
            <a:ext cx="480060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Invalidate the voucher  </a:t>
            </a:r>
            <a:r>
              <a:rPr b="0" i="0" lang="en-US" spc="0" sz="850" u="none" cap="none" strike="noStrike">
                <a:solidFill>
                  <a:srgbClr val="6E6E73"/>
                </a:solidFill>
                <a:latin typeface="Arial"/>
                <a:ea typeface="Arial"/>
                <a:cs typeface="Arial"/>
                <a:sym typeface="Arial"/>
              </a:rPr>
              <a:t>C Do &gt; Voucher Invalidate</a:t>
            </a:r>
            <a:endParaRPr b="0" i="0" spc="0" sz="1000" u="none" cap="none" strike="noStrike">
              <a:solidFill>
                <a:schemeClr val="dk1"/>
              </a:solidFill>
              <a:latin typeface="Calibri"/>
              <a:ea typeface="Calibri"/>
              <a:cs typeface="Calibri"/>
              <a:sym typeface="Calibri"/>
            </a:endParaRPr>
          </a:p>
        </p:txBody>
      </p:sp>
      <p:sp>
        <p:nvSpPr>
          <p:cNvPr id="1644" name="Google Shape;1644;p62"/>
          <p:cNvSpPr/>
          <p:nvPr/>
        </p:nvSpPr>
        <p:spPr>
          <a:xfrm>
            <a:off x="3383280" y="1993392"/>
            <a:ext cx="5349240" cy="402336"/>
          </a:xfrm>
          <a:prstGeom prst="roundRect">
            <a:avLst>
              <a:gd fmla="val 1818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45" name="Google Shape;1645;p62"/>
          <p:cNvSpPr/>
          <p:nvPr/>
        </p:nvSpPr>
        <p:spPr>
          <a:xfrm>
            <a:off x="3474720" y="20574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46" name="Google Shape;1646;p62"/>
          <p:cNvSpPr txBox="1"/>
          <p:nvPr/>
        </p:nvSpPr>
        <p:spPr>
          <a:xfrm>
            <a:off x="3474720" y="20574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1647" name="Google Shape;1647;p62"/>
          <p:cNvSpPr txBox="1"/>
          <p:nvPr/>
        </p:nvSpPr>
        <p:spPr>
          <a:xfrm>
            <a:off x="3840480" y="1993392"/>
            <a:ext cx="480060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Try to cancel FC  </a:t>
            </a:r>
            <a:r>
              <a:rPr b="0" i="0" lang="en-US" spc="0" sz="850" u="none" cap="none" strike="noStrike">
                <a:solidFill>
                  <a:srgbClr val="6E6E73"/>
                </a:solidFill>
                <a:latin typeface="Arial"/>
                <a:ea typeface="Arial"/>
                <a:cs typeface="Arial"/>
                <a:sym typeface="Arial"/>
              </a:rPr>
              <a:t>System says the voucher would be refunded? TL cancels without refund</a:t>
            </a:r>
            <a:endParaRPr b="0" i="0" spc="0" sz="1000" u="none" cap="none" strike="noStrike">
              <a:solidFill>
                <a:schemeClr val="dk1"/>
              </a:solidFill>
              <a:latin typeface="Calibri"/>
              <a:ea typeface="Calibri"/>
              <a:cs typeface="Calibri"/>
              <a:sym typeface="Calibri"/>
            </a:endParaRPr>
          </a:p>
        </p:txBody>
      </p:sp>
      <p:sp>
        <p:nvSpPr>
          <p:cNvPr id="1648" name="Google Shape;1648;p62"/>
          <p:cNvSpPr/>
          <p:nvPr/>
        </p:nvSpPr>
        <p:spPr>
          <a:xfrm>
            <a:off x="3383280" y="2450592"/>
            <a:ext cx="5349240" cy="402336"/>
          </a:xfrm>
          <a:prstGeom prst="roundRect">
            <a:avLst>
              <a:gd fmla="val 18182"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49" name="Google Shape;1649;p62"/>
          <p:cNvSpPr/>
          <p:nvPr/>
        </p:nvSpPr>
        <p:spPr>
          <a:xfrm>
            <a:off x="3474720" y="25146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50" name="Google Shape;1650;p62"/>
          <p:cNvSpPr txBox="1"/>
          <p:nvPr/>
        </p:nvSpPr>
        <p:spPr>
          <a:xfrm>
            <a:off x="3474720" y="25146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1651" name="Google Shape;1651;p62"/>
          <p:cNvSpPr txBox="1"/>
          <p:nvPr/>
        </p:nvSpPr>
        <p:spPr>
          <a:xfrm>
            <a:off x="3840480" y="2450592"/>
            <a:ext cx="480060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Send the closure email  </a:t>
            </a:r>
            <a:r>
              <a:rPr b="0" i="0" lang="en-US" spc="0" sz="850" u="none" cap="none" strike="noStrike">
                <a:solidFill>
                  <a:srgbClr val="6E6E73"/>
                </a:solidFill>
                <a:latin typeface="Arial"/>
                <a:ea typeface="Arial"/>
                <a:cs typeface="Arial"/>
                <a:sym typeface="Arial"/>
              </a:rPr>
              <a:t>Before deactivating. You can't email them after</a:t>
            </a:r>
            <a:endParaRPr b="0" i="0" spc="0" sz="1000" u="none" cap="none" strike="noStrike">
              <a:solidFill>
                <a:schemeClr val="dk1"/>
              </a:solidFill>
              <a:latin typeface="Calibri"/>
              <a:ea typeface="Calibri"/>
              <a:cs typeface="Calibri"/>
              <a:sym typeface="Calibri"/>
            </a:endParaRPr>
          </a:p>
        </p:txBody>
      </p:sp>
      <p:sp>
        <p:nvSpPr>
          <p:cNvPr id="1652" name="Google Shape;1652;p62"/>
          <p:cNvSpPr/>
          <p:nvPr/>
        </p:nvSpPr>
        <p:spPr>
          <a:xfrm>
            <a:off x="3383280" y="2907792"/>
            <a:ext cx="5349240" cy="402336"/>
          </a:xfrm>
          <a:prstGeom prst="roundRect">
            <a:avLst>
              <a:gd fmla="val 1818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53" name="Google Shape;1653;p62"/>
          <p:cNvSpPr/>
          <p:nvPr/>
        </p:nvSpPr>
        <p:spPr>
          <a:xfrm>
            <a:off x="3474720" y="29718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54" name="Google Shape;1654;p62"/>
          <p:cNvSpPr txBox="1"/>
          <p:nvPr/>
        </p:nvSpPr>
        <p:spPr>
          <a:xfrm>
            <a:off x="3474720" y="29718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4</a:t>
            </a:r>
            <a:endParaRPr b="0" i="0" spc="0" sz="900" u="none" cap="none" strike="noStrike">
              <a:solidFill>
                <a:schemeClr val="dk1"/>
              </a:solidFill>
              <a:latin typeface="Calibri"/>
              <a:ea typeface="Calibri"/>
              <a:cs typeface="Calibri"/>
              <a:sym typeface="Calibri"/>
            </a:endParaRPr>
          </a:p>
        </p:txBody>
      </p:sp>
      <p:sp>
        <p:nvSpPr>
          <p:cNvPr id="1655" name="Google Shape;1655;p62"/>
          <p:cNvSpPr txBox="1"/>
          <p:nvPr/>
        </p:nvSpPr>
        <p:spPr>
          <a:xfrm>
            <a:off x="3840480" y="2907792"/>
            <a:ext cx="480060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Deactivate the account  </a:t>
            </a:r>
            <a:r>
              <a:rPr b="0" i="0" lang="en-US" spc="0" sz="850" u="none" cap="none" strike="noStrike">
                <a:solidFill>
                  <a:srgbClr val="6E6E73"/>
                </a:solidFill>
                <a:latin typeface="Arial"/>
                <a:ea typeface="Arial"/>
                <a:cs typeface="Arial"/>
                <a:sym typeface="Arial"/>
              </a:rPr>
              <a:t>CRM Do &gt; Deactivate</a:t>
            </a:r>
            <a:endParaRPr b="0" i="0" spc="0" sz="1000" u="none" cap="none" strike="noStrike">
              <a:solidFill>
                <a:schemeClr val="dk1"/>
              </a:solidFill>
              <a:latin typeface="Calibri"/>
              <a:ea typeface="Calibri"/>
              <a:cs typeface="Calibri"/>
              <a:sym typeface="Calibri"/>
            </a:endParaRPr>
          </a:p>
        </p:txBody>
      </p:sp>
      <p:sp>
        <p:nvSpPr>
          <p:cNvPr id="1656" name="Google Shape;1656;p62"/>
          <p:cNvSpPr/>
          <p:nvPr/>
        </p:nvSpPr>
        <p:spPr>
          <a:xfrm>
            <a:off x="411480" y="3474720"/>
            <a:ext cx="8321040" cy="822960"/>
          </a:xfrm>
          <a:prstGeom prst="roundRect">
            <a:avLst>
              <a:gd fmla="val 8889"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57" name="Google Shape;1657;p62"/>
          <p:cNvSpPr/>
          <p:nvPr/>
        </p:nvSpPr>
        <p:spPr>
          <a:xfrm>
            <a:off x="411480" y="3474720"/>
            <a:ext cx="832104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Wants their data deleted too?</a:t>
            </a:r>
            <a:endParaRPr b="0" i="0" spc="0" sz="1050" u="none" cap="none" strike="noStrike">
              <a:solidFill>
                <a:schemeClr val="dk1"/>
              </a:solidFill>
              <a:latin typeface="Calibri"/>
              <a:ea typeface="Calibri"/>
              <a:cs typeface="Calibri"/>
              <a:sym typeface="Calibri"/>
            </a:endParaRPr>
          </a:p>
        </p:txBody>
      </p:sp>
      <p:sp>
        <p:nvSpPr>
          <p:cNvPr id="1658" name="Google Shape;1658;p62"/>
          <p:cNvSpPr txBox="1"/>
          <p:nvPr/>
        </p:nvSpPr>
        <p:spPr>
          <a:xfrm>
            <a:off x="576072" y="3913632"/>
            <a:ext cx="7991856" cy="31089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1" i="0" lang="en-US" spc="0" sz="950" u="none" cap="none" strike="noStrike">
                <a:solidFill>
                  <a:srgbClr val="1D1D1F"/>
                </a:solidFill>
                <a:latin typeface="Arial"/>
                <a:ea typeface="Arial"/>
                <a:cs typeface="Arial"/>
                <a:sym typeface="Arial"/>
              </a:rPr>
              <a:t>Card removal: </a:t>
            </a:r>
            <a:r>
              <a:rPr b="0" i="0" lang="en-US" spc="0" sz="950" u="none" cap="none" strike="noStrike">
                <a:solidFill>
                  <a:srgbClr val="1D1D1F"/>
                </a:solidFill>
                <a:latin typeface="Arial"/>
                <a:ea typeface="Arial"/>
                <a:cs typeface="Arial"/>
                <a:sym typeface="Arial"/>
              </a:rPr>
              <a:t>TL removes it from Stripe.  </a:t>
            </a:r>
            <a:r>
              <a:rPr b="1" i="0" lang="en-US" spc="0" sz="950" u="none" cap="none" strike="noStrike">
                <a:solidFill>
                  <a:srgbClr val="1D1D1F"/>
                </a:solidFill>
                <a:latin typeface="Arial"/>
                <a:ea typeface="Arial"/>
                <a:cs typeface="Arial"/>
                <a:sym typeface="Arial"/>
              </a:rPr>
              <a:t>Personal data: </a:t>
            </a:r>
            <a:r>
              <a:rPr b="0" i="0" lang="en-US" spc="0" sz="950" u="none" cap="none" strike="noStrike">
                <a:solidFill>
                  <a:srgbClr val="1D1D1F"/>
                </a:solidFill>
                <a:latin typeface="Arial"/>
                <a:ea typeface="Arial"/>
                <a:cs typeface="Arial"/>
                <a:sym typeface="Arial"/>
              </a:rPr>
              <a:t>log to the Data right to know/delete tracker (right away if they asked explicitly).</a:t>
            </a:r>
            <a:endParaRPr b="0" i="0" spc="0" sz="950" u="none" cap="none" strike="noStrike">
              <a:solidFill>
                <a:schemeClr val="dk1"/>
              </a:solidFill>
              <a:latin typeface="Calibri"/>
              <a:ea typeface="Calibri"/>
              <a:cs typeface="Calibri"/>
              <a:sym typeface="Calibri"/>
            </a:endParaRPr>
          </a:p>
        </p:txBody>
      </p:sp>
      <p:sp>
        <p:nvSpPr>
          <p:cNvPr id="1659" name="Google Shape;1659;p6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4" name="Shape 1664"/>
        <p:cNvGrpSpPr/>
        <p:nvPr/>
      </p:nvGrpSpPr>
      <p:grpSpPr>
        <a:xfrm>
          <a:off x="0" y="0"/>
          <a:ext cx="0" cy="0"/>
          <a:chOff x="0" y="0"/>
          <a:chExt cx="0" cy="0"/>
        </a:xfrm>
      </p:grpSpPr>
      <p:sp>
        <p:nvSpPr>
          <p:cNvPr id="1665" name="Google Shape;1665;p6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UNUSED DHJ VOUCHER</a:t>
            </a:r>
            <a:endParaRPr b="0" i="0" spc="0" sz="800" u="none" cap="none" strike="noStrike">
              <a:solidFill>
                <a:schemeClr val="dk1"/>
              </a:solidFill>
              <a:latin typeface="Calibri"/>
              <a:ea typeface="Calibri"/>
              <a:cs typeface="Calibri"/>
              <a:sym typeface="Calibri"/>
            </a:endParaRPr>
          </a:p>
        </p:txBody>
      </p:sp>
      <p:sp>
        <p:nvSpPr>
          <p:cNvPr id="1666" name="Google Shape;1666;p6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Case 4: Already self-refunded</a:t>
            </a:r>
            <a:endParaRPr b="0" i="0" spc="0" sz="2400" u="none" cap="none" strike="noStrike">
              <a:solidFill>
                <a:schemeClr val="dk1"/>
              </a:solidFill>
              <a:latin typeface="Calibri"/>
              <a:ea typeface="Calibri"/>
              <a:cs typeface="Calibri"/>
              <a:sym typeface="Calibri"/>
            </a:endParaRPr>
          </a:p>
        </p:txBody>
      </p:sp>
      <p:sp>
        <p:nvSpPr>
          <p:cNvPr id="1667" name="Google Shape;1667;p6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The retention attempt already ended. Make the exit clean.</a:t>
            </a:r>
            <a:endParaRPr b="0" i="0" spc="0" sz="1200" u="none" cap="none" strike="noStrike">
              <a:solidFill>
                <a:schemeClr val="dk1"/>
              </a:solidFill>
              <a:latin typeface="Calibri"/>
              <a:ea typeface="Calibri"/>
              <a:cs typeface="Calibri"/>
              <a:sym typeface="Calibri"/>
            </a:endParaRPr>
          </a:p>
        </p:txBody>
      </p:sp>
      <p:sp>
        <p:nvSpPr>
          <p:cNvPr id="1668" name="Google Shape;1668;p63"/>
          <p:cNvSpPr/>
          <p:nvPr/>
        </p:nvSpPr>
        <p:spPr>
          <a:xfrm>
            <a:off x="411480" y="1325880"/>
            <a:ext cx="2682240" cy="1463040"/>
          </a:xfrm>
          <a:prstGeom prst="roundRect">
            <a:avLst>
              <a:gd fmla="val 5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69" name="Google Shape;1669;p63"/>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670" name="Google Shape;1670;p63"/>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671" name="Google Shape;1671;p63"/>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Invalidate the leftover voucher</a:t>
            </a:r>
            <a:endParaRPr b="0" i="0" spc="0" sz="1200" u="none" cap="none" strike="noStrike">
              <a:solidFill>
                <a:schemeClr val="dk1"/>
              </a:solidFill>
              <a:latin typeface="Calibri"/>
              <a:ea typeface="Calibri"/>
              <a:cs typeface="Calibri"/>
              <a:sym typeface="Calibri"/>
            </a:endParaRPr>
          </a:p>
        </p:txBody>
      </p:sp>
      <p:sp>
        <p:nvSpPr>
          <p:cNvPr id="1672" name="Google Shape;1672;p63"/>
          <p:cNvSpPr txBox="1"/>
          <p:nvPr/>
        </p:nvSpPr>
        <p:spPr>
          <a:xfrm>
            <a:off x="576072" y="2221992"/>
            <a:ext cx="2353056"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The system may leave one behind to retain them.</a:t>
            </a:r>
            <a:endParaRPr b="0" i="0" spc="0" sz="950" u="none" cap="none" strike="noStrike">
              <a:solidFill>
                <a:schemeClr val="dk1"/>
              </a:solidFill>
              <a:latin typeface="Calibri"/>
              <a:ea typeface="Calibri"/>
              <a:cs typeface="Calibri"/>
              <a:sym typeface="Calibri"/>
            </a:endParaRPr>
          </a:p>
        </p:txBody>
      </p:sp>
      <p:sp>
        <p:nvSpPr>
          <p:cNvPr id="1673" name="Google Shape;1673;p63"/>
          <p:cNvSpPr/>
          <p:nvPr/>
        </p:nvSpPr>
        <p:spPr>
          <a:xfrm>
            <a:off x="3230880" y="1325880"/>
            <a:ext cx="2682240" cy="1463040"/>
          </a:xfrm>
          <a:prstGeom prst="roundRect">
            <a:avLst>
              <a:gd fmla="val 5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74" name="Google Shape;1674;p63"/>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675" name="Google Shape;1675;p63"/>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676" name="Google Shape;1676;p63"/>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Cancel FC, RC &amp; appointments</a:t>
            </a:r>
            <a:endParaRPr b="0" i="0" spc="0" sz="1200" u="none" cap="none" strike="noStrike">
              <a:solidFill>
                <a:schemeClr val="dk1"/>
              </a:solidFill>
              <a:latin typeface="Calibri"/>
              <a:ea typeface="Calibri"/>
              <a:cs typeface="Calibri"/>
              <a:sym typeface="Calibri"/>
            </a:endParaRPr>
          </a:p>
        </p:txBody>
      </p:sp>
      <p:sp>
        <p:nvSpPr>
          <p:cNvPr id="1677" name="Google Shape;1677;p63"/>
          <p:cNvSpPr txBox="1"/>
          <p:nvPr/>
        </p:nvSpPr>
        <p:spPr>
          <a:xfrm>
            <a:off x="3395472" y="2221992"/>
            <a:ext cx="2353056"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Whatever is still active.</a:t>
            </a:r>
            <a:endParaRPr b="0" i="0" spc="0" sz="950" u="none" cap="none" strike="noStrike">
              <a:solidFill>
                <a:schemeClr val="dk1"/>
              </a:solidFill>
              <a:latin typeface="Calibri"/>
              <a:ea typeface="Calibri"/>
              <a:cs typeface="Calibri"/>
              <a:sym typeface="Calibri"/>
            </a:endParaRPr>
          </a:p>
        </p:txBody>
      </p:sp>
      <p:sp>
        <p:nvSpPr>
          <p:cNvPr id="1678" name="Google Shape;1678;p63"/>
          <p:cNvSpPr/>
          <p:nvPr/>
        </p:nvSpPr>
        <p:spPr>
          <a:xfrm>
            <a:off x="6050280" y="1325880"/>
            <a:ext cx="2682240" cy="1463040"/>
          </a:xfrm>
          <a:prstGeom prst="roundRect">
            <a:avLst>
              <a:gd fmla="val 5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79" name="Google Shape;1679;p63"/>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680" name="Google Shape;1680;p63"/>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681" name="Google Shape;1681;p63"/>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Address what's left</a:t>
            </a:r>
            <a:endParaRPr b="0" i="0" spc="0" sz="1200" u="none" cap="none" strike="noStrike">
              <a:solidFill>
                <a:schemeClr val="dk1"/>
              </a:solidFill>
              <a:latin typeface="Calibri"/>
              <a:ea typeface="Calibri"/>
              <a:cs typeface="Calibri"/>
              <a:sym typeface="Calibri"/>
            </a:endParaRPr>
          </a:p>
        </p:txBody>
      </p:sp>
      <p:sp>
        <p:nvSpPr>
          <p:cNvPr id="1682" name="Google Shape;1682;p63"/>
          <p:cNvSpPr txBox="1"/>
          <p:nvPr/>
        </p:nvSpPr>
        <p:spPr>
          <a:xfrm>
            <a:off x="6214872" y="2221992"/>
            <a:ext cx="2353056"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Any remaining concerns.</a:t>
            </a:r>
            <a:endParaRPr b="0" i="0" spc="0" sz="950" u="none" cap="none" strike="noStrike">
              <a:solidFill>
                <a:schemeClr val="dk1"/>
              </a:solidFill>
              <a:latin typeface="Calibri"/>
              <a:ea typeface="Calibri"/>
              <a:cs typeface="Calibri"/>
              <a:sym typeface="Calibri"/>
            </a:endParaRPr>
          </a:p>
        </p:txBody>
      </p:sp>
      <p:sp>
        <p:nvSpPr>
          <p:cNvPr id="1683" name="Google Shape;1683;p63"/>
          <p:cNvSpPr/>
          <p:nvPr/>
        </p:nvSpPr>
        <p:spPr>
          <a:xfrm>
            <a:off x="411480" y="301752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684" name="Google Shape;1684;p63"/>
          <p:cNvPicPr preferRelativeResize="0"/>
          <p:nvPr/>
        </p:nvPicPr>
        <p:blipFill rotWithShape="1">
          <a:blip r:embed="rId6">
            <a:alphaModFix/>
          </a:blip>
          <a:srcRect b="0" l="0" r="0" t="0"/>
          <a:stretch/>
        </p:blipFill>
        <p:spPr>
          <a:xfrm>
            <a:off x="566928" y="3127248"/>
            <a:ext cx="164592" cy="164592"/>
          </a:xfrm>
          <a:prstGeom prst="rect">
            <a:avLst/>
          </a:prstGeom>
          <a:noFill/>
          <a:ln>
            <a:noFill/>
          </a:ln>
        </p:spPr>
      </p:pic>
      <p:sp>
        <p:nvSpPr>
          <p:cNvPr id="1685" name="Google Shape;1685;p63"/>
          <p:cNvSpPr txBox="1"/>
          <p:nvPr/>
        </p:nvSpPr>
        <p:spPr>
          <a:xfrm>
            <a:off x="822960" y="311810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Accept their decision:  </a:t>
            </a:r>
            <a:r>
              <a:rPr b="0" i="0" lang="en-US" spc="0" sz="1000" u="none" cap="none" strike="noStrike">
                <a:solidFill>
                  <a:srgbClr val="1D1D1F"/>
                </a:solidFill>
                <a:latin typeface="Arial"/>
                <a:ea typeface="Arial"/>
                <a:cs typeface="Arial"/>
                <a:sym typeface="Arial"/>
              </a:rPr>
              <a:t>focus on a clean, hassle-free cancellation. No retention push.</a:t>
            </a:r>
            <a:endParaRPr b="0" i="0" spc="0" sz="1000" u="none" cap="none" strike="noStrike">
              <a:solidFill>
                <a:schemeClr val="dk1"/>
              </a:solidFill>
              <a:latin typeface="Calibri"/>
              <a:ea typeface="Calibri"/>
              <a:cs typeface="Calibri"/>
              <a:sym typeface="Calibri"/>
            </a:endParaRPr>
          </a:p>
        </p:txBody>
      </p:sp>
      <p:sp>
        <p:nvSpPr>
          <p:cNvPr id="1686" name="Google Shape;1686;p6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1" name="Shape 1691"/>
        <p:cNvGrpSpPr/>
        <p:nvPr/>
      </p:nvGrpSpPr>
      <p:grpSpPr>
        <a:xfrm>
          <a:off x="0" y="0"/>
          <a:ext cx="0" cy="0"/>
          <a:chOff x="0" y="0"/>
          <a:chExt cx="0" cy="0"/>
        </a:xfrm>
      </p:grpSpPr>
      <p:sp>
        <p:nvSpPr>
          <p:cNvPr id="1692" name="Google Shape;1692;p6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UNUSED DHJ VOUCHER  ·  KNOWLEDGE CHECK</a:t>
            </a:r>
            <a:endParaRPr b="0" i="0" spc="0" sz="800" u="none" cap="none" strike="noStrike">
              <a:solidFill>
                <a:schemeClr val="dk1"/>
              </a:solidFill>
              <a:latin typeface="Calibri"/>
              <a:ea typeface="Calibri"/>
              <a:cs typeface="Calibri"/>
              <a:sym typeface="Calibri"/>
            </a:endParaRPr>
          </a:p>
        </p:txBody>
      </p:sp>
      <p:sp>
        <p:nvSpPr>
          <p:cNvPr id="1693" name="Google Shape;1693;p6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See What You’ve Got!</a:t>
            </a:r>
            <a:endParaRPr b="0" i="0" spc="0" sz="2400" u="none" cap="none" strike="noStrike">
              <a:solidFill>
                <a:schemeClr val="dk1"/>
              </a:solidFill>
              <a:latin typeface="Calibri"/>
              <a:ea typeface="Calibri"/>
              <a:cs typeface="Calibri"/>
              <a:sym typeface="Calibri"/>
            </a:endParaRPr>
          </a:p>
        </p:txBody>
      </p:sp>
      <p:sp>
        <p:nvSpPr>
          <p:cNvPr id="1694" name="Google Shape;1694;p64"/>
          <p:cNvSpPr/>
          <p:nvPr/>
        </p:nvSpPr>
        <p:spPr>
          <a:xfrm>
            <a:off x="411480" y="1280160"/>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95" name="Google Shape;1695;p64"/>
          <p:cNvSpPr/>
          <p:nvPr/>
        </p:nvSpPr>
        <p:spPr>
          <a:xfrm>
            <a:off x="548640" y="153619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96" name="Google Shape;1696;p64"/>
          <p:cNvSpPr txBox="1"/>
          <p:nvPr/>
        </p:nvSpPr>
        <p:spPr>
          <a:xfrm>
            <a:off x="548640" y="153619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1697" name="Google Shape;1697;p64"/>
          <p:cNvSpPr txBox="1"/>
          <p:nvPr/>
        </p:nvSpPr>
        <p:spPr>
          <a:xfrm>
            <a:off x="960120" y="1280160"/>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The FC table shows "active, 0 paid months". Has the membership started?</a:t>
            </a:r>
            <a:endParaRPr b="0" i="0" spc="0" sz="1000" u="none" cap="none" strike="noStrike">
              <a:solidFill>
                <a:schemeClr val="dk1"/>
              </a:solidFill>
              <a:latin typeface="Calibri"/>
              <a:ea typeface="Calibri"/>
              <a:cs typeface="Calibri"/>
              <a:sym typeface="Calibri"/>
            </a:endParaRPr>
          </a:p>
        </p:txBody>
      </p:sp>
      <p:sp>
        <p:nvSpPr>
          <p:cNvPr id="1698" name="Google Shape;1698;p64"/>
          <p:cNvSpPr/>
          <p:nvPr/>
        </p:nvSpPr>
        <p:spPr>
          <a:xfrm>
            <a:off x="5120640" y="1280160"/>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99" name="Google Shape;1699;p64"/>
          <p:cNvSpPr txBox="1"/>
          <p:nvPr/>
        </p:nvSpPr>
        <p:spPr>
          <a:xfrm>
            <a:off x="5257800" y="1280160"/>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 It starts only when the voucher is used on a completed job.</a:t>
            </a:r>
            <a:endParaRPr b="0" i="0" spc="0" sz="900" u="none" cap="none" strike="noStrike">
              <a:solidFill>
                <a:schemeClr val="dk1"/>
              </a:solidFill>
              <a:latin typeface="Calibri"/>
              <a:ea typeface="Calibri"/>
              <a:cs typeface="Calibri"/>
              <a:sym typeface="Calibri"/>
            </a:endParaRPr>
          </a:p>
        </p:txBody>
      </p:sp>
      <p:sp>
        <p:nvSpPr>
          <p:cNvPr id="1700" name="Google Shape;1700;p64"/>
          <p:cNvSpPr/>
          <p:nvPr/>
        </p:nvSpPr>
        <p:spPr>
          <a:xfrm>
            <a:off x="411480" y="2139696"/>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01" name="Google Shape;1701;p64"/>
          <p:cNvSpPr/>
          <p:nvPr/>
        </p:nvSpPr>
        <p:spPr>
          <a:xfrm>
            <a:off x="548640" y="23957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02" name="Google Shape;1702;p64"/>
          <p:cNvSpPr txBox="1"/>
          <p:nvPr/>
        </p:nvSpPr>
        <p:spPr>
          <a:xfrm>
            <a:off x="548640" y="23957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1703" name="Google Shape;1703;p64"/>
          <p:cNvSpPr txBox="1"/>
          <p:nvPr/>
        </p:nvSpPr>
        <p:spPr>
          <a:xfrm>
            <a:off x="960120" y="2139696"/>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A customer with an unused voucher asks about something unrelated. Mention the membership?</a:t>
            </a:r>
            <a:endParaRPr b="0" i="0" spc="0" sz="1000" u="none" cap="none" strike="noStrike">
              <a:solidFill>
                <a:schemeClr val="dk1"/>
              </a:solidFill>
              <a:latin typeface="Calibri"/>
              <a:ea typeface="Calibri"/>
              <a:cs typeface="Calibri"/>
              <a:sym typeface="Calibri"/>
            </a:endParaRPr>
          </a:p>
        </p:txBody>
      </p:sp>
      <p:sp>
        <p:nvSpPr>
          <p:cNvPr id="1704" name="Google Shape;1704;p64"/>
          <p:cNvSpPr/>
          <p:nvPr/>
        </p:nvSpPr>
        <p:spPr>
          <a:xfrm>
            <a:off x="5120640" y="2139696"/>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05" name="Google Shape;1705;p64"/>
          <p:cNvSpPr txBox="1"/>
          <p:nvPr/>
        </p:nvSpPr>
        <p:spPr>
          <a:xfrm>
            <a:off x="5257800" y="2139696"/>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Yes, once, gently. Skip it if they clearly already know.</a:t>
            </a:r>
            <a:endParaRPr b="0" i="0" spc="0" sz="900" u="none" cap="none" strike="noStrike">
              <a:solidFill>
                <a:schemeClr val="dk1"/>
              </a:solidFill>
              <a:latin typeface="Calibri"/>
              <a:ea typeface="Calibri"/>
              <a:cs typeface="Calibri"/>
              <a:sym typeface="Calibri"/>
            </a:endParaRPr>
          </a:p>
        </p:txBody>
      </p:sp>
      <p:sp>
        <p:nvSpPr>
          <p:cNvPr id="1706" name="Google Shape;1706;p64"/>
          <p:cNvSpPr/>
          <p:nvPr/>
        </p:nvSpPr>
        <p:spPr>
          <a:xfrm>
            <a:off x="411480" y="2999232"/>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07" name="Google Shape;1707;p64"/>
          <p:cNvSpPr/>
          <p:nvPr/>
        </p:nvSpPr>
        <p:spPr>
          <a:xfrm>
            <a:off x="548640" y="325526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08" name="Google Shape;1708;p64"/>
          <p:cNvSpPr txBox="1"/>
          <p:nvPr/>
        </p:nvSpPr>
        <p:spPr>
          <a:xfrm>
            <a:off x="548640" y="32552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1709" name="Google Shape;1709;p64"/>
          <p:cNvSpPr txBox="1"/>
          <p:nvPr/>
        </p:nvSpPr>
        <p:spPr>
          <a:xfrm>
            <a:off x="960120" y="2999232"/>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They say the MF is too expensive. What can you offer?</a:t>
            </a:r>
            <a:endParaRPr b="0" i="0" spc="0" sz="1000" u="none" cap="none" strike="noStrike">
              <a:solidFill>
                <a:schemeClr val="dk1"/>
              </a:solidFill>
              <a:latin typeface="Calibri"/>
              <a:ea typeface="Calibri"/>
              <a:cs typeface="Calibri"/>
              <a:sym typeface="Calibri"/>
            </a:endParaRPr>
          </a:p>
        </p:txBody>
      </p:sp>
      <p:sp>
        <p:nvSpPr>
          <p:cNvPr id="1710" name="Google Shape;1710;p64"/>
          <p:cNvSpPr/>
          <p:nvPr/>
        </p:nvSpPr>
        <p:spPr>
          <a:xfrm>
            <a:off x="5120640" y="2999232"/>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11" name="Google Shape;1711;p64"/>
          <p:cNvSpPr txBox="1"/>
          <p:nvPr/>
        </p:nvSpPr>
        <p:spPr>
          <a:xfrm>
            <a:off x="5257800" y="2999232"/>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Reduce the MF by $10–$15 off the original MF.</a:t>
            </a:r>
            <a:endParaRPr b="0" i="0" spc="0" sz="900" u="none" cap="none" strike="noStrike">
              <a:solidFill>
                <a:schemeClr val="dk1"/>
              </a:solidFill>
              <a:latin typeface="Calibri"/>
              <a:ea typeface="Calibri"/>
              <a:cs typeface="Calibri"/>
              <a:sym typeface="Calibri"/>
            </a:endParaRPr>
          </a:p>
        </p:txBody>
      </p:sp>
      <p:sp>
        <p:nvSpPr>
          <p:cNvPr id="1712" name="Google Shape;1712;p64"/>
          <p:cNvSpPr/>
          <p:nvPr/>
        </p:nvSpPr>
        <p:spPr>
          <a:xfrm>
            <a:off x="411480" y="3858768"/>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13" name="Google Shape;1713;p64"/>
          <p:cNvSpPr/>
          <p:nvPr/>
        </p:nvSpPr>
        <p:spPr>
          <a:xfrm>
            <a:off x="548640" y="41148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14" name="Google Shape;1714;p64"/>
          <p:cNvSpPr txBox="1"/>
          <p:nvPr/>
        </p:nvSpPr>
        <p:spPr>
          <a:xfrm>
            <a:off x="548640" y="41148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4</a:t>
            </a:r>
            <a:endParaRPr b="0" i="0" spc="0" sz="900" u="none" cap="none" strike="noStrike">
              <a:solidFill>
                <a:schemeClr val="dk1"/>
              </a:solidFill>
              <a:latin typeface="Calibri"/>
              <a:ea typeface="Calibri"/>
              <a:cs typeface="Calibri"/>
              <a:sym typeface="Calibri"/>
            </a:endParaRPr>
          </a:p>
        </p:txBody>
      </p:sp>
      <p:sp>
        <p:nvSpPr>
          <p:cNvPr id="1715" name="Google Shape;1715;p64"/>
          <p:cNvSpPr txBox="1"/>
          <p:nvPr/>
        </p:nvSpPr>
        <p:spPr>
          <a:xfrm>
            <a:off x="960120" y="3858768"/>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When do you send the self-refund link?</a:t>
            </a:r>
            <a:endParaRPr b="0" i="0" spc="0" sz="1000" u="none" cap="none" strike="noStrike">
              <a:solidFill>
                <a:schemeClr val="dk1"/>
              </a:solidFill>
              <a:latin typeface="Calibri"/>
              <a:ea typeface="Calibri"/>
              <a:cs typeface="Calibri"/>
              <a:sym typeface="Calibri"/>
            </a:endParaRPr>
          </a:p>
        </p:txBody>
      </p:sp>
      <p:sp>
        <p:nvSpPr>
          <p:cNvPr id="1716" name="Google Shape;1716;p64"/>
          <p:cNvSpPr/>
          <p:nvPr/>
        </p:nvSpPr>
        <p:spPr>
          <a:xfrm>
            <a:off x="5120640" y="3858768"/>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17" name="Google Shape;1717;p64"/>
          <p:cNvSpPr txBox="1"/>
          <p:nvPr/>
        </p:nvSpPr>
        <p:spPr>
          <a:xfrm>
            <a:off x="5257800" y="3858768"/>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Only when they want a refund. Enter the voucher code before "Refund Voucher".</a:t>
            </a:r>
            <a:endParaRPr b="0" i="0" spc="0" sz="900" u="none" cap="none" strike="noStrike">
              <a:solidFill>
                <a:schemeClr val="dk1"/>
              </a:solidFill>
              <a:latin typeface="Calibri"/>
              <a:ea typeface="Calibri"/>
              <a:cs typeface="Calibri"/>
              <a:sym typeface="Calibri"/>
            </a:endParaRPr>
          </a:p>
        </p:txBody>
      </p:sp>
      <p:sp>
        <p:nvSpPr>
          <p:cNvPr id="1718" name="Google Shape;1718;p6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9"/>
                                        </p:tgtEl>
                                        <p:attrNameLst>
                                          <p:attrName>style.visibility</p:attrName>
                                        </p:attrNameLst>
                                      </p:cBhvr>
                                      <p:to>
                                        <p:strVal val="visible"/>
                                      </p:to>
                                    </p:set>
                                    <p:animEffect filter="fade" transition="in">
                                      <p:cBhvr>
                                        <p:cTn dur="600"/>
                                        <p:tgtEl>
                                          <p:spTgt spid="16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5"/>
                                        </p:tgtEl>
                                        <p:attrNameLst>
                                          <p:attrName>style.visibility</p:attrName>
                                        </p:attrNameLst>
                                      </p:cBhvr>
                                      <p:to>
                                        <p:strVal val="visible"/>
                                      </p:to>
                                    </p:set>
                                    <p:animEffect filter="fade" transition="in">
                                      <p:cBhvr>
                                        <p:cTn dur="600"/>
                                        <p:tgtEl>
                                          <p:spTgt spid="17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1"/>
                                        </p:tgtEl>
                                        <p:attrNameLst>
                                          <p:attrName>style.visibility</p:attrName>
                                        </p:attrNameLst>
                                      </p:cBhvr>
                                      <p:to>
                                        <p:strVal val="visible"/>
                                      </p:to>
                                    </p:set>
                                    <p:animEffect filter="fade" transition="in">
                                      <p:cBhvr>
                                        <p:cTn dur="600"/>
                                        <p:tgtEl>
                                          <p:spTgt spid="17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7"/>
                                        </p:tgtEl>
                                        <p:attrNameLst>
                                          <p:attrName>style.visibility</p:attrName>
                                        </p:attrNameLst>
                                      </p:cBhvr>
                                      <p:to>
                                        <p:strVal val="visible"/>
                                      </p:to>
                                    </p:set>
                                    <p:animEffect filter="fade" transition="in">
                                      <p:cBhvr>
                                        <p:cTn dur="600"/>
                                        <p:tgtEl>
                                          <p:spTgt spid="17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3" name="Shape 1723"/>
        <p:cNvGrpSpPr/>
        <p:nvPr/>
      </p:nvGrpSpPr>
      <p:grpSpPr>
        <a:xfrm>
          <a:off x="0" y="0"/>
          <a:ext cx="0" cy="0"/>
          <a:chOff x="0" y="0"/>
          <a:chExt cx="0" cy="0"/>
        </a:xfrm>
      </p:grpSpPr>
      <p:sp>
        <p:nvSpPr>
          <p:cNvPr id="1724" name="Google Shape;1724;p6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UNUSED DHJ VOUCHER  ·  PRACTICE</a:t>
            </a:r>
            <a:endParaRPr b="0" i="0" spc="0" sz="800" u="none" cap="none" strike="noStrike">
              <a:solidFill>
                <a:schemeClr val="dk1"/>
              </a:solidFill>
              <a:latin typeface="Calibri"/>
              <a:ea typeface="Calibri"/>
              <a:cs typeface="Calibri"/>
              <a:sym typeface="Calibri"/>
            </a:endParaRPr>
          </a:p>
        </p:txBody>
      </p:sp>
      <p:sp>
        <p:nvSpPr>
          <p:cNvPr id="1725" name="Google Shape;1725;p6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investigate together!</a:t>
            </a:r>
            <a:endParaRPr b="0" i="0" spc="0" sz="2400" u="none" cap="none" strike="noStrike">
              <a:solidFill>
                <a:schemeClr val="dk1"/>
              </a:solidFill>
              <a:latin typeface="Calibri"/>
              <a:ea typeface="Calibri"/>
              <a:cs typeface="Calibri"/>
              <a:sym typeface="Calibri"/>
            </a:endParaRPr>
          </a:p>
        </p:txBody>
      </p:sp>
      <p:sp>
        <p:nvSpPr>
          <p:cNvPr id="1726" name="Google Shape;1726;p6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Review the live ticket and investigate.</a:t>
            </a:r>
            <a:endParaRPr b="0" i="0" spc="0" sz="1200" u="none" cap="none" strike="noStrike">
              <a:solidFill>
                <a:schemeClr val="dk1"/>
              </a:solidFill>
              <a:latin typeface="Calibri"/>
              <a:ea typeface="Calibri"/>
              <a:cs typeface="Calibri"/>
              <a:sym typeface="Calibri"/>
            </a:endParaRPr>
          </a:p>
        </p:txBody>
      </p:sp>
      <p:sp>
        <p:nvSpPr>
          <p:cNvPr id="1727" name="Google Shape;1727;p65"/>
          <p:cNvSpPr/>
          <p:nvPr/>
        </p:nvSpPr>
        <p:spPr>
          <a:xfrm>
            <a:off x="411480" y="1298448"/>
            <a:ext cx="3383280" cy="2633472"/>
          </a:xfrm>
          <a:prstGeom prst="roundRect">
            <a:avLst>
              <a:gd fmla="val 27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28" name="Google Shape;1728;p65"/>
          <p:cNvSpPr/>
          <p:nvPr/>
        </p:nvSpPr>
        <p:spPr>
          <a:xfrm>
            <a:off x="594360" y="148132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729" name="Google Shape;1729;p65"/>
          <p:cNvPicPr preferRelativeResize="0"/>
          <p:nvPr/>
        </p:nvPicPr>
        <p:blipFill rotWithShape="1">
          <a:blip r:embed="rId3">
            <a:alphaModFix/>
          </a:blip>
          <a:srcRect b="0" l="0" r="0" t="0"/>
          <a:stretch/>
        </p:blipFill>
        <p:spPr>
          <a:xfrm>
            <a:off x="686532" y="1573500"/>
            <a:ext cx="199705" cy="199705"/>
          </a:xfrm>
          <a:prstGeom prst="rect">
            <a:avLst/>
          </a:prstGeom>
          <a:noFill/>
          <a:ln>
            <a:noFill/>
          </a:ln>
        </p:spPr>
      </p:pic>
      <p:sp>
        <p:nvSpPr>
          <p:cNvPr id="1730" name="Google Shape;1730;p65"/>
          <p:cNvSpPr txBox="1"/>
          <p:nvPr/>
        </p:nvSpPr>
        <p:spPr>
          <a:xfrm>
            <a:off x="594360" y="2011680"/>
            <a:ext cx="301752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Live ticket</a:t>
            </a:r>
            <a:endParaRPr b="0" i="0" spc="0" sz="1300" u="none" cap="none" strike="noStrike">
              <a:solidFill>
                <a:schemeClr val="dk1"/>
              </a:solidFill>
              <a:latin typeface="Calibri"/>
              <a:ea typeface="Calibri"/>
              <a:cs typeface="Calibri"/>
              <a:sym typeface="Calibri"/>
            </a:endParaRPr>
          </a:p>
        </p:txBody>
      </p:sp>
      <p:sp>
        <p:nvSpPr>
          <p:cNvPr id="1731" name="Google Shape;1731;p65"/>
          <p:cNvSpPr txBox="1"/>
          <p:nvPr/>
        </p:nvSpPr>
        <p:spPr>
          <a:xfrm>
            <a:off x="594360" y="2350008"/>
            <a:ext cx="301752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050"/>
              <a:buFont typeface="Arial"/>
              <a:buNone/>
            </a:pPr>
            <a:r>
              <a:rPr b="0" i="0" lang="en-US" spc="0" sz="1050" u="none" cap="none" strike="noStrike">
                <a:solidFill>
                  <a:srgbClr val="6E6E73"/>
                </a:solidFill>
                <a:latin typeface="Arial"/>
                <a:ea typeface="Arial"/>
                <a:cs typeface="Arial"/>
                <a:sym typeface="Arial"/>
              </a:rPr>
              <a:t>Your trainer will provide a live ticket. Review it and investigate before you decide anything.</a:t>
            </a:r>
            <a:endParaRPr b="0" i="0" spc="0" sz="1050" u="none" cap="none" strike="noStrike">
              <a:solidFill>
                <a:schemeClr val="dk1"/>
              </a:solidFill>
              <a:latin typeface="Calibri"/>
              <a:ea typeface="Calibri"/>
              <a:cs typeface="Calibri"/>
              <a:sym typeface="Calibri"/>
            </a:endParaRPr>
          </a:p>
        </p:txBody>
      </p:sp>
      <p:sp>
        <p:nvSpPr>
          <p:cNvPr id="1732" name="Google Shape;1732;p65"/>
          <p:cNvSpPr/>
          <p:nvPr/>
        </p:nvSpPr>
        <p:spPr>
          <a:xfrm>
            <a:off x="594360" y="3401568"/>
            <a:ext cx="1371600" cy="329184"/>
          </a:xfrm>
          <a:prstGeom prst="roundRect">
            <a:avLst>
              <a:gd fmla="val 22222" name="adj"/>
            </a:avLst>
          </a:prstGeom>
          <a:solidFill>
            <a:srgbClr val="FFF3D6"/>
          </a:solidFill>
          <a:ln cap="flat" cmpd="sng" w="9525">
            <a:solidFill>
              <a:srgbClr val="FFF3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950"/>
              <a:buFont typeface="Arial"/>
              <a:buNone/>
            </a:pPr>
            <a:r>
              <a:rPr b="1" i="0" lang="en-US" spc="0" sz="950" u="none" cap="none" strike="noStrike">
                <a:solidFill>
                  <a:srgbClr val="9A6410"/>
                </a:solidFill>
                <a:latin typeface="Arial"/>
                <a:ea typeface="Arial"/>
                <a:cs typeface="Arial"/>
                <a:sym typeface="Arial"/>
              </a:rPr>
              <a:t>Trainer provides</a:t>
            </a:r>
            <a:endParaRPr b="0" i="0" spc="0" sz="950" u="none" cap="none" strike="noStrike">
              <a:solidFill>
                <a:schemeClr val="dk1"/>
              </a:solidFill>
              <a:latin typeface="Calibri"/>
              <a:ea typeface="Calibri"/>
              <a:cs typeface="Calibri"/>
              <a:sym typeface="Calibri"/>
            </a:endParaRPr>
          </a:p>
        </p:txBody>
      </p:sp>
      <p:sp>
        <p:nvSpPr>
          <p:cNvPr id="1733" name="Google Shape;1733;p65"/>
          <p:cNvSpPr/>
          <p:nvPr/>
        </p:nvSpPr>
        <p:spPr>
          <a:xfrm>
            <a:off x="3931920" y="1298448"/>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34" name="Google Shape;1734;p65"/>
          <p:cNvSpPr/>
          <p:nvPr/>
        </p:nvSpPr>
        <p:spPr>
          <a:xfrm>
            <a:off x="4114800"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35" name="Google Shape;1735;p65"/>
          <p:cNvSpPr txBox="1"/>
          <p:nvPr/>
        </p:nvSpPr>
        <p:spPr>
          <a:xfrm>
            <a:off x="4114800"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1736" name="Google Shape;1736;p65"/>
          <p:cNvSpPr txBox="1"/>
          <p:nvPr/>
        </p:nvSpPr>
        <p:spPr>
          <a:xfrm>
            <a:off x="4572000" y="1426464"/>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Which of the 4 cases is this? Why?</a:t>
            </a:r>
            <a:endParaRPr b="0" i="0" spc="0" sz="1250" u="none" cap="none" strike="noStrike">
              <a:solidFill>
                <a:schemeClr val="dk1"/>
              </a:solidFill>
              <a:latin typeface="Calibri"/>
              <a:ea typeface="Calibri"/>
              <a:cs typeface="Calibri"/>
              <a:sym typeface="Calibri"/>
            </a:endParaRPr>
          </a:p>
        </p:txBody>
      </p:sp>
      <p:sp>
        <p:nvSpPr>
          <p:cNvPr id="1737" name="Google Shape;1737;p65"/>
          <p:cNvSpPr txBox="1"/>
          <p:nvPr/>
        </p:nvSpPr>
        <p:spPr>
          <a:xfrm>
            <a:off x="4572000" y="1737360"/>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And is there an FC table yet?</a:t>
            </a:r>
            <a:endParaRPr b="0" i="0" spc="0" sz="1000" u="none" cap="none" strike="noStrike">
              <a:solidFill>
                <a:schemeClr val="dk1"/>
              </a:solidFill>
              <a:latin typeface="Calibri"/>
              <a:ea typeface="Calibri"/>
              <a:cs typeface="Calibri"/>
              <a:sym typeface="Calibri"/>
            </a:endParaRPr>
          </a:p>
        </p:txBody>
      </p:sp>
      <p:sp>
        <p:nvSpPr>
          <p:cNvPr id="1738" name="Google Shape;1738;p65"/>
          <p:cNvSpPr/>
          <p:nvPr/>
        </p:nvSpPr>
        <p:spPr>
          <a:xfrm>
            <a:off x="3931920" y="2221992"/>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39" name="Google Shape;1739;p65"/>
          <p:cNvSpPr/>
          <p:nvPr/>
        </p:nvSpPr>
        <p:spPr>
          <a:xfrm>
            <a:off x="4114800" y="247802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40" name="Google Shape;1740;p65"/>
          <p:cNvSpPr txBox="1"/>
          <p:nvPr/>
        </p:nvSpPr>
        <p:spPr>
          <a:xfrm>
            <a:off x="4114800" y="247802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1741" name="Google Shape;1741;p65"/>
          <p:cNvSpPr txBox="1"/>
          <p:nvPr/>
        </p:nvSpPr>
        <p:spPr>
          <a:xfrm>
            <a:off x="4572000" y="2350008"/>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What actions are you going to take?</a:t>
            </a:r>
            <a:endParaRPr b="0" i="0" spc="0" sz="1250" u="none" cap="none" strike="noStrike">
              <a:solidFill>
                <a:schemeClr val="dk1"/>
              </a:solidFill>
              <a:latin typeface="Calibri"/>
              <a:ea typeface="Calibri"/>
              <a:cs typeface="Calibri"/>
              <a:sym typeface="Calibri"/>
            </a:endParaRPr>
          </a:p>
        </p:txBody>
      </p:sp>
      <p:sp>
        <p:nvSpPr>
          <p:cNvPr id="1742" name="Google Shape;1742;p65"/>
          <p:cNvSpPr txBox="1"/>
          <p:nvPr/>
        </p:nvSpPr>
        <p:spPr>
          <a:xfrm>
            <a:off x="4572000" y="2660904"/>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Offer, refund link, refund, or close the account?</a:t>
            </a:r>
            <a:endParaRPr b="0" i="0" spc="0" sz="1000" u="none" cap="none" strike="noStrike">
              <a:solidFill>
                <a:schemeClr val="dk1"/>
              </a:solidFill>
              <a:latin typeface="Calibri"/>
              <a:ea typeface="Calibri"/>
              <a:cs typeface="Calibri"/>
              <a:sym typeface="Calibri"/>
            </a:endParaRPr>
          </a:p>
        </p:txBody>
      </p:sp>
      <p:sp>
        <p:nvSpPr>
          <p:cNvPr id="1743" name="Google Shape;1743;p65"/>
          <p:cNvSpPr/>
          <p:nvPr/>
        </p:nvSpPr>
        <p:spPr>
          <a:xfrm>
            <a:off x="3931920" y="3145536"/>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44" name="Google Shape;1744;p65"/>
          <p:cNvSpPr/>
          <p:nvPr/>
        </p:nvSpPr>
        <p:spPr>
          <a:xfrm>
            <a:off x="4114800" y="340156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45" name="Google Shape;1745;p65"/>
          <p:cNvSpPr txBox="1"/>
          <p:nvPr/>
        </p:nvSpPr>
        <p:spPr>
          <a:xfrm>
            <a:off x="4114800" y="340156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1746" name="Google Shape;1746;p65"/>
          <p:cNvSpPr txBox="1"/>
          <p:nvPr/>
        </p:nvSpPr>
        <p:spPr>
          <a:xfrm>
            <a:off x="4572000" y="3273552"/>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5-min writing challenge</a:t>
            </a:r>
            <a:endParaRPr b="0" i="0" spc="0" sz="1250" u="none" cap="none" strike="noStrike">
              <a:solidFill>
                <a:schemeClr val="dk1"/>
              </a:solidFill>
              <a:latin typeface="Calibri"/>
              <a:ea typeface="Calibri"/>
              <a:cs typeface="Calibri"/>
              <a:sym typeface="Calibri"/>
            </a:endParaRPr>
          </a:p>
        </p:txBody>
      </p:sp>
      <p:sp>
        <p:nvSpPr>
          <p:cNvPr id="1747" name="Google Shape;1747;p65"/>
          <p:cNvSpPr txBox="1"/>
          <p:nvPr/>
        </p:nvSpPr>
        <p:spPr>
          <a:xfrm>
            <a:off x="4572000" y="3584448"/>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Create your comms for the customer.</a:t>
            </a:r>
            <a:endParaRPr b="0" i="0" spc="0" sz="1000" u="none" cap="none" strike="noStrike">
              <a:solidFill>
                <a:schemeClr val="dk1"/>
              </a:solidFill>
              <a:latin typeface="Calibri"/>
              <a:ea typeface="Calibri"/>
              <a:cs typeface="Calibri"/>
              <a:sym typeface="Calibri"/>
            </a:endParaRPr>
          </a:p>
        </p:txBody>
      </p:sp>
      <p:sp>
        <p:nvSpPr>
          <p:cNvPr id="1748" name="Google Shape;1748;p65"/>
          <p:cNvSpPr/>
          <p:nvPr/>
        </p:nvSpPr>
        <p:spPr>
          <a:xfrm>
            <a:off x="411480" y="4069080"/>
            <a:ext cx="8321040" cy="502920"/>
          </a:xfrm>
          <a:prstGeom prst="roundRect">
            <a:avLst>
              <a:gd fmla="val 14545"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749" name="Google Shape;1749;p65"/>
          <p:cNvPicPr preferRelativeResize="0"/>
          <p:nvPr/>
        </p:nvPicPr>
        <p:blipFill rotWithShape="1">
          <a:blip r:embed="rId4">
            <a:alphaModFix/>
          </a:blip>
          <a:srcRect b="0" l="0" r="0" t="0"/>
          <a:stretch/>
        </p:blipFill>
        <p:spPr>
          <a:xfrm>
            <a:off x="640080" y="4192524"/>
            <a:ext cx="256032" cy="256032"/>
          </a:xfrm>
          <a:prstGeom prst="rect">
            <a:avLst/>
          </a:prstGeom>
          <a:noFill/>
          <a:ln>
            <a:noFill/>
          </a:ln>
        </p:spPr>
      </p:pic>
      <p:sp>
        <p:nvSpPr>
          <p:cNvPr id="1750" name="Google Shape;1750;p65"/>
          <p:cNvSpPr txBox="1"/>
          <p:nvPr/>
        </p:nvSpPr>
        <p:spPr>
          <a:xfrm>
            <a:off x="1051560" y="4069080"/>
            <a:ext cx="74980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Play"/>
              <a:buNone/>
            </a:pPr>
            <a:r>
              <a:rPr b="1" i="0" lang="en-US" spc="0" sz="1400" u="none" cap="none" strike="noStrike">
                <a:solidFill>
                  <a:srgbClr val="FFFFFF"/>
                </a:solidFill>
                <a:latin typeface="Play"/>
                <a:ea typeface="Play"/>
                <a:cs typeface="Play"/>
                <a:sym typeface="Play"/>
              </a:rPr>
              <a:t>Questions?  </a:t>
            </a:r>
            <a:r>
              <a:rPr b="0" i="0" lang="en-US" spc="0" sz="1100" u="none" cap="none" strike="noStrike">
                <a:solidFill>
                  <a:srgbClr val="FFFFFF"/>
                </a:solidFill>
                <a:latin typeface="Arial"/>
                <a:ea typeface="Arial"/>
                <a:cs typeface="Arial"/>
                <a:sym typeface="Arial"/>
              </a:rPr>
              <a:t>Open the floor before we move to the next topic.</a:t>
            </a:r>
            <a:endParaRPr b="0" i="0" spc="0" sz="1400" u="none" cap="none" strike="noStrike">
              <a:solidFill>
                <a:schemeClr val="dk1"/>
              </a:solidFill>
              <a:latin typeface="Calibri"/>
              <a:ea typeface="Calibri"/>
              <a:cs typeface="Calibri"/>
              <a:sym typeface="Calibri"/>
            </a:endParaRPr>
          </a:p>
        </p:txBody>
      </p:sp>
      <p:sp>
        <p:nvSpPr>
          <p:cNvPr id="1751" name="Google Shape;1751;p6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6" name="Shape 1756"/>
        <p:cNvGrpSpPr/>
        <p:nvPr/>
      </p:nvGrpSpPr>
      <p:grpSpPr>
        <a:xfrm>
          <a:off x="0" y="0"/>
          <a:ext cx="0" cy="0"/>
          <a:chOff x="0" y="0"/>
          <a:chExt cx="0" cy="0"/>
        </a:xfrm>
      </p:grpSpPr>
      <p:sp>
        <p:nvSpPr>
          <p:cNvPr id="1757" name="Google Shape;1757;p66"/>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TOPIC 06 OF 07</a:t>
            </a:r>
            <a:endParaRPr b="0" i="0" spc="0" sz="800" u="none" cap="none" strike="noStrike">
              <a:solidFill>
                <a:schemeClr val="dk1"/>
              </a:solidFill>
              <a:latin typeface="Calibri"/>
              <a:ea typeface="Calibri"/>
              <a:cs typeface="Calibri"/>
              <a:sym typeface="Calibri"/>
            </a:endParaRPr>
          </a:p>
        </p:txBody>
      </p:sp>
      <p:sp>
        <p:nvSpPr>
          <p:cNvPr id="1758" name="Google Shape;1758;p66"/>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US" spc="0" sz="2800" u="none" cap="none" strike="noStrike">
                <a:solidFill>
                  <a:srgbClr val="1D1D1F"/>
                </a:solidFill>
                <a:latin typeface="Play"/>
                <a:ea typeface="Play"/>
                <a:cs typeface="Play"/>
                <a:sym typeface="Play"/>
              </a:rPr>
              <a:t>FCF Pre-Invoice Cancellation</a:t>
            </a:r>
            <a:endParaRPr b="0" i="0" spc="0" sz="2800" u="none" cap="none" strike="noStrike">
              <a:solidFill>
                <a:schemeClr val="dk1"/>
              </a:solidFill>
              <a:latin typeface="Calibri"/>
              <a:ea typeface="Calibri"/>
              <a:cs typeface="Calibri"/>
              <a:sym typeface="Calibri"/>
            </a:endParaRPr>
          </a:p>
        </p:txBody>
      </p:sp>
      <p:sp>
        <p:nvSpPr>
          <p:cNvPr id="1759" name="Google Shape;1759;p66"/>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US" spc="0" sz="1150" u="none" cap="none" strike="noStrike">
                <a:solidFill>
                  <a:srgbClr val="6E6E73"/>
                </a:solidFill>
                <a:latin typeface="Arial"/>
                <a:ea typeface="Arial"/>
                <a:cs typeface="Arial"/>
                <a:sym typeface="Arial"/>
              </a:rPr>
              <a:t>Cancelling FCF before the first job is invoiced, and whether to refund.</a:t>
            </a:r>
            <a:endParaRPr b="0" i="0" spc="0" sz="1150" u="none" cap="none" strike="noStrike">
              <a:solidFill>
                <a:schemeClr val="dk1"/>
              </a:solidFill>
              <a:latin typeface="Calibri"/>
              <a:ea typeface="Calibri"/>
              <a:cs typeface="Calibri"/>
              <a:sym typeface="Calibri"/>
            </a:endParaRPr>
          </a:p>
        </p:txBody>
      </p:sp>
      <p:sp>
        <p:nvSpPr>
          <p:cNvPr id="1760" name="Google Shape;1760;p66"/>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YOU'LL LEARN</a:t>
            </a:r>
            <a:endParaRPr b="0" i="0" spc="0" sz="800" u="none" cap="none" strike="noStrike">
              <a:solidFill>
                <a:schemeClr val="dk1"/>
              </a:solidFill>
              <a:latin typeface="Calibri"/>
              <a:ea typeface="Calibri"/>
              <a:cs typeface="Calibri"/>
              <a:sym typeface="Calibri"/>
            </a:endParaRPr>
          </a:p>
        </p:txBody>
      </p:sp>
      <p:sp>
        <p:nvSpPr>
          <p:cNvPr id="1761" name="Google Shape;1761;p66"/>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762" name="Google Shape;1762;p66"/>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1763" name="Google Shape;1763;p66"/>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Why this only happens on FCF</a:t>
            </a:r>
            <a:endParaRPr b="0" i="0" spc="0" sz="1050" u="none" cap="none" strike="noStrike">
              <a:solidFill>
                <a:schemeClr val="dk1"/>
              </a:solidFill>
              <a:latin typeface="Calibri"/>
              <a:ea typeface="Calibri"/>
              <a:cs typeface="Calibri"/>
              <a:sym typeface="Calibri"/>
            </a:endParaRPr>
          </a:p>
        </p:txBody>
      </p:sp>
      <p:sp>
        <p:nvSpPr>
          <p:cNvPr id="1764" name="Google Shape;1764;p66"/>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765" name="Google Shape;1765;p66"/>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1766" name="Google Shape;1766;p66"/>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The internal 24-hour window</a:t>
            </a:r>
            <a:endParaRPr b="0" i="0" spc="0" sz="1050" u="none" cap="none" strike="noStrike">
              <a:solidFill>
                <a:schemeClr val="dk1"/>
              </a:solidFill>
              <a:latin typeface="Calibri"/>
              <a:ea typeface="Calibri"/>
              <a:cs typeface="Calibri"/>
              <a:sym typeface="Calibri"/>
            </a:endParaRPr>
          </a:p>
        </p:txBody>
      </p:sp>
      <p:sp>
        <p:nvSpPr>
          <p:cNvPr id="1767" name="Google Shape;1767;p66"/>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768" name="Google Shape;1768;p66"/>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1769" name="Google Shape;1769;p66"/>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The refund cheat sheet</a:t>
            </a:r>
            <a:endParaRPr b="0" i="0" spc="0" sz="1050" u="none" cap="none" strike="noStrike">
              <a:solidFill>
                <a:schemeClr val="dk1"/>
              </a:solidFill>
              <a:latin typeface="Calibri"/>
              <a:ea typeface="Calibri"/>
              <a:cs typeface="Calibri"/>
              <a:sym typeface="Calibri"/>
            </a:endParaRPr>
          </a:p>
        </p:txBody>
      </p:sp>
      <p:sp>
        <p:nvSpPr>
          <p:cNvPr id="1770" name="Google Shape;1770;p66"/>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771" name="Google Shape;1771;p66"/>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1772" name="Google Shape;1772;p66"/>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How to process each refund</a:t>
            </a:r>
            <a:endParaRPr b="0" i="0" spc="0" sz="1050" u="none" cap="none" strike="noStrike">
              <a:solidFill>
                <a:schemeClr val="dk1"/>
              </a:solidFill>
              <a:latin typeface="Calibri"/>
              <a:ea typeface="Calibri"/>
              <a:cs typeface="Calibri"/>
              <a:sym typeface="Calibri"/>
            </a:endParaRPr>
          </a:p>
        </p:txBody>
      </p:sp>
      <p:sp>
        <p:nvSpPr>
          <p:cNvPr id="1773" name="Google Shape;1773;p66"/>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74" name="Google Shape;1774;p66"/>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7/ill24.png" id="1775" name="Google Shape;1775;p66"/>
          <p:cNvPicPr preferRelativeResize="0"/>
          <p:nvPr/>
        </p:nvPicPr>
        <p:blipFill rotWithShape="1">
          <a:blip r:embed="rId4">
            <a:alphaModFix/>
          </a:blip>
          <a:srcRect b="0" l="0" r="0" t="0"/>
          <a:stretch/>
        </p:blipFill>
        <p:spPr>
          <a:xfrm>
            <a:off x="5658307" y="1517904"/>
            <a:ext cx="2691994" cy="2103120"/>
          </a:xfrm>
          <a:prstGeom prst="rect">
            <a:avLst/>
          </a:prstGeom>
          <a:noFill/>
          <a:ln>
            <a:noFill/>
          </a:ln>
        </p:spPr>
      </p:pic>
      <p:sp>
        <p:nvSpPr>
          <p:cNvPr id="1776" name="Google Shape;1776;p66"/>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77" name="Google Shape;1777;p66"/>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78" name="Google Shape;1778;p66"/>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79" name="Google Shape;1779;p66"/>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80" name="Google Shape;1780;p66"/>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81" name="Google Shape;1781;p66"/>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82" name="Google Shape;1782;p6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7" name="Shape 1787"/>
        <p:cNvGrpSpPr/>
        <p:nvPr/>
      </p:nvGrpSpPr>
      <p:grpSpPr>
        <a:xfrm>
          <a:off x="0" y="0"/>
          <a:ext cx="0" cy="0"/>
          <a:chOff x="0" y="0"/>
          <a:chExt cx="0" cy="0"/>
        </a:xfrm>
      </p:grpSpPr>
      <p:sp>
        <p:nvSpPr>
          <p:cNvPr id="1788" name="Google Shape;1788;p6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FCF PRE-INVOICE</a:t>
            </a:r>
            <a:endParaRPr b="0" i="0" spc="0" sz="800" u="none" cap="none" strike="noStrike">
              <a:solidFill>
                <a:schemeClr val="dk1"/>
              </a:solidFill>
              <a:latin typeface="Calibri"/>
              <a:ea typeface="Calibri"/>
              <a:cs typeface="Calibri"/>
              <a:sym typeface="Calibri"/>
            </a:endParaRPr>
          </a:p>
        </p:txBody>
      </p:sp>
      <p:sp>
        <p:nvSpPr>
          <p:cNvPr id="1789" name="Google Shape;1789;p6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What is this?</a:t>
            </a:r>
            <a:endParaRPr b="0" i="0" spc="0" sz="2400" u="none" cap="none" strike="noStrike">
              <a:solidFill>
                <a:schemeClr val="dk1"/>
              </a:solidFill>
              <a:latin typeface="Calibri"/>
              <a:ea typeface="Calibri"/>
              <a:cs typeface="Calibri"/>
              <a:sym typeface="Calibri"/>
            </a:endParaRPr>
          </a:p>
        </p:txBody>
      </p:sp>
      <p:sp>
        <p:nvSpPr>
          <p:cNvPr id="1790" name="Google Shape;1790;p67"/>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FCF starts at sign-up, so customers can cancel before any cleaning.</a:t>
            </a:r>
            <a:endParaRPr b="0" i="0" spc="0" sz="1200" u="none" cap="none" strike="noStrike">
              <a:solidFill>
                <a:schemeClr val="dk1"/>
              </a:solidFill>
              <a:latin typeface="Calibri"/>
              <a:ea typeface="Calibri"/>
              <a:cs typeface="Calibri"/>
              <a:sym typeface="Calibri"/>
            </a:endParaRPr>
          </a:p>
        </p:txBody>
      </p:sp>
      <p:sp>
        <p:nvSpPr>
          <p:cNvPr id="1791" name="Google Shape;1791;p67"/>
          <p:cNvSpPr/>
          <p:nvPr/>
        </p:nvSpPr>
        <p:spPr>
          <a:xfrm>
            <a:off x="411480" y="1325880"/>
            <a:ext cx="4069080" cy="1371600"/>
          </a:xfrm>
          <a:prstGeom prst="roundRect">
            <a:avLst>
              <a:gd fmla="val 5333" name="adj"/>
            </a:avLst>
          </a:prstGeom>
          <a:solidFill>
            <a:srgbClr val="FFFFFF"/>
          </a:solidFill>
          <a:ln cap="flat" cmpd="sng" w="9525">
            <a:solidFill>
              <a:srgbClr val="1D1D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92" name="Google Shape;1792;p67"/>
          <p:cNvSpPr/>
          <p:nvPr/>
        </p:nvSpPr>
        <p:spPr>
          <a:xfrm>
            <a:off x="411480" y="1325880"/>
            <a:ext cx="4069080" cy="329184"/>
          </a:xfrm>
          <a:prstGeom prst="roundRect">
            <a:avLst>
              <a:gd fmla="val 16667" name="adj"/>
            </a:avLst>
          </a:prstGeom>
          <a:solidFill>
            <a:srgbClr val="1D1D1F"/>
          </a:solidFill>
          <a:ln cap="flat" cmpd="sng" w="12700">
            <a:solidFill>
              <a:srgbClr val="1D1D1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Legacy DHJ</a:t>
            </a:r>
            <a:endParaRPr b="0" i="0" spc="0" sz="1050" u="none" cap="none" strike="noStrike">
              <a:solidFill>
                <a:schemeClr val="dk1"/>
              </a:solidFill>
              <a:latin typeface="Calibri"/>
              <a:ea typeface="Calibri"/>
              <a:cs typeface="Calibri"/>
              <a:sym typeface="Calibri"/>
            </a:endParaRPr>
          </a:p>
        </p:txBody>
      </p:sp>
      <p:sp>
        <p:nvSpPr>
          <p:cNvPr id="1793" name="Google Shape;1793;p67"/>
          <p:cNvSpPr txBox="1"/>
          <p:nvPr/>
        </p:nvSpPr>
        <p:spPr>
          <a:xfrm>
            <a:off x="576072" y="1764792"/>
            <a:ext cx="3739896" cy="8595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Membership starts after a completed job</a:t>
            </a:r>
            <a:endParaRPr b="0" i="0" spc="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Nothing to cancel before the first cleaning</a:t>
            </a:r>
            <a:endParaRPr b="0" i="0" spc="0" sz="1000" u="none" cap="none" strike="noStrike">
              <a:solidFill>
                <a:schemeClr val="dk1"/>
              </a:solidFill>
              <a:latin typeface="Calibri"/>
              <a:ea typeface="Calibri"/>
              <a:cs typeface="Calibri"/>
              <a:sym typeface="Calibri"/>
            </a:endParaRPr>
          </a:p>
        </p:txBody>
      </p:sp>
      <p:sp>
        <p:nvSpPr>
          <p:cNvPr id="1794" name="Google Shape;1794;p67"/>
          <p:cNvSpPr/>
          <p:nvPr/>
        </p:nvSpPr>
        <p:spPr>
          <a:xfrm>
            <a:off x="4663440" y="1325880"/>
            <a:ext cx="4069080" cy="1371600"/>
          </a:xfrm>
          <a:prstGeom prst="roundRect">
            <a:avLst>
              <a:gd fmla="val 5333"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795" name="Google Shape;1795;p67"/>
          <p:cNvSpPr/>
          <p:nvPr/>
        </p:nvSpPr>
        <p:spPr>
          <a:xfrm>
            <a:off x="4663440" y="1325880"/>
            <a:ext cx="40690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FCF</a:t>
            </a:r>
            <a:endParaRPr b="0" i="0" spc="0" sz="1050" u="none" cap="none" strike="noStrike">
              <a:solidFill>
                <a:schemeClr val="dk1"/>
              </a:solidFill>
              <a:latin typeface="Calibri"/>
              <a:ea typeface="Calibri"/>
              <a:cs typeface="Calibri"/>
              <a:sym typeface="Calibri"/>
            </a:endParaRPr>
          </a:p>
        </p:txBody>
      </p:sp>
      <p:sp>
        <p:nvSpPr>
          <p:cNvPr id="1796" name="Google Shape;1796;p67"/>
          <p:cNvSpPr txBox="1"/>
          <p:nvPr/>
        </p:nvSpPr>
        <p:spPr>
          <a:xfrm>
            <a:off x="4828032" y="1764792"/>
            <a:ext cx="3739896" cy="8595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Membership starts at sign-up</a:t>
            </a:r>
            <a:endParaRPr b="0" i="0" spc="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Can self-cancel with zero completed jobs</a:t>
            </a:r>
            <a:endParaRPr b="0" i="0" spc="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$19 first month, then $59, auto-renewing</a:t>
            </a:r>
            <a:endParaRPr b="0" i="0" spc="0" sz="1000" u="none" cap="none" strike="noStrike">
              <a:solidFill>
                <a:schemeClr val="dk1"/>
              </a:solidFill>
              <a:latin typeface="Calibri"/>
              <a:ea typeface="Calibri"/>
              <a:cs typeface="Calibri"/>
              <a:sym typeface="Calibri"/>
            </a:endParaRPr>
          </a:p>
        </p:txBody>
      </p:sp>
      <p:sp>
        <p:nvSpPr>
          <p:cNvPr id="1797" name="Google Shape;1797;p67"/>
          <p:cNvSpPr/>
          <p:nvPr/>
        </p:nvSpPr>
        <p:spPr>
          <a:xfrm>
            <a:off x="411480" y="2880360"/>
            <a:ext cx="8321040" cy="457200"/>
          </a:xfrm>
          <a:prstGeom prst="roundRect">
            <a:avLst>
              <a:gd fmla="val 16000"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798" name="Google Shape;1798;p67"/>
          <p:cNvPicPr preferRelativeResize="0"/>
          <p:nvPr/>
        </p:nvPicPr>
        <p:blipFill rotWithShape="1">
          <a:blip r:embed="rId3">
            <a:alphaModFix/>
          </a:blip>
          <a:srcRect b="0" l="0" r="0" t="0"/>
          <a:stretch/>
        </p:blipFill>
        <p:spPr>
          <a:xfrm>
            <a:off x="566928" y="3026664"/>
            <a:ext cx="164592" cy="164592"/>
          </a:xfrm>
          <a:prstGeom prst="rect">
            <a:avLst/>
          </a:prstGeom>
          <a:noFill/>
          <a:ln>
            <a:noFill/>
          </a:ln>
        </p:spPr>
      </p:pic>
      <p:sp>
        <p:nvSpPr>
          <p:cNvPr id="1799" name="Google Shape;1799;p67"/>
          <p:cNvSpPr txBox="1"/>
          <p:nvPr/>
        </p:nvSpPr>
        <p:spPr>
          <a:xfrm>
            <a:off x="822960" y="2880360"/>
            <a:ext cx="77724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3261E"/>
              </a:buClr>
              <a:buSzPts val="1000"/>
              <a:buFont typeface="Arial"/>
              <a:buNone/>
            </a:pPr>
            <a:r>
              <a:rPr b="1" i="0" lang="en-US" spc="0" sz="1000" u="none" cap="none" strike="noStrike">
                <a:solidFill>
                  <a:srgbClr val="B3261E"/>
                </a:solidFill>
                <a:latin typeface="Arial"/>
                <a:ea typeface="Arial"/>
                <a:cs typeface="Arial"/>
                <a:sym typeface="Arial"/>
              </a:rPr>
              <a:t>Retention comes first, always.  </a:t>
            </a:r>
            <a:r>
              <a:rPr b="0" i="0" lang="en-US" spc="0" sz="1000" u="none" cap="none" strike="noStrike">
                <a:solidFill>
                  <a:srgbClr val="1D1D1F"/>
                </a:solidFill>
                <a:latin typeface="Arial"/>
                <a:ea typeface="Arial"/>
                <a:cs typeface="Arial"/>
                <a:sym typeface="Arial"/>
              </a:rPr>
              <a:t>Use the refund table only once they've decided to cancel.</a:t>
            </a:r>
            <a:endParaRPr b="0" i="0" spc="0" sz="1000" u="none" cap="none" strike="noStrike">
              <a:solidFill>
                <a:schemeClr val="dk1"/>
              </a:solidFill>
              <a:latin typeface="Calibri"/>
              <a:ea typeface="Calibri"/>
              <a:cs typeface="Calibri"/>
              <a:sym typeface="Calibri"/>
            </a:endParaRPr>
          </a:p>
        </p:txBody>
      </p:sp>
      <p:sp>
        <p:nvSpPr>
          <p:cNvPr id="1800" name="Google Shape;1800;p67"/>
          <p:cNvSpPr/>
          <p:nvPr/>
        </p:nvSpPr>
        <p:spPr>
          <a:xfrm>
            <a:off x="411480" y="35204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801" name="Google Shape;1801;p67"/>
          <p:cNvPicPr preferRelativeResize="0"/>
          <p:nvPr/>
        </p:nvPicPr>
        <p:blipFill rotWithShape="1">
          <a:blip r:embed="rId4">
            <a:alphaModFix/>
          </a:blip>
          <a:srcRect b="0" l="0" r="0" t="0"/>
          <a:stretch/>
        </p:blipFill>
        <p:spPr>
          <a:xfrm>
            <a:off x="566928" y="3630168"/>
            <a:ext cx="164592" cy="164592"/>
          </a:xfrm>
          <a:prstGeom prst="rect">
            <a:avLst/>
          </a:prstGeom>
          <a:noFill/>
          <a:ln>
            <a:noFill/>
          </a:ln>
        </p:spPr>
      </p:pic>
      <p:sp>
        <p:nvSpPr>
          <p:cNvPr id="1802" name="Google Shape;1802;p67"/>
          <p:cNvSpPr txBox="1"/>
          <p:nvPr/>
        </p:nvSpPr>
        <p:spPr>
          <a:xfrm>
            <a:off x="822960" y="36210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The refund depends on:  </a:t>
            </a:r>
            <a:r>
              <a:rPr b="0" i="0" lang="en-US" spc="0" sz="1000" u="none" cap="none" strike="noStrike">
                <a:solidFill>
                  <a:srgbClr val="1D1D1F"/>
                </a:solidFill>
                <a:latin typeface="Arial"/>
                <a:ea typeface="Arial"/>
                <a:cs typeface="Arial"/>
                <a:sym typeface="Arial"/>
              </a:rPr>
              <a:t>how long they've had it, the cleaning length they chose, and whose fault any failure was.</a:t>
            </a:r>
            <a:endParaRPr b="0" i="0" spc="0" sz="1000" u="none" cap="none" strike="noStrike">
              <a:solidFill>
                <a:schemeClr val="dk1"/>
              </a:solidFill>
              <a:latin typeface="Calibri"/>
              <a:ea typeface="Calibri"/>
              <a:cs typeface="Calibri"/>
              <a:sym typeface="Calibri"/>
            </a:endParaRPr>
          </a:p>
        </p:txBody>
      </p:sp>
      <p:sp>
        <p:nvSpPr>
          <p:cNvPr id="1803" name="Google Shape;1803;p6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8" name="Shape 1808"/>
        <p:cNvGrpSpPr/>
        <p:nvPr/>
      </p:nvGrpSpPr>
      <p:grpSpPr>
        <a:xfrm>
          <a:off x="0" y="0"/>
          <a:ext cx="0" cy="0"/>
          <a:chOff x="0" y="0"/>
          <a:chExt cx="0" cy="0"/>
        </a:xfrm>
      </p:grpSpPr>
      <p:sp>
        <p:nvSpPr>
          <p:cNvPr id="1809" name="Google Shape;1809;p6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FCF PRE-INVOICE</a:t>
            </a:r>
            <a:endParaRPr b="0" i="0" spc="0" sz="800" u="none" cap="none" strike="noStrike">
              <a:solidFill>
                <a:schemeClr val="dk1"/>
              </a:solidFill>
              <a:latin typeface="Calibri"/>
              <a:ea typeface="Calibri"/>
              <a:cs typeface="Calibri"/>
              <a:sym typeface="Calibri"/>
            </a:endParaRPr>
          </a:p>
        </p:txBody>
      </p:sp>
      <p:sp>
        <p:nvSpPr>
          <p:cNvPr id="1810" name="Google Shape;1810;p6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The 24-hour window</a:t>
            </a:r>
            <a:endParaRPr b="0" i="0" spc="0" sz="2400" u="none" cap="none" strike="noStrike">
              <a:solidFill>
                <a:schemeClr val="dk1"/>
              </a:solidFill>
              <a:latin typeface="Calibri"/>
              <a:ea typeface="Calibri"/>
              <a:cs typeface="Calibri"/>
              <a:sym typeface="Calibri"/>
            </a:endParaRPr>
          </a:p>
        </p:txBody>
      </p:sp>
      <p:sp>
        <p:nvSpPr>
          <p:cNvPr id="1811" name="Google Shape;1811;p6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Internal only. Never tell the customer.</a:t>
            </a:r>
            <a:endParaRPr b="0" i="0" spc="0" sz="1200" u="none" cap="none" strike="noStrike">
              <a:solidFill>
                <a:schemeClr val="dk1"/>
              </a:solidFill>
              <a:latin typeface="Calibri"/>
              <a:ea typeface="Calibri"/>
              <a:cs typeface="Calibri"/>
              <a:sym typeface="Calibri"/>
            </a:endParaRPr>
          </a:p>
        </p:txBody>
      </p:sp>
      <p:sp>
        <p:nvSpPr>
          <p:cNvPr id="1812" name="Google Shape;1812;p68"/>
          <p:cNvSpPr/>
          <p:nvPr/>
        </p:nvSpPr>
        <p:spPr>
          <a:xfrm>
            <a:off x="411480" y="1325880"/>
            <a:ext cx="2743200" cy="2194560"/>
          </a:xfrm>
          <a:prstGeom prst="roundRect">
            <a:avLst>
              <a:gd fmla="val 3333" name="adj"/>
            </a:avLst>
          </a:prstGeom>
          <a:solidFill>
            <a:srgbClr val="B3261E"/>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813" name="Google Shape;1813;p68"/>
          <p:cNvPicPr preferRelativeResize="0"/>
          <p:nvPr/>
        </p:nvPicPr>
        <p:blipFill rotWithShape="1">
          <a:blip r:embed="rId3">
            <a:alphaModFix/>
          </a:blip>
          <a:srcRect b="0" l="0" r="0" t="0"/>
          <a:stretch/>
        </p:blipFill>
        <p:spPr>
          <a:xfrm>
            <a:off x="640080" y="1536192"/>
            <a:ext cx="384048" cy="384048"/>
          </a:xfrm>
          <a:prstGeom prst="rect">
            <a:avLst/>
          </a:prstGeom>
          <a:noFill/>
          <a:ln>
            <a:noFill/>
          </a:ln>
        </p:spPr>
      </p:pic>
      <p:sp>
        <p:nvSpPr>
          <p:cNvPr id="1814" name="Google Shape;1814;p68"/>
          <p:cNvSpPr txBox="1"/>
          <p:nvPr/>
        </p:nvSpPr>
        <p:spPr>
          <a:xfrm>
            <a:off x="640080" y="2011680"/>
            <a:ext cx="233172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500"/>
              <a:buFont typeface="Play"/>
              <a:buNone/>
            </a:pPr>
            <a:r>
              <a:rPr b="1" i="0" lang="en-US" spc="0" sz="1500" u="none" cap="none" strike="noStrike">
                <a:solidFill>
                  <a:srgbClr val="FFFFFF"/>
                </a:solidFill>
                <a:latin typeface="Play"/>
                <a:ea typeface="Play"/>
                <a:cs typeface="Play"/>
                <a:sym typeface="Play"/>
              </a:rPr>
              <a:t>Internal only</a:t>
            </a:r>
            <a:endParaRPr b="0" i="0" spc="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050"/>
              <a:buFont typeface="Arial"/>
              <a:buNone/>
            </a:pPr>
            <a:r>
              <a:rPr b="0" i="0" lang="en-US" spc="0" sz="1050" u="none" cap="none" strike="noStrike">
                <a:solidFill>
                  <a:srgbClr val="FFFFFF"/>
                </a:solidFill>
                <a:latin typeface="Arial"/>
                <a:ea typeface="Arial"/>
                <a:cs typeface="Arial"/>
                <a:sym typeface="Arial"/>
              </a:rPr>
              <a:t>Never say "you have 24 hours to cancel". Explain the outcome, not the rule.</a:t>
            </a:r>
            <a:endParaRPr b="0" i="0" spc="0" sz="1500" u="none" cap="none" strike="noStrike">
              <a:solidFill>
                <a:schemeClr val="dk1"/>
              </a:solidFill>
              <a:latin typeface="Calibri"/>
              <a:ea typeface="Calibri"/>
              <a:cs typeface="Calibri"/>
              <a:sym typeface="Calibri"/>
            </a:endParaRPr>
          </a:p>
        </p:txBody>
      </p:sp>
      <p:sp>
        <p:nvSpPr>
          <p:cNvPr id="1815" name="Google Shape;1815;p68"/>
          <p:cNvSpPr/>
          <p:nvPr/>
        </p:nvSpPr>
        <p:spPr>
          <a:xfrm>
            <a:off x="3291840" y="1325880"/>
            <a:ext cx="5440680" cy="493776"/>
          </a:xfrm>
          <a:prstGeom prst="roundRect">
            <a:avLst>
              <a:gd fmla="val 1481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16" name="Google Shape;1816;p68"/>
          <p:cNvSpPr/>
          <p:nvPr/>
        </p:nvSpPr>
        <p:spPr>
          <a:xfrm>
            <a:off x="3383280" y="1408176"/>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817" name="Google Shape;1817;p68"/>
          <p:cNvPicPr preferRelativeResize="0"/>
          <p:nvPr/>
        </p:nvPicPr>
        <p:blipFill rotWithShape="1">
          <a:blip r:embed="rId4">
            <a:alphaModFix/>
          </a:blip>
          <a:srcRect b="0" l="0" r="0" t="0"/>
          <a:stretch/>
        </p:blipFill>
        <p:spPr>
          <a:xfrm>
            <a:off x="3462284" y="1487180"/>
            <a:ext cx="171176" cy="171176"/>
          </a:xfrm>
          <a:prstGeom prst="rect">
            <a:avLst/>
          </a:prstGeom>
          <a:noFill/>
          <a:ln>
            <a:noFill/>
          </a:ln>
        </p:spPr>
      </p:pic>
      <p:sp>
        <p:nvSpPr>
          <p:cNvPr id="1818" name="Google Shape;1818;p68"/>
          <p:cNvSpPr txBox="1"/>
          <p:nvPr/>
        </p:nvSpPr>
        <p:spPr>
          <a:xfrm>
            <a:off x="3822192" y="1325880"/>
            <a:ext cx="484632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US" spc="0" sz="1050" u="none" cap="none" strike="noStrike">
                <a:solidFill>
                  <a:srgbClr val="1D1D1F"/>
                </a:solidFill>
                <a:latin typeface="Play"/>
                <a:ea typeface="Play"/>
                <a:cs typeface="Play"/>
                <a:sym typeface="Play"/>
              </a:rPr>
              <a:t>Zero completed jobs only  </a:t>
            </a:r>
            <a:r>
              <a:rPr b="0" i="0" lang="en-US" spc="0" sz="900" u="none" cap="none" strike="noStrike">
                <a:solidFill>
                  <a:srgbClr val="6E6E73"/>
                </a:solidFill>
                <a:latin typeface="Arial"/>
                <a:ea typeface="Arial"/>
                <a:cs typeface="Arial"/>
                <a:sym typeface="Arial"/>
              </a:rPr>
              <a:t>After one cleaning, it's a normal cancellation.</a:t>
            </a:r>
            <a:endParaRPr b="0" i="0" spc="0" sz="1050" u="none" cap="none" strike="noStrike">
              <a:solidFill>
                <a:schemeClr val="dk1"/>
              </a:solidFill>
              <a:latin typeface="Calibri"/>
              <a:ea typeface="Calibri"/>
              <a:cs typeface="Calibri"/>
              <a:sym typeface="Calibri"/>
            </a:endParaRPr>
          </a:p>
        </p:txBody>
      </p:sp>
      <p:sp>
        <p:nvSpPr>
          <p:cNvPr id="1819" name="Google Shape;1819;p68"/>
          <p:cNvSpPr/>
          <p:nvPr/>
        </p:nvSpPr>
        <p:spPr>
          <a:xfrm>
            <a:off x="3291840" y="1883664"/>
            <a:ext cx="5440680" cy="493776"/>
          </a:xfrm>
          <a:prstGeom prst="roundRect">
            <a:avLst>
              <a:gd fmla="val 1481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20" name="Google Shape;1820;p68"/>
          <p:cNvSpPr/>
          <p:nvPr/>
        </p:nvSpPr>
        <p:spPr>
          <a:xfrm>
            <a:off x="3383280" y="1965960"/>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821" name="Google Shape;1821;p68"/>
          <p:cNvPicPr preferRelativeResize="0"/>
          <p:nvPr/>
        </p:nvPicPr>
        <p:blipFill rotWithShape="1">
          <a:blip r:embed="rId5">
            <a:alphaModFix/>
          </a:blip>
          <a:srcRect b="0" l="0" r="0" t="0"/>
          <a:stretch/>
        </p:blipFill>
        <p:spPr>
          <a:xfrm>
            <a:off x="3462284" y="2044964"/>
            <a:ext cx="171176" cy="171176"/>
          </a:xfrm>
          <a:prstGeom prst="rect">
            <a:avLst/>
          </a:prstGeom>
          <a:noFill/>
          <a:ln>
            <a:noFill/>
          </a:ln>
        </p:spPr>
      </p:pic>
      <p:sp>
        <p:nvSpPr>
          <p:cNvPr id="1822" name="Google Shape;1822;p68"/>
          <p:cNvSpPr txBox="1"/>
          <p:nvPr/>
        </p:nvSpPr>
        <p:spPr>
          <a:xfrm>
            <a:off x="3822192" y="1883664"/>
            <a:ext cx="484632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US" spc="0" sz="1050" u="none" cap="none" strike="noStrike">
                <a:solidFill>
                  <a:srgbClr val="1D1D1F"/>
                </a:solidFill>
                <a:latin typeface="Play"/>
                <a:ea typeface="Play"/>
                <a:cs typeface="Play"/>
                <a:sym typeface="Play"/>
              </a:rPr>
              <a:t>1st MF: from sign-up  </a:t>
            </a:r>
            <a:r>
              <a:rPr b="0" i="0" lang="en-US" spc="0" sz="900" u="none" cap="none" strike="noStrike">
                <a:solidFill>
                  <a:srgbClr val="6E6E73"/>
                </a:solidFill>
                <a:latin typeface="Arial"/>
                <a:ea typeface="Arial"/>
                <a:cs typeface="Arial"/>
                <a:sym typeface="Arial"/>
              </a:rPr>
              <a:t>To their first request, or to their self-cancel.</a:t>
            </a:r>
            <a:endParaRPr b="0" i="0" spc="0" sz="1050" u="none" cap="none" strike="noStrike">
              <a:solidFill>
                <a:schemeClr val="dk1"/>
              </a:solidFill>
              <a:latin typeface="Calibri"/>
              <a:ea typeface="Calibri"/>
              <a:cs typeface="Calibri"/>
              <a:sym typeface="Calibri"/>
            </a:endParaRPr>
          </a:p>
        </p:txBody>
      </p:sp>
      <p:sp>
        <p:nvSpPr>
          <p:cNvPr id="1823" name="Google Shape;1823;p68"/>
          <p:cNvSpPr/>
          <p:nvPr/>
        </p:nvSpPr>
        <p:spPr>
          <a:xfrm>
            <a:off x="3291840" y="2441448"/>
            <a:ext cx="5440680" cy="493776"/>
          </a:xfrm>
          <a:prstGeom prst="roundRect">
            <a:avLst>
              <a:gd fmla="val 1481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24" name="Google Shape;1824;p68"/>
          <p:cNvSpPr/>
          <p:nvPr/>
        </p:nvSpPr>
        <p:spPr>
          <a:xfrm>
            <a:off x="3383280" y="2523744"/>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825" name="Google Shape;1825;p68"/>
          <p:cNvPicPr preferRelativeResize="0"/>
          <p:nvPr/>
        </p:nvPicPr>
        <p:blipFill rotWithShape="1">
          <a:blip r:embed="rId6">
            <a:alphaModFix/>
          </a:blip>
          <a:srcRect b="0" l="0" r="0" t="0"/>
          <a:stretch/>
        </p:blipFill>
        <p:spPr>
          <a:xfrm>
            <a:off x="3462284" y="2602748"/>
            <a:ext cx="171176" cy="171176"/>
          </a:xfrm>
          <a:prstGeom prst="rect">
            <a:avLst/>
          </a:prstGeom>
          <a:noFill/>
          <a:ln>
            <a:noFill/>
          </a:ln>
        </p:spPr>
      </p:pic>
      <p:sp>
        <p:nvSpPr>
          <p:cNvPr id="1826" name="Google Shape;1826;p68"/>
          <p:cNvSpPr txBox="1"/>
          <p:nvPr/>
        </p:nvSpPr>
        <p:spPr>
          <a:xfrm>
            <a:off x="3822192" y="2441448"/>
            <a:ext cx="484632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US" spc="0" sz="1050" u="none" cap="none" strike="noStrike">
                <a:solidFill>
                  <a:srgbClr val="1D1D1F"/>
                </a:solidFill>
                <a:latin typeface="Play"/>
                <a:ea typeface="Play"/>
                <a:cs typeface="Play"/>
                <a:sym typeface="Play"/>
              </a:rPr>
              <a:t>Later MFs: from that charge  </a:t>
            </a:r>
            <a:r>
              <a:rPr b="0" i="0" lang="en-US" spc="0" sz="900" u="none" cap="none" strike="noStrike">
                <a:solidFill>
                  <a:srgbClr val="6E6E73"/>
                </a:solidFill>
                <a:latin typeface="Arial"/>
                <a:ea typeface="Arial"/>
                <a:cs typeface="Arial"/>
                <a:sym typeface="Arial"/>
              </a:rPr>
              <a:t>To when they asked.</a:t>
            </a:r>
            <a:endParaRPr b="0" i="0" spc="0" sz="1050" u="none" cap="none" strike="noStrike">
              <a:solidFill>
                <a:schemeClr val="dk1"/>
              </a:solidFill>
              <a:latin typeface="Calibri"/>
              <a:ea typeface="Calibri"/>
              <a:cs typeface="Calibri"/>
              <a:sym typeface="Calibri"/>
            </a:endParaRPr>
          </a:p>
        </p:txBody>
      </p:sp>
      <p:sp>
        <p:nvSpPr>
          <p:cNvPr id="1827" name="Google Shape;1827;p68"/>
          <p:cNvSpPr/>
          <p:nvPr/>
        </p:nvSpPr>
        <p:spPr>
          <a:xfrm>
            <a:off x="3291840" y="2999232"/>
            <a:ext cx="5440680" cy="493776"/>
          </a:xfrm>
          <a:prstGeom prst="roundRect">
            <a:avLst>
              <a:gd fmla="val 14815"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28" name="Google Shape;1828;p68"/>
          <p:cNvSpPr/>
          <p:nvPr/>
        </p:nvSpPr>
        <p:spPr>
          <a:xfrm>
            <a:off x="3383280" y="3081528"/>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829" name="Google Shape;1829;p68"/>
          <p:cNvPicPr preferRelativeResize="0"/>
          <p:nvPr/>
        </p:nvPicPr>
        <p:blipFill rotWithShape="1">
          <a:blip r:embed="rId7">
            <a:alphaModFix/>
          </a:blip>
          <a:srcRect b="0" l="0" r="0" t="0"/>
          <a:stretch/>
        </p:blipFill>
        <p:spPr>
          <a:xfrm>
            <a:off x="3462284" y="3160532"/>
            <a:ext cx="171176" cy="171176"/>
          </a:xfrm>
          <a:prstGeom prst="rect">
            <a:avLst/>
          </a:prstGeom>
          <a:noFill/>
          <a:ln>
            <a:noFill/>
          </a:ln>
        </p:spPr>
      </p:pic>
      <p:sp>
        <p:nvSpPr>
          <p:cNvPr id="1830" name="Google Shape;1830;p68"/>
          <p:cNvSpPr txBox="1"/>
          <p:nvPr/>
        </p:nvSpPr>
        <p:spPr>
          <a:xfrm>
            <a:off x="3822192" y="2999232"/>
            <a:ext cx="4846320" cy="4937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US" spc="0" sz="1050" u="none" cap="none" strike="noStrike">
                <a:solidFill>
                  <a:srgbClr val="1D1D1F"/>
                </a:solidFill>
                <a:latin typeface="Play"/>
                <a:ea typeface="Play"/>
                <a:cs typeface="Play"/>
                <a:sym typeface="Play"/>
              </a:rPr>
              <a:t>A guideline, not a cutoff  </a:t>
            </a:r>
            <a:r>
              <a:rPr b="0" i="0" lang="en-US" spc="0" sz="900" u="none" cap="none" strike="noStrike">
                <a:solidFill>
                  <a:srgbClr val="6E6E73"/>
                </a:solidFill>
                <a:latin typeface="Arial"/>
                <a:ea typeface="Arial"/>
                <a:cs typeface="Arial"/>
                <a:sym typeface="Arial"/>
              </a:rPr>
              <a:t>Signed up one day, asked the next? Can still count.</a:t>
            </a:r>
            <a:endParaRPr b="0" i="0" spc="0" sz="1050" u="none" cap="none" strike="noStrike">
              <a:solidFill>
                <a:schemeClr val="dk1"/>
              </a:solidFill>
              <a:latin typeface="Calibri"/>
              <a:ea typeface="Calibri"/>
              <a:cs typeface="Calibri"/>
              <a:sym typeface="Calibri"/>
            </a:endParaRPr>
          </a:p>
        </p:txBody>
      </p:sp>
      <p:sp>
        <p:nvSpPr>
          <p:cNvPr id="1831" name="Google Shape;1831;p68"/>
          <p:cNvSpPr/>
          <p:nvPr/>
        </p:nvSpPr>
        <p:spPr>
          <a:xfrm>
            <a:off x="411480" y="370332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832" name="Google Shape;1832;p68"/>
          <p:cNvPicPr preferRelativeResize="0"/>
          <p:nvPr/>
        </p:nvPicPr>
        <p:blipFill rotWithShape="1">
          <a:blip r:embed="rId8">
            <a:alphaModFix/>
          </a:blip>
          <a:srcRect b="0" l="0" r="0" t="0"/>
          <a:stretch/>
        </p:blipFill>
        <p:spPr>
          <a:xfrm>
            <a:off x="566928" y="3813048"/>
            <a:ext cx="164592" cy="164592"/>
          </a:xfrm>
          <a:prstGeom prst="rect">
            <a:avLst/>
          </a:prstGeom>
          <a:noFill/>
          <a:ln>
            <a:noFill/>
          </a:ln>
        </p:spPr>
      </p:pic>
      <p:sp>
        <p:nvSpPr>
          <p:cNvPr id="1833" name="Google Shape;1833;p68"/>
          <p:cNvSpPr txBox="1"/>
          <p:nvPr/>
        </p:nvSpPr>
        <p:spPr>
          <a:xfrm>
            <a:off x="822960" y="380390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No request, no refund:  </a:t>
            </a:r>
            <a:r>
              <a:rPr b="0" i="0" lang="en-US" spc="0" sz="1000" u="none" cap="none" strike="noStrike">
                <a:solidFill>
                  <a:srgbClr val="1D1D1F"/>
                </a:solidFill>
                <a:latin typeface="Arial"/>
                <a:ea typeface="Arial"/>
                <a:cs typeface="Arial"/>
                <a:sym typeface="Arial"/>
              </a:rPr>
              <a:t>even inside the window, don't offer one if they didn't ask.</a:t>
            </a:r>
            <a:endParaRPr b="0" i="0" spc="0" sz="1000" u="none" cap="none" strike="noStrike">
              <a:solidFill>
                <a:schemeClr val="dk1"/>
              </a:solidFill>
              <a:latin typeface="Calibri"/>
              <a:ea typeface="Calibri"/>
              <a:cs typeface="Calibri"/>
              <a:sym typeface="Calibri"/>
            </a:endParaRPr>
          </a:p>
        </p:txBody>
      </p:sp>
      <p:sp>
        <p:nvSpPr>
          <p:cNvPr id="1834" name="Google Shape;1834;p6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9" name="Shape 1839"/>
        <p:cNvGrpSpPr/>
        <p:nvPr/>
      </p:nvGrpSpPr>
      <p:grpSpPr>
        <a:xfrm>
          <a:off x="0" y="0"/>
          <a:ext cx="0" cy="0"/>
          <a:chOff x="0" y="0"/>
          <a:chExt cx="0" cy="0"/>
        </a:xfrm>
      </p:grpSpPr>
      <p:sp>
        <p:nvSpPr>
          <p:cNvPr id="1840" name="Google Shape;1840;p6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FCF PRE-INVOICE</a:t>
            </a:r>
            <a:endParaRPr b="0" i="0" spc="0" sz="800" u="none" cap="none" strike="noStrike">
              <a:solidFill>
                <a:schemeClr val="dk1"/>
              </a:solidFill>
              <a:latin typeface="Calibri"/>
              <a:ea typeface="Calibri"/>
              <a:cs typeface="Calibri"/>
              <a:sym typeface="Calibri"/>
            </a:endParaRPr>
          </a:p>
        </p:txBody>
      </p:sp>
      <p:sp>
        <p:nvSpPr>
          <p:cNvPr id="1841" name="Google Shape;1841;p6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Refund cheat sheet: no service issue</a:t>
            </a:r>
            <a:endParaRPr b="0" i="0" spc="0" sz="2400" u="none" cap="none" strike="noStrike">
              <a:solidFill>
                <a:schemeClr val="dk1"/>
              </a:solidFill>
              <a:latin typeface="Calibri"/>
              <a:ea typeface="Calibri"/>
              <a:cs typeface="Calibri"/>
              <a:sym typeface="Calibri"/>
            </a:endParaRPr>
          </a:p>
        </p:txBody>
      </p:sp>
      <p:sp>
        <p:nvSpPr>
          <p:cNvPr id="1842" name="Google Shape;1842;p6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Timing and the cleaning length decide it.</a:t>
            </a:r>
            <a:endParaRPr b="0" i="0" spc="0" sz="1200" u="none" cap="none" strike="noStrike">
              <a:solidFill>
                <a:schemeClr val="dk1"/>
              </a:solidFill>
              <a:latin typeface="Calibri"/>
              <a:ea typeface="Calibri"/>
              <a:cs typeface="Calibri"/>
              <a:sym typeface="Calibri"/>
            </a:endParaRPr>
          </a:p>
        </p:txBody>
      </p:sp>
      <p:graphicFrame>
        <p:nvGraphicFramePr>
          <p:cNvPr id="1843" name="Google Shape;1843;p69"/>
          <p:cNvGraphicFramePr/>
          <p:nvPr/>
        </p:nvGraphicFramePr>
        <p:xfrm>
          <a:off x="411480" y="1298448"/>
          <a:ext cx="3000000" cy="3000000"/>
        </p:xfrm>
        <a:graphic>
          <a:graphicData uri="http://schemas.openxmlformats.org/drawingml/2006/table">
            <a:tbl>
              <a:tblPr>
                <a:noFill/>
                <a:tableStyleId>{8EFC85C5-4764-4BF5-A5AE-CCAC02DEFFEE}</a:tableStyleId>
              </a:tblPr>
              <a:tblGrid>
                <a:gridCol w="914400"/>
                <a:gridCol w="1280150"/>
                <a:gridCol w="1600200"/>
                <a:gridCol w="1965950"/>
                <a:gridCol w="2560325"/>
              </a:tblGrid>
              <a:tr h="384050">
                <a:tc>
                  <a:txBody>
                    <a:bodyPr/>
                    <a:lstStyle/>
                    <a:p>
                      <a:pPr indent="0" lvl="0" marL="0" marR="0" rtl="0" algn="l">
                        <a:lnSpc>
                          <a:spcPct val="100000"/>
                        </a:lnSpc>
                        <a:spcBef>
                          <a:spcPts val="0"/>
                        </a:spcBef>
                        <a:spcAft>
                          <a:spcPts val="0"/>
                        </a:spcAft>
                        <a:buClr>
                          <a:srgbClr val="0B7A6F"/>
                        </a:buClr>
                        <a:buSzPts val="950"/>
                        <a:buFont typeface="Play"/>
                        <a:buNone/>
                      </a:pPr>
                      <a:r>
                        <a:rPr b="1" lang="en-US" spc="0" sz="950" u="none" cap="none" strike="noStrike">
                          <a:solidFill>
                            <a:srgbClr val="0B7A6F"/>
                          </a:solidFill>
                          <a:latin typeface="Play"/>
                          <a:ea typeface="Play"/>
                          <a:cs typeface="Play"/>
                          <a:sym typeface="Play"/>
                        </a:rPr>
                        <a:t>Cleaning</a:t>
                      </a:r>
                      <a:endParaRPr spc="0"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US" spc="0" sz="950" u="none" cap="none" strike="noStrike">
                          <a:solidFill>
                            <a:srgbClr val="0B7A6F"/>
                          </a:solidFill>
                          <a:latin typeface="Play"/>
                          <a:ea typeface="Play"/>
                          <a:cs typeface="Play"/>
                          <a:sym typeface="Play"/>
                        </a:rPr>
                        <a:t>Timing</a:t>
                      </a:r>
                      <a:endParaRPr spc="0"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US" spc="0" sz="950" u="none" cap="none" strike="noStrike">
                          <a:solidFill>
                            <a:srgbClr val="0B7A6F"/>
                          </a:solidFill>
                          <a:latin typeface="Play"/>
                          <a:ea typeface="Play"/>
                          <a:cs typeface="Play"/>
                          <a:sym typeface="Play"/>
                        </a:rPr>
                        <a:t>1st MF ($19)</a:t>
                      </a:r>
                      <a:endParaRPr spc="0"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US" spc="0" sz="950" u="none" cap="none" strike="noStrike">
                          <a:solidFill>
                            <a:srgbClr val="0B7A6F"/>
                          </a:solidFill>
                          <a:latin typeface="Play"/>
                          <a:ea typeface="Play"/>
                          <a:cs typeface="Play"/>
                          <a:sym typeface="Play"/>
                        </a:rPr>
                        <a:t>Add-on ($19 4hr / $59 6hr)</a:t>
                      </a:r>
                      <a:endParaRPr spc="0"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US" spc="0" sz="950" u="none" cap="none" strike="noStrike">
                          <a:solidFill>
                            <a:srgbClr val="0B7A6F"/>
                          </a:solidFill>
                          <a:latin typeface="Play"/>
                          <a:ea typeface="Play"/>
                          <a:cs typeface="Play"/>
                          <a:sym typeface="Play"/>
                        </a:rPr>
                        <a:t>How</a:t>
                      </a:r>
                      <a:endParaRPr spc="0"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84050">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2–3 hr</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lang="en-US" spc="0" sz="950" u="none" cap="none" strike="noStrike">
                          <a:solidFill>
                            <a:srgbClr val="1D1D1F"/>
                          </a:solidFill>
                          <a:latin typeface="Arial"/>
                          <a:ea typeface="Arial"/>
                          <a:cs typeface="Arial"/>
                          <a:sym typeface="Arial"/>
                        </a:rPr>
                        <a:t>Within 24 hrs</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B7A6F"/>
                        </a:buClr>
                        <a:buSzPts val="950"/>
                        <a:buFont typeface="Arial"/>
                        <a:buNone/>
                      </a:pPr>
                      <a:r>
                        <a:rPr b="1" lang="en-US" spc="0" sz="950" u="none" cap="none" strike="noStrike">
                          <a:solidFill>
                            <a:srgbClr val="0B7A6F"/>
                          </a:solidFill>
                          <a:latin typeface="Arial"/>
                          <a:ea typeface="Arial"/>
                          <a:cs typeface="Arial"/>
                          <a:sym typeface="Arial"/>
                        </a:rPr>
                        <a:t>✓ Refund</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lang="en-US" spc="0" sz="950" u="none" cap="none" strike="noStrike">
                          <a:solidFill>
                            <a:srgbClr val="1D1D1F"/>
                          </a:solidFill>
                          <a:latin typeface="Arial"/>
                          <a:ea typeface="Arial"/>
                          <a:cs typeface="Arial"/>
                          <a:sym typeface="Arial"/>
                        </a:rPr>
                        <a:t>N/A</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lang="en-US" spc="0" sz="950" u="none" cap="none" strike="noStrike">
                          <a:solidFill>
                            <a:srgbClr val="1D1D1F"/>
                          </a:solidFill>
                          <a:latin typeface="Arial"/>
                          <a:ea typeface="Arial"/>
                          <a:cs typeface="Arial"/>
                          <a:sym typeface="Arial"/>
                        </a:rPr>
                        <a:t>Refund Voucher option in CRM</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84050">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2–3 hr</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lang="en-US" spc="0" sz="950" u="none" cap="none" strike="noStrike">
                          <a:solidFill>
                            <a:srgbClr val="1D1D1F"/>
                          </a:solidFill>
                          <a:latin typeface="Arial"/>
                          <a:ea typeface="Arial"/>
                          <a:cs typeface="Arial"/>
                          <a:sym typeface="Arial"/>
                        </a:rPr>
                        <a:t>After 24 hrs</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B3261E"/>
                        </a:buClr>
                        <a:buSzPts val="950"/>
                        <a:buFont typeface="Arial"/>
                        <a:buNone/>
                      </a:pPr>
                      <a:r>
                        <a:rPr b="1" lang="en-US" spc="0" sz="950" u="none" cap="none" strike="noStrike">
                          <a:solidFill>
                            <a:srgbClr val="B3261E"/>
                          </a:solidFill>
                          <a:latin typeface="Arial"/>
                          <a:ea typeface="Arial"/>
                          <a:cs typeface="Arial"/>
                          <a:sym typeface="Arial"/>
                        </a:rPr>
                        <a:t>✗ Unless compelling</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lang="en-US" spc="0" sz="950" u="none" cap="none" strike="noStrike">
                          <a:solidFill>
                            <a:srgbClr val="1D1D1F"/>
                          </a:solidFill>
                          <a:latin typeface="Arial"/>
                          <a:ea typeface="Arial"/>
                          <a:cs typeface="Arial"/>
                          <a:sym typeface="Arial"/>
                        </a:rPr>
                        <a:t>N/A</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lang="en-US" spc="0" sz="950" u="none" cap="none" strike="noStrike">
                          <a:solidFill>
                            <a:srgbClr val="1D1D1F"/>
                          </a:solidFill>
                          <a:latin typeface="Arial"/>
                          <a:ea typeface="Arial"/>
                          <a:cs typeface="Arial"/>
                          <a:sym typeface="Arial"/>
                        </a:rPr>
                        <a:t>Compelling? Refund Voucher option</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84050">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4–6 hr</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lang="en-US" spc="0" sz="950" u="none" cap="none" strike="noStrike">
                          <a:solidFill>
                            <a:srgbClr val="1D1D1F"/>
                          </a:solidFill>
                          <a:latin typeface="Arial"/>
                          <a:ea typeface="Arial"/>
                          <a:cs typeface="Arial"/>
                          <a:sym typeface="Arial"/>
                        </a:rPr>
                        <a:t>Within 24 hrs</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B7A6F"/>
                        </a:buClr>
                        <a:buSzPts val="950"/>
                        <a:buFont typeface="Arial"/>
                        <a:buNone/>
                      </a:pPr>
                      <a:r>
                        <a:rPr b="1" lang="en-US" spc="0" sz="950" u="none" cap="none" strike="noStrike">
                          <a:solidFill>
                            <a:srgbClr val="0B7A6F"/>
                          </a:solidFill>
                          <a:latin typeface="Arial"/>
                          <a:ea typeface="Arial"/>
                          <a:cs typeface="Arial"/>
                          <a:sym typeface="Arial"/>
                        </a:rPr>
                        <a:t>✓ Refund</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B7A6F"/>
                        </a:buClr>
                        <a:buSzPts val="950"/>
                        <a:buFont typeface="Arial"/>
                        <a:buNone/>
                      </a:pPr>
                      <a:r>
                        <a:rPr b="1" lang="en-US" spc="0" sz="950" u="none" cap="none" strike="noStrike">
                          <a:solidFill>
                            <a:srgbClr val="0B7A6F"/>
                          </a:solidFill>
                          <a:latin typeface="Arial"/>
                          <a:ea typeface="Arial"/>
                          <a:cs typeface="Arial"/>
                          <a:sym typeface="Arial"/>
                        </a:rPr>
                        <a:t>✓ Refund</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lang="en-US" spc="0" sz="950" u="none" cap="none" strike="noStrike">
                          <a:solidFill>
                            <a:srgbClr val="1D1D1F"/>
                          </a:solidFill>
                          <a:latin typeface="Arial"/>
                          <a:ea typeface="Arial"/>
                          <a:cs typeface="Arial"/>
                          <a:sym typeface="Arial"/>
                        </a:rPr>
                        <a:t>FCF Refund tracker: Stripe FULL</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84050">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4–6 hr</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lang="en-US" spc="0" sz="950" u="none" cap="none" strike="noStrike">
                          <a:solidFill>
                            <a:srgbClr val="1D1D1F"/>
                          </a:solidFill>
                          <a:latin typeface="Arial"/>
                          <a:ea typeface="Arial"/>
                          <a:cs typeface="Arial"/>
                          <a:sym typeface="Arial"/>
                        </a:rPr>
                        <a:t>After 24 hrs</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B3261E"/>
                        </a:buClr>
                        <a:buSzPts val="950"/>
                        <a:buFont typeface="Arial"/>
                        <a:buNone/>
                      </a:pPr>
                      <a:r>
                        <a:rPr b="1" lang="en-US" spc="0" sz="950" u="none" cap="none" strike="noStrike">
                          <a:solidFill>
                            <a:srgbClr val="B3261E"/>
                          </a:solidFill>
                          <a:latin typeface="Arial"/>
                          <a:ea typeface="Arial"/>
                          <a:cs typeface="Arial"/>
                          <a:sym typeface="Arial"/>
                        </a:rPr>
                        <a:t>✗ Unless compelling</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B7A6F"/>
                        </a:buClr>
                        <a:buSzPts val="950"/>
                        <a:buFont typeface="Arial"/>
                        <a:buNone/>
                      </a:pPr>
                      <a:r>
                        <a:rPr b="1" lang="en-US" spc="0" sz="950" u="none" cap="none" strike="noStrike">
                          <a:solidFill>
                            <a:srgbClr val="0B7A6F"/>
                          </a:solidFill>
                          <a:latin typeface="Arial"/>
                          <a:ea typeface="Arial"/>
                          <a:cs typeface="Arial"/>
                          <a:sym typeface="Arial"/>
                        </a:rPr>
                        <a:t>✓ Refund</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lang="en-US" spc="0" sz="950" u="none" cap="none" strike="noStrike">
                          <a:solidFill>
                            <a:srgbClr val="1D1D1F"/>
                          </a:solidFill>
                          <a:latin typeface="Arial"/>
                          <a:ea typeface="Arial"/>
                          <a:cs typeface="Arial"/>
                          <a:sym typeface="Arial"/>
                        </a:rPr>
                        <a:t>FCF Refund tracker: Stripe PARTIAL</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844" name="Google Shape;1844;p69"/>
          <p:cNvSpPr/>
          <p:nvPr/>
        </p:nvSpPr>
        <p:spPr>
          <a:xfrm>
            <a:off x="411480" y="338328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845" name="Google Shape;1845;p69"/>
          <p:cNvPicPr preferRelativeResize="0"/>
          <p:nvPr/>
        </p:nvPicPr>
        <p:blipFill rotWithShape="1">
          <a:blip r:embed="rId3">
            <a:alphaModFix/>
          </a:blip>
          <a:srcRect b="0" l="0" r="0" t="0"/>
          <a:stretch/>
        </p:blipFill>
        <p:spPr>
          <a:xfrm>
            <a:off x="566928" y="3493008"/>
            <a:ext cx="164592" cy="164592"/>
          </a:xfrm>
          <a:prstGeom prst="rect">
            <a:avLst/>
          </a:prstGeom>
          <a:noFill/>
          <a:ln>
            <a:noFill/>
          </a:ln>
        </p:spPr>
      </p:pic>
      <p:sp>
        <p:nvSpPr>
          <p:cNvPr id="1846" name="Google Shape;1846;p69"/>
          <p:cNvSpPr txBox="1"/>
          <p:nvPr/>
        </p:nvSpPr>
        <p:spPr>
          <a:xfrm>
            <a:off x="822960" y="348386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Every row ends with:  </a:t>
            </a:r>
            <a:r>
              <a:rPr b="0" i="0" lang="en-US" spc="0" sz="1000" u="none" cap="none" strike="noStrike">
                <a:solidFill>
                  <a:srgbClr val="1D1D1F"/>
                </a:solidFill>
                <a:latin typeface="Arial"/>
                <a:ea typeface="Arial"/>
                <a:cs typeface="Arial"/>
                <a:sym typeface="Arial"/>
              </a:rPr>
              <a:t>Cancel FC in CRM → Invalidate the voucher.</a:t>
            </a:r>
            <a:endParaRPr b="0" i="0" spc="0" sz="1000" u="none" cap="none" strike="noStrike">
              <a:solidFill>
                <a:schemeClr val="dk1"/>
              </a:solidFill>
              <a:latin typeface="Calibri"/>
              <a:ea typeface="Calibri"/>
              <a:cs typeface="Calibri"/>
              <a:sym typeface="Calibri"/>
            </a:endParaRPr>
          </a:p>
        </p:txBody>
      </p:sp>
      <p:sp>
        <p:nvSpPr>
          <p:cNvPr id="1847" name="Google Shape;1847;p69"/>
          <p:cNvSpPr/>
          <p:nvPr/>
        </p:nvSpPr>
        <p:spPr>
          <a:xfrm>
            <a:off x="411480" y="3858768"/>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848" name="Google Shape;1848;p69"/>
          <p:cNvPicPr preferRelativeResize="0"/>
          <p:nvPr/>
        </p:nvPicPr>
        <p:blipFill rotWithShape="1">
          <a:blip r:embed="rId4">
            <a:alphaModFix/>
          </a:blip>
          <a:srcRect b="0" l="0" r="0" t="0"/>
          <a:stretch/>
        </p:blipFill>
        <p:spPr>
          <a:xfrm>
            <a:off x="566928" y="3968496"/>
            <a:ext cx="164592" cy="164592"/>
          </a:xfrm>
          <a:prstGeom prst="rect">
            <a:avLst/>
          </a:prstGeom>
          <a:noFill/>
          <a:ln>
            <a:noFill/>
          </a:ln>
        </p:spPr>
      </p:pic>
      <p:sp>
        <p:nvSpPr>
          <p:cNvPr id="1849" name="Google Shape;1849;p69"/>
          <p:cNvSpPr txBox="1"/>
          <p:nvPr/>
        </p:nvSpPr>
        <p:spPr>
          <a:xfrm>
            <a:off x="822960" y="3959352"/>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Compelling reason:  </a:t>
            </a:r>
            <a:r>
              <a:rPr b="0" i="0" lang="en-US" spc="0" sz="1000" u="none" cap="none" strike="noStrike">
                <a:solidFill>
                  <a:srgbClr val="1D1D1F"/>
                </a:solidFill>
                <a:latin typeface="Arial"/>
                <a:ea typeface="Arial"/>
                <a:cs typeface="Arial"/>
                <a:sym typeface="Arial"/>
              </a:rPr>
              <a:t>e.g. compassion, or the customer doesn't have a card.</a:t>
            </a:r>
            <a:endParaRPr b="0" i="0" spc="0" sz="1000" u="none" cap="none" strike="noStrike">
              <a:solidFill>
                <a:schemeClr val="dk1"/>
              </a:solidFill>
              <a:latin typeface="Calibri"/>
              <a:ea typeface="Calibri"/>
              <a:cs typeface="Calibri"/>
              <a:sym typeface="Calibri"/>
            </a:endParaRPr>
          </a:p>
        </p:txBody>
      </p:sp>
      <p:sp>
        <p:nvSpPr>
          <p:cNvPr id="1850" name="Google Shape;1850;p6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5" name="Shape 1855"/>
        <p:cNvGrpSpPr/>
        <p:nvPr/>
      </p:nvGrpSpPr>
      <p:grpSpPr>
        <a:xfrm>
          <a:off x="0" y="0"/>
          <a:ext cx="0" cy="0"/>
          <a:chOff x="0" y="0"/>
          <a:chExt cx="0" cy="0"/>
        </a:xfrm>
      </p:grpSpPr>
      <p:sp>
        <p:nvSpPr>
          <p:cNvPr id="1856" name="Google Shape;1856;p7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FCF PRE-INVOICE</a:t>
            </a:r>
            <a:endParaRPr b="0" i="0" spc="0" sz="800" u="none" cap="none" strike="noStrike">
              <a:solidFill>
                <a:schemeClr val="dk1"/>
              </a:solidFill>
              <a:latin typeface="Calibri"/>
              <a:ea typeface="Calibri"/>
              <a:cs typeface="Calibri"/>
              <a:sym typeface="Calibri"/>
            </a:endParaRPr>
          </a:p>
        </p:txBody>
      </p:sp>
      <p:sp>
        <p:nvSpPr>
          <p:cNvPr id="1857" name="Google Shape;1857;p7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Refund cheat sheet: service issues</a:t>
            </a:r>
            <a:endParaRPr b="0" i="0" spc="0" sz="2400" u="none" cap="none" strike="noStrike">
              <a:solidFill>
                <a:schemeClr val="dk1"/>
              </a:solidFill>
              <a:latin typeface="Calibri"/>
              <a:ea typeface="Calibri"/>
              <a:cs typeface="Calibri"/>
              <a:sym typeface="Calibri"/>
            </a:endParaRPr>
          </a:p>
        </p:txBody>
      </p:sp>
      <p:sp>
        <p:nvSpPr>
          <p:cNvPr id="1858" name="Google Shape;1858;p7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Whose fault was it?</a:t>
            </a:r>
            <a:endParaRPr b="0" i="0" spc="0" sz="1200" u="none" cap="none" strike="noStrike">
              <a:solidFill>
                <a:schemeClr val="dk1"/>
              </a:solidFill>
              <a:latin typeface="Calibri"/>
              <a:ea typeface="Calibri"/>
              <a:cs typeface="Calibri"/>
              <a:sym typeface="Calibri"/>
            </a:endParaRPr>
          </a:p>
        </p:txBody>
      </p:sp>
      <p:graphicFrame>
        <p:nvGraphicFramePr>
          <p:cNvPr id="1859" name="Google Shape;1859;p70"/>
          <p:cNvGraphicFramePr/>
          <p:nvPr/>
        </p:nvGraphicFramePr>
        <p:xfrm>
          <a:off x="411480" y="1298448"/>
          <a:ext cx="3000000" cy="3000000"/>
        </p:xfrm>
        <a:graphic>
          <a:graphicData uri="http://schemas.openxmlformats.org/drawingml/2006/table">
            <a:tbl>
              <a:tblPr>
                <a:noFill/>
                <a:tableStyleId>{8EFC85C5-4764-4BF5-A5AE-CCAC02DEFFEE}</a:tableStyleId>
              </a:tblPr>
              <a:tblGrid>
                <a:gridCol w="3108950"/>
                <a:gridCol w="1737350"/>
                <a:gridCol w="1737350"/>
                <a:gridCol w="1737350"/>
              </a:tblGrid>
              <a:tr h="365750">
                <a:tc>
                  <a:txBody>
                    <a:bodyPr/>
                    <a:lstStyle/>
                    <a:p>
                      <a:pPr indent="0" lvl="0" marL="0" marR="0" rtl="0" algn="l">
                        <a:lnSpc>
                          <a:spcPct val="100000"/>
                        </a:lnSpc>
                        <a:spcBef>
                          <a:spcPts val="0"/>
                        </a:spcBef>
                        <a:spcAft>
                          <a:spcPts val="0"/>
                        </a:spcAft>
                        <a:buClr>
                          <a:srgbClr val="0B7A6F"/>
                        </a:buClr>
                        <a:buSzPts val="950"/>
                        <a:buFont typeface="Play"/>
                        <a:buNone/>
                      </a:pPr>
                      <a:r>
                        <a:rPr b="1" lang="en-US" spc="0" sz="950" u="none" cap="none" strike="noStrike">
                          <a:solidFill>
                            <a:srgbClr val="0B7A6F"/>
                          </a:solidFill>
                          <a:latin typeface="Play"/>
                          <a:ea typeface="Play"/>
                          <a:cs typeface="Play"/>
                          <a:sym typeface="Play"/>
                        </a:rPr>
                        <a:t>Situation</a:t>
                      </a:r>
                      <a:endParaRPr spc="0"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US" spc="0" sz="950" u="none" cap="none" strike="noStrike">
                          <a:solidFill>
                            <a:srgbClr val="0B7A6F"/>
                          </a:solidFill>
                          <a:latin typeface="Play"/>
                          <a:ea typeface="Play"/>
                          <a:cs typeface="Play"/>
                          <a:sym typeface="Play"/>
                        </a:rPr>
                        <a:t>Timing</a:t>
                      </a:r>
                      <a:endParaRPr spc="0"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US" spc="0" sz="950" u="none" cap="none" strike="noStrike">
                          <a:solidFill>
                            <a:srgbClr val="0B7A6F"/>
                          </a:solidFill>
                          <a:latin typeface="Play"/>
                          <a:ea typeface="Play"/>
                          <a:cs typeface="Play"/>
                          <a:sym typeface="Play"/>
                        </a:rPr>
                        <a:t>1st MF</a:t>
                      </a:r>
                      <a:endParaRPr spc="0"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US" spc="0" sz="950" u="none" cap="none" strike="noStrike">
                          <a:solidFill>
                            <a:srgbClr val="0B7A6F"/>
                          </a:solidFill>
                          <a:latin typeface="Play"/>
                          <a:ea typeface="Play"/>
                          <a:cs typeface="Play"/>
                          <a:sym typeface="Play"/>
                        </a:rPr>
                        <a:t>Add-on</a:t>
                      </a:r>
                      <a:endParaRPr spc="0"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65750">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Company or CP fault</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lang="en-US" spc="0" sz="950" u="none" cap="none" strike="noStrike">
                          <a:solidFill>
                            <a:srgbClr val="1D1D1F"/>
                          </a:solidFill>
                          <a:latin typeface="Arial"/>
                          <a:ea typeface="Arial"/>
                          <a:cs typeface="Arial"/>
                          <a:sym typeface="Arial"/>
                        </a:rPr>
                        <a:t>Doesn't matter</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B7A6F"/>
                        </a:buClr>
                        <a:buSzPts val="950"/>
                        <a:buFont typeface="Arial"/>
                        <a:buNone/>
                      </a:pPr>
                      <a:r>
                        <a:rPr b="1" lang="en-US" spc="0" sz="950" u="none" cap="none" strike="noStrike">
                          <a:solidFill>
                            <a:srgbClr val="0B7A6F"/>
                          </a:solidFill>
                          <a:latin typeface="Arial"/>
                          <a:ea typeface="Arial"/>
                          <a:cs typeface="Arial"/>
                          <a:sym typeface="Arial"/>
                        </a:rPr>
                        <a:t>✓ Refund</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B7A6F"/>
                        </a:buClr>
                        <a:buSzPts val="950"/>
                        <a:buFont typeface="Arial"/>
                        <a:buNone/>
                      </a:pPr>
                      <a:r>
                        <a:rPr b="1" lang="en-US" spc="0" sz="950" u="none" cap="none" strike="noStrike">
                          <a:solidFill>
                            <a:srgbClr val="0B7A6F"/>
                          </a:solidFill>
                          <a:latin typeface="Arial"/>
                          <a:ea typeface="Arial"/>
                          <a:cs typeface="Arial"/>
                          <a:sym typeface="Arial"/>
                        </a:rPr>
                        <a:t>✓ Refund</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Customer at fault</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lang="en-US" spc="0" sz="950" u="none" cap="none" strike="noStrike">
                          <a:solidFill>
                            <a:srgbClr val="1D1D1F"/>
                          </a:solidFill>
                          <a:latin typeface="Arial"/>
                          <a:ea typeface="Arial"/>
                          <a:cs typeface="Arial"/>
                          <a:sym typeface="Arial"/>
                        </a:rPr>
                        <a:t>Within 24 hrs</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B7A6F"/>
                        </a:buClr>
                        <a:buSzPts val="950"/>
                        <a:buFont typeface="Arial"/>
                        <a:buNone/>
                      </a:pPr>
                      <a:r>
                        <a:rPr b="1" lang="en-US" spc="0" sz="950" u="none" cap="none" strike="noStrike">
                          <a:solidFill>
                            <a:srgbClr val="0B7A6F"/>
                          </a:solidFill>
                          <a:latin typeface="Arial"/>
                          <a:ea typeface="Arial"/>
                          <a:cs typeface="Arial"/>
                          <a:sym typeface="Arial"/>
                        </a:rPr>
                        <a:t>✓ Refund</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B7A6F"/>
                        </a:buClr>
                        <a:buSzPts val="950"/>
                        <a:buFont typeface="Arial"/>
                        <a:buNone/>
                      </a:pPr>
                      <a:r>
                        <a:rPr b="1" lang="en-US" spc="0" sz="950" u="none" cap="none" strike="noStrike">
                          <a:solidFill>
                            <a:srgbClr val="0B7A6F"/>
                          </a:solidFill>
                          <a:latin typeface="Arial"/>
                          <a:ea typeface="Arial"/>
                          <a:cs typeface="Arial"/>
                          <a:sym typeface="Arial"/>
                        </a:rPr>
                        <a:t>✓ Refund</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Customer at fault (not biohazard)</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lang="en-US" spc="0" sz="950" u="none" cap="none" strike="noStrike">
                          <a:solidFill>
                            <a:srgbClr val="1D1D1F"/>
                          </a:solidFill>
                          <a:latin typeface="Arial"/>
                          <a:ea typeface="Arial"/>
                          <a:cs typeface="Arial"/>
                          <a:sym typeface="Arial"/>
                        </a:rPr>
                        <a:t>After 24 hrs</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B3261E"/>
                        </a:buClr>
                        <a:buSzPts val="950"/>
                        <a:buFont typeface="Arial"/>
                        <a:buNone/>
                      </a:pPr>
                      <a:r>
                        <a:rPr b="1" lang="en-US" spc="0" sz="950" u="none" cap="none" strike="noStrike">
                          <a:solidFill>
                            <a:srgbClr val="B3261E"/>
                          </a:solidFill>
                          <a:latin typeface="Arial"/>
                          <a:ea typeface="Arial"/>
                          <a:cs typeface="Arial"/>
                          <a:sym typeface="Arial"/>
                        </a:rPr>
                        <a:t>✗ Unless compelling</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B7A6F"/>
                        </a:buClr>
                        <a:buSzPts val="950"/>
                        <a:buFont typeface="Arial"/>
                        <a:buNone/>
                      </a:pPr>
                      <a:r>
                        <a:rPr b="1" lang="en-US" spc="0" sz="950" u="none" cap="none" strike="noStrike">
                          <a:solidFill>
                            <a:srgbClr val="0B7A6F"/>
                          </a:solidFill>
                          <a:latin typeface="Arial"/>
                          <a:ea typeface="Arial"/>
                          <a:cs typeface="Arial"/>
                          <a:sym typeface="Arial"/>
                        </a:rPr>
                        <a:t>✓ Refund</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65750">
                <a:tc>
                  <a:txBody>
                    <a:bodyPr/>
                    <a:lstStyle/>
                    <a:p>
                      <a:pPr indent="0" lvl="0" marL="0" marR="0" rtl="0" algn="l">
                        <a:lnSpc>
                          <a:spcPct val="100000"/>
                        </a:lnSpc>
                        <a:spcBef>
                          <a:spcPts val="0"/>
                        </a:spcBef>
                        <a:spcAft>
                          <a:spcPts val="0"/>
                        </a:spcAft>
                        <a:buClr>
                          <a:srgbClr val="1D1D1F"/>
                        </a:buClr>
                        <a:buSzPts val="950"/>
                        <a:buFont typeface="Arial"/>
                        <a:buNone/>
                      </a:pPr>
                      <a:r>
                        <a:rPr b="1" lang="en-US" spc="0" sz="950" u="none" cap="none" strike="noStrike">
                          <a:solidFill>
                            <a:srgbClr val="1D1D1F"/>
                          </a:solidFill>
                          <a:latin typeface="Arial"/>
                          <a:ea typeface="Arial"/>
                          <a:cs typeface="Arial"/>
                          <a:sym typeface="Arial"/>
                        </a:rPr>
                        <a:t>Biohazard reported by the CP</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D1D1F"/>
                        </a:buClr>
                        <a:buSzPts val="950"/>
                        <a:buFont typeface="Arial"/>
                        <a:buNone/>
                      </a:pPr>
                      <a:r>
                        <a:rPr lang="en-US" spc="0" sz="950" u="none" cap="none" strike="noStrike">
                          <a:solidFill>
                            <a:srgbClr val="1D1D1F"/>
                          </a:solidFill>
                          <a:latin typeface="Arial"/>
                          <a:ea typeface="Arial"/>
                          <a:cs typeface="Arial"/>
                          <a:sym typeface="Arial"/>
                        </a:rPr>
                        <a:t>Doesn't matter</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B7A6F"/>
                        </a:buClr>
                        <a:buSzPts val="950"/>
                        <a:buFont typeface="Arial"/>
                        <a:buNone/>
                      </a:pPr>
                      <a:r>
                        <a:rPr b="1" lang="en-US" spc="0" sz="950" u="none" cap="none" strike="noStrike">
                          <a:solidFill>
                            <a:srgbClr val="0B7A6F"/>
                          </a:solidFill>
                          <a:latin typeface="Arial"/>
                          <a:ea typeface="Arial"/>
                          <a:cs typeface="Arial"/>
                          <a:sym typeface="Arial"/>
                        </a:rPr>
                        <a:t>✓ Refund</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B7A6F"/>
                        </a:buClr>
                        <a:buSzPts val="950"/>
                        <a:buFont typeface="Arial"/>
                        <a:buNone/>
                      </a:pPr>
                      <a:r>
                        <a:rPr b="1" lang="en-US" spc="0" sz="950" u="none" cap="none" strike="noStrike">
                          <a:solidFill>
                            <a:srgbClr val="0B7A6F"/>
                          </a:solidFill>
                          <a:latin typeface="Arial"/>
                          <a:ea typeface="Arial"/>
                          <a:cs typeface="Arial"/>
                          <a:sym typeface="Arial"/>
                        </a:rPr>
                        <a:t>✓ Refund</a:t>
                      </a:r>
                      <a:endParaRPr spc="0"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860" name="Google Shape;1860;p70"/>
          <p:cNvSpPr/>
          <p:nvPr/>
        </p:nvSpPr>
        <p:spPr>
          <a:xfrm>
            <a:off x="411480" y="3291840"/>
            <a:ext cx="4069080" cy="914400"/>
          </a:xfrm>
          <a:prstGeom prst="roundRect">
            <a:avLst>
              <a:gd fmla="val 8000"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61" name="Google Shape;1861;p70"/>
          <p:cNvSpPr/>
          <p:nvPr/>
        </p:nvSpPr>
        <p:spPr>
          <a:xfrm>
            <a:off x="411480" y="3291840"/>
            <a:ext cx="40690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2–3 hr cleaning</a:t>
            </a:r>
            <a:endParaRPr b="0" i="0" spc="0" sz="1050" u="none" cap="none" strike="noStrike">
              <a:solidFill>
                <a:schemeClr val="dk1"/>
              </a:solidFill>
              <a:latin typeface="Calibri"/>
              <a:ea typeface="Calibri"/>
              <a:cs typeface="Calibri"/>
              <a:sym typeface="Calibri"/>
            </a:endParaRPr>
          </a:p>
        </p:txBody>
      </p:sp>
      <p:sp>
        <p:nvSpPr>
          <p:cNvPr id="1862" name="Google Shape;1862;p70"/>
          <p:cNvSpPr txBox="1"/>
          <p:nvPr/>
        </p:nvSpPr>
        <p:spPr>
          <a:xfrm>
            <a:off x="576072" y="3730752"/>
            <a:ext cx="3739896" cy="4023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Refund Voucher option in CRM. No tracker entry</a:t>
            </a:r>
            <a:endParaRPr b="0" i="0" spc="0" sz="950" u="none" cap="none" strike="noStrike">
              <a:solidFill>
                <a:schemeClr val="dk1"/>
              </a:solidFill>
              <a:latin typeface="Calibri"/>
              <a:ea typeface="Calibri"/>
              <a:cs typeface="Calibri"/>
              <a:sym typeface="Calibri"/>
            </a:endParaRPr>
          </a:p>
        </p:txBody>
      </p:sp>
      <p:sp>
        <p:nvSpPr>
          <p:cNvPr id="1863" name="Google Shape;1863;p70"/>
          <p:cNvSpPr/>
          <p:nvPr/>
        </p:nvSpPr>
        <p:spPr>
          <a:xfrm>
            <a:off x="4663440" y="3291840"/>
            <a:ext cx="4069080" cy="914400"/>
          </a:xfrm>
          <a:prstGeom prst="roundRect">
            <a:avLst>
              <a:gd fmla="val 8000"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64" name="Google Shape;1864;p70"/>
          <p:cNvSpPr/>
          <p:nvPr/>
        </p:nvSpPr>
        <p:spPr>
          <a:xfrm>
            <a:off x="4663440" y="3291840"/>
            <a:ext cx="4069080" cy="329184"/>
          </a:xfrm>
          <a:prstGeom prst="roundRect">
            <a:avLst>
              <a:gd fmla="val 16667" name="adj"/>
            </a:avLst>
          </a:prstGeom>
          <a:solidFill>
            <a:srgbClr val="9A6410"/>
          </a:solidFill>
          <a:ln cap="flat" cmpd="sng" w="12700">
            <a:solidFill>
              <a:srgbClr val="9A641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4–6 hr cleaning</a:t>
            </a:r>
            <a:endParaRPr b="0" i="0" spc="0" sz="1050" u="none" cap="none" strike="noStrike">
              <a:solidFill>
                <a:schemeClr val="dk1"/>
              </a:solidFill>
              <a:latin typeface="Calibri"/>
              <a:ea typeface="Calibri"/>
              <a:cs typeface="Calibri"/>
              <a:sym typeface="Calibri"/>
            </a:endParaRPr>
          </a:p>
        </p:txBody>
      </p:sp>
      <p:sp>
        <p:nvSpPr>
          <p:cNvPr id="1865" name="Google Shape;1865;p70"/>
          <p:cNvSpPr txBox="1"/>
          <p:nvPr/>
        </p:nvSpPr>
        <p:spPr>
          <a:xfrm>
            <a:off x="4828032" y="3730752"/>
            <a:ext cx="3739896" cy="4023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FCF Refund tracker: TL issues a Stripe FULL refund</a:t>
            </a:r>
            <a:endParaRPr b="0" i="0" spc="0" sz="950" u="none" cap="none" strike="noStrike">
              <a:solidFill>
                <a:schemeClr val="dk1"/>
              </a:solidFill>
              <a:latin typeface="Calibri"/>
              <a:ea typeface="Calibri"/>
              <a:cs typeface="Calibri"/>
              <a:sym typeface="Calibri"/>
            </a:endParaRPr>
          </a:p>
        </p:txBody>
      </p:sp>
      <p:sp>
        <p:nvSpPr>
          <p:cNvPr id="1866" name="Google Shape;1866;p70"/>
          <p:cNvSpPr/>
          <p:nvPr/>
        </p:nvSpPr>
        <p:spPr>
          <a:xfrm>
            <a:off x="411480" y="4315968"/>
            <a:ext cx="8321040" cy="384048"/>
          </a:xfrm>
          <a:prstGeom prst="roundRect">
            <a:avLst>
              <a:gd fmla="val 19048"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867" name="Google Shape;1867;p70"/>
          <p:cNvPicPr preferRelativeResize="0"/>
          <p:nvPr/>
        </p:nvPicPr>
        <p:blipFill rotWithShape="1">
          <a:blip r:embed="rId3">
            <a:alphaModFix/>
          </a:blip>
          <a:srcRect b="0" l="0" r="0" t="0"/>
          <a:stretch/>
        </p:blipFill>
        <p:spPr>
          <a:xfrm>
            <a:off x="566928" y="4425696"/>
            <a:ext cx="164592" cy="164592"/>
          </a:xfrm>
          <a:prstGeom prst="rect">
            <a:avLst/>
          </a:prstGeom>
          <a:noFill/>
          <a:ln>
            <a:noFill/>
          </a:ln>
        </p:spPr>
      </p:pic>
      <p:sp>
        <p:nvSpPr>
          <p:cNvPr id="1868" name="Google Shape;1868;p70"/>
          <p:cNvSpPr txBox="1"/>
          <p:nvPr/>
        </p:nvSpPr>
        <p:spPr>
          <a:xfrm>
            <a:off x="822960" y="4315968"/>
            <a:ext cx="77724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3261E"/>
              </a:buClr>
              <a:buSzPts val="1000"/>
              <a:buFont typeface="Arial"/>
              <a:buNone/>
            </a:pPr>
            <a:r>
              <a:rPr b="1" i="0" lang="en-US" spc="0" sz="1000" u="none" cap="none" strike="noStrike">
                <a:solidFill>
                  <a:srgbClr val="B3261E"/>
                </a:solidFill>
                <a:latin typeface="Arial"/>
                <a:ea typeface="Arial"/>
                <a:cs typeface="Arial"/>
                <a:sym typeface="Arial"/>
              </a:rPr>
              <a:t>4–6 hr? Not the Refund Voucher option:  </a:t>
            </a:r>
            <a:r>
              <a:rPr b="0" i="0" lang="en-US" spc="0" sz="1000" u="none" cap="none" strike="noStrike">
                <a:solidFill>
                  <a:srgbClr val="1D1D1F"/>
                </a:solidFill>
                <a:latin typeface="Arial"/>
                <a:ea typeface="Arial"/>
                <a:cs typeface="Arial"/>
                <a:sym typeface="Arial"/>
              </a:rPr>
              <a:t>it only refunds the $19 MF, not the add-on.</a:t>
            </a:r>
            <a:endParaRPr b="0" i="0" spc="0" sz="1000" u="none" cap="none" strike="noStrike">
              <a:solidFill>
                <a:schemeClr val="dk1"/>
              </a:solidFill>
              <a:latin typeface="Calibri"/>
              <a:ea typeface="Calibri"/>
              <a:cs typeface="Calibri"/>
              <a:sym typeface="Calibri"/>
            </a:endParaRPr>
          </a:p>
        </p:txBody>
      </p:sp>
      <p:sp>
        <p:nvSpPr>
          <p:cNvPr id="1869" name="Google Shape;1869;p7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4" name="Shape 1874"/>
        <p:cNvGrpSpPr/>
        <p:nvPr/>
      </p:nvGrpSpPr>
      <p:grpSpPr>
        <a:xfrm>
          <a:off x="0" y="0"/>
          <a:ext cx="0" cy="0"/>
          <a:chOff x="0" y="0"/>
          <a:chExt cx="0" cy="0"/>
        </a:xfrm>
      </p:grpSpPr>
      <p:sp>
        <p:nvSpPr>
          <p:cNvPr id="1875" name="Google Shape;1875;p7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FCF PRE-INVOICE</a:t>
            </a:r>
            <a:endParaRPr b="0" i="0" spc="0" sz="800" u="none" cap="none" strike="noStrike">
              <a:solidFill>
                <a:schemeClr val="dk1"/>
              </a:solidFill>
              <a:latin typeface="Calibri"/>
              <a:ea typeface="Calibri"/>
              <a:cs typeface="Calibri"/>
              <a:sym typeface="Calibri"/>
            </a:endParaRPr>
          </a:p>
        </p:txBody>
      </p:sp>
      <p:sp>
        <p:nvSpPr>
          <p:cNvPr id="1876" name="Google Shape;1876;p7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2+ MFs paid, no jobs done</a:t>
            </a:r>
            <a:endParaRPr b="0" i="0" spc="0" sz="2400" u="none" cap="none" strike="noStrike">
              <a:solidFill>
                <a:schemeClr val="dk1"/>
              </a:solidFill>
              <a:latin typeface="Calibri"/>
              <a:ea typeface="Calibri"/>
              <a:cs typeface="Calibri"/>
              <a:sym typeface="Calibri"/>
            </a:endParaRPr>
          </a:p>
        </p:txBody>
      </p:sp>
      <p:sp>
        <p:nvSpPr>
          <p:cNvPr id="1877" name="Google Shape;1877;p7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No refund by default. Any one condition qualifies.</a:t>
            </a:r>
            <a:endParaRPr b="0" i="0" spc="0" sz="1200" u="none" cap="none" strike="noStrike">
              <a:solidFill>
                <a:schemeClr val="dk1"/>
              </a:solidFill>
              <a:latin typeface="Calibri"/>
              <a:ea typeface="Calibri"/>
              <a:cs typeface="Calibri"/>
              <a:sym typeface="Calibri"/>
            </a:endParaRPr>
          </a:p>
        </p:txBody>
      </p:sp>
      <p:sp>
        <p:nvSpPr>
          <p:cNvPr id="1878" name="Google Shape;1878;p71"/>
          <p:cNvSpPr/>
          <p:nvPr/>
        </p:nvSpPr>
        <p:spPr>
          <a:xfrm>
            <a:off x="411480" y="1325880"/>
            <a:ext cx="4091940" cy="868680"/>
          </a:xfrm>
          <a:prstGeom prst="roundRect">
            <a:avLst>
              <a:gd fmla="val 842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79" name="Google Shape;1879;p71"/>
          <p:cNvSpPr/>
          <p:nvPr/>
        </p:nvSpPr>
        <p:spPr>
          <a:xfrm>
            <a:off x="576072" y="15544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880" name="Google Shape;1880;p71"/>
          <p:cNvPicPr preferRelativeResize="0"/>
          <p:nvPr/>
        </p:nvPicPr>
        <p:blipFill rotWithShape="1">
          <a:blip r:embed="rId3">
            <a:alphaModFix/>
          </a:blip>
          <a:srcRect b="0" l="0" r="0" t="0"/>
          <a:stretch/>
        </p:blipFill>
        <p:spPr>
          <a:xfrm>
            <a:off x="668244" y="1646652"/>
            <a:ext cx="199705" cy="199705"/>
          </a:xfrm>
          <a:prstGeom prst="rect">
            <a:avLst/>
          </a:prstGeom>
          <a:noFill/>
          <a:ln>
            <a:noFill/>
          </a:ln>
        </p:spPr>
      </p:pic>
      <p:sp>
        <p:nvSpPr>
          <p:cNvPr id="1881" name="Google Shape;1881;p71"/>
          <p:cNvSpPr txBox="1"/>
          <p:nvPr/>
        </p:nvSpPr>
        <p:spPr>
          <a:xfrm>
            <a:off x="1097280" y="1325880"/>
            <a:ext cx="3268980" cy="868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Within 24 hrs of the latest MF</a:t>
            </a:r>
            <a:endParaRPr b="0" i="0" spc="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They reached out fast after the charge.</a:t>
            </a:r>
            <a:endParaRPr b="0" i="0" spc="0" sz="1100" u="none" cap="none" strike="noStrike">
              <a:solidFill>
                <a:schemeClr val="dk1"/>
              </a:solidFill>
              <a:latin typeface="Calibri"/>
              <a:ea typeface="Calibri"/>
              <a:cs typeface="Calibri"/>
              <a:sym typeface="Calibri"/>
            </a:endParaRPr>
          </a:p>
        </p:txBody>
      </p:sp>
      <p:sp>
        <p:nvSpPr>
          <p:cNvPr id="1882" name="Google Shape;1882;p71"/>
          <p:cNvSpPr/>
          <p:nvPr/>
        </p:nvSpPr>
        <p:spPr>
          <a:xfrm>
            <a:off x="4640580" y="1325880"/>
            <a:ext cx="4091940" cy="868680"/>
          </a:xfrm>
          <a:prstGeom prst="roundRect">
            <a:avLst>
              <a:gd fmla="val 842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83" name="Google Shape;1883;p71"/>
          <p:cNvSpPr/>
          <p:nvPr/>
        </p:nvSpPr>
        <p:spPr>
          <a:xfrm>
            <a:off x="4805172" y="15544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884" name="Google Shape;1884;p71"/>
          <p:cNvPicPr preferRelativeResize="0"/>
          <p:nvPr/>
        </p:nvPicPr>
        <p:blipFill rotWithShape="1">
          <a:blip r:embed="rId4">
            <a:alphaModFix/>
          </a:blip>
          <a:srcRect b="0" l="0" r="0" t="0"/>
          <a:stretch/>
        </p:blipFill>
        <p:spPr>
          <a:xfrm>
            <a:off x="4897344" y="1646652"/>
            <a:ext cx="199705" cy="199705"/>
          </a:xfrm>
          <a:prstGeom prst="rect">
            <a:avLst/>
          </a:prstGeom>
          <a:noFill/>
          <a:ln>
            <a:noFill/>
          </a:ln>
        </p:spPr>
      </p:pic>
      <p:sp>
        <p:nvSpPr>
          <p:cNvPr id="1885" name="Google Shape;1885;p71"/>
          <p:cNvSpPr txBox="1"/>
          <p:nvPr/>
        </p:nvSpPr>
        <p:spPr>
          <a:xfrm>
            <a:off x="5326380" y="1325880"/>
            <a:ext cx="3268980" cy="868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Tried to book, CP/platform fault</a:t>
            </a:r>
            <a:endParaRPr b="0" i="0" spc="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Refund that specific MF.</a:t>
            </a:r>
            <a:endParaRPr b="0" i="0" spc="0" sz="1100" u="none" cap="none" strike="noStrike">
              <a:solidFill>
                <a:schemeClr val="dk1"/>
              </a:solidFill>
              <a:latin typeface="Calibri"/>
              <a:ea typeface="Calibri"/>
              <a:cs typeface="Calibri"/>
              <a:sym typeface="Calibri"/>
            </a:endParaRPr>
          </a:p>
        </p:txBody>
      </p:sp>
      <p:sp>
        <p:nvSpPr>
          <p:cNvPr id="1886" name="Google Shape;1886;p71"/>
          <p:cNvSpPr/>
          <p:nvPr/>
        </p:nvSpPr>
        <p:spPr>
          <a:xfrm>
            <a:off x="411480" y="2304288"/>
            <a:ext cx="4091940" cy="868680"/>
          </a:xfrm>
          <a:prstGeom prst="roundRect">
            <a:avLst>
              <a:gd fmla="val 842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87" name="Google Shape;1887;p71"/>
          <p:cNvSpPr/>
          <p:nvPr/>
        </p:nvSpPr>
        <p:spPr>
          <a:xfrm>
            <a:off x="576072" y="253288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888" name="Google Shape;1888;p71"/>
          <p:cNvPicPr preferRelativeResize="0"/>
          <p:nvPr/>
        </p:nvPicPr>
        <p:blipFill rotWithShape="1">
          <a:blip r:embed="rId5">
            <a:alphaModFix/>
          </a:blip>
          <a:srcRect b="0" l="0" r="0" t="0"/>
          <a:stretch/>
        </p:blipFill>
        <p:spPr>
          <a:xfrm>
            <a:off x="668244" y="2625060"/>
            <a:ext cx="199705" cy="199705"/>
          </a:xfrm>
          <a:prstGeom prst="rect">
            <a:avLst/>
          </a:prstGeom>
          <a:noFill/>
          <a:ln>
            <a:noFill/>
          </a:ln>
        </p:spPr>
      </p:pic>
      <p:sp>
        <p:nvSpPr>
          <p:cNvPr id="1889" name="Google Shape;1889;p71"/>
          <p:cNvSpPr txBox="1"/>
          <p:nvPr/>
        </p:nvSpPr>
        <p:spPr>
          <a:xfrm>
            <a:off x="1097280" y="2304288"/>
            <a:ext cx="3268980" cy="868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~3 days + CP/platform fault</a:t>
            </a:r>
            <a:endParaRPr b="0" i="0" spc="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Before the 4th day can still count.</a:t>
            </a:r>
            <a:endParaRPr b="0" i="0" spc="0" sz="1100" u="none" cap="none" strike="noStrike">
              <a:solidFill>
                <a:schemeClr val="dk1"/>
              </a:solidFill>
              <a:latin typeface="Calibri"/>
              <a:ea typeface="Calibri"/>
              <a:cs typeface="Calibri"/>
              <a:sym typeface="Calibri"/>
            </a:endParaRPr>
          </a:p>
        </p:txBody>
      </p:sp>
      <p:sp>
        <p:nvSpPr>
          <p:cNvPr id="1890" name="Google Shape;1890;p71"/>
          <p:cNvSpPr/>
          <p:nvPr/>
        </p:nvSpPr>
        <p:spPr>
          <a:xfrm>
            <a:off x="4640580" y="2304288"/>
            <a:ext cx="4091940" cy="868680"/>
          </a:xfrm>
          <a:prstGeom prst="roundRect">
            <a:avLst>
              <a:gd fmla="val 842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91" name="Google Shape;1891;p71"/>
          <p:cNvSpPr/>
          <p:nvPr/>
        </p:nvSpPr>
        <p:spPr>
          <a:xfrm>
            <a:off x="4805172" y="253288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892" name="Google Shape;1892;p71"/>
          <p:cNvPicPr preferRelativeResize="0"/>
          <p:nvPr/>
        </p:nvPicPr>
        <p:blipFill rotWithShape="1">
          <a:blip r:embed="rId6">
            <a:alphaModFix/>
          </a:blip>
          <a:srcRect b="0" l="0" r="0" t="0"/>
          <a:stretch/>
        </p:blipFill>
        <p:spPr>
          <a:xfrm>
            <a:off x="4897344" y="2625060"/>
            <a:ext cx="199705" cy="199705"/>
          </a:xfrm>
          <a:prstGeom prst="rect">
            <a:avLst/>
          </a:prstGeom>
          <a:noFill/>
          <a:ln>
            <a:noFill/>
          </a:ln>
        </p:spPr>
      </p:pic>
      <p:sp>
        <p:nvSpPr>
          <p:cNvPr id="1893" name="Google Shape;1893;p71"/>
          <p:cNvSpPr txBox="1"/>
          <p:nvPr/>
        </p:nvSpPr>
        <p:spPr>
          <a:xfrm>
            <a:off x="5326380" y="2304288"/>
            <a:ext cx="3268980" cy="868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Biohazard reported by the CP</a:t>
            </a:r>
            <a:endParaRPr b="0" i="0" spc="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All unused MFs, if they ask (120 days).</a:t>
            </a:r>
            <a:endParaRPr b="0" i="0" spc="0" sz="1100" u="none" cap="none" strike="noStrike">
              <a:solidFill>
                <a:schemeClr val="dk1"/>
              </a:solidFill>
              <a:latin typeface="Calibri"/>
              <a:ea typeface="Calibri"/>
              <a:cs typeface="Calibri"/>
              <a:sym typeface="Calibri"/>
            </a:endParaRPr>
          </a:p>
        </p:txBody>
      </p:sp>
      <p:sp>
        <p:nvSpPr>
          <p:cNvPr id="1894" name="Google Shape;1894;p71"/>
          <p:cNvSpPr/>
          <p:nvPr/>
        </p:nvSpPr>
        <p:spPr>
          <a:xfrm>
            <a:off x="411480" y="33375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895" name="Google Shape;1895;p71"/>
          <p:cNvPicPr preferRelativeResize="0"/>
          <p:nvPr/>
        </p:nvPicPr>
        <p:blipFill rotWithShape="1">
          <a:blip r:embed="rId7">
            <a:alphaModFix/>
          </a:blip>
          <a:srcRect b="0" l="0" r="0" t="0"/>
          <a:stretch/>
        </p:blipFill>
        <p:spPr>
          <a:xfrm>
            <a:off x="566928" y="3447288"/>
            <a:ext cx="164592" cy="164592"/>
          </a:xfrm>
          <a:prstGeom prst="rect">
            <a:avLst/>
          </a:prstGeom>
          <a:noFill/>
          <a:ln>
            <a:noFill/>
          </a:ln>
        </p:spPr>
      </p:pic>
      <p:sp>
        <p:nvSpPr>
          <p:cNvPr id="1896" name="Google Shape;1896;p71"/>
          <p:cNvSpPr txBox="1"/>
          <p:nvPr/>
        </p:nvSpPr>
        <p:spPr>
          <a:xfrm>
            <a:off x="822960" y="34381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Then, for the 1st charge:  </a:t>
            </a:r>
            <a:r>
              <a:rPr b="0" i="0" lang="en-US" spc="0" sz="1000" u="none" cap="none" strike="noStrike">
                <a:solidFill>
                  <a:srgbClr val="1D1D1F"/>
                </a:solidFill>
                <a:latin typeface="Arial"/>
                <a:ea typeface="Arial"/>
                <a:cs typeface="Arial"/>
                <a:sym typeface="Arial"/>
              </a:rPr>
              <a:t>2–3 hr, Refund Voucher option. 4–6 hr, FCF Refund tab for a Stripe FULL refund.</a:t>
            </a:r>
            <a:endParaRPr b="0" i="0" spc="0" sz="1000" u="none" cap="none" strike="noStrike">
              <a:solidFill>
                <a:schemeClr val="dk1"/>
              </a:solidFill>
              <a:latin typeface="Calibri"/>
              <a:ea typeface="Calibri"/>
              <a:cs typeface="Calibri"/>
              <a:sym typeface="Calibri"/>
            </a:endParaRPr>
          </a:p>
        </p:txBody>
      </p:sp>
      <p:sp>
        <p:nvSpPr>
          <p:cNvPr id="1897" name="Google Shape;1897;p71"/>
          <p:cNvSpPr/>
          <p:nvPr/>
        </p:nvSpPr>
        <p:spPr>
          <a:xfrm>
            <a:off x="411480" y="3813048"/>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898" name="Google Shape;1898;p71"/>
          <p:cNvPicPr preferRelativeResize="0"/>
          <p:nvPr/>
        </p:nvPicPr>
        <p:blipFill rotWithShape="1">
          <a:blip r:embed="rId8">
            <a:alphaModFix/>
          </a:blip>
          <a:srcRect b="0" l="0" r="0" t="0"/>
          <a:stretch/>
        </p:blipFill>
        <p:spPr>
          <a:xfrm>
            <a:off x="566928" y="3922776"/>
            <a:ext cx="164592" cy="164592"/>
          </a:xfrm>
          <a:prstGeom prst="rect">
            <a:avLst/>
          </a:prstGeom>
          <a:noFill/>
          <a:ln>
            <a:noFill/>
          </a:ln>
        </p:spPr>
      </p:pic>
      <p:sp>
        <p:nvSpPr>
          <p:cNvPr id="1899" name="Google Shape;1899;p71"/>
          <p:cNvSpPr txBox="1"/>
          <p:nvPr/>
        </p:nvSpPr>
        <p:spPr>
          <a:xfrm>
            <a:off x="822960" y="3913632"/>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Finish with:  </a:t>
            </a:r>
            <a:r>
              <a:rPr b="0" i="0" lang="en-US" spc="0" sz="1000" u="none" cap="none" strike="noStrike">
                <a:solidFill>
                  <a:srgbClr val="1D1D1F"/>
                </a:solidFill>
                <a:latin typeface="Arial"/>
                <a:ea typeface="Arial"/>
                <a:cs typeface="Arial"/>
                <a:sym typeface="Arial"/>
              </a:rPr>
              <a:t>Cancel FC in CRM → Invalidate the voucher.</a:t>
            </a:r>
            <a:endParaRPr b="0" i="0" spc="0" sz="1000" u="none" cap="none" strike="noStrike">
              <a:solidFill>
                <a:schemeClr val="dk1"/>
              </a:solidFill>
              <a:latin typeface="Calibri"/>
              <a:ea typeface="Calibri"/>
              <a:cs typeface="Calibri"/>
              <a:sym typeface="Calibri"/>
            </a:endParaRPr>
          </a:p>
        </p:txBody>
      </p:sp>
      <p:sp>
        <p:nvSpPr>
          <p:cNvPr id="1900" name="Google Shape;1900;p7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5" name="Shape 1905"/>
        <p:cNvGrpSpPr/>
        <p:nvPr/>
      </p:nvGrpSpPr>
      <p:grpSpPr>
        <a:xfrm>
          <a:off x="0" y="0"/>
          <a:ext cx="0" cy="0"/>
          <a:chOff x="0" y="0"/>
          <a:chExt cx="0" cy="0"/>
        </a:xfrm>
      </p:grpSpPr>
      <p:sp>
        <p:nvSpPr>
          <p:cNvPr id="1906" name="Google Shape;1906;p7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FCF PRE-INVOICE</a:t>
            </a:r>
            <a:endParaRPr b="0" i="0" spc="0" sz="800" u="none" cap="none" strike="noStrike">
              <a:solidFill>
                <a:schemeClr val="dk1"/>
              </a:solidFill>
              <a:latin typeface="Calibri"/>
              <a:ea typeface="Calibri"/>
              <a:cs typeface="Calibri"/>
              <a:sym typeface="Calibri"/>
            </a:endParaRPr>
          </a:p>
        </p:txBody>
      </p:sp>
      <p:sp>
        <p:nvSpPr>
          <p:cNvPr id="1907" name="Google Shape;1907;p7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Changing the first cleaning's length</a:t>
            </a:r>
            <a:endParaRPr b="0" i="0" spc="0" sz="2400" u="none" cap="none" strike="noStrike">
              <a:solidFill>
                <a:schemeClr val="dk1"/>
              </a:solidFill>
              <a:latin typeface="Calibri"/>
              <a:ea typeface="Calibri"/>
              <a:cs typeface="Calibri"/>
              <a:sym typeface="Calibri"/>
            </a:endParaRPr>
          </a:p>
        </p:txBody>
      </p:sp>
      <p:sp>
        <p:nvSpPr>
          <p:cNvPr id="1908" name="Google Shape;1908;p7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Keep FC in place. Settle the difference at sign-up pricing.</a:t>
            </a:r>
            <a:endParaRPr b="0" i="0" spc="0" sz="1200" u="none" cap="none" strike="noStrike">
              <a:solidFill>
                <a:schemeClr val="dk1"/>
              </a:solidFill>
              <a:latin typeface="Calibri"/>
              <a:ea typeface="Calibri"/>
              <a:cs typeface="Calibri"/>
              <a:sym typeface="Calibri"/>
            </a:endParaRPr>
          </a:p>
        </p:txBody>
      </p:sp>
      <p:sp>
        <p:nvSpPr>
          <p:cNvPr id="1909" name="Google Shape;1909;p72"/>
          <p:cNvSpPr/>
          <p:nvPr/>
        </p:nvSpPr>
        <p:spPr>
          <a:xfrm>
            <a:off x="411480" y="1371600"/>
            <a:ext cx="1920240" cy="640080"/>
          </a:xfrm>
          <a:prstGeom prst="roundRect">
            <a:avLst>
              <a:gd fmla="val 11429" name="adj"/>
            </a:avLst>
          </a:prstGeom>
          <a:solidFill>
            <a:srgbClr val="FFFFFF"/>
          </a:solidFill>
          <a:ln cap="flat" cmpd="sng" w="12700">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10" name="Google Shape;1910;p72"/>
          <p:cNvSpPr txBox="1"/>
          <p:nvPr/>
        </p:nvSpPr>
        <p:spPr>
          <a:xfrm>
            <a:off x="411480" y="1371600"/>
            <a:ext cx="192024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Confirm current &amp; target tier</a:t>
            </a:r>
            <a:endParaRPr b="0" i="0" spc="0" sz="1000" u="none" cap="none" strike="noStrike">
              <a:solidFill>
                <a:schemeClr val="dk1"/>
              </a:solidFill>
              <a:latin typeface="Calibri"/>
              <a:ea typeface="Calibri"/>
              <a:cs typeface="Calibri"/>
              <a:sym typeface="Calibri"/>
            </a:endParaRPr>
          </a:p>
        </p:txBody>
      </p:sp>
      <p:cxnSp>
        <p:nvCxnSpPr>
          <p:cNvPr id="1911" name="Google Shape;1911;p72"/>
          <p:cNvCxnSpPr/>
          <p:nvPr/>
        </p:nvCxnSpPr>
        <p:spPr>
          <a:xfrm>
            <a:off x="2331720" y="1691640"/>
            <a:ext cx="213055" cy="0"/>
          </a:xfrm>
          <a:prstGeom prst="straightConnector1">
            <a:avLst/>
          </a:prstGeom>
          <a:noFill/>
          <a:ln cap="flat" cmpd="sng" w="12700">
            <a:solidFill>
              <a:srgbClr val="6E6E73"/>
            </a:solidFill>
            <a:prstDash val="solid"/>
            <a:round/>
            <a:headEnd len="sm" w="sm" type="none"/>
            <a:tailEnd len="med" w="med" type="triangle"/>
          </a:ln>
        </p:spPr>
      </p:cxnSp>
      <p:sp>
        <p:nvSpPr>
          <p:cNvPr id="1912" name="Google Shape;1912;p72"/>
          <p:cNvSpPr/>
          <p:nvPr/>
        </p:nvSpPr>
        <p:spPr>
          <a:xfrm>
            <a:off x="2544775" y="1371600"/>
            <a:ext cx="1920240" cy="640080"/>
          </a:xfrm>
          <a:prstGeom prst="roundRect">
            <a:avLst>
              <a:gd fmla="val 11429" name="adj"/>
            </a:avLst>
          </a:prstGeom>
          <a:solidFill>
            <a:srgbClr val="FFF3D6"/>
          </a:solidFill>
          <a:ln cap="flat" cmpd="sng" w="12700">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13" name="Google Shape;1913;p72"/>
          <p:cNvSpPr txBox="1"/>
          <p:nvPr/>
        </p:nvSpPr>
        <p:spPr>
          <a:xfrm>
            <a:off x="2544775" y="1371600"/>
            <a:ext cx="192024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1000"/>
              <a:buFont typeface="Play"/>
              <a:buNone/>
            </a:pPr>
            <a:r>
              <a:rPr b="1" i="0" lang="en-US" spc="0" sz="1000" u="none" cap="none" strike="noStrike">
                <a:solidFill>
                  <a:srgbClr val="9A6410"/>
                </a:solidFill>
                <a:latin typeface="Play"/>
                <a:ea typeface="Play"/>
                <a:cs typeface="Play"/>
                <a:sym typeface="Play"/>
              </a:rPr>
              <a:t>Customer agrees to the difference</a:t>
            </a:r>
            <a:endParaRPr b="0" i="0" spc="0" sz="1000" u="none" cap="none" strike="noStrike">
              <a:solidFill>
                <a:schemeClr val="dk1"/>
              </a:solidFill>
              <a:latin typeface="Calibri"/>
              <a:ea typeface="Calibri"/>
              <a:cs typeface="Calibri"/>
              <a:sym typeface="Calibri"/>
            </a:endParaRPr>
          </a:p>
        </p:txBody>
      </p:sp>
      <p:cxnSp>
        <p:nvCxnSpPr>
          <p:cNvPr id="1914" name="Google Shape;1914;p72"/>
          <p:cNvCxnSpPr/>
          <p:nvPr/>
        </p:nvCxnSpPr>
        <p:spPr>
          <a:xfrm>
            <a:off x="4465015" y="1691640"/>
            <a:ext cx="213055" cy="0"/>
          </a:xfrm>
          <a:prstGeom prst="straightConnector1">
            <a:avLst/>
          </a:prstGeom>
          <a:noFill/>
          <a:ln cap="flat" cmpd="sng" w="12700">
            <a:solidFill>
              <a:srgbClr val="6E6E73"/>
            </a:solidFill>
            <a:prstDash val="solid"/>
            <a:round/>
            <a:headEnd len="sm" w="sm" type="none"/>
            <a:tailEnd len="med" w="med" type="triangle"/>
          </a:ln>
        </p:spPr>
      </p:cxnSp>
      <p:sp>
        <p:nvSpPr>
          <p:cNvPr id="1915" name="Google Shape;1915;p72"/>
          <p:cNvSpPr/>
          <p:nvPr/>
        </p:nvSpPr>
        <p:spPr>
          <a:xfrm>
            <a:off x="4678070" y="1371600"/>
            <a:ext cx="1920240" cy="640080"/>
          </a:xfrm>
          <a:prstGeom prst="roundRect">
            <a:avLst>
              <a:gd fmla="val 11429" name="adj"/>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16" name="Google Shape;1916;p72"/>
          <p:cNvSpPr txBox="1"/>
          <p:nvPr/>
        </p:nvSpPr>
        <p:spPr>
          <a:xfrm>
            <a:off x="4678070" y="1371600"/>
            <a:ext cx="192024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Play"/>
              <a:buNone/>
            </a:pPr>
            <a:r>
              <a:rPr b="1" i="0" lang="en-US" spc="0" sz="1000" u="none" cap="none" strike="noStrike">
                <a:solidFill>
                  <a:srgbClr val="FFFFFF"/>
                </a:solidFill>
                <a:latin typeface="Play"/>
                <a:ea typeface="Play"/>
                <a:cs typeface="Play"/>
                <a:sym typeface="Play"/>
              </a:rPr>
              <a:t>Update voucher duration in Django</a:t>
            </a:r>
            <a:endParaRPr b="0" i="0" spc="0" sz="1000" u="none" cap="none" strike="noStrike">
              <a:solidFill>
                <a:schemeClr val="dk1"/>
              </a:solidFill>
              <a:latin typeface="Calibri"/>
              <a:ea typeface="Calibri"/>
              <a:cs typeface="Calibri"/>
              <a:sym typeface="Calibri"/>
            </a:endParaRPr>
          </a:p>
        </p:txBody>
      </p:sp>
      <p:cxnSp>
        <p:nvCxnSpPr>
          <p:cNvPr id="1917" name="Google Shape;1917;p72"/>
          <p:cNvCxnSpPr/>
          <p:nvPr/>
        </p:nvCxnSpPr>
        <p:spPr>
          <a:xfrm>
            <a:off x="6598310" y="1691640"/>
            <a:ext cx="213055" cy="0"/>
          </a:xfrm>
          <a:prstGeom prst="straightConnector1">
            <a:avLst/>
          </a:prstGeom>
          <a:noFill/>
          <a:ln cap="flat" cmpd="sng" w="12700">
            <a:solidFill>
              <a:srgbClr val="6E6E73"/>
            </a:solidFill>
            <a:prstDash val="solid"/>
            <a:round/>
            <a:headEnd len="sm" w="sm" type="none"/>
            <a:tailEnd len="med" w="med" type="triangle"/>
          </a:ln>
        </p:spPr>
      </p:cxnSp>
      <p:sp>
        <p:nvSpPr>
          <p:cNvPr id="1918" name="Google Shape;1918;p72"/>
          <p:cNvSpPr/>
          <p:nvPr/>
        </p:nvSpPr>
        <p:spPr>
          <a:xfrm>
            <a:off x="6811366" y="1371600"/>
            <a:ext cx="1920240" cy="640080"/>
          </a:xfrm>
          <a:prstGeom prst="roundRect">
            <a:avLst>
              <a:gd fmla="val 11429" name="adj"/>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19" name="Google Shape;1919;p72"/>
          <p:cNvSpPr txBox="1"/>
          <p:nvPr/>
        </p:nvSpPr>
        <p:spPr>
          <a:xfrm>
            <a:off x="6811366" y="1371600"/>
            <a:ext cx="192024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Play"/>
              <a:buNone/>
            </a:pPr>
            <a:r>
              <a:rPr b="1" i="0" lang="en-US" spc="0" sz="1000" u="none" cap="none" strike="noStrike">
                <a:solidFill>
                  <a:srgbClr val="FFFFFF"/>
                </a:solidFill>
                <a:latin typeface="Play"/>
                <a:ea typeface="Play"/>
                <a:cs typeface="Play"/>
                <a:sym typeface="Play"/>
              </a:rPr>
              <a:t>Charge or refund the difference</a:t>
            </a:r>
            <a:endParaRPr b="0" i="0" spc="0" sz="1000" u="none" cap="none" strike="noStrike">
              <a:solidFill>
                <a:schemeClr val="dk1"/>
              </a:solidFill>
              <a:latin typeface="Calibri"/>
              <a:ea typeface="Calibri"/>
              <a:cs typeface="Calibri"/>
              <a:sym typeface="Calibri"/>
            </a:endParaRPr>
          </a:p>
        </p:txBody>
      </p:sp>
      <p:sp>
        <p:nvSpPr>
          <p:cNvPr id="1920" name="Google Shape;1920;p72"/>
          <p:cNvSpPr/>
          <p:nvPr/>
        </p:nvSpPr>
        <p:spPr>
          <a:xfrm>
            <a:off x="411480" y="2286000"/>
            <a:ext cx="2682240" cy="1188720"/>
          </a:xfrm>
          <a:prstGeom prst="roundRect">
            <a:avLst>
              <a:gd fmla="val 615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21" name="Google Shape;1921;p72"/>
          <p:cNvSpPr txBox="1"/>
          <p:nvPr/>
        </p:nvSpPr>
        <p:spPr>
          <a:xfrm>
            <a:off x="411480" y="2450592"/>
            <a:ext cx="268224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3000"/>
              <a:buFont typeface="Play"/>
              <a:buNone/>
            </a:pPr>
            <a:r>
              <a:rPr b="1" i="0" lang="en-US" spc="0" sz="3000" u="none" cap="none" strike="noStrike">
                <a:solidFill>
                  <a:srgbClr val="0B7A6F"/>
                </a:solidFill>
                <a:latin typeface="Play"/>
                <a:ea typeface="Play"/>
                <a:cs typeface="Play"/>
                <a:sym typeface="Play"/>
              </a:rPr>
              <a:t>+$19</a:t>
            </a:r>
            <a:endParaRPr b="0" i="0" spc="0" sz="3000" u="none" cap="none" strike="noStrike">
              <a:solidFill>
                <a:schemeClr val="dk1"/>
              </a:solidFill>
              <a:latin typeface="Calibri"/>
              <a:ea typeface="Calibri"/>
              <a:cs typeface="Calibri"/>
              <a:sym typeface="Calibri"/>
            </a:endParaRPr>
          </a:p>
        </p:txBody>
      </p:sp>
      <p:sp>
        <p:nvSpPr>
          <p:cNvPr id="1922" name="Google Shape;1922;p72"/>
          <p:cNvSpPr txBox="1"/>
          <p:nvPr/>
        </p:nvSpPr>
        <p:spPr>
          <a:xfrm>
            <a:off x="594360" y="3108960"/>
            <a:ext cx="231648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to move up to 4 hours</a:t>
            </a:r>
            <a:endParaRPr b="0" i="0" spc="0" sz="1000" u="none" cap="none" strike="noStrike">
              <a:solidFill>
                <a:schemeClr val="dk1"/>
              </a:solidFill>
              <a:latin typeface="Calibri"/>
              <a:ea typeface="Calibri"/>
              <a:cs typeface="Calibri"/>
              <a:sym typeface="Calibri"/>
            </a:endParaRPr>
          </a:p>
        </p:txBody>
      </p:sp>
      <p:sp>
        <p:nvSpPr>
          <p:cNvPr id="1923" name="Google Shape;1923;p72"/>
          <p:cNvSpPr/>
          <p:nvPr/>
        </p:nvSpPr>
        <p:spPr>
          <a:xfrm>
            <a:off x="3230880" y="2286000"/>
            <a:ext cx="2682240" cy="1188720"/>
          </a:xfrm>
          <a:prstGeom prst="roundRect">
            <a:avLst>
              <a:gd fmla="val 615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24" name="Google Shape;1924;p72"/>
          <p:cNvSpPr txBox="1"/>
          <p:nvPr/>
        </p:nvSpPr>
        <p:spPr>
          <a:xfrm>
            <a:off x="3230880" y="2450592"/>
            <a:ext cx="268224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3000"/>
              <a:buFont typeface="Play"/>
              <a:buNone/>
            </a:pPr>
            <a:r>
              <a:rPr b="1" i="0" lang="en-US" spc="0" sz="3000" u="none" cap="none" strike="noStrike">
                <a:solidFill>
                  <a:srgbClr val="0B7A6F"/>
                </a:solidFill>
                <a:latin typeface="Play"/>
                <a:ea typeface="Play"/>
                <a:cs typeface="Play"/>
                <a:sym typeface="Play"/>
              </a:rPr>
              <a:t>+$59</a:t>
            </a:r>
            <a:endParaRPr b="0" i="0" spc="0" sz="3000" u="none" cap="none" strike="noStrike">
              <a:solidFill>
                <a:schemeClr val="dk1"/>
              </a:solidFill>
              <a:latin typeface="Calibri"/>
              <a:ea typeface="Calibri"/>
              <a:cs typeface="Calibri"/>
              <a:sym typeface="Calibri"/>
            </a:endParaRPr>
          </a:p>
        </p:txBody>
      </p:sp>
      <p:sp>
        <p:nvSpPr>
          <p:cNvPr id="1925" name="Google Shape;1925;p72"/>
          <p:cNvSpPr txBox="1"/>
          <p:nvPr/>
        </p:nvSpPr>
        <p:spPr>
          <a:xfrm>
            <a:off x="3413760" y="3108960"/>
            <a:ext cx="231648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to move up to 6 hours</a:t>
            </a:r>
            <a:endParaRPr b="0" i="0" spc="0" sz="1000" u="none" cap="none" strike="noStrike">
              <a:solidFill>
                <a:schemeClr val="dk1"/>
              </a:solidFill>
              <a:latin typeface="Calibri"/>
              <a:ea typeface="Calibri"/>
              <a:cs typeface="Calibri"/>
              <a:sym typeface="Calibri"/>
            </a:endParaRPr>
          </a:p>
        </p:txBody>
      </p:sp>
      <p:sp>
        <p:nvSpPr>
          <p:cNvPr id="1926" name="Google Shape;1926;p72"/>
          <p:cNvSpPr/>
          <p:nvPr/>
        </p:nvSpPr>
        <p:spPr>
          <a:xfrm>
            <a:off x="6050280" y="2286000"/>
            <a:ext cx="2682240" cy="1188720"/>
          </a:xfrm>
          <a:prstGeom prst="roundRect">
            <a:avLst>
              <a:gd fmla="val 615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27" name="Google Shape;1927;p72"/>
          <p:cNvSpPr txBox="1"/>
          <p:nvPr/>
        </p:nvSpPr>
        <p:spPr>
          <a:xfrm>
            <a:off x="6050280" y="2450592"/>
            <a:ext cx="268224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3000"/>
              <a:buFont typeface="Play"/>
              <a:buNone/>
            </a:pPr>
            <a:r>
              <a:rPr b="1" i="0" lang="en-US" spc="0" sz="3000" u="none" cap="none" strike="noStrike">
                <a:solidFill>
                  <a:srgbClr val="9A6410"/>
                </a:solidFill>
                <a:latin typeface="Play"/>
                <a:ea typeface="Play"/>
                <a:cs typeface="Play"/>
                <a:sym typeface="Play"/>
              </a:rPr>
              <a:t>Refund</a:t>
            </a:r>
            <a:endParaRPr b="0" i="0" spc="0" sz="3000" u="none" cap="none" strike="noStrike">
              <a:solidFill>
                <a:schemeClr val="dk1"/>
              </a:solidFill>
              <a:latin typeface="Calibri"/>
              <a:ea typeface="Calibri"/>
              <a:cs typeface="Calibri"/>
              <a:sym typeface="Calibri"/>
            </a:endParaRPr>
          </a:p>
        </p:txBody>
      </p:sp>
      <p:sp>
        <p:nvSpPr>
          <p:cNvPr id="1928" name="Google Shape;1928;p72"/>
          <p:cNvSpPr txBox="1"/>
          <p:nvPr/>
        </p:nvSpPr>
        <p:spPr>
          <a:xfrm>
            <a:off x="6233160" y="3108960"/>
            <a:ext cx="231648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the difference on a downgrade</a:t>
            </a:r>
            <a:endParaRPr b="0" i="0" spc="0" sz="1000" u="none" cap="none" strike="noStrike">
              <a:solidFill>
                <a:schemeClr val="dk1"/>
              </a:solidFill>
              <a:latin typeface="Calibri"/>
              <a:ea typeface="Calibri"/>
              <a:cs typeface="Calibri"/>
              <a:sym typeface="Calibri"/>
            </a:endParaRPr>
          </a:p>
        </p:txBody>
      </p:sp>
      <p:sp>
        <p:nvSpPr>
          <p:cNvPr id="1929" name="Google Shape;1929;p72"/>
          <p:cNvSpPr/>
          <p:nvPr/>
        </p:nvSpPr>
        <p:spPr>
          <a:xfrm>
            <a:off x="411480" y="36576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930" name="Google Shape;1930;p72"/>
          <p:cNvPicPr preferRelativeResize="0"/>
          <p:nvPr/>
        </p:nvPicPr>
        <p:blipFill rotWithShape="1">
          <a:blip r:embed="rId3">
            <a:alphaModFix/>
          </a:blip>
          <a:srcRect b="0" l="0" r="0" t="0"/>
          <a:stretch/>
        </p:blipFill>
        <p:spPr>
          <a:xfrm>
            <a:off x="566928" y="3767328"/>
            <a:ext cx="164592" cy="164592"/>
          </a:xfrm>
          <a:prstGeom prst="rect">
            <a:avLst/>
          </a:prstGeom>
          <a:noFill/>
          <a:ln>
            <a:noFill/>
          </a:ln>
        </p:spPr>
      </p:pic>
      <p:sp>
        <p:nvSpPr>
          <p:cNvPr id="1931" name="Google Shape;1931;p72"/>
          <p:cNvSpPr txBox="1"/>
          <p:nvPr/>
        </p:nvSpPr>
        <p:spPr>
          <a:xfrm>
            <a:off x="822960" y="37581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Keep FC in place:  </a:t>
            </a:r>
            <a:r>
              <a:rPr b="0" i="0" lang="en-US" spc="0" sz="1000" u="none" cap="none" strike="noStrike">
                <a:solidFill>
                  <a:srgbClr val="1D1D1F"/>
                </a:solidFill>
                <a:latin typeface="Arial"/>
                <a:ea typeface="Arial"/>
                <a:cs typeface="Arial"/>
                <a:sym typeface="Arial"/>
              </a:rPr>
              <a:t>this isn't a cancellation.</a:t>
            </a:r>
            <a:endParaRPr b="0" i="0" spc="0" sz="1000" u="none" cap="none" strike="noStrike">
              <a:solidFill>
                <a:schemeClr val="dk1"/>
              </a:solidFill>
              <a:latin typeface="Calibri"/>
              <a:ea typeface="Calibri"/>
              <a:cs typeface="Calibri"/>
              <a:sym typeface="Calibri"/>
            </a:endParaRPr>
          </a:p>
        </p:txBody>
      </p:sp>
      <p:sp>
        <p:nvSpPr>
          <p:cNvPr id="1932" name="Google Shape;1932;p7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7" name="Shape 1937"/>
        <p:cNvGrpSpPr/>
        <p:nvPr/>
      </p:nvGrpSpPr>
      <p:grpSpPr>
        <a:xfrm>
          <a:off x="0" y="0"/>
          <a:ext cx="0" cy="0"/>
          <a:chOff x="0" y="0"/>
          <a:chExt cx="0" cy="0"/>
        </a:xfrm>
      </p:grpSpPr>
      <p:sp>
        <p:nvSpPr>
          <p:cNvPr id="1938" name="Google Shape;1938;p7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FCF PRE-INVOICE  ·  KNOWLEDGE CHECK</a:t>
            </a:r>
            <a:endParaRPr b="0" i="0" spc="0" sz="800" u="none" cap="none" strike="noStrike">
              <a:solidFill>
                <a:schemeClr val="dk1"/>
              </a:solidFill>
              <a:latin typeface="Calibri"/>
              <a:ea typeface="Calibri"/>
              <a:cs typeface="Calibri"/>
              <a:sym typeface="Calibri"/>
            </a:endParaRPr>
          </a:p>
        </p:txBody>
      </p:sp>
      <p:sp>
        <p:nvSpPr>
          <p:cNvPr id="1939" name="Google Shape;1939;p7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See What You’ve Got!</a:t>
            </a:r>
            <a:endParaRPr b="0" i="0" spc="0" sz="2400" u="none" cap="none" strike="noStrike">
              <a:solidFill>
                <a:schemeClr val="dk1"/>
              </a:solidFill>
              <a:latin typeface="Calibri"/>
              <a:ea typeface="Calibri"/>
              <a:cs typeface="Calibri"/>
              <a:sym typeface="Calibri"/>
            </a:endParaRPr>
          </a:p>
        </p:txBody>
      </p:sp>
      <p:sp>
        <p:nvSpPr>
          <p:cNvPr id="1940" name="Google Shape;1940;p73"/>
          <p:cNvSpPr/>
          <p:nvPr/>
        </p:nvSpPr>
        <p:spPr>
          <a:xfrm>
            <a:off x="411480" y="1280160"/>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41" name="Google Shape;1941;p73"/>
          <p:cNvSpPr/>
          <p:nvPr/>
        </p:nvSpPr>
        <p:spPr>
          <a:xfrm>
            <a:off x="548640" y="153619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42" name="Google Shape;1942;p73"/>
          <p:cNvSpPr txBox="1"/>
          <p:nvPr/>
        </p:nvSpPr>
        <p:spPr>
          <a:xfrm>
            <a:off x="548640" y="153619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1943" name="Google Shape;1943;p73"/>
          <p:cNvSpPr txBox="1"/>
          <p:nvPr/>
        </p:nvSpPr>
        <p:spPr>
          <a:xfrm>
            <a:off x="960120" y="1280160"/>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A customer asks how long they have to cancel for a refund. Tell them 24 hours?</a:t>
            </a:r>
            <a:endParaRPr b="0" i="0" spc="0" sz="1000" u="none" cap="none" strike="noStrike">
              <a:solidFill>
                <a:schemeClr val="dk1"/>
              </a:solidFill>
              <a:latin typeface="Calibri"/>
              <a:ea typeface="Calibri"/>
              <a:cs typeface="Calibri"/>
              <a:sym typeface="Calibri"/>
            </a:endParaRPr>
          </a:p>
        </p:txBody>
      </p:sp>
      <p:sp>
        <p:nvSpPr>
          <p:cNvPr id="1944" name="Google Shape;1944;p73"/>
          <p:cNvSpPr/>
          <p:nvPr/>
        </p:nvSpPr>
        <p:spPr>
          <a:xfrm>
            <a:off x="5120640" y="1280160"/>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45" name="Google Shape;1945;p73"/>
          <p:cNvSpPr txBox="1"/>
          <p:nvPr/>
        </p:nvSpPr>
        <p:spPr>
          <a:xfrm>
            <a:off x="5257800" y="1280160"/>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 The window is internal only. Explain the outcome, not the rule.</a:t>
            </a:r>
            <a:endParaRPr b="0" i="0" spc="0" sz="900" u="none" cap="none" strike="noStrike">
              <a:solidFill>
                <a:schemeClr val="dk1"/>
              </a:solidFill>
              <a:latin typeface="Calibri"/>
              <a:ea typeface="Calibri"/>
              <a:cs typeface="Calibri"/>
              <a:sym typeface="Calibri"/>
            </a:endParaRPr>
          </a:p>
        </p:txBody>
      </p:sp>
      <p:sp>
        <p:nvSpPr>
          <p:cNvPr id="1946" name="Google Shape;1946;p73"/>
          <p:cNvSpPr/>
          <p:nvPr/>
        </p:nvSpPr>
        <p:spPr>
          <a:xfrm>
            <a:off x="411480" y="2139696"/>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47" name="Google Shape;1947;p73"/>
          <p:cNvSpPr/>
          <p:nvPr/>
        </p:nvSpPr>
        <p:spPr>
          <a:xfrm>
            <a:off x="548640" y="23957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48" name="Google Shape;1948;p73"/>
          <p:cNvSpPr txBox="1"/>
          <p:nvPr/>
        </p:nvSpPr>
        <p:spPr>
          <a:xfrm>
            <a:off x="548640" y="23957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1949" name="Google Shape;1949;p73"/>
          <p:cNvSpPr txBox="1"/>
          <p:nvPr/>
        </p:nvSpPr>
        <p:spPr>
          <a:xfrm>
            <a:off x="960120" y="2139696"/>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FCF, 2–3 hr cleaning, cancels 3 hours after sign-up and asks for a refund. What do you do?</a:t>
            </a:r>
            <a:endParaRPr b="0" i="0" spc="0" sz="1000" u="none" cap="none" strike="noStrike">
              <a:solidFill>
                <a:schemeClr val="dk1"/>
              </a:solidFill>
              <a:latin typeface="Calibri"/>
              <a:ea typeface="Calibri"/>
              <a:cs typeface="Calibri"/>
              <a:sym typeface="Calibri"/>
            </a:endParaRPr>
          </a:p>
        </p:txBody>
      </p:sp>
      <p:sp>
        <p:nvSpPr>
          <p:cNvPr id="1950" name="Google Shape;1950;p73"/>
          <p:cNvSpPr/>
          <p:nvPr/>
        </p:nvSpPr>
        <p:spPr>
          <a:xfrm>
            <a:off x="5120640" y="2139696"/>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51" name="Google Shape;1951;p73"/>
          <p:cNvSpPr txBox="1"/>
          <p:nvPr/>
        </p:nvSpPr>
        <p:spPr>
          <a:xfrm>
            <a:off x="5257800" y="2139696"/>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Refund via the Refund Voucher option, cancel FC, invalidate the voucher.</a:t>
            </a:r>
            <a:endParaRPr b="0" i="0" spc="0" sz="900" u="none" cap="none" strike="noStrike">
              <a:solidFill>
                <a:schemeClr val="dk1"/>
              </a:solidFill>
              <a:latin typeface="Calibri"/>
              <a:ea typeface="Calibri"/>
              <a:cs typeface="Calibri"/>
              <a:sym typeface="Calibri"/>
            </a:endParaRPr>
          </a:p>
        </p:txBody>
      </p:sp>
      <p:sp>
        <p:nvSpPr>
          <p:cNvPr id="1952" name="Google Shape;1952;p73"/>
          <p:cNvSpPr/>
          <p:nvPr/>
        </p:nvSpPr>
        <p:spPr>
          <a:xfrm>
            <a:off x="411480" y="2999232"/>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53" name="Google Shape;1953;p73"/>
          <p:cNvSpPr/>
          <p:nvPr/>
        </p:nvSpPr>
        <p:spPr>
          <a:xfrm>
            <a:off x="548640" y="325526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54" name="Google Shape;1954;p73"/>
          <p:cNvSpPr txBox="1"/>
          <p:nvPr/>
        </p:nvSpPr>
        <p:spPr>
          <a:xfrm>
            <a:off x="548640" y="32552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1955" name="Google Shape;1955;p73"/>
          <p:cNvSpPr txBox="1"/>
          <p:nvPr/>
        </p:nvSpPr>
        <p:spPr>
          <a:xfrm>
            <a:off x="960120" y="2999232"/>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FCF, 6-hr cleaning, within 24 hrs. Use the Refund Voucher option?</a:t>
            </a:r>
            <a:endParaRPr b="0" i="0" spc="0" sz="1000" u="none" cap="none" strike="noStrike">
              <a:solidFill>
                <a:schemeClr val="dk1"/>
              </a:solidFill>
              <a:latin typeface="Calibri"/>
              <a:ea typeface="Calibri"/>
              <a:cs typeface="Calibri"/>
              <a:sym typeface="Calibri"/>
            </a:endParaRPr>
          </a:p>
        </p:txBody>
      </p:sp>
      <p:sp>
        <p:nvSpPr>
          <p:cNvPr id="1956" name="Google Shape;1956;p73"/>
          <p:cNvSpPr/>
          <p:nvPr/>
        </p:nvSpPr>
        <p:spPr>
          <a:xfrm>
            <a:off x="5120640" y="2999232"/>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57" name="Google Shape;1957;p73"/>
          <p:cNvSpPr txBox="1"/>
          <p:nvPr/>
        </p:nvSpPr>
        <p:spPr>
          <a:xfrm>
            <a:off x="5257800" y="2999232"/>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 It only refunds $19. Log to the FCF Refund tracker for a Stripe FULL refund.</a:t>
            </a:r>
            <a:endParaRPr b="0" i="0" spc="0" sz="900" u="none" cap="none" strike="noStrike">
              <a:solidFill>
                <a:schemeClr val="dk1"/>
              </a:solidFill>
              <a:latin typeface="Calibri"/>
              <a:ea typeface="Calibri"/>
              <a:cs typeface="Calibri"/>
              <a:sym typeface="Calibri"/>
            </a:endParaRPr>
          </a:p>
        </p:txBody>
      </p:sp>
      <p:sp>
        <p:nvSpPr>
          <p:cNvPr id="1958" name="Google Shape;1958;p73"/>
          <p:cNvSpPr/>
          <p:nvPr/>
        </p:nvSpPr>
        <p:spPr>
          <a:xfrm>
            <a:off x="411480" y="3858768"/>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59" name="Google Shape;1959;p73"/>
          <p:cNvSpPr/>
          <p:nvPr/>
        </p:nvSpPr>
        <p:spPr>
          <a:xfrm>
            <a:off x="548640" y="41148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60" name="Google Shape;1960;p73"/>
          <p:cNvSpPr txBox="1"/>
          <p:nvPr/>
        </p:nvSpPr>
        <p:spPr>
          <a:xfrm>
            <a:off x="548640" y="41148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4</a:t>
            </a:r>
            <a:endParaRPr b="0" i="0" spc="0" sz="900" u="none" cap="none" strike="noStrike">
              <a:solidFill>
                <a:schemeClr val="dk1"/>
              </a:solidFill>
              <a:latin typeface="Calibri"/>
              <a:ea typeface="Calibri"/>
              <a:cs typeface="Calibri"/>
              <a:sym typeface="Calibri"/>
            </a:endParaRPr>
          </a:p>
        </p:txBody>
      </p:sp>
      <p:sp>
        <p:nvSpPr>
          <p:cNvPr id="1961" name="Google Shape;1961;p73"/>
          <p:cNvSpPr txBox="1"/>
          <p:nvPr/>
        </p:nvSpPr>
        <p:spPr>
          <a:xfrm>
            <a:off x="960120" y="3858768"/>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The customer had one completed cleaning. Does the 24-hour window apply?</a:t>
            </a:r>
            <a:endParaRPr b="0" i="0" spc="0" sz="1000" u="none" cap="none" strike="noStrike">
              <a:solidFill>
                <a:schemeClr val="dk1"/>
              </a:solidFill>
              <a:latin typeface="Calibri"/>
              <a:ea typeface="Calibri"/>
              <a:cs typeface="Calibri"/>
              <a:sym typeface="Calibri"/>
            </a:endParaRPr>
          </a:p>
        </p:txBody>
      </p:sp>
      <p:sp>
        <p:nvSpPr>
          <p:cNvPr id="1962" name="Google Shape;1962;p73"/>
          <p:cNvSpPr/>
          <p:nvPr/>
        </p:nvSpPr>
        <p:spPr>
          <a:xfrm>
            <a:off x="5120640" y="3858768"/>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63" name="Google Shape;1963;p73"/>
          <p:cNvSpPr txBox="1"/>
          <p:nvPr/>
        </p:nvSpPr>
        <p:spPr>
          <a:xfrm>
            <a:off x="5257800" y="3858768"/>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 Handle it as a normal cancellation.</a:t>
            </a:r>
            <a:endParaRPr b="0" i="0" spc="0" sz="900" u="none" cap="none" strike="noStrike">
              <a:solidFill>
                <a:schemeClr val="dk1"/>
              </a:solidFill>
              <a:latin typeface="Calibri"/>
              <a:ea typeface="Calibri"/>
              <a:cs typeface="Calibri"/>
              <a:sym typeface="Calibri"/>
            </a:endParaRPr>
          </a:p>
        </p:txBody>
      </p:sp>
      <p:sp>
        <p:nvSpPr>
          <p:cNvPr id="1964" name="Google Shape;1964;p7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5"/>
                                        </p:tgtEl>
                                        <p:attrNameLst>
                                          <p:attrName>style.visibility</p:attrName>
                                        </p:attrNameLst>
                                      </p:cBhvr>
                                      <p:to>
                                        <p:strVal val="visible"/>
                                      </p:to>
                                    </p:set>
                                    <p:animEffect filter="fade" transition="in">
                                      <p:cBhvr>
                                        <p:cTn dur="600"/>
                                        <p:tgtEl>
                                          <p:spTgt spid="19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1"/>
                                        </p:tgtEl>
                                        <p:attrNameLst>
                                          <p:attrName>style.visibility</p:attrName>
                                        </p:attrNameLst>
                                      </p:cBhvr>
                                      <p:to>
                                        <p:strVal val="visible"/>
                                      </p:to>
                                    </p:set>
                                    <p:animEffect filter="fade" transition="in">
                                      <p:cBhvr>
                                        <p:cTn dur="600"/>
                                        <p:tgtEl>
                                          <p:spTgt spid="19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7"/>
                                        </p:tgtEl>
                                        <p:attrNameLst>
                                          <p:attrName>style.visibility</p:attrName>
                                        </p:attrNameLst>
                                      </p:cBhvr>
                                      <p:to>
                                        <p:strVal val="visible"/>
                                      </p:to>
                                    </p:set>
                                    <p:animEffect filter="fade" transition="in">
                                      <p:cBhvr>
                                        <p:cTn dur="600"/>
                                        <p:tgtEl>
                                          <p:spTgt spid="19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3"/>
                                        </p:tgtEl>
                                        <p:attrNameLst>
                                          <p:attrName>style.visibility</p:attrName>
                                        </p:attrNameLst>
                                      </p:cBhvr>
                                      <p:to>
                                        <p:strVal val="visible"/>
                                      </p:to>
                                    </p:set>
                                    <p:animEffect filter="fade" transition="in">
                                      <p:cBhvr>
                                        <p:cTn dur="600"/>
                                        <p:tgtEl>
                                          <p:spTgt spid="19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9" name="Shape 1969"/>
        <p:cNvGrpSpPr/>
        <p:nvPr/>
      </p:nvGrpSpPr>
      <p:grpSpPr>
        <a:xfrm>
          <a:off x="0" y="0"/>
          <a:ext cx="0" cy="0"/>
          <a:chOff x="0" y="0"/>
          <a:chExt cx="0" cy="0"/>
        </a:xfrm>
      </p:grpSpPr>
      <p:sp>
        <p:nvSpPr>
          <p:cNvPr id="1970" name="Google Shape;1970;p7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FCF PRE-INVOICE  ·  PRACTICE</a:t>
            </a:r>
            <a:endParaRPr b="0" i="0" spc="0" sz="800" u="none" cap="none" strike="noStrike">
              <a:solidFill>
                <a:schemeClr val="dk1"/>
              </a:solidFill>
              <a:latin typeface="Calibri"/>
              <a:ea typeface="Calibri"/>
              <a:cs typeface="Calibri"/>
              <a:sym typeface="Calibri"/>
            </a:endParaRPr>
          </a:p>
        </p:txBody>
      </p:sp>
      <p:sp>
        <p:nvSpPr>
          <p:cNvPr id="1971" name="Google Shape;1971;p7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investigate together!</a:t>
            </a:r>
            <a:endParaRPr b="0" i="0" spc="0" sz="2400" u="none" cap="none" strike="noStrike">
              <a:solidFill>
                <a:schemeClr val="dk1"/>
              </a:solidFill>
              <a:latin typeface="Calibri"/>
              <a:ea typeface="Calibri"/>
              <a:cs typeface="Calibri"/>
              <a:sym typeface="Calibri"/>
            </a:endParaRPr>
          </a:p>
        </p:txBody>
      </p:sp>
      <p:sp>
        <p:nvSpPr>
          <p:cNvPr id="1972" name="Google Shape;1972;p7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Review the live ticket and investigate.</a:t>
            </a:r>
            <a:endParaRPr b="0" i="0" spc="0" sz="1200" u="none" cap="none" strike="noStrike">
              <a:solidFill>
                <a:schemeClr val="dk1"/>
              </a:solidFill>
              <a:latin typeface="Calibri"/>
              <a:ea typeface="Calibri"/>
              <a:cs typeface="Calibri"/>
              <a:sym typeface="Calibri"/>
            </a:endParaRPr>
          </a:p>
        </p:txBody>
      </p:sp>
      <p:sp>
        <p:nvSpPr>
          <p:cNvPr id="1973" name="Google Shape;1973;p74"/>
          <p:cNvSpPr/>
          <p:nvPr/>
        </p:nvSpPr>
        <p:spPr>
          <a:xfrm>
            <a:off x="411480" y="1298448"/>
            <a:ext cx="3383280" cy="2633472"/>
          </a:xfrm>
          <a:prstGeom prst="roundRect">
            <a:avLst>
              <a:gd fmla="val 27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74" name="Google Shape;1974;p74"/>
          <p:cNvSpPr/>
          <p:nvPr/>
        </p:nvSpPr>
        <p:spPr>
          <a:xfrm>
            <a:off x="594360" y="148132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975" name="Google Shape;1975;p74"/>
          <p:cNvPicPr preferRelativeResize="0"/>
          <p:nvPr/>
        </p:nvPicPr>
        <p:blipFill rotWithShape="1">
          <a:blip r:embed="rId3">
            <a:alphaModFix/>
          </a:blip>
          <a:srcRect b="0" l="0" r="0" t="0"/>
          <a:stretch/>
        </p:blipFill>
        <p:spPr>
          <a:xfrm>
            <a:off x="686532" y="1573500"/>
            <a:ext cx="199705" cy="199705"/>
          </a:xfrm>
          <a:prstGeom prst="rect">
            <a:avLst/>
          </a:prstGeom>
          <a:noFill/>
          <a:ln>
            <a:noFill/>
          </a:ln>
        </p:spPr>
      </p:pic>
      <p:sp>
        <p:nvSpPr>
          <p:cNvPr id="1976" name="Google Shape;1976;p74"/>
          <p:cNvSpPr txBox="1"/>
          <p:nvPr/>
        </p:nvSpPr>
        <p:spPr>
          <a:xfrm>
            <a:off x="594360" y="2011680"/>
            <a:ext cx="301752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Live ticket</a:t>
            </a:r>
            <a:endParaRPr b="0" i="0" spc="0" sz="1300" u="none" cap="none" strike="noStrike">
              <a:solidFill>
                <a:schemeClr val="dk1"/>
              </a:solidFill>
              <a:latin typeface="Calibri"/>
              <a:ea typeface="Calibri"/>
              <a:cs typeface="Calibri"/>
              <a:sym typeface="Calibri"/>
            </a:endParaRPr>
          </a:p>
        </p:txBody>
      </p:sp>
      <p:sp>
        <p:nvSpPr>
          <p:cNvPr id="1977" name="Google Shape;1977;p74"/>
          <p:cNvSpPr txBox="1"/>
          <p:nvPr/>
        </p:nvSpPr>
        <p:spPr>
          <a:xfrm>
            <a:off x="594360" y="2350008"/>
            <a:ext cx="301752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050"/>
              <a:buFont typeface="Arial"/>
              <a:buNone/>
            </a:pPr>
            <a:r>
              <a:rPr b="0" i="0" lang="en-US" spc="0" sz="1050" u="none" cap="none" strike="noStrike">
                <a:solidFill>
                  <a:srgbClr val="6E6E73"/>
                </a:solidFill>
                <a:latin typeface="Arial"/>
                <a:ea typeface="Arial"/>
                <a:cs typeface="Arial"/>
                <a:sym typeface="Arial"/>
              </a:rPr>
              <a:t>Your trainer will provide a live ticket. Review it and investigate before you decide anything.</a:t>
            </a:r>
            <a:endParaRPr b="0" i="0" spc="0" sz="1050" u="none" cap="none" strike="noStrike">
              <a:solidFill>
                <a:schemeClr val="dk1"/>
              </a:solidFill>
              <a:latin typeface="Calibri"/>
              <a:ea typeface="Calibri"/>
              <a:cs typeface="Calibri"/>
              <a:sym typeface="Calibri"/>
            </a:endParaRPr>
          </a:p>
        </p:txBody>
      </p:sp>
      <p:sp>
        <p:nvSpPr>
          <p:cNvPr id="1978" name="Google Shape;1978;p74"/>
          <p:cNvSpPr/>
          <p:nvPr/>
        </p:nvSpPr>
        <p:spPr>
          <a:xfrm>
            <a:off x="594360" y="3401568"/>
            <a:ext cx="1371600" cy="329184"/>
          </a:xfrm>
          <a:prstGeom prst="roundRect">
            <a:avLst>
              <a:gd fmla="val 22222" name="adj"/>
            </a:avLst>
          </a:prstGeom>
          <a:solidFill>
            <a:srgbClr val="FFF3D6"/>
          </a:solidFill>
          <a:ln cap="flat" cmpd="sng" w="9525">
            <a:solidFill>
              <a:srgbClr val="FFF3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950"/>
              <a:buFont typeface="Arial"/>
              <a:buNone/>
            </a:pPr>
            <a:r>
              <a:rPr b="1" i="0" lang="en-US" spc="0" sz="950" u="none" cap="none" strike="noStrike">
                <a:solidFill>
                  <a:srgbClr val="9A6410"/>
                </a:solidFill>
                <a:latin typeface="Arial"/>
                <a:ea typeface="Arial"/>
                <a:cs typeface="Arial"/>
                <a:sym typeface="Arial"/>
              </a:rPr>
              <a:t>Trainer provides</a:t>
            </a:r>
            <a:endParaRPr b="0" i="0" spc="0" sz="950" u="none" cap="none" strike="noStrike">
              <a:solidFill>
                <a:schemeClr val="dk1"/>
              </a:solidFill>
              <a:latin typeface="Calibri"/>
              <a:ea typeface="Calibri"/>
              <a:cs typeface="Calibri"/>
              <a:sym typeface="Calibri"/>
            </a:endParaRPr>
          </a:p>
        </p:txBody>
      </p:sp>
      <p:sp>
        <p:nvSpPr>
          <p:cNvPr id="1979" name="Google Shape;1979;p74"/>
          <p:cNvSpPr/>
          <p:nvPr/>
        </p:nvSpPr>
        <p:spPr>
          <a:xfrm>
            <a:off x="3931920" y="1298448"/>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80" name="Google Shape;1980;p74"/>
          <p:cNvSpPr/>
          <p:nvPr/>
        </p:nvSpPr>
        <p:spPr>
          <a:xfrm>
            <a:off x="4114800"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81" name="Google Shape;1981;p74"/>
          <p:cNvSpPr txBox="1"/>
          <p:nvPr/>
        </p:nvSpPr>
        <p:spPr>
          <a:xfrm>
            <a:off x="4114800"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1982" name="Google Shape;1982;p74"/>
          <p:cNvSpPr txBox="1"/>
          <p:nvPr/>
        </p:nvSpPr>
        <p:spPr>
          <a:xfrm>
            <a:off x="4572000" y="1426464"/>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Which row of the cheat sheet applies? Why?</a:t>
            </a:r>
            <a:endParaRPr b="0" i="0" spc="0" sz="1250" u="none" cap="none" strike="noStrike">
              <a:solidFill>
                <a:schemeClr val="dk1"/>
              </a:solidFill>
              <a:latin typeface="Calibri"/>
              <a:ea typeface="Calibri"/>
              <a:cs typeface="Calibri"/>
              <a:sym typeface="Calibri"/>
            </a:endParaRPr>
          </a:p>
        </p:txBody>
      </p:sp>
      <p:sp>
        <p:nvSpPr>
          <p:cNvPr id="1983" name="Google Shape;1983;p74"/>
          <p:cNvSpPr txBox="1"/>
          <p:nvPr/>
        </p:nvSpPr>
        <p:spPr>
          <a:xfrm>
            <a:off x="4572000" y="1737360"/>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Completed jobs, timing, cleaning length, fault.</a:t>
            </a:r>
            <a:endParaRPr b="0" i="0" spc="0" sz="1000" u="none" cap="none" strike="noStrike">
              <a:solidFill>
                <a:schemeClr val="dk1"/>
              </a:solidFill>
              <a:latin typeface="Calibri"/>
              <a:ea typeface="Calibri"/>
              <a:cs typeface="Calibri"/>
              <a:sym typeface="Calibri"/>
            </a:endParaRPr>
          </a:p>
        </p:txBody>
      </p:sp>
      <p:sp>
        <p:nvSpPr>
          <p:cNvPr id="1984" name="Google Shape;1984;p74"/>
          <p:cNvSpPr/>
          <p:nvPr/>
        </p:nvSpPr>
        <p:spPr>
          <a:xfrm>
            <a:off x="3931920" y="2221992"/>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85" name="Google Shape;1985;p74"/>
          <p:cNvSpPr/>
          <p:nvPr/>
        </p:nvSpPr>
        <p:spPr>
          <a:xfrm>
            <a:off x="4114800" y="247802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86" name="Google Shape;1986;p74"/>
          <p:cNvSpPr txBox="1"/>
          <p:nvPr/>
        </p:nvSpPr>
        <p:spPr>
          <a:xfrm>
            <a:off x="4114800" y="247802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1987" name="Google Shape;1987;p74"/>
          <p:cNvSpPr txBox="1"/>
          <p:nvPr/>
        </p:nvSpPr>
        <p:spPr>
          <a:xfrm>
            <a:off x="4572000" y="2350008"/>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What actions are you going to take?</a:t>
            </a:r>
            <a:endParaRPr b="0" i="0" spc="0" sz="1250" u="none" cap="none" strike="noStrike">
              <a:solidFill>
                <a:schemeClr val="dk1"/>
              </a:solidFill>
              <a:latin typeface="Calibri"/>
              <a:ea typeface="Calibri"/>
              <a:cs typeface="Calibri"/>
              <a:sym typeface="Calibri"/>
            </a:endParaRPr>
          </a:p>
        </p:txBody>
      </p:sp>
      <p:sp>
        <p:nvSpPr>
          <p:cNvPr id="1988" name="Google Shape;1988;p74"/>
          <p:cNvSpPr txBox="1"/>
          <p:nvPr/>
        </p:nvSpPr>
        <p:spPr>
          <a:xfrm>
            <a:off x="4572000" y="2660904"/>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Refund how, then cancel FC and invalidate the voucher.</a:t>
            </a:r>
            <a:endParaRPr b="0" i="0" spc="0" sz="1000" u="none" cap="none" strike="noStrike">
              <a:solidFill>
                <a:schemeClr val="dk1"/>
              </a:solidFill>
              <a:latin typeface="Calibri"/>
              <a:ea typeface="Calibri"/>
              <a:cs typeface="Calibri"/>
              <a:sym typeface="Calibri"/>
            </a:endParaRPr>
          </a:p>
        </p:txBody>
      </p:sp>
      <p:sp>
        <p:nvSpPr>
          <p:cNvPr id="1989" name="Google Shape;1989;p74"/>
          <p:cNvSpPr/>
          <p:nvPr/>
        </p:nvSpPr>
        <p:spPr>
          <a:xfrm>
            <a:off x="3931920" y="3145536"/>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90" name="Google Shape;1990;p74"/>
          <p:cNvSpPr/>
          <p:nvPr/>
        </p:nvSpPr>
        <p:spPr>
          <a:xfrm>
            <a:off x="4114800" y="340156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991" name="Google Shape;1991;p74"/>
          <p:cNvSpPr txBox="1"/>
          <p:nvPr/>
        </p:nvSpPr>
        <p:spPr>
          <a:xfrm>
            <a:off x="4114800" y="340156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1992" name="Google Shape;1992;p74"/>
          <p:cNvSpPr txBox="1"/>
          <p:nvPr/>
        </p:nvSpPr>
        <p:spPr>
          <a:xfrm>
            <a:off x="4572000" y="3273552"/>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5-min writing challenge</a:t>
            </a:r>
            <a:endParaRPr b="0" i="0" spc="0" sz="1250" u="none" cap="none" strike="noStrike">
              <a:solidFill>
                <a:schemeClr val="dk1"/>
              </a:solidFill>
              <a:latin typeface="Calibri"/>
              <a:ea typeface="Calibri"/>
              <a:cs typeface="Calibri"/>
              <a:sym typeface="Calibri"/>
            </a:endParaRPr>
          </a:p>
        </p:txBody>
      </p:sp>
      <p:sp>
        <p:nvSpPr>
          <p:cNvPr id="1993" name="Google Shape;1993;p74"/>
          <p:cNvSpPr txBox="1"/>
          <p:nvPr/>
        </p:nvSpPr>
        <p:spPr>
          <a:xfrm>
            <a:off x="4572000" y="3584448"/>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Create your comms. No 24-hour talk!</a:t>
            </a:r>
            <a:endParaRPr b="0" i="0" spc="0" sz="1000" u="none" cap="none" strike="noStrike">
              <a:solidFill>
                <a:schemeClr val="dk1"/>
              </a:solidFill>
              <a:latin typeface="Calibri"/>
              <a:ea typeface="Calibri"/>
              <a:cs typeface="Calibri"/>
              <a:sym typeface="Calibri"/>
            </a:endParaRPr>
          </a:p>
        </p:txBody>
      </p:sp>
      <p:sp>
        <p:nvSpPr>
          <p:cNvPr id="1994" name="Google Shape;1994;p74"/>
          <p:cNvSpPr/>
          <p:nvPr/>
        </p:nvSpPr>
        <p:spPr>
          <a:xfrm>
            <a:off x="411480" y="4069080"/>
            <a:ext cx="8321040" cy="502920"/>
          </a:xfrm>
          <a:prstGeom prst="roundRect">
            <a:avLst>
              <a:gd fmla="val 14545"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1995" name="Google Shape;1995;p74"/>
          <p:cNvPicPr preferRelativeResize="0"/>
          <p:nvPr/>
        </p:nvPicPr>
        <p:blipFill rotWithShape="1">
          <a:blip r:embed="rId4">
            <a:alphaModFix/>
          </a:blip>
          <a:srcRect b="0" l="0" r="0" t="0"/>
          <a:stretch/>
        </p:blipFill>
        <p:spPr>
          <a:xfrm>
            <a:off x="640080" y="4192524"/>
            <a:ext cx="256032" cy="256032"/>
          </a:xfrm>
          <a:prstGeom prst="rect">
            <a:avLst/>
          </a:prstGeom>
          <a:noFill/>
          <a:ln>
            <a:noFill/>
          </a:ln>
        </p:spPr>
      </p:pic>
      <p:sp>
        <p:nvSpPr>
          <p:cNvPr id="1996" name="Google Shape;1996;p74"/>
          <p:cNvSpPr txBox="1"/>
          <p:nvPr/>
        </p:nvSpPr>
        <p:spPr>
          <a:xfrm>
            <a:off x="1051560" y="4069080"/>
            <a:ext cx="74980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Play"/>
              <a:buNone/>
            </a:pPr>
            <a:r>
              <a:rPr b="1" i="0" lang="en-US" spc="0" sz="1400" u="none" cap="none" strike="noStrike">
                <a:solidFill>
                  <a:srgbClr val="FFFFFF"/>
                </a:solidFill>
                <a:latin typeface="Play"/>
                <a:ea typeface="Play"/>
                <a:cs typeface="Play"/>
                <a:sym typeface="Play"/>
              </a:rPr>
              <a:t>Questions?  </a:t>
            </a:r>
            <a:r>
              <a:rPr b="0" i="0" lang="en-US" spc="0" sz="1100" u="none" cap="none" strike="noStrike">
                <a:solidFill>
                  <a:srgbClr val="FFFFFF"/>
                </a:solidFill>
                <a:latin typeface="Arial"/>
                <a:ea typeface="Arial"/>
                <a:cs typeface="Arial"/>
                <a:sym typeface="Arial"/>
              </a:rPr>
              <a:t>Open the floor before we move to the next topic.</a:t>
            </a:r>
            <a:endParaRPr b="0" i="0" spc="0" sz="1400" u="none" cap="none" strike="noStrike">
              <a:solidFill>
                <a:schemeClr val="dk1"/>
              </a:solidFill>
              <a:latin typeface="Calibri"/>
              <a:ea typeface="Calibri"/>
              <a:cs typeface="Calibri"/>
              <a:sym typeface="Calibri"/>
            </a:endParaRPr>
          </a:p>
        </p:txBody>
      </p:sp>
      <p:sp>
        <p:nvSpPr>
          <p:cNvPr id="1997" name="Google Shape;1997;p7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2" name="Shape 2002"/>
        <p:cNvGrpSpPr/>
        <p:nvPr/>
      </p:nvGrpSpPr>
      <p:grpSpPr>
        <a:xfrm>
          <a:off x="0" y="0"/>
          <a:ext cx="0" cy="0"/>
          <a:chOff x="0" y="0"/>
          <a:chExt cx="0" cy="0"/>
        </a:xfrm>
      </p:grpSpPr>
      <p:sp>
        <p:nvSpPr>
          <p:cNvPr id="2003" name="Google Shape;2003;p75"/>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TOPIC 07 OF 07</a:t>
            </a:r>
            <a:endParaRPr b="0" i="0" spc="0" sz="800" u="none" cap="none" strike="noStrike">
              <a:solidFill>
                <a:schemeClr val="dk1"/>
              </a:solidFill>
              <a:latin typeface="Calibri"/>
              <a:ea typeface="Calibri"/>
              <a:cs typeface="Calibri"/>
              <a:sym typeface="Calibri"/>
            </a:endParaRPr>
          </a:p>
        </p:txBody>
      </p:sp>
      <p:sp>
        <p:nvSpPr>
          <p:cNvPr id="2004" name="Google Shape;2004;p75"/>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US" spc="0" sz="2800" u="none" cap="none" strike="noStrike">
                <a:solidFill>
                  <a:srgbClr val="1D1D1F"/>
                </a:solidFill>
                <a:latin typeface="Play"/>
                <a:ea typeface="Play"/>
                <a:cs typeface="Play"/>
                <a:sym typeface="Play"/>
              </a:rPr>
              <a:t>Trial Cleaning &amp; One-Time Cleaning</a:t>
            </a:r>
            <a:endParaRPr b="0" i="0" spc="0" sz="2800" u="none" cap="none" strike="noStrike">
              <a:solidFill>
                <a:schemeClr val="dk1"/>
              </a:solidFill>
              <a:latin typeface="Calibri"/>
              <a:ea typeface="Calibri"/>
              <a:cs typeface="Calibri"/>
              <a:sym typeface="Calibri"/>
            </a:endParaRPr>
          </a:p>
        </p:txBody>
      </p:sp>
      <p:sp>
        <p:nvSpPr>
          <p:cNvPr id="2005" name="Google Shape;2005;p75"/>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US" spc="0" sz="1150" u="none" cap="none" strike="noStrike">
                <a:solidFill>
                  <a:srgbClr val="6E6E73"/>
                </a:solidFill>
                <a:latin typeface="Arial"/>
                <a:ea typeface="Arial"/>
                <a:cs typeface="Arial"/>
                <a:sym typeface="Arial"/>
              </a:rPr>
              <a:t>Alternatives to a full ForeverClean membership.</a:t>
            </a:r>
            <a:endParaRPr b="0" i="0" spc="0" sz="1150" u="none" cap="none" strike="noStrike">
              <a:solidFill>
                <a:schemeClr val="dk1"/>
              </a:solidFill>
              <a:latin typeface="Calibri"/>
              <a:ea typeface="Calibri"/>
              <a:cs typeface="Calibri"/>
              <a:sym typeface="Calibri"/>
            </a:endParaRPr>
          </a:p>
        </p:txBody>
      </p:sp>
      <p:sp>
        <p:nvSpPr>
          <p:cNvPr id="2006" name="Google Shape;2006;p75"/>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YOU'LL LEARN</a:t>
            </a:r>
            <a:endParaRPr b="0" i="0" spc="0" sz="800" u="none" cap="none" strike="noStrike">
              <a:solidFill>
                <a:schemeClr val="dk1"/>
              </a:solidFill>
              <a:latin typeface="Calibri"/>
              <a:ea typeface="Calibri"/>
              <a:cs typeface="Calibri"/>
              <a:sym typeface="Calibri"/>
            </a:endParaRPr>
          </a:p>
        </p:txBody>
      </p:sp>
      <p:sp>
        <p:nvSpPr>
          <p:cNvPr id="2007" name="Google Shape;2007;p75"/>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008" name="Google Shape;2008;p75"/>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2009" name="Google Shape;2009;p75"/>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Trial Cleaning vs One-Time Cleaning</a:t>
            </a:r>
            <a:endParaRPr b="0" i="0" spc="0" sz="1050" u="none" cap="none" strike="noStrike">
              <a:solidFill>
                <a:schemeClr val="dk1"/>
              </a:solidFill>
              <a:latin typeface="Calibri"/>
              <a:ea typeface="Calibri"/>
              <a:cs typeface="Calibri"/>
              <a:sym typeface="Calibri"/>
            </a:endParaRPr>
          </a:p>
        </p:txBody>
      </p:sp>
      <p:sp>
        <p:nvSpPr>
          <p:cNvPr id="2010" name="Google Shape;2010;p75"/>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011" name="Google Shape;2011;p75"/>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2012" name="Google Shape;2012;p75"/>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Pricing: what gets deducted</a:t>
            </a:r>
            <a:endParaRPr b="0" i="0" spc="0" sz="1050" u="none" cap="none" strike="noStrike">
              <a:solidFill>
                <a:schemeClr val="dk1"/>
              </a:solidFill>
              <a:latin typeface="Calibri"/>
              <a:ea typeface="Calibri"/>
              <a:cs typeface="Calibri"/>
              <a:sym typeface="Calibri"/>
            </a:endParaRPr>
          </a:p>
        </p:txBody>
      </p:sp>
      <p:sp>
        <p:nvSpPr>
          <p:cNvPr id="2013" name="Google Shape;2013;p75"/>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014" name="Google Shape;2014;p75"/>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2015" name="Google Shape;2015;p75"/>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Converting an unused voucher or FCF</a:t>
            </a:r>
            <a:endParaRPr b="0" i="0" spc="0" sz="1050" u="none" cap="none" strike="noStrike">
              <a:solidFill>
                <a:schemeClr val="dk1"/>
              </a:solidFill>
              <a:latin typeface="Calibri"/>
              <a:ea typeface="Calibri"/>
              <a:cs typeface="Calibri"/>
              <a:sym typeface="Calibri"/>
            </a:endParaRPr>
          </a:p>
        </p:txBody>
      </p:sp>
      <p:sp>
        <p:nvSpPr>
          <p:cNvPr id="2016" name="Google Shape;2016;p75"/>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017" name="Google Shape;2017;p75"/>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2018" name="Google Shape;2018;p75"/>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US" spc="0" sz="1050" u="none" cap="none" strike="noStrike">
                <a:solidFill>
                  <a:srgbClr val="1D1D1F"/>
                </a:solidFill>
                <a:latin typeface="Arial"/>
                <a:ea typeface="Arial"/>
                <a:cs typeface="Arial"/>
                <a:sym typeface="Arial"/>
              </a:rPr>
              <a:t>Cancellations and refunds afterwards</a:t>
            </a:r>
            <a:endParaRPr b="0" i="0" spc="0" sz="1050" u="none" cap="none" strike="noStrike">
              <a:solidFill>
                <a:schemeClr val="dk1"/>
              </a:solidFill>
              <a:latin typeface="Calibri"/>
              <a:ea typeface="Calibri"/>
              <a:cs typeface="Calibri"/>
              <a:sym typeface="Calibri"/>
            </a:endParaRPr>
          </a:p>
        </p:txBody>
      </p:sp>
      <p:sp>
        <p:nvSpPr>
          <p:cNvPr id="2019" name="Google Shape;2019;p75"/>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20" name="Google Shape;2020;p75"/>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7/ill27.png" id="2021" name="Google Shape;2021;p75"/>
          <p:cNvPicPr preferRelativeResize="0"/>
          <p:nvPr/>
        </p:nvPicPr>
        <p:blipFill rotWithShape="1">
          <a:blip r:embed="rId4">
            <a:alphaModFix/>
          </a:blip>
          <a:srcRect b="0" l="0" r="0" t="0"/>
          <a:stretch/>
        </p:blipFill>
        <p:spPr>
          <a:xfrm>
            <a:off x="5928845" y="1517904"/>
            <a:ext cx="2150918" cy="2103120"/>
          </a:xfrm>
          <a:prstGeom prst="rect">
            <a:avLst/>
          </a:prstGeom>
          <a:noFill/>
          <a:ln>
            <a:noFill/>
          </a:ln>
        </p:spPr>
      </p:pic>
      <p:sp>
        <p:nvSpPr>
          <p:cNvPr id="2022" name="Google Shape;2022;p75"/>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23" name="Google Shape;2023;p75"/>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24" name="Google Shape;2024;p75"/>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25" name="Google Shape;2025;p75"/>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26" name="Google Shape;2026;p75"/>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27" name="Google Shape;2027;p75"/>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28" name="Google Shape;2028;p7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3" name="Shape 2033"/>
        <p:cNvGrpSpPr/>
        <p:nvPr/>
      </p:nvGrpSpPr>
      <p:grpSpPr>
        <a:xfrm>
          <a:off x="0" y="0"/>
          <a:ext cx="0" cy="0"/>
          <a:chOff x="0" y="0"/>
          <a:chExt cx="0" cy="0"/>
        </a:xfrm>
      </p:grpSpPr>
      <p:sp>
        <p:nvSpPr>
          <p:cNvPr id="2034" name="Google Shape;2034;p7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TRIAL &amp; ONE-TIME CLEANING</a:t>
            </a:r>
            <a:endParaRPr b="0" i="0" spc="0" sz="800" u="none" cap="none" strike="noStrike">
              <a:solidFill>
                <a:schemeClr val="dk1"/>
              </a:solidFill>
              <a:latin typeface="Calibri"/>
              <a:ea typeface="Calibri"/>
              <a:cs typeface="Calibri"/>
              <a:sym typeface="Calibri"/>
            </a:endParaRPr>
          </a:p>
        </p:txBody>
      </p:sp>
      <p:sp>
        <p:nvSpPr>
          <p:cNvPr id="2035" name="Google Shape;2035;p7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Trial Cleaning vs One-Time Cleaning</a:t>
            </a:r>
            <a:endParaRPr b="0" i="0" spc="0" sz="2400" u="none" cap="none" strike="noStrike">
              <a:solidFill>
                <a:schemeClr val="dk1"/>
              </a:solidFill>
              <a:latin typeface="Calibri"/>
              <a:ea typeface="Calibri"/>
              <a:cs typeface="Calibri"/>
              <a:sym typeface="Calibri"/>
            </a:endParaRPr>
          </a:p>
        </p:txBody>
      </p:sp>
      <p:sp>
        <p:nvSpPr>
          <p:cNvPr id="2036" name="Google Shape;2036;p7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They look alike, but the consequences are completely different.</a:t>
            </a:r>
            <a:endParaRPr b="0" i="0" spc="0" sz="1200" u="none" cap="none" strike="noStrike">
              <a:solidFill>
                <a:schemeClr val="dk1"/>
              </a:solidFill>
              <a:latin typeface="Calibri"/>
              <a:ea typeface="Calibri"/>
              <a:cs typeface="Calibri"/>
              <a:sym typeface="Calibri"/>
            </a:endParaRPr>
          </a:p>
        </p:txBody>
      </p:sp>
      <p:sp>
        <p:nvSpPr>
          <p:cNvPr id="2037" name="Google Shape;2037;p76"/>
          <p:cNvSpPr/>
          <p:nvPr/>
        </p:nvSpPr>
        <p:spPr>
          <a:xfrm>
            <a:off x="411480" y="1325880"/>
            <a:ext cx="4069080" cy="2377440"/>
          </a:xfrm>
          <a:prstGeom prst="roundRect">
            <a:avLst>
              <a:gd fmla="val 3077"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38" name="Google Shape;2038;p76"/>
          <p:cNvSpPr/>
          <p:nvPr/>
        </p:nvSpPr>
        <p:spPr>
          <a:xfrm>
            <a:off x="411480" y="1325880"/>
            <a:ext cx="40690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Trial Cleaning (TC)</a:t>
            </a:r>
            <a:endParaRPr b="0" i="0" spc="0" sz="1050" u="none" cap="none" strike="noStrike">
              <a:solidFill>
                <a:schemeClr val="dk1"/>
              </a:solidFill>
              <a:latin typeface="Calibri"/>
              <a:ea typeface="Calibri"/>
              <a:cs typeface="Calibri"/>
              <a:sym typeface="Calibri"/>
            </a:endParaRPr>
          </a:p>
        </p:txBody>
      </p:sp>
      <p:sp>
        <p:nvSpPr>
          <p:cNvPr id="2039" name="Google Shape;2039;p76"/>
          <p:cNvSpPr txBox="1"/>
          <p:nvPr/>
        </p:nvSpPr>
        <p:spPr>
          <a:xfrm>
            <a:off x="576072" y="1764792"/>
            <a:ext cx="3739896" cy="186537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Wants to try the membership first</a:t>
            </a:r>
            <a:endParaRPr b="0" i="0" spc="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Creates an FC table</a:t>
            </a:r>
            <a:endParaRPr b="0" i="0" spc="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Charged upfront</a:t>
            </a:r>
            <a:endParaRPr b="0" i="0" spc="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30 days from the appointment to cancel, no obligation</a:t>
            </a:r>
            <a:endParaRPr b="0" i="0" spc="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Then $59/mo, 6-month MCT, $99 ETF</a:t>
            </a:r>
            <a:endParaRPr b="0" i="0" spc="0" sz="1000" u="none" cap="none" strike="noStrike">
              <a:solidFill>
                <a:schemeClr val="dk1"/>
              </a:solidFill>
              <a:latin typeface="Calibri"/>
              <a:ea typeface="Calibri"/>
              <a:cs typeface="Calibri"/>
              <a:sym typeface="Calibri"/>
            </a:endParaRPr>
          </a:p>
        </p:txBody>
      </p:sp>
      <p:sp>
        <p:nvSpPr>
          <p:cNvPr id="2040" name="Google Shape;2040;p76"/>
          <p:cNvSpPr/>
          <p:nvPr/>
        </p:nvSpPr>
        <p:spPr>
          <a:xfrm>
            <a:off x="4663440" y="1325880"/>
            <a:ext cx="4069080" cy="2377440"/>
          </a:xfrm>
          <a:prstGeom prst="roundRect">
            <a:avLst>
              <a:gd fmla="val 3077"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41" name="Google Shape;2041;p76"/>
          <p:cNvSpPr/>
          <p:nvPr/>
        </p:nvSpPr>
        <p:spPr>
          <a:xfrm>
            <a:off x="4663440" y="1325880"/>
            <a:ext cx="4069080" cy="329184"/>
          </a:xfrm>
          <a:prstGeom prst="roundRect">
            <a:avLst>
              <a:gd fmla="val 16667" name="adj"/>
            </a:avLst>
          </a:prstGeom>
          <a:solidFill>
            <a:srgbClr val="9A6410"/>
          </a:solidFill>
          <a:ln cap="flat" cmpd="sng" w="12700">
            <a:solidFill>
              <a:srgbClr val="9A641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One-Time Cleaning (OTC)</a:t>
            </a:r>
            <a:endParaRPr b="0" i="0" spc="0" sz="1050" u="none" cap="none" strike="noStrike">
              <a:solidFill>
                <a:schemeClr val="dk1"/>
              </a:solidFill>
              <a:latin typeface="Calibri"/>
              <a:ea typeface="Calibri"/>
              <a:cs typeface="Calibri"/>
              <a:sym typeface="Calibri"/>
            </a:endParaRPr>
          </a:p>
        </p:txBody>
      </p:sp>
      <p:sp>
        <p:nvSpPr>
          <p:cNvPr id="2042" name="Google Shape;2042;p76"/>
          <p:cNvSpPr txBox="1"/>
          <p:nvPr/>
        </p:nvSpPr>
        <p:spPr>
          <a:xfrm>
            <a:off x="4828032" y="1764792"/>
            <a:ext cx="3739896" cy="186537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Wants a single cleaning (e.g. move-out)</a:t>
            </a:r>
            <a:endParaRPr b="0" i="0" spc="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No FC table</a:t>
            </a:r>
            <a:endParaRPr b="0" i="0" spc="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Charged upfront</a:t>
            </a:r>
            <a:endParaRPr b="0" i="0" spc="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Nothing after: no membership to track</a:t>
            </a:r>
            <a:endParaRPr b="0" i="0" spc="0" sz="1000" u="none" cap="none" strike="noStrike">
              <a:solidFill>
                <a:schemeClr val="dk1"/>
              </a:solidFill>
              <a:latin typeface="Calibri"/>
              <a:ea typeface="Calibri"/>
              <a:cs typeface="Calibri"/>
              <a:sym typeface="Calibri"/>
            </a:endParaRPr>
          </a:p>
        </p:txBody>
      </p:sp>
      <p:sp>
        <p:nvSpPr>
          <p:cNvPr id="2043" name="Google Shape;2043;p76"/>
          <p:cNvSpPr/>
          <p:nvPr/>
        </p:nvSpPr>
        <p:spPr>
          <a:xfrm>
            <a:off x="411480" y="38862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044" name="Google Shape;2044;p76"/>
          <p:cNvPicPr preferRelativeResize="0"/>
          <p:nvPr/>
        </p:nvPicPr>
        <p:blipFill rotWithShape="1">
          <a:blip r:embed="rId3">
            <a:alphaModFix/>
          </a:blip>
          <a:srcRect b="0" l="0" r="0" t="0"/>
          <a:stretch/>
        </p:blipFill>
        <p:spPr>
          <a:xfrm>
            <a:off x="566928" y="3995928"/>
            <a:ext cx="164592" cy="164592"/>
          </a:xfrm>
          <a:prstGeom prst="rect">
            <a:avLst/>
          </a:prstGeom>
          <a:noFill/>
          <a:ln>
            <a:noFill/>
          </a:ln>
        </p:spPr>
      </p:pic>
      <p:sp>
        <p:nvSpPr>
          <p:cNvPr id="2045" name="Google Shape;2045;p76"/>
          <p:cNvSpPr txBox="1"/>
          <p:nvPr/>
        </p:nvSpPr>
        <p:spPr>
          <a:xfrm>
            <a:off x="822960" y="39867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Don't default to a refund:  </a:t>
            </a:r>
            <a:r>
              <a:rPr b="0" i="0" lang="en-US" spc="0" sz="1000" u="none" cap="none" strike="noStrike">
                <a:solidFill>
                  <a:srgbClr val="1D1D1F"/>
                </a:solidFill>
                <a:latin typeface="Arial"/>
                <a:ea typeface="Arial"/>
                <a:cs typeface="Arial"/>
                <a:sym typeface="Arial"/>
              </a:rPr>
              <a:t>a TC or OTC may be exactly what they want.</a:t>
            </a:r>
            <a:endParaRPr b="0" i="0" spc="0" sz="1000" u="none" cap="none" strike="noStrike">
              <a:solidFill>
                <a:schemeClr val="dk1"/>
              </a:solidFill>
              <a:latin typeface="Calibri"/>
              <a:ea typeface="Calibri"/>
              <a:cs typeface="Calibri"/>
              <a:sym typeface="Calibri"/>
            </a:endParaRPr>
          </a:p>
        </p:txBody>
      </p:sp>
      <p:sp>
        <p:nvSpPr>
          <p:cNvPr id="2046" name="Google Shape;2046;p7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1" name="Shape 2051"/>
        <p:cNvGrpSpPr/>
        <p:nvPr/>
      </p:nvGrpSpPr>
      <p:grpSpPr>
        <a:xfrm>
          <a:off x="0" y="0"/>
          <a:ext cx="0" cy="0"/>
          <a:chOff x="0" y="0"/>
          <a:chExt cx="0" cy="0"/>
        </a:xfrm>
      </p:grpSpPr>
      <p:sp>
        <p:nvSpPr>
          <p:cNvPr id="2052" name="Google Shape;2052;p7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TRIAL &amp; ONE-TIME CLEANING</a:t>
            </a:r>
            <a:endParaRPr b="0" i="0" spc="0" sz="800" u="none" cap="none" strike="noStrike">
              <a:solidFill>
                <a:schemeClr val="dk1"/>
              </a:solidFill>
              <a:latin typeface="Calibri"/>
              <a:ea typeface="Calibri"/>
              <a:cs typeface="Calibri"/>
              <a:sym typeface="Calibri"/>
            </a:endParaRPr>
          </a:p>
        </p:txBody>
      </p:sp>
      <p:sp>
        <p:nvSpPr>
          <p:cNvPr id="2053" name="Google Shape;2053;p7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Pricing: what gets deducted</a:t>
            </a:r>
            <a:endParaRPr b="0" i="0" spc="0" sz="2400" u="none" cap="none" strike="noStrike">
              <a:solidFill>
                <a:schemeClr val="dk1"/>
              </a:solidFill>
              <a:latin typeface="Calibri"/>
              <a:ea typeface="Calibri"/>
              <a:cs typeface="Calibri"/>
              <a:sym typeface="Calibri"/>
            </a:endParaRPr>
          </a:p>
        </p:txBody>
      </p:sp>
      <p:sp>
        <p:nvSpPr>
          <p:cNvPr id="2054" name="Google Shape;2054;p77"/>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Get the rate from the FC Sales Calculator first.</a:t>
            </a:r>
            <a:endParaRPr b="0" i="0" spc="0" sz="1200" u="none" cap="none" strike="noStrike">
              <a:solidFill>
                <a:schemeClr val="dk1"/>
              </a:solidFill>
              <a:latin typeface="Calibri"/>
              <a:ea typeface="Calibri"/>
              <a:cs typeface="Calibri"/>
              <a:sym typeface="Calibri"/>
            </a:endParaRPr>
          </a:p>
        </p:txBody>
      </p:sp>
      <p:sp>
        <p:nvSpPr>
          <p:cNvPr id="2055" name="Google Shape;2055;p77"/>
          <p:cNvSpPr/>
          <p:nvPr/>
        </p:nvSpPr>
        <p:spPr>
          <a:xfrm>
            <a:off x="411480" y="1325880"/>
            <a:ext cx="4069080" cy="1188720"/>
          </a:xfrm>
          <a:prstGeom prst="roundRect">
            <a:avLst>
              <a:gd fmla="val 6154" name="adj"/>
            </a:avLst>
          </a:prstGeom>
          <a:solidFill>
            <a:srgbClr val="FFFFFF"/>
          </a:solidFill>
          <a:ln cap="flat" cmpd="sng" w="9525">
            <a:solidFill>
              <a:srgbClr val="1D1D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56" name="Google Shape;2056;p77"/>
          <p:cNvSpPr/>
          <p:nvPr/>
        </p:nvSpPr>
        <p:spPr>
          <a:xfrm>
            <a:off x="411480" y="1325880"/>
            <a:ext cx="4069080" cy="329184"/>
          </a:xfrm>
          <a:prstGeom prst="roundRect">
            <a:avLst>
              <a:gd fmla="val 16667" name="adj"/>
            </a:avLst>
          </a:prstGeom>
          <a:solidFill>
            <a:srgbClr val="1D1D1F"/>
          </a:solidFill>
          <a:ln cap="flat" cmpd="sng" w="12700">
            <a:solidFill>
              <a:srgbClr val="1D1D1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DHJ: deduct</a:t>
            </a:r>
            <a:endParaRPr b="0" i="0" spc="0" sz="1050" u="none" cap="none" strike="noStrike">
              <a:solidFill>
                <a:schemeClr val="dk1"/>
              </a:solidFill>
              <a:latin typeface="Calibri"/>
              <a:ea typeface="Calibri"/>
              <a:cs typeface="Calibri"/>
              <a:sym typeface="Calibri"/>
            </a:endParaRPr>
          </a:p>
        </p:txBody>
      </p:sp>
      <p:sp>
        <p:nvSpPr>
          <p:cNvPr id="2057" name="Google Shape;2057;p77"/>
          <p:cNvSpPr txBox="1"/>
          <p:nvPr/>
        </p:nvSpPr>
        <p:spPr>
          <a:xfrm>
            <a:off x="576072" y="1764792"/>
            <a:ext cx="3739896" cy="67665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The voucher price they already paid</a:t>
            </a:r>
            <a:endParaRPr b="0" i="0" spc="0" sz="1000" u="none" cap="none" strike="noStrike">
              <a:solidFill>
                <a:schemeClr val="dk1"/>
              </a:solidFill>
              <a:latin typeface="Calibri"/>
              <a:ea typeface="Calibri"/>
              <a:cs typeface="Calibri"/>
              <a:sym typeface="Calibri"/>
            </a:endParaRPr>
          </a:p>
        </p:txBody>
      </p:sp>
      <p:sp>
        <p:nvSpPr>
          <p:cNvPr id="2058" name="Google Shape;2058;p77"/>
          <p:cNvSpPr/>
          <p:nvPr/>
        </p:nvSpPr>
        <p:spPr>
          <a:xfrm>
            <a:off x="4663440" y="1325880"/>
            <a:ext cx="4069080" cy="1188720"/>
          </a:xfrm>
          <a:prstGeom prst="roundRect">
            <a:avLst>
              <a:gd fmla="val 6154"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59" name="Google Shape;2059;p77"/>
          <p:cNvSpPr/>
          <p:nvPr/>
        </p:nvSpPr>
        <p:spPr>
          <a:xfrm>
            <a:off x="4663440" y="1325880"/>
            <a:ext cx="40690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FCF: deduct</a:t>
            </a:r>
            <a:endParaRPr b="0" i="0" spc="0" sz="1050" u="none" cap="none" strike="noStrike">
              <a:solidFill>
                <a:schemeClr val="dk1"/>
              </a:solidFill>
              <a:latin typeface="Calibri"/>
              <a:ea typeface="Calibri"/>
              <a:cs typeface="Calibri"/>
              <a:sym typeface="Calibri"/>
            </a:endParaRPr>
          </a:p>
        </p:txBody>
      </p:sp>
      <p:sp>
        <p:nvSpPr>
          <p:cNvPr id="2060" name="Google Shape;2060;p77"/>
          <p:cNvSpPr txBox="1"/>
          <p:nvPr/>
        </p:nvSpPr>
        <p:spPr>
          <a:xfrm>
            <a:off x="4828032" y="1764792"/>
            <a:ext cx="3739896" cy="67665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All MFs paid to date (within 120 days)</a:t>
            </a:r>
            <a:endParaRPr b="0" i="0" spc="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1000"/>
              <a:buFont typeface="Arial"/>
              <a:buChar char="•"/>
            </a:pPr>
            <a:r>
              <a:rPr b="0" i="0" lang="en-US" spc="0" sz="1000" u="none" cap="none" strike="noStrike">
                <a:solidFill>
                  <a:srgbClr val="1D1D1F"/>
                </a:solidFill>
                <a:latin typeface="Arial"/>
                <a:ea typeface="Arial"/>
                <a:cs typeface="Arial"/>
                <a:sym typeface="Arial"/>
              </a:rPr>
              <a:t>Plus the add-on: $19 (4 hr) or $59 (6 hr)</a:t>
            </a:r>
            <a:endParaRPr b="0" i="0" spc="0" sz="1000" u="none" cap="none" strike="noStrike">
              <a:solidFill>
                <a:schemeClr val="dk1"/>
              </a:solidFill>
              <a:latin typeface="Calibri"/>
              <a:ea typeface="Calibri"/>
              <a:cs typeface="Calibri"/>
              <a:sym typeface="Calibri"/>
            </a:endParaRPr>
          </a:p>
        </p:txBody>
      </p:sp>
      <p:sp>
        <p:nvSpPr>
          <p:cNvPr id="2061" name="Google Shape;2061;p77"/>
          <p:cNvSpPr/>
          <p:nvPr/>
        </p:nvSpPr>
        <p:spPr>
          <a:xfrm>
            <a:off x="411480" y="2697480"/>
            <a:ext cx="4069080" cy="91440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62" name="Google Shape;2062;p77"/>
          <p:cNvSpPr txBox="1"/>
          <p:nvPr/>
        </p:nvSpPr>
        <p:spPr>
          <a:xfrm>
            <a:off x="594360" y="2697480"/>
            <a:ext cx="37490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6-hr clean at $378</a:t>
            </a:r>
            <a:endParaRPr b="0" i="0" spc="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2 MFs + $59 add-on = $137 paid</a:t>
            </a:r>
            <a:endParaRPr b="0" i="0" spc="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B7A6F"/>
              </a:buClr>
              <a:buSzPts val="1100"/>
              <a:buFont typeface="Arial"/>
              <a:buNone/>
            </a:pPr>
            <a:r>
              <a:rPr b="1" i="0" lang="en-US" spc="0" sz="1100" u="none" cap="none" strike="noStrike">
                <a:solidFill>
                  <a:srgbClr val="0B7A6F"/>
                </a:solidFill>
                <a:latin typeface="Arial"/>
                <a:ea typeface="Arial"/>
                <a:cs typeface="Arial"/>
                <a:sym typeface="Arial"/>
              </a:rPr>
              <a:t>→ Pays $241</a:t>
            </a:r>
            <a:endParaRPr b="0" i="0" spc="0" sz="1100" u="none" cap="none" strike="noStrike">
              <a:solidFill>
                <a:schemeClr val="dk1"/>
              </a:solidFill>
              <a:latin typeface="Calibri"/>
              <a:ea typeface="Calibri"/>
              <a:cs typeface="Calibri"/>
              <a:sym typeface="Calibri"/>
            </a:endParaRPr>
          </a:p>
        </p:txBody>
      </p:sp>
      <p:sp>
        <p:nvSpPr>
          <p:cNvPr id="2063" name="Google Shape;2063;p77"/>
          <p:cNvSpPr/>
          <p:nvPr/>
        </p:nvSpPr>
        <p:spPr>
          <a:xfrm>
            <a:off x="4663440" y="2697480"/>
            <a:ext cx="4069080" cy="91440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64" name="Google Shape;2064;p77"/>
          <p:cNvSpPr txBox="1"/>
          <p:nvPr/>
        </p:nvSpPr>
        <p:spPr>
          <a:xfrm>
            <a:off x="4846320" y="2697480"/>
            <a:ext cx="374904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US" spc="0" sz="1100" u="none" cap="none" strike="noStrike">
                <a:solidFill>
                  <a:srgbClr val="1D1D1F"/>
                </a:solidFill>
                <a:latin typeface="Play"/>
                <a:ea typeface="Play"/>
                <a:cs typeface="Play"/>
                <a:sym typeface="Play"/>
              </a:rPr>
              <a:t>OTC at $120</a:t>
            </a:r>
            <a:endParaRPr b="0" i="0" spc="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$150 in MFs already paid</a:t>
            </a:r>
            <a:endParaRPr b="0" i="0" spc="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B7A6F"/>
              </a:buClr>
              <a:buSzPts val="1100"/>
              <a:buFont typeface="Arial"/>
              <a:buNone/>
            </a:pPr>
            <a:r>
              <a:rPr b="1" i="0" lang="en-US" spc="0" sz="1100" u="none" cap="none" strike="noStrike">
                <a:solidFill>
                  <a:srgbClr val="0B7A6F"/>
                </a:solidFill>
                <a:latin typeface="Arial"/>
                <a:ea typeface="Arial"/>
                <a:cs typeface="Arial"/>
                <a:sym typeface="Arial"/>
              </a:rPr>
              <a:t>→ Pays $0. $30 is not refunded</a:t>
            </a:r>
            <a:endParaRPr b="0" i="0" spc="0" sz="1100" u="none" cap="none" strike="noStrike">
              <a:solidFill>
                <a:schemeClr val="dk1"/>
              </a:solidFill>
              <a:latin typeface="Calibri"/>
              <a:ea typeface="Calibri"/>
              <a:cs typeface="Calibri"/>
              <a:sym typeface="Calibri"/>
            </a:endParaRPr>
          </a:p>
        </p:txBody>
      </p:sp>
      <p:sp>
        <p:nvSpPr>
          <p:cNvPr id="2065" name="Google Shape;2065;p77"/>
          <p:cNvSpPr/>
          <p:nvPr/>
        </p:nvSpPr>
        <p:spPr>
          <a:xfrm>
            <a:off x="411480" y="37947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066" name="Google Shape;2066;p77"/>
          <p:cNvPicPr preferRelativeResize="0"/>
          <p:nvPr/>
        </p:nvPicPr>
        <p:blipFill rotWithShape="1">
          <a:blip r:embed="rId3">
            <a:alphaModFix/>
          </a:blip>
          <a:srcRect b="0" l="0" r="0" t="0"/>
          <a:stretch/>
        </p:blipFill>
        <p:spPr>
          <a:xfrm>
            <a:off x="566928" y="3904488"/>
            <a:ext cx="164592" cy="164592"/>
          </a:xfrm>
          <a:prstGeom prst="rect">
            <a:avLst/>
          </a:prstGeom>
          <a:noFill/>
          <a:ln>
            <a:noFill/>
          </a:ln>
        </p:spPr>
      </p:pic>
      <p:sp>
        <p:nvSpPr>
          <p:cNvPr id="2067" name="Google Shape;2067;p77"/>
          <p:cNvSpPr txBox="1"/>
          <p:nvPr/>
        </p:nvSpPr>
        <p:spPr>
          <a:xfrm>
            <a:off x="822960" y="38953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First:  </a:t>
            </a:r>
            <a:r>
              <a:rPr b="0" i="0" lang="en-US" spc="0" sz="1000" u="none" cap="none" strike="noStrike">
                <a:solidFill>
                  <a:srgbClr val="1D1D1F"/>
                </a:solidFill>
                <a:latin typeface="Arial"/>
                <a:ea typeface="Arial"/>
                <a:cs typeface="Arial"/>
                <a:sym typeface="Arial"/>
              </a:rPr>
              <a:t>get the TC/OTC rate from the (Transformation) FC Sales Calculator.</a:t>
            </a:r>
            <a:endParaRPr b="0" i="0" spc="0" sz="1000" u="none" cap="none" strike="noStrike">
              <a:solidFill>
                <a:schemeClr val="dk1"/>
              </a:solidFill>
              <a:latin typeface="Calibri"/>
              <a:ea typeface="Calibri"/>
              <a:cs typeface="Calibri"/>
              <a:sym typeface="Calibri"/>
            </a:endParaRPr>
          </a:p>
        </p:txBody>
      </p:sp>
      <p:sp>
        <p:nvSpPr>
          <p:cNvPr id="2068" name="Google Shape;2068;p7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3" name="Shape 2073"/>
        <p:cNvGrpSpPr/>
        <p:nvPr/>
      </p:nvGrpSpPr>
      <p:grpSpPr>
        <a:xfrm>
          <a:off x="0" y="0"/>
          <a:ext cx="0" cy="0"/>
          <a:chOff x="0" y="0"/>
          <a:chExt cx="0" cy="0"/>
        </a:xfrm>
      </p:grpSpPr>
      <p:sp>
        <p:nvSpPr>
          <p:cNvPr id="2074" name="Google Shape;2074;p7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TRIAL &amp; ONE-TIME CLEANING</a:t>
            </a:r>
            <a:endParaRPr b="0" i="0" spc="0" sz="800" u="none" cap="none" strike="noStrike">
              <a:solidFill>
                <a:schemeClr val="dk1"/>
              </a:solidFill>
              <a:latin typeface="Calibri"/>
              <a:ea typeface="Calibri"/>
              <a:cs typeface="Calibri"/>
              <a:sym typeface="Calibri"/>
            </a:endParaRPr>
          </a:p>
        </p:txBody>
      </p:sp>
      <p:sp>
        <p:nvSpPr>
          <p:cNvPr id="2075" name="Google Shape;2075;p7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Offering it</a:t>
            </a:r>
            <a:endParaRPr b="0" i="0" spc="0" sz="2400" u="none" cap="none" strike="noStrike">
              <a:solidFill>
                <a:schemeClr val="dk1"/>
              </a:solidFill>
              <a:latin typeface="Calibri"/>
              <a:ea typeface="Calibri"/>
              <a:cs typeface="Calibri"/>
              <a:sym typeface="Calibri"/>
            </a:endParaRPr>
          </a:p>
        </p:txBody>
      </p:sp>
      <p:sp>
        <p:nvSpPr>
          <p:cNvPr id="2076" name="Google Shape;2076;p7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Explain what they signed up for, then offer the better fit.</a:t>
            </a:r>
            <a:endParaRPr b="0" i="0" spc="0" sz="1200" u="none" cap="none" strike="noStrike">
              <a:solidFill>
                <a:schemeClr val="dk1"/>
              </a:solidFill>
              <a:latin typeface="Calibri"/>
              <a:ea typeface="Calibri"/>
              <a:cs typeface="Calibri"/>
              <a:sym typeface="Calibri"/>
            </a:endParaRPr>
          </a:p>
        </p:txBody>
      </p:sp>
      <p:sp>
        <p:nvSpPr>
          <p:cNvPr id="2077" name="Google Shape;2077;p78"/>
          <p:cNvSpPr/>
          <p:nvPr/>
        </p:nvSpPr>
        <p:spPr>
          <a:xfrm>
            <a:off x="411480" y="1325880"/>
            <a:ext cx="4069080" cy="1325880"/>
          </a:xfrm>
          <a:prstGeom prst="roundRect">
            <a:avLst>
              <a:gd fmla="val 5517"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78" name="Google Shape;2078;p78"/>
          <p:cNvSpPr/>
          <p:nvPr/>
        </p:nvSpPr>
        <p:spPr>
          <a:xfrm>
            <a:off x="411480" y="1399032"/>
            <a:ext cx="45720" cy="1179576"/>
          </a:xfrm>
          <a:prstGeom prst="rect">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79" name="Google Shape;2079;p78"/>
          <p:cNvSpPr txBox="1"/>
          <p:nvPr/>
        </p:nvSpPr>
        <p:spPr>
          <a:xfrm>
            <a:off x="594360" y="1325880"/>
            <a:ext cx="3749040" cy="1325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0" sz="800" u="none" cap="none" strike="noStrike">
                <a:solidFill>
                  <a:srgbClr val="0B7A6F"/>
                </a:solidFill>
                <a:latin typeface="Play"/>
                <a:ea typeface="Play"/>
                <a:cs typeface="Play"/>
                <a:sym typeface="Play"/>
              </a:rPr>
              <a:t>ONE-TIME CLEANING</a:t>
            </a:r>
            <a:endParaRPr b="0" i="0" spc="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000"/>
              <a:buFont typeface="Arial"/>
              <a:buNone/>
            </a:pPr>
            <a:r>
              <a:rPr b="0" i="1" lang="en-US" spc="0" sz="1000" u="none" cap="none" strike="noStrike">
                <a:solidFill>
                  <a:srgbClr val="1D1D1F"/>
                </a:solidFill>
                <a:latin typeface="Arial"/>
                <a:ea typeface="Arial"/>
                <a:cs typeface="Arial"/>
                <a:sym typeface="Arial"/>
              </a:rPr>
              <a:t>“The voucher you purchased comes with a membership, so if you're only looking for a one-time cleaning, using it wouldn't be the best route. What I can do instead is offer a one-time cleaning at $[X]…”</a:t>
            </a:r>
            <a:endParaRPr b="0" i="0" spc="0" sz="1000" u="none" cap="none" strike="noStrike">
              <a:solidFill>
                <a:schemeClr val="dk1"/>
              </a:solidFill>
              <a:latin typeface="Calibri"/>
              <a:ea typeface="Calibri"/>
              <a:cs typeface="Calibri"/>
              <a:sym typeface="Calibri"/>
            </a:endParaRPr>
          </a:p>
        </p:txBody>
      </p:sp>
      <p:sp>
        <p:nvSpPr>
          <p:cNvPr id="2080" name="Google Shape;2080;p78"/>
          <p:cNvSpPr/>
          <p:nvPr/>
        </p:nvSpPr>
        <p:spPr>
          <a:xfrm>
            <a:off x="4663440" y="1325880"/>
            <a:ext cx="4069080" cy="1325880"/>
          </a:xfrm>
          <a:prstGeom prst="roundRect">
            <a:avLst>
              <a:gd fmla="val 5517"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81" name="Google Shape;2081;p78"/>
          <p:cNvSpPr/>
          <p:nvPr/>
        </p:nvSpPr>
        <p:spPr>
          <a:xfrm>
            <a:off x="4663440" y="1399032"/>
            <a:ext cx="45720" cy="1179576"/>
          </a:xfrm>
          <a:prstGeom prst="rect">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82" name="Google Shape;2082;p78"/>
          <p:cNvSpPr txBox="1"/>
          <p:nvPr/>
        </p:nvSpPr>
        <p:spPr>
          <a:xfrm>
            <a:off x="4846320" y="1325880"/>
            <a:ext cx="3749040" cy="1325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0" sz="800" u="none" cap="none" strike="noStrike">
                <a:solidFill>
                  <a:srgbClr val="0B7A6F"/>
                </a:solidFill>
                <a:latin typeface="Play"/>
                <a:ea typeface="Play"/>
                <a:cs typeface="Play"/>
                <a:sym typeface="Play"/>
              </a:rPr>
              <a:t>TRIAL CLEANING</a:t>
            </a:r>
            <a:endParaRPr b="0" i="0" spc="0" sz="1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1000"/>
              <a:buFont typeface="Arial"/>
              <a:buNone/>
            </a:pPr>
            <a:r>
              <a:rPr b="0" i="1" lang="en-US" spc="0" sz="1000" u="none" cap="none" strike="noStrike">
                <a:solidFill>
                  <a:srgbClr val="1D1D1F"/>
                </a:solidFill>
                <a:latin typeface="Arial"/>
                <a:ea typeface="Arial"/>
                <a:cs typeface="Arial"/>
                <a:sym typeface="Arial"/>
              </a:rPr>
              <a:t>“We actually have a Trial Cleaning option, which could be a better fit. It lets you try things out first… we can apply what you've already paid, bringing your total to $[X], charged upfront.”</a:t>
            </a:r>
            <a:endParaRPr b="0" i="0" spc="0" sz="1000" u="none" cap="none" strike="noStrike">
              <a:solidFill>
                <a:schemeClr val="dk1"/>
              </a:solidFill>
              <a:latin typeface="Calibri"/>
              <a:ea typeface="Calibri"/>
              <a:cs typeface="Calibri"/>
              <a:sym typeface="Calibri"/>
            </a:endParaRPr>
          </a:p>
        </p:txBody>
      </p:sp>
      <p:sp>
        <p:nvSpPr>
          <p:cNvPr id="2083" name="Google Shape;2083;p78"/>
          <p:cNvSpPr/>
          <p:nvPr/>
        </p:nvSpPr>
        <p:spPr>
          <a:xfrm>
            <a:off x="4663440" y="2788920"/>
            <a:ext cx="4069080" cy="1371600"/>
          </a:xfrm>
          <a:prstGeom prst="roundRect">
            <a:avLst>
              <a:gd fmla="val 5333" name="adj"/>
            </a:avLst>
          </a:prstGeom>
          <a:solidFill>
            <a:srgbClr val="FFFFF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84" name="Google Shape;2084;p78"/>
          <p:cNvSpPr/>
          <p:nvPr/>
        </p:nvSpPr>
        <p:spPr>
          <a:xfrm>
            <a:off x="4663440" y="2788920"/>
            <a:ext cx="40690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Trial: set expectations</a:t>
            </a:r>
            <a:endParaRPr b="0" i="0" spc="0" sz="1050" u="none" cap="none" strike="noStrike">
              <a:solidFill>
                <a:schemeClr val="dk1"/>
              </a:solidFill>
              <a:latin typeface="Calibri"/>
              <a:ea typeface="Calibri"/>
              <a:cs typeface="Calibri"/>
              <a:sym typeface="Calibri"/>
            </a:endParaRPr>
          </a:p>
        </p:txBody>
      </p:sp>
      <p:sp>
        <p:nvSpPr>
          <p:cNvPr id="2085" name="Google Shape;2085;p78"/>
          <p:cNvSpPr txBox="1"/>
          <p:nvPr/>
        </p:nvSpPr>
        <p:spPr>
          <a:xfrm>
            <a:off x="4828032" y="3227832"/>
            <a:ext cx="3739896" cy="8595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30 days from the appointment to cancel, no obligation</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Then $59/mo starts automatically</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6-month MCT. $99 ETF if cancelled early</a:t>
            </a:r>
            <a:endParaRPr b="0" i="0" spc="0" sz="900" u="none" cap="none" strike="noStrike">
              <a:solidFill>
                <a:schemeClr val="dk1"/>
              </a:solidFill>
              <a:latin typeface="Calibri"/>
              <a:ea typeface="Calibri"/>
              <a:cs typeface="Calibri"/>
              <a:sym typeface="Calibri"/>
            </a:endParaRPr>
          </a:p>
        </p:txBody>
      </p:sp>
      <p:sp>
        <p:nvSpPr>
          <p:cNvPr id="2086" name="Google Shape;2086;p78"/>
          <p:cNvSpPr/>
          <p:nvPr/>
        </p:nvSpPr>
        <p:spPr>
          <a:xfrm>
            <a:off x="411480" y="2788920"/>
            <a:ext cx="4069080" cy="1371600"/>
          </a:xfrm>
          <a:prstGeom prst="roundRect">
            <a:avLst>
              <a:gd fmla="val 5333" name="adj"/>
            </a:avLst>
          </a:prstGeom>
          <a:solidFill>
            <a:srgbClr val="FFFFFF"/>
          </a:solidFill>
          <a:ln cap="flat" cmpd="sng" w="9525">
            <a:solidFill>
              <a:srgbClr val="1D1D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87" name="Google Shape;2087;p78"/>
          <p:cNvSpPr/>
          <p:nvPr/>
        </p:nvSpPr>
        <p:spPr>
          <a:xfrm>
            <a:off x="411480" y="2788920"/>
            <a:ext cx="4069080" cy="329184"/>
          </a:xfrm>
          <a:prstGeom prst="roundRect">
            <a:avLst>
              <a:gd fmla="val 16667" name="adj"/>
            </a:avLst>
          </a:prstGeom>
          <a:solidFill>
            <a:srgbClr val="1D1D1F"/>
          </a:solidFill>
          <a:ln cap="flat" cmpd="sng" w="12700">
            <a:solidFill>
              <a:srgbClr val="1D1D1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Also</a:t>
            </a:r>
            <a:endParaRPr b="0" i="0" spc="0" sz="1050" u="none" cap="none" strike="noStrike">
              <a:solidFill>
                <a:schemeClr val="dk1"/>
              </a:solidFill>
              <a:latin typeface="Calibri"/>
              <a:ea typeface="Calibri"/>
              <a:cs typeface="Calibri"/>
              <a:sym typeface="Calibri"/>
            </a:endParaRPr>
          </a:p>
        </p:txBody>
      </p:sp>
      <p:sp>
        <p:nvSpPr>
          <p:cNvPr id="2088" name="Google Shape;2088;p78"/>
          <p:cNvSpPr txBox="1"/>
          <p:nvPr/>
        </p:nvSpPr>
        <p:spPr>
          <a:xfrm>
            <a:off x="576072" y="3227832"/>
            <a:ext cx="3739896" cy="8595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DHJ with refund intent: send the self-refund link</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Paid upfront: get their preferred date and time</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Cancel unwanted appointments and RC</a:t>
            </a:r>
            <a:endParaRPr b="0" i="0" spc="0" sz="900" u="none" cap="none" strike="noStrike">
              <a:solidFill>
                <a:schemeClr val="dk1"/>
              </a:solidFill>
              <a:latin typeface="Calibri"/>
              <a:ea typeface="Calibri"/>
              <a:cs typeface="Calibri"/>
              <a:sym typeface="Calibri"/>
            </a:endParaRPr>
          </a:p>
        </p:txBody>
      </p:sp>
      <p:sp>
        <p:nvSpPr>
          <p:cNvPr id="2089" name="Google Shape;2089;p7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4" name="Shape 2094"/>
        <p:cNvGrpSpPr/>
        <p:nvPr/>
      </p:nvGrpSpPr>
      <p:grpSpPr>
        <a:xfrm>
          <a:off x="0" y="0"/>
          <a:ext cx="0" cy="0"/>
          <a:chOff x="0" y="0"/>
          <a:chExt cx="0" cy="0"/>
        </a:xfrm>
      </p:grpSpPr>
      <p:sp>
        <p:nvSpPr>
          <p:cNvPr id="2095" name="Google Shape;2095;p7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TRIAL &amp; ONE-TIME CLEANING</a:t>
            </a:r>
            <a:endParaRPr b="0" i="0" spc="0" sz="800" u="none" cap="none" strike="noStrike">
              <a:solidFill>
                <a:schemeClr val="dk1"/>
              </a:solidFill>
              <a:latin typeface="Calibri"/>
              <a:ea typeface="Calibri"/>
              <a:cs typeface="Calibri"/>
              <a:sym typeface="Calibri"/>
            </a:endParaRPr>
          </a:p>
        </p:txBody>
      </p:sp>
      <p:sp>
        <p:nvSpPr>
          <p:cNvPr id="2096" name="Google Shape;2096;p7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They accept: set it up</a:t>
            </a:r>
            <a:endParaRPr b="0" i="0" spc="0" sz="2400" u="none" cap="none" strike="noStrike">
              <a:solidFill>
                <a:schemeClr val="dk1"/>
              </a:solidFill>
              <a:latin typeface="Calibri"/>
              <a:ea typeface="Calibri"/>
              <a:cs typeface="Calibri"/>
              <a:sym typeface="Calibri"/>
            </a:endParaRPr>
          </a:p>
        </p:txBody>
      </p:sp>
      <p:sp>
        <p:nvSpPr>
          <p:cNvPr id="2097" name="Google Shape;2097;p7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The FC table and voucher steps differ by model.</a:t>
            </a:r>
            <a:endParaRPr b="0" i="0" spc="0" sz="1200" u="none" cap="none" strike="noStrike">
              <a:solidFill>
                <a:schemeClr val="dk1"/>
              </a:solidFill>
              <a:latin typeface="Calibri"/>
              <a:ea typeface="Calibri"/>
              <a:cs typeface="Calibri"/>
              <a:sym typeface="Calibri"/>
            </a:endParaRPr>
          </a:p>
        </p:txBody>
      </p:sp>
      <p:sp>
        <p:nvSpPr>
          <p:cNvPr id="2098" name="Google Shape;2098;p79"/>
          <p:cNvSpPr/>
          <p:nvPr/>
        </p:nvSpPr>
        <p:spPr>
          <a:xfrm>
            <a:off x="411480" y="1298448"/>
            <a:ext cx="4297680" cy="402336"/>
          </a:xfrm>
          <a:prstGeom prst="roundRect">
            <a:avLst>
              <a:gd fmla="val 1818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99" name="Google Shape;2099;p79"/>
          <p:cNvSpPr/>
          <p:nvPr/>
        </p:nvSpPr>
        <p:spPr>
          <a:xfrm>
            <a:off x="484632" y="1362456"/>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00" name="Google Shape;2100;p79"/>
          <p:cNvSpPr txBox="1"/>
          <p:nvPr/>
        </p:nvSpPr>
        <p:spPr>
          <a:xfrm>
            <a:off x="484632" y="136245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2101" name="Google Shape;2101;p79"/>
          <p:cNvSpPr txBox="1"/>
          <p:nvPr/>
        </p:nvSpPr>
        <p:spPr>
          <a:xfrm>
            <a:off x="850392" y="1298448"/>
            <a:ext cx="379476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Confirm address, card, date, time, duration</a:t>
            </a:r>
            <a:endParaRPr b="0" i="0" spc="0" sz="900" u="none" cap="none" strike="noStrike">
              <a:solidFill>
                <a:schemeClr val="dk1"/>
              </a:solidFill>
              <a:latin typeface="Calibri"/>
              <a:ea typeface="Calibri"/>
              <a:cs typeface="Calibri"/>
              <a:sym typeface="Calibri"/>
            </a:endParaRPr>
          </a:p>
        </p:txBody>
      </p:sp>
      <p:sp>
        <p:nvSpPr>
          <p:cNvPr id="2102" name="Google Shape;2102;p79"/>
          <p:cNvSpPr/>
          <p:nvPr/>
        </p:nvSpPr>
        <p:spPr>
          <a:xfrm>
            <a:off x="411480" y="1755648"/>
            <a:ext cx="4297680" cy="402336"/>
          </a:xfrm>
          <a:prstGeom prst="roundRect">
            <a:avLst>
              <a:gd fmla="val 1818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03" name="Google Shape;2103;p79"/>
          <p:cNvSpPr/>
          <p:nvPr/>
        </p:nvSpPr>
        <p:spPr>
          <a:xfrm>
            <a:off x="484632" y="1819656"/>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04" name="Google Shape;2104;p79"/>
          <p:cNvSpPr txBox="1"/>
          <p:nvPr/>
        </p:nvSpPr>
        <p:spPr>
          <a:xfrm>
            <a:off x="484632" y="181965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2105" name="Google Shape;2105;p79"/>
          <p:cNvSpPr txBox="1"/>
          <p:nvPr/>
        </p:nvSpPr>
        <p:spPr>
          <a:xfrm>
            <a:off x="850392" y="1755648"/>
            <a:ext cx="379476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Still wants a refund? DHJ: CRM refund. FCF: FCF Refund log</a:t>
            </a:r>
            <a:endParaRPr b="0" i="0" spc="0" sz="900" u="none" cap="none" strike="noStrike">
              <a:solidFill>
                <a:schemeClr val="dk1"/>
              </a:solidFill>
              <a:latin typeface="Calibri"/>
              <a:ea typeface="Calibri"/>
              <a:cs typeface="Calibri"/>
              <a:sym typeface="Calibri"/>
            </a:endParaRPr>
          </a:p>
        </p:txBody>
      </p:sp>
      <p:sp>
        <p:nvSpPr>
          <p:cNvPr id="2106" name="Google Shape;2106;p79"/>
          <p:cNvSpPr/>
          <p:nvPr/>
        </p:nvSpPr>
        <p:spPr>
          <a:xfrm>
            <a:off x="411480" y="2212848"/>
            <a:ext cx="4297680" cy="402336"/>
          </a:xfrm>
          <a:prstGeom prst="roundRect">
            <a:avLst>
              <a:gd fmla="val 1818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07" name="Google Shape;2107;p79"/>
          <p:cNvSpPr/>
          <p:nvPr/>
        </p:nvSpPr>
        <p:spPr>
          <a:xfrm>
            <a:off x="484632" y="2276856"/>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08" name="Google Shape;2108;p79"/>
          <p:cNvSpPr txBox="1"/>
          <p:nvPr/>
        </p:nvSpPr>
        <p:spPr>
          <a:xfrm>
            <a:off x="484632" y="227685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2109" name="Google Shape;2109;p79"/>
          <p:cNvSpPr txBox="1"/>
          <p:nvPr/>
        </p:nvSpPr>
        <p:spPr>
          <a:xfrm>
            <a:off x="850392" y="2212848"/>
            <a:ext cx="379476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 refund? Deduct what they paid, invalidate the voucher</a:t>
            </a:r>
            <a:endParaRPr b="0" i="0" spc="0" sz="900" u="none" cap="none" strike="noStrike">
              <a:solidFill>
                <a:schemeClr val="dk1"/>
              </a:solidFill>
              <a:latin typeface="Calibri"/>
              <a:ea typeface="Calibri"/>
              <a:cs typeface="Calibri"/>
              <a:sym typeface="Calibri"/>
            </a:endParaRPr>
          </a:p>
        </p:txBody>
      </p:sp>
      <p:sp>
        <p:nvSpPr>
          <p:cNvPr id="2110" name="Google Shape;2110;p79"/>
          <p:cNvSpPr/>
          <p:nvPr/>
        </p:nvSpPr>
        <p:spPr>
          <a:xfrm>
            <a:off x="411480" y="2670048"/>
            <a:ext cx="4297680" cy="402336"/>
          </a:xfrm>
          <a:prstGeom prst="roundRect">
            <a:avLst>
              <a:gd fmla="val 1818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11" name="Google Shape;2111;p79"/>
          <p:cNvSpPr/>
          <p:nvPr/>
        </p:nvSpPr>
        <p:spPr>
          <a:xfrm>
            <a:off x="484632" y="2734056"/>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12" name="Google Shape;2112;p79"/>
          <p:cNvSpPr txBox="1"/>
          <p:nvPr/>
        </p:nvSpPr>
        <p:spPr>
          <a:xfrm>
            <a:off x="484632" y="273405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4</a:t>
            </a:r>
            <a:endParaRPr b="0" i="0" spc="0" sz="900" u="none" cap="none" strike="noStrike">
              <a:solidFill>
                <a:schemeClr val="dk1"/>
              </a:solidFill>
              <a:latin typeface="Calibri"/>
              <a:ea typeface="Calibri"/>
              <a:cs typeface="Calibri"/>
              <a:sym typeface="Calibri"/>
            </a:endParaRPr>
          </a:p>
        </p:txBody>
      </p:sp>
      <p:sp>
        <p:nvSpPr>
          <p:cNvPr id="2113" name="Google Shape;2113;p79"/>
          <p:cNvSpPr txBox="1"/>
          <p:nvPr/>
        </p:nvSpPr>
        <p:spPr>
          <a:xfrm>
            <a:off x="850392" y="2670048"/>
            <a:ext cx="379476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Charge upfront (FC Sales Calculator), book it</a:t>
            </a:r>
            <a:endParaRPr b="0" i="0" spc="0" sz="900" u="none" cap="none" strike="noStrike">
              <a:solidFill>
                <a:schemeClr val="dk1"/>
              </a:solidFill>
              <a:latin typeface="Calibri"/>
              <a:ea typeface="Calibri"/>
              <a:cs typeface="Calibri"/>
              <a:sym typeface="Calibri"/>
            </a:endParaRPr>
          </a:p>
        </p:txBody>
      </p:sp>
      <p:sp>
        <p:nvSpPr>
          <p:cNvPr id="2114" name="Google Shape;2114;p79"/>
          <p:cNvSpPr/>
          <p:nvPr/>
        </p:nvSpPr>
        <p:spPr>
          <a:xfrm>
            <a:off x="411480" y="3127248"/>
            <a:ext cx="4297680" cy="402336"/>
          </a:xfrm>
          <a:prstGeom prst="roundRect">
            <a:avLst>
              <a:gd fmla="val 1818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15" name="Google Shape;2115;p79"/>
          <p:cNvSpPr/>
          <p:nvPr/>
        </p:nvSpPr>
        <p:spPr>
          <a:xfrm>
            <a:off x="484632" y="3191256"/>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16" name="Google Shape;2116;p79"/>
          <p:cNvSpPr txBox="1"/>
          <p:nvPr/>
        </p:nvSpPr>
        <p:spPr>
          <a:xfrm>
            <a:off x="484632" y="319125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5</a:t>
            </a:r>
            <a:endParaRPr b="0" i="0" spc="0" sz="900" u="none" cap="none" strike="noStrike">
              <a:solidFill>
                <a:schemeClr val="dk1"/>
              </a:solidFill>
              <a:latin typeface="Calibri"/>
              <a:ea typeface="Calibri"/>
              <a:cs typeface="Calibri"/>
              <a:sym typeface="Calibri"/>
            </a:endParaRPr>
          </a:p>
        </p:txBody>
      </p:sp>
      <p:sp>
        <p:nvSpPr>
          <p:cNvPr id="2117" name="Google Shape;2117;p79"/>
          <p:cNvSpPr txBox="1"/>
          <p:nvPr/>
        </p:nvSpPr>
        <p:spPr>
          <a:xfrm>
            <a:off x="850392" y="3127248"/>
            <a:ext cx="379476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admin_courtesy voucher, no notification</a:t>
            </a:r>
            <a:endParaRPr b="0" i="0" spc="0" sz="900" u="none" cap="none" strike="noStrike">
              <a:solidFill>
                <a:schemeClr val="dk1"/>
              </a:solidFill>
              <a:latin typeface="Calibri"/>
              <a:ea typeface="Calibri"/>
              <a:cs typeface="Calibri"/>
              <a:sym typeface="Calibri"/>
            </a:endParaRPr>
          </a:p>
        </p:txBody>
      </p:sp>
      <p:sp>
        <p:nvSpPr>
          <p:cNvPr id="2118" name="Google Shape;2118;p79"/>
          <p:cNvSpPr/>
          <p:nvPr/>
        </p:nvSpPr>
        <p:spPr>
          <a:xfrm>
            <a:off x="411480" y="3584448"/>
            <a:ext cx="4297680" cy="402336"/>
          </a:xfrm>
          <a:prstGeom prst="roundRect">
            <a:avLst>
              <a:gd fmla="val 1818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19" name="Google Shape;2119;p79"/>
          <p:cNvSpPr/>
          <p:nvPr/>
        </p:nvSpPr>
        <p:spPr>
          <a:xfrm>
            <a:off x="484632" y="3648456"/>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20" name="Google Shape;2120;p79"/>
          <p:cNvSpPr txBox="1"/>
          <p:nvPr/>
        </p:nvSpPr>
        <p:spPr>
          <a:xfrm>
            <a:off x="484632" y="364845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6</a:t>
            </a:r>
            <a:endParaRPr b="0" i="0" spc="0" sz="900" u="none" cap="none" strike="noStrike">
              <a:solidFill>
                <a:schemeClr val="dk1"/>
              </a:solidFill>
              <a:latin typeface="Calibri"/>
              <a:ea typeface="Calibri"/>
              <a:cs typeface="Calibri"/>
              <a:sym typeface="Calibri"/>
            </a:endParaRPr>
          </a:p>
        </p:txBody>
      </p:sp>
      <p:sp>
        <p:nvSpPr>
          <p:cNvPr id="2121" name="Google Shape;2121;p79"/>
          <p:cNvSpPr txBox="1"/>
          <p:nvPr/>
        </p:nvSpPr>
        <p:spPr>
          <a:xfrm>
            <a:off x="850392" y="3584448"/>
            <a:ext cx="379476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Confirm: charged, booked, CP will confirm</a:t>
            </a:r>
            <a:endParaRPr b="0" i="0" spc="0" sz="900" u="none" cap="none" strike="noStrike">
              <a:solidFill>
                <a:schemeClr val="dk1"/>
              </a:solidFill>
              <a:latin typeface="Calibri"/>
              <a:ea typeface="Calibri"/>
              <a:cs typeface="Calibri"/>
              <a:sym typeface="Calibri"/>
            </a:endParaRPr>
          </a:p>
        </p:txBody>
      </p:sp>
      <p:graphicFrame>
        <p:nvGraphicFramePr>
          <p:cNvPr id="2122" name="Google Shape;2122;p79"/>
          <p:cNvGraphicFramePr/>
          <p:nvPr/>
        </p:nvGraphicFramePr>
        <p:xfrm>
          <a:off x="4846320" y="1298448"/>
          <a:ext cx="3000000" cy="3000000"/>
        </p:xfrm>
        <a:graphic>
          <a:graphicData uri="http://schemas.openxmlformats.org/drawingml/2006/table">
            <a:tbl>
              <a:tblPr>
                <a:noFill/>
                <a:tableStyleId>{8EFC85C5-4764-4BF5-A5AE-CCAC02DEFFEE}</a:tableStyleId>
              </a:tblPr>
              <a:tblGrid>
                <a:gridCol w="1828800"/>
                <a:gridCol w="2057400"/>
              </a:tblGrid>
              <a:tr h="292600">
                <a:tc>
                  <a:txBody>
                    <a:bodyPr/>
                    <a:lstStyle/>
                    <a:p>
                      <a:pPr indent="0" lvl="0" marL="0" marR="0" rtl="0" algn="l">
                        <a:lnSpc>
                          <a:spcPct val="100000"/>
                        </a:lnSpc>
                        <a:spcBef>
                          <a:spcPts val="0"/>
                        </a:spcBef>
                        <a:spcAft>
                          <a:spcPts val="0"/>
                        </a:spcAft>
                        <a:buClr>
                          <a:srgbClr val="0B7A6F"/>
                        </a:buClr>
                        <a:buSzPts val="900"/>
                        <a:buFont typeface="Play"/>
                        <a:buNone/>
                      </a:pPr>
                      <a:r>
                        <a:rPr b="1" lang="en-US" spc="0" sz="900" u="none" cap="none" strike="noStrike">
                          <a:solidFill>
                            <a:srgbClr val="0B7A6F"/>
                          </a:solidFill>
                          <a:latin typeface="Play"/>
                          <a:ea typeface="Play"/>
                          <a:cs typeface="Play"/>
                          <a:sym typeface="Play"/>
                        </a:rPr>
                        <a:t>Existing FC table</a:t>
                      </a:r>
                      <a:endParaRPr spc="0"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US" spc="0" sz="900" u="none" cap="none" strike="noStrike">
                          <a:solidFill>
                            <a:srgbClr val="0B7A6F"/>
                          </a:solidFill>
                          <a:latin typeface="Play"/>
                          <a:ea typeface="Play"/>
                          <a:cs typeface="Play"/>
                          <a:sym typeface="Play"/>
                        </a:rPr>
                        <a:t>Do</a:t>
                      </a:r>
                      <a:endParaRPr spc="0"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lang="en-US" spc="0" sz="900" u="none" cap="none" strike="noStrike">
                          <a:solidFill>
                            <a:srgbClr val="1D1D1F"/>
                          </a:solidFill>
                          <a:latin typeface="Arial"/>
                          <a:ea typeface="Arial"/>
                          <a:cs typeface="Arial"/>
                          <a:sym typeface="Arial"/>
                        </a:rPr>
                        <a:t>OTC (DHJ or FCF)</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B7A6F"/>
                        </a:buClr>
                        <a:buSzPts val="900"/>
                        <a:buFont typeface="Arial"/>
                        <a:buNone/>
                      </a:pPr>
                      <a:r>
                        <a:rPr b="1" lang="en-US" spc="0" sz="900" u="none" cap="none" strike="noStrike">
                          <a:solidFill>
                            <a:srgbClr val="0B7A6F"/>
                          </a:solidFill>
                          <a:latin typeface="Arial"/>
                          <a:ea typeface="Arial"/>
                          <a:cs typeface="Arial"/>
                          <a:sym typeface="Arial"/>
                        </a:rPr>
                        <a:t>Deactivate it</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lang="en-US" spc="0" sz="900" u="none" cap="none" strike="noStrike">
                          <a:solidFill>
                            <a:srgbClr val="1D1D1F"/>
                          </a:solidFill>
                          <a:latin typeface="Arial"/>
                          <a:ea typeface="Arial"/>
                          <a:cs typeface="Arial"/>
                          <a:sym typeface="Arial"/>
                        </a:rPr>
                        <a:t>DHJ Trial</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B7A6F"/>
                        </a:buClr>
                        <a:buSzPts val="900"/>
                        <a:buFont typeface="Arial"/>
                        <a:buNone/>
                      </a:pPr>
                      <a:r>
                        <a:rPr b="1" lang="en-US" spc="0" sz="900" u="none" cap="none" strike="noStrike">
                          <a:solidFill>
                            <a:srgbClr val="0B7A6F"/>
                          </a:solidFill>
                          <a:latin typeface="Arial"/>
                          <a:ea typeface="Arial"/>
                          <a:cs typeface="Arial"/>
                          <a:sym typeface="Arial"/>
                        </a:rPr>
                        <a:t>Leave it as is</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lang="en-US" spc="0" sz="900" u="none" cap="none" strike="noStrike">
                          <a:solidFill>
                            <a:srgbClr val="1D1D1F"/>
                          </a:solidFill>
                          <a:latin typeface="Arial"/>
                          <a:ea typeface="Arial"/>
                          <a:cs typeface="Arial"/>
                          <a:sym typeface="Arial"/>
                        </a:rPr>
                        <a:t>FCF Trial</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B7A6F"/>
                        </a:buClr>
                        <a:buSzPts val="900"/>
                        <a:buFont typeface="Arial"/>
                        <a:buNone/>
                      </a:pPr>
                      <a:r>
                        <a:rPr b="1" lang="en-US" spc="0" sz="900" u="none" cap="none" strike="noStrike">
                          <a:solidFill>
                            <a:srgbClr val="0B7A6F"/>
                          </a:solidFill>
                          <a:latin typeface="Arial"/>
                          <a:ea typeface="Arial"/>
                          <a:cs typeface="Arial"/>
                          <a:sym typeface="Arial"/>
                        </a:rPr>
                        <a:t>Deactivate, then force</a:t>
                      </a:r>
                      <a:endParaRPr spc="0"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2123" name="Google Shape;2123;p79"/>
          <p:cNvSpPr/>
          <p:nvPr/>
        </p:nvSpPr>
        <p:spPr>
          <a:xfrm>
            <a:off x="4846320" y="2697480"/>
            <a:ext cx="3886200" cy="1417320"/>
          </a:xfrm>
          <a:prstGeom prst="roundRect">
            <a:avLst>
              <a:gd fmla="val 5161"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24" name="Google Shape;2124;p79"/>
          <p:cNvSpPr/>
          <p:nvPr/>
        </p:nvSpPr>
        <p:spPr>
          <a:xfrm>
            <a:off x="4846320" y="2697480"/>
            <a:ext cx="388620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Trial only</a:t>
            </a:r>
            <a:endParaRPr b="0" i="0" spc="0" sz="1050" u="none" cap="none" strike="noStrike">
              <a:solidFill>
                <a:schemeClr val="dk1"/>
              </a:solidFill>
              <a:latin typeface="Calibri"/>
              <a:ea typeface="Calibri"/>
              <a:cs typeface="Calibri"/>
              <a:sym typeface="Calibri"/>
            </a:endParaRPr>
          </a:p>
        </p:txBody>
      </p:sp>
      <p:sp>
        <p:nvSpPr>
          <p:cNvPr id="2125" name="Google Shape;2125;p79"/>
          <p:cNvSpPr txBox="1"/>
          <p:nvPr/>
        </p:nvSpPr>
        <p:spPr>
          <a:xfrm>
            <a:off x="5010912" y="3136392"/>
            <a:ext cx="3557016" cy="90525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Legacy CRM voucher: "ForeverClean force" + "1 free month"</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FCF: add them to the FC table</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Update the ETF to $99</a:t>
            </a:r>
            <a:endParaRPr b="0" i="0" spc="0" sz="900" u="none" cap="none" strike="noStrike">
              <a:solidFill>
                <a:schemeClr val="dk1"/>
              </a:solidFill>
              <a:latin typeface="Calibri"/>
              <a:ea typeface="Calibri"/>
              <a:cs typeface="Calibri"/>
              <a:sym typeface="Calibri"/>
            </a:endParaRPr>
          </a:p>
        </p:txBody>
      </p:sp>
      <p:sp>
        <p:nvSpPr>
          <p:cNvPr id="2126" name="Google Shape;2126;p7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1" name="Shape 2131"/>
        <p:cNvGrpSpPr/>
        <p:nvPr/>
      </p:nvGrpSpPr>
      <p:grpSpPr>
        <a:xfrm>
          <a:off x="0" y="0"/>
          <a:ext cx="0" cy="0"/>
          <a:chOff x="0" y="0"/>
          <a:chExt cx="0" cy="0"/>
        </a:xfrm>
      </p:grpSpPr>
      <p:sp>
        <p:nvSpPr>
          <p:cNvPr id="2132" name="Google Shape;2132;p8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TRIAL &amp; ONE-TIME CLEANING</a:t>
            </a:r>
            <a:endParaRPr b="0" i="0" spc="0" sz="800" u="none" cap="none" strike="noStrike">
              <a:solidFill>
                <a:schemeClr val="dk1"/>
              </a:solidFill>
              <a:latin typeface="Calibri"/>
              <a:ea typeface="Calibri"/>
              <a:cs typeface="Calibri"/>
              <a:sym typeface="Calibri"/>
            </a:endParaRPr>
          </a:p>
        </p:txBody>
      </p:sp>
      <p:sp>
        <p:nvSpPr>
          <p:cNvPr id="2133" name="Google Shape;2133;p8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They decline the offer</a:t>
            </a:r>
            <a:endParaRPr b="0" i="0" spc="0" sz="2400" u="none" cap="none" strike="noStrike">
              <a:solidFill>
                <a:schemeClr val="dk1"/>
              </a:solidFill>
              <a:latin typeface="Calibri"/>
              <a:ea typeface="Calibri"/>
              <a:cs typeface="Calibri"/>
              <a:sym typeface="Calibri"/>
            </a:endParaRPr>
          </a:p>
        </p:txBody>
      </p:sp>
      <p:sp>
        <p:nvSpPr>
          <p:cNvPr id="2134" name="Google Shape;2134;p8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Refund what they're owed and close things out.</a:t>
            </a:r>
            <a:endParaRPr b="0" i="0" spc="0" sz="1200" u="none" cap="none" strike="noStrike">
              <a:solidFill>
                <a:schemeClr val="dk1"/>
              </a:solidFill>
              <a:latin typeface="Calibri"/>
              <a:ea typeface="Calibri"/>
              <a:cs typeface="Calibri"/>
              <a:sym typeface="Calibri"/>
            </a:endParaRPr>
          </a:p>
        </p:txBody>
      </p:sp>
      <p:sp>
        <p:nvSpPr>
          <p:cNvPr id="2135" name="Google Shape;2135;p80"/>
          <p:cNvSpPr/>
          <p:nvPr/>
        </p:nvSpPr>
        <p:spPr>
          <a:xfrm>
            <a:off x="411480" y="1325880"/>
            <a:ext cx="26822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36" name="Google Shape;2136;p80"/>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137" name="Google Shape;2137;p80"/>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2138" name="Google Shape;2138;p80"/>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Refund</a:t>
            </a:r>
            <a:endParaRPr b="0" i="0" spc="0" sz="1200" u="none" cap="none" strike="noStrike">
              <a:solidFill>
                <a:schemeClr val="dk1"/>
              </a:solidFill>
              <a:latin typeface="Calibri"/>
              <a:ea typeface="Calibri"/>
              <a:cs typeface="Calibri"/>
              <a:sym typeface="Calibri"/>
            </a:endParaRPr>
          </a:p>
        </p:txBody>
      </p:sp>
      <p:sp>
        <p:nvSpPr>
          <p:cNvPr id="2139" name="Google Shape;2139;p80"/>
          <p:cNvSpPr txBox="1"/>
          <p:nvPr/>
        </p:nvSpPr>
        <p:spPr>
          <a:xfrm>
            <a:off x="576072" y="2221992"/>
            <a:ext cx="235305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DHJ: within 1 year, refund via CRM and invalidate. FCF: use the pre-invoice cheat sheet.</a:t>
            </a:r>
            <a:endParaRPr b="0" i="0" spc="0" sz="950" u="none" cap="none" strike="noStrike">
              <a:solidFill>
                <a:schemeClr val="dk1"/>
              </a:solidFill>
              <a:latin typeface="Calibri"/>
              <a:ea typeface="Calibri"/>
              <a:cs typeface="Calibri"/>
              <a:sym typeface="Calibri"/>
            </a:endParaRPr>
          </a:p>
        </p:txBody>
      </p:sp>
      <p:sp>
        <p:nvSpPr>
          <p:cNvPr id="2140" name="Google Shape;2140;p80"/>
          <p:cNvSpPr/>
          <p:nvPr/>
        </p:nvSpPr>
        <p:spPr>
          <a:xfrm>
            <a:off x="3230880" y="1325880"/>
            <a:ext cx="26822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41" name="Google Shape;2141;p80"/>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142" name="Google Shape;2142;p80"/>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2143" name="Google Shape;2143;p80"/>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Deactivate the FC table</a:t>
            </a:r>
            <a:endParaRPr b="0" i="0" spc="0" sz="1200" u="none" cap="none" strike="noStrike">
              <a:solidFill>
                <a:schemeClr val="dk1"/>
              </a:solidFill>
              <a:latin typeface="Calibri"/>
              <a:ea typeface="Calibri"/>
              <a:cs typeface="Calibri"/>
              <a:sym typeface="Calibri"/>
            </a:endParaRPr>
          </a:p>
        </p:txBody>
      </p:sp>
      <p:sp>
        <p:nvSpPr>
          <p:cNvPr id="2144" name="Google Shape;2144;p80"/>
          <p:cNvSpPr txBox="1"/>
          <p:nvPr/>
        </p:nvSpPr>
        <p:spPr>
          <a:xfrm>
            <a:off x="3395472" y="2221992"/>
            <a:ext cx="235305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In every case: DHJ or FCF, TC or OTC.</a:t>
            </a:r>
            <a:endParaRPr b="0" i="0" spc="0" sz="950" u="none" cap="none" strike="noStrike">
              <a:solidFill>
                <a:schemeClr val="dk1"/>
              </a:solidFill>
              <a:latin typeface="Calibri"/>
              <a:ea typeface="Calibri"/>
              <a:cs typeface="Calibri"/>
              <a:sym typeface="Calibri"/>
            </a:endParaRPr>
          </a:p>
        </p:txBody>
      </p:sp>
      <p:sp>
        <p:nvSpPr>
          <p:cNvPr id="2145" name="Google Shape;2145;p80"/>
          <p:cNvSpPr/>
          <p:nvPr/>
        </p:nvSpPr>
        <p:spPr>
          <a:xfrm>
            <a:off x="6050280" y="1325880"/>
            <a:ext cx="26822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46" name="Google Shape;2146;p80"/>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147" name="Google Shape;2147;p80"/>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2148" name="Google Shape;2148;p80"/>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US" spc="0" sz="1200" u="none" cap="none" strike="noStrike">
                <a:solidFill>
                  <a:srgbClr val="1D1D1F"/>
                </a:solidFill>
                <a:latin typeface="Play"/>
                <a:ea typeface="Play"/>
                <a:cs typeface="Play"/>
                <a:sym typeface="Play"/>
              </a:rPr>
              <a:t>Closing the account?</a:t>
            </a:r>
            <a:endParaRPr b="0" i="0" spc="0" sz="1200" u="none" cap="none" strike="noStrike">
              <a:solidFill>
                <a:schemeClr val="dk1"/>
              </a:solidFill>
              <a:latin typeface="Calibri"/>
              <a:ea typeface="Calibri"/>
              <a:cs typeface="Calibri"/>
              <a:sym typeface="Calibri"/>
            </a:endParaRPr>
          </a:p>
        </p:txBody>
      </p:sp>
      <p:sp>
        <p:nvSpPr>
          <p:cNvPr id="2149" name="Google Shape;2149;p80"/>
          <p:cNvSpPr txBox="1"/>
          <p:nvPr/>
        </p:nvSpPr>
        <p:spPr>
          <a:xfrm>
            <a:off x="6214872" y="2221992"/>
            <a:ext cx="235305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US" spc="0" sz="950" u="none" cap="none" strike="noStrike">
                <a:solidFill>
                  <a:srgbClr val="6E6E73"/>
                </a:solidFill>
                <a:latin typeface="Arial"/>
                <a:ea typeface="Arial"/>
                <a:cs typeface="Arial"/>
                <a:sym typeface="Arial"/>
              </a:rPr>
              <a:t>Send comms first, then deactivate the CRM account.</a:t>
            </a:r>
            <a:endParaRPr b="0" i="0" spc="0" sz="950" u="none" cap="none" strike="noStrike">
              <a:solidFill>
                <a:schemeClr val="dk1"/>
              </a:solidFill>
              <a:latin typeface="Calibri"/>
              <a:ea typeface="Calibri"/>
              <a:cs typeface="Calibri"/>
              <a:sym typeface="Calibri"/>
            </a:endParaRPr>
          </a:p>
        </p:txBody>
      </p:sp>
      <p:sp>
        <p:nvSpPr>
          <p:cNvPr id="2150" name="Google Shape;2150;p80"/>
          <p:cNvSpPr/>
          <p:nvPr/>
        </p:nvSpPr>
        <p:spPr>
          <a:xfrm>
            <a:off x="411480" y="315468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151" name="Google Shape;2151;p80"/>
          <p:cNvPicPr preferRelativeResize="0"/>
          <p:nvPr/>
        </p:nvPicPr>
        <p:blipFill rotWithShape="1">
          <a:blip r:embed="rId6">
            <a:alphaModFix/>
          </a:blip>
          <a:srcRect b="0" l="0" r="0" t="0"/>
          <a:stretch/>
        </p:blipFill>
        <p:spPr>
          <a:xfrm>
            <a:off x="566928" y="3264408"/>
            <a:ext cx="164592" cy="164592"/>
          </a:xfrm>
          <a:prstGeom prst="rect">
            <a:avLst/>
          </a:prstGeom>
          <a:noFill/>
          <a:ln>
            <a:noFill/>
          </a:ln>
        </p:spPr>
      </p:pic>
      <p:sp>
        <p:nvSpPr>
          <p:cNvPr id="2152" name="Google Shape;2152;p80"/>
          <p:cNvSpPr txBox="1"/>
          <p:nvPr/>
        </p:nvSpPr>
        <p:spPr>
          <a:xfrm>
            <a:off x="822960" y="325526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DHJ refund:  </a:t>
            </a:r>
            <a:r>
              <a:rPr b="0" i="0" lang="en-US" spc="0" sz="1000" u="none" cap="none" strike="noStrike">
                <a:solidFill>
                  <a:srgbClr val="1D1D1F"/>
                </a:solidFill>
                <a:latin typeface="Arial"/>
                <a:ea typeface="Arial"/>
                <a:cs typeface="Arial"/>
                <a:sym typeface="Arial"/>
              </a:rPr>
              <a:t>tell them it's processed and takes 5–10 business days.</a:t>
            </a:r>
            <a:endParaRPr b="0" i="0" spc="0" sz="1000" u="none" cap="none" strike="noStrike">
              <a:solidFill>
                <a:schemeClr val="dk1"/>
              </a:solidFill>
              <a:latin typeface="Calibri"/>
              <a:ea typeface="Calibri"/>
              <a:cs typeface="Calibri"/>
              <a:sym typeface="Calibri"/>
            </a:endParaRPr>
          </a:p>
        </p:txBody>
      </p:sp>
      <p:sp>
        <p:nvSpPr>
          <p:cNvPr id="2153" name="Google Shape;2153;p8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8" name="Shape 2158"/>
        <p:cNvGrpSpPr/>
        <p:nvPr/>
      </p:nvGrpSpPr>
      <p:grpSpPr>
        <a:xfrm>
          <a:off x="0" y="0"/>
          <a:ext cx="0" cy="0"/>
          <a:chOff x="0" y="0"/>
          <a:chExt cx="0" cy="0"/>
        </a:xfrm>
      </p:grpSpPr>
      <p:sp>
        <p:nvSpPr>
          <p:cNvPr id="2159" name="Google Shape;2159;p8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TRIAL &amp; ONE-TIME CLEANING</a:t>
            </a:r>
            <a:endParaRPr b="0" i="0" spc="0" sz="800" u="none" cap="none" strike="noStrike">
              <a:solidFill>
                <a:schemeClr val="dk1"/>
              </a:solidFill>
              <a:latin typeface="Calibri"/>
              <a:ea typeface="Calibri"/>
              <a:cs typeface="Calibri"/>
              <a:sym typeface="Calibri"/>
            </a:endParaRPr>
          </a:p>
        </p:txBody>
      </p:sp>
      <p:sp>
        <p:nvSpPr>
          <p:cNvPr id="2160" name="Google Shape;2160;p8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Cancelling a TC or OTC</a:t>
            </a:r>
            <a:endParaRPr b="0" i="0" spc="0" sz="2400" u="none" cap="none" strike="noStrike">
              <a:solidFill>
                <a:schemeClr val="dk1"/>
              </a:solidFill>
              <a:latin typeface="Calibri"/>
              <a:ea typeface="Calibri"/>
              <a:cs typeface="Calibri"/>
              <a:sym typeface="Calibri"/>
            </a:endParaRPr>
          </a:p>
        </p:txBody>
      </p:sp>
      <p:sp>
        <p:nvSpPr>
          <p:cNvPr id="2161" name="Google Shape;2161;p8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Changed their mind, or we let them down?</a:t>
            </a:r>
            <a:endParaRPr b="0" i="0" spc="0" sz="1200" u="none" cap="none" strike="noStrike">
              <a:solidFill>
                <a:schemeClr val="dk1"/>
              </a:solidFill>
              <a:latin typeface="Calibri"/>
              <a:ea typeface="Calibri"/>
              <a:cs typeface="Calibri"/>
              <a:sym typeface="Calibri"/>
            </a:endParaRPr>
          </a:p>
        </p:txBody>
      </p:sp>
      <p:sp>
        <p:nvSpPr>
          <p:cNvPr id="2162" name="Google Shape;2162;p81"/>
          <p:cNvSpPr/>
          <p:nvPr/>
        </p:nvSpPr>
        <p:spPr>
          <a:xfrm>
            <a:off x="411480" y="1325880"/>
            <a:ext cx="2697480" cy="2514600"/>
          </a:xfrm>
          <a:prstGeom prst="roundRect">
            <a:avLst>
              <a:gd fmla="val 2909"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63" name="Google Shape;2163;p81"/>
          <p:cNvSpPr/>
          <p:nvPr/>
        </p:nvSpPr>
        <p:spPr>
          <a:xfrm>
            <a:off x="411480" y="1325880"/>
            <a:ext cx="26974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Changed their mind</a:t>
            </a:r>
            <a:endParaRPr b="0" i="0" spc="0" sz="1050" u="none" cap="none" strike="noStrike">
              <a:solidFill>
                <a:schemeClr val="dk1"/>
              </a:solidFill>
              <a:latin typeface="Calibri"/>
              <a:ea typeface="Calibri"/>
              <a:cs typeface="Calibri"/>
              <a:sym typeface="Calibri"/>
            </a:endParaRPr>
          </a:p>
        </p:txBody>
      </p:sp>
      <p:sp>
        <p:nvSpPr>
          <p:cNvPr id="2164" name="Google Shape;2164;p81"/>
          <p:cNvSpPr txBox="1"/>
          <p:nvPr/>
        </p:nvSpPr>
        <p:spPr>
          <a:xfrm>
            <a:off x="576072" y="1764792"/>
            <a:ext cx="2368296" cy="20025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Full admin refund</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Invalidate the voucher</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Trial? Cancel the FC table too</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Check the appointment is cancelled</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No reason given? Probe</a:t>
            </a:r>
            <a:endParaRPr b="0" i="0" spc="0" sz="900" u="none" cap="none" strike="noStrike">
              <a:solidFill>
                <a:schemeClr val="dk1"/>
              </a:solidFill>
              <a:latin typeface="Calibri"/>
              <a:ea typeface="Calibri"/>
              <a:cs typeface="Calibri"/>
              <a:sym typeface="Calibri"/>
            </a:endParaRPr>
          </a:p>
        </p:txBody>
      </p:sp>
      <p:sp>
        <p:nvSpPr>
          <p:cNvPr id="2165" name="Google Shape;2165;p81"/>
          <p:cNvSpPr/>
          <p:nvPr/>
        </p:nvSpPr>
        <p:spPr>
          <a:xfrm>
            <a:off x="3223260" y="1325880"/>
            <a:ext cx="2697480" cy="2514600"/>
          </a:xfrm>
          <a:prstGeom prst="roundRect">
            <a:avLst>
              <a:gd fmla="val 2909" name="adj"/>
            </a:avLst>
          </a:prstGeom>
          <a:solidFill>
            <a:srgbClr val="FCEBEA"/>
          </a:solidFill>
          <a:ln cap="flat" cmpd="sng" w="95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66" name="Google Shape;2166;p81"/>
          <p:cNvSpPr/>
          <p:nvPr/>
        </p:nvSpPr>
        <p:spPr>
          <a:xfrm>
            <a:off x="3223260" y="1325880"/>
            <a:ext cx="2697480" cy="329184"/>
          </a:xfrm>
          <a:prstGeom prst="roundRect">
            <a:avLst>
              <a:gd fmla="val 16667" name="adj"/>
            </a:avLst>
          </a:prstGeom>
          <a:solidFill>
            <a:srgbClr val="B3261E"/>
          </a:solidFill>
          <a:ln cap="flat" cmpd="sng" w="12700">
            <a:solidFill>
              <a:srgbClr val="B3261E"/>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We let them down</a:t>
            </a:r>
            <a:endParaRPr b="0" i="0" spc="0" sz="1050" u="none" cap="none" strike="noStrike">
              <a:solidFill>
                <a:schemeClr val="dk1"/>
              </a:solidFill>
              <a:latin typeface="Calibri"/>
              <a:ea typeface="Calibri"/>
              <a:cs typeface="Calibri"/>
              <a:sym typeface="Calibri"/>
            </a:endParaRPr>
          </a:p>
        </p:txBody>
      </p:sp>
      <p:sp>
        <p:nvSpPr>
          <p:cNvPr id="2167" name="Google Shape;2167;p81"/>
          <p:cNvSpPr txBox="1"/>
          <p:nvPr/>
        </p:nvSpPr>
        <p:spPr>
          <a:xfrm>
            <a:off x="3387852" y="1764792"/>
            <a:ext cx="2368296" cy="20025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Same refund steps</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Acknowledge: it wasn't on them</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Block the pairing, coach the CP</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Offer a reliable cleaner</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$10–$25 credits or a free hour</a:t>
            </a:r>
            <a:endParaRPr b="0" i="0" spc="0" sz="900" u="none" cap="none" strike="noStrike">
              <a:solidFill>
                <a:schemeClr val="dk1"/>
              </a:solidFill>
              <a:latin typeface="Calibri"/>
              <a:ea typeface="Calibri"/>
              <a:cs typeface="Calibri"/>
              <a:sym typeface="Calibri"/>
            </a:endParaRPr>
          </a:p>
        </p:txBody>
      </p:sp>
      <p:sp>
        <p:nvSpPr>
          <p:cNvPr id="2168" name="Google Shape;2168;p81"/>
          <p:cNvSpPr/>
          <p:nvPr/>
        </p:nvSpPr>
        <p:spPr>
          <a:xfrm>
            <a:off x="6035040" y="1325880"/>
            <a:ext cx="2697480" cy="2514600"/>
          </a:xfrm>
          <a:prstGeom prst="roundRect">
            <a:avLst>
              <a:gd fmla="val 2909" name="adj"/>
            </a:avLst>
          </a:prstGeom>
          <a:solidFill>
            <a:srgbClr val="FFF3D6"/>
          </a:solidFill>
          <a:ln cap="flat" cmpd="sng" w="9525">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69" name="Google Shape;2169;p81"/>
          <p:cNvSpPr/>
          <p:nvPr/>
        </p:nvSpPr>
        <p:spPr>
          <a:xfrm>
            <a:off x="6035040" y="1325880"/>
            <a:ext cx="2697480" cy="329184"/>
          </a:xfrm>
          <a:prstGeom prst="roundRect">
            <a:avLst>
              <a:gd fmla="val 16667" name="adj"/>
            </a:avLst>
          </a:prstGeom>
          <a:solidFill>
            <a:srgbClr val="9A6410"/>
          </a:solidFill>
          <a:ln cap="flat" cmpd="sng" w="12700">
            <a:solidFill>
              <a:srgbClr val="9A641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Trial done, within 30 days</a:t>
            </a:r>
            <a:endParaRPr b="0" i="0" spc="0" sz="1050" u="none" cap="none" strike="noStrike">
              <a:solidFill>
                <a:schemeClr val="dk1"/>
              </a:solidFill>
              <a:latin typeface="Calibri"/>
              <a:ea typeface="Calibri"/>
              <a:cs typeface="Calibri"/>
              <a:sym typeface="Calibri"/>
            </a:endParaRPr>
          </a:p>
        </p:txBody>
      </p:sp>
      <p:sp>
        <p:nvSpPr>
          <p:cNvPr id="2170" name="Google Shape;2170;p81"/>
          <p:cNvSpPr txBox="1"/>
          <p:nvPr/>
        </p:nvSpPr>
        <p:spPr>
          <a:xfrm>
            <a:off x="6199632" y="1764792"/>
            <a:ext cx="2368296" cy="200253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Cancel FC. No ETF</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Whatever the reason</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Bad cleaning? Still cancel</a:t>
            </a:r>
            <a:endParaRPr b="0" i="0" spc="0" sz="90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00"/>
              <a:buFont typeface="Arial"/>
              <a:buChar char="•"/>
            </a:pPr>
            <a:r>
              <a:rPr b="0" i="0" lang="en-US" spc="0" sz="900" u="none" cap="none" strike="noStrike">
                <a:solidFill>
                  <a:srgbClr val="1D1D1F"/>
                </a:solidFill>
                <a:latin typeface="Arial"/>
                <a:ea typeface="Arial"/>
                <a:cs typeface="Arial"/>
                <a:sym typeface="Arial"/>
              </a:rPr>
              <a:t>Open to it? New cleaner + ~$20 credits</a:t>
            </a:r>
            <a:endParaRPr b="0" i="0" spc="0" sz="900" u="none" cap="none" strike="noStrike">
              <a:solidFill>
                <a:schemeClr val="dk1"/>
              </a:solidFill>
              <a:latin typeface="Calibri"/>
              <a:ea typeface="Calibri"/>
              <a:cs typeface="Calibri"/>
              <a:sym typeface="Calibri"/>
            </a:endParaRPr>
          </a:p>
        </p:txBody>
      </p:sp>
      <p:sp>
        <p:nvSpPr>
          <p:cNvPr id="2171" name="Google Shape;2171;p81"/>
          <p:cNvSpPr/>
          <p:nvPr/>
        </p:nvSpPr>
        <p:spPr>
          <a:xfrm>
            <a:off x="411480" y="40233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172" name="Google Shape;2172;p81"/>
          <p:cNvPicPr preferRelativeResize="0"/>
          <p:nvPr/>
        </p:nvPicPr>
        <p:blipFill rotWithShape="1">
          <a:blip r:embed="rId3">
            <a:alphaModFix/>
          </a:blip>
          <a:srcRect b="0" l="0" r="0" t="0"/>
          <a:stretch/>
        </p:blipFill>
        <p:spPr>
          <a:xfrm>
            <a:off x="566928" y="4133088"/>
            <a:ext cx="164592" cy="164592"/>
          </a:xfrm>
          <a:prstGeom prst="rect">
            <a:avLst/>
          </a:prstGeom>
          <a:noFill/>
          <a:ln>
            <a:noFill/>
          </a:ln>
        </p:spPr>
      </p:pic>
      <p:sp>
        <p:nvSpPr>
          <p:cNvPr id="2173" name="Google Shape;2173;p81"/>
          <p:cNvSpPr txBox="1"/>
          <p:nvPr/>
        </p:nvSpPr>
        <p:spPr>
          <a:xfrm>
            <a:off x="822960" y="41239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Coming back to try again?  </a:t>
            </a:r>
            <a:r>
              <a:rPr b="0" i="0" lang="en-US" spc="0" sz="1000" u="none" cap="none" strike="noStrike">
                <a:solidFill>
                  <a:srgbClr val="1D1D1F"/>
                </a:solidFill>
                <a:latin typeface="Arial"/>
                <a:ea typeface="Arial"/>
                <a:cs typeface="Arial"/>
                <a:sym typeface="Arial"/>
              </a:rPr>
              <a:t>don't charge upfront again. Just help them book.</a:t>
            </a:r>
            <a:endParaRPr b="0" i="0" spc="0" sz="1000" u="none" cap="none" strike="noStrike">
              <a:solidFill>
                <a:schemeClr val="dk1"/>
              </a:solidFill>
              <a:latin typeface="Calibri"/>
              <a:ea typeface="Calibri"/>
              <a:cs typeface="Calibri"/>
              <a:sym typeface="Calibri"/>
            </a:endParaRPr>
          </a:p>
        </p:txBody>
      </p:sp>
      <p:sp>
        <p:nvSpPr>
          <p:cNvPr id="2174" name="Google Shape;2174;p8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9" name="Shape 2179"/>
        <p:cNvGrpSpPr/>
        <p:nvPr/>
      </p:nvGrpSpPr>
      <p:grpSpPr>
        <a:xfrm>
          <a:off x="0" y="0"/>
          <a:ext cx="0" cy="0"/>
          <a:chOff x="0" y="0"/>
          <a:chExt cx="0" cy="0"/>
        </a:xfrm>
      </p:grpSpPr>
      <p:sp>
        <p:nvSpPr>
          <p:cNvPr id="2180" name="Google Shape;2180;p8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TRIAL &amp; ONE-TIME CLEANING</a:t>
            </a:r>
            <a:endParaRPr b="0" i="0" spc="0" sz="800" u="none" cap="none" strike="noStrike">
              <a:solidFill>
                <a:schemeClr val="dk1"/>
              </a:solidFill>
              <a:latin typeface="Calibri"/>
              <a:ea typeface="Calibri"/>
              <a:cs typeface="Calibri"/>
              <a:sym typeface="Calibri"/>
            </a:endParaRPr>
          </a:p>
        </p:txBody>
      </p:sp>
      <p:sp>
        <p:nvSpPr>
          <p:cNvPr id="2181" name="Google Shape;2181;p8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Only part of the cleaning was done</a:t>
            </a:r>
            <a:endParaRPr b="0" i="0" spc="0" sz="2400" u="none" cap="none" strike="noStrike">
              <a:solidFill>
                <a:schemeClr val="dk1"/>
              </a:solidFill>
              <a:latin typeface="Calibri"/>
              <a:ea typeface="Calibri"/>
              <a:cs typeface="Calibri"/>
              <a:sym typeface="Calibri"/>
            </a:endParaRPr>
          </a:p>
        </p:txBody>
      </p:sp>
      <p:sp>
        <p:nvSpPr>
          <p:cNvPr id="2182" name="Google Shape;2182;p8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They don't know the voucher exists. They expect real money back.</a:t>
            </a:r>
            <a:endParaRPr b="0" i="0" spc="0" sz="1200" u="none" cap="none" strike="noStrike">
              <a:solidFill>
                <a:schemeClr val="dk1"/>
              </a:solidFill>
              <a:latin typeface="Calibri"/>
              <a:ea typeface="Calibri"/>
              <a:cs typeface="Calibri"/>
              <a:sym typeface="Calibri"/>
            </a:endParaRPr>
          </a:p>
        </p:txBody>
      </p:sp>
      <p:sp>
        <p:nvSpPr>
          <p:cNvPr id="2183" name="Google Shape;2183;p82"/>
          <p:cNvSpPr/>
          <p:nvPr/>
        </p:nvSpPr>
        <p:spPr>
          <a:xfrm>
            <a:off x="411480" y="1325880"/>
            <a:ext cx="4069080" cy="1417320"/>
          </a:xfrm>
          <a:prstGeom prst="roundRect">
            <a:avLst>
              <a:gd fmla="val 5161" name="adj"/>
            </a:avLst>
          </a:prstGeom>
          <a:solidFill>
            <a:srgbClr val="E3F4F1"/>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84" name="Google Shape;2184;p82"/>
          <p:cNvSpPr/>
          <p:nvPr/>
        </p:nvSpPr>
        <p:spPr>
          <a:xfrm>
            <a:off x="411480" y="1325880"/>
            <a:ext cx="4069080" cy="329184"/>
          </a:xfrm>
          <a:prstGeom prst="roundRect">
            <a:avLst>
              <a:gd fmla="val 16667" name="adj"/>
            </a:avLst>
          </a:prstGeom>
          <a:solidFill>
            <a:srgbClr val="0B7A6F"/>
          </a:solidFill>
          <a:ln cap="flat" cmpd="sng" w="12700">
            <a:solidFill>
              <a:srgbClr val="0B7A6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CP already refunded (as a voucher)</a:t>
            </a:r>
            <a:endParaRPr b="0" i="0" spc="0" sz="1050" u="none" cap="none" strike="noStrike">
              <a:solidFill>
                <a:schemeClr val="dk1"/>
              </a:solidFill>
              <a:latin typeface="Calibri"/>
              <a:ea typeface="Calibri"/>
              <a:cs typeface="Calibri"/>
              <a:sym typeface="Calibri"/>
            </a:endParaRPr>
          </a:p>
        </p:txBody>
      </p:sp>
      <p:sp>
        <p:nvSpPr>
          <p:cNvPr id="2185" name="Google Shape;2185;p82"/>
          <p:cNvSpPr txBox="1"/>
          <p:nvPr/>
        </p:nvSpPr>
        <p:spPr>
          <a:xfrm>
            <a:off x="576072" y="1764792"/>
            <a:ext cx="3739896" cy="90525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Invalidate that voucher</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Admin refund the matching amount</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E.g. $252 for 4 hrs, 1 hr back = $63</a:t>
            </a:r>
            <a:endParaRPr b="0" i="0" spc="0" sz="950" u="none" cap="none" strike="noStrike">
              <a:solidFill>
                <a:schemeClr val="dk1"/>
              </a:solidFill>
              <a:latin typeface="Calibri"/>
              <a:ea typeface="Calibri"/>
              <a:cs typeface="Calibri"/>
              <a:sym typeface="Calibri"/>
            </a:endParaRPr>
          </a:p>
        </p:txBody>
      </p:sp>
      <p:sp>
        <p:nvSpPr>
          <p:cNvPr id="2186" name="Google Shape;2186;p82"/>
          <p:cNvSpPr/>
          <p:nvPr/>
        </p:nvSpPr>
        <p:spPr>
          <a:xfrm>
            <a:off x="4663440" y="1325880"/>
            <a:ext cx="4069080" cy="1417320"/>
          </a:xfrm>
          <a:prstGeom prst="roundRect">
            <a:avLst>
              <a:gd fmla="val 5161" name="adj"/>
            </a:avLst>
          </a:prstGeom>
          <a:solidFill>
            <a:srgbClr val="FFFFFF"/>
          </a:solidFill>
          <a:ln cap="flat" cmpd="sng" w="9525">
            <a:solidFill>
              <a:srgbClr val="1D1D1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87" name="Google Shape;2187;p82"/>
          <p:cNvSpPr/>
          <p:nvPr/>
        </p:nvSpPr>
        <p:spPr>
          <a:xfrm>
            <a:off x="4663440" y="1325880"/>
            <a:ext cx="4069080" cy="329184"/>
          </a:xfrm>
          <a:prstGeom prst="roundRect">
            <a:avLst>
              <a:gd fmla="val 16667" name="adj"/>
            </a:avLst>
          </a:prstGeom>
          <a:solidFill>
            <a:srgbClr val="1D1D1F"/>
          </a:solidFill>
          <a:ln cap="flat" cmpd="sng" w="12700">
            <a:solidFill>
              <a:srgbClr val="1D1D1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50"/>
              <a:buFont typeface="Play"/>
              <a:buNone/>
            </a:pPr>
            <a:r>
              <a:rPr b="1" i="0" lang="en-US" spc="0" sz="1050" u="none" cap="none" strike="noStrike">
                <a:solidFill>
                  <a:srgbClr val="FFFFFF"/>
                </a:solidFill>
                <a:latin typeface="Play"/>
                <a:ea typeface="Play"/>
                <a:cs typeface="Play"/>
                <a:sym typeface="Play"/>
              </a:rPr>
              <a:t>Nothing confirmed yet</a:t>
            </a:r>
            <a:endParaRPr b="0" i="0" spc="0" sz="1050" u="none" cap="none" strike="noStrike">
              <a:solidFill>
                <a:schemeClr val="dk1"/>
              </a:solidFill>
              <a:latin typeface="Calibri"/>
              <a:ea typeface="Calibri"/>
              <a:cs typeface="Calibri"/>
              <a:sym typeface="Calibri"/>
            </a:endParaRPr>
          </a:p>
        </p:txBody>
      </p:sp>
      <p:sp>
        <p:nvSpPr>
          <p:cNvPr id="2188" name="Google Shape;2188;p82"/>
          <p:cNvSpPr txBox="1"/>
          <p:nvPr/>
        </p:nvSpPr>
        <p:spPr>
          <a:xfrm>
            <a:off x="4828032" y="1764792"/>
            <a:ext cx="3739896" cy="905256"/>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Run the Overcharged Hours process first</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Refund only once it's confirmed</a:t>
            </a:r>
            <a:endParaRPr b="0" i="0" spc="0" sz="950" u="none" cap="none" strike="noStrike">
              <a:solidFill>
                <a:schemeClr val="dk1"/>
              </a:solidFill>
              <a:latin typeface="Calibri"/>
              <a:ea typeface="Calibri"/>
              <a:cs typeface="Calibri"/>
              <a:sym typeface="Calibri"/>
            </a:endParaRPr>
          </a:p>
          <a:p>
            <a:pPr indent="-127000" lvl="0" marL="127000" marR="0" rtl="0" algn="l">
              <a:lnSpc>
                <a:spcPct val="100000"/>
              </a:lnSpc>
              <a:spcBef>
                <a:spcPts val="400"/>
              </a:spcBef>
              <a:spcAft>
                <a:spcPts val="0"/>
              </a:spcAft>
              <a:buClr>
                <a:srgbClr val="1D1D1F"/>
              </a:buClr>
              <a:buSzPts val="950"/>
              <a:buFont typeface="Arial"/>
              <a:buChar char="•"/>
            </a:pPr>
            <a:r>
              <a:rPr b="0" i="0" lang="en-US" spc="0" sz="950" u="none" cap="none" strike="noStrike">
                <a:solidFill>
                  <a:srgbClr val="1D1D1F"/>
                </a:solidFill>
                <a:latin typeface="Arial"/>
                <a:ea typeface="Arial"/>
                <a:cs typeface="Arial"/>
                <a:sym typeface="Arial"/>
              </a:rPr>
              <a:t>Paid 4 hrs, got 2? Half back</a:t>
            </a:r>
            <a:endParaRPr b="0" i="0" spc="0" sz="950" u="none" cap="none" strike="noStrike">
              <a:solidFill>
                <a:schemeClr val="dk1"/>
              </a:solidFill>
              <a:latin typeface="Calibri"/>
              <a:ea typeface="Calibri"/>
              <a:cs typeface="Calibri"/>
              <a:sym typeface="Calibri"/>
            </a:endParaRPr>
          </a:p>
        </p:txBody>
      </p:sp>
      <p:sp>
        <p:nvSpPr>
          <p:cNvPr id="2189" name="Google Shape;2189;p82"/>
          <p:cNvSpPr txBox="1"/>
          <p:nvPr/>
        </p:nvSpPr>
        <p:spPr>
          <a:xfrm>
            <a:off x="411480" y="2880360"/>
            <a:ext cx="3657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US" spc="50" sz="800" u="none" cap="none" strike="noStrike">
                <a:solidFill>
                  <a:srgbClr val="6E6E73"/>
                </a:solidFill>
                <a:latin typeface="Play"/>
                <a:ea typeface="Play"/>
                <a:cs typeface="Play"/>
                <a:sym typeface="Play"/>
              </a:rPr>
              <a:t>ISSUING THE REFUND</a:t>
            </a:r>
            <a:endParaRPr b="0" i="0" spc="0" sz="800" u="none" cap="none" strike="noStrike">
              <a:solidFill>
                <a:schemeClr val="dk1"/>
              </a:solidFill>
              <a:latin typeface="Calibri"/>
              <a:ea typeface="Calibri"/>
              <a:cs typeface="Calibri"/>
              <a:sym typeface="Calibri"/>
            </a:endParaRPr>
          </a:p>
        </p:txBody>
      </p:sp>
      <p:sp>
        <p:nvSpPr>
          <p:cNvPr id="2190" name="Google Shape;2190;p82"/>
          <p:cNvSpPr/>
          <p:nvPr/>
        </p:nvSpPr>
        <p:spPr>
          <a:xfrm>
            <a:off x="411480" y="3108960"/>
            <a:ext cx="2651760" cy="566928"/>
          </a:xfrm>
          <a:prstGeom prst="roundRect">
            <a:avLst>
              <a:gd fmla="val 12903" name="adj"/>
            </a:avLst>
          </a:prstGeom>
          <a:solidFill>
            <a:srgbClr val="FFF3D6"/>
          </a:solidFill>
          <a:ln cap="flat" cmpd="sng" w="12700">
            <a:solidFill>
              <a:srgbClr val="9A641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91" name="Google Shape;2191;p82"/>
          <p:cNvSpPr txBox="1"/>
          <p:nvPr/>
        </p:nvSpPr>
        <p:spPr>
          <a:xfrm>
            <a:off x="411480" y="3108960"/>
            <a:ext cx="2651760" cy="5669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1000"/>
              <a:buFont typeface="Play"/>
              <a:buNone/>
            </a:pPr>
            <a:r>
              <a:rPr b="1" i="0" lang="en-US" spc="0" sz="1000" u="none" cap="none" strike="noStrike">
                <a:solidFill>
                  <a:srgbClr val="9A6410"/>
                </a:solidFill>
                <a:latin typeface="Play"/>
                <a:ea typeface="Play"/>
                <a:cs typeface="Play"/>
                <a:sym typeface="Play"/>
              </a:rPr>
              <a:t>Block comms, then</a:t>
            </a:r>
            <a:endParaRPr b="0" i="0" spc="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9A6410"/>
              </a:buClr>
              <a:buSzPts val="1000"/>
              <a:buFont typeface="Play"/>
              <a:buNone/>
            </a:pPr>
            <a:r>
              <a:rPr b="1" i="0" lang="en-US" spc="0" sz="1000" u="none" cap="none" strike="noStrike">
                <a:solidFill>
                  <a:srgbClr val="9A6410"/>
                </a:solidFill>
                <a:latin typeface="Play"/>
                <a:ea typeface="Play"/>
                <a:cs typeface="Play"/>
                <a:sym typeface="Play"/>
              </a:rPr>
              <a:t>refund on the CP dashboard</a:t>
            </a:r>
            <a:endParaRPr b="0" i="0" spc="0" sz="1000" u="none" cap="none" strike="noStrike">
              <a:solidFill>
                <a:schemeClr val="dk1"/>
              </a:solidFill>
              <a:latin typeface="Calibri"/>
              <a:ea typeface="Calibri"/>
              <a:cs typeface="Calibri"/>
              <a:sym typeface="Calibri"/>
            </a:endParaRPr>
          </a:p>
        </p:txBody>
      </p:sp>
      <p:cxnSp>
        <p:nvCxnSpPr>
          <p:cNvPr id="2192" name="Google Shape;2192;p82"/>
          <p:cNvCxnSpPr/>
          <p:nvPr/>
        </p:nvCxnSpPr>
        <p:spPr>
          <a:xfrm>
            <a:off x="3063240" y="3392424"/>
            <a:ext cx="182880" cy="0"/>
          </a:xfrm>
          <a:prstGeom prst="straightConnector1">
            <a:avLst/>
          </a:prstGeom>
          <a:noFill/>
          <a:ln cap="flat" cmpd="sng" w="12700">
            <a:solidFill>
              <a:srgbClr val="6E6E73"/>
            </a:solidFill>
            <a:prstDash val="solid"/>
            <a:round/>
            <a:headEnd len="sm" w="sm" type="none"/>
            <a:tailEnd len="med" w="med" type="triangle"/>
          </a:ln>
        </p:spPr>
      </p:cxnSp>
      <p:sp>
        <p:nvSpPr>
          <p:cNvPr id="2193" name="Google Shape;2193;p82"/>
          <p:cNvSpPr/>
          <p:nvPr/>
        </p:nvSpPr>
        <p:spPr>
          <a:xfrm>
            <a:off x="3246120" y="3108960"/>
            <a:ext cx="2651760" cy="566928"/>
          </a:xfrm>
          <a:prstGeom prst="roundRect">
            <a:avLst>
              <a:gd fmla="val 12903" name="adj"/>
            </a:avLst>
          </a:prstGeom>
          <a:solidFill>
            <a:srgbClr val="FFFFFF"/>
          </a:solidFill>
          <a:ln cap="flat" cmpd="sng" w="12700">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94" name="Google Shape;2194;p82"/>
          <p:cNvSpPr txBox="1"/>
          <p:nvPr/>
        </p:nvSpPr>
        <p:spPr>
          <a:xfrm>
            <a:off x="3246120" y="3108960"/>
            <a:ext cx="2651760" cy="5669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1D1F"/>
              </a:buClr>
              <a:buSzPts val="1000"/>
              <a:buFont typeface="Play"/>
              <a:buNone/>
            </a:pPr>
            <a:r>
              <a:rPr b="1" i="0" lang="en-US" spc="0" sz="1000" u="none" cap="none" strike="noStrike">
                <a:solidFill>
                  <a:srgbClr val="1D1D1F"/>
                </a:solidFill>
                <a:latin typeface="Play"/>
                <a:ea typeface="Play"/>
                <a:cs typeface="Play"/>
                <a:sym typeface="Play"/>
              </a:rPr>
              <a:t>No message sent? Unblock, invalidate voucher</a:t>
            </a:r>
            <a:endParaRPr b="0" i="0" spc="0" sz="1000" u="none" cap="none" strike="noStrike">
              <a:solidFill>
                <a:schemeClr val="dk1"/>
              </a:solidFill>
              <a:latin typeface="Calibri"/>
              <a:ea typeface="Calibri"/>
              <a:cs typeface="Calibri"/>
              <a:sym typeface="Calibri"/>
            </a:endParaRPr>
          </a:p>
        </p:txBody>
      </p:sp>
      <p:cxnSp>
        <p:nvCxnSpPr>
          <p:cNvPr id="2195" name="Google Shape;2195;p82"/>
          <p:cNvCxnSpPr/>
          <p:nvPr/>
        </p:nvCxnSpPr>
        <p:spPr>
          <a:xfrm>
            <a:off x="5897880" y="3392424"/>
            <a:ext cx="182880" cy="0"/>
          </a:xfrm>
          <a:prstGeom prst="straightConnector1">
            <a:avLst/>
          </a:prstGeom>
          <a:noFill/>
          <a:ln cap="flat" cmpd="sng" w="12700">
            <a:solidFill>
              <a:srgbClr val="6E6E73"/>
            </a:solidFill>
            <a:prstDash val="solid"/>
            <a:round/>
            <a:headEnd len="sm" w="sm" type="none"/>
            <a:tailEnd len="med" w="med" type="triangle"/>
          </a:ln>
        </p:spPr>
      </p:cxnSp>
      <p:sp>
        <p:nvSpPr>
          <p:cNvPr id="2196" name="Google Shape;2196;p82"/>
          <p:cNvSpPr/>
          <p:nvPr/>
        </p:nvSpPr>
        <p:spPr>
          <a:xfrm>
            <a:off x="6080760" y="3108960"/>
            <a:ext cx="2651760" cy="566928"/>
          </a:xfrm>
          <a:prstGeom prst="roundRect">
            <a:avLst>
              <a:gd fmla="val 12903" name="adj"/>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97" name="Google Shape;2197;p82"/>
          <p:cNvSpPr txBox="1"/>
          <p:nvPr/>
        </p:nvSpPr>
        <p:spPr>
          <a:xfrm>
            <a:off x="6080760" y="3108960"/>
            <a:ext cx="2651760" cy="56692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Play"/>
              <a:buNone/>
            </a:pPr>
            <a:r>
              <a:rPr b="1" i="0" lang="en-US" spc="0" sz="1000" u="none" cap="none" strike="noStrike">
                <a:solidFill>
                  <a:srgbClr val="FFFFFF"/>
                </a:solidFill>
                <a:latin typeface="Play"/>
                <a:ea typeface="Play"/>
                <a:cs typeface="Play"/>
                <a:sym typeface="Play"/>
              </a:rPr>
              <a:t>Admin refund the TC/OTC charge</a:t>
            </a:r>
            <a:endParaRPr b="0" i="0" spc="0" sz="1000" u="none" cap="none" strike="noStrike">
              <a:solidFill>
                <a:schemeClr val="dk1"/>
              </a:solidFill>
              <a:latin typeface="Calibri"/>
              <a:ea typeface="Calibri"/>
              <a:cs typeface="Calibri"/>
              <a:sym typeface="Calibri"/>
            </a:endParaRPr>
          </a:p>
        </p:txBody>
      </p:sp>
      <p:sp>
        <p:nvSpPr>
          <p:cNvPr id="2198" name="Google Shape;2198;p82"/>
          <p:cNvSpPr/>
          <p:nvPr/>
        </p:nvSpPr>
        <p:spPr>
          <a:xfrm>
            <a:off x="411480" y="384048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199" name="Google Shape;2199;p82"/>
          <p:cNvPicPr preferRelativeResize="0"/>
          <p:nvPr/>
        </p:nvPicPr>
        <p:blipFill rotWithShape="1">
          <a:blip r:embed="rId3">
            <a:alphaModFix/>
          </a:blip>
          <a:srcRect b="0" l="0" r="0" t="0"/>
          <a:stretch/>
        </p:blipFill>
        <p:spPr>
          <a:xfrm>
            <a:off x="566928" y="3950208"/>
            <a:ext cx="164592" cy="164592"/>
          </a:xfrm>
          <a:prstGeom prst="rect">
            <a:avLst/>
          </a:prstGeom>
          <a:noFill/>
          <a:ln>
            <a:noFill/>
          </a:ln>
        </p:spPr>
      </p:pic>
      <p:sp>
        <p:nvSpPr>
          <p:cNvPr id="2200" name="Google Shape;2200;p82"/>
          <p:cNvSpPr txBox="1"/>
          <p:nvPr/>
        </p:nvSpPr>
        <p:spPr>
          <a:xfrm>
            <a:off x="822960" y="394106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US" spc="0" sz="1000" u="none" cap="none" strike="noStrike">
                <a:solidFill>
                  <a:srgbClr val="9A6410"/>
                </a:solidFill>
                <a:latin typeface="Arial"/>
                <a:ea typeface="Arial"/>
                <a:cs typeface="Arial"/>
                <a:sym typeface="Arial"/>
              </a:rPr>
              <a:t>Block comms first:  </a:t>
            </a:r>
            <a:r>
              <a:rPr b="0" i="0" lang="en-US" spc="0" sz="1000" u="none" cap="none" strike="noStrike">
                <a:solidFill>
                  <a:srgbClr val="1D1D1F"/>
                </a:solidFill>
                <a:latin typeface="Arial"/>
                <a:ea typeface="Arial"/>
                <a:cs typeface="Arial"/>
                <a:sym typeface="Arial"/>
              </a:rPr>
              <a:t>C CRM &gt; Do &gt; Deactivate block comms. They never knew the voucher existed.</a:t>
            </a:r>
            <a:endParaRPr b="0" i="0" spc="0" sz="1000" u="none" cap="none" strike="noStrike">
              <a:solidFill>
                <a:schemeClr val="dk1"/>
              </a:solidFill>
              <a:latin typeface="Calibri"/>
              <a:ea typeface="Calibri"/>
              <a:cs typeface="Calibri"/>
              <a:sym typeface="Calibri"/>
            </a:endParaRPr>
          </a:p>
        </p:txBody>
      </p:sp>
      <p:sp>
        <p:nvSpPr>
          <p:cNvPr id="2201" name="Google Shape;2201;p8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6" name="Shape 2206"/>
        <p:cNvGrpSpPr/>
        <p:nvPr/>
      </p:nvGrpSpPr>
      <p:grpSpPr>
        <a:xfrm>
          <a:off x="0" y="0"/>
          <a:ext cx="0" cy="0"/>
          <a:chOff x="0" y="0"/>
          <a:chExt cx="0" cy="0"/>
        </a:xfrm>
      </p:grpSpPr>
      <p:sp>
        <p:nvSpPr>
          <p:cNvPr id="2207" name="Google Shape;2207;p8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TRIAL &amp; ONE-TIME CLEANING  ·  KNOWLEDGE CHECK</a:t>
            </a:r>
            <a:endParaRPr b="0" i="0" spc="0" sz="800" u="none" cap="none" strike="noStrike">
              <a:solidFill>
                <a:schemeClr val="dk1"/>
              </a:solidFill>
              <a:latin typeface="Calibri"/>
              <a:ea typeface="Calibri"/>
              <a:cs typeface="Calibri"/>
              <a:sym typeface="Calibri"/>
            </a:endParaRPr>
          </a:p>
        </p:txBody>
      </p:sp>
      <p:sp>
        <p:nvSpPr>
          <p:cNvPr id="2208" name="Google Shape;2208;p8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See What You’ve Got!</a:t>
            </a:r>
            <a:endParaRPr b="0" i="0" spc="0" sz="2400" u="none" cap="none" strike="noStrike">
              <a:solidFill>
                <a:schemeClr val="dk1"/>
              </a:solidFill>
              <a:latin typeface="Calibri"/>
              <a:ea typeface="Calibri"/>
              <a:cs typeface="Calibri"/>
              <a:sym typeface="Calibri"/>
            </a:endParaRPr>
          </a:p>
        </p:txBody>
      </p:sp>
      <p:sp>
        <p:nvSpPr>
          <p:cNvPr id="2209" name="Google Shape;2209;p83"/>
          <p:cNvSpPr/>
          <p:nvPr/>
        </p:nvSpPr>
        <p:spPr>
          <a:xfrm>
            <a:off x="411480" y="1280160"/>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10" name="Google Shape;2210;p83"/>
          <p:cNvSpPr/>
          <p:nvPr/>
        </p:nvSpPr>
        <p:spPr>
          <a:xfrm>
            <a:off x="548640" y="153619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11" name="Google Shape;2211;p83"/>
          <p:cNvSpPr txBox="1"/>
          <p:nvPr/>
        </p:nvSpPr>
        <p:spPr>
          <a:xfrm>
            <a:off x="548640" y="153619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2212" name="Google Shape;2212;p83"/>
          <p:cNvSpPr txBox="1"/>
          <p:nvPr/>
        </p:nvSpPr>
        <p:spPr>
          <a:xfrm>
            <a:off x="960120" y="1280160"/>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A customer wants a move-out clean only, no membership. TC or OTC?</a:t>
            </a:r>
            <a:endParaRPr b="0" i="0" spc="0" sz="1000" u="none" cap="none" strike="noStrike">
              <a:solidFill>
                <a:schemeClr val="dk1"/>
              </a:solidFill>
              <a:latin typeface="Calibri"/>
              <a:ea typeface="Calibri"/>
              <a:cs typeface="Calibri"/>
              <a:sym typeface="Calibri"/>
            </a:endParaRPr>
          </a:p>
        </p:txBody>
      </p:sp>
      <p:sp>
        <p:nvSpPr>
          <p:cNvPr id="2213" name="Google Shape;2213;p83"/>
          <p:cNvSpPr/>
          <p:nvPr/>
        </p:nvSpPr>
        <p:spPr>
          <a:xfrm>
            <a:off x="5120640" y="1280160"/>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14" name="Google Shape;2214;p83"/>
          <p:cNvSpPr txBox="1"/>
          <p:nvPr/>
        </p:nvSpPr>
        <p:spPr>
          <a:xfrm>
            <a:off x="5257800" y="1280160"/>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OTC. No FC table, nothing after.</a:t>
            </a:r>
            <a:endParaRPr b="0" i="0" spc="0" sz="900" u="none" cap="none" strike="noStrike">
              <a:solidFill>
                <a:schemeClr val="dk1"/>
              </a:solidFill>
              <a:latin typeface="Calibri"/>
              <a:ea typeface="Calibri"/>
              <a:cs typeface="Calibri"/>
              <a:sym typeface="Calibri"/>
            </a:endParaRPr>
          </a:p>
        </p:txBody>
      </p:sp>
      <p:sp>
        <p:nvSpPr>
          <p:cNvPr id="2215" name="Google Shape;2215;p83"/>
          <p:cNvSpPr/>
          <p:nvPr/>
        </p:nvSpPr>
        <p:spPr>
          <a:xfrm>
            <a:off x="411480" y="2139696"/>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16" name="Google Shape;2216;p83"/>
          <p:cNvSpPr/>
          <p:nvPr/>
        </p:nvSpPr>
        <p:spPr>
          <a:xfrm>
            <a:off x="548640" y="239572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17" name="Google Shape;2217;p83"/>
          <p:cNvSpPr txBox="1"/>
          <p:nvPr/>
        </p:nvSpPr>
        <p:spPr>
          <a:xfrm>
            <a:off x="548640" y="239572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2218" name="Google Shape;2218;p83"/>
          <p:cNvSpPr txBox="1"/>
          <p:nvPr/>
        </p:nvSpPr>
        <p:spPr>
          <a:xfrm>
            <a:off x="960120" y="2139696"/>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FCF: 2 MFs + $59 add-on paid. 6-hr OTC is $378. What do they pay?</a:t>
            </a:r>
            <a:endParaRPr b="0" i="0" spc="0" sz="1000" u="none" cap="none" strike="noStrike">
              <a:solidFill>
                <a:schemeClr val="dk1"/>
              </a:solidFill>
              <a:latin typeface="Calibri"/>
              <a:ea typeface="Calibri"/>
              <a:cs typeface="Calibri"/>
              <a:sym typeface="Calibri"/>
            </a:endParaRPr>
          </a:p>
        </p:txBody>
      </p:sp>
      <p:sp>
        <p:nvSpPr>
          <p:cNvPr id="2219" name="Google Shape;2219;p83"/>
          <p:cNvSpPr/>
          <p:nvPr/>
        </p:nvSpPr>
        <p:spPr>
          <a:xfrm>
            <a:off x="5120640" y="2139696"/>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20" name="Google Shape;2220;p83"/>
          <p:cNvSpPr txBox="1"/>
          <p:nvPr/>
        </p:nvSpPr>
        <p:spPr>
          <a:xfrm>
            <a:off x="5257800" y="2139696"/>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$241 ($378 − $137).</a:t>
            </a:r>
            <a:endParaRPr b="0" i="0" spc="0" sz="900" u="none" cap="none" strike="noStrike">
              <a:solidFill>
                <a:schemeClr val="dk1"/>
              </a:solidFill>
              <a:latin typeface="Calibri"/>
              <a:ea typeface="Calibri"/>
              <a:cs typeface="Calibri"/>
              <a:sym typeface="Calibri"/>
            </a:endParaRPr>
          </a:p>
        </p:txBody>
      </p:sp>
      <p:sp>
        <p:nvSpPr>
          <p:cNvPr id="2221" name="Google Shape;2221;p83"/>
          <p:cNvSpPr/>
          <p:nvPr/>
        </p:nvSpPr>
        <p:spPr>
          <a:xfrm>
            <a:off x="411480" y="2999232"/>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22" name="Google Shape;2222;p83"/>
          <p:cNvSpPr/>
          <p:nvPr/>
        </p:nvSpPr>
        <p:spPr>
          <a:xfrm>
            <a:off x="548640" y="325526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23" name="Google Shape;2223;p83"/>
          <p:cNvSpPr txBox="1"/>
          <p:nvPr/>
        </p:nvSpPr>
        <p:spPr>
          <a:xfrm>
            <a:off x="548640" y="325526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2224" name="Google Shape;2224;p83"/>
          <p:cNvSpPr txBox="1"/>
          <p:nvPr/>
        </p:nvSpPr>
        <p:spPr>
          <a:xfrm>
            <a:off x="960120" y="2999232"/>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FCF: $150 paid, OTC is $120. Refund the $30?</a:t>
            </a:r>
            <a:endParaRPr b="0" i="0" spc="0" sz="1000" u="none" cap="none" strike="noStrike">
              <a:solidFill>
                <a:schemeClr val="dk1"/>
              </a:solidFill>
              <a:latin typeface="Calibri"/>
              <a:ea typeface="Calibri"/>
              <a:cs typeface="Calibri"/>
              <a:sym typeface="Calibri"/>
            </a:endParaRPr>
          </a:p>
        </p:txBody>
      </p:sp>
      <p:sp>
        <p:nvSpPr>
          <p:cNvPr id="2225" name="Google Shape;2225;p83"/>
          <p:cNvSpPr/>
          <p:nvPr/>
        </p:nvSpPr>
        <p:spPr>
          <a:xfrm>
            <a:off x="5120640" y="2999232"/>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26" name="Google Shape;2226;p83"/>
          <p:cNvSpPr txBox="1"/>
          <p:nvPr/>
        </p:nvSpPr>
        <p:spPr>
          <a:xfrm>
            <a:off x="5257800" y="2999232"/>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 They pay $0; the excess isn't refunded.</a:t>
            </a:r>
            <a:endParaRPr b="0" i="0" spc="0" sz="900" u="none" cap="none" strike="noStrike">
              <a:solidFill>
                <a:schemeClr val="dk1"/>
              </a:solidFill>
              <a:latin typeface="Calibri"/>
              <a:ea typeface="Calibri"/>
              <a:cs typeface="Calibri"/>
              <a:sym typeface="Calibri"/>
            </a:endParaRPr>
          </a:p>
        </p:txBody>
      </p:sp>
      <p:sp>
        <p:nvSpPr>
          <p:cNvPr id="2227" name="Google Shape;2227;p83"/>
          <p:cNvSpPr/>
          <p:nvPr/>
        </p:nvSpPr>
        <p:spPr>
          <a:xfrm>
            <a:off x="411480" y="3858768"/>
            <a:ext cx="461772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28" name="Google Shape;2228;p83"/>
          <p:cNvSpPr/>
          <p:nvPr/>
        </p:nvSpPr>
        <p:spPr>
          <a:xfrm>
            <a:off x="548640" y="41148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29" name="Google Shape;2229;p83"/>
          <p:cNvSpPr txBox="1"/>
          <p:nvPr/>
        </p:nvSpPr>
        <p:spPr>
          <a:xfrm>
            <a:off x="548640" y="41148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4</a:t>
            </a:r>
            <a:endParaRPr b="0" i="0" spc="0" sz="900" u="none" cap="none" strike="noStrike">
              <a:solidFill>
                <a:schemeClr val="dk1"/>
              </a:solidFill>
              <a:latin typeface="Calibri"/>
              <a:ea typeface="Calibri"/>
              <a:cs typeface="Calibri"/>
              <a:sym typeface="Calibri"/>
            </a:endParaRPr>
          </a:p>
        </p:txBody>
      </p:sp>
      <p:sp>
        <p:nvSpPr>
          <p:cNvPr id="2230" name="Google Shape;2230;p83"/>
          <p:cNvSpPr txBox="1"/>
          <p:nvPr/>
        </p:nvSpPr>
        <p:spPr>
          <a:xfrm>
            <a:off x="960120" y="3858768"/>
            <a:ext cx="397764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00"/>
              <a:buFont typeface="Arial"/>
              <a:buNone/>
            </a:pPr>
            <a:r>
              <a:rPr b="0" i="0" lang="en-US" spc="0" sz="1000" u="none" cap="none" strike="noStrike">
                <a:solidFill>
                  <a:srgbClr val="1D1D1F"/>
                </a:solidFill>
                <a:latin typeface="Arial"/>
                <a:ea typeface="Arial"/>
                <a:cs typeface="Arial"/>
                <a:sym typeface="Arial"/>
              </a:rPr>
              <a:t>Completed a Trial, cancels on day 20 over a bad cleaning. ETF?</a:t>
            </a:r>
            <a:endParaRPr b="0" i="0" spc="0" sz="1000" u="none" cap="none" strike="noStrike">
              <a:solidFill>
                <a:schemeClr val="dk1"/>
              </a:solidFill>
              <a:latin typeface="Calibri"/>
              <a:ea typeface="Calibri"/>
              <a:cs typeface="Calibri"/>
              <a:sym typeface="Calibri"/>
            </a:endParaRPr>
          </a:p>
        </p:txBody>
      </p:sp>
      <p:sp>
        <p:nvSpPr>
          <p:cNvPr id="2231" name="Google Shape;2231;p83"/>
          <p:cNvSpPr/>
          <p:nvPr/>
        </p:nvSpPr>
        <p:spPr>
          <a:xfrm>
            <a:off x="5120640" y="3858768"/>
            <a:ext cx="3611880" cy="786384"/>
          </a:xfrm>
          <a:prstGeom prst="roundRect">
            <a:avLst>
              <a:gd fmla="val 930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32" name="Google Shape;2232;p83"/>
          <p:cNvSpPr txBox="1"/>
          <p:nvPr/>
        </p:nvSpPr>
        <p:spPr>
          <a:xfrm>
            <a:off x="5257800" y="3858768"/>
            <a:ext cx="3383280" cy="7863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US" spc="0" sz="900" u="none" cap="none" strike="noStrike">
                <a:solidFill>
                  <a:srgbClr val="1D1D1F"/>
                </a:solidFill>
                <a:latin typeface="Arial"/>
                <a:ea typeface="Arial"/>
                <a:cs typeface="Arial"/>
                <a:sym typeface="Arial"/>
              </a:rPr>
              <a:t>No ETF. Cancel FC as asked; offer a second chance if they're open.</a:t>
            </a:r>
            <a:endParaRPr b="0" i="0" spc="0" sz="900" u="none" cap="none" strike="noStrike">
              <a:solidFill>
                <a:schemeClr val="dk1"/>
              </a:solidFill>
              <a:latin typeface="Calibri"/>
              <a:ea typeface="Calibri"/>
              <a:cs typeface="Calibri"/>
              <a:sym typeface="Calibri"/>
            </a:endParaRPr>
          </a:p>
        </p:txBody>
      </p:sp>
      <p:sp>
        <p:nvSpPr>
          <p:cNvPr id="2233" name="Google Shape;2233;p8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4"/>
                                        </p:tgtEl>
                                        <p:attrNameLst>
                                          <p:attrName>style.visibility</p:attrName>
                                        </p:attrNameLst>
                                      </p:cBhvr>
                                      <p:to>
                                        <p:strVal val="visible"/>
                                      </p:to>
                                    </p:set>
                                    <p:animEffect filter="fade" transition="in">
                                      <p:cBhvr>
                                        <p:cTn dur="600"/>
                                        <p:tgtEl>
                                          <p:spTgt spid="22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0"/>
                                        </p:tgtEl>
                                        <p:attrNameLst>
                                          <p:attrName>style.visibility</p:attrName>
                                        </p:attrNameLst>
                                      </p:cBhvr>
                                      <p:to>
                                        <p:strVal val="visible"/>
                                      </p:to>
                                    </p:set>
                                    <p:animEffect filter="fade" transition="in">
                                      <p:cBhvr>
                                        <p:cTn dur="600"/>
                                        <p:tgtEl>
                                          <p:spTgt spid="22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6"/>
                                        </p:tgtEl>
                                        <p:attrNameLst>
                                          <p:attrName>style.visibility</p:attrName>
                                        </p:attrNameLst>
                                      </p:cBhvr>
                                      <p:to>
                                        <p:strVal val="visible"/>
                                      </p:to>
                                    </p:set>
                                    <p:animEffect filter="fade" transition="in">
                                      <p:cBhvr>
                                        <p:cTn dur="600"/>
                                        <p:tgtEl>
                                          <p:spTgt spid="22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2"/>
                                        </p:tgtEl>
                                        <p:attrNameLst>
                                          <p:attrName>style.visibility</p:attrName>
                                        </p:attrNameLst>
                                      </p:cBhvr>
                                      <p:to>
                                        <p:strVal val="visible"/>
                                      </p:to>
                                    </p:set>
                                    <p:animEffect filter="fade" transition="in">
                                      <p:cBhvr>
                                        <p:cTn dur="600"/>
                                        <p:tgtEl>
                                          <p:spTgt spid="22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8" name="Shape 2238"/>
        <p:cNvGrpSpPr/>
        <p:nvPr/>
      </p:nvGrpSpPr>
      <p:grpSpPr>
        <a:xfrm>
          <a:off x="0" y="0"/>
          <a:ext cx="0" cy="0"/>
          <a:chOff x="0" y="0"/>
          <a:chExt cx="0" cy="0"/>
        </a:xfrm>
      </p:grpSpPr>
      <p:sp>
        <p:nvSpPr>
          <p:cNvPr id="2239" name="Google Shape;2239;p8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TRIAL &amp; ONE-TIME CLEANING  ·  PRACTICE</a:t>
            </a:r>
            <a:endParaRPr b="0" i="0" spc="0" sz="800" u="none" cap="none" strike="noStrike">
              <a:solidFill>
                <a:schemeClr val="dk1"/>
              </a:solidFill>
              <a:latin typeface="Calibri"/>
              <a:ea typeface="Calibri"/>
              <a:cs typeface="Calibri"/>
              <a:sym typeface="Calibri"/>
            </a:endParaRPr>
          </a:p>
        </p:txBody>
      </p:sp>
      <p:sp>
        <p:nvSpPr>
          <p:cNvPr id="2240" name="Google Shape;2240;p8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US" spc="0" sz="2400" u="none" cap="none" strike="noStrike">
                <a:solidFill>
                  <a:srgbClr val="1D1D1F"/>
                </a:solidFill>
                <a:latin typeface="Play"/>
                <a:ea typeface="Play"/>
                <a:cs typeface="Play"/>
                <a:sym typeface="Play"/>
              </a:rPr>
              <a:t>Let's investigate together!</a:t>
            </a:r>
            <a:endParaRPr b="0" i="0" spc="0" sz="2400" u="none" cap="none" strike="noStrike">
              <a:solidFill>
                <a:schemeClr val="dk1"/>
              </a:solidFill>
              <a:latin typeface="Calibri"/>
              <a:ea typeface="Calibri"/>
              <a:cs typeface="Calibri"/>
              <a:sym typeface="Calibri"/>
            </a:endParaRPr>
          </a:p>
        </p:txBody>
      </p:sp>
      <p:sp>
        <p:nvSpPr>
          <p:cNvPr id="2241" name="Google Shape;2241;p8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Review the live ticket and investigate.</a:t>
            </a:r>
            <a:endParaRPr b="0" i="0" spc="0" sz="1200" u="none" cap="none" strike="noStrike">
              <a:solidFill>
                <a:schemeClr val="dk1"/>
              </a:solidFill>
              <a:latin typeface="Calibri"/>
              <a:ea typeface="Calibri"/>
              <a:cs typeface="Calibri"/>
              <a:sym typeface="Calibri"/>
            </a:endParaRPr>
          </a:p>
        </p:txBody>
      </p:sp>
      <p:sp>
        <p:nvSpPr>
          <p:cNvPr id="2242" name="Google Shape;2242;p84"/>
          <p:cNvSpPr/>
          <p:nvPr/>
        </p:nvSpPr>
        <p:spPr>
          <a:xfrm>
            <a:off x="411480" y="1298448"/>
            <a:ext cx="3383280" cy="2633472"/>
          </a:xfrm>
          <a:prstGeom prst="roundRect">
            <a:avLst>
              <a:gd fmla="val 27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43" name="Google Shape;2243;p84"/>
          <p:cNvSpPr/>
          <p:nvPr/>
        </p:nvSpPr>
        <p:spPr>
          <a:xfrm>
            <a:off x="594360" y="148132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244" name="Google Shape;2244;p84"/>
          <p:cNvPicPr preferRelativeResize="0"/>
          <p:nvPr/>
        </p:nvPicPr>
        <p:blipFill rotWithShape="1">
          <a:blip r:embed="rId3">
            <a:alphaModFix/>
          </a:blip>
          <a:srcRect b="0" l="0" r="0" t="0"/>
          <a:stretch/>
        </p:blipFill>
        <p:spPr>
          <a:xfrm>
            <a:off x="686532" y="1573500"/>
            <a:ext cx="199705" cy="199705"/>
          </a:xfrm>
          <a:prstGeom prst="rect">
            <a:avLst/>
          </a:prstGeom>
          <a:noFill/>
          <a:ln>
            <a:noFill/>
          </a:ln>
        </p:spPr>
      </p:pic>
      <p:sp>
        <p:nvSpPr>
          <p:cNvPr id="2245" name="Google Shape;2245;p84"/>
          <p:cNvSpPr txBox="1"/>
          <p:nvPr/>
        </p:nvSpPr>
        <p:spPr>
          <a:xfrm>
            <a:off x="594360" y="2011680"/>
            <a:ext cx="301752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US" spc="0" sz="1300" u="none" cap="none" strike="noStrike">
                <a:solidFill>
                  <a:srgbClr val="1D1D1F"/>
                </a:solidFill>
                <a:latin typeface="Play"/>
                <a:ea typeface="Play"/>
                <a:cs typeface="Play"/>
                <a:sym typeface="Play"/>
              </a:rPr>
              <a:t>Live ticket</a:t>
            </a:r>
            <a:endParaRPr b="0" i="0" spc="0" sz="1300" u="none" cap="none" strike="noStrike">
              <a:solidFill>
                <a:schemeClr val="dk1"/>
              </a:solidFill>
              <a:latin typeface="Calibri"/>
              <a:ea typeface="Calibri"/>
              <a:cs typeface="Calibri"/>
              <a:sym typeface="Calibri"/>
            </a:endParaRPr>
          </a:p>
        </p:txBody>
      </p:sp>
      <p:sp>
        <p:nvSpPr>
          <p:cNvPr id="2246" name="Google Shape;2246;p84"/>
          <p:cNvSpPr txBox="1"/>
          <p:nvPr/>
        </p:nvSpPr>
        <p:spPr>
          <a:xfrm>
            <a:off x="594360" y="2350008"/>
            <a:ext cx="301752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050"/>
              <a:buFont typeface="Arial"/>
              <a:buNone/>
            </a:pPr>
            <a:r>
              <a:rPr b="0" i="0" lang="en-US" spc="0" sz="1050" u="none" cap="none" strike="noStrike">
                <a:solidFill>
                  <a:srgbClr val="6E6E73"/>
                </a:solidFill>
                <a:latin typeface="Arial"/>
                <a:ea typeface="Arial"/>
                <a:cs typeface="Arial"/>
                <a:sym typeface="Arial"/>
              </a:rPr>
              <a:t>Your trainer will provide a live ticket. Review it and investigate before you decide anything.</a:t>
            </a:r>
            <a:endParaRPr b="0" i="0" spc="0" sz="1050" u="none" cap="none" strike="noStrike">
              <a:solidFill>
                <a:schemeClr val="dk1"/>
              </a:solidFill>
              <a:latin typeface="Calibri"/>
              <a:ea typeface="Calibri"/>
              <a:cs typeface="Calibri"/>
              <a:sym typeface="Calibri"/>
            </a:endParaRPr>
          </a:p>
        </p:txBody>
      </p:sp>
      <p:sp>
        <p:nvSpPr>
          <p:cNvPr id="2247" name="Google Shape;2247;p84"/>
          <p:cNvSpPr/>
          <p:nvPr/>
        </p:nvSpPr>
        <p:spPr>
          <a:xfrm>
            <a:off x="594360" y="3401568"/>
            <a:ext cx="1371600" cy="329184"/>
          </a:xfrm>
          <a:prstGeom prst="roundRect">
            <a:avLst>
              <a:gd fmla="val 22222" name="adj"/>
            </a:avLst>
          </a:prstGeom>
          <a:solidFill>
            <a:srgbClr val="FFF3D6"/>
          </a:solidFill>
          <a:ln cap="flat" cmpd="sng" w="9525">
            <a:solidFill>
              <a:srgbClr val="FFF3D6"/>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A6410"/>
              </a:buClr>
              <a:buSzPts val="950"/>
              <a:buFont typeface="Arial"/>
              <a:buNone/>
            </a:pPr>
            <a:r>
              <a:rPr b="1" i="0" lang="en-US" spc="0" sz="950" u="none" cap="none" strike="noStrike">
                <a:solidFill>
                  <a:srgbClr val="9A6410"/>
                </a:solidFill>
                <a:latin typeface="Arial"/>
                <a:ea typeface="Arial"/>
                <a:cs typeface="Arial"/>
                <a:sym typeface="Arial"/>
              </a:rPr>
              <a:t>Trainer provides</a:t>
            </a:r>
            <a:endParaRPr b="0" i="0" spc="0" sz="950" u="none" cap="none" strike="noStrike">
              <a:solidFill>
                <a:schemeClr val="dk1"/>
              </a:solidFill>
              <a:latin typeface="Calibri"/>
              <a:ea typeface="Calibri"/>
              <a:cs typeface="Calibri"/>
              <a:sym typeface="Calibri"/>
            </a:endParaRPr>
          </a:p>
        </p:txBody>
      </p:sp>
      <p:sp>
        <p:nvSpPr>
          <p:cNvPr id="2248" name="Google Shape;2248;p84"/>
          <p:cNvSpPr/>
          <p:nvPr/>
        </p:nvSpPr>
        <p:spPr>
          <a:xfrm>
            <a:off x="3931920" y="1298448"/>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49" name="Google Shape;2249;p84"/>
          <p:cNvSpPr/>
          <p:nvPr/>
        </p:nvSpPr>
        <p:spPr>
          <a:xfrm>
            <a:off x="4114800"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50" name="Google Shape;2250;p84"/>
          <p:cNvSpPr txBox="1"/>
          <p:nvPr/>
        </p:nvSpPr>
        <p:spPr>
          <a:xfrm>
            <a:off x="4114800"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1</a:t>
            </a:r>
            <a:endParaRPr b="0" i="0" spc="0" sz="900" u="none" cap="none" strike="noStrike">
              <a:solidFill>
                <a:schemeClr val="dk1"/>
              </a:solidFill>
              <a:latin typeface="Calibri"/>
              <a:ea typeface="Calibri"/>
              <a:cs typeface="Calibri"/>
              <a:sym typeface="Calibri"/>
            </a:endParaRPr>
          </a:p>
        </p:txBody>
      </p:sp>
      <p:sp>
        <p:nvSpPr>
          <p:cNvPr id="2251" name="Google Shape;2251;p84"/>
          <p:cNvSpPr txBox="1"/>
          <p:nvPr/>
        </p:nvSpPr>
        <p:spPr>
          <a:xfrm>
            <a:off x="4572000" y="1426464"/>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Is TC or OTC the better fit? Why?</a:t>
            </a:r>
            <a:endParaRPr b="0" i="0" spc="0" sz="1250" u="none" cap="none" strike="noStrike">
              <a:solidFill>
                <a:schemeClr val="dk1"/>
              </a:solidFill>
              <a:latin typeface="Calibri"/>
              <a:ea typeface="Calibri"/>
              <a:cs typeface="Calibri"/>
              <a:sym typeface="Calibri"/>
            </a:endParaRPr>
          </a:p>
        </p:txBody>
      </p:sp>
      <p:sp>
        <p:nvSpPr>
          <p:cNvPr id="2252" name="Google Shape;2252;p84"/>
          <p:cNvSpPr txBox="1"/>
          <p:nvPr/>
        </p:nvSpPr>
        <p:spPr>
          <a:xfrm>
            <a:off x="4572000" y="1737360"/>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And DHJ or FCF: what gets deducted?</a:t>
            </a:r>
            <a:endParaRPr b="0" i="0" spc="0" sz="1000" u="none" cap="none" strike="noStrike">
              <a:solidFill>
                <a:schemeClr val="dk1"/>
              </a:solidFill>
              <a:latin typeface="Calibri"/>
              <a:ea typeface="Calibri"/>
              <a:cs typeface="Calibri"/>
              <a:sym typeface="Calibri"/>
            </a:endParaRPr>
          </a:p>
        </p:txBody>
      </p:sp>
      <p:sp>
        <p:nvSpPr>
          <p:cNvPr id="2253" name="Google Shape;2253;p84"/>
          <p:cNvSpPr/>
          <p:nvPr/>
        </p:nvSpPr>
        <p:spPr>
          <a:xfrm>
            <a:off x="3931920" y="2221992"/>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54" name="Google Shape;2254;p84"/>
          <p:cNvSpPr/>
          <p:nvPr/>
        </p:nvSpPr>
        <p:spPr>
          <a:xfrm>
            <a:off x="4114800" y="2478024"/>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55" name="Google Shape;2255;p84"/>
          <p:cNvSpPr txBox="1"/>
          <p:nvPr/>
        </p:nvSpPr>
        <p:spPr>
          <a:xfrm>
            <a:off x="4114800" y="2478024"/>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2</a:t>
            </a:r>
            <a:endParaRPr b="0" i="0" spc="0" sz="900" u="none" cap="none" strike="noStrike">
              <a:solidFill>
                <a:schemeClr val="dk1"/>
              </a:solidFill>
              <a:latin typeface="Calibri"/>
              <a:ea typeface="Calibri"/>
              <a:cs typeface="Calibri"/>
              <a:sym typeface="Calibri"/>
            </a:endParaRPr>
          </a:p>
        </p:txBody>
      </p:sp>
      <p:sp>
        <p:nvSpPr>
          <p:cNvPr id="2256" name="Google Shape;2256;p84"/>
          <p:cNvSpPr txBox="1"/>
          <p:nvPr/>
        </p:nvSpPr>
        <p:spPr>
          <a:xfrm>
            <a:off x="4572000" y="2350008"/>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What actions are you going to take?</a:t>
            </a:r>
            <a:endParaRPr b="0" i="0" spc="0" sz="1250" u="none" cap="none" strike="noStrike">
              <a:solidFill>
                <a:schemeClr val="dk1"/>
              </a:solidFill>
              <a:latin typeface="Calibri"/>
              <a:ea typeface="Calibri"/>
              <a:cs typeface="Calibri"/>
              <a:sym typeface="Calibri"/>
            </a:endParaRPr>
          </a:p>
        </p:txBody>
      </p:sp>
      <p:sp>
        <p:nvSpPr>
          <p:cNvPr id="2257" name="Google Shape;2257;p84"/>
          <p:cNvSpPr txBox="1"/>
          <p:nvPr/>
        </p:nvSpPr>
        <p:spPr>
          <a:xfrm>
            <a:off x="4572000" y="2660904"/>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Price, charge, book, FC table, voucher.</a:t>
            </a:r>
            <a:endParaRPr b="0" i="0" spc="0" sz="1000" u="none" cap="none" strike="noStrike">
              <a:solidFill>
                <a:schemeClr val="dk1"/>
              </a:solidFill>
              <a:latin typeface="Calibri"/>
              <a:ea typeface="Calibri"/>
              <a:cs typeface="Calibri"/>
              <a:sym typeface="Calibri"/>
            </a:endParaRPr>
          </a:p>
        </p:txBody>
      </p:sp>
      <p:sp>
        <p:nvSpPr>
          <p:cNvPr id="2258" name="Google Shape;2258;p84"/>
          <p:cNvSpPr/>
          <p:nvPr/>
        </p:nvSpPr>
        <p:spPr>
          <a:xfrm>
            <a:off x="3931920" y="3145536"/>
            <a:ext cx="4800600" cy="786384"/>
          </a:xfrm>
          <a:prstGeom prst="roundRect">
            <a:avLst>
              <a:gd fmla="val 930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59" name="Google Shape;2259;p84"/>
          <p:cNvSpPr/>
          <p:nvPr/>
        </p:nvSpPr>
        <p:spPr>
          <a:xfrm>
            <a:off x="4114800" y="340156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60" name="Google Shape;2260;p84"/>
          <p:cNvSpPr txBox="1"/>
          <p:nvPr/>
        </p:nvSpPr>
        <p:spPr>
          <a:xfrm>
            <a:off x="4114800" y="340156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US" spc="0" sz="900" u="none" cap="none" strike="noStrike">
                <a:solidFill>
                  <a:srgbClr val="0B7A6F"/>
                </a:solidFill>
                <a:latin typeface="Play"/>
                <a:ea typeface="Play"/>
                <a:cs typeface="Play"/>
                <a:sym typeface="Play"/>
              </a:rPr>
              <a:t>3</a:t>
            </a:r>
            <a:endParaRPr b="0" i="0" spc="0" sz="900" u="none" cap="none" strike="noStrike">
              <a:solidFill>
                <a:schemeClr val="dk1"/>
              </a:solidFill>
              <a:latin typeface="Calibri"/>
              <a:ea typeface="Calibri"/>
              <a:cs typeface="Calibri"/>
              <a:sym typeface="Calibri"/>
            </a:endParaRPr>
          </a:p>
        </p:txBody>
      </p:sp>
      <p:sp>
        <p:nvSpPr>
          <p:cNvPr id="2261" name="Google Shape;2261;p84"/>
          <p:cNvSpPr txBox="1"/>
          <p:nvPr/>
        </p:nvSpPr>
        <p:spPr>
          <a:xfrm>
            <a:off x="4572000" y="3273552"/>
            <a:ext cx="397764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US" spc="0" sz="1250" u="none" cap="none" strike="noStrike">
                <a:solidFill>
                  <a:srgbClr val="1D1D1F"/>
                </a:solidFill>
                <a:latin typeface="Play"/>
                <a:ea typeface="Play"/>
                <a:cs typeface="Play"/>
                <a:sym typeface="Play"/>
              </a:rPr>
              <a:t>5-min writing challenge</a:t>
            </a:r>
            <a:endParaRPr b="0" i="0" spc="0" sz="1250" u="none" cap="none" strike="noStrike">
              <a:solidFill>
                <a:schemeClr val="dk1"/>
              </a:solidFill>
              <a:latin typeface="Calibri"/>
              <a:ea typeface="Calibri"/>
              <a:cs typeface="Calibri"/>
              <a:sym typeface="Calibri"/>
            </a:endParaRPr>
          </a:p>
        </p:txBody>
      </p:sp>
      <p:sp>
        <p:nvSpPr>
          <p:cNvPr id="2262" name="Google Shape;2262;p84"/>
          <p:cNvSpPr txBox="1"/>
          <p:nvPr/>
        </p:nvSpPr>
        <p:spPr>
          <a:xfrm>
            <a:off x="4572000" y="3584448"/>
            <a:ext cx="397764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US" spc="0" sz="1000" u="none" cap="none" strike="noStrike">
                <a:solidFill>
                  <a:srgbClr val="6E6E73"/>
                </a:solidFill>
                <a:latin typeface="Arial"/>
                <a:ea typeface="Arial"/>
                <a:cs typeface="Arial"/>
                <a:sym typeface="Arial"/>
              </a:rPr>
              <a:t>Create your offer for the customer.</a:t>
            </a:r>
            <a:endParaRPr b="0" i="0" spc="0" sz="1000" u="none" cap="none" strike="noStrike">
              <a:solidFill>
                <a:schemeClr val="dk1"/>
              </a:solidFill>
              <a:latin typeface="Calibri"/>
              <a:ea typeface="Calibri"/>
              <a:cs typeface="Calibri"/>
              <a:sym typeface="Calibri"/>
            </a:endParaRPr>
          </a:p>
        </p:txBody>
      </p:sp>
      <p:sp>
        <p:nvSpPr>
          <p:cNvPr id="2263" name="Google Shape;2263;p84"/>
          <p:cNvSpPr/>
          <p:nvPr/>
        </p:nvSpPr>
        <p:spPr>
          <a:xfrm>
            <a:off x="411480" y="4069080"/>
            <a:ext cx="8321040" cy="502920"/>
          </a:xfrm>
          <a:prstGeom prst="roundRect">
            <a:avLst>
              <a:gd fmla="val 14545"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preencoded.png" id="2264" name="Google Shape;2264;p84"/>
          <p:cNvPicPr preferRelativeResize="0"/>
          <p:nvPr/>
        </p:nvPicPr>
        <p:blipFill rotWithShape="1">
          <a:blip r:embed="rId4">
            <a:alphaModFix/>
          </a:blip>
          <a:srcRect b="0" l="0" r="0" t="0"/>
          <a:stretch/>
        </p:blipFill>
        <p:spPr>
          <a:xfrm>
            <a:off x="640080" y="4192524"/>
            <a:ext cx="256032" cy="256032"/>
          </a:xfrm>
          <a:prstGeom prst="rect">
            <a:avLst/>
          </a:prstGeom>
          <a:noFill/>
          <a:ln>
            <a:noFill/>
          </a:ln>
        </p:spPr>
      </p:pic>
      <p:sp>
        <p:nvSpPr>
          <p:cNvPr id="2265" name="Google Shape;2265;p84"/>
          <p:cNvSpPr txBox="1"/>
          <p:nvPr/>
        </p:nvSpPr>
        <p:spPr>
          <a:xfrm>
            <a:off x="1051560" y="4069080"/>
            <a:ext cx="749808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Play"/>
              <a:buNone/>
            </a:pPr>
            <a:r>
              <a:rPr b="1" i="0" lang="en-US" spc="0" sz="1400" u="none" cap="none" strike="noStrike">
                <a:solidFill>
                  <a:srgbClr val="FFFFFF"/>
                </a:solidFill>
                <a:latin typeface="Play"/>
                <a:ea typeface="Play"/>
                <a:cs typeface="Play"/>
                <a:sym typeface="Play"/>
              </a:rPr>
              <a:t>Questions?  </a:t>
            </a:r>
            <a:r>
              <a:rPr b="0" i="0" lang="en-US" spc="0" sz="1100" u="none" cap="none" strike="noStrike">
                <a:solidFill>
                  <a:srgbClr val="FFFFFF"/>
                </a:solidFill>
                <a:latin typeface="Arial"/>
                <a:ea typeface="Arial"/>
                <a:cs typeface="Arial"/>
                <a:sym typeface="Arial"/>
              </a:rPr>
              <a:t>Open the floor before we move to the next topic.</a:t>
            </a:r>
            <a:endParaRPr b="0" i="0" spc="0" sz="1400" u="none" cap="none" strike="noStrike">
              <a:solidFill>
                <a:schemeClr val="dk1"/>
              </a:solidFill>
              <a:latin typeface="Calibri"/>
              <a:ea typeface="Calibri"/>
              <a:cs typeface="Calibri"/>
              <a:sym typeface="Calibri"/>
            </a:endParaRPr>
          </a:p>
        </p:txBody>
      </p:sp>
      <p:sp>
        <p:nvSpPr>
          <p:cNvPr id="2266" name="Google Shape;2266;p8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1" name="Shape 2271"/>
        <p:cNvGrpSpPr/>
        <p:nvPr/>
      </p:nvGrpSpPr>
      <p:grpSpPr>
        <a:xfrm>
          <a:off x="0" y="0"/>
          <a:ext cx="0" cy="0"/>
          <a:chOff x="0" y="0"/>
          <a:chExt cx="0" cy="0"/>
        </a:xfrm>
      </p:grpSpPr>
      <p:sp>
        <p:nvSpPr>
          <p:cNvPr id="2272" name="Google Shape;2272;p85"/>
          <p:cNvSpPr txBox="1"/>
          <p:nvPr/>
        </p:nvSpPr>
        <p:spPr>
          <a:xfrm>
            <a:off x="566928" y="173736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US" spc="50" sz="800" u="none" cap="none" strike="noStrike">
                <a:solidFill>
                  <a:srgbClr val="0B7A6F"/>
                </a:solidFill>
                <a:latin typeface="Play"/>
                <a:ea typeface="Play"/>
                <a:cs typeface="Play"/>
                <a:sym typeface="Play"/>
              </a:rPr>
              <a:t>WRAP-UP</a:t>
            </a:r>
            <a:endParaRPr b="0" i="0" spc="0" sz="800" u="none" cap="none" strike="noStrike">
              <a:solidFill>
                <a:schemeClr val="dk1"/>
              </a:solidFill>
              <a:latin typeface="Calibri"/>
              <a:ea typeface="Calibri"/>
              <a:cs typeface="Calibri"/>
              <a:sym typeface="Calibri"/>
            </a:endParaRPr>
          </a:p>
        </p:txBody>
      </p:sp>
      <p:sp>
        <p:nvSpPr>
          <p:cNvPr id="2273" name="Google Shape;2273;p85"/>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US" spc="0" sz="3400" u="none" cap="none" strike="noStrike">
                <a:solidFill>
                  <a:srgbClr val="1D1D1F"/>
                </a:solidFill>
                <a:latin typeface="Play"/>
                <a:ea typeface="Play"/>
                <a:cs typeface="Play"/>
                <a:sym typeface="Play"/>
              </a:rPr>
              <a:t>Thank you!</a:t>
            </a:r>
            <a:endParaRPr b="0" i="0" spc="0" sz="3400" u="none" cap="none" strike="noStrike">
              <a:solidFill>
                <a:schemeClr val="dk1"/>
              </a:solidFill>
              <a:latin typeface="Calibri"/>
              <a:ea typeface="Calibri"/>
              <a:cs typeface="Calibri"/>
              <a:sym typeface="Calibri"/>
            </a:endParaRPr>
          </a:p>
        </p:txBody>
      </p:sp>
      <p:sp>
        <p:nvSpPr>
          <p:cNvPr id="2274" name="Google Shape;2274;p85"/>
          <p:cNvSpPr txBox="1"/>
          <p:nvPr/>
        </p:nvSpPr>
        <p:spPr>
          <a:xfrm>
            <a:off x="566928" y="26974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US" spc="0" sz="1200" u="none" cap="none" strike="noStrike">
                <a:solidFill>
                  <a:srgbClr val="6E6E73"/>
                </a:solidFill>
                <a:latin typeface="Arial"/>
                <a:ea typeface="Arial"/>
                <a:cs typeface="Arial"/>
                <a:sym typeface="Arial"/>
              </a:rPr>
              <a:t>When in doubt, check the Knowledge Library or ask your Trainer or Team Lead.</a:t>
            </a:r>
            <a:endParaRPr b="0" i="0" spc="0" sz="1200" u="none" cap="none" strike="noStrike">
              <a:solidFill>
                <a:schemeClr val="dk1"/>
              </a:solidFill>
              <a:latin typeface="Calibri"/>
              <a:ea typeface="Calibri"/>
              <a:cs typeface="Calibri"/>
              <a:sym typeface="Calibri"/>
            </a:endParaRPr>
          </a:p>
        </p:txBody>
      </p:sp>
      <p:sp>
        <p:nvSpPr>
          <p:cNvPr id="2275" name="Google Shape;2275;p85"/>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76" name="Google Shape;2276;p85"/>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7/ill9.png" id="2277" name="Google Shape;2277;p85"/>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2278" name="Google Shape;2278;p85"/>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79" name="Google Shape;2279;p85"/>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80" name="Google Shape;2280;p85"/>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81" name="Google Shape;2281;p85"/>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82" name="Google Shape;2282;p85"/>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83" name="Google Shape;2283;p85"/>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84" name="Google Shape;2284;p8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US"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