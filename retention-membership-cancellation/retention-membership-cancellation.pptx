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Lst>
  <p:sldSz cy="5143500" cx="9144000"/>
  <p:notesSz cx="5143500" cy="9144000"/>
  <p:embeddedFontLst>
    <p:embeddedFont>
      <p:font typeface="Play"/>
      <p:regular r:id="rId88"/>
      <p:bold r:id="rId8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1A78D23-FE86-4D1E-9A67-94F0228D6878}">
  <a:tblStyle styleId="{51A78D23-FE86-4D1E-9A67-94F0228D6878}"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slide" Target="slides/slide81.xml"/><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88" Type="http://schemas.openxmlformats.org/officeDocument/2006/relationships/font" Target="fonts/Play-regular.fntdata"/><Relationship Id="rId43" Type="http://schemas.openxmlformats.org/officeDocument/2006/relationships/slide" Target="slides/slide38.xml"/><Relationship Id="rId87" Type="http://schemas.openxmlformats.org/officeDocument/2006/relationships/slide" Target="slides/slide82.xml"/><Relationship Id="rId46" Type="http://schemas.openxmlformats.org/officeDocument/2006/relationships/slide" Target="slides/slide41.xml"/><Relationship Id="rId45" Type="http://schemas.openxmlformats.org/officeDocument/2006/relationships/slide" Target="slides/slide40.xml"/><Relationship Id="rId89" Type="http://schemas.openxmlformats.org/officeDocument/2006/relationships/font" Target="fonts/Play-bold.fntdata"/><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 TRAINER: in slideshow mode, click "Watch: Issuing credits" or "Watch: Issuing a voucher" to play that how-to video.</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4" name="Google Shape;46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90" name="Google Shape;49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9" name="Google Shape;5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5" name="Google Shape;52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Guardrail: when a customer asks to pause again. This applies when a customer asks for a new pause right after a previous pause. Fewer than 2 MFs have been charged and paid since the last pause ended: needs Support approval before you give another pause, no matter how long they are asking for. All three are true (at least 2 MFs charged and paid since the last pause ended; the customer has actually been using the service, booked or completed cleanings, since then; and the customer is not also asking for a refund right now): you can give the pause normally, within the caps (pausing is capped at 6 months; more needs Support approval). Any one of those three is not true: needs Support approval; this could be a sign of abuse rather than a real need for a pause. Why this matters: if a customer pauses, then immediately pauses again with no MF ever charged in between, it looks more like they are trying to avoid paying the MF (and the ETF that comes with cancelling) than genuinely needing a break. Payment alone does not prove it is genuine either: someone could pay without using the service, or ask to pause right when they are also asking for a refund. Checking for payment + actual usage + no refund request together closes those gaps.</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87" name="Google Shape;58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 SAMPLE SCENARIO: the customer has 1 paid $59 MF and a 6-month MCT from sign-up, and cancelling now costs a $140 ETF. Reducing the MCT by 1 month leaves 4 months: $59 x 4 = $236. Reducing the ETF by the maximum 50%: $140 x 50% = $70. Decision: reducing the ETF is the most cost-effective exit offer for this customer. The first-job hours check and when to offer an ETF reduction are on the next slide.</a:t>
            </a:r>
            <a:endParaRPr/>
          </a:p>
        </p:txBody>
      </p:sp>
      <p:sp>
        <p:nvSpPr>
          <p:cNvPr id="611" name="Google Shape;61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1" name="Google Shape;631;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ETF reduction. Check the first job's hours before you calculate any exit offer. The ETF is $35/hr x first-cleaning hours, so an overcharge on that job inflates the ETF. Resolve the OCH first, then present the corrected ETF and work the exit offer from that number. First job invoiced 4 hrs, the CP's own messages show 2.5: refund 1.5 hrs, and the ETF drops from $140 to $87.50. That's the ETF you present. This one depends entirely on why the customer is cancelling, specifically whether unawareness is the whole story or just part of it. If unawareness (or "I only wanted a one-time cleaning") is the only reason (you probed, and there's genuinely nothing else going on), don't offer an ETF reduction proactively. Wait for a hint that the customer would actually pay a reduced ETF before putting it on the table. Unawareness alone doesn't earn a discount; some willingness from the customer to pay is what opens that door. If there's any other reason mixed in (a service issue, a cost complaint, anything beyond plain unawareness), ETF reduction is just part of your standard exit strategy once retention's been exhausted. The only thing that changes your choice is cost: if reducing the MCT would actually be cheaper for the customer than reducing the ETF, use that instead. Pick whichever tool gets the customer out for less, not whichever feels more generous. Exception, extreme financial hardship: there's no point running through the usual retention attempts first. Go straight to exit: offer 50% off the ETF. If they decline even that, the next step is waiving the ETF entirely. What can be deducted, and in what order: MF and/or voucher price, the standard deduction; don't stack these automatically, only when justified (the customer contests paying the ETF on top of what they've already paid, or explicitly asks for both to be deducted). Additional-hours charge: if the job that triggered FC ran longer than the voucher's covered hours, and the customer was charged for that overage on their card, that charge can also be deducted from the ETF. The cap is always 50% off the original ETF, regardless of which deductions apply. More deductible line items don't raise the ceiling, they just change how you get there. Note the customer's Lifetime Net Revenue (LTNR) in your internal note when reducing the ETF, the same way you would for LMC/Lockout. It's a documentation step, not a limiter, and it doesn't override the rule that the 50% reduction must be maxed out before moving to Graceful Closure. Existing offer? Check whether a reduction was already applied before granting another. Always calculate any reduction from the original ETF, never an already-discounted amount.</a:t>
            </a:r>
            <a:endParaRPr/>
          </a:p>
        </p:txBody>
      </p:sp>
      <p:sp>
        <p:nvSpPr>
          <p:cNvPr id="632" name="Google Shape;632;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663" name="Google Shape;663;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90" name="Google Shape;690;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722" name="Google Shape;722;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4" name="Google Shape;754;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755" name="Google Shape;755;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3" name="Shape 783"/>
        <p:cNvGrpSpPr/>
        <p:nvPr/>
      </p:nvGrpSpPr>
      <p:grpSpPr>
        <a:xfrm>
          <a:off x="0" y="0"/>
          <a:ext cx="0" cy="0"/>
          <a:chOff x="0" y="0"/>
          <a:chExt cx="0" cy="0"/>
        </a:xfrm>
      </p:grpSpPr>
      <p:sp>
        <p:nvSpPr>
          <p:cNvPr id="784" name="Google Shape;784;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5" name="Google Shape;785;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86" name="Google Shape;786;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7" name="Shape 807"/>
        <p:cNvGrpSpPr/>
        <p:nvPr/>
      </p:nvGrpSpPr>
      <p:grpSpPr>
        <a:xfrm>
          <a:off x="0" y="0"/>
          <a:ext cx="0" cy="0"/>
          <a:chOff x="0" y="0"/>
          <a:chExt cx="0" cy="0"/>
        </a:xfrm>
      </p:grpSpPr>
      <p:sp>
        <p:nvSpPr>
          <p:cNvPr id="808" name="Google Shape;808;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9" name="Google Shape;809;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810" name="Google Shape;810;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1" name="Shape 841"/>
        <p:cNvGrpSpPr/>
        <p:nvPr/>
      </p:nvGrpSpPr>
      <p:grpSpPr>
        <a:xfrm>
          <a:off x="0" y="0"/>
          <a:ext cx="0" cy="0"/>
          <a:chOff x="0" y="0"/>
          <a:chExt cx="0" cy="0"/>
        </a:xfrm>
      </p:grpSpPr>
      <p:sp>
        <p:nvSpPr>
          <p:cNvPr id="842" name="Google Shape;842;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3" name="Google Shape;843;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844" name="Google Shape;844;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1" name="Shape 891"/>
        <p:cNvGrpSpPr/>
        <p:nvPr/>
      </p:nvGrpSpPr>
      <p:grpSpPr>
        <a:xfrm>
          <a:off x="0" y="0"/>
          <a:ext cx="0" cy="0"/>
          <a:chOff x="0" y="0"/>
          <a:chExt cx="0" cy="0"/>
        </a:xfrm>
      </p:grpSpPr>
      <p:sp>
        <p:nvSpPr>
          <p:cNvPr id="892" name="Google Shape;892;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3" name="Google Shape;893;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94" name="Google Shape;894;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1" name="Shape 921"/>
        <p:cNvGrpSpPr/>
        <p:nvPr/>
      </p:nvGrpSpPr>
      <p:grpSpPr>
        <a:xfrm>
          <a:off x="0" y="0"/>
          <a:ext cx="0" cy="0"/>
          <a:chOff x="0" y="0"/>
          <a:chExt cx="0" cy="0"/>
        </a:xfrm>
      </p:grpSpPr>
      <p:sp>
        <p:nvSpPr>
          <p:cNvPr id="922" name="Google Shape;92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3" name="Google Shape;92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924" name="Google Shape;92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5" name="Google Shape;955;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956" name="Google Shape;956;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6" name="Shape 986"/>
        <p:cNvGrpSpPr/>
        <p:nvPr/>
      </p:nvGrpSpPr>
      <p:grpSpPr>
        <a:xfrm>
          <a:off x="0" y="0"/>
          <a:ext cx="0" cy="0"/>
          <a:chOff x="0" y="0"/>
          <a:chExt cx="0" cy="0"/>
        </a:xfrm>
      </p:grpSpPr>
      <p:sp>
        <p:nvSpPr>
          <p:cNvPr id="987" name="Google Shape;987;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8" name="Google Shape;988;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89" name="Google Shape;989;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7" name="Shape 1017"/>
        <p:cNvGrpSpPr/>
        <p:nvPr/>
      </p:nvGrpSpPr>
      <p:grpSpPr>
        <a:xfrm>
          <a:off x="0" y="0"/>
          <a:ext cx="0" cy="0"/>
          <a:chOff x="0" y="0"/>
          <a:chExt cx="0" cy="0"/>
        </a:xfrm>
      </p:grpSpPr>
      <p:sp>
        <p:nvSpPr>
          <p:cNvPr id="1018" name="Google Shape;1018;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9" name="Google Shape;1019;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1020" name="Google Shape;1020;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5" name="Shape 1035"/>
        <p:cNvGrpSpPr/>
        <p:nvPr/>
      </p:nvGrpSpPr>
      <p:grpSpPr>
        <a:xfrm>
          <a:off x="0" y="0"/>
          <a:ext cx="0" cy="0"/>
          <a:chOff x="0" y="0"/>
          <a:chExt cx="0" cy="0"/>
        </a:xfrm>
      </p:grpSpPr>
      <p:sp>
        <p:nvSpPr>
          <p:cNvPr id="1036" name="Google Shape;1036;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7" name="Google Shape;1037;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1038" name="Google Shape;1038;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8" name="Shape 1048"/>
        <p:cNvGrpSpPr/>
        <p:nvPr/>
      </p:nvGrpSpPr>
      <p:grpSpPr>
        <a:xfrm>
          <a:off x="0" y="0"/>
          <a:ext cx="0" cy="0"/>
          <a:chOff x="0" y="0"/>
          <a:chExt cx="0" cy="0"/>
        </a:xfrm>
      </p:grpSpPr>
      <p:sp>
        <p:nvSpPr>
          <p:cNvPr id="1049" name="Google Shape;1049;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0" name="Google Shape;1050;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1051" name="Google Shape;1051;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8" name="Google Shape;1068;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69" name="Google Shape;1069;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9" name="Shape 1099"/>
        <p:cNvGrpSpPr/>
        <p:nvPr/>
      </p:nvGrpSpPr>
      <p:grpSpPr>
        <a:xfrm>
          <a:off x="0" y="0"/>
          <a:ext cx="0" cy="0"/>
          <a:chOff x="0" y="0"/>
          <a:chExt cx="0" cy="0"/>
        </a:xfrm>
      </p:grpSpPr>
      <p:sp>
        <p:nvSpPr>
          <p:cNvPr id="1100" name="Google Shape;1100;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1" name="Google Shape;1101;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Offering something small, the customer declines, offering more, repeat: this creates a transactional, pushy experience that reduces trust. It also teaches customers that declining gets them a better offer, which isn't fair to customers who accept the first reasonable one. The fix isn't "never increase an offer"; any stronger offer must be tied to the customer's specific reason for wanting to cancel, not offered just because they said no to the last one. Also: an offer that doesn't address the customer's actual concern is unlikely to retain them and can cheapen the perceived value of the membership.</a:t>
            </a:r>
            <a:endParaRPr/>
          </a:p>
        </p:txBody>
      </p:sp>
      <p:sp>
        <p:nvSpPr>
          <p:cNvPr id="1102" name="Google Shape;1102;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7" name="Shape 1137"/>
        <p:cNvGrpSpPr/>
        <p:nvPr/>
      </p:nvGrpSpPr>
      <p:grpSpPr>
        <a:xfrm>
          <a:off x="0" y="0"/>
          <a:ext cx="0" cy="0"/>
          <a:chOff x="0" y="0"/>
          <a:chExt cx="0" cy="0"/>
        </a:xfrm>
      </p:grpSpPr>
      <p:sp>
        <p:nvSpPr>
          <p:cNvPr id="1138" name="Google Shape;1138;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9" name="Google Shape;1139;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140" name="Google Shape;1140;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8" name="Shape 1158"/>
        <p:cNvGrpSpPr/>
        <p:nvPr/>
      </p:nvGrpSpPr>
      <p:grpSpPr>
        <a:xfrm>
          <a:off x="0" y="0"/>
          <a:ext cx="0" cy="0"/>
          <a:chOff x="0" y="0"/>
          <a:chExt cx="0" cy="0"/>
        </a:xfrm>
      </p:grpSpPr>
      <p:sp>
        <p:nvSpPr>
          <p:cNvPr id="1159" name="Google Shape;1159;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0" name="Google Shape;1160;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161" name="Google Shape;1161;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5" name="Shape 1185"/>
        <p:cNvGrpSpPr/>
        <p:nvPr/>
      </p:nvGrpSpPr>
      <p:grpSpPr>
        <a:xfrm>
          <a:off x="0" y="0"/>
          <a:ext cx="0" cy="0"/>
          <a:chOff x="0" y="0"/>
          <a:chExt cx="0" cy="0"/>
        </a:xfrm>
      </p:grpSpPr>
      <p:sp>
        <p:nvSpPr>
          <p:cNvPr id="1186" name="Google Shape;1186;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7" name="Google Shape;1187;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88" name="Google Shape;1188;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2" name="Shape 1222"/>
        <p:cNvGrpSpPr/>
        <p:nvPr/>
      </p:nvGrpSpPr>
      <p:grpSpPr>
        <a:xfrm>
          <a:off x="0" y="0"/>
          <a:ext cx="0" cy="0"/>
          <a:chOff x="0" y="0"/>
          <a:chExt cx="0" cy="0"/>
        </a:xfrm>
      </p:grpSpPr>
      <p:sp>
        <p:nvSpPr>
          <p:cNvPr id="1223" name="Google Shape;1223;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4" name="Google Shape;1224;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225" name="Google Shape;1225;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0" name="Shape 1260"/>
        <p:cNvGrpSpPr/>
        <p:nvPr/>
      </p:nvGrpSpPr>
      <p:grpSpPr>
        <a:xfrm>
          <a:off x="0" y="0"/>
          <a:ext cx="0" cy="0"/>
          <a:chOff x="0" y="0"/>
          <a:chExt cx="0" cy="0"/>
        </a:xfrm>
      </p:grpSpPr>
      <p:sp>
        <p:nvSpPr>
          <p:cNvPr id="1261" name="Google Shape;1261;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2" name="Google Shape;1262;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263" name="Google Shape;1263;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0" name="Shape 1290"/>
        <p:cNvGrpSpPr/>
        <p:nvPr/>
      </p:nvGrpSpPr>
      <p:grpSpPr>
        <a:xfrm>
          <a:off x="0" y="0"/>
          <a:ext cx="0" cy="0"/>
          <a:chOff x="0" y="0"/>
          <a:chExt cx="0" cy="0"/>
        </a:xfrm>
      </p:grpSpPr>
      <p:sp>
        <p:nvSpPr>
          <p:cNvPr id="1291" name="Google Shape;129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2" name="Google Shape;129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93" name="Google Shape;129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3" name="Shape 1323"/>
        <p:cNvGrpSpPr/>
        <p:nvPr/>
      </p:nvGrpSpPr>
      <p:grpSpPr>
        <a:xfrm>
          <a:off x="0" y="0"/>
          <a:ext cx="0" cy="0"/>
          <a:chOff x="0" y="0"/>
          <a:chExt cx="0" cy="0"/>
        </a:xfrm>
      </p:grpSpPr>
      <p:sp>
        <p:nvSpPr>
          <p:cNvPr id="1324" name="Google Shape;132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5" name="Google Shape;132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326" name="Google Shape;132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5" name="Shape 1345"/>
        <p:cNvGrpSpPr/>
        <p:nvPr/>
      </p:nvGrpSpPr>
      <p:grpSpPr>
        <a:xfrm>
          <a:off x="0" y="0"/>
          <a:ext cx="0" cy="0"/>
          <a:chOff x="0" y="0"/>
          <a:chExt cx="0" cy="0"/>
        </a:xfrm>
      </p:grpSpPr>
      <p:sp>
        <p:nvSpPr>
          <p:cNvPr id="1346" name="Google Shape;1346;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7" name="Google Shape;1347;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a customer already mentioned their cancellation reason to someone else (told the CP, not you), still probe. This isn't ignoring information you have; it gives the customer the chance to express it directly to you. Customers given the opportunity to explain their own situation are more likely to be retained. Weak (assumption-based): "I'm sorry to hear you want to cancel, do you mind sharing why?" Strong (customer-led): "Your cleaner mentioned you want to cancel the service, but I'd like to hear directly from you. Would you mind sharing what led you to consider canceling?"</a:t>
            </a:r>
            <a:endParaRPr/>
          </a:p>
        </p:txBody>
      </p:sp>
      <p:sp>
        <p:nvSpPr>
          <p:cNvPr id="1348" name="Google Shape;1348;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5" name="Shape 1365"/>
        <p:cNvGrpSpPr/>
        <p:nvPr/>
      </p:nvGrpSpPr>
      <p:grpSpPr>
        <a:xfrm>
          <a:off x="0" y="0"/>
          <a:ext cx="0" cy="0"/>
          <a:chOff x="0" y="0"/>
          <a:chExt cx="0" cy="0"/>
        </a:xfrm>
      </p:grpSpPr>
      <p:sp>
        <p:nvSpPr>
          <p:cNvPr id="1366" name="Google Shape;1366;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7" name="Google Shape;1367;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68" name="Google Shape;1368;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3" name="Shape 1393"/>
        <p:cNvGrpSpPr/>
        <p:nvPr/>
      </p:nvGrpSpPr>
      <p:grpSpPr>
        <a:xfrm>
          <a:off x="0" y="0"/>
          <a:ext cx="0" cy="0"/>
          <a:chOff x="0" y="0"/>
          <a:chExt cx="0" cy="0"/>
        </a:xfrm>
      </p:grpSpPr>
      <p:sp>
        <p:nvSpPr>
          <p:cNvPr id="1394" name="Google Shape;1394;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5" name="Google Shape;1395;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396" name="Google Shape;1396;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1" name="Shape 1421"/>
        <p:cNvGrpSpPr/>
        <p:nvPr/>
      </p:nvGrpSpPr>
      <p:grpSpPr>
        <a:xfrm>
          <a:off x="0" y="0"/>
          <a:ext cx="0" cy="0"/>
          <a:chOff x="0" y="0"/>
          <a:chExt cx="0" cy="0"/>
        </a:xfrm>
      </p:grpSpPr>
      <p:sp>
        <p:nvSpPr>
          <p:cNvPr id="1422" name="Google Shape;1422;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3" name="Google Shape;1423;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424" name="Google Shape;1424;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5" name="Google Shape;1455;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456" name="Google Shape;1456;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89" name="Google Shape;1489;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520" name="Google Shape;1520;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549" name="Google Shape;1549;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3" name="Shape 1583"/>
        <p:cNvGrpSpPr/>
        <p:nvPr/>
      </p:nvGrpSpPr>
      <p:grpSpPr>
        <a:xfrm>
          <a:off x="0" y="0"/>
          <a:ext cx="0" cy="0"/>
          <a:chOff x="0" y="0"/>
          <a:chExt cx="0" cy="0"/>
        </a:xfrm>
      </p:grpSpPr>
      <p:sp>
        <p:nvSpPr>
          <p:cNvPr id="1584" name="Google Shape;1584;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5" name="Google Shape;1585;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a:t>
            </a:r>
            <a:endParaRPr/>
          </a:p>
        </p:txBody>
      </p:sp>
      <p:sp>
        <p:nvSpPr>
          <p:cNvPr id="1586" name="Google Shape;1586;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5" name="Google Shape;1615;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Check if the customer already gave a reason. If they did, go to the Retention Strategy Table for the applicable offer. If not, probe first; don't skip straight to offers. Then: acknowledge as necessary. Address the actual issue: a service issue means blocking the C/CP pairing and coaching or penalizing the CP as needed; a membership-terms issue means checking the Retention Strategy Table. Present retention offers where applicable. Remind them the voucher is valid for a year, so they can use it later. Remind them the voucher comes with a membership. If they have refund intent specifically, provide the self-refund link, and only then: tell them to enter the voucher code before clicking "Refund Voucher", and double-check the code in your message, since a wrong code breaks the refund. Check upcoming appointments and an active RC plan; if there's no sign they want to keep them, cancel via CRM with the correct cancellation reason code. If they decline and insist on a refund: refund the voucher through CRM (CRM &gt; voucher &gt; refund DHJ/FC) and invalidate it right away, advise the 5–10 business day timeframe, and deactivate the FC table if there is one.</a:t>
            </a:r>
            <a:endParaRPr/>
          </a:p>
        </p:txBody>
      </p:sp>
      <p:sp>
        <p:nvSpPr>
          <p:cNvPr id="1616" name="Google Shape;1616;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6" name="Shape 1656"/>
        <p:cNvGrpSpPr/>
        <p:nvPr/>
      </p:nvGrpSpPr>
      <p:grpSpPr>
        <a:xfrm>
          <a:off x="0" y="0"/>
          <a:ext cx="0" cy="0"/>
          <a:chOff x="0" y="0"/>
          <a:chExt cx="0" cy="0"/>
        </a:xfrm>
      </p:grpSpPr>
      <p:sp>
        <p:nvSpPr>
          <p:cNvPr id="1657" name="Google Shape;165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8" name="Google Shape;1658;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Strategy Table. Service: service-related issues (CP no-show, CP cancellation, no CP claim): offer $10–$20 credits. Service limitations or personal reasons (found a different cleaner, wants same-day cleaning, moved, lack of phone support, will self-clean): no offers necessary. Membership-related: MF is expensive, offer to reduce the MF by $10–$15 off the original MF; MCT is too long, offer to reduce the MCT by 2 months from the original MCT; doesn't want a membership in general, no offers necessary, advise them to contact us if they want more flexible terms, and a one-time cleaning (full price, charged upfront) can be offered as applicable. One-time cleaning: offer at full price, charged upfront. Trial Cleaning: offer at regular price, charged upfront. Macros: Unused DHJ Voucher: Refund Request; Wants to "Try it Out" (Trial Cleaning); Wants One Time Cleaning.</a:t>
            </a:r>
            <a:endParaRPr/>
          </a:p>
        </p:txBody>
      </p:sp>
      <p:sp>
        <p:nvSpPr>
          <p:cNvPr id="1659" name="Google Shape;1659;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6" name="Shape 1666"/>
        <p:cNvGrpSpPr/>
        <p:nvPr/>
      </p:nvGrpSpPr>
      <p:grpSpPr>
        <a:xfrm>
          <a:off x="0" y="0"/>
          <a:ext cx="0" cy="0"/>
          <a:chOff x="0" y="0"/>
          <a:chExt cx="0" cy="0"/>
        </a:xfrm>
      </p:grpSpPr>
      <p:sp>
        <p:nvSpPr>
          <p:cNvPr id="1667" name="Google Shape;1667;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8" name="Google Shape;1668;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69" name="Google Shape;1669;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a:t>
            </a:r>
            <a:endParaRPr/>
          </a:p>
        </p:txBody>
      </p:sp>
      <p:sp>
        <p:nvSpPr>
          <p:cNvPr id="1700" name="Google Shape;1700;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4" name="Shape 1724"/>
        <p:cNvGrpSpPr/>
        <p:nvPr/>
      </p:nvGrpSpPr>
      <p:grpSpPr>
        <a:xfrm>
          <a:off x="0" y="0"/>
          <a:ext cx="0" cy="0"/>
          <a:chOff x="0" y="0"/>
          <a:chExt cx="0" cy="0"/>
        </a:xfrm>
      </p:grpSpPr>
      <p:sp>
        <p:nvSpPr>
          <p:cNvPr id="1725" name="Google Shape;1725;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6" name="Google Shape;1726;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727" name="Google Shape;1727;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6" name="Shape 1756"/>
        <p:cNvGrpSpPr/>
        <p:nvPr/>
      </p:nvGrpSpPr>
      <p:grpSpPr>
        <a:xfrm>
          <a:off x="0" y="0"/>
          <a:ext cx="0" cy="0"/>
          <a:chOff x="0" y="0"/>
          <a:chExt cx="0" cy="0"/>
        </a:xfrm>
      </p:grpSpPr>
      <p:sp>
        <p:nvSpPr>
          <p:cNvPr id="1757" name="Google Shape;1757;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8" name="Google Shape;1758;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759" name="Google Shape;1759;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9" name="Shape 1789"/>
        <p:cNvGrpSpPr/>
        <p:nvPr/>
      </p:nvGrpSpPr>
      <p:grpSpPr>
        <a:xfrm>
          <a:off x="0" y="0"/>
          <a:ext cx="0" cy="0"/>
          <a:chOff x="0" y="0"/>
          <a:chExt cx="0" cy="0"/>
        </a:xfrm>
      </p:grpSpPr>
      <p:sp>
        <p:nvSpPr>
          <p:cNvPr id="1790" name="Google Shape;1790;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1" name="Google Shape;1791;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92" name="Google Shape;1792;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0" name="Shape 1820"/>
        <p:cNvGrpSpPr/>
        <p:nvPr/>
      </p:nvGrpSpPr>
      <p:grpSpPr>
        <a:xfrm>
          <a:off x="0" y="0"/>
          <a:ext cx="0" cy="0"/>
          <a:chOff x="0" y="0"/>
          <a:chExt cx="0" cy="0"/>
        </a:xfrm>
      </p:grpSpPr>
      <p:sp>
        <p:nvSpPr>
          <p:cNvPr id="1821" name="Google Shape;1821;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2" name="Google Shape;1822;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823" name="Google Shape;1823;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1" name="Shape 1841"/>
        <p:cNvGrpSpPr/>
        <p:nvPr/>
      </p:nvGrpSpPr>
      <p:grpSpPr>
        <a:xfrm>
          <a:off x="0" y="0"/>
          <a:ext cx="0" cy="0"/>
          <a:chOff x="0" y="0"/>
          <a:chExt cx="0" cy="0"/>
        </a:xfrm>
      </p:grpSpPr>
      <p:sp>
        <p:nvSpPr>
          <p:cNvPr id="1842" name="Google Shape;1842;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3" name="Google Shape;1843;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844" name="Google Shape;1844;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2" name="Shape 1872"/>
        <p:cNvGrpSpPr/>
        <p:nvPr/>
      </p:nvGrpSpPr>
      <p:grpSpPr>
        <a:xfrm>
          <a:off x="0" y="0"/>
          <a:ext cx="0" cy="0"/>
          <a:chOff x="0" y="0"/>
          <a:chExt cx="0" cy="0"/>
        </a:xfrm>
      </p:grpSpPr>
      <p:sp>
        <p:nvSpPr>
          <p:cNvPr id="1873" name="Google Shape;1873;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4" name="Google Shape;1874;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875" name="Google Shape;1875;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8" name="Shape 1888"/>
        <p:cNvGrpSpPr/>
        <p:nvPr/>
      </p:nvGrpSpPr>
      <p:grpSpPr>
        <a:xfrm>
          <a:off x="0" y="0"/>
          <a:ext cx="0" cy="0"/>
          <a:chOff x="0" y="0"/>
          <a:chExt cx="0" cy="0"/>
        </a:xfrm>
      </p:grpSpPr>
      <p:sp>
        <p:nvSpPr>
          <p:cNvPr id="1889" name="Google Shape;1889;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0" name="Google Shape;1890;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891" name="Google Shape;1891;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7" name="Shape 1907"/>
        <p:cNvGrpSpPr/>
        <p:nvPr/>
      </p:nvGrpSpPr>
      <p:grpSpPr>
        <a:xfrm>
          <a:off x="0" y="0"/>
          <a:ext cx="0" cy="0"/>
          <a:chOff x="0" y="0"/>
          <a:chExt cx="0" cy="0"/>
        </a:xfrm>
      </p:grpSpPr>
      <p:sp>
        <p:nvSpPr>
          <p:cNvPr id="1908" name="Google Shape;1908;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9" name="Google Shape;1909;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910" name="Google Shape;1910;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8" name="Shape 1938"/>
        <p:cNvGrpSpPr/>
        <p:nvPr/>
      </p:nvGrpSpPr>
      <p:grpSpPr>
        <a:xfrm>
          <a:off x="0" y="0"/>
          <a:ext cx="0" cy="0"/>
          <a:chOff x="0" y="0"/>
          <a:chExt cx="0" cy="0"/>
        </a:xfrm>
      </p:grpSpPr>
      <p:sp>
        <p:nvSpPr>
          <p:cNvPr id="1939" name="Google Shape;1939;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0" name="Google Shape;1940;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1941" name="Google Shape;1941;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0" name="Shape 1970"/>
        <p:cNvGrpSpPr/>
        <p:nvPr/>
      </p:nvGrpSpPr>
      <p:grpSpPr>
        <a:xfrm>
          <a:off x="0" y="0"/>
          <a:ext cx="0" cy="0"/>
          <a:chOff x="0" y="0"/>
          <a:chExt cx="0" cy="0"/>
        </a:xfrm>
      </p:grpSpPr>
      <p:sp>
        <p:nvSpPr>
          <p:cNvPr id="1971" name="Google Shape;1971;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2" name="Google Shape;1972;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973" name="Google Shape;1973;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2" name="Shape 2002"/>
        <p:cNvGrpSpPr/>
        <p:nvPr/>
      </p:nvGrpSpPr>
      <p:grpSpPr>
        <a:xfrm>
          <a:off x="0" y="0"/>
          <a:ext cx="0" cy="0"/>
          <a:chOff x="0" y="0"/>
          <a:chExt cx="0" cy="0"/>
        </a:xfrm>
      </p:grpSpPr>
      <p:sp>
        <p:nvSpPr>
          <p:cNvPr id="2003" name="Google Shape;2003;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4" name="Google Shape;2004;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2005" name="Google Shape;2005;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5" name="Shape 2035"/>
        <p:cNvGrpSpPr/>
        <p:nvPr/>
      </p:nvGrpSpPr>
      <p:grpSpPr>
        <a:xfrm>
          <a:off x="0" y="0"/>
          <a:ext cx="0" cy="0"/>
          <a:chOff x="0" y="0"/>
          <a:chExt cx="0" cy="0"/>
        </a:xfrm>
      </p:grpSpPr>
      <p:sp>
        <p:nvSpPr>
          <p:cNvPr id="2036" name="Google Shape;2036;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7" name="Google Shape;2037;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2038" name="Google Shape;2038;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6" name="Shape 2066"/>
        <p:cNvGrpSpPr/>
        <p:nvPr/>
      </p:nvGrpSpPr>
      <p:grpSpPr>
        <a:xfrm>
          <a:off x="0" y="0"/>
          <a:ext cx="0" cy="0"/>
          <a:chOff x="0" y="0"/>
          <a:chExt cx="0" cy="0"/>
        </a:xfrm>
      </p:grpSpPr>
      <p:sp>
        <p:nvSpPr>
          <p:cNvPr id="2067" name="Google Shape;2067;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8" name="Google Shape;2068;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069" name="Google Shape;2069;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4" name="Shape 2084"/>
        <p:cNvGrpSpPr/>
        <p:nvPr/>
      </p:nvGrpSpPr>
      <p:grpSpPr>
        <a:xfrm>
          <a:off x="0" y="0"/>
          <a:ext cx="0" cy="0"/>
          <a:chOff x="0" y="0"/>
          <a:chExt cx="0" cy="0"/>
        </a:xfrm>
      </p:grpSpPr>
      <p:sp>
        <p:nvSpPr>
          <p:cNvPr id="2085" name="Google Shape;2085;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6" name="Google Shape;2086;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087" name="Google Shape;2087;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6" name="Shape 2106"/>
        <p:cNvGrpSpPr/>
        <p:nvPr/>
      </p:nvGrpSpPr>
      <p:grpSpPr>
        <a:xfrm>
          <a:off x="0" y="0"/>
          <a:ext cx="0" cy="0"/>
          <a:chOff x="0" y="0"/>
          <a:chExt cx="0" cy="0"/>
        </a:xfrm>
      </p:grpSpPr>
      <p:sp>
        <p:nvSpPr>
          <p:cNvPr id="2107" name="Google Shape;2107;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8" name="Google Shape;2108;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109" name="Google Shape;2109;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7" name="Shape 2127"/>
        <p:cNvGrpSpPr/>
        <p:nvPr/>
      </p:nvGrpSpPr>
      <p:grpSpPr>
        <a:xfrm>
          <a:off x="0" y="0"/>
          <a:ext cx="0" cy="0"/>
          <a:chOff x="0" y="0"/>
          <a:chExt cx="0" cy="0"/>
        </a:xfrm>
      </p:grpSpPr>
      <p:sp>
        <p:nvSpPr>
          <p:cNvPr id="2128" name="Google Shape;2128;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9" name="Google Shape;2129;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accepts: confirm the account info (complete address, a valid card on file, appointment date, time and duration). If they still want a refund: DHJ, refund the voucher via CRM and invalidate it; FCF, log the 1st charge (1st MF + add-on, if any) to the FCF Refund log so a TL refunds it via Stripe. If they no longer want a refund, apply the deduction and invalidate the voucher (DHJ voucher price; FCF all MFs paid + add-on). Charge upfront using the FC Sales Calculator. Book the appointment (CRM if applicable, otherwise the customer dashboard). Handle the existing FC table: OTC (DHJ or FCF), invalidate the voucher and deactivate the FC table. DHJ TC: leave the FC table as is, since DHJ MFs only start after a completed job. FCF TC: deactivate the FC table, since FCF starts at sign-up and auto-renews. Prevent a double charge: issue an admin_courtesy voucher (don't notify the customer). TC only: click the voucher in Legacy CRM and select "ForeverClean force" (triggers FC once the job is completed) and "1 free month" (delays the next MF by 30 days); add the customer to the FC table (FCF); update the ETF to $99. Confirm to the customer: charged upfront, appointment booked, notified once the CP confirms.</a:t>
            </a:r>
            <a:endParaRPr/>
          </a:p>
        </p:txBody>
      </p:sp>
      <p:sp>
        <p:nvSpPr>
          <p:cNvPr id="2130" name="Google Shape;2130;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4" name="Shape 2164"/>
        <p:cNvGrpSpPr/>
        <p:nvPr/>
      </p:nvGrpSpPr>
      <p:grpSpPr>
        <a:xfrm>
          <a:off x="0" y="0"/>
          <a:ext cx="0" cy="0"/>
          <a:chOff x="0" y="0"/>
          <a:chExt cx="0" cy="0"/>
        </a:xfrm>
      </p:grpSpPr>
      <p:sp>
        <p:nvSpPr>
          <p:cNvPr id="2165" name="Google Shape;2165;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6" name="Google Shape;2166;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a:p>
        </p:txBody>
      </p:sp>
      <p:sp>
        <p:nvSpPr>
          <p:cNvPr id="2167" name="Google Shape;2167;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3" name="Google Shape;2193;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194" name="Google Shape;2194;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2" name="Shape 2212"/>
        <p:cNvGrpSpPr/>
        <p:nvPr/>
      </p:nvGrpSpPr>
      <p:grpSpPr>
        <a:xfrm>
          <a:off x="0" y="0"/>
          <a:ext cx="0" cy="0"/>
          <a:chOff x="0" y="0"/>
          <a:chExt cx="0" cy="0"/>
        </a:xfrm>
      </p:grpSpPr>
      <p:sp>
        <p:nvSpPr>
          <p:cNvPr id="2213" name="Google Shape;2213;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4" name="Google Shape;2214;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215" name="Google Shape;2215;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9" name="Shape 2239"/>
        <p:cNvGrpSpPr/>
        <p:nvPr/>
      </p:nvGrpSpPr>
      <p:grpSpPr>
        <a:xfrm>
          <a:off x="0" y="0"/>
          <a:ext cx="0" cy="0"/>
          <a:chOff x="0" y="0"/>
          <a:chExt cx="0" cy="0"/>
        </a:xfrm>
      </p:grpSpPr>
      <p:sp>
        <p:nvSpPr>
          <p:cNvPr id="2240" name="Google Shape;2240;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1" name="Google Shape;2241;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242" name="Google Shape;2242;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1" name="Shape 2271"/>
        <p:cNvGrpSpPr/>
        <p:nvPr/>
      </p:nvGrpSpPr>
      <p:grpSpPr>
        <a:xfrm>
          <a:off x="0" y="0"/>
          <a:ext cx="0" cy="0"/>
          <a:chOff x="0" y="0"/>
          <a:chExt cx="0" cy="0"/>
        </a:xfrm>
      </p:grpSpPr>
      <p:sp>
        <p:nvSpPr>
          <p:cNvPr id="2272" name="Google Shape;2272;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3" name="Google Shape;2273;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274" name="Google Shape;2274;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4" name="Shape 2304"/>
        <p:cNvGrpSpPr/>
        <p:nvPr/>
      </p:nvGrpSpPr>
      <p:grpSpPr>
        <a:xfrm>
          <a:off x="0" y="0"/>
          <a:ext cx="0" cy="0"/>
          <a:chOff x="0" y="0"/>
          <a:chExt cx="0" cy="0"/>
        </a:xfrm>
      </p:grpSpPr>
      <p:sp>
        <p:nvSpPr>
          <p:cNvPr id="2305" name="Google Shape;2305;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6" name="Google Shape;2306;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307" name="Google Shape;2307;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3.xml"/><Relationship Id="rId11" Type="http://schemas.openxmlformats.org/officeDocument/2006/relationships/slide" Target="/ppt/slides/slide28.xml"/><Relationship Id="rId22" Type="http://schemas.openxmlformats.org/officeDocument/2006/relationships/slide" Target="/ppt/slides/slide72.xml"/><Relationship Id="rId10" Type="http://schemas.openxmlformats.org/officeDocument/2006/relationships/slide" Target="/ppt/slides/slide28.xml"/><Relationship Id="rId21" Type="http://schemas.openxmlformats.org/officeDocument/2006/relationships/slide" Target="/ppt/slides/slide72.xml"/><Relationship Id="rId13" Type="http://schemas.openxmlformats.org/officeDocument/2006/relationships/slide" Target="/ppt/slides/slide35.xml"/><Relationship Id="rId12" Type="http://schemas.openxmlformats.org/officeDocument/2006/relationships/slide" Target="/ppt/slides/slide35.xml"/><Relationship Id="rId23" Type="http://schemas.openxmlformats.org/officeDocument/2006/relationships/slide" Target="/ppt/slides/slide72.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8.xml"/><Relationship Id="rId15" Type="http://schemas.openxmlformats.org/officeDocument/2006/relationships/slide" Target="/ppt/slides/slide53.xml"/><Relationship Id="rId14" Type="http://schemas.openxmlformats.org/officeDocument/2006/relationships/slide" Target="/ppt/slides/slide35.xml"/><Relationship Id="rId17" Type="http://schemas.openxmlformats.org/officeDocument/2006/relationships/slide" Target="/ppt/slides/slide53.xml"/><Relationship Id="rId16" Type="http://schemas.openxmlformats.org/officeDocument/2006/relationships/slide" Target="/ppt/slides/slide53.xml"/><Relationship Id="rId5" Type="http://schemas.openxmlformats.org/officeDocument/2006/relationships/slide" Target="/ppt/slides/slide3.xml"/><Relationship Id="rId19" Type="http://schemas.openxmlformats.org/officeDocument/2006/relationships/slide" Target="/ppt/slides/slide63.xml"/><Relationship Id="rId6" Type="http://schemas.openxmlformats.org/officeDocument/2006/relationships/slide" Target="/ppt/slides/slide12.xml"/><Relationship Id="rId18" Type="http://schemas.openxmlformats.org/officeDocument/2006/relationships/slide" Target="/ppt/slides/slide63.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22.png"/><Relationship Id="rId5" Type="http://schemas.openxmlformats.org/officeDocument/2006/relationships/image" Target="../media/image16.png"/><Relationship Id="rId6" Type="http://schemas.openxmlformats.org/officeDocument/2006/relationships/image" Target="../media/image19.png"/><Relationship Id="rId7"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15.png"/><Relationship Id="rId5"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drive.google.com/file/d/1f9SkROdd6ZQ01fgADNoryrOM1S-hbers/view?usp=drive_link" TargetMode="External"/><Relationship Id="rId4" Type="http://schemas.openxmlformats.org/officeDocument/2006/relationships/hyperlink" Target="https://drive.google.com/file/d/1FYPC3uPVpHR5z_jfTcPIV1V5yKSX3KW0/view?usp=drive_link" TargetMode="External"/><Relationship Id="rId5"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0.png"/><Relationship Id="rId4" Type="http://schemas.openxmlformats.org/officeDocument/2006/relationships/image" Target="../media/image29.png"/><Relationship Id="rId5"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 Id="rId4"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6.png"/><Relationship Id="rId4"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7.png"/><Relationship Id="rId4" Type="http://schemas.openxmlformats.org/officeDocument/2006/relationships/image" Target="../media/image27.png"/><Relationship Id="rId5" Type="http://schemas.openxmlformats.org/officeDocument/2006/relationships/image" Target="../media/image35.png"/><Relationship Id="rId6" Type="http://schemas.openxmlformats.org/officeDocument/2006/relationships/image" Target="../media/image41.png"/><Relationship Id="rId7" Type="http://schemas.openxmlformats.org/officeDocument/2006/relationships/image" Target="../media/image4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8.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23.png"/><Relationship Id="rId7" Type="http://schemas.openxmlformats.org/officeDocument/2006/relationships/image" Target="../media/image44.png"/><Relationship Id="rId8" Type="http://schemas.openxmlformats.org/officeDocument/2006/relationships/image" Target="../media/image4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40.png"/><Relationship Id="rId4" Type="http://schemas.openxmlformats.org/officeDocument/2006/relationships/image" Target="../media/image45.png"/><Relationship Id="rId5" Type="http://schemas.openxmlformats.org/officeDocument/2006/relationships/image" Target="../media/image42.png"/><Relationship Id="rId6"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2.png"/><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png"/><Relationship Id="rId4" Type="http://schemas.openxmlformats.org/officeDocument/2006/relationships/image" Target="../media/image4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5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53.png"/><Relationship Id="rId4" Type="http://schemas.openxmlformats.org/officeDocument/2006/relationships/image" Target="../media/image29.png"/><Relationship Id="rId5" Type="http://schemas.openxmlformats.org/officeDocument/2006/relationships/image" Target="../media/image52.png"/><Relationship Id="rId6" Type="http://schemas.openxmlformats.org/officeDocument/2006/relationships/image" Target="../media/image5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5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55.png"/><Relationship Id="rId4" Type="http://schemas.openxmlformats.org/officeDocument/2006/relationships/image" Target="../media/image57.png"/><Relationship Id="rId5" Type="http://schemas.openxmlformats.org/officeDocument/2006/relationships/image" Target="../media/image4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0.png"/><Relationship Id="rId4" Type="http://schemas.openxmlformats.org/officeDocument/2006/relationships/image" Target="../media/image5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71.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5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61.png"/><Relationship Id="rId4" Type="http://schemas.openxmlformats.org/officeDocument/2006/relationships/image" Target="../media/image22.png"/><Relationship Id="rId5" Type="http://schemas.openxmlformats.org/officeDocument/2006/relationships/image" Target="../media/image4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63.png"/><Relationship Id="rId4" Type="http://schemas.openxmlformats.org/officeDocument/2006/relationships/image" Target="../media/image16.png"/><Relationship Id="rId5" Type="http://schemas.openxmlformats.org/officeDocument/2006/relationships/image" Target="../media/image66.png"/><Relationship Id="rId6" Type="http://schemas.openxmlformats.org/officeDocument/2006/relationships/image" Target="../media/image6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64.png"/><Relationship Id="rId4" Type="http://schemas.openxmlformats.org/officeDocument/2006/relationships/image" Target="../media/image6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6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69.png"/><Relationship Id="rId4" Type="http://schemas.openxmlformats.org/officeDocument/2006/relationships/image" Target="../media/image68.png"/><Relationship Id="rId5" Type="http://schemas.openxmlformats.org/officeDocument/2006/relationships/image" Target="../media/image16.png"/><Relationship Id="rId6" Type="http://schemas.openxmlformats.org/officeDocument/2006/relationships/image" Target="../media/image70.png"/><Relationship Id="rId7" Type="http://schemas.openxmlformats.org/officeDocument/2006/relationships/image" Target="../media/image5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2.png"/><Relationship Id="rId4"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png"/><Relationship Id="rId4" Type="http://schemas.openxmlformats.org/officeDocument/2006/relationships/image" Target="../media/image7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4.png"/><Relationship Id="rId4" Type="http://schemas.openxmlformats.org/officeDocument/2006/relationships/hyperlink" Target="https://www.homeaglow.com/crm/tickets/tkt_gs2vwxl9s8x4" TargetMode="External"/><Relationship Id="rId5" Type="http://schemas.openxmlformats.org/officeDocument/2006/relationships/hyperlink" Target="https://www.homeaglow.com/crm/tickets/tkt_gs2vwxl9s8x4"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9.png"/><Relationship Id="rId4" Type="http://schemas.openxmlformats.org/officeDocument/2006/relationships/image" Target="../media/image74.png"/><Relationship Id="rId5" Type="http://schemas.openxmlformats.org/officeDocument/2006/relationships/image" Target="../media/image76.png"/><Relationship Id="rId6"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png"/><Relationship Id="rId4" Type="http://schemas.openxmlformats.org/officeDocument/2006/relationships/image" Target="../media/image73.png"/><Relationship Id="rId5" Type="http://schemas.openxmlformats.org/officeDocument/2006/relationships/image" Target="../media/image40.png"/><Relationship Id="rId6" Type="http://schemas.openxmlformats.org/officeDocument/2006/relationships/image" Target="../media/image7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77.png"/><Relationship Id="rId4" Type="http://schemas.openxmlformats.org/officeDocument/2006/relationships/image" Target="../media/image23.png"/><Relationship Id="rId5" Type="http://schemas.openxmlformats.org/officeDocument/2006/relationships/image" Target="../media/image9.png"/><Relationship Id="rId6" Type="http://schemas.openxmlformats.org/officeDocument/2006/relationships/image" Target="../media/image7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12.png"/><Relationship Id="rId4" Type="http://schemas.openxmlformats.org/officeDocument/2006/relationships/image" Target="../media/image1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1.png"/><Relationship Id="rId4" Type="http://schemas.openxmlformats.org/officeDocument/2006/relationships/image" Target="../media/image7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4.png"/><Relationship Id="rId4" Type="http://schemas.openxmlformats.org/officeDocument/2006/relationships/image" Target="../media/image2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81.png"/><Relationship Id="rId4" Type="http://schemas.openxmlformats.org/officeDocument/2006/relationships/image" Target="../media/image71.png"/><Relationship Id="rId5" Type="http://schemas.openxmlformats.org/officeDocument/2006/relationships/image" Target="../media/image32.png"/><Relationship Id="rId6" Type="http://schemas.openxmlformats.org/officeDocument/2006/relationships/image" Target="../media/image16.png"/><Relationship Id="rId7" Type="http://schemas.openxmlformats.org/officeDocument/2006/relationships/image" Target="../media/image80.png"/><Relationship Id="rId8" Type="http://schemas.openxmlformats.org/officeDocument/2006/relationships/image" Target="../media/image1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56.png"/><Relationship Id="rId4" Type="http://schemas.openxmlformats.org/officeDocument/2006/relationships/image" Target="../media/image6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32.png"/><Relationship Id="rId4" Type="http://schemas.openxmlformats.org/officeDocument/2006/relationships/image" Target="../media/image23.png"/><Relationship Id="rId5" Type="http://schemas.openxmlformats.org/officeDocument/2006/relationships/image" Target="../media/image83.png"/><Relationship Id="rId6" Type="http://schemas.openxmlformats.org/officeDocument/2006/relationships/image" Target="../media/image57.png"/><Relationship Id="rId7" Type="http://schemas.openxmlformats.org/officeDocument/2006/relationships/image" Target="../media/image82.png"/><Relationship Id="rId8" Type="http://schemas.openxmlformats.org/officeDocument/2006/relationships/image" Target="../media/image5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7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12.png"/><Relationship Id="rId4" Type="http://schemas.openxmlformats.org/officeDocument/2006/relationships/image" Target="../media/image1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1.png"/><Relationship Id="rId4" Type="http://schemas.openxmlformats.org/officeDocument/2006/relationships/image" Target="../media/image8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8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74.png"/><Relationship Id="rId4" Type="http://schemas.openxmlformats.org/officeDocument/2006/relationships/image" Target="../media/image77.png"/><Relationship Id="rId5" Type="http://schemas.openxmlformats.org/officeDocument/2006/relationships/image" Target="../media/image87.png"/><Relationship Id="rId6" Type="http://schemas.openxmlformats.org/officeDocument/2006/relationships/image" Target="../media/image4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88.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8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12.png"/><Relationship Id="rId4" Type="http://schemas.openxmlformats.org/officeDocument/2006/relationships/image" Target="../media/image1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9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Don’t mention ETF/MCT.</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Give them options:</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self-cancel, or you can do it for them.</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{51A78D23-FE86-4D1E-9A67-94F0228D6878}</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 </a:t>
                      </a:r>
                      <a:r>
                        <a:rPr lang="en-US" spc="0" sz="1050" u="none" cap="none" strike="noStrike">
                          <a:solidFill>
                            <a:srgbClr val="6E6E73"/>
                          </a:solidFill>
                        </a:rPr>
                        <a:t> (no material legal threat)</a:t>
                      </a:r>
                      <a:endParaRPr b="1" spc="0" sz="1050" u="none" cap="none" strike="noStrike">
                        <a:solidFill>
                          <a:srgbClr val="1D1D1F"/>
                        </a:solidFil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 when appropriate</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it makes sense to offer.</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Gets customer to rebook </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104767"/>
            <a:ext cx="3762900" cy="29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Encourages customer to book again.</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When it doesn’t make sense to offer → if customer is already satisfied with how issue was resolved</a:t>
            </a:r>
            <a:endParaRPr b="0" i="0" spc="0" sz="900" u="none" cap="none" strike="noStrike">
              <a:solidFill>
                <a:srgbClr val="666666"/>
              </a:solidFill>
              <a:latin typeface="Arial"/>
              <a:ea typeface="Arial"/>
              <a:cs typeface="Arial"/>
              <a:sym typeface="Arial"/>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Repairs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5" y="2240275"/>
            <a:ext cx="3762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 instead of issuing more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9" name="Google Shape;459;p20"/>
          <p:cNvSpPr/>
          <p:nvPr/>
        </p:nvSpPr>
        <p:spPr>
          <a:xfrm>
            <a:off x="41148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credits</a:t>
            </a:r>
            <a:endParaRPr b="0" i="0" spc="0" sz="1400" u="none" cap="none" strike="noStrike">
              <a:solidFill>
                <a:srgbClr val="000000"/>
              </a:solidFill>
              <a:latin typeface="Arial"/>
              <a:ea typeface="Arial"/>
              <a:cs typeface="Arial"/>
              <a:sym typeface="Arial"/>
            </a:endParaRPr>
          </a:p>
        </p:txBody>
      </p:sp>
      <p:sp>
        <p:nvSpPr>
          <p:cNvPr id="460" name="Google Shape;460;p20"/>
          <p:cNvSpPr/>
          <p:nvPr/>
        </p:nvSpPr>
        <p:spPr>
          <a:xfrm>
            <a:off x="320040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a voucher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7" name="Google Shape;467;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0" name="Google Shape;470;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 </a:t>
            </a:r>
            <a:endParaRPr b="1"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t>
            </a:r>
            <a:r>
              <a:rPr b="1" i="0" lang="en-US" spc="0" sz="1050" u="none" cap="none" strike="noStrike">
                <a:solidFill>
                  <a:schemeClr val="hlink"/>
                </a:solidFill>
                <a:uFill>
                  <a:noFill/>
                </a:uFill>
                <a:latin typeface="Play"/>
                <a:ea typeface="Play"/>
                <a:cs typeface="Play"/>
                <a:sym typeface="Play"/>
                <a:hlinkClick r:id="rId3"/>
              </a:rPr>
              <a:t>▶  Watch: Updating the MF</a:t>
            </a:r>
            <a:endParaRPr b="1" i="0" spc="0" sz="950" u="none" cap="none" strike="noStrike">
              <a:solidFill>
                <a:srgbClr val="0B7A6F"/>
              </a:solidFill>
              <a:latin typeface="Arial"/>
              <a:ea typeface="Arial"/>
              <a:cs typeface="Arial"/>
              <a:sym typeface="Arial"/>
            </a:endParaRPr>
          </a:p>
        </p:txBody>
      </p:sp>
      <p:sp>
        <p:nvSpPr>
          <p:cNvPr id="472" name="Google Shape;472;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4" name="Google Shape;474;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 </a:t>
            </a:r>
            <a:r>
              <a:rPr b="1" i="0" lang="en-US" spc="0" sz="950" u="none" cap="none" strike="noStrike">
                <a:solidFill>
                  <a:schemeClr val="hlink"/>
                </a:solidFill>
                <a:uFill>
                  <a:noFill/>
                </a:uFill>
                <a:latin typeface="Arial"/>
                <a:ea typeface="Arial"/>
                <a:cs typeface="Arial"/>
                <a:sym typeface="Arial"/>
                <a:hlinkClick r:id="rId4"/>
              </a:rPr>
              <a:t>▶</a:t>
            </a:r>
            <a:r>
              <a:rPr b="1" i="0" lang="en-US" spc="0" sz="950" u="none" cap="none" strike="noStrike">
                <a:solidFill>
                  <a:srgbClr val="0B7A6F"/>
                </a:solidFill>
                <a:latin typeface="Arial"/>
                <a:ea typeface="Arial"/>
                <a:cs typeface="Arial"/>
                <a:sym typeface="Arial"/>
              </a:rPr>
              <a:t> </a:t>
            </a:r>
            <a:endParaRPr b="0" i="0" spc="0" sz="950" u="none" cap="none" strike="noStrike">
              <a:solidFill>
                <a:srgbClr val="0B7A6F"/>
              </a:solidFill>
              <a:latin typeface="Calibri"/>
              <a:ea typeface="Calibri"/>
              <a:cs typeface="Calibri"/>
              <a:sym typeface="Calibri"/>
            </a:endParaRPr>
          </a:p>
        </p:txBody>
      </p:sp>
      <p:sp>
        <p:nvSpPr>
          <p:cNvPr id="475" name="Google Shape;475;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6" name="Google Shape;476;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7" name="Google Shape;477;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8" name="Google Shape;478;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9" name="Google Shape;479;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80" name="Google Shape;480;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81" name="Google Shape;481;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2" name="Google Shape;482;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3" name="Google Shape;483;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4" name="Google Shape;484;p21"/>
          <p:cNvPicPr preferRelativeResize="0"/>
          <p:nvPr/>
        </p:nvPicPr>
        <p:blipFill rotWithShape="1">
          <a:blip r:embed="rId5">
            <a:alphaModFix/>
          </a:blip>
          <a:srcRect b="0" l="0" r="0" t="0"/>
          <a:stretch/>
        </p:blipFill>
        <p:spPr>
          <a:xfrm>
            <a:off x="566928" y="4133088"/>
            <a:ext cx="164592" cy="164592"/>
          </a:xfrm>
          <a:prstGeom prst="rect">
            <a:avLst/>
          </a:prstGeom>
          <a:noFill/>
          <a:ln>
            <a:noFill/>
          </a:ln>
        </p:spPr>
      </p:pic>
      <p:sp>
        <p:nvSpPr>
          <p:cNvPr id="485" name="Google Shape;485;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6" name="Google Shape;486;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3" name="Google Shape;493;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4" name="Google Shape;494;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5" name="Google Shape;495;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6" name="Google Shape;496;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7" name="Google Shape;497;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MCT</a:t>
            </a:r>
            <a:endParaRPr b="0" i="0" spc="0" sz="950" u="none" cap="none" strike="noStrike">
              <a:solidFill>
                <a:srgbClr val="1D1D1F"/>
              </a:solidFill>
              <a:latin typeface="Arial"/>
              <a:ea typeface="Arial"/>
              <a:cs typeface="Arial"/>
              <a:sym typeface="Arial"/>
            </a:endParaRPr>
          </a:p>
        </p:txBody>
      </p:sp>
      <p:sp>
        <p:nvSpPr>
          <p:cNvPr id="498" name="Google Shape;498;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500" name="Google Shape;500;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501" name="Google Shape;501;p22"/>
          <p:cNvGraphicFramePr/>
          <p:nvPr/>
        </p:nvGraphicFramePr>
        <p:xfrm>
          <a:off x="411480" y="2743200"/>
          <a:ext cx="3000000" cy="3000000"/>
        </p:xfrm>
        <a:graphic>
          <a:graphicData uri="http://schemas.openxmlformats.org/drawingml/2006/table">
            <a:tbl>
              <a:tblPr>
                <a:noFill/>
                <a:tableStyleId>{51A78D23-FE86-4D1E-9A67-94F0228D6878}</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2" name="Google Shape;502;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4" name="Google Shape;504;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5" name="Google Shape;505;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2" name="Google Shape;512;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3" name="Google Shape;513;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moves a badly timed charge.</a:t>
            </a:r>
            <a:endParaRPr b="0" i="0" spc="0" sz="1200" u="none" cap="none" strike="noStrike">
              <a:solidFill>
                <a:schemeClr val="dk1"/>
              </a:solidFill>
              <a:latin typeface="Calibri"/>
              <a:ea typeface="Calibri"/>
              <a:cs typeface="Calibri"/>
              <a:sym typeface="Calibri"/>
            </a:endParaRPr>
          </a:p>
        </p:txBody>
      </p:sp>
      <p:sp>
        <p:nvSpPr>
          <p:cNvPr id="514" name="Google Shape;514;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6" name="Google Shape;516;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rgbClr val="1D1D1F"/>
              </a:solidFill>
              <a:latin typeface="Arial"/>
              <a:ea typeface="Arial"/>
              <a:cs typeface="Arial"/>
              <a:sym typeface="Arial"/>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lifetime cap (unless you see a pattern of abuse)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Adding Free Months</a:t>
            </a:r>
            <a:endParaRPr b="0" i="0" spc="0" sz="950" u="none" cap="none" strike="noStrike">
              <a:solidFill>
                <a:srgbClr val="1D1D1F"/>
              </a:solidFill>
              <a:latin typeface="Arial"/>
              <a:ea typeface="Arial"/>
              <a:cs typeface="Arial"/>
              <a:sym typeface="Arial"/>
            </a:endParaRPr>
          </a:p>
        </p:txBody>
      </p:sp>
      <p:graphicFrame>
        <p:nvGraphicFramePr>
          <p:cNvPr id="517" name="Google Shape;517;p23"/>
          <p:cNvGraphicFramePr/>
          <p:nvPr/>
        </p:nvGraphicFramePr>
        <p:xfrm>
          <a:off x="4206240" y="1325880"/>
          <a:ext cx="3000000" cy="3000000"/>
        </p:xfrm>
        <a:graphic>
          <a:graphicData uri="http://schemas.openxmlformats.org/drawingml/2006/table">
            <a:tbl>
              <a:tblPr>
                <a:noFill/>
                <a:tableStyleId>{51A78D23-FE86-4D1E-9A67-94F0228D6878}</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moves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within in </a:t>
                      </a:r>
                      <a:r>
                        <a:rPr lang="en-US" spc="0" sz="850" u="none" cap="none" strike="noStrike">
                          <a:solidFill>
                            <a:srgbClr val="1D1D1F"/>
                          </a:solidFill>
                        </a:rPr>
                        <a:t>7</a:t>
                      </a:r>
                      <a:r>
                        <a:rPr lang="en-US" spc="0" sz="850" u="none" cap="none" strike="noStrike">
                          <a:solidFill>
                            <a:srgbClr val="1D1D1F"/>
                          </a:solidFill>
                          <a:latin typeface="Arial"/>
                          <a:ea typeface="Arial"/>
                          <a:cs typeface="Arial"/>
                          <a:sym typeface="Arial"/>
                        </a:rPr>
                        <a:t>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8" name="Google Shape;518;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9" name="Google Shape;519;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20" name="Google Shape;520;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21" name="Google Shape;52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8" name="Google Shape;52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2" name="Google Shape;532;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3" name="Google Shape;533;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6" name="Google Shape;536;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9" name="Google Shape;539;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40" name="Google Shape;540;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2" name="Google Shape;542;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3" name="Google Shape;543;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4" name="Google Shape;544;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6" name="Google Shape;546;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7" name="Google Shape;547;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8" name="Google Shape;548;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0" name="Google Shape;550;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51" name="Google Shape;551;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2" name="Google Shape;552;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3" name="Google Shape;553;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4" name="Google Shape;554;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Important!   </a:t>
            </a:r>
            <a:r>
              <a:rPr b="0" i="0" lang="en-US" spc="0" sz="1000" u="none" cap="none" strike="noStrike">
                <a:solidFill>
                  <a:srgbClr val="1D1D1F"/>
                </a:solidFill>
                <a:latin typeface="Arial"/>
                <a:ea typeface="Arial"/>
                <a:cs typeface="Arial"/>
                <a:sym typeface="Arial"/>
              </a:rPr>
              <a:t>Free months only work while FC is active. You can’t add free months to a cancelled FC.</a:t>
            </a:r>
            <a:endParaRPr b="0" i="0" spc="0" sz="10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Guardrail: asked to pause again</a:t>
            </a:r>
            <a:endParaRPr b="0" i="0" spc="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a customer asks for a new pause right after a previous one.</a:t>
            </a:r>
            <a:endParaRPr b="0" i="0" spc="0" sz="1200" u="none" cap="none" strike="noStrike">
              <a:solidFill>
                <a:schemeClr val="dk1"/>
              </a:solidFill>
              <a:latin typeface="Calibri"/>
              <a:ea typeface="Calibri"/>
              <a:cs typeface="Calibri"/>
              <a:sym typeface="Calibri"/>
            </a:endParaRPr>
          </a:p>
        </p:txBody>
      </p:sp>
      <p:sp>
        <p:nvSpPr>
          <p:cNvPr id="564" name="Google Shape;564;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65" name="Google Shape;565;p25"/>
          <p:cNvSpPr txBox="1"/>
          <p:nvPr/>
        </p:nvSpPr>
        <p:spPr>
          <a:xfrm>
            <a:off x="411480" y="1298448"/>
            <a:ext cx="475488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SITUATION</a:t>
            </a:r>
            <a:endParaRPr b="0" i="0" spc="0" sz="1400" u="none" cap="none" strike="noStrike">
              <a:solidFill>
                <a:srgbClr val="000000"/>
              </a:solidFill>
              <a:latin typeface="Arial"/>
              <a:ea typeface="Arial"/>
              <a:cs typeface="Arial"/>
              <a:sym typeface="Arial"/>
            </a:endParaRPr>
          </a:p>
        </p:txBody>
      </p:sp>
      <p:sp>
        <p:nvSpPr>
          <p:cNvPr id="566" name="Google Shape;566;p25"/>
          <p:cNvSpPr txBox="1"/>
          <p:nvPr/>
        </p:nvSpPr>
        <p:spPr>
          <a:xfrm>
            <a:off x="5303520" y="1298448"/>
            <a:ext cx="34290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WHAT TO DO</a:t>
            </a:r>
            <a:endParaRPr b="0" i="0" spc="0" sz="1400" u="none" cap="none" strike="noStrike">
              <a:solidFill>
                <a:srgbClr val="000000"/>
              </a:solidFill>
              <a:latin typeface="Arial"/>
              <a:ea typeface="Arial"/>
              <a:cs typeface="Arial"/>
              <a:sym typeface="Arial"/>
            </a:endParaRPr>
          </a:p>
        </p:txBody>
      </p:sp>
      <p:sp>
        <p:nvSpPr>
          <p:cNvPr id="567" name="Google Shape;567;p25"/>
          <p:cNvSpPr/>
          <p:nvPr/>
        </p:nvSpPr>
        <p:spPr>
          <a:xfrm>
            <a:off x="411480" y="1517904"/>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11480" y="1591056"/>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txBox="1"/>
          <p:nvPr/>
        </p:nvSpPr>
        <p:spPr>
          <a:xfrm>
            <a:off x="594360" y="1517904"/>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Fewer than </a:t>
            </a:r>
            <a:r>
              <a:rPr b="1" i="0" lang="en-US" spc="0" sz="1050" u="none" cap="none" strike="noStrike">
                <a:solidFill>
                  <a:srgbClr val="1D1D1F"/>
                </a:solidFill>
                <a:latin typeface="Play"/>
                <a:ea typeface="Play"/>
                <a:cs typeface="Play"/>
                <a:sym typeface="Play"/>
              </a:rPr>
              <a:t>2 MFs</a:t>
            </a:r>
            <a:r>
              <a:rPr b="0" i="0" lang="en-US" spc="0" sz="1050" u="none" cap="none" strike="noStrike">
                <a:solidFill>
                  <a:srgbClr val="1D1D1F"/>
                </a:solidFill>
                <a:latin typeface="Arial"/>
                <a:ea typeface="Arial"/>
                <a:cs typeface="Arial"/>
                <a:sym typeface="Arial"/>
              </a:rPr>
              <a:t> charged and paid since the last pause ended</a:t>
            </a:r>
            <a:endParaRPr b="0" i="0" spc="0" sz="1400" u="none" cap="none" strike="noStrike">
              <a:solidFill>
                <a:srgbClr val="000000"/>
              </a:solidFill>
              <a:latin typeface="Arial"/>
              <a:ea typeface="Arial"/>
              <a:cs typeface="Arial"/>
              <a:sym typeface="Arial"/>
            </a:endParaRPr>
          </a:p>
        </p:txBody>
      </p:sp>
      <p:sp>
        <p:nvSpPr>
          <p:cNvPr id="570" name="Google Shape;570;p25"/>
          <p:cNvSpPr/>
          <p:nvPr/>
        </p:nvSpPr>
        <p:spPr>
          <a:xfrm>
            <a:off x="5303520" y="1517904"/>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5"/>
          <p:cNvSpPr txBox="1"/>
          <p:nvPr/>
        </p:nvSpPr>
        <p:spPr>
          <a:xfrm>
            <a:off x="5468112" y="1517904"/>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matter how long they’re asking for</a:t>
            </a:r>
            <a:endParaRPr b="0" i="0" spc="0" sz="1400" u="none" cap="none" strike="noStrike">
              <a:solidFill>
                <a:srgbClr val="000000"/>
              </a:solidFill>
              <a:latin typeface="Arial"/>
              <a:ea typeface="Arial"/>
              <a:cs typeface="Arial"/>
              <a:sym typeface="Arial"/>
            </a:endParaRPr>
          </a:p>
        </p:txBody>
      </p:sp>
      <p:sp>
        <p:nvSpPr>
          <p:cNvPr id="572" name="Google Shape;572;p25"/>
          <p:cNvSpPr/>
          <p:nvPr/>
        </p:nvSpPr>
        <p:spPr>
          <a:xfrm>
            <a:off x="411480" y="2176272"/>
            <a:ext cx="47548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5"/>
          <p:cNvSpPr/>
          <p:nvPr/>
        </p:nvSpPr>
        <p:spPr>
          <a:xfrm>
            <a:off x="411480" y="2249424"/>
            <a:ext cx="45720" cy="768096"/>
          </a:xfrm>
          <a:prstGeom prst="rect">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5"/>
          <p:cNvSpPr txBox="1"/>
          <p:nvPr/>
        </p:nvSpPr>
        <p:spPr>
          <a:xfrm>
            <a:off x="594360" y="2176272"/>
            <a:ext cx="448056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All three</a:t>
            </a:r>
            <a:r>
              <a:rPr b="0" i="0" lang="en-US" spc="0" sz="1050" u="none" cap="none" strike="noStrike">
                <a:solidFill>
                  <a:srgbClr val="1D1D1F"/>
                </a:solidFill>
                <a:latin typeface="Arial"/>
                <a:ea typeface="Arial"/>
                <a:cs typeface="Arial"/>
                <a:sym typeface="Arial"/>
              </a:rPr>
              <a:t> are true: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least 2 MFs charged and paid since the last pause ended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Actually </a:t>
            </a:r>
            <a:r>
              <a:rPr b="1" i="0" lang="en-US" spc="0" sz="950" u="none" cap="none" strike="noStrike">
                <a:solidFill>
                  <a:srgbClr val="1D1D1F"/>
                </a:solidFill>
                <a:latin typeface="Play"/>
                <a:ea typeface="Play"/>
                <a:cs typeface="Play"/>
                <a:sym typeface="Play"/>
              </a:rPr>
              <a:t>using the service</a:t>
            </a:r>
            <a:r>
              <a:rPr b="0" i="0" lang="en-US" spc="0" sz="950" u="none" cap="none" strike="noStrike">
                <a:solidFill>
                  <a:srgbClr val="1D1D1F"/>
                </a:solidFill>
                <a:latin typeface="Arial"/>
                <a:ea typeface="Arial"/>
                <a:cs typeface="Arial"/>
                <a:sym typeface="Arial"/>
              </a:rPr>
              <a:t> since then (booked or completed cleanings)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950" u="none" cap="none" strike="noStrike">
                <a:solidFill>
                  <a:srgbClr val="1D1D1F"/>
                </a:solidFill>
                <a:latin typeface="Play"/>
                <a:ea typeface="Play"/>
                <a:cs typeface="Play"/>
                <a:sym typeface="Play"/>
              </a:rPr>
              <a:t>Not</a:t>
            </a:r>
            <a:r>
              <a:rPr b="0" i="0" lang="en-US" spc="0" sz="950" u="none" cap="none" strike="noStrike">
                <a:solidFill>
                  <a:srgbClr val="1D1D1F"/>
                </a:solidFill>
                <a:latin typeface="Arial"/>
                <a:ea typeface="Arial"/>
                <a:cs typeface="Arial"/>
                <a:sym typeface="Arial"/>
              </a:rPr>
              <a:t> also asking for a refund right now</a:t>
            </a:r>
            <a:endParaRPr b="0" i="0" spc="0" sz="1400" u="none" cap="none" strike="noStrike">
              <a:solidFill>
                <a:srgbClr val="000000"/>
              </a:solidFill>
              <a:latin typeface="Arial"/>
              <a:ea typeface="Arial"/>
              <a:cs typeface="Arial"/>
              <a:sym typeface="Arial"/>
            </a:endParaRPr>
          </a:p>
        </p:txBody>
      </p:sp>
      <p:sp>
        <p:nvSpPr>
          <p:cNvPr id="575" name="Google Shape;575;p25"/>
          <p:cNvSpPr/>
          <p:nvPr/>
        </p:nvSpPr>
        <p:spPr>
          <a:xfrm>
            <a:off x="5303520" y="2176272"/>
            <a:ext cx="342900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5"/>
          <p:cNvSpPr txBox="1"/>
          <p:nvPr/>
        </p:nvSpPr>
        <p:spPr>
          <a:xfrm>
            <a:off x="5468112" y="2176272"/>
            <a:ext cx="315468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  Give the pause normally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Within the caps (up to 6 months)</a:t>
            </a:r>
            <a:endParaRPr b="0" i="0" spc="0" sz="1400" u="none" cap="none" strike="noStrike">
              <a:solidFill>
                <a:srgbClr val="000000"/>
              </a:solidFill>
              <a:latin typeface="Arial"/>
              <a:ea typeface="Arial"/>
              <a:cs typeface="Arial"/>
              <a:sym typeface="Arial"/>
            </a:endParaRPr>
          </a:p>
        </p:txBody>
      </p:sp>
      <p:sp>
        <p:nvSpPr>
          <p:cNvPr id="577" name="Google Shape;577;p25"/>
          <p:cNvSpPr/>
          <p:nvPr/>
        </p:nvSpPr>
        <p:spPr>
          <a:xfrm>
            <a:off x="411480" y="3182112"/>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8" name="Google Shape;578;p25"/>
          <p:cNvSpPr/>
          <p:nvPr/>
        </p:nvSpPr>
        <p:spPr>
          <a:xfrm>
            <a:off x="411480" y="3255264"/>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5"/>
          <p:cNvSpPr txBox="1"/>
          <p:nvPr/>
        </p:nvSpPr>
        <p:spPr>
          <a:xfrm>
            <a:off x="594360" y="3182112"/>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Any one</a:t>
            </a:r>
            <a:r>
              <a:rPr b="0" i="0" lang="en-US" spc="0" sz="1050" u="none" cap="none" strike="noStrike">
                <a:solidFill>
                  <a:srgbClr val="1D1D1F"/>
                </a:solidFill>
                <a:latin typeface="Arial"/>
                <a:ea typeface="Arial"/>
                <a:cs typeface="Arial"/>
                <a:sym typeface="Arial"/>
              </a:rPr>
              <a:t> of those three is </a:t>
            </a:r>
            <a:r>
              <a:rPr b="1" i="0" lang="en-US" spc="0" sz="1050" u="none" cap="none" strike="noStrike">
                <a:solidFill>
                  <a:srgbClr val="1D1D1F"/>
                </a:solidFill>
                <a:latin typeface="Play"/>
                <a:ea typeface="Play"/>
                <a:cs typeface="Play"/>
                <a:sym typeface="Play"/>
              </a:rPr>
              <a:t>not</a:t>
            </a:r>
            <a:r>
              <a:rPr b="0" i="0" lang="en-US" spc="0" sz="1050" u="none" cap="none" strike="noStrike">
                <a:solidFill>
                  <a:srgbClr val="1D1D1F"/>
                </a:solidFill>
                <a:latin typeface="Arial"/>
                <a:ea typeface="Arial"/>
                <a:cs typeface="Arial"/>
                <a:sym typeface="Arial"/>
              </a:rPr>
              <a:t> true</a:t>
            </a:r>
            <a:endParaRPr b="0" i="0" spc="0" sz="1400" u="none" cap="none" strike="noStrike">
              <a:solidFill>
                <a:srgbClr val="000000"/>
              </a:solidFill>
              <a:latin typeface="Arial"/>
              <a:ea typeface="Arial"/>
              <a:cs typeface="Arial"/>
              <a:sym typeface="Arial"/>
            </a:endParaRPr>
          </a:p>
        </p:txBody>
      </p:sp>
      <p:sp>
        <p:nvSpPr>
          <p:cNvPr id="580" name="Google Shape;580;p25"/>
          <p:cNvSpPr/>
          <p:nvPr/>
        </p:nvSpPr>
        <p:spPr>
          <a:xfrm>
            <a:off x="5303520" y="3182112"/>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25"/>
          <p:cNvSpPr txBox="1"/>
          <p:nvPr/>
        </p:nvSpPr>
        <p:spPr>
          <a:xfrm>
            <a:off x="5468112" y="3182112"/>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It could be abuse, not a real need for a pause</a:t>
            </a:r>
            <a:endParaRPr b="0" i="0" spc="0" sz="1400" u="none" cap="none" strike="noStrike">
              <a:solidFill>
                <a:srgbClr val="000000"/>
              </a:solidFill>
              <a:latin typeface="Arial"/>
              <a:ea typeface="Arial"/>
              <a:cs typeface="Arial"/>
              <a:sym typeface="Arial"/>
            </a:endParaRPr>
          </a:p>
        </p:txBody>
      </p:sp>
      <p:sp>
        <p:nvSpPr>
          <p:cNvPr id="582" name="Google Shape;582;p25"/>
          <p:cNvSpPr/>
          <p:nvPr/>
        </p:nvSpPr>
        <p:spPr>
          <a:xfrm>
            <a:off x="411480" y="3895344"/>
            <a:ext cx="8321040" cy="786384"/>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5"/>
          <p:cNvSpPr txBox="1"/>
          <p:nvPr/>
        </p:nvSpPr>
        <p:spPr>
          <a:xfrm>
            <a:off x="594360" y="3895344"/>
            <a:ext cx="7955279" cy="7863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Why this matters: </a:t>
            </a:r>
            <a:r>
              <a:rPr b="0" i="0" lang="en-US" spc="0" sz="950" u="none" cap="none" strike="noStrike">
                <a:solidFill>
                  <a:srgbClr val="1D1D1F"/>
                </a:solidFill>
                <a:latin typeface="Arial"/>
                <a:ea typeface="Arial"/>
                <a:cs typeface="Arial"/>
                <a:sym typeface="Arial"/>
              </a:rPr>
              <a:t>pausing again with no MF charged in between looks like avoiding the MF (and the ETF that comes with cancelling), not needing a break. Payment alone doesn’t prove it’s genuine. Payment + actual usage + no refund request together closes those gaps.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90" name="Google Shape;590;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91" name="Google Shape;591;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92" name="Google Shape;592;p26"/>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26"/>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94" name="Google Shape;594;p26"/>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96" name="Google Shape;596;p26"/>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97" name="Google Shape;597;p26"/>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98" name="Google Shape;598;p26"/>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99" name="Google Shape;599;p26"/>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26"/>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1" name="Google Shape;601;p26"/>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602" name="Google Shape;602;p26"/>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603" name="Google Shape;603;p26"/>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604" name="Google Shape;604;p26"/>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5" name="Google Shape;605;p26"/>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606" name="Google Shape;606;p26"/>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607" name="Google Shape;607;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14" name="Google Shape;614;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615" name="Google Shape;615;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the customer out for less.</a:t>
            </a:r>
            <a:endParaRPr b="0" i="0" spc="0" sz="12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1298448"/>
            <a:ext cx="8321040" cy="100584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7" name="Google Shape;617;p27"/>
          <p:cNvSpPr/>
          <p:nvPr/>
        </p:nvSpPr>
        <p:spPr>
          <a:xfrm>
            <a:off x="411480" y="1298448"/>
            <a:ext cx="8321040" cy="310896"/>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618" name="Google Shape;618;p27"/>
          <p:cNvSpPr txBox="1"/>
          <p:nvPr/>
        </p:nvSpPr>
        <p:spPr>
          <a:xfrm>
            <a:off x="576072" y="1682496"/>
            <a:ext cx="8001000" cy="566928"/>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sp>
        <p:nvSpPr>
          <p:cNvPr id="619" name="Google Shape;619;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20" name="Google Shape;620;p27"/>
          <p:cNvSpPr txBox="1"/>
          <p:nvPr/>
        </p:nvSpPr>
        <p:spPr>
          <a:xfrm>
            <a:off x="411480" y="2432304"/>
            <a:ext cx="54864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6E6E73"/>
                </a:solidFill>
                <a:latin typeface="Play"/>
                <a:ea typeface="Play"/>
                <a:cs typeface="Play"/>
                <a:sym typeface="Play"/>
              </a:rPr>
              <a:t>SAMPLE SCENARIO</a:t>
            </a:r>
            <a:endParaRPr/>
          </a:p>
        </p:txBody>
      </p:sp>
      <p:sp>
        <p:nvSpPr>
          <p:cNvPr id="621" name="Google Shape;621;p27"/>
          <p:cNvSpPr/>
          <p:nvPr/>
        </p:nvSpPr>
        <p:spPr>
          <a:xfrm>
            <a:off x="411480" y="2651760"/>
            <a:ext cx="8321040" cy="420624"/>
          </a:xfrm>
          <a:prstGeom prst="roundRect">
            <a:avLst>
              <a:gd fmla="val 8000" name="adj"/>
            </a:avLst>
          </a:prstGeom>
          <a:solidFill>
            <a:srgbClr val="E3F4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22" name="Google Shape;622;p27"/>
          <p:cNvSpPr txBox="1"/>
          <p:nvPr/>
        </p:nvSpPr>
        <p:spPr>
          <a:xfrm>
            <a:off x="594360" y="2651760"/>
            <a:ext cx="7955279"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pc="0" sz="1050" u="none" cap="none" strike="noStrike">
                <a:solidFill>
                  <a:srgbClr val="1D1D1F"/>
                </a:solidFill>
                <a:latin typeface="Arial"/>
                <a:ea typeface="Arial"/>
                <a:cs typeface="Arial"/>
                <a:sym typeface="Arial"/>
              </a:rPr>
              <a:t>C has </a:t>
            </a:r>
            <a:r>
              <a:rPr b="1" i="0" lang="en-US" spc="0" sz="1050" u="none" cap="none" strike="noStrike">
                <a:solidFill>
                  <a:srgbClr val="1D1D1F"/>
                </a:solidFill>
                <a:latin typeface="Play"/>
                <a:ea typeface="Play"/>
                <a:cs typeface="Play"/>
                <a:sym typeface="Play"/>
              </a:rPr>
              <a:t>1 paid $59 MF</a:t>
            </a:r>
            <a:r>
              <a:rPr b="0" i="0" lang="en-US" spc="0" sz="1050" u="none" cap="none" strike="noStrike">
                <a:solidFill>
                  <a:srgbClr val="1D1D1F"/>
                </a:solidFill>
                <a:latin typeface="Arial"/>
                <a:ea typeface="Arial"/>
                <a:cs typeface="Arial"/>
                <a:sym typeface="Arial"/>
              </a:rPr>
              <a:t>, a </a:t>
            </a:r>
            <a:r>
              <a:rPr b="1" i="0" lang="en-US" spc="0" sz="1050" u="none" cap="none" strike="noStrike">
                <a:solidFill>
                  <a:srgbClr val="1D1D1F"/>
                </a:solidFill>
                <a:latin typeface="Play"/>
                <a:ea typeface="Play"/>
                <a:cs typeface="Play"/>
                <a:sym typeface="Play"/>
              </a:rPr>
              <a:t>6-month MCT</a:t>
            </a:r>
            <a:r>
              <a:rPr b="0" i="0" lang="en-US" spc="0" sz="1050" u="none" cap="none" strike="noStrike">
                <a:solidFill>
                  <a:srgbClr val="1D1D1F"/>
                </a:solidFill>
                <a:latin typeface="Arial"/>
                <a:ea typeface="Arial"/>
                <a:cs typeface="Arial"/>
                <a:sym typeface="Arial"/>
              </a:rPr>
              <a:t> from sign-up, and cancelling now costs a </a:t>
            </a:r>
            <a:r>
              <a:rPr b="1" i="0" lang="en-US" spc="0" sz="1050" u="none" cap="none" strike="noStrike">
                <a:solidFill>
                  <a:srgbClr val="1D1D1F"/>
                </a:solidFill>
                <a:latin typeface="Play"/>
                <a:ea typeface="Play"/>
                <a:cs typeface="Play"/>
                <a:sym typeface="Play"/>
              </a:rPr>
              <a:t>$140 ETF</a:t>
            </a:r>
            <a:r>
              <a:rPr b="0" i="0" lang="en-US" spc="0" sz="1050" u="none" cap="none" strike="noStrike">
                <a:solidFill>
                  <a:srgbClr val="1D1D1F"/>
                </a:solidFill>
                <a:latin typeface="Arial"/>
                <a:ea typeface="Arial"/>
                <a:cs typeface="Arial"/>
                <a:sym typeface="Arial"/>
              </a:rPr>
              <a:t>.</a:t>
            </a:r>
            <a:endParaRPr/>
          </a:p>
        </p:txBody>
      </p:sp>
      <p:sp>
        <p:nvSpPr>
          <p:cNvPr id="623" name="Google Shape;623;p27"/>
          <p:cNvSpPr/>
          <p:nvPr/>
        </p:nvSpPr>
        <p:spPr>
          <a:xfrm>
            <a:off x="4114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5943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050" u="none" cap="none" strike="noStrike">
                <a:solidFill>
                  <a:srgbClr val="1D1D1F"/>
                </a:solidFill>
                <a:latin typeface="Play"/>
                <a:ea typeface="Play"/>
                <a:cs typeface="Play"/>
                <a:sym typeface="Play"/>
              </a:rPr>
              <a:t>Reduce the MCT by 1 month</a:t>
            </a:r>
            <a:r>
              <a:rPr b="0" i="0" lang="en-US" spc="0" sz="950" u="none" cap="none" strike="noStrike">
                <a:solidFill>
                  <a:srgbClr val="6E6E73"/>
                </a:solidFill>
                <a:latin typeface="Arial"/>
                <a:ea typeface="Arial"/>
                <a:cs typeface="Arial"/>
                <a:sym typeface="Arial"/>
              </a:rPr>
              <a:t>  (4 months remaining)</a:t>
            </a:r>
            <a:endParaRPr/>
          </a:p>
          <a:p>
            <a:pPr indent="0" lvl="0" marL="0" marR="0" rtl="0" algn="l">
              <a:lnSpc>
                <a:spcPct val="100000"/>
              </a:lnSpc>
              <a:spcBef>
                <a:spcPts val="200"/>
              </a:spcBef>
              <a:spcAft>
                <a:spcPts val="0"/>
              </a:spcAft>
              <a:buNone/>
            </a:pPr>
            <a:r>
              <a:rPr b="0" i="0" lang="en-US" spc="0" sz="1200" u="none" cap="none" strike="noStrike">
                <a:solidFill>
                  <a:srgbClr val="1D1D1F"/>
                </a:solidFill>
                <a:latin typeface="Arial"/>
                <a:ea typeface="Arial"/>
                <a:cs typeface="Arial"/>
                <a:sym typeface="Arial"/>
              </a:rPr>
              <a:t>$59 × 4 months = </a:t>
            </a:r>
            <a:r>
              <a:rPr b="1" i="0" lang="en-US" spc="0" sz="1400" u="none" cap="none" strike="noStrike">
                <a:solidFill>
                  <a:srgbClr val="1D1D1F"/>
                </a:solidFill>
                <a:latin typeface="Play"/>
                <a:ea typeface="Play"/>
                <a:cs typeface="Play"/>
                <a:sym typeface="Play"/>
              </a:rPr>
              <a:t>$236</a:t>
            </a:r>
            <a:endParaRPr/>
          </a:p>
        </p:txBody>
      </p:sp>
      <p:sp>
        <p:nvSpPr>
          <p:cNvPr id="625" name="Google Shape;625;p27"/>
          <p:cNvSpPr/>
          <p:nvPr/>
        </p:nvSpPr>
        <p:spPr>
          <a:xfrm>
            <a:off x="4640580" y="3182112"/>
            <a:ext cx="4091939" cy="841248"/>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26" name="Google Shape;626;p27"/>
          <p:cNvSpPr txBox="1"/>
          <p:nvPr/>
        </p:nvSpPr>
        <p:spPr>
          <a:xfrm>
            <a:off x="48234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050" u="none" cap="none" strike="noStrike">
                <a:solidFill>
                  <a:srgbClr val="0B7A6F"/>
                </a:solidFill>
                <a:latin typeface="Play"/>
                <a:ea typeface="Play"/>
                <a:cs typeface="Play"/>
                <a:sym typeface="Play"/>
              </a:rPr>
              <a:t>Reduce the ETF</a:t>
            </a:r>
            <a:r>
              <a:rPr b="0" i="0" lang="en-US" spc="0" sz="950" u="none" cap="none" strike="noStrike">
                <a:solidFill>
                  <a:srgbClr val="6E6E73"/>
                </a:solidFill>
                <a:latin typeface="Arial"/>
                <a:ea typeface="Arial"/>
                <a:cs typeface="Arial"/>
                <a:sym typeface="Arial"/>
              </a:rPr>
              <a:t>  (max 50%)</a:t>
            </a:r>
            <a:endParaRPr/>
          </a:p>
          <a:p>
            <a:pPr indent="0" lvl="0" marL="0" marR="0" rtl="0" algn="l">
              <a:lnSpc>
                <a:spcPct val="100000"/>
              </a:lnSpc>
              <a:spcBef>
                <a:spcPts val="200"/>
              </a:spcBef>
              <a:spcAft>
                <a:spcPts val="0"/>
              </a:spcAft>
              <a:buNone/>
            </a:pPr>
            <a:r>
              <a:rPr b="0" i="0" lang="en-US" spc="0" sz="1200" u="none" cap="none" strike="noStrike">
                <a:solidFill>
                  <a:srgbClr val="1D1D1F"/>
                </a:solidFill>
                <a:latin typeface="Arial"/>
                <a:ea typeface="Arial"/>
                <a:cs typeface="Arial"/>
                <a:sym typeface="Arial"/>
              </a:rPr>
              <a:t>$140 × 50% = </a:t>
            </a:r>
            <a:r>
              <a:rPr b="1" i="0" lang="en-US" spc="0" sz="1400" u="none" cap="none" strike="noStrike">
                <a:solidFill>
                  <a:srgbClr val="0B7A6F"/>
                </a:solidFill>
                <a:latin typeface="Play"/>
                <a:ea typeface="Play"/>
                <a:cs typeface="Play"/>
                <a:sym typeface="Play"/>
              </a:rPr>
              <a:t>$70</a:t>
            </a:r>
            <a:r>
              <a:rPr b="1" i="0" lang="en-US" spc="0" sz="1000" u="none" cap="none" strike="noStrike">
                <a:solidFill>
                  <a:srgbClr val="0B7A6F"/>
                </a:solidFill>
                <a:latin typeface="Play"/>
                <a:ea typeface="Play"/>
                <a:cs typeface="Play"/>
                <a:sym typeface="Play"/>
              </a:rPr>
              <a:t>   ✓ lower</a:t>
            </a:r>
            <a:endParaRPr/>
          </a:p>
        </p:txBody>
      </p:sp>
      <p:sp>
        <p:nvSpPr>
          <p:cNvPr id="627" name="Google Shape;627;p27"/>
          <p:cNvSpPr/>
          <p:nvPr/>
        </p:nvSpPr>
        <p:spPr>
          <a:xfrm>
            <a:off x="411480" y="4133087"/>
            <a:ext cx="8321040" cy="402336"/>
          </a:xfrm>
          <a:prstGeom prst="roundRect">
            <a:avLst>
              <a:gd fmla="val 8000" name="adj"/>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txBox="1"/>
          <p:nvPr/>
        </p:nvSpPr>
        <p:spPr>
          <a:xfrm>
            <a:off x="594360" y="4133087"/>
            <a:ext cx="7955279"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Decision: </a:t>
            </a:r>
            <a:r>
              <a:rPr b="0" i="0" lang="en-US" spc="0" sz="1050" u="none" cap="none" strike="noStrike">
                <a:solidFill>
                  <a:srgbClr val="FFFFFF"/>
                </a:solidFill>
                <a:latin typeface="Arial"/>
                <a:ea typeface="Arial"/>
                <a:cs typeface="Arial"/>
                <a:sym typeface="Arial"/>
              </a:rPr>
              <a:t>reducing the ETF is the most cost-effective exit offer for this customer.</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3" name="Shape 633"/>
        <p:cNvGrpSpPr/>
        <p:nvPr/>
      </p:nvGrpSpPr>
      <p:grpSpPr>
        <a:xfrm>
          <a:off x="0" y="0"/>
          <a:ext cx="0" cy="0"/>
          <a:chOff x="0" y="0"/>
          <a:chExt cx="0" cy="0"/>
        </a:xfrm>
      </p:grpSpPr>
      <p:sp>
        <p:nvSpPr>
          <p:cNvPr id="634" name="Google Shape;634;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35" name="Google Shape;635;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a:t>
            </a:r>
            <a:endParaRPr b="0" i="0" spc="0" sz="2400" u="none" cap="none" strike="noStrike">
              <a:solidFill>
                <a:schemeClr val="dk1"/>
              </a:solidFill>
              <a:latin typeface="Calibri"/>
              <a:ea typeface="Calibri"/>
              <a:cs typeface="Calibri"/>
              <a:sym typeface="Calibri"/>
            </a:endParaRPr>
          </a:p>
        </p:txBody>
      </p:sp>
      <p:sp>
        <p:nvSpPr>
          <p:cNvPr id="636" name="Google Shape;636;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It depends entirely on why the customer is cancelling.</a:t>
            </a:r>
            <a:endParaRPr b="0" i="0" spc="0" sz="1200" u="none" cap="none" strike="noStrike">
              <a:solidFill>
                <a:schemeClr val="dk1"/>
              </a:solidFill>
              <a:latin typeface="Calibri"/>
              <a:ea typeface="Calibri"/>
              <a:cs typeface="Calibri"/>
              <a:sym typeface="Calibri"/>
            </a:endParaRPr>
          </a:p>
        </p:txBody>
      </p:sp>
      <p:sp>
        <p:nvSpPr>
          <p:cNvPr id="637" name="Google Shape;637;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38" name="Google Shape;638;p28"/>
          <p:cNvSpPr/>
          <p:nvPr/>
        </p:nvSpPr>
        <p:spPr>
          <a:xfrm>
            <a:off x="411480" y="1298448"/>
            <a:ext cx="3246120" cy="201168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39" name="Google Shape;639;p28"/>
          <p:cNvSpPr/>
          <p:nvPr/>
        </p:nvSpPr>
        <p:spPr>
          <a:xfrm>
            <a:off x="411480" y="1298448"/>
            <a:ext cx="324612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1  Check the first job’s hours</a:t>
            </a:r>
            <a:endParaRPr/>
          </a:p>
        </p:txBody>
      </p:sp>
      <p:sp>
        <p:nvSpPr>
          <p:cNvPr id="640" name="Google Shape;640;p28"/>
          <p:cNvSpPr txBox="1"/>
          <p:nvPr/>
        </p:nvSpPr>
        <p:spPr>
          <a:xfrm>
            <a:off x="576072" y="1682496"/>
            <a:ext cx="2926080" cy="1572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1000" u="none" cap="none" strike="noStrike">
                <a:solidFill>
                  <a:srgbClr val="1D1D1F"/>
                </a:solidFill>
                <a:latin typeface="Play"/>
                <a:ea typeface="Play"/>
                <a:cs typeface="Play"/>
                <a:sym typeface="Play"/>
              </a:rPr>
              <a:t>ETF = $35/hr × first-cleaning hours</a:t>
            </a:r>
            <a:endParaRPr/>
          </a:p>
          <a:p>
            <a:pPr indent="0" lvl="0" marL="0" marR="0" rtl="0" algn="l">
              <a:lnSpc>
                <a:spcPct val="100000"/>
              </a:lnSpc>
              <a:spcBef>
                <a:spcPts val="300"/>
              </a:spcBef>
              <a:spcAft>
                <a:spcPts val="0"/>
              </a:spcAft>
              <a:buNone/>
            </a:pPr>
            <a:r>
              <a:rPr b="0" i="0" lang="en-US" spc="0" sz="900" u="none" cap="none" strike="noStrike">
                <a:solidFill>
                  <a:srgbClr val="6E6E73"/>
                </a:solidFill>
                <a:latin typeface="Arial"/>
                <a:ea typeface="Arial"/>
                <a:cs typeface="Arial"/>
                <a:sym typeface="Arial"/>
              </a:rPr>
              <a:t>An overcharge on that job inflates the ETF. Resolve the OCH first.</a:t>
            </a:r>
            <a:endParaRPr/>
          </a:p>
          <a:p>
            <a:pPr indent="0" lvl="0" marL="0" marR="0" rtl="0" algn="l">
              <a:lnSpc>
                <a:spcPct val="100000"/>
              </a:lnSpc>
              <a:spcBef>
                <a:spcPts val="300"/>
              </a:spcBef>
              <a:spcAft>
                <a:spcPts val="0"/>
              </a:spcAft>
              <a:buNone/>
            </a:pPr>
            <a:r>
              <a:rPr b="0" i="0" lang="en-US" spc="0" sz="900" u="none" cap="none" strike="noStrike">
                <a:solidFill>
                  <a:srgbClr val="1D1D1F"/>
                </a:solidFill>
                <a:latin typeface="Arial"/>
                <a:ea typeface="Arial"/>
                <a:cs typeface="Arial"/>
                <a:sym typeface="Arial"/>
              </a:rPr>
              <a:t>Invoiced 4 hrs, CP’s messages show 2.5 → refund 1.5 hrs</a:t>
            </a:r>
            <a:endParaRPr/>
          </a:p>
          <a:p>
            <a:pPr indent="0" lvl="0" marL="0" marR="0" rtl="0" algn="l">
              <a:lnSpc>
                <a:spcPct val="100000"/>
              </a:lnSpc>
              <a:spcBef>
                <a:spcPts val="300"/>
              </a:spcBef>
              <a:spcAft>
                <a:spcPts val="0"/>
              </a:spcAft>
              <a:buNone/>
            </a:pPr>
            <a:r>
              <a:rPr b="1" i="0" lang="en-US" spc="0" sz="1400" u="none" cap="none" strike="noStrike">
                <a:solidFill>
                  <a:srgbClr val="0B7A6F"/>
                </a:solidFill>
                <a:latin typeface="Play"/>
                <a:ea typeface="Play"/>
                <a:cs typeface="Play"/>
                <a:sym typeface="Play"/>
              </a:rPr>
              <a:t>ETF $140 → $87.50</a:t>
            </a:r>
            <a:endParaRPr/>
          </a:p>
          <a:p>
            <a:pPr indent="0" lvl="0" marL="0" marR="0" rtl="0" algn="l">
              <a:lnSpc>
                <a:spcPct val="100000"/>
              </a:lnSpc>
              <a:spcBef>
                <a:spcPts val="300"/>
              </a:spcBef>
              <a:spcAft>
                <a:spcPts val="0"/>
              </a:spcAft>
              <a:buNone/>
            </a:pPr>
            <a:r>
              <a:rPr b="1" i="0" lang="en-US" spc="0" sz="900" u="none" cap="none" strike="noStrike">
                <a:solidFill>
                  <a:srgbClr val="1D1D1F"/>
                </a:solidFill>
                <a:latin typeface="Play"/>
                <a:ea typeface="Play"/>
                <a:cs typeface="Play"/>
                <a:sym typeface="Play"/>
              </a:rPr>
              <a:t>That’s the ETF you present.</a:t>
            </a:r>
            <a:endParaRPr/>
          </a:p>
        </p:txBody>
      </p:sp>
      <p:sp>
        <p:nvSpPr>
          <p:cNvPr id="641" name="Google Shape;641;p28"/>
          <p:cNvSpPr txBox="1"/>
          <p:nvPr/>
        </p:nvSpPr>
        <p:spPr>
          <a:xfrm>
            <a:off x="3794760" y="1298448"/>
            <a:ext cx="4937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6E6E73"/>
                </a:solidFill>
                <a:latin typeface="Play"/>
                <a:ea typeface="Play"/>
                <a:cs typeface="Play"/>
                <a:sym typeface="Play"/>
              </a:rPr>
              <a:t>2  WHEN TO OFFER IT</a:t>
            </a:r>
            <a:endParaRPr/>
          </a:p>
        </p:txBody>
      </p:sp>
      <p:sp>
        <p:nvSpPr>
          <p:cNvPr id="642" name="Google Shape;642;p28"/>
          <p:cNvSpPr/>
          <p:nvPr/>
        </p:nvSpPr>
        <p:spPr>
          <a:xfrm>
            <a:off x="3794760" y="1517904"/>
            <a:ext cx="4937760" cy="530352"/>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43" name="Google Shape;643;p28"/>
          <p:cNvSpPr txBox="1"/>
          <p:nvPr/>
        </p:nvSpPr>
        <p:spPr>
          <a:xfrm>
            <a:off x="3931920" y="1517904"/>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950" u="none" cap="none" strike="noStrike">
                <a:solidFill>
                  <a:srgbClr val="9A6410"/>
                </a:solidFill>
                <a:latin typeface="Play"/>
                <a:ea typeface="Play"/>
                <a:cs typeface="Play"/>
                <a:sym typeface="Play"/>
              </a:rPr>
              <a:t>Unawareness only</a:t>
            </a:r>
            <a:endParaRPr/>
          </a:p>
          <a:p>
            <a:pPr indent="0" lvl="0" marL="0" marR="0" rtl="0" algn="l">
              <a:lnSpc>
                <a:spcPct val="100000"/>
              </a:lnSpc>
              <a:spcBef>
                <a:spcPts val="0"/>
              </a:spcBef>
              <a:spcAft>
                <a:spcPts val="0"/>
              </a:spcAft>
              <a:buNone/>
            </a:pPr>
            <a:r>
              <a:rPr b="0" i="0" lang="en-US" spc="0" sz="800" u="none" cap="none" strike="noStrike">
                <a:solidFill>
                  <a:srgbClr val="6E6E73"/>
                </a:solidFill>
                <a:latin typeface="Arial"/>
                <a:ea typeface="Arial"/>
                <a:cs typeface="Arial"/>
                <a:sym typeface="Arial"/>
              </a:rPr>
              <a:t>(or “I only wanted a one-time cleaning”)</a:t>
            </a:r>
            <a:endParaRPr/>
          </a:p>
        </p:txBody>
      </p:sp>
      <p:sp>
        <p:nvSpPr>
          <p:cNvPr id="644" name="Google Shape;644;p28"/>
          <p:cNvSpPr txBox="1"/>
          <p:nvPr/>
        </p:nvSpPr>
        <p:spPr>
          <a:xfrm>
            <a:off x="5943600" y="1517904"/>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pc="0" sz="900" u="none" cap="none" strike="noStrike">
                <a:solidFill>
                  <a:srgbClr val="1D1D1F"/>
                </a:solidFill>
                <a:latin typeface="Arial"/>
                <a:ea typeface="Arial"/>
                <a:cs typeface="Arial"/>
                <a:sym typeface="Arial"/>
              </a:rPr>
              <a:t>Don’t offer it proactively. Wait for a hint they’d pay a reduced ETF.</a:t>
            </a:r>
            <a:endParaRPr/>
          </a:p>
        </p:txBody>
      </p:sp>
      <p:sp>
        <p:nvSpPr>
          <p:cNvPr id="645" name="Google Shape;645;p28"/>
          <p:cNvSpPr/>
          <p:nvPr/>
        </p:nvSpPr>
        <p:spPr>
          <a:xfrm>
            <a:off x="3794760" y="2121408"/>
            <a:ext cx="4937760" cy="5303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46" name="Google Shape;646;p28"/>
          <p:cNvSpPr txBox="1"/>
          <p:nvPr/>
        </p:nvSpPr>
        <p:spPr>
          <a:xfrm>
            <a:off x="3931920" y="2121408"/>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950" u="none" cap="none" strike="noStrike">
                <a:solidFill>
                  <a:srgbClr val="0B7A6F"/>
                </a:solidFill>
                <a:latin typeface="Play"/>
                <a:ea typeface="Play"/>
                <a:cs typeface="Play"/>
                <a:sym typeface="Play"/>
              </a:rPr>
              <a:t>Any other reason mixed in</a:t>
            </a:r>
            <a:endParaRPr/>
          </a:p>
          <a:p>
            <a:pPr indent="0" lvl="0" marL="0" marR="0" rtl="0" algn="l">
              <a:lnSpc>
                <a:spcPct val="100000"/>
              </a:lnSpc>
              <a:spcBef>
                <a:spcPts val="0"/>
              </a:spcBef>
              <a:spcAft>
                <a:spcPts val="0"/>
              </a:spcAft>
              <a:buNone/>
            </a:pPr>
            <a:r>
              <a:rPr b="0" i="0" lang="en-US" spc="0" sz="800" u="none" cap="none" strike="noStrike">
                <a:solidFill>
                  <a:srgbClr val="6E6E73"/>
                </a:solidFill>
                <a:latin typeface="Arial"/>
                <a:ea typeface="Arial"/>
                <a:cs typeface="Arial"/>
                <a:sym typeface="Arial"/>
              </a:rPr>
              <a:t>(service issue, cost complaint…)</a:t>
            </a:r>
            <a:endParaRPr/>
          </a:p>
        </p:txBody>
      </p:sp>
      <p:sp>
        <p:nvSpPr>
          <p:cNvPr id="647" name="Google Shape;647;p28"/>
          <p:cNvSpPr txBox="1"/>
          <p:nvPr/>
        </p:nvSpPr>
        <p:spPr>
          <a:xfrm>
            <a:off x="5943600" y="2121408"/>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pc="0" sz="900" u="none" cap="none" strike="noStrike">
                <a:solidFill>
                  <a:srgbClr val="1D1D1F"/>
                </a:solidFill>
                <a:latin typeface="Arial"/>
                <a:ea typeface="Arial"/>
                <a:cs typeface="Arial"/>
                <a:sym typeface="Arial"/>
              </a:rPr>
              <a:t>Standard exit tool once retention is exhausted. MCT cheaper? Use that.</a:t>
            </a:r>
            <a:endParaRPr/>
          </a:p>
        </p:txBody>
      </p:sp>
      <p:sp>
        <p:nvSpPr>
          <p:cNvPr id="648" name="Google Shape;648;p28"/>
          <p:cNvSpPr/>
          <p:nvPr/>
        </p:nvSpPr>
        <p:spPr>
          <a:xfrm>
            <a:off x="3794760" y="2724912"/>
            <a:ext cx="4937760" cy="530352"/>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49" name="Google Shape;649;p28"/>
          <p:cNvSpPr txBox="1"/>
          <p:nvPr/>
        </p:nvSpPr>
        <p:spPr>
          <a:xfrm>
            <a:off x="3931920" y="2724912"/>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950" u="none" cap="none" strike="noStrike">
                <a:solidFill>
                  <a:srgbClr val="B3261E"/>
                </a:solidFill>
                <a:latin typeface="Play"/>
                <a:ea typeface="Play"/>
                <a:cs typeface="Play"/>
                <a:sym typeface="Play"/>
              </a:rPr>
              <a:t>Extreme financial hardship</a:t>
            </a:r>
            <a:endParaRPr/>
          </a:p>
          <a:p>
            <a:pPr indent="0" lvl="0" marL="0" marR="0" rtl="0" algn="l">
              <a:lnSpc>
                <a:spcPct val="100000"/>
              </a:lnSpc>
              <a:spcBef>
                <a:spcPts val="0"/>
              </a:spcBef>
              <a:spcAft>
                <a:spcPts val="0"/>
              </a:spcAft>
              <a:buNone/>
            </a:pPr>
            <a:r>
              <a:rPr b="0" i="0" lang="en-US" spc="0" sz="800" u="none" cap="none" strike="noStrike">
                <a:solidFill>
                  <a:srgbClr val="6E6E73"/>
                </a:solidFill>
                <a:latin typeface="Arial"/>
                <a:ea typeface="Arial"/>
                <a:cs typeface="Arial"/>
                <a:sym typeface="Arial"/>
              </a:rPr>
              <a:t>(skip retention attempts)</a:t>
            </a:r>
            <a:endParaRPr/>
          </a:p>
        </p:txBody>
      </p:sp>
      <p:sp>
        <p:nvSpPr>
          <p:cNvPr id="650" name="Google Shape;650;p28"/>
          <p:cNvSpPr txBox="1"/>
          <p:nvPr/>
        </p:nvSpPr>
        <p:spPr>
          <a:xfrm>
            <a:off x="5943600" y="2724912"/>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pc="0" sz="900" u="none" cap="none" strike="noStrike">
                <a:solidFill>
                  <a:srgbClr val="1D1D1F"/>
                </a:solidFill>
                <a:latin typeface="Arial"/>
                <a:ea typeface="Arial"/>
                <a:cs typeface="Arial"/>
                <a:sym typeface="Arial"/>
              </a:rPr>
              <a:t>Go straight to 50% off. Declined? Waive the ETF entirely.</a:t>
            </a:r>
            <a:endParaRPr/>
          </a:p>
        </p:txBody>
      </p:sp>
      <p:sp>
        <p:nvSpPr>
          <p:cNvPr id="651" name="Google Shape;651;p28"/>
          <p:cNvSpPr/>
          <p:nvPr/>
        </p:nvSpPr>
        <p:spPr>
          <a:xfrm>
            <a:off x="4114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52" name="Google Shape;652;p28"/>
          <p:cNvSpPr/>
          <p:nvPr/>
        </p:nvSpPr>
        <p:spPr>
          <a:xfrm>
            <a:off x="411480" y="3438144"/>
            <a:ext cx="2682240" cy="310896"/>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3  What can be deducted</a:t>
            </a:r>
            <a:endParaRPr/>
          </a:p>
        </p:txBody>
      </p:sp>
      <p:sp>
        <p:nvSpPr>
          <p:cNvPr id="653" name="Google Shape;653;p28"/>
          <p:cNvSpPr txBox="1"/>
          <p:nvPr/>
        </p:nvSpPr>
        <p:spPr>
          <a:xfrm>
            <a:off x="5486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900" u="none" cap="none" strike="noStrike">
                <a:solidFill>
                  <a:srgbClr val="1D1D1F"/>
                </a:solidFill>
                <a:latin typeface="Play"/>
                <a:ea typeface="Play"/>
                <a:cs typeface="Play"/>
                <a:sym typeface="Play"/>
              </a:rPr>
              <a:t>MF and/or voucher price</a:t>
            </a:r>
            <a:r>
              <a:rPr b="0" i="0" lang="en-US" spc="0" sz="900" u="none" cap="none" strike="noStrike">
                <a:solidFill>
                  <a:srgbClr val="1D1D1F"/>
                </a:solidFill>
                <a:latin typeface="Arial"/>
                <a:ea typeface="Arial"/>
                <a:cs typeface="Arial"/>
                <a:sym typeface="Arial"/>
              </a:rPr>
              <a:t>: don’t stack automatically, only when justified</a:t>
            </a:r>
            <a:endParaRPr/>
          </a:p>
          <a:p>
            <a:pPr indent="0" lvl="0" marL="0" marR="0" rtl="0" algn="l">
              <a:lnSpc>
                <a:spcPct val="100000"/>
              </a:lnSpc>
              <a:spcBef>
                <a:spcPts val="300"/>
              </a:spcBef>
              <a:spcAft>
                <a:spcPts val="0"/>
              </a:spcAft>
              <a:buNone/>
            </a:pPr>
            <a:r>
              <a:rPr b="1" i="0" lang="en-US" spc="0" sz="900" u="none" cap="none" strike="noStrike">
                <a:solidFill>
                  <a:srgbClr val="1D1D1F"/>
                </a:solidFill>
                <a:latin typeface="Play"/>
                <a:ea typeface="Play"/>
                <a:cs typeface="Play"/>
                <a:sym typeface="Play"/>
              </a:rPr>
              <a:t>Additional-hours charge</a:t>
            </a:r>
            <a:r>
              <a:rPr b="0" i="0" lang="en-US" spc="0" sz="900" u="none" cap="none" strike="noStrike">
                <a:solidFill>
                  <a:srgbClr val="1D1D1F"/>
                </a:solidFill>
                <a:latin typeface="Arial"/>
                <a:ea typeface="Arial"/>
                <a:cs typeface="Arial"/>
                <a:sym typeface="Arial"/>
              </a:rPr>
              <a:t>: if the FC-triggering job ran past the voucher’s hours</a:t>
            </a:r>
            <a:endParaRPr/>
          </a:p>
        </p:txBody>
      </p:sp>
      <p:sp>
        <p:nvSpPr>
          <p:cNvPr id="654" name="Google Shape;654;p28"/>
          <p:cNvSpPr/>
          <p:nvPr/>
        </p:nvSpPr>
        <p:spPr>
          <a:xfrm>
            <a:off x="32308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55" name="Google Shape;655;p28"/>
          <p:cNvSpPr/>
          <p:nvPr/>
        </p:nvSpPr>
        <p:spPr>
          <a:xfrm>
            <a:off x="3230880" y="3438144"/>
            <a:ext cx="268224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Cap: 50% of the original ETF</a:t>
            </a:r>
            <a:endParaRPr/>
          </a:p>
        </p:txBody>
      </p:sp>
      <p:sp>
        <p:nvSpPr>
          <p:cNvPr id="656" name="Google Shape;656;p28"/>
          <p:cNvSpPr txBox="1"/>
          <p:nvPr/>
        </p:nvSpPr>
        <p:spPr>
          <a:xfrm>
            <a:off x="33680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pc="0" sz="900" u="none" cap="none" strike="noStrike">
                <a:solidFill>
                  <a:srgbClr val="1D1D1F"/>
                </a:solidFill>
                <a:latin typeface="Arial"/>
                <a:ea typeface="Arial"/>
                <a:cs typeface="Arial"/>
                <a:sym typeface="Arial"/>
              </a:rPr>
              <a:t>Whatever is deducted. More line items don’t raise the ceiling, they just change how you get there.</a:t>
            </a:r>
            <a:endParaRPr/>
          </a:p>
        </p:txBody>
      </p:sp>
      <p:sp>
        <p:nvSpPr>
          <p:cNvPr id="657" name="Google Shape;657;p28"/>
          <p:cNvSpPr/>
          <p:nvPr/>
        </p:nvSpPr>
        <p:spPr>
          <a:xfrm>
            <a:off x="60502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658" name="Google Shape;658;p28"/>
          <p:cNvSpPr/>
          <p:nvPr/>
        </p:nvSpPr>
        <p:spPr>
          <a:xfrm>
            <a:off x="6050280" y="3438144"/>
            <a:ext cx="2682240" cy="310896"/>
          </a:xfrm>
          <a:prstGeom prst="roundRect">
            <a:avLst>
              <a:gd fmla="val 8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Before you apply it</a:t>
            </a:r>
            <a:endParaRPr/>
          </a:p>
        </p:txBody>
      </p:sp>
      <p:sp>
        <p:nvSpPr>
          <p:cNvPr id="659" name="Google Shape;659;p28"/>
          <p:cNvSpPr txBox="1"/>
          <p:nvPr/>
        </p:nvSpPr>
        <p:spPr>
          <a:xfrm>
            <a:off x="61874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pc="0" sz="900" u="none" cap="none" strike="noStrike">
                <a:solidFill>
                  <a:srgbClr val="1D1D1F"/>
                </a:solidFill>
                <a:latin typeface="Arial"/>
                <a:ea typeface="Arial"/>
                <a:cs typeface="Arial"/>
                <a:sym typeface="Arial"/>
              </a:rPr>
              <a:t>Note the customer’s </a:t>
            </a:r>
            <a:r>
              <a:rPr b="1" i="0" lang="en-US" spc="0" sz="900" u="none" cap="none" strike="noStrike">
                <a:solidFill>
                  <a:srgbClr val="1D1D1F"/>
                </a:solidFill>
                <a:latin typeface="Play"/>
                <a:ea typeface="Play"/>
                <a:cs typeface="Play"/>
                <a:sym typeface="Play"/>
              </a:rPr>
              <a:t>LTNR</a:t>
            </a:r>
            <a:r>
              <a:rPr b="0" i="0" lang="en-US" spc="0" sz="900" u="none" cap="none" strike="noStrike">
                <a:solidFill>
                  <a:srgbClr val="1D1D1F"/>
                </a:solidFill>
                <a:latin typeface="Arial"/>
                <a:ea typeface="Arial"/>
                <a:cs typeface="Arial"/>
                <a:sym typeface="Arial"/>
              </a:rPr>
              <a:t> in the internal note (context, not a limit).</a:t>
            </a:r>
            <a:endParaRPr/>
          </a:p>
          <a:p>
            <a:pPr indent="0" lvl="0" marL="0" marR="0" rtl="0" algn="l">
              <a:lnSpc>
                <a:spcPct val="100000"/>
              </a:lnSpc>
              <a:spcBef>
                <a:spcPts val="300"/>
              </a:spcBef>
              <a:spcAft>
                <a:spcPts val="0"/>
              </a:spcAft>
              <a:buNone/>
            </a:pPr>
            <a:r>
              <a:rPr b="0" i="0" lang="en-US" spc="0" sz="900" u="none" cap="none" strike="noStrike">
                <a:solidFill>
                  <a:srgbClr val="1D1D1F"/>
                </a:solidFill>
                <a:latin typeface="Arial"/>
                <a:ea typeface="Arial"/>
                <a:cs typeface="Arial"/>
                <a:sym typeface="Arial"/>
              </a:rPr>
              <a:t>Existing reduction? Always calculate from the </a:t>
            </a:r>
            <a:r>
              <a:rPr b="1" i="0" lang="en-US" spc="0" sz="900" u="none" cap="none" strike="noStrike">
                <a:solidFill>
                  <a:srgbClr val="1D1D1F"/>
                </a:solidFill>
                <a:latin typeface="Play"/>
                <a:ea typeface="Play"/>
                <a:cs typeface="Play"/>
                <a:sym typeface="Play"/>
              </a:rPr>
              <a:t>original</a:t>
            </a:r>
            <a:r>
              <a:rPr b="0" i="0" lang="en-US" spc="0" sz="900" u="none" cap="none" strike="noStrike">
                <a:solidFill>
                  <a:srgbClr val="1D1D1F"/>
                </a:solidFill>
                <a:latin typeface="Arial"/>
                <a:ea typeface="Arial"/>
                <a:cs typeface="Arial"/>
                <a:sym typeface="Arial"/>
              </a:rPr>
              <a:t> ETF.</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4" name="Shape 664"/>
        <p:cNvGrpSpPr/>
        <p:nvPr/>
      </p:nvGrpSpPr>
      <p:grpSpPr>
        <a:xfrm>
          <a:off x="0" y="0"/>
          <a:ext cx="0" cy="0"/>
          <a:chOff x="0" y="0"/>
          <a:chExt cx="0" cy="0"/>
        </a:xfrm>
      </p:grpSpPr>
      <p:sp>
        <p:nvSpPr>
          <p:cNvPr id="665" name="Google Shape;665;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66" name="Google Shape;666;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67" name="Google Shape;667;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68" name="Google Shape;668;p29"/>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9" name="Google Shape;669;p29"/>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70" name="Google Shape;670;p29"/>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rgbClr val="6E6E73"/>
              </a:solidFill>
              <a:latin typeface="Arial"/>
              <a:ea typeface="Arial"/>
              <a:cs typeface="Arial"/>
              <a:sym typeface="Arial"/>
            </a:endParaRPr>
          </a:p>
          <a:p>
            <a:pPr indent="0" lvl="0" marL="0" marR="0" rtl="0" algn="ctr">
              <a:lnSpc>
                <a:spcPct val="100000"/>
              </a:lnSpc>
              <a:spcBef>
                <a:spcPts val="0"/>
              </a:spcBef>
              <a:spcAft>
                <a:spcPts val="0"/>
              </a:spcAft>
              <a:buClr>
                <a:srgbClr val="6E6E73"/>
              </a:buClr>
              <a:buSzPts val="1000"/>
              <a:buFont typeface="Arial"/>
              <a:buNone/>
            </a:pPr>
            <a:r>
              <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ETF</a:t>
            </a:r>
            <a:endParaRPr b="0" i="0" spc="0" sz="1000" u="none" cap="none" strike="noStrike">
              <a:solidFill>
                <a:srgbClr val="6E6E73"/>
              </a:solidFill>
              <a:latin typeface="Arial"/>
              <a:ea typeface="Arial"/>
              <a:cs typeface="Arial"/>
              <a:sym typeface="Arial"/>
            </a:endParaRPr>
          </a:p>
        </p:txBody>
      </p:sp>
      <p:sp>
        <p:nvSpPr>
          <p:cNvPr id="671" name="Google Shape;671;p29"/>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72" name="Google Shape;672;p29"/>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3" name="Google Shape;673;p29"/>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4" name="Google Shape;674;p29"/>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75" name="Google Shape;675;p29"/>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76" name="Google Shape;676;p29"/>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7" name="Google Shape;677;p29"/>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8" name="Google Shape;678;p29"/>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79" name="Google Shape;679;p29"/>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80" name="Google Shape;680;p2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1" name="Google Shape;681;p29"/>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82" name="Google Shape;682;p2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83" name="Google Shape;683;p29"/>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4" name="Google Shape;684;p29"/>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85" name="Google Shape;685;p29"/>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86" name="Google Shape;686;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1" name="Shape 691"/>
        <p:cNvGrpSpPr/>
        <p:nvPr/>
      </p:nvGrpSpPr>
      <p:grpSpPr>
        <a:xfrm>
          <a:off x="0" y="0"/>
          <a:ext cx="0" cy="0"/>
          <a:chOff x="0" y="0"/>
          <a:chExt cx="0" cy="0"/>
        </a:xfrm>
      </p:grpSpPr>
      <p:sp>
        <p:nvSpPr>
          <p:cNvPr id="692" name="Google Shape;692;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93" name="Google Shape;693;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94" name="Google Shape;694;p30"/>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5" name="Google Shape;695;p30"/>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6" name="Google Shape;696;p30"/>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97" name="Google Shape;697;p30"/>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698" name="Google Shape;698;p30"/>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9" name="Google Shape;699;p30"/>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700" name="Google Shape;700;p30"/>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1" name="Google Shape;701;p30"/>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2" name="Google Shape;702;p30"/>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03" name="Google Shape;703;p30"/>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704" name="Google Shape;704;p30"/>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5" name="Google Shape;705;p30"/>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706" name="Google Shape;706;p30"/>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8" name="Google Shape;708;p30"/>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09" name="Google Shape;709;p30"/>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710" name="Google Shape;710;p30"/>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1" name="Google Shape;711;p30"/>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712" name="Google Shape;712;p30"/>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4" name="Google Shape;714;p30"/>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715" name="Google Shape;715;p30"/>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716" name="Google Shape;716;p30"/>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7" name="Google Shape;717;p30"/>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718" name="Google Shape;718;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99"/>
                                        </p:tgtEl>
                                        <p:attrNameLst>
                                          <p:attrName>style.visibility</p:attrName>
                                        </p:attrNameLst>
                                      </p:cBhvr>
                                      <p:to>
                                        <p:strVal val="visible"/>
                                      </p:to>
                                    </p:set>
                                    <p:animEffect filter="fade" transition="in">
                                      <p:cBhvr>
                                        <p:cTn dur="600"/>
                                        <p:tgtEl>
                                          <p:spTgt spid="69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05"/>
                                        </p:tgtEl>
                                        <p:attrNameLst>
                                          <p:attrName>style.visibility</p:attrName>
                                        </p:attrNameLst>
                                      </p:cBhvr>
                                      <p:to>
                                        <p:strVal val="visible"/>
                                      </p:to>
                                    </p:set>
                                    <p:animEffect filter="fade" transition="in">
                                      <p:cBhvr>
                                        <p:cTn dur="600"/>
                                        <p:tgtEl>
                                          <p:spTgt spid="70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1"/>
                                        </p:tgtEl>
                                        <p:attrNameLst>
                                          <p:attrName>style.visibility</p:attrName>
                                        </p:attrNameLst>
                                      </p:cBhvr>
                                      <p:to>
                                        <p:strVal val="visible"/>
                                      </p:to>
                                    </p:set>
                                    <p:animEffect filter="fade" transition="in">
                                      <p:cBhvr>
                                        <p:cTn dur="600"/>
                                        <p:tgtEl>
                                          <p:spTgt spid="71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7"/>
                                        </p:tgtEl>
                                        <p:attrNameLst>
                                          <p:attrName>style.visibility</p:attrName>
                                        </p:attrNameLst>
                                      </p:cBhvr>
                                      <p:to>
                                        <p:strVal val="visible"/>
                                      </p:to>
                                    </p:set>
                                    <p:animEffect filter="fade" transition="in">
                                      <p:cBhvr>
                                        <p:cTn dur="600"/>
                                        <p:tgtEl>
                                          <p:spTgt spid="71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3" name="Shape 723"/>
        <p:cNvGrpSpPr/>
        <p:nvPr/>
      </p:nvGrpSpPr>
      <p:grpSpPr>
        <a:xfrm>
          <a:off x="0" y="0"/>
          <a:ext cx="0" cy="0"/>
          <a:chOff x="0" y="0"/>
          <a:chExt cx="0" cy="0"/>
        </a:xfrm>
      </p:grpSpPr>
      <p:sp>
        <p:nvSpPr>
          <p:cNvPr id="724" name="Google Shape;724;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725" name="Google Shape;725;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726" name="Google Shape;726;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727" name="Google Shape;727;p31"/>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8" name="Google Shape;728;p31"/>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29" name="Google Shape;729;p31"/>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730" name="Google Shape;730;p31"/>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731" name="Google Shape;731;p31"/>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732" name="Google Shape;732;p31"/>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733" name="Google Shape;733;p31"/>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4" name="Google Shape;734;p31"/>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5" name="Google Shape;735;p31"/>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36" name="Google Shape;736;p31"/>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737" name="Google Shape;737;p31"/>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738" name="Google Shape;738;p31"/>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31"/>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0" name="Google Shape;740;p31"/>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41" name="Google Shape;741;p31"/>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742" name="Google Shape;742;p31"/>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743" name="Google Shape;743;p31"/>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31"/>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5" name="Google Shape;745;p31"/>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46" name="Google Shape;746;p31"/>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747" name="Google Shape;747;p31"/>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748" name="Google Shape;748;p31"/>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9" name="Google Shape;749;p31"/>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750" name="Google Shape;750;p31"/>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751" name="Google Shape;751;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3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758" name="Google Shape;758;p3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759" name="Google Shape;759;p3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760" name="Google Shape;760;p3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61" name="Google Shape;761;p3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2" name="Google Shape;762;p3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63" name="Google Shape;763;p3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764" name="Google Shape;764;p3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5" name="Google Shape;765;p3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66" name="Google Shape;766;p3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67" name="Google Shape;767;p3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8" name="Google Shape;768;p3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69" name="Google Shape;769;p3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70" name="Google Shape;770;p3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1" name="Google Shape;771;p3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72" name="Google Shape;772;p3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73" name="Google Shape;773;p3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4" name="Google Shape;774;p3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75" name="Google Shape;775;p32"/>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76" name="Google Shape;776;p3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7" name="Google Shape;777;p3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8" name="Google Shape;778;p3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3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0" name="Google Shape;780;p3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1" name="Google Shape;781;p3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2" name="Google Shape;782;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7" name="Shape 787"/>
        <p:cNvGrpSpPr/>
        <p:nvPr/>
      </p:nvGrpSpPr>
      <p:grpSpPr>
        <a:xfrm>
          <a:off x="0" y="0"/>
          <a:ext cx="0" cy="0"/>
          <a:chOff x="0" y="0"/>
          <a:chExt cx="0" cy="0"/>
        </a:xfrm>
      </p:grpSpPr>
      <p:sp>
        <p:nvSpPr>
          <p:cNvPr id="788" name="Google Shape;788;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89" name="Google Shape;789;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90" name="Google Shape;790;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91" name="Google Shape;791;p33"/>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2" name="Google Shape;792;p33"/>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93" name="Google Shape;793;p33"/>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94" name="Google Shape;794;p33"/>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5" name="Google Shape;795;p33"/>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796" name="Google Shape;796;p33"/>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97" name="Google Shape;797;p33"/>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8" name="Google Shape;798;p33"/>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799" name="Google Shape;799;p33"/>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800" name="Google Shape;800;p33"/>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1" name="Google Shape;801;p33"/>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802" name="Google Shape;802;p33"/>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803" name="Google Shape;803;p33"/>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4" name="Google Shape;804;p33"/>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805" name="Google Shape;805;p33"/>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806" name="Google Shape;806;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1" name="Shape 811"/>
        <p:cNvGrpSpPr/>
        <p:nvPr/>
      </p:nvGrpSpPr>
      <p:grpSpPr>
        <a:xfrm>
          <a:off x="0" y="0"/>
          <a:ext cx="0" cy="0"/>
          <a:chOff x="0" y="0"/>
          <a:chExt cx="0" cy="0"/>
        </a:xfrm>
      </p:grpSpPr>
      <p:sp>
        <p:nvSpPr>
          <p:cNvPr id="812" name="Google Shape;812;p3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13" name="Google Shape;813;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814" name="Google Shape;814;p3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815" name="Google Shape;815;p34"/>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6" name="Google Shape;816;p34"/>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17" name="Google Shape;817;p34"/>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818" name="Google Shape;818;p34"/>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19" name="Google Shape;819;p34"/>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820" name="Google Shape;820;p34"/>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821" name="Google Shape;821;p34"/>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2" name="Google Shape;822;p34"/>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3" name="Google Shape;823;p34"/>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824" name="Google Shape;824;p34"/>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25" name="Google Shape;825;p34"/>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826" name="Google Shape;826;p34"/>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827" name="Google Shape;827;p34"/>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8" name="Google Shape;828;p34"/>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9" name="Google Shape;829;p34"/>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830" name="Google Shape;830;p34"/>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1" name="Google Shape;831;p34"/>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832" name="Google Shape;832;p34"/>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833" name="Google Shape;833;p3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34" name="Google Shape;834;p34"/>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See a sample: triggered ticket + CP’s message</a:t>
            </a:r>
            <a:endParaRPr b="0" i="0" spc="0" sz="1400" u="none" cap="none" strike="noStrike">
              <a:solidFill>
                <a:srgbClr val="000000"/>
              </a:solidFill>
              <a:latin typeface="Arial"/>
              <a:ea typeface="Arial"/>
              <a:cs typeface="Arial"/>
              <a:sym typeface="Arial"/>
            </a:endParaRPr>
          </a:p>
        </p:txBody>
      </p:sp>
      <p:sp>
        <p:nvSpPr>
          <p:cNvPr id="835" name="Google Shape;835;p34"/>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Play"/>
                <a:ea typeface="Play"/>
                <a:cs typeface="Play"/>
                <a:sym typeface="Play"/>
              </a:rPr>
              <a:t>Click once to show both, click again to close.</a:t>
            </a:r>
            <a:endParaRPr b="0" i="0" spc="0" sz="1400" u="none" cap="none" strike="noStrike">
              <a:solidFill>
                <a:srgbClr val="000000"/>
              </a:solidFill>
              <a:latin typeface="Arial"/>
              <a:ea typeface="Arial"/>
              <a:cs typeface="Arial"/>
              <a:sym typeface="Arial"/>
            </a:endParaRPr>
          </a:p>
        </p:txBody>
      </p:sp>
      <p:sp>
        <p:nvSpPr>
          <p:cNvPr id="836" name="Google Shape;836;p34"/>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7" name="Google Shape;837;p34"/>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b="0" i="0" spc="0" sz="1400" u="none" cap="none" strike="noStrike">
              <a:solidFill>
                <a:srgbClr val="000000"/>
              </a:solidFill>
              <a:latin typeface="Arial"/>
              <a:ea typeface="Arial"/>
              <a:cs typeface="Arial"/>
              <a:sym typeface="Arial"/>
            </a:endParaRPr>
          </a:p>
        </p:txBody>
      </p:sp>
      <p:pic>
        <p:nvPicPr>
          <p:cNvPr descr="ci_triggered_ticket.png" id="838" name="Google Shape;838;p34"/>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839" name="Google Shape;839;p34"/>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b="0" i="0" spc="0" sz="1400" u="none" cap="none" strike="noStrike">
              <a:solidFill>
                <a:srgbClr val="000000"/>
              </a:solidFill>
              <a:latin typeface="Arial"/>
              <a:ea typeface="Arial"/>
              <a:cs typeface="Arial"/>
              <a:sym typeface="Arial"/>
            </a:endParaRPr>
          </a:p>
        </p:txBody>
      </p:sp>
      <p:pic>
        <p:nvPicPr>
          <p:cNvPr descr="ci_cp_message.png" id="840" name="Google Shape;840;p34"/>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36"/>
                                        </p:tgtEl>
                                        <p:attrNameLst>
                                          <p:attrName>style.visibility</p:attrName>
                                        </p:attrNameLst>
                                      </p:cBhvr>
                                      <p:to>
                                        <p:strVal val="visible"/>
                                      </p:to>
                                    </p:set>
                                    <p:animEffect filter="fade" transition="in">
                                      <p:cBhvr>
                                        <p:cTn dur="600"/>
                                        <p:tgtEl>
                                          <p:spTgt spid="836"/>
                                        </p:tgtEl>
                                      </p:cBhvr>
                                    </p:animEffect>
                                  </p:childTnLst>
                                </p:cTn>
                              </p:par>
                              <p:par>
                                <p:cTn fill="hold" nodeType="withEffect" presetClass="entr" presetID="10" presetSubtype="0">
                                  <p:stCondLst>
                                    <p:cond delay="0"/>
                                  </p:stCondLst>
                                  <p:childTnLst>
                                    <p:set>
                                      <p:cBhvr>
                                        <p:cTn dur="1" fill="hold">
                                          <p:stCondLst>
                                            <p:cond delay="0"/>
                                          </p:stCondLst>
                                        </p:cTn>
                                        <p:tgtEl>
                                          <p:spTgt spid="837"/>
                                        </p:tgtEl>
                                        <p:attrNameLst>
                                          <p:attrName>style.visibility</p:attrName>
                                        </p:attrNameLst>
                                      </p:cBhvr>
                                      <p:to>
                                        <p:strVal val="visible"/>
                                      </p:to>
                                    </p:set>
                                    <p:animEffect filter="fade" transition="in">
                                      <p:cBhvr>
                                        <p:cTn dur="600"/>
                                        <p:tgtEl>
                                          <p:spTgt spid="837"/>
                                        </p:tgtEl>
                                      </p:cBhvr>
                                    </p:animEffect>
                                  </p:childTnLst>
                                </p:cTn>
                              </p:par>
                              <p:par>
                                <p:cTn fill="hold" nodeType="withEffect" presetClass="entr" presetID="10" presetSubtype="0">
                                  <p:stCondLst>
                                    <p:cond delay="0"/>
                                  </p:stCondLst>
                                  <p:childTnLst>
                                    <p:set>
                                      <p:cBhvr>
                                        <p:cTn dur="1" fill="hold">
                                          <p:stCondLst>
                                            <p:cond delay="0"/>
                                          </p:stCondLst>
                                        </p:cTn>
                                        <p:tgtEl>
                                          <p:spTgt spid="838"/>
                                        </p:tgtEl>
                                        <p:attrNameLst>
                                          <p:attrName>style.visibility</p:attrName>
                                        </p:attrNameLst>
                                      </p:cBhvr>
                                      <p:to>
                                        <p:strVal val="visible"/>
                                      </p:to>
                                    </p:set>
                                    <p:animEffect filter="fade" transition="in">
                                      <p:cBhvr>
                                        <p:cTn dur="600"/>
                                        <p:tgtEl>
                                          <p:spTgt spid="838"/>
                                        </p:tgtEl>
                                      </p:cBhvr>
                                    </p:animEffect>
                                  </p:childTnLst>
                                </p:cTn>
                              </p:par>
                              <p:par>
                                <p:cTn fill="hold" nodeType="withEffect" presetClass="entr" presetID="10" presetSubtype="0">
                                  <p:stCondLst>
                                    <p:cond delay="0"/>
                                  </p:stCondLst>
                                  <p:childTnLst>
                                    <p:set>
                                      <p:cBhvr>
                                        <p:cTn dur="1" fill="hold">
                                          <p:stCondLst>
                                            <p:cond delay="0"/>
                                          </p:stCondLst>
                                        </p:cTn>
                                        <p:tgtEl>
                                          <p:spTgt spid="839"/>
                                        </p:tgtEl>
                                        <p:attrNameLst>
                                          <p:attrName>style.visibility</p:attrName>
                                        </p:attrNameLst>
                                      </p:cBhvr>
                                      <p:to>
                                        <p:strVal val="visible"/>
                                      </p:to>
                                    </p:set>
                                    <p:animEffect filter="fade" transition="in">
                                      <p:cBhvr>
                                        <p:cTn dur="600"/>
                                        <p:tgtEl>
                                          <p:spTgt spid="839"/>
                                        </p:tgtEl>
                                      </p:cBhvr>
                                    </p:animEffect>
                                  </p:childTnLst>
                                </p:cTn>
                              </p:par>
                              <p:par>
                                <p:cTn fill="hold" nodeType="withEffect" presetClass="entr" presetID="10" presetSubtype="0">
                                  <p:stCondLst>
                                    <p:cond delay="0"/>
                                  </p:stCondLst>
                                  <p:childTnLst>
                                    <p:set>
                                      <p:cBhvr>
                                        <p:cTn dur="1" fill="hold">
                                          <p:stCondLst>
                                            <p:cond delay="0"/>
                                          </p:stCondLst>
                                        </p:cTn>
                                        <p:tgtEl>
                                          <p:spTgt spid="840"/>
                                        </p:tgtEl>
                                        <p:attrNameLst>
                                          <p:attrName>style.visibility</p:attrName>
                                        </p:attrNameLst>
                                      </p:cBhvr>
                                      <p:to>
                                        <p:strVal val="visible"/>
                                      </p:to>
                                    </p:set>
                                    <p:animEffect filter="fade" transition="in">
                                      <p:cBhvr>
                                        <p:cTn dur="600"/>
                                        <p:tgtEl>
                                          <p:spTgt spid="84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836"/>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37"/>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38"/>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39"/>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0"/>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5" name="Shape 845"/>
        <p:cNvGrpSpPr/>
        <p:nvPr/>
      </p:nvGrpSpPr>
      <p:grpSpPr>
        <a:xfrm>
          <a:off x="0" y="0"/>
          <a:ext cx="0" cy="0"/>
          <a:chOff x="0" y="0"/>
          <a:chExt cx="0" cy="0"/>
        </a:xfrm>
      </p:grpSpPr>
      <p:sp>
        <p:nvSpPr>
          <p:cNvPr id="846" name="Google Shape;846;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47" name="Google Shape;847;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848" name="Google Shape;848;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849" name="Google Shape;849;p35"/>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0" name="Google Shape;850;p35"/>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1" name="Google Shape;851;p35"/>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2" name="Google Shape;852;p35"/>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3" name="Google Shape;853;p35"/>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854" name="Google Shape;854;p35"/>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855" name="Google Shape;855;p35"/>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856" name="Google Shape;856;p35"/>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7" name="Google Shape;857;p35"/>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8" name="Google Shape;858;p35"/>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59" name="Google Shape;859;p35"/>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0" name="Google Shape;860;p35"/>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861" name="Google Shape;861;p35"/>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862" name="Google Shape;862;p35"/>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863" name="Google Shape;863;p35"/>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4" name="Google Shape;864;p35"/>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5" name="Google Shape;865;p35"/>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66" name="Google Shape;866;p35"/>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7" name="Google Shape;867;p35"/>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68" name="Google Shape;868;p35"/>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69" name="Google Shape;869;p35"/>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70" name="Google Shape;870;p35"/>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1" name="Google Shape;871;p35"/>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2" name="Google Shape;872;p35"/>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73" name="Google Shape;873;p35"/>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4" name="Google Shape;874;p35"/>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75" name="Google Shape;875;p35"/>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76" name="Google Shape;876;p35"/>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77" name="Google Shape;877;p35"/>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8" name="Google Shape;878;p35"/>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9" name="Google Shape;879;p35"/>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80" name="Google Shape;880;p35"/>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1" name="Google Shape;881;p35"/>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82" name="Google Shape;882;p35"/>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83" name="Google Shape;883;p35"/>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Customer responds? Address pain points, then follow the right retention playbook.</a:t>
            </a:r>
            <a:endParaRPr b="0" i="0" spc="0" sz="900" u="none" cap="none" strike="noStrike">
              <a:solidFill>
                <a:schemeClr val="dk1"/>
              </a:solidFill>
              <a:latin typeface="Calibri"/>
              <a:ea typeface="Calibri"/>
              <a:cs typeface="Calibri"/>
              <a:sym typeface="Calibri"/>
            </a:endParaRPr>
          </a:p>
        </p:txBody>
      </p:sp>
      <p:sp>
        <p:nvSpPr>
          <p:cNvPr id="884" name="Google Shape;884;p35"/>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5" name="Google Shape;885;p35"/>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6" name="Google Shape;886;p35"/>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87" name="Google Shape;887;p3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88" name="Google Shape;888;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89" name="Google Shape;889;p35"/>
          <p:cNvSpPr txBox="1"/>
          <p:nvPr/>
        </p:nvSpPr>
        <p:spPr>
          <a:xfrm>
            <a:off x="523550" y="4092600"/>
            <a:ext cx="72894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90" name="Google Shape;890;p35"/>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5" name="Shape 895"/>
        <p:cNvGrpSpPr/>
        <p:nvPr/>
      </p:nvGrpSpPr>
      <p:grpSpPr>
        <a:xfrm>
          <a:off x="0" y="0"/>
          <a:ext cx="0" cy="0"/>
          <a:chOff x="0" y="0"/>
          <a:chExt cx="0" cy="0"/>
        </a:xfrm>
      </p:grpSpPr>
      <p:sp>
        <p:nvSpPr>
          <p:cNvPr id="896" name="Google Shape;896;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97" name="Google Shape;897;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898" name="Google Shape;898;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899" name="Google Shape;899;p36"/>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0" name="Google Shape;900;p36"/>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1" name="Google Shape;901;p36"/>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902" name="Google Shape;902;p36"/>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903" name="Google Shape;903;p36"/>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904" name="Google Shape;904;p36"/>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905" name="Google Shape;905;p36"/>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6" name="Google Shape;906;p36"/>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7" name="Google Shape;907;p36"/>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908" name="Google Shape;908;p36"/>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909" name="Google Shape;909;p36"/>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910" name="Google Shape;910;p36"/>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911" name="Google Shape;911;p36"/>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2" name="Google Shape;912;p36"/>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3" name="Google Shape;913;p36"/>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914" name="Google Shape;914;p36"/>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915" name="Google Shape;915;p36"/>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916" name="Google Shape;916;p36"/>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917" name="Google Shape;917;p36"/>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8" name="Google Shape;918;p36"/>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919" name="Google Shape;919;p36"/>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920" name="Google Shape;920;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927" name="Google Shape;927;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928" name="Google Shape;928;p3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9" name="Google Shape;929;p3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0" name="Google Shape;930;p3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31" name="Google Shape;931;p3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932" name="Google Shape;932;p3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3" name="Google Shape;933;p3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934" name="Google Shape;934;p3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3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6" name="Google Shape;936;p3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37" name="Google Shape;937;p3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938" name="Google Shape;938;p3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9" name="Google Shape;939;p3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940" name="Google Shape;940;p3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2" name="Google Shape;942;p3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43" name="Google Shape;943;p3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944" name="Google Shape;944;p3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5" name="Google Shape;945;p3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946" name="Google Shape;946;p3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8" name="Google Shape;948;p3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949" name="Google Shape;949;p3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950" name="Google Shape;950;p3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1" name="Google Shape;951;p3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952" name="Google Shape;952;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3"/>
                                        </p:tgtEl>
                                        <p:attrNameLst>
                                          <p:attrName>style.visibility</p:attrName>
                                        </p:attrNameLst>
                                      </p:cBhvr>
                                      <p:to>
                                        <p:strVal val="visible"/>
                                      </p:to>
                                    </p:set>
                                    <p:animEffect filter="fade" transition="in">
                                      <p:cBhvr>
                                        <p:cTn dur="600"/>
                                        <p:tgtEl>
                                          <p:spTgt spid="93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9"/>
                                        </p:tgtEl>
                                        <p:attrNameLst>
                                          <p:attrName>style.visibility</p:attrName>
                                        </p:attrNameLst>
                                      </p:cBhvr>
                                      <p:to>
                                        <p:strVal val="visible"/>
                                      </p:to>
                                    </p:set>
                                    <p:animEffect filter="fade" transition="in">
                                      <p:cBhvr>
                                        <p:cTn dur="600"/>
                                        <p:tgtEl>
                                          <p:spTgt spid="9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5"/>
                                        </p:tgtEl>
                                        <p:attrNameLst>
                                          <p:attrName>style.visibility</p:attrName>
                                        </p:attrNameLst>
                                      </p:cBhvr>
                                      <p:to>
                                        <p:strVal val="visible"/>
                                      </p:to>
                                    </p:set>
                                    <p:animEffect filter="fade" transition="in">
                                      <p:cBhvr>
                                        <p:cTn dur="600"/>
                                        <p:tgtEl>
                                          <p:spTgt spid="9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1"/>
                                        </p:tgtEl>
                                        <p:attrNameLst>
                                          <p:attrName>style.visibility</p:attrName>
                                        </p:attrNameLst>
                                      </p:cBhvr>
                                      <p:to>
                                        <p:strVal val="visible"/>
                                      </p:to>
                                    </p:set>
                                    <p:animEffect filter="fade" transition="in">
                                      <p:cBhvr>
                                        <p:cTn dur="600"/>
                                        <p:tgtEl>
                                          <p:spTgt spid="95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7" name="Shape 957"/>
        <p:cNvGrpSpPr/>
        <p:nvPr/>
      </p:nvGrpSpPr>
      <p:grpSpPr>
        <a:xfrm>
          <a:off x="0" y="0"/>
          <a:ext cx="0" cy="0"/>
          <a:chOff x="0" y="0"/>
          <a:chExt cx="0" cy="0"/>
        </a:xfrm>
      </p:grpSpPr>
      <p:sp>
        <p:nvSpPr>
          <p:cNvPr id="958" name="Google Shape;958;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959" name="Google Shape;959;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960" name="Google Shape;960;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961" name="Google Shape;961;p3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2" name="Google Shape;962;p3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3" name="Google Shape;963;p3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964" name="Google Shape;964;p3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965" name="Google Shape;965;p3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966" name="Google Shape;966;p3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67" name="Google Shape;967;p3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8" name="Google Shape;968;p3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9" name="Google Shape;969;p3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70" name="Google Shape;970;p3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71" name="Google Shape;971;p3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72" name="Google Shape;972;p3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4" name="Google Shape;974;p3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75" name="Google Shape;975;p3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76" name="Google Shape;976;p3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77" name="Google Shape;977;p3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3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80" name="Google Shape;980;p3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81" name="Google Shape;981;p3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82" name="Google Shape;982;p3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3" name="Google Shape;983;p3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84" name="Google Shape;984;p3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85" name="Google Shape;985;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0" name="Shape 990"/>
        <p:cNvGrpSpPr/>
        <p:nvPr/>
      </p:nvGrpSpPr>
      <p:grpSpPr>
        <a:xfrm>
          <a:off x="0" y="0"/>
          <a:ext cx="0" cy="0"/>
          <a:chOff x="0" y="0"/>
          <a:chExt cx="0" cy="0"/>
        </a:xfrm>
      </p:grpSpPr>
      <p:sp>
        <p:nvSpPr>
          <p:cNvPr id="991" name="Google Shape;991;p3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92" name="Google Shape;992;p3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93" name="Google Shape;993;p3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94" name="Google Shape;994;p3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995" name="Google Shape;995;p3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96" name="Google Shape;996;p3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997" name="Google Shape;997;p3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998" name="Google Shape;998;p3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99" name="Google Shape;999;p3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0" name="Google Shape;1000;p3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1001" name="Google Shape;1001;p3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2" name="Google Shape;1002;p3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03" name="Google Shape;1003;p3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1004" name="Google Shape;1004;p3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5" name="Google Shape;1005;p3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06" name="Google Shape;1006;p3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1007" name="Google Shape;1007;p3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8" name="Google Shape;1008;p3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1009" name="Google Shape;1009;p39"/>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1010" name="Google Shape;1010;p3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1" name="Google Shape;1011;p3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2" name="Google Shape;1012;p3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3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4" name="Google Shape;1014;p3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5" name="Google Shape;1015;p3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1" name="Shape 1021"/>
        <p:cNvGrpSpPr/>
        <p:nvPr/>
      </p:nvGrpSpPr>
      <p:grpSpPr>
        <a:xfrm>
          <a:off x="0" y="0"/>
          <a:ext cx="0" cy="0"/>
          <a:chOff x="0" y="0"/>
          <a:chExt cx="0" cy="0"/>
        </a:xfrm>
      </p:grpSpPr>
      <p:sp>
        <p:nvSpPr>
          <p:cNvPr id="1022" name="Google Shape;1022;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23" name="Google Shape;1023;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1024" name="Google Shape;1024;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1025" name="Google Shape;1025;p40"/>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6" name="Google Shape;1026;p4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1027" name="Google Shape;1027;p40"/>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1028" name="Google Shape;1028;p40"/>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9" name="Google Shape;1029;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1030" name="Google Shape;1030;p40"/>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1031" name="Google Shape;1031;p40"/>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2" name="Google Shape;1032;p40"/>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1033" name="Google Shape;1033;p40"/>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1034" name="Google Shape;1034;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9" name="Shape 1039"/>
        <p:cNvGrpSpPr/>
        <p:nvPr/>
      </p:nvGrpSpPr>
      <p:grpSpPr>
        <a:xfrm>
          <a:off x="0" y="0"/>
          <a:ext cx="0" cy="0"/>
          <a:chOff x="0" y="0"/>
          <a:chExt cx="0" cy="0"/>
        </a:xfrm>
      </p:grpSpPr>
      <p:sp>
        <p:nvSpPr>
          <p:cNvPr id="1040" name="Google Shape;1040;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41" name="Google Shape;1041;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1042" name="Google Shape;1042;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1043" name="Google Shape;1043;p41"/>
          <p:cNvGraphicFramePr/>
          <p:nvPr/>
        </p:nvGraphicFramePr>
        <p:xfrm>
          <a:off x="411480" y="1298448"/>
          <a:ext cx="3000000" cy="3000000"/>
        </p:xfrm>
        <a:graphic>
          <a:graphicData uri="http://schemas.openxmlformats.org/drawingml/2006/table">
            <a:tbl>
              <a:tblPr>
                <a:noFill/>
                <a:tableStyleId>{51A78D23-FE86-4D1E-9A67-94F0228D6878}</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44" name="Google Shape;1044;p41"/>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45" name="Google Shape;1045;p41"/>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046" name="Google Shape;1046;p41"/>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1047" name="Google Shape;1047;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2" name="Shape 1052"/>
        <p:cNvGrpSpPr/>
        <p:nvPr/>
      </p:nvGrpSpPr>
      <p:grpSpPr>
        <a:xfrm>
          <a:off x="0" y="0"/>
          <a:ext cx="0" cy="0"/>
          <a:chOff x="0" y="0"/>
          <a:chExt cx="0" cy="0"/>
        </a:xfrm>
      </p:grpSpPr>
      <p:sp>
        <p:nvSpPr>
          <p:cNvPr id="1053" name="Google Shape;1053;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54" name="Google Shape;1054;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1055" name="Google Shape;1055;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1056" name="Google Shape;1056;p42"/>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7" name="Google Shape;1057;p42"/>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1058" name="Google Shape;1058;p42"/>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1059" name="Google Shape;1059;p42"/>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0" name="Google Shape;1060;p42"/>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1061" name="Google Shape;1061;p42"/>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1062" name="Google Shape;1062;p4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3" name="Google Shape;1063;p42"/>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1064" name="Google Shape;1064;p4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1065" name="Google Shape;1065;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0" name="Shape 1070"/>
        <p:cNvGrpSpPr/>
        <p:nvPr/>
      </p:nvGrpSpPr>
      <p:grpSpPr>
        <a:xfrm>
          <a:off x="0" y="0"/>
          <a:ext cx="0" cy="0"/>
          <a:chOff x="0" y="0"/>
          <a:chExt cx="0" cy="0"/>
        </a:xfrm>
      </p:grpSpPr>
      <p:sp>
        <p:nvSpPr>
          <p:cNvPr id="1071" name="Google Shape;1071;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2" name="Google Shape;1072;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73" name="Google Shape;1073;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74" name="Google Shape;1074;p43"/>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5" name="Google Shape;1075;p43"/>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6" name="Google Shape;1076;p43"/>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77" name="Google Shape;1077;p43"/>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78" name="Google Shape;1078;p43"/>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79" name="Google Shape;1079;p43"/>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0" name="Google Shape;1080;p43"/>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1" name="Google Shape;1081;p43"/>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82" name="Google Shape;1082;p43"/>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83" name="Google Shape;1083;p43"/>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84" name="Google Shape;1084;p43"/>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5" name="Google Shape;1085;p43"/>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6" name="Google Shape;1086;p43"/>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87" name="Google Shape;1087;p43"/>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88" name="Google Shape;1088;p43"/>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89" name="Google Shape;1089;p43"/>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0" name="Google Shape;1090;p43"/>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3"/>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92" name="Google Shape;1092;p43"/>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93" name="Google Shape;1093;p43"/>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94" name="Google Shape;1094;p43"/>
          <p:cNvGraphicFramePr/>
          <p:nvPr/>
        </p:nvGraphicFramePr>
        <p:xfrm>
          <a:off x="411480" y="3063240"/>
          <a:ext cx="3000000" cy="3000000"/>
        </p:xfrm>
        <a:graphic>
          <a:graphicData uri="http://schemas.openxmlformats.org/drawingml/2006/table">
            <a:tbl>
              <a:tblPr>
                <a:noFill/>
                <a:tableStyleId>{51A78D23-FE86-4D1E-9A67-94F0228D6878}</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95" name="Google Shape;1095;p43"/>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96" name="Google Shape;1096;p43"/>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097" name="Google Shape;1097;p43"/>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098" name="Google Shape;1098;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3" name="Shape 1103"/>
        <p:cNvGrpSpPr/>
        <p:nvPr/>
      </p:nvGrpSpPr>
      <p:grpSpPr>
        <a:xfrm>
          <a:off x="0" y="0"/>
          <a:ext cx="0" cy="0"/>
          <a:chOff x="0" y="0"/>
          <a:chExt cx="0" cy="0"/>
        </a:xfrm>
      </p:grpSpPr>
      <p:sp>
        <p:nvSpPr>
          <p:cNvPr id="1104" name="Google Shape;1104;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05" name="Google Shape;1105;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the ladder fails</a:t>
            </a:r>
            <a:endParaRPr b="0" i="0" spc="0" sz="2400" u="none" cap="none" strike="noStrike">
              <a:solidFill>
                <a:schemeClr val="dk1"/>
              </a:solidFill>
              <a:latin typeface="Calibri"/>
              <a:ea typeface="Calibri"/>
              <a:cs typeface="Calibri"/>
              <a:sym typeface="Calibri"/>
            </a:endParaRPr>
          </a:p>
        </p:txBody>
      </p:sp>
      <p:sp>
        <p:nvSpPr>
          <p:cNvPr id="1106" name="Google Shape;1106;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Any stronger offer must be tied to their reason, not to their "no".</a:t>
            </a:r>
            <a:endParaRPr b="0" i="0" spc="0" sz="1200" u="none" cap="none" strike="noStrike">
              <a:solidFill>
                <a:schemeClr val="dk1"/>
              </a:solidFill>
              <a:latin typeface="Calibri"/>
              <a:ea typeface="Calibri"/>
              <a:cs typeface="Calibri"/>
              <a:sym typeface="Calibri"/>
            </a:endParaRPr>
          </a:p>
        </p:txBody>
      </p:sp>
      <p:sp>
        <p:nvSpPr>
          <p:cNvPr id="1107" name="Google Shape;1107;p44"/>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8" name="Google Shape;1108;p44"/>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Small offer</a:t>
            </a:r>
            <a:endParaRPr b="0" i="0" spc="0" sz="1000" u="none" cap="none" strike="noStrike">
              <a:solidFill>
                <a:schemeClr val="dk1"/>
              </a:solidFill>
              <a:latin typeface="Calibri"/>
              <a:ea typeface="Calibri"/>
              <a:cs typeface="Calibri"/>
              <a:sym typeface="Calibri"/>
            </a:endParaRPr>
          </a:p>
        </p:txBody>
      </p:sp>
      <p:cxnSp>
        <p:nvCxnSpPr>
          <p:cNvPr id="1109" name="Google Shape;1109;p44"/>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110" name="Google Shape;1110;p44"/>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1" name="Google Shape;1111;p44"/>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They decline</a:t>
            </a:r>
            <a:endParaRPr b="0" i="0" spc="0" sz="1000" u="none" cap="none" strike="noStrike">
              <a:solidFill>
                <a:schemeClr val="dk1"/>
              </a:solidFill>
              <a:latin typeface="Calibri"/>
              <a:ea typeface="Calibri"/>
              <a:cs typeface="Calibri"/>
              <a:sym typeface="Calibri"/>
            </a:endParaRPr>
          </a:p>
        </p:txBody>
      </p:sp>
      <p:cxnSp>
        <p:nvCxnSpPr>
          <p:cNvPr id="1112" name="Google Shape;1112;p44"/>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113" name="Google Shape;1113;p44"/>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4" name="Google Shape;1114;p44"/>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Bigger offer</a:t>
            </a:r>
            <a:endParaRPr b="0" i="0" spc="0" sz="1000" u="none" cap="none" strike="noStrike">
              <a:solidFill>
                <a:schemeClr val="dk1"/>
              </a:solidFill>
              <a:latin typeface="Calibri"/>
              <a:ea typeface="Calibri"/>
              <a:cs typeface="Calibri"/>
              <a:sym typeface="Calibri"/>
            </a:endParaRPr>
          </a:p>
        </p:txBody>
      </p:sp>
      <p:cxnSp>
        <p:nvCxnSpPr>
          <p:cNvPr id="1115" name="Google Shape;1115;p44"/>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116" name="Google Shape;1116;p44"/>
          <p:cNvSpPr/>
          <p:nvPr/>
        </p:nvSpPr>
        <p:spPr>
          <a:xfrm>
            <a:off x="6811366" y="1371600"/>
            <a:ext cx="1920240" cy="502920"/>
          </a:xfrm>
          <a:prstGeom prst="roundRect">
            <a:avLst>
              <a:gd fmla="val 14545"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7" name="Google Shape;1117;p44"/>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Repeat…</a:t>
            </a:r>
            <a:endParaRPr b="0" i="0" spc="0" sz="1000" u="none" cap="none" strike="noStrike">
              <a:solidFill>
                <a:schemeClr val="dk1"/>
              </a:solidFill>
              <a:latin typeface="Calibri"/>
              <a:ea typeface="Calibri"/>
              <a:cs typeface="Calibri"/>
              <a:sym typeface="Calibri"/>
            </a:endParaRPr>
          </a:p>
        </p:txBody>
      </p:sp>
      <p:sp>
        <p:nvSpPr>
          <p:cNvPr id="1118" name="Google Shape;1118;p44"/>
          <p:cNvSpPr/>
          <p:nvPr/>
        </p:nvSpPr>
        <p:spPr>
          <a:xfrm>
            <a:off x="4114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9" name="Google Shape;1119;p44"/>
          <p:cNvSpPr/>
          <p:nvPr/>
        </p:nvSpPr>
        <p:spPr>
          <a:xfrm>
            <a:off x="5760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0" name="Google Shape;1120;p44"/>
          <p:cNvPicPr preferRelativeResize="0"/>
          <p:nvPr/>
        </p:nvPicPr>
        <p:blipFill rotWithShape="1">
          <a:blip r:embed="rId3">
            <a:alphaModFix/>
          </a:blip>
          <a:srcRect b="0" l="0" r="0" t="0"/>
          <a:stretch/>
        </p:blipFill>
        <p:spPr>
          <a:xfrm>
            <a:off x="655076" y="2346716"/>
            <a:ext cx="171176" cy="171176"/>
          </a:xfrm>
          <a:prstGeom prst="rect">
            <a:avLst/>
          </a:prstGeom>
          <a:noFill/>
          <a:ln>
            <a:noFill/>
          </a:ln>
        </p:spPr>
      </p:pic>
      <p:sp>
        <p:nvSpPr>
          <p:cNvPr id="1121" name="Google Shape;1121;p44"/>
          <p:cNvSpPr txBox="1"/>
          <p:nvPr/>
        </p:nvSpPr>
        <p:spPr>
          <a:xfrm>
            <a:off x="5760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Feels pushy</a:t>
            </a:r>
            <a:endParaRPr b="0" i="0" spc="0" sz="1200" u="none" cap="none" strike="noStrike">
              <a:solidFill>
                <a:schemeClr val="dk1"/>
              </a:solidFill>
              <a:latin typeface="Calibri"/>
              <a:ea typeface="Calibri"/>
              <a:cs typeface="Calibri"/>
              <a:sym typeface="Calibri"/>
            </a:endParaRPr>
          </a:p>
        </p:txBody>
      </p:sp>
      <p:sp>
        <p:nvSpPr>
          <p:cNvPr id="1122" name="Google Shape;1122;p44"/>
          <p:cNvSpPr txBox="1"/>
          <p:nvPr/>
        </p:nvSpPr>
        <p:spPr>
          <a:xfrm>
            <a:off x="5760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Transactional, and it reduces trust.</a:t>
            </a:r>
            <a:endParaRPr b="0" i="0" spc="0" sz="950" u="none" cap="none" strike="noStrike">
              <a:solidFill>
                <a:schemeClr val="dk1"/>
              </a:solidFill>
              <a:latin typeface="Calibri"/>
              <a:ea typeface="Calibri"/>
              <a:cs typeface="Calibri"/>
              <a:sym typeface="Calibri"/>
            </a:endParaRPr>
          </a:p>
        </p:txBody>
      </p:sp>
      <p:sp>
        <p:nvSpPr>
          <p:cNvPr id="1123" name="Google Shape;1123;p44"/>
          <p:cNvSpPr/>
          <p:nvPr/>
        </p:nvSpPr>
        <p:spPr>
          <a:xfrm>
            <a:off x="32308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4" name="Google Shape;1124;p44"/>
          <p:cNvSpPr/>
          <p:nvPr/>
        </p:nvSpPr>
        <p:spPr>
          <a:xfrm>
            <a:off x="33954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5" name="Google Shape;1125;p44"/>
          <p:cNvPicPr preferRelativeResize="0"/>
          <p:nvPr/>
        </p:nvPicPr>
        <p:blipFill rotWithShape="1">
          <a:blip r:embed="rId4">
            <a:alphaModFix/>
          </a:blip>
          <a:srcRect b="0" l="0" r="0" t="0"/>
          <a:stretch/>
        </p:blipFill>
        <p:spPr>
          <a:xfrm>
            <a:off x="3474476" y="2346716"/>
            <a:ext cx="171176" cy="171176"/>
          </a:xfrm>
          <a:prstGeom prst="rect">
            <a:avLst/>
          </a:prstGeom>
          <a:noFill/>
          <a:ln>
            <a:noFill/>
          </a:ln>
        </p:spPr>
      </p:pic>
      <p:sp>
        <p:nvSpPr>
          <p:cNvPr id="1126" name="Google Shape;1126;p44"/>
          <p:cNvSpPr txBox="1"/>
          <p:nvPr/>
        </p:nvSpPr>
        <p:spPr>
          <a:xfrm>
            <a:off x="33954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Rewards saying no</a:t>
            </a:r>
            <a:endParaRPr b="0" i="0" spc="0" sz="1200" u="none" cap="none" strike="noStrike">
              <a:solidFill>
                <a:schemeClr val="dk1"/>
              </a:solidFill>
              <a:latin typeface="Calibri"/>
              <a:ea typeface="Calibri"/>
              <a:cs typeface="Calibri"/>
              <a:sym typeface="Calibri"/>
            </a:endParaRPr>
          </a:p>
        </p:txBody>
      </p:sp>
      <p:sp>
        <p:nvSpPr>
          <p:cNvPr id="1127" name="Google Shape;1127;p44"/>
          <p:cNvSpPr txBox="1"/>
          <p:nvPr/>
        </p:nvSpPr>
        <p:spPr>
          <a:xfrm>
            <a:off x="33954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Unfair to customers who accept the first reasonable offer.</a:t>
            </a:r>
            <a:endParaRPr b="0" i="0" spc="0" sz="950" u="none" cap="none" strike="noStrike">
              <a:solidFill>
                <a:schemeClr val="dk1"/>
              </a:solidFill>
              <a:latin typeface="Calibri"/>
              <a:ea typeface="Calibri"/>
              <a:cs typeface="Calibri"/>
              <a:sym typeface="Calibri"/>
            </a:endParaRPr>
          </a:p>
        </p:txBody>
      </p:sp>
      <p:sp>
        <p:nvSpPr>
          <p:cNvPr id="1128" name="Google Shape;1128;p44"/>
          <p:cNvSpPr/>
          <p:nvPr/>
        </p:nvSpPr>
        <p:spPr>
          <a:xfrm>
            <a:off x="60502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9" name="Google Shape;1129;p44"/>
          <p:cNvSpPr/>
          <p:nvPr/>
        </p:nvSpPr>
        <p:spPr>
          <a:xfrm>
            <a:off x="62148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0" name="Google Shape;1130;p44"/>
          <p:cNvPicPr preferRelativeResize="0"/>
          <p:nvPr/>
        </p:nvPicPr>
        <p:blipFill rotWithShape="1">
          <a:blip r:embed="rId5">
            <a:alphaModFix/>
          </a:blip>
          <a:srcRect b="0" l="0" r="0" t="0"/>
          <a:stretch/>
        </p:blipFill>
        <p:spPr>
          <a:xfrm>
            <a:off x="6293876" y="2346716"/>
            <a:ext cx="171176" cy="171176"/>
          </a:xfrm>
          <a:prstGeom prst="rect">
            <a:avLst/>
          </a:prstGeom>
          <a:noFill/>
          <a:ln>
            <a:noFill/>
          </a:ln>
        </p:spPr>
      </p:pic>
      <p:sp>
        <p:nvSpPr>
          <p:cNvPr id="1131" name="Google Shape;1131;p44"/>
          <p:cNvSpPr txBox="1"/>
          <p:nvPr/>
        </p:nvSpPr>
        <p:spPr>
          <a:xfrm>
            <a:off x="62148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Cheapens FC</a:t>
            </a:r>
            <a:endParaRPr b="0" i="0" spc="0" sz="1200" u="none" cap="none" strike="noStrike">
              <a:solidFill>
                <a:schemeClr val="dk1"/>
              </a:solidFill>
              <a:latin typeface="Calibri"/>
              <a:ea typeface="Calibri"/>
              <a:cs typeface="Calibri"/>
              <a:sym typeface="Calibri"/>
            </a:endParaRPr>
          </a:p>
        </p:txBody>
      </p:sp>
      <p:sp>
        <p:nvSpPr>
          <p:cNvPr id="1132" name="Google Shape;1132;p44"/>
          <p:cNvSpPr txBox="1"/>
          <p:nvPr/>
        </p:nvSpPr>
        <p:spPr>
          <a:xfrm>
            <a:off x="62148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 offer that misses their concern lowers its value.</a:t>
            </a:r>
            <a:endParaRPr b="0" i="0" spc="0" sz="950" u="none" cap="none" strike="noStrike">
              <a:solidFill>
                <a:schemeClr val="dk1"/>
              </a:solidFill>
              <a:latin typeface="Calibri"/>
              <a:ea typeface="Calibri"/>
              <a:cs typeface="Calibri"/>
              <a:sym typeface="Calibri"/>
            </a:endParaRPr>
          </a:p>
        </p:txBody>
      </p:sp>
      <p:sp>
        <p:nvSpPr>
          <p:cNvPr id="1133" name="Google Shape;1133;p44"/>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4" name="Google Shape;1134;p44"/>
          <p:cNvPicPr preferRelativeResize="0"/>
          <p:nvPr/>
        </p:nvPicPr>
        <p:blipFill rotWithShape="1">
          <a:blip r:embed="rId6">
            <a:alphaModFix/>
          </a:blip>
          <a:srcRect b="0" l="0" r="0" t="0"/>
          <a:stretch/>
        </p:blipFill>
        <p:spPr>
          <a:xfrm>
            <a:off x="566928" y="3721608"/>
            <a:ext cx="164592" cy="164592"/>
          </a:xfrm>
          <a:prstGeom prst="rect">
            <a:avLst/>
          </a:prstGeom>
          <a:noFill/>
          <a:ln>
            <a:noFill/>
          </a:ln>
        </p:spPr>
      </p:pic>
      <p:sp>
        <p:nvSpPr>
          <p:cNvPr id="1135" name="Google Shape;1135;p44"/>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Stronger offer?  </a:t>
            </a:r>
            <a:r>
              <a:rPr b="0" i="0" lang="en-US" spc="0" sz="1000" u="none" cap="none" strike="noStrike">
                <a:solidFill>
                  <a:srgbClr val="1D1D1F"/>
                </a:solidFill>
                <a:latin typeface="Arial"/>
                <a:ea typeface="Arial"/>
                <a:cs typeface="Arial"/>
                <a:sym typeface="Arial"/>
              </a:rPr>
              <a:t>only when it's tied to their specific reason, not because they said no.</a:t>
            </a:r>
            <a:endParaRPr b="0" i="0" spc="0" sz="1000" u="none" cap="none" strike="noStrike">
              <a:solidFill>
                <a:schemeClr val="dk1"/>
              </a:solidFill>
              <a:latin typeface="Calibri"/>
              <a:ea typeface="Calibri"/>
              <a:cs typeface="Calibri"/>
              <a:sym typeface="Calibri"/>
            </a:endParaRPr>
          </a:p>
        </p:txBody>
      </p:sp>
      <p:sp>
        <p:nvSpPr>
          <p:cNvPr id="1136" name="Google Shape;1136;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1" name="Shape 1141"/>
        <p:cNvGrpSpPr/>
        <p:nvPr/>
      </p:nvGrpSpPr>
      <p:grpSpPr>
        <a:xfrm>
          <a:off x="0" y="0"/>
          <a:ext cx="0" cy="0"/>
          <a:chOff x="0" y="0"/>
          <a:chExt cx="0" cy="0"/>
        </a:xfrm>
      </p:grpSpPr>
      <p:sp>
        <p:nvSpPr>
          <p:cNvPr id="1142" name="Google Shape;1142;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43" name="Google Shape;1143;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144" name="Google Shape;1144;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145" name="Google Shape;1145;p45"/>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6" name="Google Shape;1146;p45"/>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147" name="Google Shape;1147;p45"/>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148" name="Google Shape;1148;p45"/>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9" name="Google Shape;1149;p45"/>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150" name="Google Shape;1150;p45"/>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151" name="Google Shape;1151;p45"/>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2" name="Google Shape;1152;p45"/>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3" name="Google Shape;1153;p45"/>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154" name="Google Shape;1154;p45"/>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55" name="Google Shape;1155;p45"/>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156" name="Google Shape;1156;p45"/>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157" name="Google Shape;1157;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sp>
        <p:nvSpPr>
          <p:cNvPr id="1163" name="Google Shape;1163;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64" name="Google Shape;1164;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165" name="Google Shape;1165;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166" name="Google Shape;1166;p46"/>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7" name="Google Shape;1167;p46"/>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8" name="Google Shape;1168;p46"/>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69" name="Google Shape;1169;p46"/>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70" name="Google Shape;1170;p46"/>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71" name="Google Shape;1171;p46"/>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73" name="Google Shape;1173;p46"/>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74" name="Google Shape;1174;p46"/>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75" name="Google Shape;1175;p46"/>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76" name="Google Shape;1176;p46"/>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7" name="Google Shape;1177;p46"/>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78" name="Google Shape;1178;p46"/>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79" name="Google Shape;1179;p46"/>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80" name="Google Shape;1180;p46"/>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81" name="Google Shape;1181;p46"/>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2" name="Google Shape;1182;p46"/>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83" name="Google Shape;1183;p46"/>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84" name="Google Shape;1184;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9" name="Shape 1189"/>
        <p:cNvGrpSpPr/>
        <p:nvPr/>
      </p:nvGrpSpPr>
      <p:grpSpPr>
        <a:xfrm>
          <a:off x="0" y="0"/>
          <a:ext cx="0" cy="0"/>
          <a:chOff x="0" y="0"/>
          <a:chExt cx="0" cy="0"/>
        </a:xfrm>
      </p:grpSpPr>
      <p:sp>
        <p:nvSpPr>
          <p:cNvPr id="1190" name="Google Shape;1190;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91" name="Google Shape;1191;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92" name="Google Shape;1192;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93" name="Google Shape;1193;p47"/>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94" name="Google Shape;1194;p47"/>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5" name="Google Shape;1195;p47"/>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196" name="Google Shape;1196;p47"/>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7" name="Google Shape;1197;p47"/>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198" name="Google Shape;1198;p47"/>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9" name="Google Shape;1199;p47"/>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200" name="Google Shape;1200;p47"/>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1" name="Google Shape;1201;p47"/>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202" name="Google Shape;1202;p47"/>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3" name="Google Shape;1203;p47"/>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204" name="Google Shape;1204;p47"/>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5" name="Google Shape;1205;p47"/>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206" name="Google Shape;1206;p47"/>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7" name="Google Shape;1207;p47"/>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208" name="Google Shape;1208;p47"/>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9" name="Google Shape;1209;p47"/>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210" name="Google Shape;1210;p47"/>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1" name="Google Shape;1211;p47"/>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212" name="Google Shape;1212;p47"/>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3" name="Google Shape;1213;p47"/>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214" name="Google Shape;1214;p47"/>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215" name="Google Shape;1215;p47"/>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6" name="Google Shape;1216;p47"/>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217" name="Google Shape;1217;p47"/>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218" name="Google Shape;1218;p47"/>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9" name="Google Shape;1219;p47"/>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220" name="Google Shape;1220;p47"/>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221" name="Google Shape;1221;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6" name="Shape 1226"/>
        <p:cNvGrpSpPr/>
        <p:nvPr/>
      </p:nvGrpSpPr>
      <p:grpSpPr>
        <a:xfrm>
          <a:off x="0" y="0"/>
          <a:ext cx="0" cy="0"/>
          <a:chOff x="0" y="0"/>
          <a:chExt cx="0" cy="0"/>
        </a:xfrm>
      </p:grpSpPr>
      <p:sp>
        <p:nvSpPr>
          <p:cNvPr id="1227" name="Google Shape;1227;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28" name="Google Shape;1228;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229" name="Google Shape;1229;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230" name="Google Shape;1230;p48"/>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231" name="Google Shape;1231;p48"/>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232" name="Google Shape;1232;p48"/>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3" name="Google Shape;1233;p48"/>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4" name="Google Shape;1234;p48"/>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235" name="Google Shape;1235;p48"/>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236" name="Google Shape;1236;p48"/>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7" name="Google Shape;1237;p48"/>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238" name="Google Shape;1238;p48"/>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9" name="Google Shape;1239;p48"/>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240" name="Google Shape;1240;p48"/>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1" name="Google Shape;1241;p48"/>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2" name="Google Shape;1242;p48"/>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243" name="Google Shape;1243;p48"/>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244" name="Google Shape;1244;p48"/>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5" name="Google Shape;1245;p48"/>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246" name="Google Shape;1246;p48"/>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7" name="Google Shape;1247;p48"/>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248" name="Google Shape;1248;p48"/>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9" name="Google Shape;1249;p48"/>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0" name="Google Shape;1250;p48"/>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251" name="Google Shape;1251;p48"/>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252" name="Google Shape;1252;p48"/>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3" name="Google Shape;1253;p48"/>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254" name="Google Shape;1254;p48"/>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5" name="Google Shape;1255;p48"/>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256" name="Google Shape;1256;p48"/>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7" name="Google Shape;1257;p48"/>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258" name="Google Shape;1258;p48"/>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259" name="Google Shape;1259;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66" name="Google Shape;1266;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67" name="Google Shape;1267;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68" name="Google Shape;1268;p49"/>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9" name="Google Shape;1269;p49"/>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0" name="Google Shape;1270;p49"/>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71" name="Google Shape;1271;p49"/>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72" name="Google Shape;1272;p49"/>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3" name="Google Shape;1273;p49"/>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74" name="Google Shape;1274;p49"/>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75" name="Google Shape;1275;p49"/>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6" name="Google Shape;1276;p49"/>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7" name="Google Shape;1277;p49"/>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78" name="Google Shape;1278;p49"/>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79" name="Google Shape;1279;p49"/>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0" name="Google Shape;1280;p49"/>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81" name="Google Shape;1281;p49"/>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82" name="Google Shape;1282;p49"/>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3" name="Google Shape;1283;p49"/>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4" name="Google Shape;1284;p49"/>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85" name="Google Shape;1285;p49"/>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86" name="Google Shape;1286;p49"/>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7" name="Google Shape;1287;p49"/>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88" name="Google Shape;1288;p49"/>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89" name="Google Shape;1289;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4" name="Shape 1294"/>
        <p:cNvGrpSpPr/>
        <p:nvPr/>
      </p:nvGrpSpPr>
      <p:grpSpPr>
        <a:xfrm>
          <a:off x="0" y="0"/>
          <a:ext cx="0" cy="0"/>
          <a:chOff x="0" y="0"/>
          <a:chExt cx="0" cy="0"/>
        </a:xfrm>
      </p:grpSpPr>
      <p:sp>
        <p:nvSpPr>
          <p:cNvPr id="1295" name="Google Shape;1295;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96" name="Google Shape;1296;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297" name="Google Shape;1297;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298" name="Google Shape;1298;p50"/>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9" name="Google Shape;1299;p50"/>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0" name="Google Shape;1300;p50"/>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301" name="Google Shape;1301;p50"/>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302" name="Google Shape;1302;p50"/>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303" name="Google Shape;1303;p50"/>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4" name="Google Shape;1304;p50"/>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305" name="Google Shape;1305;p50"/>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6" name="Google Shape;1306;p50"/>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7" name="Google Shape;1307;p50"/>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308" name="Google Shape;1308;p50"/>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"I keep being disappointed"</a:t>
            </a:r>
            <a:endParaRPr b="0" i="0" spc="0" sz="1100" u="none" cap="none" strike="noStrike">
              <a:solidFill>
                <a:schemeClr val="dk1"/>
              </a:solidFill>
              <a:latin typeface="Calibri"/>
              <a:ea typeface="Calibri"/>
              <a:cs typeface="Calibri"/>
              <a:sym typeface="Calibri"/>
            </a:endParaRPr>
          </a:p>
        </p:txBody>
      </p:sp>
      <p:sp>
        <p:nvSpPr>
          <p:cNvPr id="1309" name="Google Shape;1309;p50"/>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310" name="Google Shape;1310;p50"/>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1" name="Google Shape;1311;p50"/>
          <p:cNvSpPr txBox="1"/>
          <p:nvPr/>
        </p:nvSpPr>
        <p:spPr>
          <a:xfrm>
            <a:off x="5989320" y="23042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“Given your experience we'll waive all fees… I'd love to set you up with someone great.”</a:t>
            </a:r>
            <a:endParaRPr b="0" i="0" spc="0" sz="850" u="none" cap="none" strike="noStrike">
              <a:solidFill>
                <a:schemeClr val="dk1"/>
              </a:solidFill>
              <a:latin typeface="Calibri"/>
              <a:ea typeface="Calibri"/>
              <a:cs typeface="Calibri"/>
              <a:sym typeface="Calibri"/>
            </a:endParaRPr>
          </a:p>
        </p:txBody>
      </p:sp>
      <p:sp>
        <p:nvSpPr>
          <p:cNvPr id="1312" name="Google Shape;1312;p50"/>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3" name="Google Shape;1313;p50"/>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14" name="Google Shape;1314;p50"/>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315" name="Google Shape;1315;p50"/>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316" name="Google Shape;1316;p50"/>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317" name="Google Shape;1317;p50"/>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8" name="Google Shape;1318;p50"/>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319" name="Google Shape;1319;p5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20" name="Google Shape;1320;p50"/>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321" name="Google Shape;1321;p5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322" name="Google Shape;1322;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7" name="Shape 1327"/>
        <p:cNvGrpSpPr/>
        <p:nvPr/>
      </p:nvGrpSpPr>
      <p:grpSpPr>
        <a:xfrm>
          <a:off x="0" y="0"/>
          <a:ext cx="0" cy="0"/>
          <a:chOff x="0" y="0"/>
          <a:chExt cx="0" cy="0"/>
        </a:xfrm>
      </p:grpSpPr>
      <p:sp>
        <p:nvSpPr>
          <p:cNvPr id="1328" name="Google Shape;1328;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29" name="Google Shape;1329;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330" name="Google Shape;1330;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331" name="Google Shape;1331;p51"/>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2" name="Google Shape;1332;p51"/>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333" name="Google Shape;1333;p51"/>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334" name="Google Shape;1334;p51"/>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335" name="Google Shape;1335;p51"/>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6" name="Google Shape;1336;p51"/>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337" name="Google Shape;1337;p51"/>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338" name="Google Shape;1338;p51"/>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9" name="Google Shape;1339;p51"/>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340" name="Google Shape;1340;p51"/>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341" name="Google Shape;1341;p51"/>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2" name="Google Shape;1342;p51"/>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343" name="Google Shape;1343;p51"/>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344" name="Google Shape;1344;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9" name="Shape 1349"/>
        <p:cNvGrpSpPr/>
        <p:nvPr/>
      </p:nvGrpSpPr>
      <p:grpSpPr>
        <a:xfrm>
          <a:off x="0" y="0"/>
          <a:ext cx="0" cy="0"/>
          <a:chOff x="0" y="0"/>
          <a:chExt cx="0" cy="0"/>
        </a:xfrm>
      </p:grpSpPr>
      <p:sp>
        <p:nvSpPr>
          <p:cNvPr id="1350" name="Google Shape;1350;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51" name="Google Shape;1351;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Probe, even when you know why</a:t>
            </a:r>
            <a:endParaRPr b="0" i="0" spc="0" sz="2400" u="none" cap="none" strike="noStrike">
              <a:solidFill>
                <a:schemeClr val="dk1"/>
              </a:solidFill>
              <a:latin typeface="Calibri"/>
              <a:ea typeface="Calibri"/>
              <a:cs typeface="Calibri"/>
              <a:sym typeface="Calibri"/>
            </a:endParaRPr>
          </a:p>
        </p:txBody>
      </p:sp>
      <p:sp>
        <p:nvSpPr>
          <p:cNvPr id="1352" name="Google Shape;1352;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Let the customer say it to you directly.</a:t>
            </a:r>
            <a:endParaRPr b="0" i="0" spc="0" sz="1200" u="none" cap="none" strike="noStrike">
              <a:solidFill>
                <a:schemeClr val="dk1"/>
              </a:solidFill>
              <a:latin typeface="Calibri"/>
              <a:ea typeface="Calibri"/>
              <a:cs typeface="Calibri"/>
              <a:sym typeface="Calibri"/>
            </a:endParaRPr>
          </a:p>
        </p:txBody>
      </p:sp>
      <p:sp>
        <p:nvSpPr>
          <p:cNvPr id="1353" name="Google Shape;1353;p52"/>
          <p:cNvSpPr/>
          <p:nvPr/>
        </p:nvSpPr>
        <p:spPr>
          <a:xfrm>
            <a:off x="411480" y="1325880"/>
            <a:ext cx="4069080" cy="1143000"/>
          </a:xfrm>
          <a:prstGeom prst="roundRect">
            <a:avLst>
              <a:gd fmla="val 64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4" name="Google Shape;1354;p52"/>
          <p:cNvSpPr/>
          <p:nvPr/>
        </p:nvSpPr>
        <p:spPr>
          <a:xfrm>
            <a:off x="411480" y="1399032"/>
            <a:ext cx="45720" cy="9966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5" name="Google Shape;1355;p52"/>
          <p:cNvSpPr txBox="1"/>
          <p:nvPr/>
        </p:nvSpPr>
        <p:spPr>
          <a:xfrm>
            <a:off x="594360" y="1325880"/>
            <a:ext cx="3749040" cy="114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WEAK: ASSUMPTION-BASED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sorry to hear you want to cancel, do you mind sharing why?”</a:t>
            </a:r>
            <a:endParaRPr b="0" i="0" spc="0" sz="1000" u="none" cap="none" strike="noStrike">
              <a:solidFill>
                <a:schemeClr val="dk1"/>
              </a:solidFill>
              <a:latin typeface="Calibri"/>
              <a:ea typeface="Calibri"/>
              <a:cs typeface="Calibri"/>
              <a:sym typeface="Calibri"/>
            </a:endParaRPr>
          </a:p>
        </p:txBody>
      </p:sp>
      <p:sp>
        <p:nvSpPr>
          <p:cNvPr id="1356" name="Google Shape;1356;p52"/>
          <p:cNvSpPr/>
          <p:nvPr/>
        </p:nvSpPr>
        <p:spPr>
          <a:xfrm>
            <a:off x="4663440" y="1325880"/>
            <a:ext cx="4069080" cy="1143000"/>
          </a:xfrm>
          <a:prstGeom prst="roundRect">
            <a:avLst>
              <a:gd fmla="val 64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7" name="Google Shape;1357;p52"/>
          <p:cNvSpPr/>
          <p:nvPr/>
        </p:nvSpPr>
        <p:spPr>
          <a:xfrm>
            <a:off x="4663440" y="1399032"/>
            <a:ext cx="45720" cy="9966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8" name="Google Shape;1358;p52"/>
          <p:cNvSpPr txBox="1"/>
          <p:nvPr/>
        </p:nvSpPr>
        <p:spPr>
          <a:xfrm>
            <a:off x="4846320" y="1325880"/>
            <a:ext cx="3749040" cy="114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STRONG: CUSTOMER-LED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“Your cleaner mentioned you want to cancel the service, but I'd like to hear directly from you. Would you mind sharing what led you to consider canceling?”</a:t>
            </a:r>
            <a:endParaRPr b="0" i="0" spc="0" sz="1000" u="none" cap="none" strike="noStrike">
              <a:solidFill>
                <a:schemeClr val="dk1"/>
              </a:solidFill>
              <a:latin typeface="Calibri"/>
              <a:ea typeface="Calibri"/>
              <a:cs typeface="Calibri"/>
              <a:sym typeface="Calibri"/>
            </a:endParaRPr>
          </a:p>
        </p:txBody>
      </p:sp>
      <p:sp>
        <p:nvSpPr>
          <p:cNvPr id="1359" name="Google Shape;1359;p52"/>
          <p:cNvSpPr/>
          <p:nvPr/>
        </p:nvSpPr>
        <p:spPr>
          <a:xfrm>
            <a:off x="411480" y="2606040"/>
            <a:ext cx="914400" cy="274320"/>
          </a:xfrm>
          <a:prstGeom prst="roundRect">
            <a:avLst>
              <a:gd fmla="val 26667"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Weak</a:t>
            </a:r>
            <a:endParaRPr b="0" i="0" spc="0" sz="900" u="none" cap="none" strike="noStrike">
              <a:solidFill>
                <a:schemeClr val="dk1"/>
              </a:solidFill>
              <a:latin typeface="Calibri"/>
              <a:ea typeface="Calibri"/>
              <a:cs typeface="Calibri"/>
              <a:sym typeface="Calibri"/>
            </a:endParaRPr>
          </a:p>
        </p:txBody>
      </p:sp>
      <p:sp>
        <p:nvSpPr>
          <p:cNvPr id="1360" name="Google Shape;1360;p52"/>
          <p:cNvSpPr/>
          <p:nvPr/>
        </p:nvSpPr>
        <p:spPr>
          <a:xfrm>
            <a:off x="4663440" y="2606040"/>
            <a:ext cx="914400" cy="274320"/>
          </a:xfrm>
          <a:prstGeom prst="roundRect">
            <a:avLst>
              <a:gd fmla="val 26667" name="adj"/>
            </a:avLst>
          </a:prstGeom>
          <a:solidFill>
            <a:srgbClr val="E3F4F1"/>
          </a:solidFill>
          <a:ln cap="flat" cmpd="sng" w="9525">
            <a:solidFill>
              <a:srgbClr val="E3F4F1"/>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  Strong</a:t>
            </a:r>
            <a:endParaRPr b="0" i="0" spc="0" sz="900" u="none" cap="none" strike="noStrike">
              <a:solidFill>
                <a:schemeClr val="dk1"/>
              </a:solidFill>
              <a:latin typeface="Calibri"/>
              <a:ea typeface="Calibri"/>
              <a:cs typeface="Calibri"/>
              <a:sym typeface="Calibri"/>
            </a:endParaRPr>
          </a:p>
        </p:txBody>
      </p:sp>
      <p:sp>
        <p:nvSpPr>
          <p:cNvPr id="1361" name="Google Shape;1361;p52"/>
          <p:cNvSpPr/>
          <p:nvPr/>
        </p:nvSpPr>
        <p:spPr>
          <a:xfrm>
            <a:off x="411480" y="31089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2" name="Google Shape;1362;p52"/>
          <p:cNvPicPr preferRelativeResize="0"/>
          <p:nvPr/>
        </p:nvPicPr>
        <p:blipFill rotWithShape="1">
          <a:blip r:embed="rId3">
            <a:alphaModFix/>
          </a:blip>
          <a:srcRect b="0" l="0" r="0" t="0"/>
          <a:stretch/>
        </p:blipFill>
        <p:spPr>
          <a:xfrm>
            <a:off x="566928" y="3218688"/>
            <a:ext cx="164592" cy="164592"/>
          </a:xfrm>
          <a:prstGeom prst="rect">
            <a:avLst/>
          </a:prstGeom>
          <a:noFill/>
          <a:ln>
            <a:noFill/>
          </a:ln>
        </p:spPr>
      </p:pic>
      <p:sp>
        <p:nvSpPr>
          <p:cNvPr id="1363" name="Google Shape;1363;p52"/>
          <p:cNvSpPr txBox="1"/>
          <p:nvPr/>
        </p:nvSpPr>
        <p:spPr>
          <a:xfrm>
            <a:off x="822960" y="32095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customers who explain their own situation are more likely to stay.</a:t>
            </a:r>
            <a:endParaRPr b="0" i="0" spc="0" sz="1000" u="none" cap="none" strike="noStrike">
              <a:solidFill>
                <a:schemeClr val="dk1"/>
              </a:solidFill>
              <a:latin typeface="Calibri"/>
              <a:ea typeface="Calibri"/>
              <a:cs typeface="Calibri"/>
              <a:sym typeface="Calibri"/>
            </a:endParaRPr>
          </a:p>
        </p:txBody>
      </p:sp>
      <p:sp>
        <p:nvSpPr>
          <p:cNvPr id="1364" name="Google Shape;1364;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9" name="Shape 1369"/>
        <p:cNvGrpSpPr/>
        <p:nvPr/>
      </p:nvGrpSpPr>
      <p:grpSpPr>
        <a:xfrm>
          <a:off x="0" y="0"/>
          <a:ext cx="0" cy="0"/>
          <a:chOff x="0" y="0"/>
          <a:chExt cx="0" cy="0"/>
        </a:xfrm>
      </p:grpSpPr>
      <p:sp>
        <p:nvSpPr>
          <p:cNvPr id="1370" name="Google Shape;1370;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71" name="Google Shape;1371;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72" name="Google Shape;1372;p5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73" name="Google Shape;1373;p53"/>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74" name="Google Shape;1374;p53"/>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5" name="Google Shape;1375;p53"/>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6" name="Google Shape;1376;p53"/>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77" name="Google Shape;1377;p53"/>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78" name="Google Shape;1378;p53"/>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9" name="Google Shape;1379;p53"/>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80" name="Google Shape;1380;p53"/>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1" name="Google Shape;1381;p53"/>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3"/>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83" name="Google Shape;1383;p53"/>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84" name="Google Shape;1384;p53"/>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5" name="Google Shape;1385;p53"/>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86" name="Google Shape;1386;p53"/>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7" name="Google Shape;1387;p53"/>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8" name="Google Shape;1388;p53"/>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REFRAME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89" name="Google Shape;1389;p53"/>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0" name="Google Shape;1390;p53"/>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91" name="Google Shape;1391;p53"/>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92" name="Google Shape;1392;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7" name="Shape 1397"/>
        <p:cNvGrpSpPr/>
        <p:nvPr/>
      </p:nvGrpSpPr>
      <p:grpSpPr>
        <a:xfrm>
          <a:off x="0" y="0"/>
          <a:ext cx="0" cy="0"/>
          <a:chOff x="0" y="0"/>
          <a:chExt cx="0" cy="0"/>
        </a:xfrm>
      </p:grpSpPr>
      <p:sp>
        <p:nvSpPr>
          <p:cNvPr id="1398" name="Google Shape;1398;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99" name="Google Shape;1399;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400" name="Google Shape;1400;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401" name="Google Shape;1401;p54"/>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2" name="Google Shape;1402;p54"/>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03" name="Google Shape;1403;p54"/>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404" name="Google Shape;1404;p54"/>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405" name="Google Shape;1405;p54"/>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6" name="Google Shape;1406;p54"/>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07" name="Google Shape;1407;p54"/>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408" name="Google Shape;1408;p54"/>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409" name="Google Shape;1409;p54"/>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0" name="Google Shape;1410;p54"/>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1" name="Google Shape;1411;p54"/>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412" name="Google Shape;1412;p54"/>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413" name="Google Shape;1413;p54"/>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4" name="Google Shape;1414;p54"/>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5" name="Google Shape;1415;p54"/>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416" name="Google Shape;1416;p54"/>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417" name="Google Shape;1417;p54"/>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8" name="Google Shape;1418;p54"/>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419" name="Google Shape;1419;p54"/>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420" name="Google Shape;1420;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5" name="Shape 1425"/>
        <p:cNvGrpSpPr/>
        <p:nvPr/>
      </p:nvGrpSpPr>
      <p:grpSpPr>
        <a:xfrm>
          <a:off x="0" y="0"/>
          <a:ext cx="0" cy="0"/>
          <a:chOff x="0" y="0"/>
          <a:chExt cx="0" cy="0"/>
        </a:xfrm>
      </p:grpSpPr>
      <p:sp>
        <p:nvSpPr>
          <p:cNvPr id="1426" name="Google Shape;1426;p5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427" name="Google Shape;1427;p5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428" name="Google Shape;1428;p5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9" name="Google Shape;1429;p5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0" name="Google Shape;1430;p5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31" name="Google Shape;1431;p5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432" name="Google Shape;1432;p5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3" name="Google Shape;1433;p5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434" name="Google Shape;1434;p5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5" name="Google Shape;1435;p5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6" name="Google Shape;1436;p5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37" name="Google Shape;1437;p5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438" name="Google Shape;1438;p5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9" name="Google Shape;1439;p5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440" name="Google Shape;1440;p5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1" name="Google Shape;1441;p5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2" name="Google Shape;1442;p5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43" name="Google Shape;1443;p5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444" name="Google Shape;1444;p5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5" name="Google Shape;1445;p5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446" name="Google Shape;1446;p5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7" name="Google Shape;1447;p5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8" name="Google Shape;1448;p5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449" name="Google Shape;1449;p5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450" name="Google Shape;1450;p5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1" name="Google Shape;1451;p5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452" name="Google Shape;1452;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33"/>
                                        </p:tgtEl>
                                        <p:attrNameLst>
                                          <p:attrName>style.visibility</p:attrName>
                                        </p:attrNameLst>
                                      </p:cBhvr>
                                      <p:to>
                                        <p:strVal val="visible"/>
                                      </p:to>
                                    </p:set>
                                    <p:animEffect filter="fade" transition="in">
                                      <p:cBhvr>
                                        <p:cTn dur="600"/>
                                        <p:tgtEl>
                                          <p:spTgt spid="143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39"/>
                                        </p:tgtEl>
                                        <p:attrNameLst>
                                          <p:attrName>style.visibility</p:attrName>
                                        </p:attrNameLst>
                                      </p:cBhvr>
                                      <p:to>
                                        <p:strVal val="visible"/>
                                      </p:to>
                                    </p:set>
                                    <p:animEffect filter="fade" transition="in">
                                      <p:cBhvr>
                                        <p:cTn dur="600"/>
                                        <p:tgtEl>
                                          <p:spTgt spid="14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45"/>
                                        </p:tgtEl>
                                        <p:attrNameLst>
                                          <p:attrName>style.visibility</p:attrName>
                                        </p:attrNameLst>
                                      </p:cBhvr>
                                      <p:to>
                                        <p:strVal val="visible"/>
                                      </p:to>
                                    </p:set>
                                    <p:animEffect filter="fade" transition="in">
                                      <p:cBhvr>
                                        <p:cTn dur="600"/>
                                        <p:tgtEl>
                                          <p:spTgt spid="14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51"/>
                                        </p:tgtEl>
                                        <p:attrNameLst>
                                          <p:attrName>style.visibility</p:attrName>
                                        </p:attrNameLst>
                                      </p:cBhvr>
                                      <p:to>
                                        <p:strVal val="visible"/>
                                      </p:to>
                                    </p:set>
                                    <p:animEffect filter="fade" transition="in">
                                      <p:cBhvr>
                                        <p:cTn dur="600"/>
                                        <p:tgtEl>
                                          <p:spTgt spid="145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7" name="Shape 1457"/>
        <p:cNvGrpSpPr/>
        <p:nvPr/>
      </p:nvGrpSpPr>
      <p:grpSpPr>
        <a:xfrm>
          <a:off x="0" y="0"/>
          <a:ext cx="0" cy="0"/>
          <a:chOff x="0" y="0"/>
          <a:chExt cx="0" cy="0"/>
        </a:xfrm>
      </p:grpSpPr>
      <p:sp>
        <p:nvSpPr>
          <p:cNvPr id="1458" name="Google Shape;1458;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459" name="Google Shape;1459;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460" name="Google Shape;1460;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461" name="Google Shape;1461;p5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2" name="Google Shape;1462;p5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63" name="Google Shape;1463;p5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64" name="Google Shape;1464;p5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465" name="Google Shape;1465;p5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466" name="Google Shape;1466;p5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67" name="Google Shape;1467;p5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8" name="Google Shape;1468;p5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9" name="Google Shape;1469;p5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70" name="Google Shape;1470;p5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71" name="Google Shape;1471;p5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72" name="Google Shape;1472;p5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4" name="Google Shape;1474;p5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75" name="Google Shape;1475;p5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76" name="Google Shape;1476;p5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77" name="Google Shape;1477;p5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8" name="Google Shape;1478;p5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9" name="Google Shape;1479;p5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80" name="Google Shape;1480;p5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81" name="Google Shape;1481;p5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82" name="Google Shape;1482;p5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83" name="Google Shape;1483;p5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84" name="Google Shape;1484;p5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85" name="Google Shape;1485;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0" name="Shape 1490"/>
        <p:cNvGrpSpPr/>
        <p:nvPr/>
      </p:nvGrpSpPr>
      <p:grpSpPr>
        <a:xfrm>
          <a:off x="0" y="0"/>
          <a:ext cx="0" cy="0"/>
          <a:chOff x="0" y="0"/>
          <a:chExt cx="0" cy="0"/>
        </a:xfrm>
      </p:grpSpPr>
      <p:sp>
        <p:nvSpPr>
          <p:cNvPr id="1491" name="Google Shape;1491;p5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92" name="Google Shape;1492;p5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93" name="Google Shape;1493;p5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94" name="Google Shape;1494;p5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495" name="Google Shape;1495;p5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96" name="Google Shape;1496;p5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97" name="Google Shape;1497;p5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498" name="Google Shape;1498;p5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99" name="Google Shape;1499;p5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500" name="Google Shape;1500;p5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501" name="Google Shape;1501;p5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2" name="Google Shape;1502;p5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503" name="Google Shape;1503;p5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504" name="Google Shape;1504;p5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5" name="Google Shape;1505;p5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506" name="Google Shape;1506;p5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507" name="Google Shape;1507;p5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8" name="Google Shape;1508;p5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509" name="Google Shape;1509;p5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510" name="Google Shape;1510;p5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1" name="Google Shape;1511;p5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2" name="Google Shape;1512;p5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3" name="Google Shape;1513;p5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4" name="Google Shape;1514;p5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5" name="Google Shape;1515;p5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6" name="Google Shape;1516;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1" name="Shape 1521"/>
        <p:cNvGrpSpPr/>
        <p:nvPr/>
      </p:nvGrpSpPr>
      <p:grpSpPr>
        <a:xfrm>
          <a:off x="0" y="0"/>
          <a:ext cx="0" cy="0"/>
          <a:chOff x="0" y="0"/>
          <a:chExt cx="0" cy="0"/>
        </a:xfrm>
      </p:grpSpPr>
      <p:sp>
        <p:nvSpPr>
          <p:cNvPr id="1522" name="Google Shape;1522;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23" name="Google Shape;1523;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524" name="Google Shape;1524;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525" name="Google Shape;1525;p58"/>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6" name="Google Shape;1526;p58"/>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527" name="Google Shape;1527;p58"/>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28" name="Google Shape;1528;p58"/>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529" name="Google Shape;1529;p58"/>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0" name="Google Shape;1530;p58"/>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531" name="Google Shape;1531;p58"/>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32" name="Google Shape;1532;p58"/>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533" name="Google Shape;1533;p58"/>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4" name="Google Shape;1534;p58"/>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535" name="Google Shape;1535;p58"/>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36" name="Google Shape;1536;p58"/>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537" name="Google Shape;1537;p58"/>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8" name="Google Shape;1538;p58"/>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539" name="Google Shape;1539;p58"/>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540" name="Google Shape;1540;p58"/>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1" name="Google Shape;1541;p58"/>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542" name="Google Shape;1542;p58"/>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"FC table &gt; 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543" name="Google Shape;1543;p58"/>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4" name="Google Shape;1544;p58"/>
          <p:cNvSpPr txBox="1"/>
          <p:nvPr/>
        </p:nvSpPr>
        <p:spPr>
          <a:xfrm>
            <a:off x="566925" y="3355850"/>
            <a:ext cx="8028300" cy="54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sng" cap="none" strike="noStrike">
                <a:solidFill>
                  <a:schemeClr val="hlink"/>
                </a:solidFill>
                <a:latin typeface="Arial"/>
                <a:ea typeface="Arial"/>
                <a:cs typeface="Arial"/>
                <a:sym typeface="Arial"/>
                <a:hlinkClick r:id="rId4"/>
              </a:rPr>
              <a:t>Lets see what DHJ Voucher Deal Customer looks like</a:t>
            </a:r>
            <a:r>
              <a:rPr b="0" i="0" lang="en-US" spc="0" sz="1000" u="none" cap="none" strike="noStrike">
                <a:solidFill>
                  <a:schemeClr val="hlink"/>
                </a:solidFill>
                <a:uFill>
                  <a:noFill/>
                </a:uFill>
                <a:latin typeface="Arial"/>
                <a:ea typeface="Arial"/>
                <a:cs typeface="Arial"/>
                <a:sym typeface="Arial"/>
                <a:hlinkClick r:id="rId5"/>
              </a:rPr>
              <a:t>🔗 </a:t>
            </a:r>
            <a:endParaRPr b="0" i="0" spc="0" sz="1000" u="none" cap="none" strike="noStrike">
              <a:solidFill>
                <a:srgbClr val="0B7A6F"/>
              </a:solidFill>
              <a:latin typeface="Calibri"/>
              <a:ea typeface="Calibri"/>
              <a:cs typeface="Calibri"/>
              <a:sym typeface="Calibri"/>
            </a:endParaRPr>
          </a:p>
        </p:txBody>
      </p:sp>
      <p:sp>
        <p:nvSpPr>
          <p:cNvPr id="1545" name="Google Shape;1545;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52" name="Google Shape;1552;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553" name="Google Shape;1553;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554" name="Google Shape;1554;p59"/>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5" name="Google Shape;1555;p59"/>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6" name="Google Shape;1556;p59"/>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57" name="Google Shape;1557;p59"/>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8" name="Google Shape;1558;p59"/>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559" name="Google Shape;1559;p59"/>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560" name="Google Shape;1560;p59"/>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Remind them once about the membership.</a:t>
            </a:r>
            <a:endParaRPr b="0" i="0" spc="0" sz="1000" u="none" cap="none" strike="noStrike">
              <a:solidFill>
                <a:schemeClr val="dk1"/>
              </a:solidFill>
              <a:latin typeface="Calibri"/>
              <a:ea typeface="Calibri"/>
              <a:cs typeface="Calibri"/>
              <a:sym typeface="Calibri"/>
            </a:endParaRPr>
          </a:p>
        </p:txBody>
      </p:sp>
      <p:sp>
        <p:nvSpPr>
          <p:cNvPr id="1561" name="Google Shape;1561;p59"/>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2" name="Google Shape;1562;p59"/>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3" name="Google Shape;1563;p59"/>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64" name="Google Shape;1564;p59"/>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65" name="Google Shape;1565;p59"/>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66" name="Google Shape;1566;p59"/>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67" name="Google Shape;1567;p59"/>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68" name="Google Shape;1568;p59"/>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9" name="Google Shape;1569;p59"/>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0" name="Google Shape;1570;p59"/>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71" name="Google Shape;1571;p59"/>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72" name="Google Shape;1572;p59"/>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73" name="Google Shape;1573;p59"/>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74" name="Google Shape;1574;p59"/>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75" name="Google Shape;1575;p59"/>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6" name="Google Shape;1576;p59"/>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7" name="Google Shape;1577;p59"/>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78" name="Google Shape;1578;p59"/>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79" name="Google Shape;1579;p59"/>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80" name="Google Shape;1580;p59"/>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81" name="Google Shape;1581;p59"/>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82" name="Google Shape;1582;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7" name="Shape 1587"/>
        <p:cNvGrpSpPr/>
        <p:nvPr/>
      </p:nvGrpSpPr>
      <p:grpSpPr>
        <a:xfrm>
          <a:off x="0" y="0"/>
          <a:ext cx="0" cy="0"/>
          <a:chOff x="0" y="0"/>
          <a:chExt cx="0" cy="0"/>
        </a:xfrm>
      </p:grpSpPr>
      <p:sp>
        <p:nvSpPr>
          <p:cNvPr id="1588" name="Google Shape;1588;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89" name="Google Shape;1589;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90" name="Google Shape;1590;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91" name="Google Shape;1591;p60"/>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2" name="Google Shape;1592;p6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93" name="Google Shape;1593;p6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94" name="Google Shape;1594;p60"/>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595" name="Google Shape;1595;p60"/>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596" name="Google Shape;1596;p60"/>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7" name="Google Shape;1597;p60"/>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98" name="Google Shape;1598;p60"/>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599" name="Google Shape;1599;p60"/>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Remind them once</a:t>
            </a:r>
            <a:endParaRPr b="0" i="0" spc="0" sz="1200" u="none" cap="none" strike="noStrike">
              <a:solidFill>
                <a:schemeClr val="dk1"/>
              </a:solidFill>
              <a:latin typeface="Calibri"/>
              <a:ea typeface="Calibri"/>
              <a:cs typeface="Calibri"/>
              <a:sym typeface="Calibri"/>
            </a:endParaRPr>
          </a:p>
        </p:txBody>
      </p:sp>
      <p:sp>
        <p:nvSpPr>
          <p:cNvPr id="1600" name="Google Shape;1600;p60"/>
          <p:cNvSpPr txBox="1"/>
          <p:nvPr/>
        </p:nvSpPr>
        <p:spPr>
          <a:xfrm>
            <a:off x="33954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601" name="Google Shape;1601;p60"/>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2" name="Google Shape;1602;p60"/>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03" name="Google Shape;1603;p60"/>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04" name="Google Shape;1604;p60"/>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605" name="Google Shape;1605;p60"/>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606" name="Google Shape;1606;p60"/>
          <p:cNvSpPr/>
          <p:nvPr/>
        </p:nvSpPr>
        <p:spPr>
          <a:xfrm>
            <a:off x="411480" y="2743200"/>
            <a:ext cx="8321040" cy="594360"/>
          </a:xfrm>
          <a:prstGeom prst="roundRect">
            <a:avLst>
              <a:gd fmla="val 12308"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7" name="Google Shape;1607;p60"/>
          <p:cNvSpPr/>
          <p:nvPr/>
        </p:nvSpPr>
        <p:spPr>
          <a:xfrm>
            <a:off x="411480" y="2816352"/>
            <a:ext cx="45720" cy="44805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8" name="Google Shape;1608;p60"/>
          <p:cNvSpPr txBox="1"/>
          <p:nvPr/>
        </p:nvSpPr>
        <p:spPr>
          <a:xfrm>
            <a:off x="594360" y="2743200"/>
            <a:ext cx="80010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THIS IS ENOUGH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“Just a quick reminder, your voucher comes with a membership which will start once it's used.”</a:t>
            </a:r>
            <a:endParaRPr b="0" i="0" spc="0" sz="1000" u="none" cap="none" strike="noStrike">
              <a:solidFill>
                <a:schemeClr val="dk1"/>
              </a:solidFill>
              <a:latin typeface="Calibri"/>
              <a:ea typeface="Calibri"/>
              <a:cs typeface="Calibri"/>
              <a:sym typeface="Calibri"/>
            </a:endParaRPr>
          </a:p>
        </p:txBody>
      </p:sp>
      <p:sp>
        <p:nvSpPr>
          <p:cNvPr id="1609" name="Google Shape;1609;p60"/>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10" name="Google Shape;1610;p60"/>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1611" name="Google Shape;1611;p60"/>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612" name="Google Shape;1612;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7" name="Shape 1617"/>
        <p:cNvGrpSpPr/>
        <p:nvPr/>
      </p:nvGrpSpPr>
      <p:grpSpPr>
        <a:xfrm>
          <a:off x="0" y="0"/>
          <a:ext cx="0" cy="0"/>
          <a:chOff x="0" y="0"/>
          <a:chExt cx="0" cy="0"/>
        </a:xfrm>
      </p:grpSpPr>
      <p:sp>
        <p:nvSpPr>
          <p:cNvPr id="1618" name="Google Shape;1618;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19" name="Google Shape;1619;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620" name="Google Shape;1620;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what you're solving before you offer anything.</a:t>
            </a:r>
            <a:endParaRPr b="0" i="0" spc="0" sz="1200" u="none" cap="none" strike="noStrike">
              <a:solidFill>
                <a:schemeClr val="dk1"/>
              </a:solidFill>
              <a:latin typeface="Calibri"/>
              <a:ea typeface="Calibri"/>
              <a:cs typeface="Calibri"/>
              <a:sym typeface="Calibri"/>
            </a:endParaRPr>
          </a:p>
        </p:txBody>
      </p:sp>
      <p:sp>
        <p:nvSpPr>
          <p:cNvPr id="1621" name="Google Shape;1621;p61"/>
          <p:cNvSpPr/>
          <p:nvPr/>
        </p:nvSpPr>
        <p:spPr>
          <a:xfrm>
            <a:off x="411480" y="1298448"/>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2" name="Google Shape;1622;p61"/>
          <p:cNvSpPr/>
          <p:nvPr/>
        </p:nvSpPr>
        <p:spPr>
          <a:xfrm>
            <a:off x="484632" y="1335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3" name="Google Shape;1623;p61"/>
          <p:cNvSpPr txBox="1"/>
          <p:nvPr/>
        </p:nvSpPr>
        <p:spPr>
          <a:xfrm>
            <a:off x="484632" y="1335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24" name="Google Shape;1624;p61"/>
          <p:cNvSpPr txBox="1"/>
          <p:nvPr/>
        </p:nvSpPr>
        <p:spPr>
          <a:xfrm>
            <a:off x="868680" y="1298448"/>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Reason given? If not, probe</a:t>
            </a:r>
            <a:endParaRPr b="0" i="0" spc="0" sz="950" u="none" cap="none" strike="noStrike">
              <a:solidFill>
                <a:schemeClr val="dk1"/>
              </a:solidFill>
              <a:latin typeface="Calibri"/>
              <a:ea typeface="Calibri"/>
              <a:cs typeface="Calibri"/>
              <a:sym typeface="Calibri"/>
            </a:endParaRPr>
          </a:p>
        </p:txBody>
      </p:sp>
      <p:sp>
        <p:nvSpPr>
          <p:cNvPr id="1625" name="Google Shape;1625;p61"/>
          <p:cNvSpPr/>
          <p:nvPr/>
        </p:nvSpPr>
        <p:spPr>
          <a:xfrm>
            <a:off x="411480" y="1700784"/>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6" name="Google Shape;1626;p61"/>
          <p:cNvSpPr/>
          <p:nvPr/>
        </p:nvSpPr>
        <p:spPr>
          <a:xfrm>
            <a:off x="484632" y="17373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7" name="Google Shape;1627;p61"/>
          <p:cNvSpPr txBox="1"/>
          <p:nvPr/>
        </p:nvSpPr>
        <p:spPr>
          <a:xfrm>
            <a:off x="484632" y="17373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28" name="Google Shape;1628;p61"/>
          <p:cNvSpPr txBox="1"/>
          <p:nvPr/>
        </p:nvSpPr>
        <p:spPr>
          <a:xfrm>
            <a:off x="868680" y="1700784"/>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Acknowledge</a:t>
            </a:r>
            <a:endParaRPr b="0" i="0" spc="0" sz="950" u="none" cap="none" strike="noStrike">
              <a:solidFill>
                <a:schemeClr val="dk1"/>
              </a:solidFill>
              <a:latin typeface="Calibri"/>
              <a:ea typeface="Calibri"/>
              <a:cs typeface="Calibri"/>
              <a:sym typeface="Calibri"/>
            </a:endParaRPr>
          </a:p>
        </p:txBody>
      </p:sp>
      <p:sp>
        <p:nvSpPr>
          <p:cNvPr id="1629" name="Google Shape;1629;p61"/>
          <p:cNvSpPr/>
          <p:nvPr/>
        </p:nvSpPr>
        <p:spPr>
          <a:xfrm>
            <a:off x="411480" y="2103120"/>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0" name="Google Shape;1630;p61"/>
          <p:cNvSpPr/>
          <p:nvPr/>
        </p:nvSpPr>
        <p:spPr>
          <a:xfrm>
            <a:off x="484632" y="213969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1" name="Google Shape;1631;p61"/>
          <p:cNvSpPr txBox="1"/>
          <p:nvPr/>
        </p:nvSpPr>
        <p:spPr>
          <a:xfrm>
            <a:off x="484632" y="213969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32" name="Google Shape;1632;p61"/>
          <p:cNvSpPr txBox="1"/>
          <p:nvPr/>
        </p:nvSpPr>
        <p:spPr>
          <a:xfrm>
            <a:off x="868680" y="2103120"/>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Fix the actual issue</a:t>
            </a:r>
            <a:endParaRPr b="0" i="0" spc="0" sz="950" u="none" cap="none" strike="noStrike">
              <a:solidFill>
                <a:schemeClr val="dk1"/>
              </a:solidFill>
              <a:latin typeface="Calibri"/>
              <a:ea typeface="Calibri"/>
              <a:cs typeface="Calibri"/>
              <a:sym typeface="Calibri"/>
            </a:endParaRPr>
          </a:p>
        </p:txBody>
      </p:sp>
      <p:sp>
        <p:nvSpPr>
          <p:cNvPr id="1633" name="Google Shape;1633;p61"/>
          <p:cNvSpPr/>
          <p:nvPr/>
        </p:nvSpPr>
        <p:spPr>
          <a:xfrm>
            <a:off x="411480" y="2505456"/>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4" name="Google Shape;1634;p61"/>
          <p:cNvSpPr/>
          <p:nvPr/>
        </p:nvSpPr>
        <p:spPr>
          <a:xfrm>
            <a:off x="484632" y="254203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5" name="Google Shape;1635;p61"/>
          <p:cNvSpPr txBox="1"/>
          <p:nvPr/>
        </p:nvSpPr>
        <p:spPr>
          <a:xfrm>
            <a:off x="484632" y="254203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36" name="Google Shape;1636;p61"/>
          <p:cNvSpPr txBox="1"/>
          <p:nvPr/>
        </p:nvSpPr>
        <p:spPr>
          <a:xfrm>
            <a:off x="868680" y="2505456"/>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Present the right offer</a:t>
            </a:r>
            <a:endParaRPr b="0" i="0" spc="0" sz="950" u="none" cap="none" strike="noStrike">
              <a:solidFill>
                <a:schemeClr val="dk1"/>
              </a:solidFill>
              <a:latin typeface="Calibri"/>
              <a:ea typeface="Calibri"/>
              <a:cs typeface="Calibri"/>
              <a:sym typeface="Calibri"/>
            </a:endParaRPr>
          </a:p>
        </p:txBody>
      </p:sp>
      <p:sp>
        <p:nvSpPr>
          <p:cNvPr id="1637" name="Google Shape;1637;p61"/>
          <p:cNvSpPr/>
          <p:nvPr/>
        </p:nvSpPr>
        <p:spPr>
          <a:xfrm>
            <a:off x="411480" y="2907792"/>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8" name="Google Shape;1638;p61"/>
          <p:cNvSpPr/>
          <p:nvPr/>
        </p:nvSpPr>
        <p:spPr>
          <a:xfrm>
            <a:off x="484632" y="29443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9" name="Google Shape;1639;p61"/>
          <p:cNvSpPr txBox="1"/>
          <p:nvPr/>
        </p:nvSpPr>
        <p:spPr>
          <a:xfrm>
            <a:off x="484632" y="29443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1640" name="Google Shape;1640;p61"/>
          <p:cNvSpPr txBox="1"/>
          <p:nvPr/>
        </p:nvSpPr>
        <p:spPr>
          <a:xfrm>
            <a:off x="868680" y="2907792"/>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Valid for a year. Comes with a membership</a:t>
            </a:r>
            <a:endParaRPr b="0" i="0" spc="0" sz="950" u="none" cap="none" strike="noStrike">
              <a:solidFill>
                <a:schemeClr val="dk1"/>
              </a:solidFill>
              <a:latin typeface="Calibri"/>
              <a:ea typeface="Calibri"/>
              <a:cs typeface="Calibri"/>
              <a:sym typeface="Calibri"/>
            </a:endParaRPr>
          </a:p>
        </p:txBody>
      </p:sp>
      <p:sp>
        <p:nvSpPr>
          <p:cNvPr id="1641" name="Google Shape;1641;p61"/>
          <p:cNvSpPr/>
          <p:nvPr/>
        </p:nvSpPr>
        <p:spPr>
          <a:xfrm>
            <a:off x="411480" y="3310128"/>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2" name="Google Shape;1642;p61"/>
          <p:cNvSpPr/>
          <p:nvPr/>
        </p:nvSpPr>
        <p:spPr>
          <a:xfrm>
            <a:off x="484632" y="334670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3" name="Google Shape;1643;p61"/>
          <p:cNvSpPr txBox="1"/>
          <p:nvPr/>
        </p:nvSpPr>
        <p:spPr>
          <a:xfrm>
            <a:off x="484632" y="334670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1644" name="Google Shape;1644;p61"/>
          <p:cNvSpPr txBox="1"/>
          <p:nvPr/>
        </p:nvSpPr>
        <p:spPr>
          <a:xfrm>
            <a:off x="868680" y="3310128"/>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1" i="0" lang="en-US" spc="0" sz="950" u="none" cap="none" strike="noStrike">
                <a:solidFill>
                  <a:srgbClr val="1D1D1F"/>
                </a:solidFill>
                <a:latin typeface="Arial"/>
                <a:ea typeface="Arial"/>
                <a:cs typeface="Arial"/>
                <a:sym typeface="Arial"/>
              </a:rPr>
              <a:t>Refund intent? Send the self-refund link</a:t>
            </a:r>
            <a:endParaRPr b="0" i="0" spc="0" sz="950" u="none" cap="none" strike="noStrike">
              <a:solidFill>
                <a:schemeClr val="dk1"/>
              </a:solidFill>
              <a:latin typeface="Calibri"/>
              <a:ea typeface="Calibri"/>
              <a:cs typeface="Calibri"/>
              <a:sym typeface="Calibri"/>
            </a:endParaRPr>
          </a:p>
        </p:txBody>
      </p:sp>
      <p:sp>
        <p:nvSpPr>
          <p:cNvPr id="1645" name="Google Shape;1645;p61"/>
          <p:cNvSpPr/>
          <p:nvPr/>
        </p:nvSpPr>
        <p:spPr>
          <a:xfrm>
            <a:off x="411480" y="3712464"/>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6" name="Google Shape;1646;p61"/>
          <p:cNvSpPr/>
          <p:nvPr/>
        </p:nvSpPr>
        <p:spPr>
          <a:xfrm>
            <a:off x="484632" y="3749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7" name="Google Shape;1647;p61"/>
          <p:cNvSpPr txBox="1"/>
          <p:nvPr/>
        </p:nvSpPr>
        <p:spPr>
          <a:xfrm>
            <a:off x="484632" y="3749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7</a:t>
            </a:r>
            <a:endParaRPr b="0" i="0" spc="0" sz="900" u="none" cap="none" strike="noStrike">
              <a:solidFill>
                <a:schemeClr val="dk1"/>
              </a:solidFill>
              <a:latin typeface="Calibri"/>
              <a:ea typeface="Calibri"/>
              <a:cs typeface="Calibri"/>
              <a:sym typeface="Calibri"/>
            </a:endParaRPr>
          </a:p>
        </p:txBody>
      </p:sp>
      <p:sp>
        <p:nvSpPr>
          <p:cNvPr id="1648" name="Google Shape;1648;p61"/>
          <p:cNvSpPr txBox="1"/>
          <p:nvPr/>
        </p:nvSpPr>
        <p:spPr>
          <a:xfrm>
            <a:off x="868680" y="3712464"/>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 appointments and RC if not wanted</a:t>
            </a:r>
            <a:endParaRPr b="0" i="0" spc="0" sz="950" u="none" cap="none" strike="noStrike">
              <a:solidFill>
                <a:schemeClr val="dk1"/>
              </a:solidFill>
              <a:latin typeface="Calibri"/>
              <a:ea typeface="Calibri"/>
              <a:cs typeface="Calibri"/>
              <a:sym typeface="Calibri"/>
            </a:endParaRPr>
          </a:p>
        </p:txBody>
      </p:sp>
      <p:sp>
        <p:nvSpPr>
          <p:cNvPr id="1649" name="Google Shape;1649;p61"/>
          <p:cNvSpPr/>
          <p:nvPr/>
        </p:nvSpPr>
        <p:spPr>
          <a:xfrm>
            <a:off x="4983480" y="1298448"/>
            <a:ext cx="374904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0" name="Google Shape;1650;p61"/>
          <p:cNvSpPr/>
          <p:nvPr/>
        </p:nvSpPr>
        <p:spPr>
          <a:xfrm>
            <a:off x="4983480" y="1298448"/>
            <a:ext cx="374904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Self-refund link</a:t>
            </a:r>
            <a:endParaRPr b="0" i="0" spc="0" sz="1050" u="none" cap="none" strike="noStrike">
              <a:solidFill>
                <a:schemeClr val="dk1"/>
              </a:solidFill>
              <a:latin typeface="Calibri"/>
              <a:ea typeface="Calibri"/>
              <a:cs typeface="Calibri"/>
              <a:sym typeface="Calibri"/>
            </a:endParaRPr>
          </a:p>
        </p:txBody>
      </p:sp>
      <p:sp>
        <p:nvSpPr>
          <p:cNvPr id="1651" name="Google Shape;1651;p61"/>
          <p:cNvSpPr txBox="1"/>
          <p:nvPr/>
        </p:nvSpPr>
        <p:spPr>
          <a:xfrm>
            <a:off x="5148072" y="1737360"/>
            <a:ext cx="341985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Only if they want a refund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Enter the voucher code before "Refund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Double-check the code in your message</a:t>
            </a:r>
            <a:endParaRPr b="0" i="0" spc="0" sz="950" u="none" cap="none" strike="noStrike">
              <a:solidFill>
                <a:schemeClr val="dk1"/>
              </a:solidFill>
              <a:latin typeface="Calibri"/>
              <a:ea typeface="Calibri"/>
              <a:cs typeface="Calibri"/>
              <a:sym typeface="Calibri"/>
            </a:endParaRPr>
          </a:p>
        </p:txBody>
      </p:sp>
      <p:sp>
        <p:nvSpPr>
          <p:cNvPr id="1652" name="Google Shape;1652;p61"/>
          <p:cNvSpPr/>
          <p:nvPr/>
        </p:nvSpPr>
        <p:spPr>
          <a:xfrm>
            <a:off x="4983480" y="2743200"/>
            <a:ext cx="3749040" cy="1325880"/>
          </a:xfrm>
          <a:prstGeom prst="roundRect">
            <a:avLst>
              <a:gd fmla="val 551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3" name="Google Shape;1653;p61"/>
          <p:cNvSpPr/>
          <p:nvPr/>
        </p:nvSpPr>
        <p:spPr>
          <a:xfrm>
            <a:off x="4983480" y="2743200"/>
            <a:ext cx="374904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insists on a refund?</a:t>
            </a:r>
            <a:endParaRPr b="0" i="0" spc="0" sz="1050" u="none" cap="none" strike="noStrike">
              <a:solidFill>
                <a:schemeClr val="dk1"/>
              </a:solidFill>
              <a:latin typeface="Calibri"/>
              <a:ea typeface="Calibri"/>
              <a:cs typeface="Calibri"/>
              <a:sym typeface="Calibri"/>
            </a:endParaRPr>
          </a:p>
        </p:txBody>
      </p:sp>
      <p:sp>
        <p:nvSpPr>
          <p:cNvPr id="1654" name="Google Shape;1654;p61"/>
          <p:cNvSpPr txBox="1"/>
          <p:nvPr/>
        </p:nvSpPr>
        <p:spPr>
          <a:xfrm>
            <a:off x="5148072" y="3182112"/>
            <a:ext cx="341985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CRM &gt; voucher &gt; refund DHJ/FC, then invalidate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in 5–10 business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Deactivate the FC table if there is one</a:t>
            </a:r>
            <a:endParaRPr b="0" i="0" spc="0" sz="950" u="none" cap="none" strike="noStrike">
              <a:solidFill>
                <a:schemeClr val="dk1"/>
              </a:solidFill>
              <a:latin typeface="Calibri"/>
              <a:ea typeface="Calibri"/>
              <a:cs typeface="Calibri"/>
              <a:sym typeface="Calibri"/>
            </a:endParaRPr>
          </a:p>
        </p:txBody>
      </p:sp>
      <p:sp>
        <p:nvSpPr>
          <p:cNvPr id="1655" name="Google Shape;1655;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0" name="Shape 1660"/>
        <p:cNvGrpSpPr/>
        <p:nvPr/>
      </p:nvGrpSpPr>
      <p:grpSpPr>
        <a:xfrm>
          <a:off x="0" y="0"/>
          <a:ext cx="0" cy="0"/>
          <a:chOff x="0" y="0"/>
          <a:chExt cx="0" cy="0"/>
        </a:xfrm>
      </p:grpSpPr>
      <p:sp>
        <p:nvSpPr>
          <p:cNvPr id="1661" name="Google Shape;1661;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62" name="Google Shape;1662;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Which offer?</a:t>
            </a:r>
            <a:endParaRPr b="0" i="0" spc="0" sz="2400" u="none" cap="none" strike="noStrike">
              <a:solidFill>
                <a:schemeClr val="dk1"/>
              </a:solidFill>
              <a:latin typeface="Calibri"/>
              <a:ea typeface="Calibri"/>
              <a:cs typeface="Calibri"/>
              <a:sym typeface="Calibri"/>
            </a:endParaRPr>
          </a:p>
        </p:txBody>
      </p:sp>
      <p:sp>
        <p:nvSpPr>
          <p:cNvPr id="1663" name="Google Shape;1663;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Strategy Table for unused DHJ vouchers.</a:t>
            </a:r>
            <a:endParaRPr b="0" i="0" spc="0" sz="1200" u="none" cap="none" strike="noStrike">
              <a:solidFill>
                <a:schemeClr val="dk1"/>
              </a:solidFill>
              <a:latin typeface="Calibri"/>
              <a:ea typeface="Calibri"/>
              <a:cs typeface="Calibri"/>
              <a:sym typeface="Calibri"/>
            </a:endParaRPr>
          </a:p>
        </p:txBody>
      </p:sp>
      <p:graphicFrame>
        <p:nvGraphicFramePr>
          <p:cNvPr id="1664" name="Google Shape;1664;p62"/>
          <p:cNvGraphicFramePr/>
          <p:nvPr/>
        </p:nvGraphicFramePr>
        <p:xfrm>
          <a:off x="411480" y="1298448"/>
          <a:ext cx="3000000" cy="3000000"/>
        </p:xfrm>
        <a:graphic>
          <a:graphicData uri="http://schemas.openxmlformats.org/drawingml/2006/table">
            <a:tbl>
              <a:tblPr>
                <a:noFill/>
                <a:tableStyleId>{51A78D23-FE86-4D1E-9A67-94F0228D6878}</a:tableStyleId>
              </a:tblPr>
              <a:tblGrid>
                <a:gridCol w="1371600"/>
                <a:gridCol w="4114800"/>
                <a:gridCol w="2834650"/>
              </a:tblGrid>
              <a:tr h="347475">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Root cause</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Condition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Offer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CP no-show, CP cancellation, no CP claim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$10–$20 credits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Found another cleaner, wants same-day, moved, no phone support, will self-clean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MF is expensive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MF −$10–$15 off the original MF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MCT is too long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MCT −2 months from the original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Doesn't want a membership at all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Mention flexible terms; OTC if it fits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one cleaning only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One-time cleaning: full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to try it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Trial Cleaning: regular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665" name="Google Shape;1665;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0" name="Shape 1670"/>
        <p:cNvGrpSpPr/>
        <p:nvPr/>
      </p:nvGrpSpPr>
      <p:grpSpPr>
        <a:xfrm>
          <a:off x="0" y="0"/>
          <a:ext cx="0" cy="0"/>
          <a:chOff x="0" y="0"/>
          <a:chExt cx="0" cy="0"/>
        </a:xfrm>
      </p:grpSpPr>
      <p:sp>
        <p:nvSpPr>
          <p:cNvPr id="1671" name="Google Shape;1671;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72" name="Google Shape;1672;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73" name="Google Shape;1673;p6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74" name="Google Shape;1674;p63"/>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75" name="Google Shape;1675;p63"/>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76" name="Google Shape;1676;p63"/>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77" name="Google Shape;1677;p63"/>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8" name="Google Shape;1678;p63"/>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9" name="Google Shape;1679;p63"/>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80" name="Google Shape;1680;p63"/>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81" name="Google Shape;1681;p63"/>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2" name="Google Shape;1682;p63"/>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3" name="Google Shape;1683;p63"/>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84" name="Google Shape;1684;p63"/>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85" name="Google Shape;1685;p63"/>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6" name="Google Shape;1686;p63"/>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7" name="Google Shape;1687;p63"/>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88" name="Google Shape;1688;p63"/>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89" name="Google Shape;1689;p63"/>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0" name="Google Shape;1690;p63"/>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1" name="Google Shape;1691;p63"/>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92" name="Google Shape;1692;p63"/>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93" name="Google Shape;1693;p63"/>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4" name="Google Shape;1694;p63"/>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695" name="Google Shape;1695;p63"/>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696" name="Google Shape;1696;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1" name="Shape 1701"/>
        <p:cNvGrpSpPr/>
        <p:nvPr/>
      </p:nvGrpSpPr>
      <p:grpSpPr>
        <a:xfrm>
          <a:off x="0" y="0"/>
          <a:ext cx="0" cy="0"/>
          <a:chOff x="0" y="0"/>
          <a:chExt cx="0" cy="0"/>
        </a:xfrm>
      </p:grpSpPr>
      <p:sp>
        <p:nvSpPr>
          <p:cNvPr id="1702" name="Google Shape;1702;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703" name="Google Shape;1703;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704" name="Google Shape;1704;p6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705" name="Google Shape;1705;p64"/>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6" name="Google Shape;1706;p6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7" name="Google Shape;1707;p6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708" name="Google Shape;1708;p6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709" name="Google Shape;1709;p64"/>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710" name="Google Shape;1710;p64"/>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1" name="Google Shape;1711;p6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12" name="Google Shape;1712;p6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713" name="Google Shape;1713;p6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714" name="Google Shape;1714;p64"/>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715" name="Google Shape;1715;p64"/>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6" name="Google Shape;1716;p6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17" name="Google Shape;1717;p6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718" name="Google Shape;1718;p6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719" name="Google Shape;1719;p64"/>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720" name="Google Shape;1720;p64"/>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1" name="Google Shape;1721;p64"/>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722" name="Google Shape;1722;p64"/>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723" name="Google Shape;1723;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8" name="Shape 1728"/>
        <p:cNvGrpSpPr/>
        <p:nvPr/>
      </p:nvGrpSpPr>
      <p:grpSpPr>
        <a:xfrm>
          <a:off x="0" y="0"/>
          <a:ext cx="0" cy="0"/>
          <a:chOff x="0" y="0"/>
          <a:chExt cx="0" cy="0"/>
        </a:xfrm>
      </p:grpSpPr>
      <p:sp>
        <p:nvSpPr>
          <p:cNvPr id="1729" name="Google Shape;1729;p6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730" name="Google Shape;1730;p6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731" name="Google Shape;1731;p6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2" name="Google Shape;1732;p6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3" name="Google Shape;1733;p6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34" name="Google Shape;1734;p6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735" name="Google Shape;1735;p6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6" name="Google Shape;1736;p6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737" name="Google Shape;1737;p6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8" name="Google Shape;1738;p6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9" name="Google Shape;1739;p6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40" name="Google Shape;1740;p6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741" name="Google Shape;1741;p6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2" name="Google Shape;1742;p6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743" name="Google Shape;1743;p6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4" name="Google Shape;1744;p6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5" name="Google Shape;1745;p6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46" name="Google Shape;1746;p6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747" name="Google Shape;1747;p6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8" name="Google Shape;1748;p6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749" name="Google Shape;1749;p6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0" name="Google Shape;1750;p6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1" name="Google Shape;1751;p6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752" name="Google Shape;1752;p6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753" name="Google Shape;1753;p6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4" name="Google Shape;1754;p6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755" name="Google Shape;1755;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6"/>
                                        </p:tgtEl>
                                        <p:attrNameLst>
                                          <p:attrName>style.visibility</p:attrName>
                                        </p:attrNameLst>
                                      </p:cBhvr>
                                      <p:to>
                                        <p:strVal val="visible"/>
                                      </p:to>
                                    </p:set>
                                    <p:animEffect filter="fade" transition="in">
                                      <p:cBhvr>
                                        <p:cTn dur="600"/>
                                        <p:tgtEl>
                                          <p:spTgt spid="173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42"/>
                                        </p:tgtEl>
                                        <p:attrNameLst>
                                          <p:attrName>style.visibility</p:attrName>
                                        </p:attrNameLst>
                                      </p:cBhvr>
                                      <p:to>
                                        <p:strVal val="visible"/>
                                      </p:to>
                                    </p:set>
                                    <p:animEffect filter="fade" transition="in">
                                      <p:cBhvr>
                                        <p:cTn dur="600"/>
                                        <p:tgtEl>
                                          <p:spTgt spid="174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48"/>
                                        </p:tgtEl>
                                        <p:attrNameLst>
                                          <p:attrName>style.visibility</p:attrName>
                                        </p:attrNameLst>
                                      </p:cBhvr>
                                      <p:to>
                                        <p:strVal val="visible"/>
                                      </p:to>
                                    </p:set>
                                    <p:animEffect filter="fade" transition="in">
                                      <p:cBhvr>
                                        <p:cTn dur="600"/>
                                        <p:tgtEl>
                                          <p:spTgt spid="174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54"/>
                                        </p:tgtEl>
                                        <p:attrNameLst>
                                          <p:attrName>style.visibility</p:attrName>
                                        </p:attrNameLst>
                                      </p:cBhvr>
                                      <p:to>
                                        <p:strVal val="visible"/>
                                      </p:to>
                                    </p:set>
                                    <p:animEffect filter="fade" transition="in">
                                      <p:cBhvr>
                                        <p:cTn dur="600"/>
                                        <p:tgtEl>
                                          <p:spTgt spid="175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0" name="Shape 1760"/>
        <p:cNvGrpSpPr/>
        <p:nvPr/>
      </p:nvGrpSpPr>
      <p:grpSpPr>
        <a:xfrm>
          <a:off x="0" y="0"/>
          <a:ext cx="0" cy="0"/>
          <a:chOff x="0" y="0"/>
          <a:chExt cx="0" cy="0"/>
        </a:xfrm>
      </p:grpSpPr>
      <p:sp>
        <p:nvSpPr>
          <p:cNvPr id="1761" name="Google Shape;1761;p6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762" name="Google Shape;1762;p6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763" name="Google Shape;1763;p6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764" name="Google Shape;1764;p6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5" name="Google Shape;1765;p6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66" name="Google Shape;1766;p6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67" name="Google Shape;1767;p6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68" name="Google Shape;1768;p6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69" name="Google Shape;1769;p6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70" name="Google Shape;1770;p6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1" name="Google Shape;1771;p6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2" name="Google Shape;1772;p6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73" name="Google Shape;1773;p6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74" name="Google Shape;1774;p6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75" name="Google Shape;1775;p6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6" name="Google Shape;1776;p6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7" name="Google Shape;1777;p6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78" name="Google Shape;1778;p6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79" name="Google Shape;1779;p6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80" name="Google Shape;1780;p6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1" name="Google Shape;1781;p6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2" name="Google Shape;1782;p6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83" name="Google Shape;1783;p6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84" name="Google Shape;1784;p6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85" name="Google Shape;1785;p6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86" name="Google Shape;1786;p6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87" name="Google Shape;1787;p6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88" name="Google Shape;1788;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3" name="Shape 1793"/>
        <p:cNvGrpSpPr/>
        <p:nvPr/>
      </p:nvGrpSpPr>
      <p:grpSpPr>
        <a:xfrm>
          <a:off x="0" y="0"/>
          <a:ext cx="0" cy="0"/>
          <a:chOff x="0" y="0"/>
          <a:chExt cx="0" cy="0"/>
        </a:xfrm>
      </p:grpSpPr>
      <p:sp>
        <p:nvSpPr>
          <p:cNvPr id="1794" name="Google Shape;1794;p6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795" name="Google Shape;1795;p6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796" name="Google Shape;1796;p6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797" name="Google Shape;1797;p6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798" name="Google Shape;1798;p6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9" name="Google Shape;1799;p6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800" name="Google Shape;1800;p6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801" name="Google Shape;1801;p6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2" name="Google Shape;1802;p6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803" name="Google Shape;1803;p6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804" name="Google Shape;1804;p6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5" name="Google Shape;1805;p6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806" name="Google Shape;1806;p6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807" name="Google Shape;1807;p6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8" name="Google Shape;1808;p6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809" name="Google Shape;1809;p6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810" name="Google Shape;1810;p6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1" name="Google Shape;1811;p6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812" name="Google Shape;1812;p67"/>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813" name="Google Shape;1813;p6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4" name="Google Shape;1814;p6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5" name="Google Shape;1815;p6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6" name="Google Shape;1816;p6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7" name="Google Shape;1817;p6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8" name="Google Shape;1818;p6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9" name="Google Shape;1819;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4" name="Shape 1824"/>
        <p:cNvGrpSpPr/>
        <p:nvPr/>
      </p:nvGrpSpPr>
      <p:grpSpPr>
        <a:xfrm>
          <a:off x="0" y="0"/>
          <a:ext cx="0" cy="0"/>
          <a:chOff x="0" y="0"/>
          <a:chExt cx="0" cy="0"/>
        </a:xfrm>
      </p:grpSpPr>
      <p:sp>
        <p:nvSpPr>
          <p:cNvPr id="1825" name="Google Shape;1825;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26" name="Google Shape;1826;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827" name="Google Shape;1827;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828" name="Google Shape;1828;p68"/>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9" name="Google Shape;1829;p68"/>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830" name="Google Shape;1830;p68"/>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to cancel before the first cleaning</a:t>
            </a:r>
            <a:endParaRPr b="0" i="0" spc="0" sz="1000" u="none" cap="none" strike="noStrike">
              <a:solidFill>
                <a:schemeClr val="dk1"/>
              </a:solidFill>
              <a:latin typeface="Calibri"/>
              <a:ea typeface="Calibri"/>
              <a:cs typeface="Calibri"/>
              <a:sym typeface="Calibri"/>
            </a:endParaRPr>
          </a:p>
        </p:txBody>
      </p:sp>
      <p:sp>
        <p:nvSpPr>
          <p:cNvPr id="1831" name="Google Shape;1831;p68"/>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2" name="Google Shape;1832;p68"/>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a:t>
            </a:r>
            <a:endParaRPr b="0" i="0" spc="0" sz="1050" u="none" cap="none" strike="noStrike">
              <a:solidFill>
                <a:schemeClr val="dk1"/>
              </a:solidFill>
              <a:latin typeface="Calibri"/>
              <a:ea typeface="Calibri"/>
              <a:cs typeface="Calibri"/>
              <a:sym typeface="Calibri"/>
            </a:endParaRPr>
          </a:p>
        </p:txBody>
      </p:sp>
      <p:sp>
        <p:nvSpPr>
          <p:cNvPr id="1833" name="Google Shape;1833;p68"/>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chemeClr val="dk1"/>
              </a:solidFill>
              <a:latin typeface="Calibri"/>
              <a:ea typeface="Calibri"/>
              <a:cs typeface="Calibri"/>
              <a:sym typeface="Calibri"/>
            </a:endParaRPr>
          </a:p>
        </p:txBody>
      </p:sp>
      <p:sp>
        <p:nvSpPr>
          <p:cNvPr id="1834" name="Google Shape;1834;p68"/>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35" name="Google Shape;1835;p68"/>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836" name="Google Shape;1836;p68"/>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Retention comes first, always.  </a:t>
            </a:r>
            <a:r>
              <a:rPr b="0" i="0" lang="en-US" spc="0" sz="1000" u="none" cap="none" strike="noStrike">
                <a:solidFill>
                  <a:srgbClr val="1D1D1F"/>
                </a:solidFill>
                <a:latin typeface="Arial"/>
                <a:ea typeface="Arial"/>
                <a:cs typeface="Arial"/>
                <a:sym typeface="Arial"/>
              </a:rPr>
              <a:t>Use the refund table only once they've decided to cancel.</a:t>
            </a:r>
            <a:endParaRPr b="0" i="0" spc="0" sz="1000" u="none" cap="none" strike="noStrike">
              <a:solidFill>
                <a:schemeClr val="dk1"/>
              </a:solidFill>
              <a:latin typeface="Calibri"/>
              <a:ea typeface="Calibri"/>
              <a:cs typeface="Calibri"/>
              <a:sym typeface="Calibri"/>
            </a:endParaRPr>
          </a:p>
        </p:txBody>
      </p:sp>
      <p:sp>
        <p:nvSpPr>
          <p:cNvPr id="1837" name="Google Shape;1837;p68"/>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38" name="Google Shape;1838;p68"/>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839" name="Google Shape;1839;p68"/>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840" name="Google Shape;1840;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5" name="Shape 1845"/>
        <p:cNvGrpSpPr/>
        <p:nvPr/>
      </p:nvGrpSpPr>
      <p:grpSpPr>
        <a:xfrm>
          <a:off x="0" y="0"/>
          <a:ext cx="0" cy="0"/>
          <a:chOff x="0" y="0"/>
          <a:chExt cx="0" cy="0"/>
        </a:xfrm>
      </p:grpSpPr>
      <p:sp>
        <p:nvSpPr>
          <p:cNvPr id="1846" name="Google Shape;1846;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47" name="Google Shape;1847;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window</a:t>
            </a:r>
            <a:endParaRPr b="0" i="0" spc="0" sz="2400" u="none" cap="none" strike="noStrike">
              <a:solidFill>
                <a:schemeClr val="dk1"/>
              </a:solidFill>
              <a:latin typeface="Calibri"/>
              <a:ea typeface="Calibri"/>
              <a:cs typeface="Calibri"/>
              <a:sym typeface="Calibri"/>
            </a:endParaRPr>
          </a:p>
        </p:txBody>
      </p:sp>
      <p:sp>
        <p:nvSpPr>
          <p:cNvPr id="1848" name="Google Shape;1848;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849" name="Google Shape;1849;p69"/>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0" name="Google Shape;1850;p69"/>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851" name="Google Shape;1851;p69"/>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852" name="Google Shape;1852;p69"/>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3" name="Google Shape;1853;p69"/>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4" name="Google Shape;1854;p69"/>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855" name="Google Shape;1855;p69"/>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a:t>
            </a:r>
            <a:endParaRPr b="0" i="0" spc="0" sz="1050" u="none" cap="none" strike="noStrike">
              <a:solidFill>
                <a:schemeClr val="dk1"/>
              </a:solidFill>
              <a:latin typeface="Calibri"/>
              <a:ea typeface="Calibri"/>
              <a:cs typeface="Calibri"/>
              <a:sym typeface="Calibri"/>
            </a:endParaRPr>
          </a:p>
        </p:txBody>
      </p:sp>
      <p:sp>
        <p:nvSpPr>
          <p:cNvPr id="1856" name="Google Shape;1856;p69"/>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7" name="Google Shape;1857;p69"/>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8" name="Google Shape;1858;p69"/>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859" name="Google Shape;1859;p69"/>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860" name="Google Shape;1860;p69"/>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1" name="Google Shape;1861;p69"/>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2" name="Google Shape;1862;p69"/>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863" name="Google Shape;1863;p69"/>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864" name="Google Shape;1864;p69"/>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5" name="Google Shape;1865;p69"/>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6" name="Google Shape;1866;p69"/>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867" name="Google Shape;1867;p69"/>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868" name="Google Shape;1868;p69"/>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9" name="Google Shape;1869;p69"/>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870" name="Google Shape;1870;p69"/>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871" name="Google Shape;1871;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6" name="Shape 1876"/>
        <p:cNvGrpSpPr/>
        <p:nvPr/>
      </p:nvGrpSpPr>
      <p:grpSpPr>
        <a:xfrm>
          <a:off x="0" y="0"/>
          <a:ext cx="0" cy="0"/>
          <a:chOff x="0" y="0"/>
          <a:chExt cx="0" cy="0"/>
        </a:xfrm>
      </p:grpSpPr>
      <p:sp>
        <p:nvSpPr>
          <p:cNvPr id="1877" name="Google Shape;1877;p7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78" name="Google Shape;1878;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879" name="Google Shape;1879;p7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880" name="Google Shape;1880;p70"/>
          <p:cNvGraphicFramePr/>
          <p:nvPr/>
        </p:nvGraphicFramePr>
        <p:xfrm>
          <a:off x="411480" y="1298448"/>
          <a:ext cx="3000000" cy="3000000"/>
        </p:xfrm>
        <a:graphic>
          <a:graphicData uri="http://schemas.openxmlformats.org/drawingml/2006/table">
            <a:tbl>
              <a:tblPr>
                <a:noFill/>
                <a:tableStyleId>{51A78D23-FE86-4D1E-9A67-94F0228D6878}</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81" name="Google Shape;1881;p70"/>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82" name="Google Shape;1882;p70"/>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883" name="Google Shape;1883;p70"/>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84" name="Google Shape;1884;p70"/>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85" name="Google Shape;1885;p70"/>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886" name="Google Shape;1886;p70"/>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887" name="Google Shape;1887;p7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2" name="Shape 1892"/>
        <p:cNvGrpSpPr/>
        <p:nvPr/>
      </p:nvGrpSpPr>
      <p:grpSpPr>
        <a:xfrm>
          <a:off x="0" y="0"/>
          <a:ext cx="0" cy="0"/>
          <a:chOff x="0" y="0"/>
          <a:chExt cx="0" cy="0"/>
        </a:xfrm>
      </p:grpSpPr>
      <p:sp>
        <p:nvSpPr>
          <p:cNvPr id="1893" name="Google Shape;1893;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94" name="Google Shape;1894;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895" name="Google Shape;1895;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896" name="Google Shape;1896;p71"/>
          <p:cNvGraphicFramePr/>
          <p:nvPr/>
        </p:nvGraphicFramePr>
        <p:xfrm>
          <a:off x="411480" y="1298448"/>
          <a:ext cx="3000000" cy="3000000"/>
        </p:xfrm>
        <a:graphic>
          <a:graphicData uri="http://schemas.openxmlformats.org/drawingml/2006/table">
            <a:tbl>
              <a:tblPr>
                <a:noFill/>
                <a:tableStyleId>{51A78D23-FE86-4D1E-9A67-94F0228D6878}</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97" name="Google Shape;1897;p71"/>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8" name="Google Shape;1898;p71"/>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899" name="Google Shape;1899;p71"/>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900" name="Google Shape;1900;p71"/>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1" name="Google Shape;1901;p71"/>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902" name="Google Shape;1902;p71"/>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FCF Refund tracker: TL issues a Stripe FULL refund</a:t>
            </a:r>
            <a:endParaRPr b="0" i="0" spc="0" sz="950" u="none" cap="none" strike="noStrike">
              <a:solidFill>
                <a:schemeClr val="dk1"/>
              </a:solidFill>
              <a:latin typeface="Calibri"/>
              <a:ea typeface="Calibri"/>
              <a:cs typeface="Calibri"/>
              <a:sym typeface="Calibri"/>
            </a:endParaRPr>
          </a:p>
        </p:txBody>
      </p:sp>
      <p:sp>
        <p:nvSpPr>
          <p:cNvPr id="1903" name="Google Shape;1903;p71"/>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4" name="Google Shape;1904;p71"/>
          <p:cNvPicPr preferRelativeResize="0"/>
          <p:nvPr/>
        </p:nvPicPr>
        <p:blipFill rotWithShape="1">
          <a:blip r:embed="rId3">
            <a:alphaModFix/>
          </a:blip>
          <a:srcRect b="0" l="0" r="0" t="0"/>
          <a:stretch/>
        </p:blipFill>
        <p:spPr>
          <a:xfrm>
            <a:off x="566928" y="4425696"/>
            <a:ext cx="164592" cy="164592"/>
          </a:xfrm>
          <a:prstGeom prst="rect">
            <a:avLst/>
          </a:prstGeom>
          <a:noFill/>
          <a:ln>
            <a:noFill/>
          </a:ln>
        </p:spPr>
      </p:pic>
      <p:sp>
        <p:nvSpPr>
          <p:cNvPr id="1905" name="Google Shape;1905;p71"/>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906" name="Google Shape;1906;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1" name="Shape 1911"/>
        <p:cNvGrpSpPr/>
        <p:nvPr/>
      </p:nvGrpSpPr>
      <p:grpSpPr>
        <a:xfrm>
          <a:off x="0" y="0"/>
          <a:ext cx="0" cy="0"/>
          <a:chOff x="0" y="0"/>
          <a:chExt cx="0" cy="0"/>
        </a:xfrm>
      </p:grpSpPr>
      <p:sp>
        <p:nvSpPr>
          <p:cNvPr id="1912" name="Google Shape;1912;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13" name="Google Shape;1913;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914" name="Google Shape;1914;p7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915" name="Google Shape;1915;p72"/>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6" name="Google Shape;1916;p72"/>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17" name="Google Shape;1917;p72"/>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918" name="Google Shape;1918;p72"/>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a:t>
            </a:r>
            <a:endParaRPr b="0" i="0" spc="0" sz="1100" u="none" cap="none" strike="noStrike">
              <a:solidFill>
                <a:schemeClr val="dk1"/>
              </a:solidFill>
              <a:latin typeface="Calibri"/>
              <a:ea typeface="Calibri"/>
              <a:cs typeface="Calibri"/>
              <a:sym typeface="Calibri"/>
            </a:endParaRPr>
          </a:p>
        </p:txBody>
      </p:sp>
      <p:sp>
        <p:nvSpPr>
          <p:cNvPr id="1919" name="Google Shape;1919;p72"/>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0" name="Google Shape;1920;p72"/>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1" name="Google Shape;1921;p72"/>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922" name="Google Shape;1922;p72"/>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that specific MF.</a:t>
            </a:r>
            <a:endParaRPr b="0" i="0" spc="0" sz="1100" u="none" cap="none" strike="noStrike">
              <a:solidFill>
                <a:schemeClr val="dk1"/>
              </a:solidFill>
              <a:latin typeface="Calibri"/>
              <a:ea typeface="Calibri"/>
              <a:cs typeface="Calibri"/>
              <a:sym typeface="Calibri"/>
            </a:endParaRPr>
          </a:p>
        </p:txBody>
      </p:sp>
      <p:sp>
        <p:nvSpPr>
          <p:cNvPr id="1923" name="Google Shape;1923;p72"/>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4" name="Google Shape;1924;p72"/>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5" name="Google Shape;1925;p72"/>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926" name="Google Shape;1926;p72"/>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927" name="Google Shape;1927;p72"/>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8" name="Google Shape;1928;p72"/>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9" name="Google Shape;1929;p72"/>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930" name="Google Shape;1930;p72"/>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All unused MFs, if they ask (120 days).</a:t>
            </a:r>
            <a:endParaRPr b="0" i="0" spc="0" sz="1100" u="none" cap="none" strike="noStrike">
              <a:solidFill>
                <a:schemeClr val="dk1"/>
              </a:solidFill>
              <a:latin typeface="Calibri"/>
              <a:ea typeface="Calibri"/>
              <a:cs typeface="Calibri"/>
              <a:sym typeface="Calibri"/>
            </a:endParaRPr>
          </a:p>
        </p:txBody>
      </p:sp>
      <p:sp>
        <p:nvSpPr>
          <p:cNvPr id="1931" name="Google Shape;1931;p7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32" name="Google Shape;1932;p72"/>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1933" name="Google Shape;1933;p7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1934" name="Google Shape;1934;p72"/>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35" name="Google Shape;1935;p72"/>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1936" name="Google Shape;1936;p72"/>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937" name="Google Shape;1937;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2" name="Shape 1942"/>
        <p:cNvGrpSpPr/>
        <p:nvPr/>
      </p:nvGrpSpPr>
      <p:grpSpPr>
        <a:xfrm>
          <a:off x="0" y="0"/>
          <a:ext cx="0" cy="0"/>
          <a:chOff x="0" y="0"/>
          <a:chExt cx="0" cy="0"/>
        </a:xfrm>
      </p:grpSpPr>
      <p:sp>
        <p:nvSpPr>
          <p:cNvPr id="1943" name="Google Shape;1943;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44" name="Google Shape;1944;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1945" name="Google Shape;1945;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1946" name="Google Shape;1946;p73"/>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7" name="Google Shape;1947;p73"/>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1948" name="Google Shape;1948;p73"/>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49" name="Google Shape;1949;p73"/>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0" name="Google Shape;1950;p73"/>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1951" name="Google Shape;1951;p73"/>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52" name="Google Shape;1952;p73"/>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3" name="Google Shape;1953;p73"/>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1954" name="Google Shape;1954;p73"/>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55" name="Google Shape;1955;p73"/>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6" name="Google Shape;1956;p73"/>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1957" name="Google Shape;1957;p73"/>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8" name="Google Shape;1958;p73"/>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1959" name="Google Shape;1959;p73"/>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4 hours</a:t>
            </a:r>
            <a:endParaRPr b="0" i="0" spc="0" sz="1000" u="none" cap="none" strike="noStrike">
              <a:solidFill>
                <a:schemeClr val="dk1"/>
              </a:solidFill>
              <a:latin typeface="Calibri"/>
              <a:ea typeface="Calibri"/>
              <a:cs typeface="Calibri"/>
              <a:sym typeface="Calibri"/>
            </a:endParaRPr>
          </a:p>
        </p:txBody>
      </p:sp>
      <p:sp>
        <p:nvSpPr>
          <p:cNvPr id="1960" name="Google Shape;1960;p73"/>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1" name="Google Shape;1961;p73"/>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1962" name="Google Shape;1962;p73"/>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6 hours</a:t>
            </a:r>
            <a:endParaRPr b="0" i="0" spc="0" sz="1000" u="none" cap="none" strike="noStrike">
              <a:solidFill>
                <a:schemeClr val="dk1"/>
              </a:solidFill>
              <a:latin typeface="Calibri"/>
              <a:ea typeface="Calibri"/>
              <a:cs typeface="Calibri"/>
              <a:sym typeface="Calibri"/>
            </a:endParaRPr>
          </a:p>
        </p:txBody>
      </p:sp>
      <p:sp>
        <p:nvSpPr>
          <p:cNvPr id="1963" name="Google Shape;1963;p73"/>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4" name="Google Shape;1964;p73"/>
          <p:cNvSpPr txBox="1"/>
          <p:nvPr/>
        </p:nvSpPr>
        <p:spPr>
          <a:xfrm>
            <a:off x="60502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Refund</a:t>
            </a:r>
            <a:endParaRPr b="0" i="0" spc="0" sz="3000" u="none" cap="none" strike="noStrike">
              <a:solidFill>
                <a:schemeClr val="dk1"/>
              </a:solidFill>
              <a:latin typeface="Calibri"/>
              <a:ea typeface="Calibri"/>
              <a:cs typeface="Calibri"/>
              <a:sym typeface="Calibri"/>
            </a:endParaRPr>
          </a:p>
        </p:txBody>
      </p:sp>
      <p:sp>
        <p:nvSpPr>
          <p:cNvPr id="1965" name="Google Shape;1965;p73"/>
          <p:cNvSpPr txBox="1"/>
          <p:nvPr/>
        </p:nvSpPr>
        <p:spPr>
          <a:xfrm>
            <a:off x="62331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difference on a downgrade</a:t>
            </a:r>
            <a:endParaRPr b="0" i="0" spc="0" sz="1000" u="none" cap="none" strike="noStrike">
              <a:solidFill>
                <a:schemeClr val="dk1"/>
              </a:solidFill>
              <a:latin typeface="Calibri"/>
              <a:ea typeface="Calibri"/>
              <a:cs typeface="Calibri"/>
              <a:sym typeface="Calibri"/>
            </a:endParaRPr>
          </a:p>
        </p:txBody>
      </p:sp>
      <p:sp>
        <p:nvSpPr>
          <p:cNvPr id="1966" name="Google Shape;1966;p73"/>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67" name="Google Shape;1967;p73"/>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1968" name="Google Shape;1968;p73"/>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1969" name="Google Shape;1969;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4" name="Shape 1974"/>
        <p:cNvGrpSpPr/>
        <p:nvPr/>
      </p:nvGrpSpPr>
      <p:grpSpPr>
        <a:xfrm>
          <a:off x="0" y="0"/>
          <a:ext cx="0" cy="0"/>
          <a:chOff x="0" y="0"/>
          <a:chExt cx="0" cy="0"/>
        </a:xfrm>
      </p:grpSpPr>
      <p:sp>
        <p:nvSpPr>
          <p:cNvPr id="1975" name="Google Shape;1975;p7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1976" name="Google Shape;1976;p7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977" name="Google Shape;1977;p7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8" name="Google Shape;1978;p7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9" name="Google Shape;1979;p7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80" name="Google Shape;1980;p7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1981" name="Google Shape;1981;p7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2" name="Google Shape;1982;p7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1983" name="Google Shape;1983;p7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4" name="Google Shape;1984;p7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5" name="Google Shape;1985;p7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86" name="Google Shape;1986;p7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1987" name="Google Shape;1987;p7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8" name="Google Shape;1988;p7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1989" name="Google Shape;1989;p7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0" name="Google Shape;1990;p7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1" name="Google Shape;1991;p7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92" name="Google Shape;1992;p7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1993" name="Google Shape;1993;p7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4" name="Google Shape;1994;p7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1995" name="Google Shape;1995;p7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6" name="Google Shape;1996;p7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7" name="Google Shape;1997;p7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998" name="Google Shape;1998;p7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1999" name="Google Shape;1999;p7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0" name="Google Shape;2000;p7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2001" name="Google Shape;2001;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82"/>
                                        </p:tgtEl>
                                        <p:attrNameLst>
                                          <p:attrName>style.visibility</p:attrName>
                                        </p:attrNameLst>
                                      </p:cBhvr>
                                      <p:to>
                                        <p:strVal val="visible"/>
                                      </p:to>
                                    </p:set>
                                    <p:animEffect filter="fade" transition="in">
                                      <p:cBhvr>
                                        <p:cTn dur="600"/>
                                        <p:tgtEl>
                                          <p:spTgt spid="198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88"/>
                                        </p:tgtEl>
                                        <p:attrNameLst>
                                          <p:attrName>style.visibility</p:attrName>
                                        </p:attrNameLst>
                                      </p:cBhvr>
                                      <p:to>
                                        <p:strVal val="visible"/>
                                      </p:to>
                                    </p:set>
                                    <p:animEffect filter="fade" transition="in">
                                      <p:cBhvr>
                                        <p:cTn dur="600"/>
                                        <p:tgtEl>
                                          <p:spTgt spid="198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94"/>
                                        </p:tgtEl>
                                        <p:attrNameLst>
                                          <p:attrName>style.visibility</p:attrName>
                                        </p:attrNameLst>
                                      </p:cBhvr>
                                      <p:to>
                                        <p:strVal val="visible"/>
                                      </p:to>
                                    </p:set>
                                    <p:animEffect filter="fade" transition="in">
                                      <p:cBhvr>
                                        <p:cTn dur="600"/>
                                        <p:tgtEl>
                                          <p:spTgt spid="19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00"/>
                                        </p:tgtEl>
                                        <p:attrNameLst>
                                          <p:attrName>style.visibility</p:attrName>
                                        </p:attrNameLst>
                                      </p:cBhvr>
                                      <p:to>
                                        <p:strVal val="visible"/>
                                      </p:to>
                                    </p:set>
                                    <p:animEffect filter="fade" transition="in">
                                      <p:cBhvr>
                                        <p:cTn dur="600"/>
                                        <p:tgtEl>
                                          <p:spTgt spid="200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6" name="Shape 2006"/>
        <p:cNvGrpSpPr/>
        <p:nvPr/>
      </p:nvGrpSpPr>
      <p:grpSpPr>
        <a:xfrm>
          <a:off x="0" y="0"/>
          <a:ext cx="0" cy="0"/>
          <a:chOff x="0" y="0"/>
          <a:chExt cx="0" cy="0"/>
        </a:xfrm>
      </p:grpSpPr>
      <p:sp>
        <p:nvSpPr>
          <p:cNvPr id="2007" name="Google Shape;2007;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2008" name="Google Shape;2008;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009" name="Google Shape;2009;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010" name="Google Shape;2010;p7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1" name="Google Shape;2011;p7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12" name="Google Shape;2012;p7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013" name="Google Shape;2013;p7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014" name="Google Shape;2014;p7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015" name="Google Shape;2015;p7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016" name="Google Shape;2016;p7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7" name="Google Shape;2017;p7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8" name="Google Shape;2018;p7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19" name="Google Shape;2019;p7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2020" name="Google Shape;2020;p7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2021" name="Google Shape;2021;p7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2" name="Google Shape;2022;p7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3" name="Google Shape;2023;p7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24" name="Google Shape;2024;p7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025" name="Google Shape;2025;p7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2026" name="Google Shape;2026;p7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7" name="Google Shape;2027;p7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8" name="Google Shape;2028;p7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29" name="Google Shape;2029;p7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030" name="Google Shape;2030;p7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2031" name="Google Shape;2031;p7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32" name="Google Shape;2032;p7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033" name="Google Shape;2033;p7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034" name="Google Shape;2034;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9" name="Shape 2039"/>
        <p:cNvGrpSpPr/>
        <p:nvPr/>
      </p:nvGrpSpPr>
      <p:grpSpPr>
        <a:xfrm>
          <a:off x="0" y="0"/>
          <a:ext cx="0" cy="0"/>
          <a:chOff x="0" y="0"/>
          <a:chExt cx="0" cy="0"/>
        </a:xfrm>
      </p:grpSpPr>
      <p:sp>
        <p:nvSpPr>
          <p:cNvPr id="2040" name="Google Shape;2040;p7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2041" name="Google Shape;2041;p7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2042" name="Google Shape;2042;p7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2043" name="Google Shape;2043;p7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2044" name="Google Shape;2044;p7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45" name="Google Shape;2045;p7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046" name="Google Shape;2046;p7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2047" name="Google Shape;2047;p7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48" name="Google Shape;2048;p7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2049" name="Google Shape;2049;p7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2050" name="Google Shape;2050;p7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51" name="Google Shape;2051;p7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2052" name="Google Shape;2052;p7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2053" name="Google Shape;2053;p7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54" name="Google Shape;2054;p7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2055" name="Google Shape;2055;p7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2056" name="Google Shape;2056;p7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7" name="Google Shape;2057;p7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2058" name="Google Shape;2058;p76"/>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2059" name="Google Shape;2059;p7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0" name="Google Shape;2060;p7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1" name="Google Shape;2061;p7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2" name="Google Shape;2062;p7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3" name="Google Shape;2063;p7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4" name="Google Shape;2064;p7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5" name="Google Shape;2065;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0" name="Shape 2070"/>
        <p:cNvGrpSpPr/>
        <p:nvPr/>
      </p:nvGrpSpPr>
      <p:grpSpPr>
        <a:xfrm>
          <a:off x="0" y="0"/>
          <a:ext cx="0" cy="0"/>
          <a:chOff x="0" y="0"/>
          <a:chExt cx="0" cy="0"/>
        </a:xfrm>
      </p:grpSpPr>
      <p:sp>
        <p:nvSpPr>
          <p:cNvPr id="2071" name="Google Shape;2071;p7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72" name="Google Shape;2072;p7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073" name="Google Shape;2073;p7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074" name="Google Shape;2074;p77"/>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5" name="Google Shape;2075;p77"/>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076" name="Google Shape;2076;p77"/>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077" name="Google Shape;2077;p77"/>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8" name="Google Shape;2078;p77"/>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079" name="Google Shape;2079;p77"/>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080" name="Google Shape;2080;p77"/>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81" name="Google Shape;2081;p77"/>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082" name="Google Shape;2082;p77"/>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083" name="Google Shape;2083;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8" name="Shape 2088"/>
        <p:cNvGrpSpPr/>
        <p:nvPr/>
      </p:nvGrpSpPr>
      <p:grpSpPr>
        <a:xfrm>
          <a:off x="0" y="0"/>
          <a:ext cx="0" cy="0"/>
          <a:chOff x="0" y="0"/>
          <a:chExt cx="0" cy="0"/>
        </a:xfrm>
      </p:grpSpPr>
      <p:sp>
        <p:nvSpPr>
          <p:cNvPr id="2089" name="Google Shape;2089;p7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90" name="Google Shape;2090;p7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091" name="Google Shape;2091;p7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092" name="Google Shape;2092;p78"/>
          <p:cNvSpPr/>
          <p:nvPr/>
        </p:nvSpPr>
        <p:spPr>
          <a:xfrm>
            <a:off x="41148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3" name="Google Shape;2093;p78"/>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094" name="Google Shape;2094;p78"/>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095" name="Google Shape;2095;p78"/>
          <p:cNvSpPr/>
          <p:nvPr/>
        </p:nvSpPr>
        <p:spPr>
          <a:xfrm>
            <a:off x="466344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6" name="Google Shape;2096;p78"/>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097" name="Google Shape;2097;p78"/>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Plus the add-on: $19 (4 hr) or $59 (6 hr)</a:t>
            </a:r>
            <a:endParaRPr b="0" i="0" spc="0" sz="1000" u="none" cap="none" strike="noStrike">
              <a:solidFill>
                <a:schemeClr val="dk1"/>
              </a:solidFill>
              <a:latin typeface="Calibri"/>
              <a:ea typeface="Calibri"/>
              <a:cs typeface="Calibri"/>
              <a:sym typeface="Calibri"/>
            </a:endParaRPr>
          </a:p>
        </p:txBody>
      </p:sp>
      <p:sp>
        <p:nvSpPr>
          <p:cNvPr id="2098" name="Google Shape;2098;p78"/>
          <p:cNvSpPr/>
          <p:nvPr/>
        </p:nvSpPr>
        <p:spPr>
          <a:xfrm>
            <a:off x="41148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9" name="Google Shape;2099;p78"/>
          <p:cNvSpPr txBox="1"/>
          <p:nvPr/>
        </p:nvSpPr>
        <p:spPr>
          <a:xfrm>
            <a:off x="59436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6-hr clean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p:txBody>
      </p:sp>
      <p:sp>
        <p:nvSpPr>
          <p:cNvPr id="2100" name="Google Shape;2100;p78"/>
          <p:cNvSpPr/>
          <p:nvPr/>
        </p:nvSpPr>
        <p:spPr>
          <a:xfrm>
            <a:off x="466344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1" name="Google Shape;2101;p78"/>
          <p:cNvSpPr txBox="1"/>
          <p:nvPr/>
        </p:nvSpPr>
        <p:spPr>
          <a:xfrm>
            <a:off x="484632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OTC at $120</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$150 in MFs already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$30 is not refunded</a:t>
            </a:r>
            <a:endParaRPr b="0" i="0" spc="0" sz="1100" u="none" cap="none" strike="noStrike">
              <a:solidFill>
                <a:schemeClr val="dk1"/>
              </a:solidFill>
              <a:latin typeface="Calibri"/>
              <a:ea typeface="Calibri"/>
              <a:cs typeface="Calibri"/>
              <a:sym typeface="Calibri"/>
            </a:endParaRPr>
          </a:p>
        </p:txBody>
      </p:sp>
      <p:sp>
        <p:nvSpPr>
          <p:cNvPr id="2102" name="Google Shape;2102;p78"/>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03" name="Google Shape;2103;p78"/>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104" name="Google Shape;2104;p78"/>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 (Transformation) FC Sales Calculator.</a:t>
            </a:r>
            <a:endParaRPr b="0" i="0" spc="0" sz="1000" u="none" cap="none" strike="noStrike">
              <a:solidFill>
                <a:schemeClr val="dk1"/>
              </a:solidFill>
              <a:latin typeface="Calibri"/>
              <a:ea typeface="Calibri"/>
              <a:cs typeface="Calibri"/>
              <a:sym typeface="Calibri"/>
            </a:endParaRPr>
          </a:p>
        </p:txBody>
      </p:sp>
      <p:sp>
        <p:nvSpPr>
          <p:cNvPr id="2105" name="Google Shape;2105;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0" name="Shape 2110"/>
        <p:cNvGrpSpPr/>
        <p:nvPr/>
      </p:nvGrpSpPr>
      <p:grpSpPr>
        <a:xfrm>
          <a:off x="0" y="0"/>
          <a:ext cx="0" cy="0"/>
          <a:chOff x="0" y="0"/>
          <a:chExt cx="0" cy="0"/>
        </a:xfrm>
      </p:grpSpPr>
      <p:sp>
        <p:nvSpPr>
          <p:cNvPr id="2111" name="Google Shape;2111;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12" name="Google Shape;2112;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113" name="Google Shape;2113;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114" name="Google Shape;2114;p79"/>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5" name="Google Shape;2115;p79"/>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6" name="Google Shape;2116;p79"/>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117" name="Google Shape;2117;p79"/>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8" name="Google Shape;2118;p79"/>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9" name="Google Shape;2119;p79"/>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120" name="Google Shape;2120;p79"/>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1" name="Google Shape;2121;p79"/>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122" name="Google Shape;2122;p79"/>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123" name="Google Shape;2123;p79"/>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4" name="Google Shape;2124;p79"/>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125" name="Google Shape;2125;p79"/>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126" name="Google Shape;2126;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1" name="Shape 2131"/>
        <p:cNvGrpSpPr/>
        <p:nvPr/>
      </p:nvGrpSpPr>
      <p:grpSpPr>
        <a:xfrm>
          <a:off x="0" y="0"/>
          <a:ext cx="0" cy="0"/>
          <a:chOff x="0" y="0"/>
          <a:chExt cx="0" cy="0"/>
        </a:xfrm>
      </p:grpSpPr>
      <p:sp>
        <p:nvSpPr>
          <p:cNvPr id="2132" name="Google Shape;2132;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33" name="Google Shape;2133;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set it up</a:t>
            </a:r>
            <a:endParaRPr b="0" i="0" spc="0" sz="2400" u="none" cap="none" strike="noStrike">
              <a:solidFill>
                <a:schemeClr val="dk1"/>
              </a:solidFill>
              <a:latin typeface="Calibri"/>
              <a:ea typeface="Calibri"/>
              <a:cs typeface="Calibri"/>
              <a:sym typeface="Calibri"/>
            </a:endParaRPr>
          </a:p>
        </p:txBody>
      </p:sp>
      <p:sp>
        <p:nvSpPr>
          <p:cNvPr id="2134" name="Google Shape;2134;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FC table and voucher steps differ by model.</a:t>
            </a:r>
            <a:endParaRPr b="0" i="0" spc="0" sz="1200" u="none" cap="none" strike="noStrike">
              <a:solidFill>
                <a:schemeClr val="dk1"/>
              </a:solidFill>
              <a:latin typeface="Calibri"/>
              <a:ea typeface="Calibri"/>
              <a:cs typeface="Calibri"/>
              <a:sym typeface="Calibri"/>
            </a:endParaRPr>
          </a:p>
        </p:txBody>
      </p:sp>
      <p:sp>
        <p:nvSpPr>
          <p:cNvPr id="2135" name="Google Shape;2135;p80"/>
          <p:cNvSpPr/>
          <p:nvPr/>
        </p:nvSpPr>
        <p:spPr>
          <a:xfrm>
            <a:off x="411480" y="1298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6" name="Google Shape;2136;p80"/>
          <p:cNvSpPr/>
          <p:nvPr/>
        </p:nvSpPr>
        <p:spPr>
          <a:xfrm>
            <a:off x="484632" y="1362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7" name="Google Shape;2137;p80"/>
          <p:cNvSpPr txBox="1"/>
          <p:nvPr/>
        </p:nvSpPr>
        <p:spPr>
          <a:xfrm>
            <a:off x="484632" y="1362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138" name="Google Shape;2138;p80"/>
          <p:cNvSpPr txBox="1"/>
          <p:nvPr/>
        </p:nvSpPr>
        <p:spPr>
          <a:xfrm>
            <a:off x="850392" y="1298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address, card, date, time, duration</a:t>
            </a:r>
            <a:endParaRPr b="0" i="0" spc="0" sz="900" u="none" cap="none" strike="noStrike">
              <a:solidFill>
                <a:schemeClr val="dk1"/>
              </a:solidFill>
              <a:latin typeface="Calibri"/>
              <a:ea typeface="Calibri"/>
              <a:cs typeface="Calibri"/>
              <a:sym typeface="Calibri"/>
            </a:endParaRPr>
          </a:p>
        </p:txBody>
      </p:sp>
      <p:sp>
        <p:nvSpPr>
          <p:cNvPr id="2139" name="Google Shape;2139;p80"/>
          <p:cNvSpPr/>
          <p:nvPr/>
        </p:nvSpPr>
        <p:spPr>
          <a:xfrm>
            <a:off x="411480" y="17556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0" name="Google Shape;2140;p80"/>
          <p:cNvSpPr/>
          <p:nvPr/>
        </p:nvSpPr>
        <p:spPr>
          <a:xfrm>
            <a:off x="484632" y="18196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1" name="Google Shape;2141;p80"/>
          <p:cNvSpPr txBox="1"/>
          <p:nvPr/>
        </p:nvSpPr>
        <p:spPr>
          <a:xfrm>
            <a:off x="484632" y="18196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142" name="Google Shape;2142;p80"/>
          <p:cNvSpPr txBox="1"/>
          <p:nvPr/>
        </p:nvSpPr>
        <p:spPr>
          <a:xfrm>
            <a:off x="850392" y="17556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Still wants a refund? DHJ: CRM refund. FCF: FCF Refund log</a:t>
            </a:r>
            <a:endParaRPr b="0" i="0" spc="0" sz="900" u="none" cap="none" strike="noStrike">
              <a:solidFill>
                <a:schemeClr val="dk1"/>
              </a:solidFill>
              <a:latin typeface="Calibri"/>
              <a:ea typeface="Calibri"/>
              <a:cs typeface="Calibri"/>
              <a:sym typeface="Calibri"/>
            </a:endParaRPr>
          </a:p>
        </p:txBody>
      </p:sp>
      <p:sp>
        <p:nvSpPr>
          <p:cNvPr id="2143" name="Google Shape;2143;p80"/>
          <p:cNvSpPr/>
          <p:nvPr/>
        </p:nvSpPr>
        <p:spPr>
          <a:xfrm>
            <a:off x="411480" y="22128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4" name="Google Shape;2144;p80"/>
          <p:cNvSpPr/>
          <p:nvPr/>
        </p:nvSpPr>
        <p:spPr>
          <a:xfrm>
            <a:off x="484632"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5" name="Google Shape;2145;p80"/>
          <p:cNvSpPr txBox="1"/>
          <p:nvPr/>
        </p:nvSpPr>
        <p:spPr>
          <a:xfrm>
            <a:off x="484632"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146" name="Google Shape;2146;p80"/>
          <p:cNvSpPr txBox="1"/>
          <p:nvPr/>
        </p:nvSpPr>
        <p:spPr>
          <a:xfrm>
            <a:off x="850392" y="22128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refund? Deduct what they paid, invalidate the voucher</a:t>
            </a:r>
            <a:endParaRPr b="0" i="0" spc="0" sz="900" u="none" cap="none" strike="noStrike">
              <a:solidFill>
                <a:schemeClr val="dk1"/>
              </a:solidFill>
              <a:latin typeface="Calibri"/>
              <a:ea typeface="Calibri"/>
              <a:cs typeface="Calibri"/>
              <a:sym typeface="Calibri"/>
            </a:endParaRPr>
          </a:p>
        </p:txBody>
      </p:sp>
      <p:sp>
        <p:nvSpPr>
          <p:cNvPr id="2147" name="Google Shape;2147;p80"/>
          <p:cNvSpPr/>
          <p:nvPr/>
        </p:nvSpPr>
        <p:spPr>
          <a:xfrm>
            <a:off x="411480" y="26700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8" name="Google Shape;2148;p80"/>
          <p:cNvSpPr/>
          <p:nvPr/>
        </p:nvSpPr>
        <p:spPr>
          <a:xfrm>
            <a:off x="484632" y="27340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9" name="Google Shape;2149;p80"/>
          <p:cNvSpPr txBox="1"/>
          <p:nvPr/>
        </p:nvSpPr>
        <p:spPr>
          <a:xfrm>
            <a:off x="484632" y="27340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150" name="Google Shape;2150;p80"/>
          <p:cNvSpPr txBox="1"/>
          <p:nvPr/>
        </p:nvSpPr>
        <p:spPr>
          <a:xfrm>
            <a:off x="850392" y="26700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Charge upfront (FC Sales Calculator), book it</a:t>
            </a:r>
            <a:endParaRPr b="0" i="0" spc="0" sz="900" u="none" cap="none" strike="noStrike">
              <a:solidFill>
                <a:schemeClr val="dk1"/>
              </a:solidFill>
              <a:latin typeface="Calibri"/>
              <a:ea typeface="Calibri"/>
              <a:cs typeface="Calibri"/>
              <a:sym typeface="Calibri"/>
            </a:endParaRPr>
          </a:p>
        </p:txBody>
      </p:sp>
      <p:sp>
        <p:nvSpPr>
          <p:cNvPr id="2151" name="Google Shape;2151;p80"/>
          <p:cNvSpPr/>
          <p:nvPr/>
        </p:nvSpPr>
        <p:spPr>
          <a:xfrm>
            <a:off x="411480" y="31272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2" name="Google Shape;2152;p80"/>
          <p:cNvSpPr/>
          <p:nvPr/>
        </p:nvSpPr>
        <p:spPr>
          <a:xfrm>
            <a:off x="484632" y="31912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3" name="Google Shape;2153;p80"/>
          <p:cNvSpPr txBox="1"/>
          <p:nvPr/>
        </p:nvSpPr>
        <p:spPr>
          <a:xfrm>
            <a:off x="484632" y="31912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2154" name="Google Shape;2154;p80"/>
          <p:cNvSpPr txBox="1"/>
          <p:nvPr/>
        </p:nvSpPr>
        <p:spPr>
          <a:xfrm>
            <a:off x="850392" y="31272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admin_courtesy voucher, no notification</a:t>
            </a:r>
            <a:endParaRPr b="0" i="0" spc="0" sz="900" u="none" cap="none" strike="noStrike">
              <a:solidFill>
                <a:schemeClr val="dk1"/>
              </a:solidFill>
              <a:latin typeface="Calibri"/>
              <a:ea typeface="Calibri"/>
              <a:cs typeface="Calibri"/>
              <a:sym typeface="Calibri"/>
            </a:endParaRPr>
          </a:p>
        </p:txBody>
      </p:sp>
      <p:sp>
        <p:nvSpPr>
          <p:cNvPr id="2155" name="Google Shape;2155;p80"/>
          <p:cNvSpPr/>
          <p:nvPr/>
        </p:nvSpPr>
        <p:spPr>
          <a:xfrm>
            <a:off x="411480" y="3584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6" name="Google Shape;2156;p80"/>
          <p:cNvSpPr/>
          <p:nvPr/>
        </p:nvSpPr>
        <p:spPr>
          <a:xfrm>
            <a:off x="484632" y="3648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7" name="Google Shape;2157;p80"/>
          <p:cNvSpPr txBox="1"/>
          <p:nvPr/>
        </p:nvSpPr>
        <p:spPr>
          <a:xfrm>
            <a:off x="484632" y="3648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2158" name="Google Shape;2158;p80"/>
          <p:cNvSpPr txBox="1"/>
          <p:nvPr/>
        </p:nvSpPr>
        <p:spPr>
          <a:xfrm>
            <a:off x="850392" y="3584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charged, booked, CP will confirm</a:t>
            </a:r>
            <a:endParaRPr b="0" i="0" spc="0" sz="900" u="none" cap="none" strike="noStrike">
              <a:solidFill>
                <a:schemeClr val="dk1"/>
              </a:solidFill>
              <a:latin typeface="Calibri"/>
              <a:ea typeface="Calibri"/>
              <a:cs typeface="Calibri"/>
              <a:sym typeface="Calibri"/>
            </a:endParaRPr>
          </a:p>
        </p:txBody>
      </p:sp>
      <p:graphicFrame>
        <p:nvGraphicFramePr>
          <p:cNvPr id="2159" name="Google Shape;2159;p80"/>
          <p:cNvGraphicFramePr/>
          <p:nvPr/>
        </p:nvGraphicFramePr>
        <p:xfrm>
          <a:off x="4846320" y="1298448"/>
          <a:ext cx="3000000" cy="3000000"/>
        </p:xfrm>
        <a:graphic>
          <a:graphicData uri="http://schemas.openxmlformats.org/drawingml/2006/table">
            <a:tbl>
              <a:tblPr>
                <a:noFill/>
                <a:tableStyleId>{51A78D23-FE86-4D1E-9A67-94F0228D6878}</a:tableStyleId>
              </a:tblPr>
              <a:tblGrid>
                <a:gridCol w="1828800"/>
                <a:gridCol w="2057400"/>
              </a:tblGrid>
              <a:tr h="29260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Existing FC table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Do</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OTC (DHJ or FCF)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it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DHJ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Leave it as is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FCF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then force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160" name="Google Shape;2160;p80"/>
          <p:cNvSpPr/>
          <p:nvPr/>
        </p:nvSpPr>
        <p:spPr>
          <a:xfrm>
            <a:off x="4846320" y="2697480"/>
            <a:ext cx="388620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1" name="Google Shape;2161;p80"/>
          <p:cNvSpPr/>
          <p:nvPr/>
        </p:nvSpPr>
        <p:spPr>
          <a:xfrm>
            <a:off x="4846320" y="2697480"/>
            <a:ext cx="38862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only</a:t>
            </a:r>
            <a:endParaRPr b="0" i="0" spc="0" sz="1050" u="none" cap="none" strike="noStrike">
              <a:solidFill>
                <a:schemeClr val="dk1"/>
              </a:solidFill>
              <a:latin typeface="Calibri"/>
              <a:ea typeface="Calibri"/>
              <a:cs typeface="Calibri"/>
              <a:sym typeface="Calibri"/>
            </a:endParaRPr>
          </a:p>
        </p:txBody>
      </p:sp>
      <p:sp>
        <p:nvSpPr>
          <p:cNvPr id="2162" name="Google Shape;2162;p80"/>
          <p:cNvSpPr txBox="1"/>
          <p:nvPr/>
        </p:nvSpPr>
        <p:spPr>
          <a:xfrm>
            <a:off x="5010912" y="3136392"/>
            <a:ext cx="355701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Legacy CRM voucher: "ForeverClean force" + "1 free month"</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add them to the FC table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Update the ETF to $99</a:t>
            </a:r>
            <a:endParaRPr b="0" i="0" spc="0" sz="900" u="none" cap="none" strike="noStrike">
              <a:solidFill>
                <a:schemeClr val="dk1"/>
              </a:solidFill>
              <a:latin typeface="Calibri"/>
              <a:ea typeface="Calibri"/>
              <a:cs typeface="Calibri"/>
              <a:sym typeface="Calibri"/>
            </a:endParaRPr>
          </a:p>
        </p:txBody>
      </p:sp>
      <p:sp>
        <p:nvSpPr>
          <p:cNvPr id="2163" name="Google Shape;2163;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8" name="Shape 2168"/>
        <p:cNvGrpSpPr/>
        <p:nvPr/>
      </p:nvGrpSpPr>
      <p:grpSpPr>
        <a:xfrm>
          <a:off x="0" y="0"/>
          <a:ext cx="0" cy="0"/>
          <a:chOff x="0" y="0"/>
          <a:chExt cx="0" cy="0"/>
        </a:xfrm>
      </p:grpSpPr>
      <p:sp>
        <p:nvSpPr>
          <p:cNvPr id="2169" name="Google Shape;2169;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70" name="Google Shape;2170;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a:t>
            </a:r>
            <a:endParaRPr b="0" i="0" spc="0" sz="2400" u="none" cap="none" strike="noStrike">
              <a:solidFill>
                <a:schemeClr val="dk1"/>
              </a:solidFill>
              <a:latin typeface="Calibri"/>
              <a:ea typeface="Calibri"/>
              <a:cs typeface="Calibri"/>
              <a:sym typeface="Calibri"/>
            </a:endParaRPr>
          </a:p>
        </p:txBody>
      </p:sp>
      <p:sp>
        <p:nvSpPr>
          <p:cNvPr id="2171" name="Google Shape;2171;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172" name="Google Shape;2172;p81"/>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3" name="Google Shape;2173;p81"/>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4" name="Google Shape;2174;p81"/>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75" name="Google Shape;2175;p81"/>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176" name="Google Shape;2176;p81"/>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DHJ: within 1 year, refund via CRM and invalidate. FCF: use the pre-invoice cheat sheet.</a:t>
            </a:r>
            <a:endParaRPr b="0" i="0" spc="0" sz="950" u="none" cap="none" strike="noStrike">
              <a:solidFill>
                <a:schemeClr val="dk1"/>
              </a:solidFill>
              <a:latin typeface="Calibri"/>
              <a:ea typeface="Calibri"/>
              <a:cs typeface="Calibri"/>
              <a:sym typeface="Calibri"/>
            </a:endParaRPr>
          </a:p>
        </p:txBody>
      </p:sp>
      <p:sp>
        <p:nvSpPr>
          <p:cNvPr id="2177" name="Google Shape;2177;p81"/>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8" name="Google Shape;2178;p81"/>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9" name="Google Shape;2179;p81"/>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80" name="Google Shape;2180;p81"/>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181" name="Google Shape;2181;p81"/>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 every case: DHJ or FCF, TC or OTC.</a:t>
            </a:r>
            <a:endParaRPr b="0" i="0" spc="0" sz="950" u="none" cap="none" strike="noStrike">
              <a:solidFill>
                <a:schemeClr val="dk1"/>
              </a:solidFill>
              <a:latin typeface="Calibri"/>
              <a:ea typeface="Calibri"/>
              <a:cs typeface="Calibri"/>
              <a:sym typeface="Calibri"/>
            </a:endParaRPr>
          </a:p>
        </p:txBody>
      </p:sp>
      <p:sp>
        <p:nvSpPr>
          <p:cNvPr id="2182" name="Google Shape;2182;p81"/>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3" name="Google Shape;2183;p81"/>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84" name="Google Shape;2184;p81"/>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85" name="Google Shape;2185;p81"/>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186" name="Google Shape;2186;p81"/>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187" name="Google Shape;2187;p81"/>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88" name="Google Shape;2188;p81"/>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189" name="Google Shape;2189;p81"/>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DHJ refund:  </a:t>
            </a:r>
            <a:r>
              <a:rPr b="0" i="0" lang="en-US" spc="0" sz="1000" u="none" cap="none" strike="noStrike">
                <a:solidFill>
                  <a:srgbClr val="1D1D1F"/>
                </a:solidFill>
                <a:latin typeface="Arial"/>
                <a:ea typeface="Arial"/>
                <a:cs typeface="Arial"/>
                <a:sym typeface="Arial"/>
              </a:rPr>
              <a:t>tell them it's processed and takes 5–10 business days.</a:t>
            </a:r>
            <a:endParaRPr b="0" i="0" spc="0" sz="1000" u="none" cap="none" strike="noStrike">
              <a:solidFill>
                <a:schemeClr val="dk1"/>
              </a:solidFill>
              <a:latin typeface="Calibri"/>
              <a:ea typeface="Calibri"/>
              <a:cs typeface="Calibri"/>
              <a:sym typeface="Calibri"/>
            </a:endParaRPr>
          </a:p>
        </p:txBody>
      </p:sp>
      <p:sp>
        <p:nvSpPr>
          <p:cNvPr id="2190" name="Google Shape;2190;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5" name="Shape 2195"/>
        <p:cNvGrpSpPr/>
        <p:nvPr/>
      </p:nvGrpSpPr>
      <p:grpSpPr>
        <a:xfrm>
          <a:off x="0" y="0"/>
          <a:ext cx="0" cy="0"/>
          <a:chOff x="0" y="0"/>
          <a:chExt cx="0" cy="0"/>
        </a:xfrm>
      </p:grpSpPr>
      <p:sp>
        <p:nvSpPr>
          <p:cNvPr id="2196" name="Google Shape;2196;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97" name="Google Shape;2197;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198" name="Google Shape;2198;p8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199" name="Google Shape;2199;p82"/>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0" name="Google Shape;2200;p82"/>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201" name="Google Shape;2201;p82"/>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202" name="Google Shape;2202;p82"/>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3" name="Google Shape;2203;p82"/>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204" name="Google Shape;2204;p82"/>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205" name="Google Shape;2205;p82"/>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6" name="Google Shape;2206;p82"/>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207" name="Google Shape;2207;p82"/>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208" name="Google Shape;2208;p82"/>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9" name="Google Shape;2209;p82"/>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210" name="Google Shape;2210;p82"/>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211" name="Google Shape;2211;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6" name="Shape 2216"/>
        <p:cNvGrpSpPr/>
        <p:nvPr/>
      </p:nvGrpSpPr>
      <p:grpSpPr>
        <a:xfrm>
          <a:off x="0" y="0"/>
          <a:ext cx="0" cy="0"/>
          <a:chOff x="0" y="0"/>
          <a:chExt cx="0" cy="0"/>
        </a:xfrm>
      </p:grpSpPr>
      <p:sp>
        <p:nvSpPr>
          <p:cNvPr id="2217" name="Google Shape;2217;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18" name="Google Shape;2218;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219" name="Google Shape;2219;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220" name="Google Shape;2220;p83"/>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1" name="Google Shape;2221;p8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222" name="Google Shape;2222;p83"/>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223" name="Google Shape;2223;p83"/>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4" name="Google Shape;2224;p83"/>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225" name="Google Shape;2225;p83"/>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226" name="Google Shape;2226;p83"/>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227" name="Google Shape;2227;p83"/>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8" name="Google Shape;2228;p83"/>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229" name="Google Shape;2229;p83"/>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230" name="Google Shape;2230;p83"/>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1" name="Google Shape;2231;p83"/>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232" name="Google Shape;2232;p83"/>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233" name="Google Shape;2233;p83"/>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4" name="Google Shape;2234;p83"/>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235" name="Google Shape;2235;p8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36" name="Google Shape;2236;p83"/>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237" name="Google Shape;2237;p8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238" name="Google Shape;2238;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3" name="Shape 2243"/>
        <p:cNvGrpSpPr/>
        <p:nvPr/>
      </p:nvGrpSpPr>
      <p:grpSpPr>
        <a:xfrm>
          <a:off x="0" y="0"/>
          <a:ext cx="0" cy="0"/>
          <a:chOff x="0" y="0"/>
          <a:chExt cx="0" cy="0"/>
        </a:xfrm>
      </p:grpSpPr>
      <p:sp>
        <p:nvSpPr>
          <p:cNvPr id="2244" name="Google Shape;2244;p8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245" name="Google Shape;2245;p8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246" name="Google Shape;2246;p8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7" name="Google Shape;2247;p8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8" name="Google Shape;2248;p8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49" name="Google Shape;2249;p8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250" name="Google Shape;2250;p8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1" name="Google Shape;2251;p8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252" name="Google Shape;2252;p8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3" name="Google Shape;2253;p8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4" name="Google Shape;2254;p8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55" name="Google Shape;2255;p8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256" name="Google Shape;2256;p8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7" name="Google Shape;2257;p8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258" name="Google Shape;2258;p8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9" name="Google Shape;2259;p8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0" name="Google Shape;2260;p8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61" name="Google Shape;2261;p8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262" name="Google Shape;2262;p8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3" name="Google Shape;2263;p8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264" name="Google Shape;2264;p8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5" name="Google Shape;2265;p8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6" name="Google Shape;2266;p8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267" name="Google Shape;2267;p8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268" name="Google Shape;2268;p8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9" name="Google Shape;2269;p8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270" name="Google Shape;2270;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51"/>
                                        </p:tgtEl>
                                        <p:attrNameLst>
                                          <p:attrName>style.visibility</p:attrName>
                                        </p:attrNameLst>
                                      </p:cBhvr>
                                      <p:to>
                                        <p:strVal val="visible"/>
                                      </p:to>
                                    </p:set>
                                    <p:animEffect filter="fade" transition="in">
                                      <p:cBhvr>
                                        <p:cTn dur="600"/>
                                        <p:tgtEl>
                                          <p:spTgt spid="225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57"/>
                                        </p:tgtEl>
                                        <p:attrNameLst>
                                          <p:attrName>style.visibility</p:attrName>
                                        </p:attrNameLst>
                                      </p:cBhvr>
                                      <p:to>
                                        <p:strVal val="visible"/>
                                      </p:to>
                                    </p:set>
                                    <p:animEffect filter="fade" transition="in">
                                      <p:cBhvr>
                                        <p:cTn dur="600"/>
                                        <p:tgtEl>
                                          <p:spTgt spid="225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63"/>
                                        </p:tgtEl>
                                        <p:attrNameLst>
                                          <p:attrName>style.visibility</p:attrName>
                                        </p:attrNameLst>
                                      </p:cBhvr>
                                      <p:to>
                                        <p:strVal val="visible"/>
                                      </p:to>
                                    </p:set>
                                    <p:animEffect filter="fade" transition="in">
                                      <p:cBhvr>
                                        <p:cTn dur="600"/>
                                        <p:tgtEl>
                                          <p:spTgt spid="226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69"/>
                                        </p:tgtEl>
                                        <p:attrNameLst>
                                          <p:attrName>style.visibility</p:attrName>
                                        </p:attrNameLst>
                                      </p:cBhvr>
                                      <p:to>
                                        <p:strVal val="visible"/>
                                      </p:to>
                                    </p:set>
                                    <p:animEffect filter="fade" transition="in">
                                      <p:cBhvr>
                                        <p:cTn dur="600"/>
                                        <p:tgtEl>
                                          <p:spTgt spid="226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5" name="Shape 2275"/>
        <p:cNvGrpSpPr/>
        <p:nvPr/>
      </p:nvGrpSpPr>
      <p:grpSpPr>
        <a:xfrm>
          <a:off x="0" y="0"/>
          <a:ext cx="0" cy="0"/>
          <a:chOff x="0" y="0"/>
          <a:chExt cx="0" cy="0"/>
        </a:xfrm>
      </p:grpSpPr>
      <p:sp>
        <p:nvSpPr>
          <p:cNvPr id="2276" name="Google Shape;2276;p8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277" name="Google Shape;2277;p8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278" name="Google Shape;2278;p8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279" name="Google Shape;2279;p8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0" name="Google Shape;2280;p8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81" name="Google Shape;2281;p8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282" name="Google Shape;2282;p8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283" name="Google Shape;2283;p8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284" name="Google Shape;2284;p8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285" name="Google Shape;2285;p8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6" name="Google Shape;2286;p8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7" name="Google Shape;2287;p8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88" name="Google Shape;2288;p8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289" name="Google Shape;2289;p8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290" name="Google Shape;2290;p8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1" name="Google Shape;2291;p8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2" name="Google Shape;2292;p8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93" name="Google Shape;2293;p8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294" name="Google Shape;2294;p8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295" name="Google Shape;2295;p8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6" name="Google Shape;2296;p8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7" name="Google Shape;2297;p8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98" name="Google Shape;2298;p8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299" name="Google Shape;2299;p8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300" name="Google Shape;2300;p8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01" name="Google Shape;2301;p8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302" name="Google Shape;2302;p8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303" name="Google Shape;2303;p8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8" name="Shape 2308"/>
        <p:cNvGrpSpPr/>
        <p:nvPr/>
      </p:nvGrpSpPr>
      <p:grpSpPr>
        <a:xfrm>
          <a:off x="0" y="0"/>
          <a:ext cx="0" cy="0"/>
          <a:chOff x="0" y="0"/>
          <a:chExt cx="0" cy="0"/>
        </a:xfrm>
      </p:grpSpPr>
      <p:sp>
        <p:nvSpPr>
          <p:cNvPr id="2309" name="Google Shape;2309;p86"/>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310" name="Google Shape;2310;p8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311" name="Google Shape;2311;p86"/>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312" name="Google Shape;2312;p8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3" name="Google Shape;2313;p8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314" name="Google Shape;2314;p8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315" name="Google Shape;2315;p8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6" name="Google Shape;2316;p8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7" name="Google Shape;2317;p8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8" name="Google Shape;2318;p8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9" name="Google Shape;2319;p8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0" name="Google Shape;2320;p8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1" name="Google Shape;2321;p8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