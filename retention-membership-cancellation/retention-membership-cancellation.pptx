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Lst>
  <p:sldSz cy="5143500" cx="9144000"/>
  <p:notesSz cx="5143500" cy="9144000"/>
  <p:embeddedFontLst>
    <p:embeddedFont>
      <p:font typeface="Play"/>
      <p:regular r:id="rId86"/>
      <p:bold r:id="rId8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A3C36C2-DF10-40EA-8E4B-E3075D344CA5}">
  <a:tblStyle styleId="{5A3C36C2-DF10-40EA-8E4B-E3075D344CA5}"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font" Target="fonts/Play-regular.fntdata"/><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43" Type="http://schemas.openxmlformats.org/officeDocument/2006/relationships/slide" Target="slides/slide38.xml"/><Relationship Id="rId87" Type="http://schemas.openxmlformats.org/officeDocument/2006/relationships/font" Target="fonts/Play-bold.fntdata"/><Relationship Id="rId46" Type="http://schemas.openxmlformats.org/officeDocument/2006/relationships/slide" Target="slides/slide41.xml"/><Relationship Id="rId45" Type="http://schemas.openxmlformats.org/officeDocument/2006/relationships/slide" Target="slides/slide40.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 name="Google Shape;582;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a:t>
            </a:r>
            <a:endParaRPr/>
          </a:p>
        </p:txBody>
      </p:sp>
      <p:sp>
        <p:nvSpPr>
          <p:cNvPr id="583" name="Google Shape;583;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7" name="Google Shape;59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598" name="Google Shape;59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25" name="Google Shape;62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657" name="Google Shape;657;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690" name="Google Shape;690;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21" name="Google Shape;721;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745" name="Google Shape;745;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6" name="Shape 776"/>
        <p:cNvGrpSpPr/>
        <p:nvPr/>
      </p:nvGrpSpPr>
      <p:grpSpPr>
        <a:xfrm>
          <a:off x="0" y="0"/>
          <a:ext cx="0" cy="0"/>
          <a:chOff x="0" y="0"/>
          <a:chExt cx="0" cy="0"/>
        </a:xfrm>
      </p:grpSpPr>
      <p:sp>
        <p:nvSpPr>
          <p:cNvPr id="777" name="Google Shape;777;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8" name="Google Shape;778;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779" name="Google Shape;779;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29" name="Google Shape;829;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6" name="Shape 856"/>
        <p:cNvGrpSpPr/>
        <p:nvPr/>
      </p:nvGrpSpPr>
      <p:grpSpPr>
        <a:xfrm>
          <a:off x="0" y="0"/>
          <a:ext cx="0" cy="0"/>
          <a:chOff x="0" y="0"/>
          <a:chExt cx="0" cy="0"/>
        </a:xfrm>
      </p:grpSpPr>
      <p:sp>
        <p:nvSpPr>
          <p:cNvPr id="857" name="Google Shape;85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8" name="Google Shape;85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859" name="Google Shape;85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0" name="Google Shape;890;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891" name="Google Shape;891;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1" name="Shape 921"/>
        <p:cNvGrpSpPr/>
        <p:nvPr/>
      </p:nvGrpSpPr>
      <p:grpSpPr>
        <a:xfrm>
          <a:off x="0" y="0"/>
          <a:ext cx="0" cy="0"/>
          <a:chOff x="0" y="0"/>
          <a:chExt cx="0" cy="0"/>
        </a:xfrm>
      </p:grpSpPr>
      <p:sp>
        <p:nvSpPr>
          <p:cNvPr id="922" name="Google Shape;92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3" name="Google Shape;92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24" name="Google Shape;92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2" name="Shape 952"/>
        <p:cNvGrpSpPr/>
        <p:nvPr/>
      </p:nvGrpSpPr>
      <p:grpSpPr>
        <a:xfrm>
          <a:off x="0" y="0"/>
          <a:ext cx="0" cy="0"/>
          <a:chOff x="0" y="0"/>
          <a:chExt cx="0" cy="0"/>
        </a:xfrm>
      </p:grpSpPr>
      <p:sp>
        <p:nvSpPr>
          <p:cNvPr id="953" name="Google Shape;953;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4" name="Google Shape;954;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955" name="Google Shape;955;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973" name="Google Shape;973;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986" name="Google Shape;986;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1" name="Shape 1001"/>
        <p:cNvGrpSpPr/>
        <p:nvPr/>
      </p:nvGrpSpPr>
      <p:grpSpPr>
        <a:xfrm>
          <a:off x="0" y="0"/>
          <a:ext cx="0" cy="0"/>
          <a:chOff x="0" y="0"/>
          <a:chExt cx="0" cy="0"/>
        </a:xfrm>
      </p:grpSpPr>
      <p:sp>
        <p:nvSpPr>
          <p:cNvPr id="1002" name="Google Shape;1002;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3" name="Google Shape;1003;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04" name="Google Shape;1004;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Offering something small, the customer declines, offering more, repeat: this creates a transactional, pushy experience that reduces trust. It also teaches customers that declining gets them a better offer, which isn't fair to customers who accept the first reasonable one. The fix isn't "never increase an offer"; any stronger offer must be tied to the customer's specific reason for wanting to cancel, not offered just because they said no to the last one. Also: an offer that doesn't address the customer's actual concern is unlikely to retain them and can cheapen the perceived value of the membership.</a:t>
            </a:r>
            <a:endParaRPr/>
          </a:p>
        </p:txBody>
      </p:sp>
      <p:sp>
        <p:nvSpPr>
          <p:cNvPr id="1037" name="Google Shape;1037;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075" name="Google Shape;1075;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096" name="Google Shape;1096;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0" name="Shape 1120"/>
        <p:cNvGrpSpPr/>
        <p:nvPr/>
      </p:nvGrpSpPr>
      <p:grpSpPr>
        <a:xfrm>
          <a:off x="0" y="0"/>
          <a:ext cx="0" cy="0"/>
          <a:chOff x="0" y="0"/>
          <a:chExt cx="0" cy="0"/>
        </a:xfrm>
      </p:grpSpPr>
      <p:sp>
        <p:nvSpPr>
          <p:cNvPr id="1121" name="Google Shape;1121;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2" name="Google Shape;1122;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23" name="Google Shape;1123;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7" name="Shape 1157"/>
        <p:cNvGrpSpPr/>
        <p:nvPr/>
      </p:nvGrpSpPr>
      <p:grpSpPr>
        <a:xfrm>
          <a:off x="0" y="0"/>
          <a:ext cx="0" cy="0"/>
          <a:chOff x="0" y="0"/>
          <a:chExt cx="0" cy="0"/>
        </a:xfrm>
      </p:grpSpPr>
      <p:sp>
        <p:nvSpPr>
          <p:cNvPr id="1158" name="Google Shape;1158;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9" name="Google Shape;1159;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60" name="Google Shape;1160;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5" name="Shape 1195"/>
        <p:cNvGrpSpPr/>
        <p:nvPr/>
      </p:nvGrpSpPr>
      <p:grpSpPr>
        <a:xfrm>
          <a:off x="0" y="0"/>
          <a:ext cx="0" cy="0"/>
          <a:chOff x="0" y="0"/>
          <a:chExt cx="0" cy="0"/>
        </a:xfrm>
      </p:grpSpPr>
      <p:sp>
        <p:nvSpPr>
          <p:cNvPr id="1196" name="Google Shape;119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7" name="Google Shape;119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198" name="Google Shape;119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28" name="Google Shape;1228;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61" name="Google Shape;1261;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0" name="Shape 1280"/>
        <p:cNvGrpSpPr/>
        <p:nvPr/>
      </p:nvGrpSpPr>
      <p:grpSpPr>
        <a:xfrm>
          <a:off x="0" y="0"/>
          <a:ext cx="0" cy="0"/>
          <a:chOff x="0" y="0"/>
          <a:chExt cx="0" cy="0"/>
        </a:xfrm>
      </p:grpSpPr>
      <p:sp>
        <p:nvSpPr>
          <p:cNvPr id="1281" name="Google Shape;128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2" name="Google Shape;128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a customer already mentioned their cancellation reason to someone else (told the CP, not you), still probe. This isn't ignoring information you have; it gives the customer the chance to express it directly to you. Customers given the opportunity to explain their own situation are more likely to be retained. Weak (assumption-based): "I'm sorry to hear you want to cancel, do you mind sharing why?" Strong (customer-led): "Your cleaner mentioned you want to cancel the service, but I'd like to hear directly from you. Would you mind sharing what led you to consider canceling?"</a:t>
            </a:r>
            <a:endParaRPr/>
          </a:p>
        </p:txBody>
      </p:sp>
      <p:sp>
        <p:nvSpPr>
          <p:cNvPr id="1283" name="Google Shape;128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0" name="Shape 1300"/>
        <p:cNvGrpSpPr/>
        <p:nvPr/>
      </p:nvGrpSpPr>
      <p:grpSpPr>
        <a:xfrm>
          <a:off x="0" y="0"/>
          <a:ext cx="0" cy="0"/>
          <a:chOff x="0" y="0"/>
          <a:chExt cx="0" cy="0"/>
        </a:xfrm>
      </p:grpSpPr>
      <p:sp>
        <p:nvSpPr>
          <p:cNvPr id="1301" name="Google Shape;1301;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2" name="Google Shape;1302;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03" name="Google Shape;1303;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0" name="Google Shape;1330;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31" name="Google Shape;1331;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8" name="Google Shape;1358;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59" name="Google Shape;1359;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391" name="Google Shape;1391;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1" name="Shape 1421"/>
        <p:cNvGrpSpPr/>
        <p:nvPr/>
      </p:nvGrpSpPr>
      <p:grpSpPr>
        <a:xfrm>
          <a:off x="0" y="0"/>
          <a:ext cx="0" cy="0"/>
          <a:chOff x="0" y="0"/>
          <a:chExt cx="0" cy="0"/>
        </a:xfrm>
      </p:grpSpPr>
      <p:sp>
        <p:nvSpPr>
          <p:cNvPr id="1422" name="Google Shape;1422;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3" name="Google Shape;1423;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24" name="Google Shape;1424;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2" name="Shape 1452"/>
        <p:cNvGrpSpPr/>
        <p:nvPr/>
      </p:nvGrpSpPr>
      <p:grpSpPr>
        <a:xfrm>
          <a:off x="0" y="0"/>
          <a:ext cx="0" cy="0"/>
          <a:chOff x="0" y="0"/>
          <a:chExt cx="0" cy="0"/>
        </a:xfrm>
      </p:grpSpPr>
      <p:sp>
        <p:nvSpPr>
          <p:cNvPr id="1453" name="Google Shape;1453;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4" name="Google Shape;1454;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55" name="Google Shape;1455;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1" name="Shape 1481"/>
        <p:cNvGrpSpPr/>
        <p:nvPr/>
      </p:nvGrpSpPr>
      <p:grpSpPr>
        <a:xfrm>
          <a:off x="0" y="0"/>
          <a:ext cx="0" cy="0"/>
          <a:chOff x="0" y="0"/>
          <a:chExt cx="0" cy="0"/>
        </a:xfrm>
      </p:grpSpPr>
      <p:sp>
        <p:nvSpPr>
          <p:cNvPr id="1482" name="Google Shape;148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3" name="Google Shape;1483;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84" name="Google Shape;1484;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8" name="Shape 1518"/>
        <p:cNvGrpSpPr/>
        <p:nvPr/>
      </p:nvGrpSpPr>
      <p:grpSpPr>
        <a:xfrm>
          <a:off x="0" y="0"/>
          <a:ext cx="0" cy="0"/>
          <a:chOff x="0" y="0"/>
          <a:chExt cx="0" cy="0"/>
        </a:xfrm>
      </p:grpSpPr>
      <p:sp>
        <p:nvSpPr>
          <p:cNvPr id="1519" name="Google Shape;1519;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0" name="Google Shape;1520;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a:t>
            </a:r>
            <a:endParaRPr/>
          </a:p>
        </p:txBody>
      </p:sp>
      <p:sp>
        <p:nvSpPr>
          <p:cNvPr id="1521" name="Google Shape;1521;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8" name="Shape 1548"/>
        <p:cNvGrpSpPr/>
        <p:nvPr/>
      </p:nvGrpSpPr>
      <p:grpSpPr>
        <a:xfrm>
          <a:off x="0" y="0"/>
          <a:ext cx="0" cy="0"/>
          <a:chOff x="0" y="0"/>
          <a:chExt cx="0" cy="0"/>
        </a:xfrm>
      </p:grpSpPr>
      <p:sp>
        <p:nvSpPr>
          <p:cNvPr id="1549" name="Google Shape;1549;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0" name="Google Shape;1550;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Check if the customer already gave a reason. If they did, go to the Retention Strategy Table for the applicable offer. If not, probe first; don't skip straight to offers. Then: acknowledge as necessary. Address the actual issue: a service issue means blocking the C/CP pairing and coaching or penalizing the CP as needed; a membership-terms issue means checking the Retention Strategy Table. Present retention offers where applicable. Remind them the voucher is valid for a year, so they can use it later. Remind them the voucher comes with a membership. If they have refund intent specifically, provide the self-refund link, and only then: tell them to enter the voucher code before clicking "Refund Voucher", and double-check the code in your message, since a wrong code breaks the refund. Check upcoming appointments and an active RC plan; if there's no sign they want to keep them, cancel via CRM with the correct cancellation reason code. If they decline and insist on a refund: refund the voucher through CRM (CRM &gt; voucher &gt; refund DHJ/FC) and invalidate it right away, advise the 5–10 business day timeframe, and deactivate the FC table if there is one.</a:t>
            </a:r>
            <a:endParaRPr/>
          </a:p>
        </p:txBody>
      </p:sp>
      <p:sp>
        <p:nvSpPr>
          <p:cNvPr id="1551" name="Google Shape;1551;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Strategy Table. Service: service-related issues (CP no-show, CP cancellation, no CP claim): offer $10–$20 credits. Service limitations or personal reasons (found a different cleaner, wants same-day cleaning, moved, lack of phone support, will self-clean): no offers necessary. Membership-related: MF is expensive, offer to reduce the MF by $10–$15 off the original MF; MCT is too long, offer to reduce the MCT by 2 months from the original MCT; doesn't want a membership in general, no offers necessary, advise them to contact us if they want more flexible terms, and a one-time cleaning (full price, charged upfront) can be offered as applicable. One-time cleaning: offer at full price, charged upfront. Trial Cleaning: offer at regular price, charged upfront. Macros: Unused DHJ Voucher: Refund Request; Wants to "Try it Out" (Trial Cleaning); Wants One Time Cleaning.</a:t>
            </a:r>
            <a:endParaRPr/>
          </a:p>
        </p:txBody>
      </p:sp>
      <p:sp>
        <p:nvSpPr>
          <p:cNvPr id="1594" name="Google Shape;1594;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04" name="Google Shape;1604;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a:t>
            </a:r>
            <a:endParaRPr/>
          </a:p>
        </p:txBody>
      </p:sp>
      <p:sp>
        <p:nvSpPr>
          <p:cNvPr id="1635" name="Google Shape;1635;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9" name="Shape 1659"/>
        <p:cNvGrpSpPr/>
        <p:nvPr/>
      </p:nvGrpSpPr>
      <p:grpSpPr>
        <a:xfrm>
          <a:off x="0" y="0"/>
          <a:ext cx="0" cy="0"/>
          <a:chOff x="0" y="0"/>
          <a:chExt cx="0" cy="0"/>
        </a:xfrm>
      </p:grpSpPr>
      <p:sp>
        <p:nvSpPr>
          <p:cNvPr id="1660" name="Google Shape;1660;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1" name="Google Shape;1661;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662" name="Google Shape;1662;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1" name="Shape 1691"/>
        <p:cNvGrpSpPr/>
        <p:nvPr/>
      </p:nvGrpSpPr>
      <p:grpSpPr>
        <a:xfrm>
          <a:off x="0" y="0"/>
          <a:ext cx="0" cy="0"/>
          <a:chOff x="0" y="0"/>
          <a:chExt cx="0" cy="0"/>
        </a:xfrm>
      </p:grpSpPr>
      <p:sp>
        <p:nvSpPr>
          <p:cNvPr id="1692" name="Google Shape;1692;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3" name="Google Shape;1693;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694" name="Google Shape;1694;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4" name="Shape 1724"/>
        <p:cNvGrpSpPr/>
        <p:nvPr/>
      </p:nvGrpSpPr>
      <p:grpSpPr>
        <a:xfrm>
          <a:off x="0" y="0"/>
          <a:ext cx="0" cy="0"/>
          <a:chOff x="0" y="0"/>
          <a:chExt cx="0" cy="0"/>
        </a:xfrm>
      </p:grpSpPr>
      <p:sp>
        <p:nvSpPr>
          <p:cNvPr id="1725" name="Google Shape;1725;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6" name="Google Shape;1726;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27" name="Google Shape;1727;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758" name="Google Shape;1758;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779" name="Google Shape;1779;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7" name="Shape 1807"/>
        <p:cNvGrpSpPr/>
        <p:nvPr/>
      </p:nvGrpSpPr>
      <p:grpSpPr>
        <a:xfrm>
          <a:off x="0" y="0"/>
          <a:ext cx="0" cy="0"/>
          <a:chOff x="0" y="0"/>
          <a:chExt cx="0" cy="0"/>
        </a:xfrm>
      </p:grpSpPr>
      <p:sp>
        <p:nvSpPr>
          <p:cNvPr id="1808" name="Google Shape;1808;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9" name="Google Shape;1809;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810" name="Google Shape;1810;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826" name="Google Shape;1826;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845" name="Google Shape;1845;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876" name="Google Shape;187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5" name="Shape 1905"/>
        <p:cNvGrpSpPr/>
        <p:nvPr/>
      </p:nvGrpSpPr>
      <p:grpSpPr>
        <a:xfrm>
          <a:off x="0" y="0"/>
          <a:ext cx="0" cy="0"/>
          <a:chOff x="0" y="0"/>
          <a:chExt cx="0" cy="0"/>
        </a:xfrm>
      </p:grpSpPr>
      <p:sp>
        <p:nvSpPr>
          <p:cNvPr id="1906" name="Google Shape;1906;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7" name="Google Shape;1907;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908" name="Google Shape;1908;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7" name="Shape 1937"/>
        <p:cNvGrpSpPr/>
        <p:nvPr/>
      </p:nvGrpSpPr>
      <p:grpSpPr>
        <a:xfrm>
          <a:off x="0" y="0"/>
          <a:ext cx="0" cy="0"/>
          <a:chOff x="0" y="0"/>
          <a:chExt cx="0" cy="0"/>
        </a:xfrm>
      </p:grpSpPr>
      <p:sp>
        <p:nvSpPr>
          <p:cNvPr id="1938" name="Google Shape;1938;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9" name="Google Shape;1939;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1940" name="Google Shape;1940;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0" name="Shape 1970"/>
        <p:cNvGrpSpPr/>
        <p:nvPr/>
      </p:nvGrpSpPr>
      <p:grpSpPr>
        <a:xfrm>
          <a:off x="0" y="0"/>
          <a:ext cx="0" cy="0"/>
          <a:chOff x="0" y="0"/>
          <a:chExt cx="0" cy="0"/>
        </a:xfrm>
      </p:grpSpPr>
      <p:sp>
        <p:nvSpPr>
          <p:cNvPr id="1971" name="Google Shape;1971;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2" name="Google Shape;1972;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1973" name="Google Shape;1973;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1" name="Shape 2001"/>
        <p:cNvGrpSpPr/>
        <p:nvPr/>
      </p:nvGrpSpPr>
      <p:grpSpPr>
        <a:xfrm>
          <a:off x="0" y="0"/>
          <a:ext cx="0" cy="0"/>
          <a:chOff x="0" y="0"/>
          <a:chExt cx="0" cy="0"/>
        </a:xfrm>
      </p:grpSpPr>
      <p:sp>
        <p:nvSpPr>
          <p:cNvPr id="2002" name="Google Shape;2002;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3" name="Google Shape;2003;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004" name="Google Shape;2004;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9" name="Shape 2019"/>
        <p:cNvGrpSpPr/>
        <p:nvPr/>
      </p:nvGrpSpPr>
      <p:grpSpPr>
        <a:xfrm>
          <a:off x="0" y="0"/>
          <a:ext cx="0" cy="0"/>
          <a:chOff x="0" y="0"/>
          <a:chExt cx="0" cy="0"/>
        </a:xfrm>
      </p:grpSpPr>
      <p:sp>
        <p:nvSpPr>
          <p:cNvPr id="2020" name="Google Shape;2020;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1" name="Google Shape;2021;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022" name="Google Shape;2022;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1" name="Shape 2041"/>
        <p:cNvGrpSpPr/>
        <p:nvPr/>
      </p:nvGrpSpPr>
      <p:grpSpPr>
        <a:xfrm>
          <a:off x="0" y="0"/>
          <a:ext cx="0" cy="0"/>
          <a:chOff x="0" y="0"/>
          <a:chExt cx="0" cy="0"/>
        </a:xfrm>
      </p:grpSpPr>
      <p:sp>
        <p:nvSpPr>
          <p:cNvPr id="2042" name="Google Shape;2042;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3" name="Google Shape;2043;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044" name="Google Shape;2044;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2" name="Shape 2062"/>
        <p:cNvGrpSpPr/>
        <p:nvPr/>
      </p:nvGrpSpPr>
      <p:grpSpPr>
        <a:xfrm>
          <a:off x="0" y="0"/>
          <a:ext cx="0" cy="0"/>
          <a:chOff x="0" y="0"/>
          <a:chExt cx="0" cy="0"/>
        </a:xfrm>
      </p:grpSpPr>
      <p:sp>
        <p:nvSpPr>
          <p:cNvPr id="2063" name="Google Shape;2063;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4" name="Google Shape;2064;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065" name="Google Shape;2065;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9" name="Shape 2099"/>
        <p:cNvGrpSpPr/>
        <p:nvPr/>
      </p:nvGrpSpPr>
      <p:grpSpPr>
        <a:xfrm>
          <a:off x="0" y="0"/>
          <a:ext cx="0" cy="0"/>
          <a:chOff x="0" y="0"/>
          <a:chExt cx="0" cy="0"/>
        </a:xfrm>
      </p:grpSpPr>
      <p:sp>
        <p:nvSpPr>
          <p:cNvPr id="2100" name="Google Shape;210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1" name="Google Shape;2101;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102" name="Google Shape;2102;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6" name="Shape 2126"/>
        <p:cNvGrpSpPr/>
        <p:nvPr/>
      </p:nvGrpSpPr>
      <p:grpSpPr>
        <a:xfrm>
          <a:off x="0" y="0"/>
          <a:ext cx="0" cy="0"/>
          <a:chOff x="0" y="0"/>
          <a:chExt cx="0" cy="0"/>
        </a:xfrm>
      </p:grpSpPr>
      <p:sp>
        <p:nvSpPr>
          <p:cNvPr id="2127" name="Google Shape;2127;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8" name="Google Shape;2128;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129" name="Google Shape;2129;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7" name="Shape 2147"/>
        <p:cNvGrpSpPr/>
        <p:nvPr/>
      </p:nvGrpSpPr>
      <p:grpSpPr>
        <a:xfrm>
          <a:off x="0" y="0"/>
          <a:ext cx="0" cy="0"/>
          <a:chOff x="0" y="0"/>
          <a:chExt cx="0" cy="0"/>
        </a:xfrm>
      </p:grpSpPr>
      <p:sp>
        <p:nvSpPr>
          <p:cNvPr id="2148" name="Google Shape;2148;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9" name="Google Shape;2149;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150" name="Google Shape;2150;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4" name="Shape 2174"/>
        <p:cNvGrpSpPr/>
        <p:nvPr/>
      </p:nvGrpSpPr>
      <p:grpSpPr>
        <a:xfrm>
          <a:off x="0" y="0"/>
          <a:ext cx="0" cy="0"/>
          <a:chOff x="0" y="0"/>
          <a:chExt cx="0" cy="0"/>
        </a:xfrm>
      </p:grpSpPr>
      <p:sp>
        <p:nvSpPr>
          <p:cNvPr id="2175" name="Google Shape;2175;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6" name="Google Shape;2176;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177" name="Google Shape;2177;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6" name="Shape 2206"/>
        <p:cNvGrpSpPr/>
        <p:nvPr/>
      </p:nvGrpSpPr>
      <p:grpSpPr>
        <a:xfrm>
          <a:off x="0" y="0"/>
          <a:ext cx="0" cy="0"/>
          <a:chOff x="0" y="0"/>
          <a:chExt cx="0" cy="0"/>
        </a:xfrm>
      </p:grpSpPr>
      <p:sp>
        <p:nvSpPr>
          <p:cNvPr id="2207" name="Google Shape;2207;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8" name="Google Shape;2208;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209" name="Google Shape;2209;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9" name="Shape 2239"/>
        <p:cNvGrpSpPr/>
        <p:nvPr/>
      </p:nvGrpSpPr>
      <p:grpSpPr>
        <a:xfrm>
          <a:off x="0" y="0"/>
          <a:ext cx="0" cy="0"/>
          <a:chOff x="0" y="0"/>
          <a:chExt cx="0" cy="0"/>
        </a:xfrm>
      </p:grpSpPr>
      <p:sp>
        <p:nvSpPr>
          <p:cNvPr id="2240" name="Google Shape;2240;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1" name="Google Shape;2241;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242" name="Google Shape;2242;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1.xml"/><Relationship Id="rId11" Type="http://schemas.openxmlformats.org/officeDocument/2006/relationships/slide" Target="/ppt/slides/slide26.xml"/><Relationship Id="rId22" Type="http://schemas.openxmlformats.org/officeDocument/2006/relationships/slide" Target="/ppt/slides/slide70.xml"/><Relationship Id="rId10" Type="http://schemas.openxmlformats.org/officeDocument/2006/relationships/slide" Target="/ppt/slides/slide26.xml"/><Relationship Id="rId21" Type="http://schemas.openxmlformats.org/officeDocument/2006/relationships/slide" Target="/ppt/slides/slide70.xml"/><Relationship Id="rId13" Type="http://schemas.openxmlformats.org/officeDocument/2006/relationships/slide" Target="/ppt/slides/slide33.xml"/><Relationship Id="rId12" Type="http://schemas.openxmlformats.org/officeDocument/2006/relationships/slide" Target="/ppt/slides/slide33.xml"/><Relationship Id="rId23" Type="http://schemas.openxmlformats.org/officeDocument/2006/relationships/slide" Target="/ppt/slides/slide70.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6.xml"/><Relationship Id="rId15" Type="http://schemas.openxmlformats.org/officeDocument/2006/relationships/slide" Target="/ppt/slides/slide51.xml"/><Relationship Id="rId14" Type="http://schemas.openxmlformats.org/officeDocument/2006/relationships/slide" Target="/ppt/slides/slide33.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1.xml"/><Relationship Id="rId6" Type="http://schemas.openxmlformats.org/officeDocument/2006/relationships/slide" Target="/ppt/slides/slide12.xml"/><Relationship Id="rId18" Type="http://schemas.openxmlformats.org/officeDocument/2006/relationships/slide" Target="/ppt/slides/slide61.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4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3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48.png"/><Relationship Id="rId7"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hyperlink" Target="https://drive.google.com/file/d/1rKOi9--Q23bl4Ybf7m7bFXzy4p9xjSHc/view?usp=drive_link" TargetMode="External"/><Relationship Id="rId7" Type="http://schemas.openxmlformats.org/officeDocument/2006/relationships/hyperlink" Target="https://drive.google.com/file/d/14NVsd3tL6L5rAQEvbCbj0QSR-7-rZN7D/view?usp=drive_link"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1.png"/><Relationship Id="rId4" Type="http://schemas.openxmlformats.org/officeDocument/2006/relationships/image" Target="../media/image44.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22.png"/><Relationship Id="rId5" Type="http://schemas.openxmlformats.org/officeDocument/2006/relationships/image" Target="../media/image42.png"/><Relationship Id="rId6" Type="http://schemas.openxmlformats.org/officeDocument/2006/relationships/image" Target="../media/image33.png"/><Relationship Id="rId7" Type="http://schemas.openxmlformats.org/officeDocument/2006/relationships/image" Target="../media/image4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7.png"/><Relationship Id="rId4" Type="http://schemas.openxmlformats.org/officeDocument/2006/relationships/image" Target="../media/image35.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36.png"/><Relationship Id="rId8"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34.png"/><Relationship Id="rId6"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0.png"/><Relationship Id="rId4"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png"/><Relationship Id="rId4"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4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5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5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4.png"/><Relationship Id="rId4" Type="http://schemas.openxmlformats.org/officeDocument/2006/relationships/image" Target="../media/image44.png"/><Relationship Id="rId5" Type="http://schemas.openxmlformats.org/officeDocument/2006/relationships/image" Target="../media/image52.png"/><Relationship Id="rId6" Type="http://schemas.openxmlformats.org/officeDocument/2006/relationships/image" Target="../media/image5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9.png"/><Relationship Id="rId4" Type="http://schemas.openxmlformats.org/officeDocument/2006/relationships/image" Target="../media/image56.png"/><Relationship Id="rId5" Type="http://schemas.openxmlformats.org/officeDocument/2006/relationships/image" Target="../media/image4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55.png"/><Relationship Id="rId4" Type="http://schemas.openxmlformats.org/officeDocument/2006/relationships/image" Target="../media/image58.png"/><Relationship Id="rId5" Type="http://schemas.openxmlformats.org/officeDocument/2006/relationships/image" Target="../media/image57.png"/><Relationship Id="rId6" Type="http://schemas.openxmlformats.org/officeDocument/2006/relationships/image" Target="../media/image6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62.png"/><Relationship Id="rId4" Type="http://schemas.openxmlformats.org/officeDocument/2006/relationships/image" Target="../media/image11.png"/><Relationship Id="rId5"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61.png"/><Relationship Id="rId4" Type="http://schemas.openxmlformats.org/officeDocument/2006/relationships/image" Target="../media/image13.png"/><Relationship Id="rId5" Type="http://schemas.openxmlformats.org/officeDocument/2006/relationships/image" Target="../media/image66.png"/><Relationship Id="rId6" Type="http://schemas.openxmlformats.org/officeDocument/2006/relationships/image" Target="../media/image6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4.png"/><Relationship Id="rId4" Type="http://schemas.openxmlformats.org/officeDocument/2006/relationships/image" Target="../media/image7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70.png"/><Relationship Id="rId4" Type="http://schemas.openxmlformats.org/officeDocument/2006/relationships/image" Target="../media/image69.png"/><Relationship Id="rId5" Type="http://schemas.openxmlformats.org/officeDocument/2006/relationships/image" Target="../media/image13.png"/><Relationship Id="rId6" Type="http://schemas.openxmlformats.org/officeDocument/2006/relationships/image" Target="../media/image67.png"/><Relationship Id="rId7" Type="http://schemas.openxmlformats.org/officeDocument/2006/relationships/image" Target="../media/image5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0.png"/><Relationship Id="rId4" Type="http://schemas.openxmlformats.org/officeDocument/2006/relationships/image" Target="../media/image1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3.png"/><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5.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9.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2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3.png"/><Relationship Id="rId4" Type="http://schemas.openxmlformats.org/officeDocument/2006/relationships/image" Target="../media/image73.png"/><Relationship Id="rId5" Type="http://schemas.openxmlformats.org/officeDocument/2006/relationships/image" Target="../media/image43.png"/><Relationship Id="rId6" Type="http://schemas.openxmlformats.org/officeDocument/2006/relationships/image" Target="../media/image7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85.png"/><Relationship Id="rId4" Type="http://schemas.openxmlformats.org/officeDocument/2006/relationships/image" Target="../media/image18.png"/><Relationship Id="rId5" Type="http://schemas.openxmlformats.org/officeDocument/2006/relationships/image" Target="../media/image9.png"/><Relationship Id="rId6" Type="http://schemas.openxmlformats.org/officeDocument/2006/relationships/image" Target="../media/image8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1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7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5.png"/><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77.png"/><Relationship Id="rId4" Type="http://schemas.openxmlformats.org/officeDocument/2006/relationships/image" Target="../media/image55.png"/><Relationship Id="rId5" Type="http://schemas.openxmlformats.org/officeDocument/2006/relationships/image" Target="../media/image25.png"/><Relationship Id="rId6" Type="http://schemas.openxmlformats.org/officeDocument/2006/relationships/image" Target="../media/image13.png"/><Relationship Id="rId7" Type="http://schemas.openxmlformats.org/officeDocument/2006/relationships/image" Target="../media/image79.png"/><Relationship Id="rId8" Type="http://schemas.openxmlformats.org/officeDocument/2006/relationships/image" Target="../media/image3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68.png"/><Relationship Id="rId4" Type="http://schemas.openxmlformats.org/officeDocument/2006/relationships/image" Target="../media/image7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25.png"/><Relationship Id="rId4" Type="http://schemas.openxmlformats.org/officeDocument/2006/relationships/image" Target="../media/image18.png"/><Relationship Id="rId5" Type="http://schemas.openxmlformats.org/officeDocument/2006/relationships/image" Target="../media/image83.png"/><Relationship Id="rId6" Type="http://schemas.openxmlformats.org/officeDocument/2006/relationships/image" Target="../media/image56.png"/><Relationship Id="rId7" Type="http://schemas.openxmlformats.org/officeDocument/2006/relationships/image" Target="../media/image80.png"/><Relationship Id="rId8"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8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10.png"/><Relationship Id="rId4" Type="http://schemas.openxmlformats.org/officeDocument/2006/relationships/image" Target="../media/image1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3.pn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8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8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74.png"/><Relationship Id="rId4" Type="http://schemas.openxmlformats.org/officeDocument/2006/relationships/image" Target="../media/image85.png"/><Relationship Id="rId5" Type="http://schemas.openxmlformats.org/officeDocument/2006/relationships/image" Target="../media/image87.png"/><Relationship Id="rId6" Type="http://schemas.openxmlformats.org/officeDocument/2006/relationships/image" Target="../media/image4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8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8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10.png"/><Relationship Id="rId4" Type="http://schemas.openxmlformats.org/officeDocument/2006/relationships/image" Target="../media/image1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{5A3C36C2-DF10-40EA-8E4B-E3075D344CA5}</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a:hlinkClick r:id="rId6"/>
          </p:cNvPr>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Watch: Issuing credits</a:t>
            </a:r>
            <a:endParaRPr/>
          </a:p>
        </p:txBody>
      </p:sp>
      <p:sp>
        <p:nvSpPr>
          <p:cNvPr id="460" name="Google Shape;460;p20">
            <a:hlinkClick r:id="rId7"/>
          </p:cNvPr>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Watch: Issuing a voucher</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a:t>
            </a:r>
            <a:endParaRPr b="0" i="0" spc="0" sz="950" u="none" cap="none" strike="noStrike">
              <a:solidFill>
                <a:schemeClr val="dk1"/>
              </a:solidFill>
              <a:latin typeface="Calibri"/>
              <a:ea typeface="Calibri"/>
              <a:cs typeface="Calibri"/>
              <a:sym typeface="Calibri"/>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a:t>
            </a:r>
            <a:endParaRPr b="0" i="0" spc="0" sz="950" u="none" cap="none" strike="noStrike">
              <a:solidFill>
                <a:schemeClr val="dk1"/>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chemeClr val="dk1"/>
              </a:solidFill>
              <a:latin typeface="Calibri"/>
              <a:ea typeface="Calibri"/>
              <a:cs typeface="Calibri"/>
              <a:sym typeface="Calibri"/>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{5A3C36C2-DF10-40EA-8E4B-E3075D344CA5}</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block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chemeClr val="dk1"/>
              </a:solidFill>
              <a:latin typeface="Calibri"/>
              <a:ea typeface="Calibri"/>
              <a:cs typeface="Calibri"/>
              <a:sym typeface="Calibri"/>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{5A3C36C2-DF10-40EA-8E4B-E3075D344CA5}</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in ~5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Any one missing?  </a:t>
            </a:r>
            <a:r>
              <a:rPr b="0" i="0" lang="en-US" spc="0" sz="1000" u="none" cap="none" strike="noStrike">
                <a:solidFill>
                  <a:srgbClr val="1D1D1F"/>
                </a:solidFill>
                <a:latin typeface="Arial"/>
                <a:ea typeface="Arial"/>
                <a:cs typeface="Arial"/>
                <a:sym typeface="Arial"/>
              </a:rPr>
              <a:t>Support approval first. It could be abuse, not a real need for a pause.</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64" name="Google Shape;564;p25"/>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5" name="Google Shape;565;p25"/>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66" name="Google Shape;566;p25"/>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68" name="Google Shape;568;p25"/>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69" name="Google Shape;569;p25"/>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70" name="Google Shape;570;p25"/>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71" name="Google Shape;571;p25"/>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73" name="Google Shape;573;p25"/>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574" name="Google Shape;574;p25"/>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575" name="Google Shape;575;p25"/>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576" name="Google Shape;576;p25"/>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77" name="Google Shape;577;p25"/>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578" name="Google Shape;578;p25"/>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579" name="Google Shape;579;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4" name="Shape 584"/>
        <p:cNvGrpSpPr/>
        <p:nvPr/>
      </p:nvGrpSpPr>
      <p:grpSpPr>
        <a:xfrm>
          <a:off x="0" y="0"/>
          <a:ext cx="0" cy="0"/>
          <a:chOff x="0" y="0"/>
          <a:chExt cx="0" cy="0"/>
        </a:xfrm>
      </p:grpSpPr>
      <p:sp>
        <p:nvSpPr>
          <p:cNvPr id="585" name="Google Shape;585;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86" name="Google Shape;586;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587" name="Google Shape;587;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the customer out for less.</a:t>
            </a:r>
            <a:endParaRPr b="0" i="0" spc="0" sz="1200" u="none" cap="none" strike="noStrike">
              <a:solidFill>
                <a:schemeClr val="dk1"/>
              </a:solidFill>
              <a:latin typeface="Calibri"/>
              <a:ea typeface="Calibri"/>
              <a:cs typeface="Calibri"/>
              <a:sym typeface="Calibri"/>
            </a:endParaRPr>
          </a:p>
        </p:txBody>
      </p:sp>
      <p:sp>
        <p:nvSpPr>
          <p:cNvPr id="588" name="Google Shape;588;p26"/>
          <p:cNvSpPr/>
          <p:nvPr/>
        </p:nvSpPr>
        <p:spPr>
          <a:xfrm>
            <a:off x="411480" y="1325880"/>
            <a:ext cx="4069080" cy="1371600"/>
          </a:xfrm>
          <a:prstGeom prst="roundRect">
            <a:avLst>
              <a:gd fmla="val 5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26"/>
          <p:cNvSpPr txBox="1"/>
          <p:nvPr/>
        </p:nvSpPr>
        <p:spPr>
          <a:xfrm>
            <a:off x="594360" y="1325880"/>
            <a:ext cx="3749040" cy="137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Fix the first job first</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50"/>
              <a:buFont typeface="Arial"/>
              <a:buNone/>
            </a:pPr>
            <a:r>
              <a:rPr b="1" i="0" lang="en-US" spc="0" sz="1050" u="none" cap="none" strike="noStrike">
                <a:solidFill>
                  <a:srgbClr val="1D1D1F"/>
                </a:solidFill>
                <a:latin typeface="Arial"/>
                <a:ea typeface="Arial"/>
                <a:cs typeface="Arial"/>
                <a:sym typeface="Arial"/>
              </a:rPr>
              <a:t>ETF = $35/hr × first-cleaning hours</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Invoiced 4 hrs, CP messages show 2.5 → refund 1.5 hrs</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200"/>
              <a:buFont typeface="Arial"/>
              <a:buNone/>
            </a:pPr>
            <a:r>
              <a:rPr b="1" i="0" lang="en-US" spc="0" sz="1200" u="none" cap="none" strike="noStrike">
                <a:solidFill>
                  <a:srgbClr val="0B7A6F"/>
                </a:solidFill>
                <a:latin typeface="Arial"/>
                <a:ea typeface="Arial"/>
                <a:cs typeface="Arial"/>
                <a:sym typeface="Arial"/>
              </a:rPr>
              <a:t>ETF $140 → $87.50</a:t>
            </a:r>
            <a:endParaRPr b="0" i="0" spc="0" sz="1200" u="none" cap="none" strike="noStrike">
              <a:solidFill>
                <a:schemeClr val="dk1"/>
              </a:solidFill>
              <a:latin typeface="Calibri"/>
              <a:ea typeface="Calibri"/>
              <a:cs typeface="Calibri"/>
              <a:sym typeface="Calibri"/>
            </a:endParaRPr>
          </a:p>
        </p:txBody>
      </p:sp>
      <p:sp>
        <p:nvSpPr>
          <p:cNvPr id="590" name="Google Shape;590;p26"/>
          <p:cNvSpPr/>
          <p:nvPr/>
        </p:nvSpPr>
        <p:spPr>
          <a:xfrm>
            <a:off x="466344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1" name="Google Shape;591;p26"/>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592" name="Google Shape;592;p26"/>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graphicFrame>
        <p:nvGraphicFramePr>
          <p:cNvPr id="593" name="Google Shape;593;p26"/>
          <p:cNvGraphicFramePr/>
          <p:nvPr/>
        </p:nvGraphicFramePr>
        <p:xfrm>
          <a:off x="411480" y="2834640"/>
          <a:ext cx="3000000" cy="3000000"/>
        </p:xfrm>
        <a:graphic>
          <a:graphicData uri="http://schemas.openxmlformats.org/drawingml/2006/table">
            <a:tbl>
              <a:tblPr>
                <a:noFill/>
                <a:tableStyleId>{5A3C36C2-DF10-40EA-8E4B-E3075D344CA5}</a:tableStyleId>
              </a:tblPr>
              <a:tblGrid>
                <a:gridCol w="3657600"/>
                <a:gridCol w="4663450"/>
              </a:tblGrid>
              <a:tr h="29260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Why they're cancelling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ETF reduction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Unawareness only (or "one-time cleaning")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Don't offer proactively. Wait for a hint they'd pay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Any other reason mixed in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Standard exit tool once retention is exhausted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Extreme financial hardship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Straight to 50% off. Declines? Waive the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94" name="Google Shape;594;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01" name="Google Shape;601;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02" name="Google Shape;602;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03" name="Google Shape;603;p27"/>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4" name="Google Shape;604;p27"/>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05" name="Google Shape;605;p27"/>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chemeClr val="dk1"/>
              </a:solidFill>
              <a:latin typeface="Calibri"/>
              <a:ea typeface="Calibri"/>
              <a:cs typeface="Calibri"/>
              <a:sym typeface="Calibri"/>
            </a:endParaRPr>
          </a:p>
        </p:txBody>
      </p:sp>
      <p:sp>
        <p:nvSpPr>
          <p:cNvPr id="606" name="Google Shape;606;p27"/>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07" name="Google Shape;607;p27"/>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8" name="Google Shape;608;p27"/>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9" name="Google Shape;609;p27"/>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10" name="Google Shape;610;p27"/>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11" name="Google Shape;611;p27"/>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2" name="Google Shape;612;p27"/>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3" name="Google Shape;613;p27"/>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14" name="Google Shape;614;p27"/>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15" name="Google Shape;615;p27"/>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6" name="Google Shape;616;p27"/>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17" name="Google Shape;617;p27"/>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18" name="Google Shape;618;p27"/>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9" name="Google Shape;619;p27"/>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20" name="Google Shape;620;p27"/>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21" name="Google Shape;621;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6" name="Shape 626"/>
        <p:cNvGrpSpPr/>
        <p:nvPr/>
      </p:nvGrpSpPr>
      <p:grpSpPr>
        <a:xfrm>
          <a:off x="0" y="0"/>
          <a:ext cx="0" cy="0"/>
          <a:chOff x="0" y="0"/>
          <a:chExt cx="0" cy="0"/>
        </a:xfrm>
      </p:grpSpPr>
      <p:sp>
        <p:nvSpPr>
          <p:cNvPr id="627" name="Google Shape;627;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28" name="Google Shape;628;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29" name="Google Shape;629;p28"/>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0" name="Google Shape;630;p28"/>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8"/>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32" name="Google Shape;632;p28"/>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633" name="Google Shape;633;p28"/>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4" name="Google Shape;634;p28"/>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635" name="Google Shape;635;p28"/>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6" name="Google Shape;636;p28"/>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7" name="Google Shape;637;p28"/>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38" name="Google Shape;638;p28"/>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639" name="Google Shape;639;p28"/>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0" name="Google Shape;640;p28"/>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641" name="Google Shape;641;p28"/>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2" name="Google Shape;642;p28"/>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3" name="Google Shape;643;p28"/>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44" name="Google Shape;644;p28"/>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645" name="Google Shape;645;p28"/>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647" name="Google Shape;647;p28"/>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650" name="Google Shape;650;p28"/>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651" name="Google Shape;651;p28"/>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653" name="Google Shape;653;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4"/>
                                        </p:tgtEl>
                                        <p:attrNameLst>
                                          <p:attrName>style.visibility</p:attrName>
                                        </p:attrNameLst>
                                      </p:cBhvr>
                                      <p:to>
                                        <p:strVal val="visible"/>
                                      </p:to>
                                    </p:set>
                                    <p:animEffect filter="fade" transition="in">
                                      <p:cBhvr>
                                        <p:cTn dur="600"/>
                                        <p:tgtEl>
                                          <p:spTgt spid="63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40"/>
                                        </p:tgtEl>
                                        <p:attrNameLst>
                                          <p:attrName>style.visibility</p:attrName>
                                        </p:attrNameLst>
                                      </p:cBhvr>
                                      <p:to>
                                        <p:strVal val="visible"/>
                                      </p:to>
                                    </p:set>
                                    <p:animEffect filter="fade" transition="in">
                                      <p:cBhvr>
                                        <p:cTn dur="600"/>
                                        <p:tgtEl>
                                          <p:spTgt spid="6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46"/>
                                        </p:tgtEl>
                                        <p:attrNameLst>
                                          <p:attrName>style.visibility</p:attrName>
                                        </p:attrNameLst>
                                      </p:cBhvr>
                                      <p:to>
                                        <p:strVal val="visible"/>
                                      </p:to>
                                    </p:set>
                                    <p:animEffect filter="fade" transition="in">
                                      <p:cBhvr>
                                        <p:cTn dur="600"/>
                                        <p:tgtEl>
                                          <p:spTgt spid="64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2"/>
                                        </p:tgtEl>
                                        <p:attrNameLst>
                                          <p:attrName>style.visibility</p:attrName>
                                        </p:attrNameLst>
                                      </p:cBhvr>
                                      <p:to>
                                        <p:strVal val="visible"/>
                                      </p:to>
                                    </p:set>
                                    <p:animEffect filter="fade" transition="in">
                                      <p:cBhvr>
                                        <p:cTn dur="600"/>
                                        <p:tgtEl>
                                          <p:spTgt spid="65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660" name="Google Shape;660;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61" name="Google Shape;661;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62" name="Google Shape;662;p29"/>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9"/>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4" name="Google Shape;664;p29"/>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65" name="Google Shape;665;p29"/>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66" name="Google Shape;666;p29"/>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67" name="Google Shape;667;p29"/>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68" name="Google Shape;668;p29"/>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9" name="Google Shape;669;p29"/>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0" name="Google Shape;670;p29"/>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672" name="Google Shape;672;p29"/>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673" name="Google Shape;673;p29"/>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5" name="Google Shape;675;p29"/>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76" name="Google Shape;676;p29"/>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77" name="Google Shape;677;p29"/>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678" name="Google Shape;678;p29"/>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9" name="Google Shape;679;p29"/>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0" name="Google Shape;680;p29"/>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81" name="Google Shape;681;p29"/>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82" name="Google Shape;682;p29"/>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683" name="Google Shape;683;p29"/>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4" name="Google Shape;684;p29"/>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85" name="Google Shape;685;p29"/>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86" name="Google Shape;686;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1" name="Shape 691"/>
        <p:cNvGrpSpPr/>
        <p:nvPr/>
      </p:nvGrpSpPr>
      <p:grpSpPr>
        <a:xfrm>
          <a:off x="0" y="0"/>
          <a:ext cx="0" cy="0"/>
          <a:chOff x="0" y="0"/>
          <a:chExt cx="0" cy="0"/>
        </a:xfrm>
      </p:grpSpPr>
      <p:sp>
        <p:nvSpPr>
          <p:cNvPr id="692" name="Google Shape;692;p30"/>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693" name="Google Shape;693;p30"/>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694" name="Google Shape;694;p30"/>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695" name="Google Shape;695;p30"/>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96" name="Google Shape;696;p30"/>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97" name="Google Shape;697;p30"/>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98" name="Google Shape;698;p30"/>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699" name="Google Shape;699;p30"/>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00" name="Google Shape;700;p30"/>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01" name="Google Shape;701;p30"/>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02" name="Google Shape;702;p30"/>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03" name="Google Shape;703;p30"/>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04" name="Google Shape;704;p30"/>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05" name="Google Shape;705;p30"/>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06" name="Google Shape;706;p30"/>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07" name="Google Shape;707;p30"/>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08" name="Google Shape;708;p30"/>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9" name="Google Shape;709;p30"/>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10" name="Google Shape;710;p30"/>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11" name="Google Shape;711;p30"/>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4" name="Google Shape;714;p30"/>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5" name="Google Shape;715;p30"/>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7" name="Google Shape;717;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2" name="Shape 722"/>
        <p:cNvGrpSpPr/>
        <p:nvPr/>
      </p:nvGrpSpPr>
      <p:grpSpPr>
        <a:xfrm>
          <a:off x="0" y="0"/>
          <a:ext cx="0" cy="0"/>
          <a:chOff x="0" y="0"/>
          <a:chExt cx="0" cy="0"/>
        </a:xfrm>
      </p:grpSpPr>
      <p:sp>
        <p:nvSpPr>
          <p:cNvPr id="723" name="Google Shape;723;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24" name="Google Shape;724;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25" name="Google Shape;725;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26" name="Google Shape;726;p31"/>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7" name="Google Shape;727;p31"/>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28" name="Google Shape;728;p31"/>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29" name="Google Shape;729;p31"/>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0" name="Google Shape;730;p31"/>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731" name="Google Shape;731;p31"/>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32" name="Google Shape;732;p31"/>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734" name="Google Shape;734;p31"/>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735" name="Google Shape;735;p31"/>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6" name="Google Shape;736;p31"/>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737" name="Google Shape;737;p31"/>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738" name="Google Shape;738;p31"/>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9" name="Google Shape;739;p31"/>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740" name="Google Shape;740;p31"/>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741" name="Google Shape;741;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6" name="Shape 746"/>
        <p:cNvGrpSpPr/>
        <p:nvPr/>
      </p:nvGrpSpPr>
      <p:grpSpPr>
        <a:xfrm>
          <a:off x="0" y="0"/>
          <a:ext cx="0" cy="0"/>
          <a:chOff x="0" y="0"/>
          <a:chExt cx="0" cy="0"/>
        </a:xfrm>
      </p:grpSpPr>
      <p:sp>
        <p:nvSpPr>
          <p:cNvPr id="747" name="Google Shape;747;p32"/>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48" name="Google Shape;748;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749" name="Google Shape;749;p32"/>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750" name="Google Shape;750;p32"/>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1" name="Google Shape;751;p32"/>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2" name="Google Shape;752;p32"/>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753" name="Google Shape;753;p32"/>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754" name="Google Shape;754;p32"/>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755" name="Google Shape;755;p32"/>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756" name="Google Shape;756;p32"/>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7" name="Google Shape;757;p32"/>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8" name="Google Shape;758;p32"/>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759" name="Google Shape;759;p32"/>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760" name="Google Shape;760;p32"/>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761" name="Google Shape;761;p32"/>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762" name="Google Shape;762;p32"/>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3" name="Google Shape;763;p32"/>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4" name="Google Shape;764;p32"/>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765" name="Google Shape;765;p32"/>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766" name="Google Shape;766;p32"/>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767" name="Google Shape;767;p32"/>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768" name="Google Shape;768;p32"/>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69" name="Google Shape;769;p32"/>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770" name="Google Shape;770;p32"/>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771" name="Google Shape;771;p32"/>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2" name="Google Shape;772;p32"/>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773" name="Google Shape;773;p32"/>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774" name="Google Shape;774;p32"/>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775" name="Google Shape;775;p32"/>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71"/>
                                        </p:tgtEl>
                                        <p:attrNameLst>
                                          <p:attrName>style.visibility</p:attrName>
                                        </p:attrNameLst>
                                      </p:cBhvr>
                                      <p:to>
                                        <p:strVal val="visible"/>
                                      </p:to>
                                    </p:set>
                                    <p:animEffect filter="fade" transition="in">
                                      <p:cBhvr>
                                        <p:cTn dur="600"/>
                                        <p:tgtEl>
                                          <p:spTgt spid="771"/>
                                        </p:tgtEl>
                                      </p:cBhvr>
                                    </p:animEffect>
                                  </p:childTnLst>
                                </p:cTn>
                              </p:par>
                              <p:par>
                                <p:cTn fill="hold" nodeType="withEffect" presetClass="entr" presetID="10" presetSubtype="0">
                                  <p:stCondLst>
                                    <p:cond delay="0"/>
                                  </p:stCondLst>
                                  <p:childTnLst>
                                    <p:set>
                                      <p:cBhvr>
                                        <p:cTn dur="1" fill="hold">
                                          <p:stCondLst>
                                            <p:cond delay="0"/>
                                          </p:stCondLst>
                                        </p:cTn>
                                        <p:tgtEl>
                                          <p:spTgt spid="772"/>
                                        </p:tgtEl>
                                        <p:attrNameLst>
                                          <p:attrName>style.visibility</p:attrName>
                                        </p:attrNameLst>
                                      </p:cBhvr>
                                      <p:to>
                                        <p:strVal val="visible"/>
                                      </p:to>
                                    </p:set>
                                    <p:animEffect filter="fade" transition="in">
                                      <p:cBhvr>
                                        <p:cTn dur="600"/>
                                        <p:tgtEl>
                                          <p:spTgt spid="772"/>
                                        </p:tgtEl>
                                      </p:cBhvr>
                                    </p:animEffect>
                                  </p:childTnLst>
                                </p:cTn>
                              </p:par>
                              <p:par>
                                <p:cTn fill="hold" nodeType="withEffect" presetClass="entr" presetID="10" presetSubtype="0">
                                  <p:stCondLst>
                                    <p:cond delay="0"/>
                                  </p:stCondLst>
                                  <p:childTnLst>
                                    <p:set>
                                      <p:cBhvr>
                                        <p:cTn dur="1" fill="hold">
                                          <p:stCondLst>
                                            <p:cond delay="0"/>
                                          </p:stCondLst>
                                        </p:cTn>
                                        <p:tgtEl>
                                          <p:spTgt spid="773"/>
                                        </p:tgtEl>
                                        <p:attrNameLst>
                                          <p:attrName>style.visibility</p:attrName>
                                        </p:attrNameLst>
                                      </p:cBhvr>
                                      <p:to>
                                        <p:strVal val="visible"/>
                                      </p:to>
                                    </p:set>
                                    <p:animEffect filter="fade" transition="in">
                                      <p:cBhvr>
                                        <p:cTn dur="600"/>
                                        <p:tgtEl>
                                          <p:spTgt spid="773"/>
                                        </p:tgtEl>
                                      </p:cBhvr>
                                    </p:animEffect>
                                  </p:childTnLst>
                                </p:cTn>
                              </p:par>
                              <p:par>
                                <p:cTn fill="hold" nodeType="withEffect" presetClass="entr" presetID="10" presetSubtype="0">
                                  <p:stCondLst>
                                    <p:cond delay="0"/>
                                  </p:stCondLst>
                                  <p:childTnLst>
                                    <p:set>
                                      <p:cBhvr>
                                        <p:cTn dur="1" fill="hold">
                                          <p:stCondLst>
                                            <p:cond delay="0"/>
                                          </p:stCondLst>
                                        </p:cTn>
                                        <p:tgtEl>
                                          <p:spTgt spid="774"/>
                                        </p:tgtEl>
                                        <p:attrNameLst>
                                          <p:attrName>style.visibility</p:attrName>
                                        </p:attrNameLst>
                                      </p:cBhvr>
                                      <p:to>
                                        <p:strVal val="visible"/>
                                      </p:to>
                                    </p:set>
                                    <p:animEffect filter="fade" transition="in">
                                      <p:cBhvr>
                                        <p:cTn dur="600"/>
                                        <p:tgtEl>
                                          <p:spTgt spid="774"/>
                                        </p:tgtEl>
                                      </p:cBhvr>
                                    </p:animEffect>
                                  </p:childTnLst>
                                </p:cTn>
                              </p:par>
                              <p:par>
                                <p:cTn fill="hold" nodeType="withEffect" presetClass="entr" presetID="10" presetSubtype="0">
                                  <p:stCondLst>
                                    <p:cond delay="0"/>
                                  </p:stCondLst>
                                  <p:childTnLst>
                                    <p:set>
                                      <p:cBhvr>
                                        <p:cTn dur="1" fill="hold">
                                          <p:stCondLst>
                                            <p:cond delay="0"/>
                                          </p:stCondLst>
                                        </p:cTn>
                                        <p:tgtEl>
                                          <p:spTgt spid="775"/>
                                        </p:tgtEl>
                                        <p:attrNameLst>
                                          <p:attrName>style.visibility</p:attrName>
                                        </p:attrNameLst>
                                      </p:cBhvr>
                                      <p:to>
                                        <p:strVal val="visible"/>
                                      </p:to>
                                    </p:set>
                                    <p:animEffect filter="fade" transition="in">
                                      <p:cBhvr>
                                        <p:cTn dur="600"/>
                                        <p:tgtEl>
                                          <p:spTgt spid="7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77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77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77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77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77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0" name="Shape 780"/>
        <p:cNvGrpSpPr/>
        <p:nvPr/>
      </p:nvGrpSpPr>
      <p:grpSpPr>
        <a:xfrm>
          <a:off x="0" y="0"/>
          <a:ext cx="0" cy="0"/>
          <a:chOff x="0" y="0"/>
          <a:chExt cx="0" cy="0"/>
        </a:xfrm>
      </p:grpSpPr>
      <p:sp>
        <p:nvSpPr>
          <p:cNvPr id="781" name="Google Shape;781;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82" name="Google Shape;782;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783" name="Google Shape;783;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784" name="Google Shape;784;p33"/>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3"/>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3"/>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87" name="Google Shape;787;p33"/>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88" name="Google Shape;788;p33"/>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789" name="Google Shape;789;p33"/>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790" name="Google Shape;790;p33"/>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791" name="Google Shape;791;p33"/>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2" name="Google Shape;792;p33"/>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3" name="Google Shape;793;p33"/>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94" name="Google Shape;794;p33"/>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95" name="Google Shape;795;p33"/>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796" name="Google Shape;796;p33"/>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797" name="Google Shape;797;p33"/>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798" name="Google Shape;798;p33"/>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9" name="Google Shape;799;p33"/>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01" name="Google Shape;801;p33"/>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2" name="Google Shape;802;p33"/>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03" name="Google Shape;803;p33"/>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04" name="Google Shape;804;p33"/>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05" name="Google Shape;805;p33"/>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6" name="Google Shape;806;p33"/>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7" name="Google Shape;807;p33"/>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08" name="Google Shape;808;p33"/>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10" name="Google Shape;810;p33"/>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11" name="Google Shape;811;p33"/>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12" name="Google Shape;812;p33"/>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3" name="Google Shape;813;p33"/>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4" name="Google Shape;814;p33"/>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15" name="Google Shape;815;p33"/>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16" name="Google Shape;816;p33"/>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17" name="Google Shape;817;p33"/>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18" name="Google Shape;818;p33"/>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19" name="Google Shape;819;p33"/>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0" name="Google Shape;820;p33"/>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3"/>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22" name="Google Shape;822;p33"/>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23" name="Google Shape;823;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24" name="Google Shape;824;p33"/>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25" name="Google Shape;825;p33"/>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0" name="Shape 830"/>
        <p:cNvGrpSpPr/>
        <p:nvPr/>
      </p:nvGrpSpPr>
      <p:grpSpPr>
        <a:xfrm>
          <a:off x="0" y="0"/>
          <a:ext cx="0" cy="0"/>
          <a:chOff x="0" y="0"/>
          <a:chExt cx="0" cy="0"/>
        </a:xfrm>
      </p:grpSpPr>
      <p:sp>
        <p:nvSpPr>
          <p:cNvPr id="831" name="Google Shape;831;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32" name="Google Shape;832;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833" name="Google Shape;833;p3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834" name="Google Shape;834;p34"/>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5" name="Google Shape;835;p34"/>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6" name="Google Shape;836;p34"/>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837" name="Google Shape;837;p34"/>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838" name="Google Shape;838;p34"/>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839" name="Google Shape;839;p34"/>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840" name="Google Shape;840;p34"/>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42" name="Google Shape;842;p34"/>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843" name="Google Shape;843;p34"/>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844" name="Google Shape;844;p34"/>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845" name="Google Shape;845;p34"/>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846" name="Google Shape;846;p34"/>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7" name="Google Shape;847;p34"/>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48" name="Google Shape;848;p34"/>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849" name="Google Shape;849;p34"/>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850" name="Google Shape;850;p34"/>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851" name="Google Shape;851;p34"/>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852" name="Google Shape;852;p34"/>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3" name="Google Shape;853;p34"/>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854" name="Google Shape;854;p34"/>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855" name="Google Shape;855;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862" name="Google Shape;86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863" name="Google Shape;863;p3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4" name="Google Shape;864;p3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5" name="Google Shape;865;p3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66" name="Google Shape;866;p3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867" name="Google Shape;867;p3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8" name="Google Shape;868;p3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869" name="Google Shape;869;p3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1" name="Google Shape;871;p3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72" name="Google Shape;872;p3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873" name="Google Shape;873;p3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4" name="Google Shape;874;p3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8" name="Google Shape;878;p3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879" name="Google Shape;879;p3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0" name="Google Shape;880;p3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881" name="Google Shape;881;p3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2" name="Google Shape;882;p3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84" name="Google Shape;884;p3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885" name="Google Shape;885;p3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6" name="Google Shape;886;p3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887" name="Google Shape;887;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68"/>
                                        </p:tgtEl>
                                        <p:attrNameLst>
                                          <p:attrName>style.visibility</p:attrName>
                                        </p:attrNameLst>
                                      </p:cBhvr>
                                      <p:to>
                                        <p:strVal val="visible"/>
                                      </p:to>
                                    </p:set>
                                    <p:animEffect filter="fade" transition="in">
                                      <p:cBhvr>
                                        <p:cTn dur="600"/>
                                        <p:tgtEl>
                                          <p:spTgt spid="8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74"/>
                                        </p:tgtEl>
                                        <p:attrNameLst>
                                          <p:attrName>style.visibility</p:attrName>
                                        </p:attrNameLst>
                                      </p:cBhvr>
                                      <p:to>
                                        <p:strVal val="visible"/>
                                      </p:to>
                                    </p:set>
                                    <p:animEffect filter="fade" transition="in">
                                      <p:cBhvr>
                                        <p:cTn dur="600"/>
                                        <p:tgtEl>
                                          <p:spTgt spid="8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80"/>
                                        </p:tgtEl>
                                        <p:attrNameLst>
                                          <p:attrName>style.visibility</p:attrName>
                                        </p:attrNameLst>
                                      </p:cBhvr>
                                      <p:to>
                                        <p:strVal val="visible"/>
                                      </p:to>
                                    </p:set>
                                    <p:animEffect filter="fade" transition="in">
                                      <p:cBhvr>
                                        <p:cTn dur="600"/>
                                        <p:tgtEl>
                                          <p:spTgt spid="8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86"/>
                                        </p:tgtEl>
                                        <p:attrNameLst>
                                          <p:attrName>style.visibility</p:attrName>
                                        </p:attrNameLst>
                                      </p:cBhvr>
                                      <p:to>
                                        <p:strVal val="visible"/>
                                      </p:to>
                                    </p:set>
                                    <p:animEffect filter="fade" transition="in">
                                      <p:cBhvr>
                                        <p:cTn dur="600"/>
                                        <p:tgtEl>
                                          <p:spTgt spid="88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2" name="Shape 892"/>
        <p:cNvGrpSpPr/>
        <p:nvPr/>
      </p:nvGrpSpPr>
      <p:grpSpPr>
        <a:xfrm>
          <a:off x="0" y="0"/>
          <a:ext cx="0" cy="0"/>
          <a:chOff x="0" y="0"/>
          <a:chExt cx="0" cy="0"/>
        </a:xfrm>
      </p:grpSpPr>
      <p:sp>
        <p:nvSpPr>
          <p:cNvPr id="893" name="Google Shape;893;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894" name="Google Shape;894;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95" name="Google Shape;895;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96" name="Google Shape;896;p3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7" name="Google Shape;897;p3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98" name="Google Shape;898;p3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99" name="Google Shape;899;p3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00" name="Google Shape;900;p3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01" name="Google Shape;901;p3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02" name="Google Shape;902;p3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3" name="Google Shape;903;p3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4" name="Google Shape;904;p3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05" name="Google Shape;905;p3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06" name="Google Shape;906;p3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07" name="Google Shape;907;p3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8" name="Google Shape;908;p3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9" name="Google Shape;909;p3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10" name="Google Shape;910;p3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11" name="Google Shape;911;p3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12" name="Google Shape;912;p3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3" name="Google Shape;913;p3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4" name="Google Shape;914;p3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15" name="Google Shape;915;p3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16" name="Google Shape;916;p3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17" name="Google Shape;917;p3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19" name="Google Shape;919;p3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20" name="Google Shape;920;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3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27" name="Google Shape;927;p3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28" name="Google Shape;928;p3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29" name="Google Shape;929;p3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930" name="Google Shape;930;p3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31" name="Google Shape;931;p3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932" name="Google Shape;932;p3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933" name="Google Shape;933;p3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34" name="Google Shape;934;p3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935" name="Google Shape;935;p3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936" name="Google Shape;936;p3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37" name="Google Shape;937;p3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938" name="Google Shape;938;p3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939" name="Google Shape;939;p3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40" name="Google Shape;940;p3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941" name="Google Shape;941;p3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942" name="Google Shape;942;p3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3" name="Google Shape;943;p3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944" name="Google Shape;944;p37"/>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945" name="Google Shape;945;p3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8" name="Google Shape;948;p3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9" name="Google Shape;949;p3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1" name="Google Shape;951;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958" name="Google Shape;958;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959" name="Google Shape;959;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960" name="Google Shape;960;p38"/>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1" name="Google Shape;961;p38"/>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962" name="Google Shape;962;p38"/>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963" name="Google Shape;963;p38"/>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4" name="Google Shape;964;p38"/>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965" name="Google Shape;965;p38"/>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966" name="Google Shape;966;p38"/>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7" name="Google Shape;967;p38"/>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968" name="Google Shape;968;p38"/>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969" name="Google Shape;969;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4" name="Shape 974"/>
        <p:cNvGrpSpPr/>
        <p:nvPr/>
      </p:nvGrpSpPr>
      <p:grpSpPr>
        <a:xfrm>
          <a:off x="0" y="0"/>
          <a:ext cx="0" cy="0"/>
          <a:chOff x="0" y="0"/>
          <a:chExt cx="0" cy="0"/>
        </a:xfrm>
      </p:grpSpPr>
      <p:sp>
        <p:nvSpPr>
          <p:cNvPr id="975" name="Google Shape;975;p3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976" name="Google Shape;976;p3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977" name="Google Shape;977;p3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978" name="Google Shape;978;p39"/>
          <p:cNvGraphicFramePr/>
          <p:nvPr/>
        </p:nvGraphicFramePr>
        <p:xfrm>
          <a:off x="411480" y="1298448"/>
          <a:ext cx="3000000" cy="3000000"/>
        </p:xfrm>
        <a:graphic>
          <a:graphicData uri="http://schemas.openxmlformats.org/drawingml/2006/table">
            <a:tbl>
              <a:tblPr>
                <a:noFill/>
                <a:tableStyleId>{5A3C36C2-DF10-40EA-8E4B-E3075D344CA5}</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979" name="Google Shape;979;p39"/>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0" name="Google Shape;980;p39"/>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981" name="Google Shape;981;p39"/>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982" name="Google Shape;982;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989" name="Google Shape;989;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990" name="Google Shape;990;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991" name="Google Shape;991;p40"/>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2" name="Google Shape;992;p40"/>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993" name="Google Shape;993;p40"/>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994" name="Google Shape;994;p40"/>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5" name="Google Shape;995;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996" name="Google Shape;996;p40"/>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997" name="Google Shape;997;p40"/>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98" name="Google Shape;998;p40"/>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999" name="Google Shape;999;p40"/>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00" name="Google Shape;1000;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5" name="Shape 1005"/>
        <p:cNvGrpSpPr/>
        <p:nvPr/>
      </p:nvGrpSpPr>
      <p:grpSpPr>
        <a:xfrm>
          <a:off x="0" y="0"/>
          <a:ext cx="0" cy="0"/>
          <a:chOff x="0" y="0"/>
          <a:chExt cx="0" cy="0"/>
        </a:xfrm>
      </p:grpSpPr>
      <p:sp>
        <p:nvSpPr>
          <p:cNvPr id="1006" name="Google Shape;1006;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07" name="Google Shape;1007;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08" name="Google Shape;1008;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09" name="Google Shape;1009;p41"/>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0" name="Google Shape;1010;p41"/>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1" name="Google Shape;1011;p41"/>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12" name="Google Shape;1012;p41"/>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13" name="Google Shape;1013;p41"/>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14" name="Google Shape;1014;p41"/>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5" name="Google Shape;1015;p41"/>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41"/>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17" name="Google Shape;1017;p41"/>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18" name="Google Shape;1018;p41"/>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19" name="Google Shape;1019;p41"/>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41"/>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41"/>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22" name="Google Shape;1022;p41"/>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23" name="Google Shape;1023;p41"/>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24" name="Google Shape;1024;p41"/>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5" name="Google Shape;1025;p41"/>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6" name="Google Shape;1026;p41"/>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27" name="Google Shape;1027;p41"/>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28" name="Google Shape;1028;p41"/>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29" name="Google Shape;1029;p41"/>
          <p:cNvGraphicFramePr/>
          <p:nvPr/>
        </p:nvGraphicFramePr>
        <p:xfrm>
          <a:off x="411480" y="3063240"/>
          <a:ext cx="3000000" cy="3000000"/>
        </p:xfrm>
        <a:graphic>
          <a:graphicData uri="http://schemas.openxmlformats.org/drawingml/2006/table">
            <a:tbl>
              <a:tblPr>
                <a:noFill/>
                <a:tableStyleId>{5A3C36C2-DF10-40EA-8E4B-E3075D344CA5}</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30" name="Google Shape;1030;p41"/>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1" name="Google Shape;1031;p41"/>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032" name="Google Shape;1032;p41"/>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033" name="Google Shape;1033;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8" name="Shape 1038"/>
        <p:cNvGrpSpPr/>
        <p:nvPr/>
      </p:nvGrpSpPr>
      <p:grpSpPr>
        <a:xfrm>
          <a:off x="0" y="0"/>
          <a:ext cx="0" cy="0"/>
          <a:chOff x="0" y="0"/>
          <a:chExt cx="0" cy="0"/>
        </a:xfrm>
      </p:grpSpPr>
      <p:sp>
        <p:nvSpPr>
          <p:cNvPr id="1039" name="Google Shape;1039;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0" name="Google Shape;1040;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the ladder fails</a:t>
            </a:r>
            <a:endParaRPr b="0" i="0" spc="0" sz="2400" u="none" cap="none" strike="noStrike">
              <a:solidFill>
                <a:schemeClr val="dk1"/>
              </a:solidFill>
              <a:latin typeface="Calibri"/>
              <a:ea typeface="Calibri"/>
              <a:cs typeface="Calibri"/>
              <a:sym typeface="Calibri"/>
            </a:endParaRPr>
          </a:p>
        </p:txBody>
      </p:sp>
      <p:sp>
        <p:nvSpPr>
          <p:cNvPr id="1041" name="Google Shape;1041;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Any stronger offer must be tied to their reason, not to their "no".</a:t>
            </a:r>
            <a:endParaRPr b="0" i="0" spc="0" sz="1200" u="none" cap="none" strike="noStrike">
              <a:solidFill>
                <a:schemeClr val="dk1"/>
              </a:solidFill>
              <a:latin typeface="Calibri"/>
              <a:ea typeface="Calibri"/>
              <a:cs typeface="Calibri"/>
              <a:sym typeface="Calibri"/>
            </a:endParaRPr>
          </a:p>
        </p:txBody>
      </p:sp>
      <p:sp>
        <p:nvSpPr>
          <p:cNvPr id="1042" name="Google Shape;1042;p42"/>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3" name="Google Shape;1043;p42"/>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Small offer</a:t>
            </a:r>
            <a:endParaRPr b="0" i="0" spc="0" sz="1000" u="none" cap="none" strike="noStrike">
              <a:solidFill>
                <a:schemeClr val="dk1"/>
              </a:solidFill>
              <a:latin typeface="Calibri"/>
              <a:ea typeface="Calibri"/>
              <a:cs typeface="Calibri"/>
              <a:sym typeface="Calibri"/>
            </a:endParaRPr>
          </a:p>
        </p:txBody>
      </p:sp>
      <p:cxnSp>
        <p:nvCxnSpPr>
          <p:cNvPr id="1044" name="Google Shape;1044;p42"/>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045" name="Google Shape;1045;p42"/>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6" name="Google Shape;1046;p42"/>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They decline</a:t>
            </a:r>
            <a:endParaRPr b="0" i="0" spc="0" sz="1000" u="none" cap="none" strike="noStrike">
              <a:solidFill>
                <a:schemeClr val="dk1"/>
              </a:solidFill>
              <a:latin typeface="Calibri"/>
              <a:ea typeface="Calibri"/>
              <a:cs typeface="Calibri"/>
              <a:sym typeface="Calibri"/>
            </a:endParaRPr>
          </a:p>
        </p:txBody>
      </p:sp>
      <p:cxnSp>
        <p:nvCxnSpPr>
          <p:cNvPr id="1047" name="Google Shape;1047;p42"/>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048" name="Google Shape;1048;p42"/>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9" name="Google Shape;1049;p42"/>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Bigger offer</a:t>
            </a:r>
            <a:endParaRPr b="0" i="0" spc="0" sz="1000" u="none" cap="none" strike="noStrike">
              <a:solidFill>
                <a:schemeClr val="dk1"/>
              </a:solidFill>
              <a:latin typeface="Calibri"/>
              <a:ea typeface="Calibri"/>
              <a:cs typeface="Calibri"/>
              <a:sym typeface="Calibri"/>
            </a:endParaRPr>
          </a:p>
        </p:txBody>
      </p:sp>
      <p:cxnSp>
        <p:nvCxnSpPr>
          <p:cNvPr id="1050" name="Google Shape;1050;p42"/>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051" name="Google Shape;1051;p42"/>
          <p:cNvSpPr/>
          <p:nvPr/>
        </p:nvSpPr>
        <p:spPr>
          <a:xfrm>
            <a:off x="6811366" y="1371600"/>
            <a:ext cx="1920240" cy="502920"/>
          </a:xfrm>
          <a:prstGeom prst="roundRect">
            <a:avLst>
              <a:gd fmla="val 14545"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2" name="Google Shape;1052;p42"/>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Repeat…</a:t>
            </a:r>
            <a:endParaRPr b="0" i="0" spc="0" sz="1000" u="none" cap="none" strike="noStrike">
              <a:solidFill>
                <a:schemeClr val="dk1"/>
              </a:solidFill>
              <a:latin typeface="Calibri"/>
              <a:ea typeface="Calibri"/>
              <a:cs typeface="Calibri"/>
              <a:sym typeface="Calibri"/>
            </a:endParaRPr>
          </a:p>
        </p:txBody>
      </p:sp>
      <p:sp>
        <p:nvSpPr>
          <p:cNvPr id="1053" name="Google Shape;1053;p42"/>
          <p:cNvSpPr/>
          <p:nvPr/>
        </p:nvSpPr>
        <p:spPr>
          <a:xfrm>
            <a:off x="4114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4" name="Google Shape;1054;p42"/>
          <p:cNvSpPr/>
          <p:nvPr/>
        </p:nvSpPr>
        <p:spPr>
          <a:xfrm>
            <a:off x="5760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5" name="Google Shape;1055;p42"/>
          <p:cNvPicPr preferRelativeResize="0"/>
          <p:nvPr/>
        </p:nvPicPr>
        <p:blipFill rotWithShape="1">
          <a:blip r:embed="rId3">
            <a:alphaModFix/>
          </a:blip>
          <a:srcRect b="0" l="0" r="0" t="0"/>
          <a:stretch/>
        </p:blipFill>
        <p:spPr>
          <a:xfrm>
            <a:off x="655076" y="2346716"/>
            <a:ext cx="171176" cy="171176"/>
          </a:xfrm>
          <a:prstGeom prst="rect">
            <a:avLst/>
          </a:prstGeom>
          <a:noFill/>
          <a:ln>
            <a:noFill/>
          </a:ln>
        </p:spPr>
      </p:pic>
      <p:sp>
        <p:nvSpPr>
          <p:cNvPr id="1056" name="Google Shape;1056;p42"/>
          <p:cNvSpPr txBox="1"/>
          <p:nvPr/>
        </p:nvSpPr>
        <p:spPr>
          <a:xfrm>
            <a:off x="5760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Feels pushy</a:t>
            </a:r>
            <a:endParaRPr b="0" i="0" spc="0" sz="1200" u="none" cap="none" strike="noStrike">
              <a:solidFill>
                <a:schemeClr val="dk1"/>
              </a:solidFill>
              <a:latin typeface="Calibri"/>
              <a:ea typeface="Calibri"/>
              <a:cs typeface="Calibri"/>
              <a:sym typeface="Calibri"/>
            </a:endParaRPr>
          </a:p>
        </p:txBody>
      </p:sp>
      <p:sp>
        <p:nvSpPr>
          <p:cNvPr id="1057" name="Google Shape;1057;p42"/>
          <p:cNvSpPr txBox="1"/>
          <p:nvPr/>
        </p:nvSpPr>
        <p:spPr>
          <a:xfrm>
            <a:off x="5760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Transactional, and it reduces trust.</a:t>
            </a:r>
            <a:endParaRPr b="0" i="0" spc="0" sz="950" u="none" cap="none" strike="noStrike">
              <a:solidFill>
                <a:schemeClr val="dk1"/>
              </a:solidFill>
              <a:latin typeface="Calibri"/>
              <a:ea typeface="Calibri"/>
              <a:cs typeface="Calibri"/>
              <a:sym typeface="Calibri"/>
            </a:endParaRPr>
          </a:p>
        </p:txBody>
      </p:sp>
      <p:sp>
        <p:nvSpPr>
          <p:cNvPr id="1058" name="Google Shape;1058;p42"/>
          <p:cNvSpPr/>
          <p:nvPr/>
        </p:nvSpPr>
        <p:spPr>
          <a:xfrm>
            <a:off x="32308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9" name="Google Shape;1059;p42"/>
          <p:cNvSpPr/>
          <p:nvPr/>
        </p:nvSpPr>
        <p:spPr>
          <a:xfrm>
            <a:off x="33954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0" name="Google Shape;1060;p42"/>
          <p:cNvPicPr preferRelativeResize="0"/>
          <p:nvPr/>
        </p:nvPicPr>
        <p:blipFill rotWithShape="1">
          <a:blip r:embed="rId4">
            <a:alphaModFix/>
          </a:blip>
          <a:srcRect b="0" l="0" r="0" t="0"/>
          <a:stretch/>
        </p:blipFill>
        <p:spPr>
          <a:xfrm>
            <a:off x="3474476" y="2346716"/>
            <a:ext cx="171176" cy="171176"/>
          </a:xfrm>
          <a:prstGeom prst="rect">
            <a:avLst/>
          </a:prstGeom>
          <a:noFill/>
          <a:ln>
            <a:noFill/>
          </a:ln>
        </p:spPr>
      </p:pic>
      <p:sp>
        <p:nvSpPr>
          <p:cNvPr id="1061" name="Google Shape;1061;p42"/>
          <p:cNvSpPr txBox="1"/>
          <p:nvPr/>
        </p:nvSpPr>
        <p:spPr>
          <a:xfrm>
            <a:off x="33954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Rewards saying no</a:t>
            </a:r>
            <a:endParaRPr b="0" i="0" spc="0" sz="1200" u="none" cap="none" strike="noStrike">
              <a:solidFill>
                <a:schemeClr val="dk1"/>
              </a:solidFill>
              <a:latin typeface="Calibri"/>
              <a:ea typeface="Calibri"/>
              <a:cs typeface="Calibri"/>
              <a:sym typeface="Calibri"/>
            </a:endParaRPr>
          </a:p>
        </p:txBody>
      </p:sp>
      <p:sp>
        <p:nvSpPr>
          <p:cNvPr id="1062" name="Google Shape;1062;p42"/>
          <p:cNvSpPr txBox="1"/>
          <p:nvPr/>
        </p:nvSpPr>
        <p:spPr>
          <a:xfrm>
            <a:off x="33954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Unfair to customers who accept the first reasonable offer.</a:t>
            </a:r>
            <a:endParaRPr b="0" i="0" spc="0" sz="950" u="none" cap="none" strike="noStrike">
              <a:solidFill>
                <a:schemeClr val="dk1"/>
              </a:solidFill>
              <a:latin typeface="Calibri"/>
              <a:ea typeface="Calibri"/>
              <a:cs typeface="Calibri"/>
              <a:sym typeface="Calibri"/>
            </a:endParaRPr>
          </a:p>
        </p:txBody>
      </p:sp>
      <p:sp>
        <p:nvSpPr>
          <p:cNvPr id="1063" name="Google Shape;1063;p42"/>
          <p:cNvSpPr/>
          <p:nvPr/>
        </p:nvSpPr>
        <p:spPr>
          <a:xfrm>
            <a:off x="60502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4" name="Google Shape;1064;p42"/>
          <p:cNvSpPr/>
          <p:nvPr/>
        </p:nvSpPr>
        <p:spPr>
          <a:xfrm>
            <a:off x="62148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5" name="Google Shape;1065;p42"/>
          <p:cNvPicPr preferRelativeResize="0"/>
          <p:nvPr/>
        </p:nvPicPr>
        <p:blipFill rotWithShape="1">
          <a:blip r:embed="rId5">
            <a:alphaModFix/>
          </a:blip>
          <a:srcRect b="0" l="0" r="0" t="0"/>
          <a:stretch/>
        </p:blipFill>
        <p:spPr>
          <a:xfrm>
            <a:off x="6293876" y="2346716"/>
            <a:ext cx="171176" cy="171176"/>
          </a:xfrm>
          <a:prstGeom prst="rect">
            <a:avLst/>
          </a:prstGeom>
          <a:noFill/>
          <a:ln>
            <a:noFill/>
          </a:ln>
        </p:spPr>
      </p:pic>
      <p:sp>
        <p:nvSpPr>
          <p:cNvPr id="1066" name="Google Shape;1066;p42"/>
          <p:cNvSpPr txBox="1"/>
          <p:nvPr/>
        </p:nvSpPr>
        <p:spPr>
          <a:xfrm>
            <a:off x="62148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Cheapens FC</a:t>
            </a:r>
            <a:endParaRPr b="0" i="0" spc="0" sz="1200" u="none" cap="none" strike="noStrike">
              <a:solidFill>
                <a:schemeClr val="dk1"/>
              </a:solidFill>
              <a:latin typeface="Calibri"/>
              <a:ea typeface="Calibri"/>
              <a:cs typeface="Calibri"/>
              <a:sym typeface="Calibri"/>
            </a:endParaRPr>
          </a:p>
        </p:txBody>
      </p:sp>
      <p:sp>
        <p:nvSpPr>
          <p:cNvPr id="1067" name="Google Shape;1067;p42"/>
          <p:cNvSpPr txBox="1"/>
          <p:nvPr/>
        </p:nvSpPr>
        <p:spPr>
          <a:xfrm>
            <a:off x="62148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 offer that misses their concern lowers its value.</a:t>
            </a:r>
            <a:endParaRPr b="0" i="0" spc="0" sz="950" u="none" cap="none" strike="noStrike">
              <a:solidFill>
                <a:schemeClr val="dk1"/>
              </a:solidFill>
              <a:latin typeface="Calibri"/>
              <a:ea typeface="Calibri"/>
              <a:cs typeface="Calibri"/>
              <a:sym typeface="Calibri"/>
            </a:endParaRPr>
          </a:p>
        </p:txBody>
      </p:sp>
      <p:sp>
        <p:nvSpPr>
          <p:cNvPr id="1068" name="Google Shape;1068;p42"/>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9" name="Google Shape;1069;p42"/>
          <p:cNvPicPr preferRelativeResize="0"/>
          <p:nvPr/>
        </p:nvPicPr>
        <p:blipFill rotWithShape="1">
          <a:blip r:embed="rId6">
            <a:alphaModFix/>
          </a:blip>
          <a:srcRect b="0" l="0" r="0" t="0"/>
          <a:stretch/>
        </p:blipFill>
        <p:spPr>
          <a:xfrm>
            <a:off x="566928" y="3721608"/>
            <a:ext cx="164592" cy="164592"/>
          </a:xfrm>
          <a:prstGeom prst="rect">
            <a:avLst/>
          </a:prstGeom>
          <a:noFill/>
          <a:ln>
            <a:noFill/>
          </a:ln>
        </p:spPr>
      </p:pic>
      <p:sp>
        <p:nvSpPr>
          <p:cNvPr id="1070" name="Google Shape;1070;p42"/>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Stronger offer?  </a:t>
            </a:r>
            <a:r>
              <a:rPr b="0" i="0" lang="en-US" spc="0" sz="1000" u="none" cap="none" strike="noStrike">
                <a:solidFill>
                  <a:srgbClr val="1D1D1F"/>
                </a:solidFill>
                <a:latin typeface="Arial"/>
                <a:ea typeface="Arial"/>
                <a:cs typeface="Arial"/>
                <a:sym typeface="Arial"/>
              </a:rPr>
              <a:t>only when it's tied to their specific reason, not because they said no.</a:t>
            </a:r>
            <a:endParaRPr b="0" i="0" spc="0" sz="1000" u="none" cap="none" strike="noStrike">
              <a:solidFill>
                <a:schemeClr val="dk1"/>
              </a:solidFill>
              <a:latin typeface="Calibri"/>
              <a:ea typeface="Calibri"/>
              <a:cs typeface="Calibri"/>
              <a:sym typeface="Calibri"/>
            </a:endParaRPr>
          </a:p>
        </p:txBody>
      </p:sp>
      <p:sp>
        <p:nvSpPr>
          <p:cNvPr id="1071" name="Google Shape;1071;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6" name="Shape 1076"/>
        <p:cNvGrpSpPr/>
        <p:nvPr/>
      </p:nvGrpSpPr>
      <p:grpSpPr>
        <a:xfrm>
          <a:off x="0" y="0"/>
          <a:ext cx="0" cy="0"/>
          <a:chOff x="0" y="0"/>
          <a:chExt cx="0" cy="0"/>
        </a:xfrm>
      </p:grpSpPr>
      <p:sp>
        <p:nvSpPr>
          <p:cNvPr id="1077" name="Google Shape;1077;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079" name="Google Shape;1079;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080" name="Google Shape;1080;p43"/>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083" name="Google Shape;1083;p43"/>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4" name="Google Shape;1084;p43"/>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085" name="Google Shape;1085;p43"/>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086" name="Google Shape;1086;p43"/>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7" name="Google Shape;1087;p43"/>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8" name="Google Shape;1088;p43"/>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089" name="Google Shape;1089;p43"/>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90" name="Google Shape;1090;p43"/>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091" name="Google Shape;1091;p43"/>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092" name="Google Shape;1092;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7" name="Shape 1097"/>
        <p:cNvGrpSpPr/>
        <p:nvPr/>
      </p:nvGrpSpPr>
      <p:grpSpPr>
        <a:xfrm>
          <a:off x="0" y="0"/>
          <a:ext cx="0" cy="0"/>
          <a:chOff x="0" y="0"/>
          <a:chExt cx="0" cy="0"/>
        </a:xfrm>
      </p:grpSpPr>
      <p:sp>
        <p:nvSpPr>
          <p:cNvPr id="1098" name="Google Shape;1098;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99" name="Google Shape;1099;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00" name="Google Shape;1100;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01" name="Google Shape;1101;p4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2" name="Google Shape;1102;p4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3" name="Google Shape;1103;p4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04" name="Google Shape;1104;p4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05" name="Google Shape;1105;p4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06" name="Google Shape;1106;p4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7" name="Google Shape;1107;p4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8" name="Google Shape;1108;p4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09" name="Google Shape;1109;p4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11" name="Google Shape;1111;p4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2" name="Google Shape;1112;p4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13" name="Google Shape;1113;p4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14" name="Google Shape;1114;p4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15" name="Google Shape;1115;p4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16" name="Google Shape;1116;p44"/>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7" name="Google Shape;1117;p44"/>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18" name="Google Shape;1118;p44"/>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19" name="Google Shape;1119;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26" name="Google Shape;1126;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27" name="Google Shape;1127;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28" name="Google Shape;1128;p45"/>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29" name="Google Shape;1129;p45"/>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0" name="Google Shape;1130;p45"/>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31" name="Google Shape;1131;p45"/>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2" name="Google Shape;1132;p45"/>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33" name="Google Shape;1133;p45"/>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35" name="Google Shape;1135;p45"/>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6" name="Google Shape;1136;p45"/>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37" name="Google Shape;1137;p45"/>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8" name="Google Shape;1138;p45"/>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39" name="Google Shape;1139;p45"/>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0" name="Google Shape;1140;p45"/>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41" name="Google Shape;1141;p45"/>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2" name="Google Shape;1142;p45"/>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43" name="Google Shape;1143;p45"/>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45" name="Google Shape;1145;p45"/>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6" name="Google Shape;1146;p45"/>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47" name="Google Shape;1147;p45"/>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8" name="Google Shape;1148;p45"/>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49" name="Google Shape;1149;p45"/>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50" name="Google Shape;1150;p45"/>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51" name="Google Shape;1151;p45"/>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52" name="Google Shape;1152;p45"/>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53" name="Google Shape;1153;p45"/>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54" name="Google Shape;1154;p45"/>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55" name="Google Shape;1155;p45"/>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56" name="Google Shape;1156;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1" name="Shape 1161"/>
        <p:cNvGrpSpPr/>
        <p:nvPr/>
      </p:nvGrpSpPr>
      <p:grpSpPr>
        <a:xfrm>
          <a:off x="0" y="0"/>
          <a:ext cx="0" cy="0"/>
          <a:chOff x="0" y="0"/>
          <a:chExt cx="0" cy="0"/>
        </a:xfrm>
      </p:grpSpPr>
      <p:sp>
        <p:nvSpPr>
          <p:cNvPr id="1162" name="Google Shape;1162;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63" name="Google Shape;1163;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64" name="Google Shape;1164;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65" name="Google Shape;1165;p46"/>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66" name="Google Shape;1166;p46"/>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9" name="Google Shape;1169;p46"/>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170" name="Google Shape;1170;p46"/>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171" name="Google Shape;1171;p46"/>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173" name="Google Shape;1173;p46"/>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175" name="Google Shape;1175;p46"/>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7" name="Google Shape;1177;p46"/>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178" name="Google Shape;1178;p46"/>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179" name="Google Shape;1179;p46"/>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181" name="Google Shape;1181;p46"/>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2" name="Google Shape;1182;p46"/>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183" name="Google Shape;1183;p46"/>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4" name="Google Shape;1184;p46"/>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5" name="Google Shape;1185;p46"/>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186" name="Google Shape;1186;p46"/>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187" name="Google Shape;1187;p46"/>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8" name="Google Shape;1188;p46"/>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189" name="Google Shape;1189;p46"/>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0" name="Google Shape;1190;p46"/>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191" name="Google Shape;1191;p46"/>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2" name="Google Shape;1192;p46"/>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193" name="Google Shape;1193;p46"/>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194" name="Google Shape;1194;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9" name="Shape 1199"/>
        <p:cNvGrpSpPr/>
        <p:nvPr/>
      </p:nvGrpSpPr>
      <p:grpSpPr>
        <a:xfrm>
          <a:off x="0" y="0"/>
          <a:ext cx="0" cy="0"/>
          <a:chOff x="0" y="0"/>
          <a:chExt cx="0" cy="0"/>
        </a:xfrm>
      </p:grpSpPr>
      <p:sp>
        <p:nvSpPr>
          <p:cNvPr id="1200" name="Google Shape;1200;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01" name="Google Shape;1201;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02" name="Google Shape;1202;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03" name="Google Shape;1203;p47"/>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5" name="Google Shape;1205;p47"/>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06" name="Google Shape;1206;p47"/>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07" name="Google Shape;1207;p47"/>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09" name="Google Shape;1209;p47"/>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10" name="Google Shape;1210;p47"/>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1" name="Google Shape;1211;p47"/>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2" name="Google Shape;1212;p47"/>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13" name="Google Shape;1213;p47"/>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14" name="Google Shape;1214;p47"/>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5" name="Google Shape;1215;p47"/>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16" name="Google Shape;1216;p47"/>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17" name="Google Shape;1217;p47"/>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8" name="Google Shape;1218;p47"/>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9" name="Google Shape;1219;p47"/>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20" name="Google Shape;1220;p47"/>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21" name="Google Shape;1221;p47"/>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23" name="Google Shape;1223;p47"/>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24" name="Google Shape;1224;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9" name="Shape 1229"/>
        <p:cNvGrpSpPr/>
        <p:nvPr/>
      </p:nvGrpSpPr>
      <p:grpSpPr>
        <a:xfrm>
          <a:off x="0" y="0"/>
          <a:ext cx="0" cy="0"/>
          <a:chOff x="0" y="0"/>
          <a:chExt cx="0" cy="0"/>
        </a:xfrm>
      </p:grpSpPr>
      <p:sp>
        <p:nvSpPr>
          <p:cNvPr id="1230" name="Google Shape;1230;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1" name="Google Shape;1231;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32" name="Google Shape;1232;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33" name="Google Shape;1233;p48"/>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4" name="Google Shape;1234;p48"/>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5" name="Google Shape;1235;p48"/>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36" name="Google Shape;1236;p48"/>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37" name="Google Shape;1237;p48"/>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38" name="Google Shape;1238;p48"/>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9" name="Google Shape;1239;p48"/>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40" name="Google Shape;1240;p48"/>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1" name="Google Shape;1241;p48"/>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2" name="Google Shape;1242;p48"/>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43" name="Google Shape;1243;p48"/>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"I keep being disappointed"</a:t>
            </a:r>
            <a:endParaRPr b="0" i="0" spc="0" sz="1100" u="none" cap="none" strike="noStrike">
              <a:solidFill>
                <a:schemeClr val="dk1"/>
              </a:solidFill>
              <a:latin typeface="Calibri"/>
              <a:ea typeface="Calibri"/>
              <a:cs typeface="Calibri"/>
              <a:sym typeface="Calibri"/>
            </a:endParaRPr>
          </a:p>
        </p:txBody>
      </p:sp>
      <p:sp>
        <p:nvSpPr>
          <p:cNvPr id="1244" name="Google Shape;1244;p48"/>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45" name="Google Shape;1245;p48"/>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6" name="Google Shape;1246;p48"/>
          <p:cNvSpPr txBox="1"/>
          <p:nvPr/>
        </p:nvSpPr>
        <p:spPr>
          <a:xfrm>
            <a:off x="5989320" y="23042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“Given your experience we'll waive all fees… I'd love to set you up with someone great.”</a:t>
            </a:r>
            <a:endParaRPr b="0" i="0" spc="0" sz="850" u="none" cap="none" strike="noStrike">
              <a:solidFill>
                <a:schemeClr val="dk1"/>
              </a:solidFill>
              <a:latin typeface="Calibri"/>
              <a:ea typeface="Calibri"/>
              <a:cs typeface="Calibri"/>
              <a:sym typeface="Calibri"/>
            </a:endParaRPr>
          </a:p>
        </p:txBody>
      </p:sp>
      <p:sp>
        <p:nvSpPr>
          <p:cNvPr id="1247" name="Google Shape;1247;p48"/>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8" name="Google Shape;1248;p48"/>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9" name="Google Shape;1249;p48"/>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50" name="Google Shape;1250;p48"/>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51" name="Google Shape;1251;p48"/>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52" name="Google Shape;1252;p48"/>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3" name="Google Shape;1253;p48"/>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54" name="Google Shape;1254;p48"/>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5" name="Google Shape;1255;p48"/>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56" name="Google Shape;1256;p48"/>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57" name="Google Shape;1257;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2" name="Shape 1262"/>
        <p:cNvGrpSpPr/>
        <p:nvPr/>
      </p:nvGrpSpPr>
      <p:grpSpPr>
        <a:xfrm>
          <a:off x="0" y="0"/>
          <a:ext cx="0" cy="0"/>
          <a:chOff x="0" y="0"/>
          <a:chExt cx="0" cy="0"/>
        </a:xfrm>
      </p:grpSpPr>
      <p:sp>
        <p:nvSpPr>
          <p:cNvPr id="1263" name="Google Shape;1263;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65" name="Google Shape;1265;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66" name="Google Shape;1266;p49"/>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268" name="Google Shape;1268;p49"/>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270" name="Google Shape;1270;p49"/>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272" name="Google Shape;1272;p49"/>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273" name="Google Shape;1273;p49"/>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4" name="Google Shape;1274;p49"/>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275" name="Google Shape;1275;p49"/>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276" name="Google Shape;1276;p49"/>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7" name="Google Shape;1277;p49"/>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278" name="Google Shape;1278;p49"/>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279" name="Google Shape;127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4" name="Shape 1284"/>
        <p:cNvGrpSpPr/>
        <p:nvPr/>
      </p:nvGrpSpPr>
      <p:grpSpPr>
        <a:xfrm>
          <a:off x="0" y="0"/>
          <a:ext cx="0" cy="0"/>
          <a:chOff x="0" y="0"/>
          <a:chExt cx="0" cy="0"/>
        </a:xfrm>
      </p:grpSpPr>
      <p:sp>
        <p:nvSpPr>
          <p:cNvPr id="1285" name="Google Shape;128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86" name="Google Shape;128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Probe, even when you know why</a:t>
            </a:r>
            <a:endParaRPr b="0" i="0" spc="0" sz="2400" u="none" cap="none" strike="noStrike">
              <a:solidFill>
                <a:schemeClr val="dk1"/>
              </a:solidFill>
              <a:latin typeface="Calibri"/>
              <a:ea typeface="Calibri"/>
              <a:cs typeface="Calibri"/>
              <a:sym typeface="Calibri"/>
            </a:endParaRPr>
          </a:p>
        </p:txBody>
      </p:sp>
      <p:sp>
        <p:nvSpPr>
          <p:cNvPr id="1287" name="Google Shape;128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Let the customer say it to you directly.</a:t>
            </a:r>
            <a:endParaRPr b="0" i="0" spc="0" sz="1200" u="none" cap="none" strike="noStrike">
              <a:solidFill>
                <a:schemeClr val="dk1"/>
              </a:solidFill>
              <a:latin typeface="Calibri"/>
              <a:ea typeface="Calibri"/>
              <a:cs typeface="Calibri"/>
              <a:sym typeface="Calibri"/>
            </a:endParaRPr>
          </a:p>
        </p:txBody>
      </p:sp>
      <p:sp>
        <p:nvSpPr>
          <p:cNvPr id="1288" name="Google Shape;1288;p50"/>
          <p:cNvSpPr/>
          <p:nvPr/>
        </p:nvSpPr>
        <p:spPr>
          <a:xfrm>
            <a:off x="411480" y="1325880"/>
            <a:ext cx="4069080" cy="1143000"/>
          </a:xfrm>
          <a:prstGeom prst="roundRect">
            <a:avLst>
              <a:gd fmla="val 64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9" name="Google Shape;1289;p50"/>
          <p:cNvSpPr/>
          <p:nvPr/>
        </p:nvSpPr>
        <p:spPr>
          <a:xfrm>
            <a:off x="411480" y="1399032"/>
            <a:ext cx="45720" cy="9966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0" name="Google Shape;1290;p50"/>
          <p:cNvSpPr txBox="1"/>
          <p:nvPr/>
        </p:nvSpPr>
        <p:spPr>
          <a:xfrm>
            <a:off x="594360" y="1325880"/>
            <a:ext cx="3749040" cy="114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WEAK: ASSUMPTION-BASED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sorry to hear you want to cancel, do you mind sharing why?”</a:t>
            </a:r>
            <a:endParaRPr b="0" i="0" spc="0" sz="1000" u="none" cap="none" strike="noStrike">
              <a:solidFill>
                <a:schemeClr val="dk1"/>
              </a:solidFill>
              <a:latin typeface="Calibri"/>
              <a:ea typeface="Calibri"/>
              <a:cs typeface="Calibri"/>
              <a:sym typeface="Calibri"/>
            </a:endParaRPr>
          </a:p>
        </p:txBody>
      </p:sp>
      <p:sp>
        <p:nvSpPr>
          <p:cNvPr id="1291" name="Google Shape;1291;p50"/>
          <p:cNvSpPr/>
          <p:nvPr/>
        </p:nvSpPr>
        <p:spPr>
          <a:xfrm>
            <a:off x="4663440" y="1325880"/>
            <a:ext cx="4069080" cy="1143000"/>
          </a:xfrm>
          <a:prstGeom prst="roundRect">
            <a:avLst>
              <a:gd fmla="val 64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2" name="Google Shape;1292;p50"/>
          <p:cNvSpPr/>
          <p:nvPr/>
        </p:nvSpPr>
        <p:spPr>
          <a:xfrm>
            <a:off x="4663440" y="1399032"/>
            <a:ext cx="45720" cy="9966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3" name="Google Shape;1293;p50"/>
          <p:cNvSpPr txBox="1"/>
          <p:nvPr/>
        </p:nvSpPr>
        <p:spPr>
          <a:xfrm>
            <a:off x="4846320" y="1325880"/>
            <a:ext cx="3749040" cy="114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STRONG: CUSTOMER-LED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“Your cleaner mentioned you want to cancel the service, but I'd like to hear directly from you. Would you mind sharing what led you to consider canceling?”</a:t>
            </a:r>
            <a:endParaRPr b="0" i="0" spc="0" sz="1000" u="none" cap="none" strike="noStrike">
              <a:solidFill>
                <a:schemeClr val="dk1"/>
              </a:solidFill>
              <a:latin typeface="Calibri"/>
              <a:ea typeface="Calibri"/>
              <a:cs typeface="Calibri"/>
              <a:sym typeface="Calibri"/>
            </a:endParaRPr>
          </a:p>
        </p:txBody>
      </p:sp>
      <p:sp>
        <p:nvSpPr>
          <p:cNvPr id="1294" name="Google Shape;1294;p50"/>
          <p:cNvSpPr/>
          <p:nvPr/>
        </p:nvSpPr>
        <p:spPr>
          <a:xfrm>
            <a:off x="411480" y="2606040"/>
            <a:ext cx="914400" cy="274320"/>
          </a:xfrm>
          <a:prstGeom prst="roundRect">
            <a:avLst>
              <a:gd fmla="val 26667"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Weak</a:t>
            </a:r>
            <a:endParaRPr b="0" i="0" spc="0" sz="900" u="none" cap="none" strike="noStrike">
              <a:solidFill>
                <a:schemeClr val="dk1"/>
              </a:solidFill>
              <a:latin typeface="Calibri"/>
              <a:ea typeface="Calibri"/>
              <a:cs typeface="Calibri"/>
              <a:sym typeface="Calibri"/>
            </a:endParaRPr>
          </a:p>
        </p:txBody>
      </p:sp>
      <p:sp>
        <p:nvSpPr>
          <p:cNvPr id="1295" name="Google Shape;1295;p50"/>
          <p:cNvSpPr/>
          <p:nvPr/>
        </p:nvSpPr>
        <p:spPr>
          <a:xfrm>
            <a:off x="4663440" y="2606040"/>
            <a:ext cx="914400" cy="274320"/>
          </a:xfrm>
          <a:prstGeom prst="roundRect">
            <a:avLst>
              <a:gd fmla="val 26667" name="adj"/>
            </a:avLst>
          </a:prstGeom>
          <a:solidFill>
            <a:srgbClr val="E3F4F1"/>
          </a:solidFill>
          <a:ln cap="flat" cmpd="sng" w="9525">
            <a:solidFill>
              <a:srgbClr val="E3F4F1"/>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  Strong</a:t>
            </a:r>
            <a:endParaRPr b="0" i="0" spc="0" sz="900" u="none" cap="none" strike="noStrike">
              <a:solidFill>
                <a:schemeClr val="dk1"/>
              </a:solidFill>
              <a:latin typeface="Calibri"/>
              <a:ea typeface="Calibri"/>
              <a:cs typeface="Calibri"/>
              <a:sym typeface="Calibri"/>
            </a:endParaRPr>
          </a:p>
        </p:txBody>
      </p:sp>
      <p:sp>
        <p:nvSpPr>
          <p:cNvPr id="1296" name="Google Shape;1296;p50"/>
          <p:cNvSpPr/>
          <p:nvPr/>
        </p:nvSpPr>
        <p:spPr>
          <a:xfrm>
            <a:off x="411480" y="31089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7" name="Google Shape;1297;p50"/>
          <p:cNvPicPr preferRelativeResize="0"/>
          <p:nvPr/>
        </p:nvPicPr>
        <p:blipFill rotWithShape="1">
          <a:blip r:embed="rId3">
            <a:alphaModFix/>
          </a:blip>
          <a:srcRect b="0" l="0" r="0" t="0"/>
          <a:stretch/>
        </p:blipFill>
        <p:spPr>
          <a:xfrm>
            <a:off x="566928" y="3218688"/>
            <a:ext cx="164592" cy="164592"/>
          </a:xfrm>
          <a:prstGeom prst="rect">
            <a:avLst/>
          </a:prstGeom>
          <a:noFill/>
          <a:ln>
            <a:noFill/>
          </a:ln>
        </p:spPr>
      </p:pic>
      <p:sp>
        <p:nvSpPr>
          <p:cNvPr id="1298" name="Google Shape;1298;p50"/>
          <p:cNvSpPr txBox="1"/>
          <p:nvPr/>
        </p:nvSpPr>
        <p:spPr>
          <a:xfrm>
            <a:off x="822960" y="32095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customers who explain their own situation are more likely to stay.</a:t>
            </a:r>
            <a:endParaRPr b="0" i="0" spc="0" sz="1000" u="none" cap="none" strike="noStrike">
              <a:solidFill>
                <a:schemeClr val="dk1"/>
              </a:solidFill>
              <a:latin typeface="Calibri"/>
              <a:ea typeface="Calibri"/>
              <a:cs typeface="Calibri"/>
              <a:sym typeface="Calibri"/>
            </a:endParaRPr>
          </a:p>
        </p:txBody>
      </p:sp>
      <p:sp>
        <p:nvSpPr>
          <p:cNvPr id="1299" name="Google Shape;1299;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4" name="Shape 1304"/>
        <p:cNvGrpSpPr/>
        <p:nvPr/>
      </p:nvGrpSpPr>
      <p:grpSpPr>
        <a:xfrm>
          <a:off x="0" y="0"/>
          <a:ext cx="0" cy="0"/>
          <a:chOff x="0" y="0"/>
          <a:chExt cx="0" cy="0"/>
        </a:xfrm>
      </p:grpSpPr>
      <p:sp>
        <p:nvSpPr>
          <p:cNvPr id="1305" name="Google Shape;1305;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06" name="Google Shape;1306;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07" name="Google Shape;1307;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08" name="Google Shape;1308;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09" name="Google Shape;1309;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0" name="Google Shape;1310;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1" name="Google Shape;1311;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12" name="Google Shape;1312;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13" name="Google Shape;1313;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4" name="Google Shape;1314;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15" name="Google Shape;1315;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6" name="Google Shape;1316;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7" name="Google Shape;1317;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19" name="Google Shape;1319;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0" name="Google Shape;1320;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REFRAME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24" name="Google Shape;1324;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25" name="Google Shape;1325;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26" name="Google Shape;1326;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27" name="Google Shape;1327;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2" name="Shape 1332"/>
        <p:cNvGrpSpPr/>
        <p:nvPr/>
      </p:nvGrpSpPr>
      <p:grpSpPr>
        <a:xfrm>
          <a:off x="0" y="0"/>
          <a:ext cx="0" cy="0"/>
          <a:chOff x="0" y="0"/>
          <a:chExt cx="0" cy="0"/>
        </a:xfrm>
      </p:grpSpPr>
      <p:sp>
        <p:nvSpPr>
          <p:cNvPr id="1333" name="Google Shape;1333;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34" name="Google Shape;1334;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35" name="Google Shape;1335;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36" name="Google Shape;1336;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7" name="Google Shape;1337;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8" name="Google Shape;1338;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39" name="Google Shape;1339;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40" name="Google Shape;1340;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1" name="Google Shape;1341;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2" name="Google Shape;1342;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43" name="Google Shape;1343;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44" name="Google Shape;1344;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5" name="Google Shape;1345;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6" name="Google Shape;1346;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47" name="Google Shape;1347;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48" name="Google Shape;1348;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51" name="Google Shape;1351;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3" name="Google Shape;1353;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54" name="Google Shape;1354;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55" name="Google Shape;1355;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0" name="Shape 1360"/>
        <p:cNvGrpSpPr/>
        <p:nvPr/>
      </p:nvGrpSpPr>
      <p:grpSpPr>
        <a:xfrm>
          <a:off x="0" y="0"/>
          <a:ext cx="0" cy="0"/>
          <a:chOff x="0" y="0"/>
          <a:chExt cx="0" cy="0"/>
        </a:xfrm>
      </p:grpSpPr>
      <p:sp>
        <p:nvSpPr>
          <p:cNvPr id="1361" name="Google Shape;1361;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62" name="Google Shape;1362;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63" name="Google Shape;1363;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4" name="Google Shape;1364;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5" name="Google Shape;1365;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66" name="Google Shape;1366;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67" name="Google Shape;1367;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8" name="Google Shape;1368;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69" name="Google Shape;1369;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0" name="Google Shape;1370;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1" name="Google Shape;1371;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72" name="Google Shape;1372;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73" name="Google Shape;1373;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4" name="Google Shape;1374;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87" name="Google Shape;1387;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68"/>
                                        </p:tgtEl>
                                        <p:attrNameLst>
                                          <p:attrName>style.visibility</p:attrName>
                                        </p:attrNameLst>
                                      </p:cBhvr>
                                      <p:to>
                                        <p:strVal val="visible"/>
                                      </p:to>
                                    </p:set>
                                    <p:animEffect filter="fade" transition="in">
                                      <p:cBhvr>
                                        <p:cTn dur="600"/>
                                        <p:tgtEl>
                                          <p:spTgt spid="13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4"/>
                                        </p:tgtEl>
                                        <p:attrNameLst>
                                          <p:attrName>style.visibility</p:attrName>
                                        </p:attrNameLst>
                                      </p:cBhvr>
                                      <p:to>
                                        <p:strVal val="visible"/>
                                      </p:to>
                                    </p:set>
                                    <p:animEffect filter="fade" transition="in">
                                      <p:cBhvr>
                                        <p:cTn dur="600"/>
                                        <p:tgtEl>
                                          <p:spTgt spid="13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394" name="Google Shape;1394;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395" name="Google Shape;1395;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396" name="Google Shape;1396;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7" name="Google Shape;1397;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8" name="Google Shape;1398;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399" name="Google Shape;1399;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00" name="Google Shape;1400;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01" name="Google Shape;1401;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02" name="Google Shape;1402;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3" name="Google Shape;1403;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4" name="Google Shape;1404;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05" name="Google Shape;1405;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07" name="Google Shape;1407;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8" name="Google Shape;1408;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10" name="Google Shape;1410;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11" name="Google Shape;1411;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12" name="Google Shape;1412;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3" name="Google Shape;1413;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4" name="Google Shape;1414;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15" name="Google Shape;1415;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16" name="Google Shape;1416;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17" name="Google Shape;1417;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8" name="Google Shape;1418;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19" name="Google Shape;1419;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20" name="Google Shape;1420;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5" name="Shape 1425"/>
        <p:cNvGrpSpPr/>
        <p:nvPr/>
      </p:nvGrpSpPr>
      <p:grpSpPr>
        <a:xfrm>
          <a:off x="0" y="0"/>
          <a:ext cx="0" cy="0"/>
          <a:chOff x="0" y="0"/>
          <a:chExt cx="0" cy="0"/>
        </a:xfrm>
      </p:grpSpPr>
      <p:sp>
        <p:nvSpPr>
          <p:cNvPr id="1426" name="Google Shape;1426;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27" name="Google Shape;1427;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28" name="Google Shape;1428;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29" name="Google Shape;1429;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30" name="Google Shape;1430;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1" name="Google Shape;1431;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32" name="Google Shape;1432;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33" name="Google Shape;1433;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4" name="Google Shape;1434;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35" name="Google Shape;1435;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36" name="Google Shape;1436;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7" name="Google Shape;1437;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38" name="Google Shape;1438;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39" name="Google Shape;1439;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0" name="Google Shape;1440;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41" name="Google Shape;1441;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42" name="Google Shape;1442;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3" name="Google Shape;1443;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44" name="Google Shape;1444;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45" name="Google Shape;1445;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6" name="Google Shape;1446;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7" name="Google Shape;1447;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8" name="Google Shape;1448;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9" name="Google Shape;1449;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0" name="Google Shape;1450;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1" name="Google Shape;1451;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6" name="Shape 1456"/>
        <p:cNvGrpSpPr/>
        <p:nvPr/>
      </p:nvGrpSpPr>
      <p:grpSpPr>
        <a:xfrm>
          <a:off x="0" y="0"/>
          <a:ext cx="0" cy="0"/>
          <a:chOff x="0" y="0"/>
          <a:chExt cx="0" cy="0"/>
        </a:xfrm>
      </p:grpSpPr>
      <p:sp>
        <p:nvSpPr>
          <p:cNvPr id="1457" name="Google Shape;1457;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58" name="Google Shape;1458;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59" name="Google Shape;1459;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60" name="Google Shape;1460;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62" name="Google Shape;1462;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63" name="Google Shape;1463;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64" name="Google Shape;1464;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5" name="Google Shape;1465;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66" name="Google Shape;1466;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67" name="Google Shape;1467;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68" name="Google Shape;1468;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9" name="Google Shape;1469;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70" name="Google Shape;1470;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1" name="Google Shape;1471;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72" name="Google Shape;1472;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74" name="Google Shape;1474;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75" name="Google Shape;1475;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76" name="Google Shape;1476;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77" name="Google Shape;1477;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78" name="Google Shape;1478;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9" name="Google Shape;1479;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80" name="Google Shape;1480;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5" name="Shape 1485"/>
        <p:cNvGrpSpPr/>
        <p:nvPr/>
      </p:nvGrpSpPr>
      <p:grpSpPr>
        <a:xfrm>
          <a:off x="0" y="0"/>
          <a:ext cx="0" cy="0"/>
          <a:chOff x="0" y="0"/>
          <a:chExt cx="0" cy="0"/>
        </a:xfrm>
      </p:grpSpPr>
      <p:sp>
        <p:nvSpPr>
          <p:cNvPr id="1486" name="Google Shape;1486;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87" name="Google Shape;1487;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488" name="Google Shape;1488;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489" name="Google Shape;1489;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0" name="Google Shape;1490;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92" name="Google Shape;1492;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93" name="Google Shape;1493;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494" name="Google Shape;1494;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495" name="Google Shape;1495;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Remind them once about the membership.</a:t>
            </a:r>
            <a:endParaRPr b="0" i="0" spc="0" sz="1000" u="none" cap="none" strike="noStrike">
              <a:solidFill>
                <a:schemeClr val="dk1"/>
              </a:solidFill>
              <a:latin typeface="Calibri"/>
              <a:ea typeface="Calibri"/>
              <a:cs typeface="Calibri"/>
              <a:sym typeface="Calibri"/>
            </a:endParaRPr>
          </a:p>
        </p:txBody>
      </p:sp>
      <p:sp>
        <p:nvSpPr>
          <p:cNvPr id="1496" name="Google Shape;1496;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7" name="Google Shape;1497;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8" name="Google Shape;1498;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99" name="Google Shape;1499;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0" name="Google Shape;1500;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01" name="Google Shape;1501;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02" name="Google Shape;1502;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03" name="Google Shape;1503;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4" name="Google Shape;1504;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5" name="Google Shape;1505;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06" name="Google Shape;1506;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7" name="Google Shape;1507;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08" name="Google Shape;1508;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09" name="Google Shape;1509;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10" name="Google Shape;1510;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1" name="Google Shape;1511;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2" name="Google Shape;1512;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13" name="Google Shape;1513;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4" name="Google Shape;1514;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15" name="Google Shape;1515;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16" name="Google Shape;1516;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17" name="Google Shape;1517;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2" name="Shape 1522"/>
        <p:cNvGrpSpPr/>
        <p:nvPr/>
      </p:nvGrpSpPr>
      <p:grpSpPr>
        <a:xfrm>
          <a:off x="0" y="0"/>
          <a:ext cx="0" cy="0"/>
          <a:chOff x="0" y="0"/>
          <a:chExt cx="0" cy="0"/>
        </a:xfrm>
      </p:grpSpPr>
      <p:sp>
        <p:nvSpPr>
          <p:cNvPr id="1523" name="Google Shape;1523;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24" name="Google Shape;1524;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25" name="Google Shape;1525;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26" name="Google Shape;1526;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7" name="Google Shape;1527;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8" name="Google Shape;1528;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29" name="Google Shape;1529;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30" name="Google Shape;1530;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31" name="Google Shape;1531;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2" name="Google Shape;1532;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33" name="Google Shape;1533;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34" name="Google Shape;1534;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Remind them once</a:t>
            </a:r>
            <a:endParaRPr b="0" i="0" spc="0" sz="1200" u="none" cap="none" strike="noStrike">
              <a:solidFill>
                <a:schemeClr val="dk1"/>
              </a:solidFill>
              <a:latin typeface="Calibri"/>
              <a:ea typeface="Calibri"/>
              <a:cs typeface="Calibri"/>
              <a:sym typeface="Calibri"/>
            </a:endParaRPr>
          </a:p>
        </p:txBody>
      </p:sp>
      <p:sp>
        <p:nvSpPr>
          <p:cNvPr id="1535" name="Google Shape;1535;p58"/>
          <p:cNvSpPr txBox="1"/>
          <p:nvPr/>
        </p:nvSpPr>
        <p:spPr>
          <a:xfrm>
            <a:off x="33954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36" name="Google Shape;1536;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7" name="Google Shape;1537;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38" name="Google Shape;1538;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39" name="Google Shape;1539;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40" name="Google Shape;1540;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41" name="Google Shape;1541;p58"/>
          <p:cNvSpPr/>
          <p:nvPr/>
        </p:nvSpPr>
        <p:spPr>
          <a:xfrm>
            <a:off x="411480" y="2743200"/>
            <a:ext cx="8321040" cy="594360"/>
          </a:xfrm>
          <a:prstGeom prst="roundRect">
            <a:avLst>
              <a:gd fmla="val 12308"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2" name="Google Shape;1542;p58"/>
          <p:cNvSpPr/>
          <p:nvPr/>
        </p:nvSpPr>
        <p:spPr>
          <a:xfrm>
            <a:off x="411480" y="2816352"/>
            <a:ext cx="45720" cy="44805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3" name="Google Shape;1543;p58"/>
          <p:cNvSpPr txBox="1"/>
          <p:nvPr/>
        </p:nvSpPr>
        <p:spPr>
          <a:xfrm>
            <a:off x="594360" y="2743200"/>
            <a:ext cx="80010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THIS IS ENOUGH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“Just a quick reminder, your voucher comes with a membership which will start once it's used.”</a:t>
            </a:r>
            <a:endParaRPr b="0" i="0" spc="0" sz="1000" u="none" cap="none" strike="noStrike">
              <a:solidFill>
                <a:schemeClr val="dk1"/>
              </a:solidFill>
              <a:latin typeface="Calibri"/>
              <a:ea typeface="Calibri"/>
              <a:cs typeface="Calibri"/>
              <a:sym typeface="Calibri"/>
            </a:endParaRPr>
          </a:p>
        </p:txBody>
      </p:sp>
      <p:sp>
        <p:nvSpPr>
          <p:cNvPr id="1544" name="Google Shape;1544;p58"/>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1546" name="Google Shape;1546;p58"/>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47" name="Google Shape;1547;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2" name="Shape 1552"/>
        <p:cNvGrpSpPr/>
        <p:nvPr/>
      </p:nvGrpSpPr>
      <p:grpSpPr>
        <a:xfrm>
          <a:off x="0" y="0"/>
          <a:ext cx="0" cy="0"/>
          <a:chOff x="0" y="0"/>
          <a:chExt cx="0" cy="0"/>
        </a:xfrm>
      </p:grpSpPr>
      <p:sp>
        <p:nvSpPr>
          <p:cNvPr id="1553" name="Google Shape;1553;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54" name="Google Shape;1554;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55" name="Google Shape;1555;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what you're solving before you offer anything.</a:t>
            </a:r>
            <a:endParaRPr b="0" i="0" spc="0" sz="1200" u="none" cap="none" strike="noStrike">
              <a:solidFill>
                <a:schemeClr val="dk1"/>
              </a:solidFill>
              <a:latin typeface="Calibri"/>
              <a:ea typeface="Calibri"/>
              <a:cs typeface="Calibri"/>
              <a:sym typeface="Calibri"/>
            </a:endParaRPr>
          </a:p>
        </p:txBody>
      </p:sp>
      <p:sp>
        <p:nvSpPr>
          <p:cNvPr id="1556" name="Google Shape;1556;p59"/>
          <p:cNvSpPr/>
          <p:nvPr/>
        </p:nvSpPr>
        <p:spPr>
          <a:xfrm>
            <a:off x="411480" y="129844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7" name="Google Shape;1557;p59"/>
          <p:cNvSpPr/>
          <p:nvPr/>
        </p:nvSpPr>
        <p:spPr>
          <a:xfrm>
            <a:off x="484632" y="1335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8" name="Google Shape;1558;p59"/>
          <p:cNvSpPr txBox="1"/>
          <p:nvPr/>
        </p:nvSpPr>
        <p:spPr>
          <a:xfrm>
            <a:off x="484632" y="1335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59" name="Google Shape;1559;p59"/>
          <p:cNvSpPr txBox="1"/>
          <p:nvPr/>
        </p:nvSpPr>
        <p:spPr>
          <a:xfrm>
            <a:off x="868680" y="129844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Reason given? If not, probe</a:t>
            </a:r>
            <a:endParaRPr b="0" i="0" spc="0" sz="950" u="none" cap="none" strike="noStrike">
              <a:solidFill>
                <a:schemeClr val="dk1"/>
              </a:solidFill>
              <a:latin typeface="Calibri"/>
              <a:ea typeface="Calibri"/>
              <a:cs typeface="Calibri"/>
              <a:sym typeface="Calibri"/>
            </a:endParaRPr>
          </a:p>
        </p:txBody>
      </p:sp>
      <p:sp>
        <p:nvSpPr>
          <p:cNvPr id="1560" name="Google Shape;1560;p59"/>
          <p:cNvSpPr/>
          <p:nvPr/>
        </p:nvSpPr>
        <p:spPr>
          <a:xfrm>
            <a:off x="411480" y="170078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9"/>
          <p:cNvSpPr/>
          <p:nvPr/>
        </p:nvSpPr>
        <p:spPr>
          <a:xfrm>
            <a:off x="484632" y="17373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2" name="Google Shape;1562;p59"/>
          <p:cNvSpPr txBox="1"/>
          <p:nvPr/>
        </p:nvSpPr>
        <p:spPr>
          <a:xfrm>
            <a:off x="484632" y="17373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63" name="Google Shape;1563;p59"/>
          <p:cNvSpPr txBox="1"/>
          <p:nvPr/>
        </p:nvSpPr>
        <p:spPr>
          <a:xfrm>
            <a:off x="868680" y="170078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Acknowledge</a:t>
            </a:r>
            <a:endParaRPr b="0" i="0" spc="0" sz="950" u="none" cap="none" strike="noStrike">
              <a:solidFill>
                <a:schemeClr val="dk1"/>
              </a:solidFill>
              <a:latin typeface="Calibri"/>
              <a:ea typeface="Calibri"/>
              <a:cs typeface="Calibri"/>
              <a:sym typeface="Calibri"/>
            </a:endParaRPr>
          </a:p>
        </p:txBody>
      </p:sp>
      <p:sp>
        <p:nvSpPr>
          <p:cNvPr id="1564" name="Google Shape;1564;p59"/>
          <p:cNvSpPr/>
          <p:nvPr/>
        </p:nvSpPr>
        <p:spPr>
          <a:xfrm>
            <a:off x="411480" y="2103120"/>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5" name="Google Shape;1565;p59"/>
          <p:cNvSpPr/>
          <p:nvPr/>
        </p:nvSpPr>
        <p:spPr>
          <a:xfrm>
            <a:off x="484632" y="213969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9"/>
          <p:cNvSpPr txBox="1"/>
          <p:nvPr/>
        </p:nvSpPr>
        <p:spPr>
          <a:xfrm>
            <a:off x="484632" y="213969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67" name="Google Shape;1567;p59"/>
          <p:cNvSpPr txBox="1"/>
          <p:nvPr/>
        </p:nvSpPr>
        <p:spPr>
          <a:xfrm>
            <a:off x="868680" y="2103120"/>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Fix the actual issue</a:t>
            </a:r>
            <a:endParaRPr b="0" i="0" spc="0" sz="950" u="none" cap="none" strike="noStrike">
              <a:solidFill>
                <a:schemeClr val="dk1"/>
              </a:solidFill>
              <a:latin typeface="Calibri"/>
              <a:ea typeface="Calibri"/>
              <a:cs typeface="Calibri"/>
              <a:sym typeface="Calibri"/>
            </a:endParaRPr>
          </a:p>
        </p:txBody>
      </p:sp>
      <p:sp>
        <p:nvSpPr>
          <p:cNvPr id="1568" name="Google Shape;1568;p59"/>
          <p:cNvSpPr/>
          <p:nvPr/>
        </p:nvSpPr>
        <p:spPr>
          <a:xfrm>
            <a:off x="411480" y="2505456"/>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9" name="Google Shape;1569;p59"/>
          <p:cNvSpPr/>
          <p:nvPr/>
        </p:nvSpPr>
        <p:spPr>
          <a:xfrm>
            <a:off x="484632" y="254203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0" name="Google Shape;1570;p59"/>
          <p:cNvSpPr txBox="1"/>
          <p:nvPr/>
        </p:nvSpPr>
        <p:spPr>
          <a:xfrm>
            <a:off x="484632" y="254203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71" name="Google Shape;1571;p59"/>
          <p:cNvSpPr txBox="1"/>
          <p:nvPr/>
        </p:nvSpPr>
        <p:spPr>
          <a:xfrm>
            <a:off x="868680" y="2505456"/>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Present the right offer</a:t>
            </a:r>
            <a:endParaRPr b="0" i="0" spc="0" sz="950" u="none" cap="none" strike="noStrike">
              <a:solidFill>
                <a:schemeClr val="dk1"/>
              </a:solidFill>
              <a:latin typeface="Calibri"/>
              <a:ea typeface="Calibri"/>
              <a:cs typeface="Calibri"/>
              <a:sym typeface="Calibri"/>
            </a:endParaRPr>
          </a:p>
        </p:txBody>
      </p:sp>
      <p:sp>
        <p:nvSpPr>
          <p:cNvPr id="1572" name="Google Shape;1572;p59"/>
          <p:cNvSpPr/>
          <p:nvPr/>
        </p:nvSpPr>
        <p:spPr>
          <a:xfrm>
            <a:off x="411480" y="2907792"/>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3" name="Google Shape;1573;p59"/>
          <p:cNvSpPr/>
          <p:nvPr/>
        </p:nvSpPr>
        <p:spPr>
          <a:xfrm>
            <a:off x="484632" y="2944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4" name="Google Shape;1574;p59"/>
          <p:cNvSpPr txBox="1"/>
          <p:nvPr/>
        </p:nvSpPr>
        <p:spPr>
          <a:xfrm>
            <a:off x="484632" y="2944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1575" name="Google Shape;1575;p59"/>
          <p:cNvSpPr txBox="1"/>
          <p:nvPr/>
        </p:nvSpPr>
        <p:spPr>
          <a:xfrm>
            <a:off x="868680" y="2907792"/>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Valid for a year. Comes with a membership</a:t>
            </a:r>
            <a:endParaRPr b="0" i="0" spc="0" sz="950" u="none" cap="none" strike="noStrike">
              <a:solidFill>
                <a:schemeClr val="dk1"/>
              </a:solidFill>
              <a:latin typeface="Calibri"/>
              <a:ea typeface="Calibri"/>
              <a:cs typeface="Calibri"/>
              <a:sym typeface="Calibri"/>
            </a:endParaRPr>
          </a:p>
        </p:txBody>
      </p:sp>
      <p:sp>
        <p:nvSpPr>
          <p:cNvPr id="1576" name="Google Shape;1576;p59"/>
          <p:cNvSpPr/>
          <p:nvPr/>
        </p:nvSpPr>
        <p:spPr>
          <a:xfrm>
            <a:off x="411480" y="331012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7" name="Google Shape;1577;p59"/>
          <p:cNvSpPr/>
          <p:nvPr/>
        </p:nvSpPr>
        <p:spPr>
          <a:xfrm>
            <a:off x="484632" y="334670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8" name="Google Shape;1578;p59"/>
          <p:cNvSpPr txBox="1"/>
          <p:nvPr/>
        </p:nvSpPr>
        <p:spPr>
          <a:xfrm>
            <a:off x="484632" y="334670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1579" name="Google Shape;1579;p59"/>
          <p:cNvSpPr txBox="1"/>
          <p:nvPr/>
        </p:nvSpPr>
        <p:spPr>
          <a:xfrm>
            <a:off x="868680" y="331012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1" i="0" lang="en-US" spc="0" sz="950" u="none" cap="none" strike="noStrike">
                <a:solidFill>
                  <a:srgbClr val="1D1D1F"/>
                </a:solidFill>
                <a:latin typeface="Arial"/>
                <a:ea typeface="Arial"/>
                <a:cs typeface="Arial"/>
                <a:sym typeface="Arial"/>
              </a:rPr>
              <a:t>Refund intent? Send the self-refund link</a:t>
            </a:r>
            <a:endParaRPr b="0" i="0" spc="0" sz="950" u="none" cap="none" strike="noStrike">
              <a:solidFill>
                <a:schemeClr val="dk1"/>
              </a:solidFill>
              <a:latin typeface="Calibri"/>
              <a:ea typeface="Calibri"/>
              <a:cs typeface="Calibri"/>
              <a:sym typeface="Calibri"/>
            </a:endParaRPr>
          </a:p>
        </p:txBody>
      </p:sp>
      <p:sp>
        <p:nvSpPr>
          <p:cNvPr id="1580" name="Google Shape;1580;p59"/>
          <p:cNvSpPr/>
          <p:nvPr/>
        </p:nvSpPr>
        <p:spPr>
          <a:xfrm>
            <a:off x="411480" y="371246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1" name="Google Shape;1581;p59"/>
          <p:cNvSpPr/>
          <p:nvPr/>
        </p:nvSpPr>
        <p:spPr>
          <a:xfrm>
            <a:off x="484632" y="3749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2" name="Google Shape;1582;p59"/>
          <p:cNvSpPr txBox="1"/>
          <p:nvPr/>
        </p:nvSpPr>
        <p:spPr>
          <a:xfrm>
            <a:off x="484632" y="3749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7</a:t>
            </a:r>
            <a:endParaRPr b="0" i="0" spc="0" sz="900" u="none" cap="none" strike="noStrike">
              <a:solidFill>
                <a:schemeClr val="dk1"/>
              </a:solidFill>
              <a:latin typeface="Calibri"/>
              <a:ea typeface="Calibri"/>
              <a:cs typeface="Calibri"/>
              <a:sym typeface="Calibri"/>
            </a:endParaRPr>
          </a:p>
        </p:txBody>
      </p:sp>
      <p:sp>
        <p:nvSpPr>
          <p:cNvPr id="1583" name="Google Shape;1583;p59"/>
          <p:cNvSpPr txBox="1"/>
          <p:nvPr/>
        </p:nvSpPr>
        <p:spPr>
          <a:xfrm>
            <a:off x="868680" y="371246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 appointments and RC if not wanted</a:t>
            </a:r>
            <a:endParaRPr b="0" i="0" spc="0" sz="950" u="none" cap="none" strike="noStrike">
              <a:solidFill>
                <a:schemeClr val="dk1"/>
              </a:solidFill>
              <a:latin typeface="Calibri"/>
              <a:ea typeface="Calibri"/>
              <a:cs typeface="Calibri"/>
              <a:sym typeface="Calibri"/>
            </a:endParaRPr>
          </a:p>
        </p:txBody>
      </p:sp>
      <p:sp>
        <p:nvSpPr>
          <p:cNvPr id="1584" name="Google Shape;1584;p59"/>
          <p:cNvSpPr/>
          <p:nvPr/>
        </p:nvSpPr>
        <p:spPr>
          <a:xfrm>
            <a:off x="4983480" y="1298448"/>
            <a:ext cx="374904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5" name="Google Shape;1585;p59"/>
          <p:cNvSpPr/>
          <p:nvPr/>
        </p:nvSpPr>
        <p:spPr>
          <a:xfrm>
            <a:off x="4983480" y="1298448"/>
            <a:ext cx="374904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Self-refund link</a:t>
            </a:r>
            <a:endParaRPr b="0" i="0" spc="0" sz="1050" u="none" cap="none" strike="noStrike">
              <a:solidFill>
                <a:schemeClr val="dk1"/>
              </a:solidFill>
              <a:latin typeface="Calibri"/>
              <a:ea typeface="Calibri"/>
              <a:cs typeface="Calibri"/>
              <a:sym typeface="Calibri"/>
            </a:endParaRPr>
          </a:p>
        </p:txBody>
      </p:sp>
      <p:sp>
        <p:nvSpPr>
          <p:cNvPr id="1586" name="Google Shape;1586;p59"/>
          <p:cNvSpPr txBox="1"/>
          <p:nvPr/>
        </p:nvSpPr>
        <p:spPr>
          <a:xfrm>
            <a:off x="5148072" y="1737360"/>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Only if they want a refund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Enter the voucher code before "Refund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Double-check the code in your message</a:t>
            </a:r>
            <a:endParaRPr b="0" i="0" spc="0" sz="950" u="none" cap="none" strike="noStrike">
              <a:solidFill>
                <a:schemeClr val="dk1"/>
              </a:solidFill>
              <a:latin typeface="Calibri"/>
              <a:ea typeface="Calibri"/>
              <a:cs typeface="Calibri"/>
              <a:sym typeface="Calibri"/>
            </a:endParaRPr>
          </a:p>
        </p:txBody>
      </p:sp>
      <p:sp>
        <p:nvSpPr>
          <p:cNvPr id="1587" name="Google Shape;1587;p59"/>
          <p:cNvSpPr/>
          <p:nvPr/>
        </p:nvSpPr>
        <p:spPr>
          <a:xfrm>
            <a:off x="4983480" y="2743200"/>
            <a:ext cx="374904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8" name="Google Shape;1588;p59"/>
          <p:cNvSpPr/>
          <p:nvPr/>
        </p:nvSpPr>
        <p:spPr>
          <a:xfrm>
            <a:off x="4983480" y="2743200"/>
            <a:ext cx="374904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insists on a refund?</a:t>
            </a:r>
            <a:endParaRPr b="0" i="0" spc="0" sz="1050" u="none" cap="none" strike="noStrike">
              <a:solidFill>
                <a:schemeClr val="dk1"/>
              </a:solidFill>
              <a:latin typeface="Calibri"/>
              <a:ea typeface="Calibri"/>
              <a:cs typeface="Calibri"/>
              <a:sym typeface="Calibri"/>
            </a:endParaRPr>
          </a:p>
        </p:txBody>
      </p:sp>
      <p:sp>
        <p:nvSpPr>
          <p:cNvPr id="1589" name="Google Shape;1589;p59"/>
          <p:cNvSpPr txBox="1"/>
          <p:nvPr/>
        </p:nvSpPr>
        <p:spPr>
          <a:xfrm>
            <a:off x="5148072" y="3182112"/>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CRM &gt; voucher &gt; refund DHJ/FC, then invalidate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in 5–10 business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Deactivate the FC table if there is one</a:t>
            </a:r>
            <a:endParaRPr b="0" i="0" spc="0" sz="950" u="none" cap="none" strike="noStrike">
              <a:solidFill>
                <a:schemeClr val="dk1"/>
              </a:solidFill>
              <a:latin typeface="Calibri"/>
              <a:ea typeface="Calibri"/>
              <a:cs typeface="Calibri"/>
              <a:sym typeface="Calibri"/>
            </a:endParaRPr>
          </a:p>
        </p:txBody>
      </p:sp>
      <p:sp>
        <p:nvSpPr>
          <p:cNvPr id="1590" name="Google Shape;1590;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5" name="Shape 1595"/>
        <p:cNvGrpSpPr/>
        <p:nvPr/>
      </p:nvGrpSpPr>
      <p:grpSpPr>
        <a:xfrm>
          <a:off x="0" y="0"/>
          <a:ext cx="0" cy="0"/>
          <a:chOff x="0" y="0"/>
          <a:chExt cx="0" cy="0"/>
        </a:xfrm>
      </p:grpSpPr>
      <p:sp>
        <p:nvSpPr>
          <p:cNvPr id="1596" name="Google Shape;1596;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97" name="Google Shape;1597;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Which offer?</a:t>
            </a:r>
            <a:endParaRPr b="0" i="0" spc="0" sz="2400" u="none" cap="none" strike="noStrike">
              <a:solidFill>
                <a:schemeClr val="dk1"/>
              </a:solidFill>
              <a:latin typeface="Calibri"/>
              <a:ea typeface="Calibri"/>
              <a:cs typeface="Calibri"/>
              <a:sym typeface="Calibri"/>
            </a:endParaRPr>
          </a:p>
        </p:txBody>
      </p:sp>
      <p:sp>
        <p:nvSpPr>
          <p:cNvPr id="1598" name="Google Shape;1598;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Strategy Table for unused DHJ vouchers.</a:t>
            </a:r>
            <a:endParaRPr b="0" i="0" spc="0" sz="1200" u="none" cap="none" strike="noStrike">
              <a:solidFill>
                <a:schemeClr val="dk1"/>
              </a:solidFill>
              <a:latin typeface="Calibri"/>
              <a:ea typeface="Calibri"/>
              <a:cs typeface="Calibri"/>
              <a:sym typeface="Calibri"/>
            </a:endParaRPr>
          </a:p>
        </p:txBody>
      </p:sp>
      <p:graphicFrame>
        <p:nvGraphicFramePr>
          <p:cNvPr id="1599" name="Google Shape;1599;p60"/>
          <p:cNvGraphicFramePr/>
          <p:nvPr/>
        </p:nvGraphicFramePr>
        <p:xfrm>
          <a:off x="411480" y="1298448"/>
          <a:ext cx="3000000" cy="3000000"/>
        </p:xfrm>
        <a:graphic>
          <a:graphicData uri="http://schemas.openxmlformats.org/drawingml/2006/table">
            <a:tbl>
              <a:tblPr>
                <a:noFill/>
                <a:tableStyleId>{5A3C36C2-DF10-40EA-8E4B-E3075D344CA5}</a:tableStyleId>
              </a:tblPr>
              <a:tblGrid>
                <a:gridCol w="1371600"/>
                <a:gridCol w="4114800"/>
                <a:gridCol w="2834650"/>
              </a:tblGrid>
              <a:tr h="347475">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Root cause</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Condition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Offer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CP no-show, CP cancellation, no CP claim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$10–$20 credits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Found another cleaner, wants same-day, moved, no phone support, will self-clean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MF is expensive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MF −$10–$15 off the original MF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MCT is too long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MCT −2 months from the original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Doesn't want a membership at all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Mention flexible terms; OTC if it fits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one cleaning only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One-time cleaning: full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to try it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Trial Cleaning: regular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00" name="Google Shape;1600;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5" name="Shape 1605"/>
        <p:cNvGrpSpPr/>
        <p:nvPr/>
      </p:nvGrpSpPr>
      <p:grpSpPr>
        <a:xfrm>
          <a:off x="0" y="0"/>
          <a:ext cx="0" cy="0"/>
          <a:chOff x="0" y="0"/>
          <a:chExt cx="0" cy="0"/>
        </a:xfrm>
      </p:grpSpPr>
      <p:sp>
        <p:nvSpPr>
          <p:cNvPr id="1606" name="Google Shape;1606;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7" name="Google Shape;1607;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08" name="Google Shape;1608;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09" name="Google Shape;1609;p61"/>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10" name="Google Shape;1610;p61"/>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11" name="Google Shape;1611;p61"/>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12" name="Google Shape;1612;p61"/>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61"/>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4" name="Google Shape;1614;p61"/>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15" name="Google Shape;1615;p61"/>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16" name="Google Shape;1616;p61"/>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7" name="Google Shape;1617;p61"/>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8" name="Google Shape;1618;p61"/>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19" name="Google Shape;1619;p61"/>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20" name="Google Shape;1620;p61"/>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1" name="Google Shape;1621;p61"/>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2" name="Google Shape;1622;p61"/>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23" name="Google Shape;1623;p61"/>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24" name="Google Shape;1624;p61"/>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5" name="Google Shape;1625;p61"/>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6" name="Google Shape;1626;p61"/>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27" name="Google Shape;1627;p61"/>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28" name="Google Shape;1628;p61"/>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9" name="Google Shape;1629;p61"/>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30" name="Google Shape;1630;p61"/>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31" name="Google Shape;1631;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6" name="Shape 1636"/>
        <p:cNvGrpSpPr/>
        <p:nvPr/>
      </p:nvGrpSpPr>
      <p:grpSpPr>
        <a:xfrm>
          <a:off x="0" y="0"/>
          <a:ext cx="0" cy="0"/>
          <a:chOff x="0" y="0"/>
          <a:chExt cx="0" cy="0"/>
        </a:xfrm>
      </p:grpSpPr>
      <p:sp>
        <p:nvSpPr>
          <p:cNvPr id="1637" name="Google Shape;1637;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38" name="Google Shape;1638;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39" name="Google Shape;1639;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40" name="Google Shape;1640;p62"/>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6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42" name="Google Shape;1642;p6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43" name="Google Shape;1643;p6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44" name="Google Shape;1644;p62"/>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45" name="Google Shape;1645;p62"/>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6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47" name="Google Shape;1647;p6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48" name="Google Shape;1648;p6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49" name="Google Shape;1649;p62"/>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650" name="Google Shape;1650;p62"/>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1" name="Google Shape;1651;p6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52" name="Google Shape;1652;p6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53" name="Google Shape;1653;p6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654" name="Google Shape;1654;p62"/>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655" name="Google Shape;1655;p62"/>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56" name="Google Shape;1656;p62"/>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657" name="Google Shape;1657;p62"/>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658" name="Google Shape;1658;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3" name="Shape 1663"/>
        <p:cNvGrpSpPr/>
        <p:nvPr/>
      </p:nvGrpSpPr>
      <p:grpSpPr>
        <a:xfrm>
          <a:off x="0" y="0"/>
          <a:ext cx="0" cy="0"/>
          <a:chOff x="0" y="0"/>
          <a:chExt cx="0" cy="0"/>
        </a:xfrm>
      </p:grpSpPr>
      <p:sp>
        <p:nvSpPr>
          <p:cNvPr id="1664" name="Google Shape;1664;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665" name="Google Shape;1665;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666" name="Google Shape;1666;p6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7" name="Google Shape;1667;p6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8" name="Google Shape;1668;p6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69" name="Google Shape;1669;p6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670" name="Google Shape;1670;p6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1" name="Google Shape;1671;p6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672" name="Google Shape;1672;p6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3" name="Google Shape;1673;p6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4" name="Google Shape;1674;p6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75" name="Google Shape;1675;p6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676" name="Google Shape;1676;p6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7" name="Google Shape;1677;p6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678" name="Google Shape;1678;p6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9" name="Google Shape;1679;p6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0" name="Google Shape;1680;p6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81" name="Google Shape;1681;p6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682" name="Google Shape;1682;p6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3" name="Google Shape;1683;p6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684" name="Google Shape;1684;p6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5" name="Google Shape;1685;p6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6" name="Google Shape;1686;p6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87" name="Google Shape;1687;p6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688" name="Google Shape;1688;p6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9" name="Google Shape;1689;p6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690" name="Google Shape;1690;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71"/>
                                        </p:tgtEl>
                                        <p:attrNameLst>
                                          <p:attrName>style.visibility</p:attrName>
                                        </p:attrNameLst>
                                      </p:cBhvr>
                                      <p:to>
                                        <p:strVal val="visible"/>
                                      </p:to>
                                    </p:set>
                                    <p:animEffect filter="fade" transition="in">
                                      <p:cBhvr>
                                        <p:cTn dur="600"/>
                                        <p:tgtEl>
                                          <p:spTgt spid="167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77"/>
                                        </p:tgtEl>
                                        <p:attrNameLst>
                                          <p:attrName>style.visibility</p:attrName>
                                        </p:attrNameLst>
                                      </p:cBhvr>
                                      <p:to>
                                        <p:strVal val="visible"/>
                                      </p:to>
                                    </p:set>
                                    <p:animEffect filter="fade" transition="in">
                                      <p:cBhvr>
                                        <p:cTn dur="600"/>
                                        <p:tgtEl>
                                          <p:spTgt spid="167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83"/>
                                        </p:tgtEl>
                                        <p:attrNameLst>
                                          <p:attrName>style.visibility</p:attrName>
                                        </p:attrNameLst>
                                      </p:cBhvr>
                                      <p:to>
                                        <p:strVal val="visible"/>
                                      </p:to>
                                    </p:set>
                                    <p:animEffect filter="fade" transition="in">
                                      <p:cBhvr>
                                        <p:cTn dur="600"/>
                                        <p:tgtEl>
                                          <p:spTgt spid="16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89"/>
                                        </p:tgtEl>
                                        <p:attrNameLst>
                                          <p:attrName>style.visibility</p:attrName>
                                        </p:attrNameLst>
                                      </p:cBhvr>
                                      <p:to>
                                        <p:strVal val="visible"/>
                                      </p:to>
                                    </p:set>
                                    <p:animEffect filter="fade" transition="in">
                                      <p:cBhvr>
                                        <p:cTn dur="600"/>
                                        <p:tgtEl>
                                          <p:spTgt spid="168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5" name="Shape 1695"/>
        <p:cNvGrpSpPr/>
        <p:nvPr/>
      </p:nvGrpSpPr>
      <p:grpSpPr>
        <a:xfrm>
          <a:off x="0" y="0"/>
          <a:ext cx="0" cy="0"/>
          <a:chOff x="0" y="0"/>
          <a:chExt cx="0" cy="0"/>
        </a:xfrm>
      </p:grpSpPr>
      <p:sp>
        <p:nvSpPr>
          <p:cNvPr id="1696" name="Google Shape;1696;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697" name="Google Shape;1697;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698" name="Google Shape;1698;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699" name="Google Shape;1699;p6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0" name="Google Shape;1700;p6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1" name="Google Shape;1701;p6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02" name="Google Shape;1702;p6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03" name="Google Shape;1703;p6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04" name="Google Shape;1704;p6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05" name="Google Shape;1705;p6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6" name="Google Shape;1706;p6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7" name="Google Shape;1707;p6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08" name="Google Shape;1708;p6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09" name="Google Shape;1709;p6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10" name="Google Shape;1710;p6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1" name="Google Shape;1711;p6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2" name="Google Shape;1712;p6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13" name="Google Shape;1713;p6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14" name="Google Shape;1714;p6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15" name="Google Shape;1715;p6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6" name="Google Shape;1716;p6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7" name="Google Shape;1717;p6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18" name="Google Shape;1718;p6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19" name="Google Shape;1719;p6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20" name="Google Shape;1720;p6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1" name="Google Shape;1721;p6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22" name="Google Shape;1722;p6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23" name="Google Shape;1723;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8" name="Shape 1728"/>
        <p:cNvGrpSpPr/>
        <p:nvPr/>
      </p:nvGrpSpPr>
      <p:grpSpPr>
        <a:xfrm>
          <a:off x="0" y="0"/>
          <a:ext cx="0" cy="0"/>
          <a:chOff x="0" y="0"/>
          <a:chExt cx="0" cy="0"/>
        </a:xfrm>
      </p:grpSpPr>
      <p:sp>
        <p:nvSpPr>
          <p:cNvPr id="1729" name="Google Shape;1729;p6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30" name="Google Shape;1730;p6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31" name="Google Shape;1731;p6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32" name="Google Shape;1732;p6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33" name="Google Shape;1733;p6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34" name="Google Shape;1734;p6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35" name="Google Shape;1735;p6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36" name="Google Shape;1736;p6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37" name="Google Shape;1737;p6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38" name="Google Shape;1738;p6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39" name="Google Shape;1739;p6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40" name="Google Shape;1740;p6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41" name="Google Shape;1741;p6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42" name="Google Shape;1742;p6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43" name="Google Shape;1743;p6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744" name="Google Shape;1744;p6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745" name="Google Shape;1745;p6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6" name="Google Shape;1746;p6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747" name="Google Shape;1747;p65"/>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748" name="Google Shape;1748;p6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9" name="Google Shape;1749;p6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0" name="Google Shape;1750;p6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1" name="Google Shape;1751;p6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2" name="Google Shape;1752;p6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3" name="Google Shape;1753;p6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4" name="Google Shape;1754;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9" name="Shape 1759"/>
        <p:cNvGrpSpPr/>
        <p:nvPr/>
      </p:nvGrpSpPr>
      <p:grpSpPr>
        <a:xfrm>
          <a:off x="0" y="0"/>
          <a:ext cx="0" cy="0"/>
          <a:chOff x="0" y="0"/>
          <a:chExt cx="0" cy="0"/>
        </a:xfrm>
      </p:grpSpPr>
      <p:sp>
        <p:nvSpPr>
          <p:cNvPr id="1760" name="Google Shape;1760;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761" name="Google Shape;1761;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762" name="Google Shape;1762;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763" name="Google Shape;1763;p66"/>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4" name="Google Shape;1764;p6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765" name="Google Shape;1765;p66"/>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to cancel before the first cleaning</a:t>
            </a:r>
            <a:endParaRPr b="0" i="0" spc="0" sz="1000" u="none" cap="none" strike="noStrike">
              <a:solidFill>
                <a:schemeClr val="dk1"/>
              </a:solidFill>
              <a:latin typeface="Calibri"/>
              <a:ea typeface="Calibri"/>
              <a:cs typeface="Calibri"/>
              <a:sym typeface="Calibri"/>
            </a:endParaRPr>
          </a:p>
        </p:txBody>
      </p:sp>
      <p:sp>
        <p:nvSpPr>
          <p:cNvPr id="1766" name="Google Shape;1766;p66"/>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7" name="Google Shape;1767;p6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a:t>
            </a:r>
            <a:endParaRPr b="0" i="0" spc="0" sz="1050" u="none" cap="none" strike="noStrike">
              <a:solidFill>
                <a:schemeClr val="dk1"/>
              </a:solidFill>
              <a:latin typeface="Calibri"/>
              <a:ea typeface="Calibri"/>
              <a:cs typeface="Calibri"/>
              <a:sym typeface="Calibri"/>
            </a:endParaRPr>
          </a:p>
        </p:txBody>
      </p:sp>
      <p:sp>
        <p:nvSpPr>
          <p:cNvPr id="1768" name="Google Shape;1768;p66"/>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chemeClr val="dk1"/>
              </a:solidFill>
              <a:latin typeface="Calibri"/>
              <a:ea typeface="Calibri"/>
              <a:cs typeface="Calibri"/>
              <a:sym typeface="Calibri"/>
            </a:endParaRPr>
          </a:p>
        </p:txBody>
      </p:sp>
      <p:sp>
        <p:nvSpPr>
          <p:cNvPr id="1769" name="Google Shape;1769;p66"/>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0" name="Google Shape;1770;p66"/>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771" name="Google Shape;1771;p66"/>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772" name="Google Shape;1772;p66"/>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3" name="Google Shape;1773;p66"/>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774" name="Google Shape;1774;p66"/>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775" name="Google Shape;1775;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0" name="Shape 1780"/>
        <p:cNvGrpSpPr/>
        <p:nvPr/>
      </p:nvGrpSpPr>
      <p:grpSpPr>
        <a:xfrm>
          <a:off x="0" y="0"/>
          <a:ext cx="0" cy="0"/>
          <a:chOff x="0" y="0"/>
          <a:chExt cx="0" cy="0"/>
        </a:xfrm>
      </p:grpSpPr>
      <p:sp>
        <p:nvSpPr>
          <p:cNvPr id="1781" name="Google Shape;1781;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782" name="Google Shape;1782;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window</a:t>
            </a:r>
            <a:endParaRPr b="0" i="0" spc="0" sz="2400" u="none" cap="none" strike="noStrike">
              <a:solidFill>
                <a:schemeClr val="dk1"/>
              </a:solidFill>
              <a:latin typeface="Calibri"/>
              <a:ea typeface="Calibri"/>
              <a:cs typeface="Calibri"/>
              <a:sym typeface="Calibri"/>
            </a:endParaRPr>
          </a:p>
        </p:txBody>
      </p:sp>
      <p:sp>
        <p:nvSpPr>
          <p:cNvPr id="1783" name="Google Shape;1783;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784" name="Google Shape;1784;p67"/>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85" name="Google Shape;1785;p67"/>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786" name="Google Shape;1786;p67"/>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787" name="Google Shape;1787;p67"/>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8" name="Google Shape;1788;p67"/>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89" name="Google Shape;1789;p67"/>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790" name="Google Shape;1790;p67"/>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a:t>
            </a:r>
            <a:endParaRPr b="0" i="0" spc="0" sz="1050" u="none" cap="none" strike="noStrike">
              <a:solidFill>
                <a:schemeClr val="dk1"/>
              </a:solidFill>
              <a:latin typeface="Calibri"/>
              <a:ea typeface="Calibri"/>
              <a:cs typeface="Calibri"/>
              <a:sym typeface="Calibri"/>
            </a:endParaRPr>
          </a:p>
        </p:txBody>
      </p:sp>
      <p:sp>
        <p:nvSpPr>
          <p:cNvPr id="1791" name="Google Shape;1791;p67"/>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2" name="Google Shape;1792;p67"/>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3" name="Google Shape;1793;p67"/>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794" name="Google Shape;1794;p67"/>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795" name="Google Shape;1795;p67"/>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6" name="Google Shape;1796;p67"/>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7" name="Google Shape;1797;p67"/>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798" name="Google Shape;1798;p67"/>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799" name="Google Shape;1799;p67"/>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0" name="Google Shape;1800;p67"/>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1" name="Google Shape;1801;p67"/>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802" name="Google Shape;1802;p67"/>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803" name="Google Shape;1803;p67"/>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4" name="Google Shape;1804;p67"/>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805" name="Google Shape;1805;p67"/>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806" name="Google Shape;1806;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1" name="Shape 1811"/>
        <p:cNvGrpSpPr/>
        <p:nvPr/>
      </p:nvGrpSpPr>
      <p:grpSpPr>
        <a:xfrm>
          <a:off x="0" y="0"/>
          <a:ext cx="0" cy="0"/>
          <a:chOff x="0" y="0"/>
          <a:chExt cx="0" cy="0"/>
        </a:xfrm>
      </p:grpSpPr>
      <p:sp>
        <p:nvSpPr>
          <p:cNvPr id="1812" name="Google Shape;1812;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13" name="Google Shape;1813;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814" name="Google Shape;1814;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815" name="Google Shape;1815;p68"/>
          <p:cNvGraphicFramePr/>
          <p:nvPr/>
        </p:nvGraphicFramePr>
        <p:xfrm>
          <a:off x="411480" y="1298448"/>
          <a:ext cx="3000000" cy="3000000"/>
        </p:xfrm>
        <a:graphic>
          <a:graphicData uri="http://schemas.openxmlformats.org/drawingml/2006/table">
            <a:tbl>
              <a:tblPr>
                <a:noFill/>
                <a:tableStyleId>{5A3C36C2-DF10-40EA-8E4B-E3075D344CA5}</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16" name="Google Shape;1816;p68"/>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7" name="Google Shape;1817;p68"/>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818" name="Google Shape;1818;p68"/>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19" name="Google Shape;1819;p68"/>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0" name="Google Shape;1820;p68"/>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821" name="Google Shape;1821;p68"/>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822" name="Google Shape;1822;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7" name="Shape 1827"/>
        <p:cNvGrpSpPr/>
        <p:nvPr/>
      </p:nvGrpSpPr>
      <p:grpSpPr>
        <a:xfrm>
          <a:off x="0" y="0"/>
          <a:ext cx="0" cy="0"/>
          <a:chOff x="0" y="0"/>
          <a:chExt cx="0" cy="0"/>
        </a:xfrm>
      </p:grpSpPr>
      <p:sp>
        <p:nvSpPr>
          <p:cNvPr id="1828" name="Google Shape;1828;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29" name="Google Shape;1829;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830" name="Google Shape;1830;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831" name="Google Shape;1831;p69"/>
          <p:cNvGraphicFramePr/>
          <p:nvPr/>
        </p:nvGraphicFramePr>
        <p:xfrm>
          <a:off x="411480" y="1298448"/>
          <a:ext cx="3000000" cy="3000000"/>
        </p:xfrm>
        <a:graphic>
          <a:graphicData uri="http://schemas.openxmlformats.org/drawingml/2006/table">
            <a:tbl>
              <a:tblPr>
                <a:noFill/>
                <a:tableStyleId>{5A3C36C2-DF10-40EA-8E4B-E3075D344CA5}</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32" name="Google Shape;1832;p69"/>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3" name="Google Shape;1833;p69"/>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834" name="Google Shape;1834;p69"/>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835" name="Google Shape;1835;p69"/>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6" name="Google Shape;1836;p69"/>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837" name="Google Shape;1837;p69"/>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838" name="Google Shape;1838;p69"/>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39" name="Google Shape;1839;p69"/>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840" name="Google Shape;1840;p69"/>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841" name="Google Shape;1841;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6" name="Shape 1846"/>
        <p:cNvGrpSpPr/>
        <p:nvPr/>
      </p:nvGrpSpPr>
      <p:grpSpPr>
        <a:xfrm>
          <a:off x="0" y="0"/>
          <a:ext cx="0" cy="0"/>
          <a:chOff x="0" y="0"/>
          <a:chExt cx="0" cy="0"/>
        </a:xfrm>
      </p:grpSpPr>
      <p:sp>
        <p:nvSpPr>
          <p:cNvPr id="1847" name="Google Shape;1847;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48" name="Google Shape;1848;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849" name="Google Shape;1849;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850" name="Google Shape;1850;p70"/>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1" name="Google Shape;1851;p70"/>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2" name="Google Shape;1852;p70"/>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853" name="Google Shape;1853;p70"/>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854" name="Google Shape;1854;p70"/>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5" name="Google Shape;1855;p70"/>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6" name="Google Shape;1856;p70"/>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857" name="Google Shape;1857;p70"/>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858" name="Google Shape;1858;p70"/>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9" name="Google Shape;1859;p70"/>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0" name="Google Shape;1860;p70"/>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861" name="Google Shape;1861;p70"/>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862" name="Google Shape;1862;p70"/>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3" name="Google Shape;1863;p70"/>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4" name="Google Shape;1864;p70"/>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865" name="Google Shape;1865;p70"/>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866" name="Google Shape;1866;p70"/>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7" name="Google Shape;1867;p70"/>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868" name="Google Shape;1868;p70"/>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869" name="Google Shape;1869;p70"/>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0" name="Google Shape;1870;p70"/>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871" name="Google Shape;1871;p70"/>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72" name="Google Shape;1872;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7" name="Shape 1877"/>
        <p:cNvGrpSpPr/>
        <p:nvPr/>
      </p:nvGrpSpPr>
      <p:grpSpPr>
        <a:xfrm>
          <a:off x="0" y="0"/>
          <a:ext cx="0" cy="0"/>
          <a:chOff x="0" y="0"/>
          <a:chExt cx="0" cy="0"/>
        </a:xfrm>
      </p:grpSpPr>
      <p:sp>
        <p:nvSpPr>
          <p:cNvPr id="1878" name="Google Shape;1878;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79" name="Google Shape;1879;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880" name="Google Shape;1880;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881" name="Google Shape;1881;p71"/>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2" name="Google Shape;1882;p71"/>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883" name="Google Shape;1883;p71"/>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84" name="Google Shape;1884;p71"/>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5" name="Google Shape;1885;p71"/>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886" name="Google Shape;1886;p71"/>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87" name="Google Shape;1887;p71"/>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8" name="Google Shape;1888;p71"/>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889" name="Google Shape;1889;p71"/>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90" name="Google Shape;1890;p71"/>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1" name="Google Shape;1891;p71"/>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1892" name="Google Shape;1892;p71"/>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3" name="Google Shape;1893;p71"/>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1894" name="Google Shape;1894;p71"/>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1895" name="Google Shape;1895;p71"/>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6" name="Google Shape;1896;p71"/>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1897" name="Google Shape;1897;p71"/>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1898" name="Google Shape;1898;p71"/>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9" name="Google Shape;1899;p71"/>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1900" name="Google Shape;1900;p71"/>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1901" name="Google Shape;1901;p71"/>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2" name="Google Shape;1902;p71"/>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1903" name="Google Shape;1903;p71"/>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1904" name="Google Shape;1904;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9" name="Shape 1909"/>
        <p:cNvGrpSpPr/>
        <p:nvPr/>
      </p:nvGrpSpPr>
      <p:grpSpPr>
        <a:xfrm>
          <a:off x="0" y="0"/>
          <a:ext cx="0" cy="0"/>
          <a:chOff x="0" y="0"/>
          <a:chExt cx="0" cy="0"/>
        </a:xfrm>
      </p:grpSpPr>
      <p:sp>
        <p:nvSpPr>
          <p:cNvPr id="1910" name="Google Shape;1910;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1911" name="Google Shape;1911;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912" name="Google Shape;1912;p7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3" name="Google Shape;1913;p7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4" name="Google Shape;1914;p7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15" name="Google Shape;1915;p7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1916" name="Google Shape;1916;p7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7" name="Google Shape;1917;p7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1918" name="Google Shape;1918;p7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9" name="Google Shape;1919;p7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0" name="Google Shape;1920;p7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21" name="Google Shape;1921;p7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1922" name="Google Shape;1922;p7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3" name="Google Shape;1923;p7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1924" name="Google Shape;1924;p7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5" name="Google Shape;1925;p7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6" name="Google Shape;1926;p7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27" name="Google Shape;1927;p7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1928" name="Google Shape;1928;p7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9" name="Google Shape;1929;p7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1930" name="Google Shape;1930;p7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1" name="Google Shape;1931;p7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2" name="Google Shape;1932;p7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933" name="Google Shape;1933;p7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1934" name="Google Shape;1934;p7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5" name="Google Shape;1935;p7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1936" name="Google Shape;1936;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17"/>
                                        </p:tgtEl>
                                        <p:attrNameLst>
                                          <p:attrName>style.visibility</p:attrName>
                                        </p:attrNameLst>
                                      </p:cBhvr>
                                      <p:to>
                                        <p:strVal val="visible"/>
                                      </p:to>
                                    </p:set>
                                    <p:animEffect filter="fade" transition="in">
                                      <p:cBhvr>
                                        <p:cTn dur="600"/>
                                        <p:tgtEl>
                                          <p:spTgt spid="191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23"/>
                                        </p:tgtEl>
                                        <p:attrNameLst>
                                          <p:attrName>style.visibility</p:attrName>
                                        </p:attrNameLst>
                                      </p:cBhvr>
                                      <p:to>
                                        <p:strVal val="visible"/>
                                      </p:to>
                                    </p:set>
                                    <p:animEffect filter="fade" transition="in">
                                      <p:cBhvr>
                                        <p:cTn dur="600"/>
                                        <p:tgtEl>
                                          <p:spTgt spid="192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29"/>
                                        </p:tgtEl>
                                        <p:attrNameLst>
                                          <p:attrName>style.visibility</p:attrName>
                                        </p:attrNameLst>
                                      </p:cBhvr>
                                      <p:to>
                                        <p:strVal val="visible"/>
                                      </p:to>
                                    </p:set>
                                    <p:animEffect filter="fade" transition="in">
                                      <p:cBhvr>
                                        <p:cTn dur="600"/>
                                        <p:tgtEl>
                                          <p:spTgt spid="192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35"/>
                                        </p:tgtEl>
                                        <p:attrNameLst>
                                          <p:attrName>style.visibility</p:attrName>
                                        </p:attrNameLst>
                                      </p:cBhvr>
                                      <p:to>
                                        <p:strVal val="visible"/>
                                      </p:to>
                                    </p:set>
                                    <p:animEffect filter="fade" transition="in">
                                      <p:cBhvr>
                                        <p:cTn dur="600"/>
                                        <p:tgtEl>
                                          <p:spTgt spid="193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1" name="Shape 1941"/>
        <p:cNvGrpSpPr/>
        <p:nvPr/>
      </p:nvGrpSpPr>
      <p:grpSpPr>
        <a:xfrm>
          <a:off x="0" y="0"/>
          <a:ext cx="0" cy="0"/>
          <a:chOff x="0" y="0"/>
          <a:chExt cx="0" cy="0"/>
        </a:xfrm>
      </p:grpSpPr>
      <p:sp>
        <p:nvSpPr>
          <p:cNvPr id="1942" name="Google Shape;1942;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1943" name="Google Shape;1943;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944" name="Google Shape;1944;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945" name="Google Shape;1945;p7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6" name="Google Shape;1946;p7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7" name="Google Shape;1947;p7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948" name="Google Shape;1948;p7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949" name="Google Shape;1949;p7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950" name="Google Shape;1950;p7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951" name="Google Shape;1951;p7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2" name="Google Shape;1952;p7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3" name="Google Shape;1953;p7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54" name="Google Shape;1954;p7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1955" name="Google Shape;1955;p7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1956" name="Google Shape;1956;p7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7" name="Google Shape;1957;p7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8" name="Google Shape;1958;p7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59" name="Google Shape;1959;p7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960" name="Google Shape;1960;p7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1961" name="Google Shape;1961;p7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2" name="Google Shape;1962;p7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3" name="Google Shape;1963;p7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64" name="Google Shape;1964;p7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965" name="Google Shape;1965;p7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1966" name="Google Shape;1966;p7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67" name="Google Shape;1967;p7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968" name="Google Shape;1968;p7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969" name="Google Shape;1969;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4" name="Shape 1974"/>
        <p:cNvGrpSpPr/>
        <p:nvPr/>
      </p:nvGrpSpPr>
      <p:grpSpPr>
        <a:xfrm>
          <a:off x="0" y="0"/>
          <a:ext cx="0" cy="0"/>
          <a:chOff x="0" y="0"/>
          <a:chExt cx="0" cy="0"/>
        </a:xfrm>
      </p:grpSpPr>
      <p:sp>
        <p:nvSpPr>
          <p:cNvPr id="1975" name="Google Shape;1975;p74"/>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1976" name="Google Shape;1976;p74"/>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1977" name="Google Shape;1977;p74"/>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1978" name="Google Shape;1978;p74"/>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979" name="Google Shape;1979;p74"/>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0" name="Google Shape;1980;p74"/>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981" name="Google Shape;1981;p74"/>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1982" name="Google Shape;1982;p74"/>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3" name="Google Shape;1983;p74"/>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984" name="Google Shape;1984;p74"/>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1985" name="Google Shape;1985;p74"/>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6" name="Google Shape;1986;p74"/>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987" name="Google Shape;1987;p74"/>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1988" name="Google Shape;1988;p74"/>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9" name="Google Shape;1989;p74"/>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990" name="Google Shape;1990;p74"/>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1991" name="Google Shape;1991;p7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2" name="Google Shape;1992;p7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1993" name="Google Shape;1993;p74"/>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1994" name="Google Shape;1994;p7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5" name="Google Shape;1995;p7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6" name="Google Shape;1996;p7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7" name="Google Shape;1997;p7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8" name="Google Shape;1998;p7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9" name="Google Shape;1999;p7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0" name="Google Shape;2000;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5" name="Shape 2005"/>
        <p:cNvGrpSpPr/>
        <p:nvPr/>
      </p:nvGrpSpPr>
      <p:grpSpPr>
        <a:xfrm>
          <a:off x="0" y="0"/>
          <a:ext cx="0" cy="0"/>
          <a:chOff x="0" y="0"/>
          <a:chExt cx="0" cy="0"/>
        </a:xfrm>
      </p:grpSpPr>
      <p:sp>
        <p:nvSpPr>
          <p:cNvPr id="2006" name="Google Shape;2006;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07" name="Google Shape;2007;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008" name="Google Shape;2008;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009" name="Google Shape;2009;p75"/>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0" name="Google Shape;2010;p75"/>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011" name="Google Shape;2011;p75"/>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012" name="Google Shape;2012;p75"/>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3" name="Google Shape;2013;p75"/>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014" name="Google Shape;2014;p75"/>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015" name="Google Shape;2015;p75"/>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16" name="Google Shape;2016;p75"/>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17" name="Google Shape;2017;p7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018" name="Google Shape;2018;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3" name="Shape 2023"/>
        <p:cNvGrpSpPr/>
        <p:nvPr/>
      </p:nvGrpSpPr>
      <p:grpSpPr>
        <a:xfrm>
          <a:off x="0" y="0"/>
          <a:ext cx="0" cy="0"/>
          <a:chOff x="0" y="0"/>
          <a:chExt cx="0" cy="0"/>
        </a:xfrm>
      </p:grpSpPr>
      <p:sp>
        <p:nvSpPr>
          <p:cNvPr id="2024" name="Google Shape;2024;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25" name="Google Shape;2025;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026" name="Google Shape;2026;p7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027" name="Google Shape;2027;p76"/>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8" name="Google Shape;2028;p7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029" name="Google Shape;2029;p76"/>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030" name="Google Shape;2030;p76"/>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1" name="Google Shape;2031;p7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032" name="Google Shape;2032;p76"/>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033" name="Google Shape;2033;p76"/>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4" name="Google Shape;2034;p76"/>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035" name="Google Shape;2035;p76"/>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6" name="Google Shape;2036;p76"/>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037" name="Google Shape;2037;p76"/>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8" name="Google Shape;2038;p76"/>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039" name="Google Shape;2039;p76"/>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040" name="Google Shape;2040;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5" name="Shape 2045"/>
        <p:cNvGrpSpPr/>
        <p:nvPr/>
      </p:nvGrpSpPr>
      <p:grpSpPr>
        <a:xfrm>
          <a:off x="0" y="0"/>
          <a:ext cx="0" cy="0"/>
          <a:chOff x="0" y="0"/>
          <a:chExt cx="0" cy="0"/>
        </a:xfrm>
      </p:grpSpPr>
      <p:sp>
        <p:nvSpPr>
          <p:cNvPr id="2046" name="Google Shape;2046;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47" name="Google Shape;2047;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048" name="Google Shape;2048;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049" name="Google Shape;2049;p77"/>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0" name="Google Shape;2050;p77"/>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1" name="Google Shape;2051;p77"/>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052" name="Google Shape;2052;p77"/>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3" name="Google Shape;2053;p77"/>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4" name="Google Shape;2054;p77"/>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055" name="Google Shape;2055;p77"/>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6" name="Google Shape;2056;p77"/>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057" name="Google Shape;2057;p77"/>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058" name="Google Shape;2058;p77"/>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9" name="Google Shape;2059;p77"/>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060" name="Google Shape;2060;p77"/>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061" name="Google Shape;2061;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6" name="Shape 2066"/>
        <p:cNvGrpSpPr/>
        <p:nvPr/>
      </p:nvGrpSpPr>
      <p:grpSpPr>
        <a:xfrm>
          <a:off x="0" y="0"/>
          <a:ext cx="0" cy="0"/>
          <a:chOff x="0" y="0"/>
          <a:chExt cx="0" cy="0"/>
        </a:xfrm>
      </p:grpSpPr>
      <p:sp>
        <p:nvSpPr>
          <p:cNvPr id="2067" name="Google Shape;2067;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68" name="Google Shape;2068;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069" name="Google Shape;2069;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070" name="Google Shape;2070;p78"/>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1" name="Google Shape;2071;p78"/>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2" name="Google Shape;2072;p78"/>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73" name="Google Shape;2073;p78"/>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074" name="Google Shape;2074;p78"/>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5" name="Google Shape;2075;p78"/>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6" name="Google Shape;2076;p78"/>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77" name="Google Shape;2077;p78"/>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078" name="Google Shape;2078;p78"/>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9" name="Google Shape;2079;p78"/>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0" name="Google Shape;2080;p78"/>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81" name="Google Shape;2081;p78"/>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082" name="Google Shape;2082;p78"/>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3" name="Google Shape;2083;p78"/>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4" name="Google Shape;2084;p78"/>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085" name="Google Shape;2085;p78"/>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086" name="Google Shape;2086;p78"/>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7" name="Google Shape;2087;p78"/>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8" name="Google Shape;2088;p78"/>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089" name="Google Shape;2089;p78"/>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090" name="Google Shape;2090;p78"/>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1" name="Google Shape;2091;p78"/>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2" name="Google Shape;2092;p78"/>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093" name="Google Shape;2093;p78"/>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094" name="Google Shape;2094;p78"/>
          <p:cNvGraphicFramePr/>
          <p:nvPr/>
        </p:nvGraphicFramePr>
        <p:xfrm>
          <a:off x="4846320" y="1298448"/>
          <a:ext cx="3000000" cy="3000000"/>
        </p:xfrm>
        <a:graphic>
          <a:graphicData uri="http://schemas.openxmlformats.org/drawingml/2006/table">
            <a:tbl>
              <a:tblPr>
                <a:noFill/>
                <a:tableStyleId>{5A3C36C2-DF10-40EA-8E4B-E3075D344CA5}</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095" name="Google Shape;2095;p78"/>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6" name="Google Shape;2096;p78"/>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097" name="Google Shape;2097;p78"/>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098" name="Google Shape;2098;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3" name="Shape 2103"/>
        <p:cNvGrpSpPr/>
        <p:nvPr/>
      </p:nvGrpSpPr>
      <p:grpSpPr>
        <a:xfrm>
          <a:off x="0" y="0"/>
          <a:ext cx="0" cy="0"/>
          <a:chOff x="0" y="0"/>
          <a:chExt cx="0" cy="0"/>
        </a:xfrm>
      </p:grpSpPr>
      <p:sp>
        <p:nvSpPr>
          <p:cNvPr id="2104" name="Google Shape;2104;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05" name="Google Shape;2105;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106" name="Google Shape;2106;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107" name="Google Shape;2107;p79"/>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8" name="Google Shape;2108;p7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09" name="Google Shape;2109;p7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10" name="Google Shape;2110;p7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111" name="Google Shape;2111;p79"/>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112" name="Google Shape;2112;p79"/>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3" name="Google Shape;2113;p7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4" name="Google Shape;2114;p7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15" name="Google Shape;2115;p7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116" name="Google Shape;2116;p79"/>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117" name="Google Shape;2117;p79"/>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8" name="Google Shape;2118;p7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9" name="Google Shape;2119;p7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20" name="Google Shape;2120;p7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121" name="Google Shape;2121;p79"/>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122" name="Google Shape;2122;p79"/>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3" name="Google Shape;2123;p79"/>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124" name="Google Shape;2124;p79"/>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125" name="Google Shape;2125;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0" name="Shape 2130"/>
        <p:cNvGrpSpPr/>
        <p:nvPr/>
      </p:nvGrpSpPr>
      <p:grpSpPr>
        <a:xfrm>
          <a:off x="0" y="0"/>
          <a:ext cx="0" cy="0"/>
          <a:chOff x="0" y="0"/>
          <a:chExt cx="0" cy="0"/>
        </a:xfrm>
      </p:grpSpPr>
      <p:sp>
        <p:nvSpPr>
          <p:cNvPr id="2131" name="Google Shape;2131;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32" name="Google Shape;2132;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133" name="Google Shape;2133;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134" name="Google Shape;2134;p80"/>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5" name="Google Shape;2135;p80"/>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136" name="Google Shape;2136;p80"/>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137" name="Google Shape;2137;p80"/>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8" name="Google Shape;2138;p80"/>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139" name="Google Shape;2139;p80"/>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140" name="Google Shape;2140;p80"/>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1" name="Google Shape;2141;p80"/>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142" name="Google Shape;2142;p80"/>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143" name="Google Shape;2143;p80"/>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44" name="Google Shape;2144;p80"/>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145" name="Google Shape;2145;p80"/>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146" name="Google Shape;2146;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1" name="Shape 2151"/>
        <p:cNvGrpSpPr/>
        <p:nvPr/>
      </p:nvGrpSpPr>
      <p:grpSpPr>
        <a:xfrm>
          <a:off x="0" y="0"/>
          <a:ext cx="0" cy="0"/>
          <a:chOff x="0" y="0"/>
          <a:chExt cx="0" cy="0"/>
        </a:xfrm>
      </p:grpSpPr>
      <p:sp>
        <p:nvSpPr>
          <p:cNvPr id="2152" name="Google Shape;2152;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53" name="Google Shape;2153;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154" name="Google Shape;2154;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155" name="Google Shape;2155;p81"/>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6" name="Google Shape;2156;p8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157" name="Google Shape;2157;p81"/>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158" name="Google Shape;2158;p81"/>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9" name="Google Shape;2159;p8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160" name="Google Shape;2160;p81"/>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161" name="Google Shape;2161;p81"/>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162" name="Google Shape;2162;p81"/>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3" name="Google Shape;2163;p81"/>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164" name="Google Shape;2164;p81"/>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65" name="Google Shape;2165;p81"/>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6" name="Google Shape;2166;p81"/>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167" name="Google Shape;2167;p81"/>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68" name="Google Shape;2168;p81"/>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9" name="Google Shape;2169;p81"/>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170" name="Google Shape;2170;p81"/>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1" name="Google Shape;2171;p81"/>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72" name="Google Shape;2172;p81"/>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173" name="Google Shape;2173;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8" name="Shape 2178"/>
        <p:cNvGrpSpPr/>
        <p:nvPr/>
      </p:nvGrpSpPr>
      <p:grpSpPr>
        <a:xfrm>
          <a:off x="0" y="0"/>
          <a:ext cx="0" cy="0"/>
          <a:chOff x="0" y="0"/>
          <a:chExt cx="0" cy="0"/>
        </a:xfrm>
      </p:grpSpPr>
      <p:sp>
        <p:nvSpPr>
          <p:cNvPr id="2179" name="Google Shape;2179;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180" name="Google Shape;2180;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181" name="Google Shape;2181;p8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2" name="Google Shape;2182;p8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3" name="Google Shape;2183;p8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184" name="Google Shape;2184;p8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185" name="Google Shape;2185;p8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6" name="Google Shape;2186;p8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187" name="Google Shape;2187;p8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8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9" name="Google Shape;2189;p8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190" name="Google Shape;2190;p8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191" name="Google Shape;2191;p8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2" name="Google Shape;2192;p8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193" name="Google Shape;2193;p8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4" name="Google Shape;2194;p8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5" name="Google Shape;2195;p8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96" name="Google Shape;2196;p8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197" name="Google Shape;2197;p8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8" name="Google Shape;2198;p8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199" name="Google Shape;2199;p8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0" name="Google Shape;2200;p8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1" name="Google Shape;2201;p8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02" name="Google Shape;2202;p8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203" name="Google Shape;2203;p8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4" name="Google Shape;2204;p8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205" name="Google Shape;2205;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86"/>
                                        </p:tgtEl>
                                        <p:attrNameLst>
                                          <p:attrName>style.visibility</p:attrName>
                                        </p:attrNameLst>
                                      </p:cBhvr>
                                      <p:to>
                                        <p:strVal val="visible"/>
                                      </p:to>
                                    </p:set>
                                    <p:animEffect filter="fade" transition="in">
                                      <p:cBhvr>
                                        <p:cTn dur="600"/>
                                        <p:tgtEl>
                                          <p:spTgt spid="21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92"/>
                                        </p:tgtEl>
                                        <p:attrNameLst>
                                          <p:attrName>style.visibility</p:attrName>
                                        </p:attrNameLst>
                                      </p:cBhvr>
                                      <p:to>
                                        <p:strVal val="visible"/>
                                      </p:to>
                                    </p:set>
                                    <p:animEffect filter="fade" transition="in">
                                      <p:cBhvr>
                                        <p:cTn dur="600"/>
                                        <p:tgtEl>
                                          <p:spTgt spid="21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98"/>
                                        </p:tgtEl>
                                        <p:attrNameLst>
                                          <p:attrName>style.visibility</p:attrName>
                                        </p:attrNameLst>
                                      </p:cBhvr>
                                      <p:to>
                                        <p:strVal val="visible"/>
                                      </p:to>
                                    </p:set>
                                    <p:animEffect filter="fade" transition="in">
                                      <p:cBhvr>
                                        <p:cTn dur="600"/>
                                        <p:tgtEl>
                                          <p:spTgt spid="219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04"/>
                                        </p:tgtEl>
                                        <p:attrNameLst>
                                          <p:attrName>style.visibility</p:attrName>
                                        </p:attrNameLst>
                                      </p:cBhvr>
                                      <p:to>
                                        <p:strVal val="visible"/>
                                      </p:to>
                                    </p:set>
                                    <p:animEffect filter="fade" transition="in">
                                      <p:cBhvr>
                                        <p:cTn dur="600"/>
                                        <p:tgtEl>
                                          <p:spTgt spid="220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0" name="Shape 2210"/>
        <p:cNvGrpSpPr/>
        <p:nvPr/>
      </p:nvGrpSpPr>
      <p:grpSpPr>
        <a:xfrm>
          <a:off x="0" y="0"/>
          <a:ext cx="0" cy="0"/>
          <a:chOff x="0" y="0"/>
          <a:chExt cx="0" cy="0"/>
        </a:xfrm>
      </p:grpSpPr>
      <p:sp>
        <p:nvSpPr>
          <p:cNvPr id="2211" name="Google Shape;2211;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212" name="Google Shape;2212;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213" name="Google Shape;2213;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214" name="Google Shape;2214;p8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5" name="Google Shape;2215;p8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6" name="Google Shape;2216;p8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217" name="Google Shape;2217;p8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218" name="Google Shape;2218;p8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219" name="Google Shape;2219;p8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220" name="Google Shape;2220;p8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1" name="Google Shape;2221;p8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2" name="Google Shape;2222;p8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23" name="Google Shape;2223;p8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224" name="Google Shape;2224;p8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225" name="Google Shape;2225;p8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6" name="Google Shape;2226;p8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7" name="Google Shape;2227;p8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28" name="Google Shape;2228;p8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229" name="Google Shape;2229;p8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230" name="Google Shape;2230;p8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1" name="Google Shape;2231;p8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2" name="Google Shape;2232;p8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33" name="Google Shape;2233;p8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234" name="Google Shape;2234;p8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235" name="Google Shape;2235;p8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36" name="Google Shape;2236;p8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237" name="Google Shape;2237;p8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238" name="Google Shape;2238;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3" name="Shape 2243"/>
        <p:cNvGrpSpPr/>
        <p:nvPr/>
      </p:nvGrpSpPr>
      <p:grpSpPr>
        <a:xfrm>
          <a:off x="0" y="0"/>
          <a:ext cx="0" cy="0"/>
          <a:chOff x="0" y="0"/>
          <a:chExt cx="0" cy="0"/>
        </a:xfrm>
      </p:grpSpPr>
      <p:sp>
        <p:nvSpPr>
          <p:cNvPr id="2244" name="Google Shape;2244;p84"/>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245" name="Google Shape;2245;p84"/>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246" name="Google Shape;2246;p84"/>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247" name="Google Shape;2247;p8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8" name="Google Shape;2248;p8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249" name="Google Shape;2249;p84"/>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250" name="Google Shape;2250;p8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1" name="Google Shape;2251;p8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2" name="Google Shape;2252;p8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3" name="Google Shape;2253;p8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4" name="Google Shape;2254;p8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5" name="Google Shape;2255;p8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6" name="Google Shape;2256;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