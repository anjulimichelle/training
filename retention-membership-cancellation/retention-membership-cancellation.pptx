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8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83.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Lst>
  <p:sldSz cy="5143500" cx="9144000"/>
  <p:notesSz cx="5143500" cy="9144000"/>
  <p:embeddedFontLst>
    <p:embeddedFont>
      <p:font typeface="Play"/>
      <p:regular r:id="rId89"/>
      <p:bold r:id="rId9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081CFC9-8F92-4C66-A42C-550710BF50CA}">
  <a:tblStyle styleId="{B081CFC9-8F92-4C66-A42C-550710BF50CA}"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slide" Target="slides/slide79.xml"/><Relationship Id="rId83" Type="http://schemas.openxmlformats.org/officeDocument/2006/relationships/slide" Target="slides/slide78.xml"/><Relationship Id="rId42" Type="http://schemas.openxmlformats.org/officeDocument/2006/relationships/slide" Target="slides/slide37.xml"/><Relationship Id="rId86" Type="http://schemas.openxmlformats.org/officeDocument/2006/relationships/slide" Target="slides/slide81.xml"/><Relationship Id="rId41" Type="http://schemas.openxmlformats.org/officeDocument/2006/relationships/slide" Target="slides/slide36.xml"/><Relationship Id="rId85" Type="http://schemas.openxmlformats.org/officeDocument/2006/relationships/slide" Target="slides/slide80.xml"/><Relationship Id="rId44" Type="http://schemas.openxmlformats.org/officeDocument/2006/relationships/slide" Target="slides/slide39.xml"/><Relationship Id="rId88" Type="http://schemas.openxmlformats.org/officeDocument/2006/relationships/slide" Target="slides/slide83.xml"/><Relationship Id="rId43" Type="http://schemas.openxmlformats.org/officeDocument/2006/relationships/slide" Target="slides/slide38.xml"/><Relationship Id="rId87" Type="http://schemas.openxmlformats.org/officeDocument/2006/relationships/slide" Target="slides/slide82.xml"/><Relationship Id="rId46" Type="http://schemas.openxmlformats.org/officeDocument/2006/relationships/slide" Target="slides/slide41.xml"/><Relationship Id="rId45" Type="http://schemas.openxmlformats.org/officeDocument/2006/relationships/slide" Target="slides/slide40.xml"/><Relationship Id="rId89" Type="http://schemas.openxmlformats.org/officeDocument/2006/relationships/font" Target="fonts/Play-regular.fntdata"/><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90" Type="http://schemas.openxmlformats.org/officeDocument/2006/relationships/font" Target="fonts/Play-bold.fntdata"/><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the General Retention Playbook; Unused DHJ Voucher; FCF Pre-Invoice Cancellation and Refund Requests; and Trial Cleaning / One-Time Cleaning Conversion. The thread through all four: understand why the customer wants to leave, match what you do to that reason, and know the cases where retention is off the table.</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Topic 5 covers customers with an unused DHJ voucher. Topic 6 covers FCF customers cancelling before their first completed job, and which refund applies. Topic 7 covers Trial Cleaning and One-Time Cleaning as alternatives to a full membership.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a:p>
        </p:txBody>
      </p:sp>
      <p:sp>
        <p:nvSpPr>
          <p:cNvPr id="122" name="Google Shape;12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a:p>
        </p:txBody>
      </p:sp>
      <p:sp>
        <p:nvSpPr>
          <p:cNvPr id="151" name="Google Shape;15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a:p>
        </p:txBody>
      </p:sp>
      <p:sp>
        <p:nvSpPr>
          <p:cNvPr id="190" name="Google Shape;19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a:p>
        </p:txBody>
      </p:sp>
      <p:sp>
        <p:nvSpPr>
          <p:cNvPr id="208" name="Google Shape;20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a:p>
        </p:txBody>
      </p:sp>
      <p:sp>
        <p:nvSpPr>
          <p:cNvPr id="230" name="Google Shape;23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0" name="Google Shape;24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a:p>
        </p:txBody>
      </p:sp>
      <p:sp>
        <p:nvSpPr>
          <p:cNvPr id="272" name="Google Shape;27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a:p>
        </p:txBody>
      </p:sp>
      <p:sp>
        <p:nvSpPr>
          <p:cNvPr id="305" name="Google Shape;30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a:p>
        </p:txBody>
      </p:sp>
      <p:sp>
        <p:nvSpPr>
          <p:cNvPr id="367" name="Google Shape;36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a:p>
        </p:txBody>
      </p:sp>
      <p:sp>
        <p:nvSpPr>
          <p:cNvPr id="388" name="Google Shape;38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 TRAINER: in slideshow mode, click "Watch: Issuing credits" or "Watch: Issuing a voucher" to play that how-to video.</a:t>
            </a:r>
            <a:endParaRPr/>
          </a:p>
        </p:txBody>
      </p:sp>
      <p:sp>
        <p:nvSpPr>
          <p:cNvPr id="433" name="Google Shape;433;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a:p>
        </p:txBody>
      </p:sp>
      <p:sp>
        <p:nvSpPr>
          <p:cNvPr id="464" name="Google Shape;46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a:p>
        </p:txBody>
      </p:sp>
      <p:sp>
        <p:nvSpPr>
          <p:cNvPr id="490" name="Google Shape;49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a:p>
        </p:txBody>
      </p:sp>
      <p:sp>
        <p:nvSpPr>
          <p:cNvPr id="509" name="Google Shape;5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 name="Google Shape;52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a:p>
        </p:txBody>
      </p:sp>
      <p:sp>
        <p:nvSpPr>
          <p:cNvPr id="525" name="Google Shape;52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Guardrail: when a customer asks to pause again. This applies when a customer asks for a new pause right after a previous pause. Fewer than 2 MFs have been charged and paid since the last pause ended: needs Support approval before you give another pause, no matter how long they are asking for. All three are true (at least 2 MFs charged and paid since the last pause ended; the customer has actually been using the service, booked or completed cleanings, since then; and the customer is not also asking for a refund right now): you can give the pause normally, within the caps (pausing is capped at 6 months; more needs Support approval). Any one of those three is not true: needs Support approval; this could be a sign of abuse rather than a real need for a pause. Why this matters: if a customer pauses, then immediately pauses again with no MF ever charged in between, it looks more like they are trying to avoid paying the MF (and the ETF that comes with cancelling) than genuinely needing a break. Payment alone does not prove it is genuine either: someone could pay without using the service, or ask to pause right when they are also asking for a refund. Checking for payment + actual usage + no refund request together closes those gaps.</a:t>
            </a:r>
            <a:endParaRPr/>
          </a:p>
        </p:txBody>
      </p:sp>
      <p:sp>
        <p:nvSpPr>
          <p:cNvPr id="559" name="Google Shape;55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6" name="Google Shape;58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a:p>
        </p:txBody>
      </p:sp>
      <p:sp>
        <p:nvSpPr>
          <p:cNvPr id="587" name="Google Shape;58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0" name="Google Shape;61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 SAMPLE SCENARIO: the customer has 1 paid $59 MF and a 6-month MCT from sign-up, and cancelling now costs a $140 ETF. Reducing the MCT by 1 month leaves 4 months: $59 x 4 = $236. Reducing the ETF by the maximum 50%: $140 x 50% = $70. Decision: reducing the ETF is the most cost-effective exit offer for this customer. The first-job hours check and when to offer an ETF reduction are on the next slide. TRAINER: the decision is hidden at first. Ask trainees which exit offer they would choose and why, then click to reveal the answer: reducing the ETF ($70) costs the customer less than reducing the MCT ($236).</a:t>
            </a:r>
            <a:endParaRPr/>
          </a:p>
        </p:txBody>
      </p:sp>
      <p:sp>
        <p:nvSpPr>
          <p:cNvPr id="611" name="Google Shape;61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6" name="Google Shape;63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ETF reduction. Check the first job's hours before you calculate any exit offer. The ETF is $35/hr x first-cleaning hours, so an overcharge on that job inflates the ETF. Resolve the OCH first, then present the corrected ETF and work the exit offer from that number. First job invoiced 4 hrs, the CP's own messages show 2.5: refund 1.5 hrs, and the ETF drops from $140 to $87.50. That's the ETF you present. This one depends entirely on why the customer is cancelling, specifically whether unawareness is the whole story or just part of it. If unawareness (or "I only wanted a one-time cleaning") is the only reason (you probed, and there's genuinely nothing else going on), don't offer an ETF reduction proactively. Wait for a hint that the customer would actually pay a reduced ETF before putting it on the table. Unawareness alone doesn't earn a discount; some willingness from the customer to pay is what opens that door. If there's any other reason mixed in (a service issue, a cost complaint, anything beyond plain unawareness), ETF reduction is just part of your standard exit strategy once retention's been exhausted. The only thing that changes your choice is cost: if reducing the MCT would actually be cheaper for the customer than reducing the ETF, use that instead. Pick whichever tool gets the customer out for less, not whichever feels more generous. Exception, extreme financial hardship: there's no point running through the usual retention attempts first. Go straight to exit: offer 50% off the ETF. If they decline even that, the next step is waiving the ETF entirely. What can be deducted, and in what order: MF and/or voucher price, the standard deduction; don't stack these automatically, only when justified (the customer contests paying the ETF on top of what they've already paid, or explicitly asks for both to be deducted). Additional-hours charge: if the job that triggered FC ran longer than the voucher's covered hours, and the customer was charged for that overage on their card, that charge can also be deducted from the ETF. The cap is always 50% off the original ETF, regardless of which deductions apply. More deductible line items don't raise the ceiling, they just change how you get there. Note the customer's Lifetime Net Revenue (LTNR) in your internal note when reducing the ETF, the same way you would for LMC/Lockout. It's a documentation step, not a limiter, and it doesn't override the rule that the 50% reduction must be maxed out before moving to Graceful Closure. Existing offer? Check whether a reduction was already applied before granting another. Always calculate any reduction from the original ETF, never an already-discounted amount.</a:t>
            </a:r>
            <a:endParaRPr/>
          </a:p>
        </p:txBody>
      </p:sp>
      <p:sp>
        <p:nvSpPr>
          <p:cNvPr id="637" name="Google Shape;63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7" name="Google Shape;66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a:p>
        </p:txBody>
      </p:sp>
      <p:sp>
        <p:nvSpPr>
          <p:cNvPr id="668" name="Google Shape;66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4" name="Google Shape;6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695" name="Google Shape;6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a:p>
        </p:txBody>
      </p:sp>
      <p:sp>
        <p:nvSpPr>
          <p:cNvPr id="727" name="Google Shape;72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9" name="Google Shape;75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a:p>
        </p:txBody>
      </p:sp>
      <p:sp>
        <p:nvSpPr>
          <p:cNvPr id="760" name="Google Shape;76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a:p>
        </p:txBody>
      </p:sp>
      <p:sp>
        <p:nvSpPr>
          <p:cNvPr id="791" name="Google Shape;79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4" name="Google Shape;814;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a:p>
        </p:txBody>
      </p:sp>
      <p:sp>
        <p:nvSpPr>
          <p:cNvPr id="815" name="Google Shape;815;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8" name="Google Shape;84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a:p>
        </p:txBody>
      </p:sp>
      <p:sp>
        <p:nvSpPr>
          <p:cNvPr id="849" name="Google Shape;84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8" name="Google Shape;898;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a:p>
        </p:txBody>
      </p:sp>
      <p:sp>
        <p:nvSpPr>
          <p:cNvPr id="899" name="Google Shape;899;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929" name="Google Shape;92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a:p>
        </p:txBody>
      </p:sp>
      <p:sp>
        <p:nvSpPr>
          <p:cNvPr id="961" name="Google Shape;961;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3" name="Google Shape;99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a:p>
        </p:txBody>
      </p:sp>
      <p:sp>
        <p:nvSpPr>
          <p:cNvPr id="994" name="Google Shape;99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a:p>
        </p:txBody>
      </p:sp>
      <p:sp>
        <p:nvSpPr>
          <p:cNvPr id="1025" name="Google Shape;102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0" name="Shape 1040"/>
        <p:cNvGrpSpPr/>
        <p:nvPr/>
      </p:nvGrpSpPr>
      <p:grpSpPr>
        <a:xfrm>
          <a:off x="0" y="0"/>
          <a:ext cx="0" cy="0"/>
          <a:chOff x="0" y="0"/>
          <a:chExt cx="0" cy="0"/>
        </a:xfrm>
      </p:grpSpPr>
      <p:sp>
        <p:nvSpPr>
          <p:cNvPr id="1041" name="Google Shape;104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2" name="Google Shape;104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a:p>
        </p:txBody>
      </p:sp>
      <p:sp>
        <p:nvSpPr>
          <p:cNvPr id="1043" name="Google Shape;104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5" name="Google Shape;1055;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a:p>
        </p:txBody>
      </p:sp>
      <p:sp>
        <p:nvSpPr>
          <p:cNvPr id="1056" name="Google Shape;1056;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a:p>
        </p:txBody>
      </p:sp>
      <p:sp>
        <p:nvSpPr>
          <p:cNvPr id="1074" name="Google Shape;107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a:p>
        </p:txBody>
      </p:sp>
      <p:sp>
        <p:nvSpPr>
          <p:cNvPr id="1107" name="Google Shape;1107;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a:p>
        </p:txBody>
      </p:sp>
      <p:sp>
        <p:nvSpPr>
          <p:cNvPr id="1128" name="Google Shape;1128;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4" name="Google Shape;1154;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a:p>
        </p:txBody>
      </p:sp>
      <p:sp>
        <p:nvSpPr>
          <p:cNvPr id="1155" name="Google Shape;1155;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1" name="Google Shape;119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a:p>
        </p:txBody>
      </p:sp>
      <p:sp>
        <p:nvSpPr>
          <p:cNvPr id="1192" name="Google Shape;119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a:p>
        </p:txBody>
      </p:sp>
      <p:sp>
        <p:nvSpPr>
          <p:cNvPr id="1230" name="Google Shape;1230;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7" name="Shape 1257"/>
        <p:cNvGrpSpPr/>
        <p:nvPr/>
      </p:nvGrpSpPr>
      <p:grpSpPr>
        <a:xfrm>
          <a:off x="0" y="0"/>
          <a:ext cx="0" cy="0"/>
          <a:chOff x="0" y="0"/>
          <a:chExt cx="0" cy="0"/>
        </a:xfrm>
      </p:grpSpPr>
      <p:sp>
        <p:nvSpPr>
          <p:cNvPr id="1258" name="Google Shape;125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9" name="Google Shape;1259;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a:p>
        </p:txBody>
      </p:sp>
      <p:sp>
        <p:nvSpPr>
          <p:cNvPr id="1260" name="Google Shape;1260;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0" name="Shape 1290"/>
        <p:cNvGrpSpPr/>
        <p:nvPr/>
      </p:nvGrpSpPr>
      <p:grpSpPr>
        <a:xfrm>
          <a:off x="0" y="0"/>
          <a:ext cx="0" cy="0"/>
          <a:chOff x="0" y="0"/>
          <a:chExt cx="0" cy="0"/>
        </a:xfrm>
      </p:grpSpPr>
      <p:sp>
        <p:nvSpPr>
          <p:cNvPr id="1291" name="Google Shape;129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2" name="Google Shape;1292;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a:p>
        </p:txBody>
      </p:sp>
      <p:sp>
        <p:nvSpPr>
          <p:cNvPr id="1293" name="Google Shape;1293;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a:p>
        </p:txBody>
      </p:sp>
      <p:sp>
        <p:nvSpPr>
          <p:cNvPr id="1315" name="Google Shape;1315;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0" name="Shape 1340"/>
        <p:cNvGrpSpPr/>
        <p:nvPr/>
      </p:nvGrpSpPr>
      <p:grpSpPr>
        <a:xfrm>
          <a:off x="0" y="0"/>
          <a:ext cx="0" cy="0"/>
          <a:chOff x="0" y="0"/>
          <a:chExt cx="0" cy="0"/>
        </a:xfrm>
      </p:grpSpPr>
      <p:sp>
        <p:nvSpPr>
          <p:cNvPr id="1341" name="Google Shape;1341;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2" name="Google Shape;1342;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a:p>
        </p:txBody>
      </p:sp>
      <p:sp>
        <p:nvSpPr>
          <p:cNvPr id="1343" name="Google Shape;1343;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371" name="Google Shape;1371;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0" name="Shape 1400"/>
        <p:cNvGrpSpPr/>
        <p:nvPr/>
      </p:nvGrpSpPr>
      <p:grpSpPr>
        <a:xfrm>
          <a:off x="0" y="0"/>
          <a:ext cx="0" cy="0"/>
          <a:chOff x="0" y="0"/>
          <a:chExt cx="0" cy="0"/>
        </a:xfrm>
      </p:grpSpPr>
      <p:sp>
        <p:nvSpPr>
          <p:cNvPr id="1401" name="Google Shape;140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2" name="Google Shape;140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a:p>
        </p:txBody>
      </p:sp>
      <p:sp>
        <p:nvSpPr>
          <p:cNvPr id="1403" name="Google Shape;140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5" name="Google Shape;1435;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Unused DHJ Voucher. Category: Retention and Membership Cancellation. This covers a customer who purchased a DHJ voucher but hasn't used it on a job yet: no cleaning has happened, so their FC membership hasn't technically started. This page is for refund and/or cancellation requests from these customers. If the customer has no refund or cancellation intent at all, only a gentle reminder is needed (case 1).</a:t>
            </a:r>
            <a:endParaRPr/>
          </a:p>
        </p:txBody>
      </p:sp>
      <p:sp>
        <p:nvSpPr>
          <p:cNvPr id="1436" name="Google Shape;1436;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Legacy DHJ, the membership only starts once the voucher is applied to a completed job. If the customer only bought the voucher and hasn't booked yet, the voucher shows on the account but there's no FC table. The FC table (with active status) only appears once the customer books an appointment, and it may show as "active with 0 paid months". That doesn't mean FC has started. This distinction matters constantly: it's exactly what leads a customer to think they've already committed to something they haven't, or an agent to assume a membership exists when it doesn't yet.</a:t>
            </a:r>
            <a:endParaRPr/>
          </a:p>
        </p:txBody>
      </p:sp>
      <p:sp>
        <p:nvSpPr>
          <p:cNvPr id="1467" name="Google Shape;1467;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3" name="Shape 1493"/>
        <p:cNvGrpSpPr/>
        <p:nvPr/>
      </p:nvGrpSpPr>
      <p:grpSpPr>
        <a:xfrm>
          <a:off x="0" y="0"/>
          <a:ext cx="0" cy="0"/>
          <a:chOff x="0" y="0"/>
          <a:chExt cx="0" cy="0"/>
        </a:xfrm>
      </p:grpSpPr>
      <p:sp>
        <p:nvSpPr>
          <p:cNvPr id="1494" name="Google Shape;1494;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5" name="Google Shape;1495;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How you handle this depends entirely on what the customer actually wants. Sort into one of the cases before doing anything else. 1) No refund or cancellation intent: they reached out about something unrelated. 2) Refund or cancellation intent. 3) Wants the account closed or deactivated, with no refund intent. 4) Wants a refund, but already self-refunded the voucher before or during their first outreach.</a:t>
            </a:r>
            <a:endParaRPr/>
          </a:p>
        </p:txBody>
      </p:sp>
      <p:sp>
        <p:nvSpPr>
          <p:cNvPr id="1496" name="Google Shape;1496;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If the customer reaches out for something unrelated and shows no sign of wanting to cancel or get a refund, don't make this bigger than it needs to be. Aside from addressing their concern, gently remind them, once, that the voucher they purchased comes with a membership that starts once they use it, so they're not caught off guard later. If they're already clearly aware of this, skip the reminder. Including the terms is fine but not mandatory, unless the terms are part of what they're raising. For example, "I didn't realize this came with a monthly fee" is no longer a courtesy reminder: walk them through the actual terms (MF amount, MCT length, ETF), since that's the real issue. 5-MINUTE WRITING CHALLENGE: the customer writes "Can you make sure I'm scheduled for Nov 15, 1PM cleaning?" Give trainees five minutes to write their reply, read a few aloud, then click to show the sample CS response: "I've got you! You're all set for Nov 15 at 1PM. Just a quick reminder, your voucher comes with a membership which will start once it's used." Point out that it answers their actual question first, then adds the one-line membership reminder.</a:t>
            </a:r>
            <a:endParaRPr/>
          </a:p>
        </p:txBody>
      </p:sp>
      <p:sp>
        <p:nvSpPr>
          <p:cNvPr id="1533" name="Google Shape;1533;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Unused DHJ Voucher with refund or cancel intent. Acknowledge the request, then check: did the customer give a reason? NO: probe for the reason (unsubscribe them if they have a cancel intent only). YES, service: address the actual issue (block the C/CP pairing, coach or penalize the CP as needed). Service-related issues (CP no-show, CP cancellation, no CP claim): offer $10–$25 credits. Service limitations or personal reasons (found another cleaner, wants same-day, moved, no phone support, will self-clean): no offers necessary. YES, membership: MF expensive, offer to reduce by $10–$15 off the original amount; MCT too long, offer to reduce by 2 months from the original MCT; does not want a membership in general, no offers, advise them to contact us if they want more flexible terms, and OTC can be offered; OTC at full price, charged upfront; TC at regular price, charged upfront. Then, in every case: remind them the voucher comes with a membership and is valid for 1 year; cancel the RC and upcoming appointments (if there is no sign they want to keep them, with the correct cancellation reason code); provide the self-refund link for refund intent only (enter the voucher code before clicking "Refund Voucher", and double-check the code). If they decline and insist on a refund: refund the voucher through CRM (CRM &gt; voucher &gt; refund DHJ/FC) and invalidate it right away, advise the 5–10 business day timeframe, and deactivate the FC table if there is one. TRAINER: clicks 1–2 reveal the Service offers, clicks 3–7 the Membership offers, one at a time.</a:t>
            </a:r>
            <a:endParaRPr/>
          </a:p>
        </p:txBody>
      </p:sp>
      <p:sp>
        <p:nvSpPr>
          <p:cNvPr id="1570" name="Google Shape;1570;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0" name="Shape 1600"/>
        <p:cNvGrpSpPr/>
        <p:nvPr/>
      </p:nvGrpSpPr>
      <p:grpSpPr>
        <a:xfrm>
          <a:off x="0" y="0"/>
          <a:ext cx="0" cy="0"/>
          <a:chOff x="0" y="0"/>
          <a:chExt cx="0" cy="0"/>
        </a:xfrm>
      </p:grpSpPr>
      <p:sp>
        <p:nvSpPr>
          <p:cNvPr id="1601" name="Google Shape;160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2" name="Google Shape;160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SCENARIO CHALLENGE (unused DHJ voucher, refund or cancel intent). For each scenario, read the customer's message aloud and give trainees a few minutes to write a reply. Read a few aloud, then click to reveal the sample CS response (click 1: scenario 1, click 2: scenario 2). Scenario 1, "I don't want to use your service. Give me my money back!" No reason given, so probe first; remind them the voucher is valid for a year and comes with a 6-month membership that starts once it's used; refund intent, so send the self-refund link. Sample response: "Sorry to hear that! Would you mind sharing why? I'd be happy to see if there's anything I can do that might work better for you. If now just isn't the right time, your voucher is good for a year, so you can always use it later. Just a quick reminder, your voucher includes a 6-month membership which will start once it's used. If you'd rather go ahead with the refund, you can use this link: &lt;refund link&gt;. Let me know what works best for you. I'm here to help!" Scenario 2, "I can't afford this membership. Please just cancel." Membership-related (MF expensive), so offer a $10–$15 MF reduction off the original $59 (here $59 to $44); remind them the voucher is valid for a year and the membership only starts once it's used. Sample response: "I completely understand. If the membership isn't within your budget right now, I'd be happy to help. Before you decide, I can lower your monthly membership from $59 to $44 if that would make it more manageable. Your voucher is also valid for a year, so you can hold onto it and use it later if the timing works better. The 6-month membership won't start until you use the voucher for your first cleaning. Let me know what works best for you. I'm happy to help either way!"</a:t>
            </a:r>
            <a:endParaRPr/>
          </a:p>
        </p:txBody>
      </p:sp>
      <p:sp>
        <p:nvSpPr>
          <p:cNvPr id="1603" name="Google Shape;160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5" name="Shape 1625"/>
        <p:cNvGrpSpPr/>
        <p:nvPr/>
      </p:nvGrpSpPr>
      <p:grpSpPr>
        <a:xfrm>
          <a:off x="0" y="0"/>
          <a:ext cx="0" cy="0"/>
          <a:chOff x="0" y="0"/>
          <a:chExt cx="0" cy="0"/>
        </a:xfrm>
      </p:grpSpPr>
      <p:sp>
        <p:nvSpPr>
          <p:cNvPr id="1626" name="Google Shape;1626;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7" name="Google Shape;1627;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If the customer declines the resolution and insists on a refund or a cancellation. Cancel and refund, or refund only: refund the voucher through CRM (CRM &gt; voucher &gt; refund DHJ/FC) and invalidate it right away; advise the customer the voucher has been refunded and give the 5–10 business day timeframe; deactivate the ForeverClean (FC) table if there is one. Cancel only: ask whether they also want their personal information deleted. YES: credit card removal, escalate to a TL to remove the card from Stripe; personal data, log it to the Data right to know/delete request tracker; invalidate the voucher through the CRM; deactivate the FC table if there is one; send a closure email; deactivate via CRM. NO: invalidate the voucher through the CRM and deactivate the FC table if there is one. If the customer also wants to close or cancel the account itself, send a closure email and deactivate via CRM. Always send the closure email before deactivating: once the account is deactivated, there is no way to reach them by email.</a:t>
            </a:r>
            <a:endParaRPr/>
          </a:p>
        </p:txBody>
      </p:sp>
      <p:sp>
        <p:nvSpPr>
          <p:cNvPr id="1628" name="Google Shape;1628;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1" name="Shape 1651"/>
        <p:cNvGrpSpPr/>
        <p:nvPr/>
      </p:nvGrpSpPr>
      <p:grpSpPr>
        <a:xfrm>
          <a:off x="0" y="0"/>
          <a:ext cx="0" cy="0"/>
          <a:chOff x="0" y="0"/>
          <a:chExt cx="0" cy="0"/>
        </a:xfrm>
      </p:grpSpPr>
      <p:sp>
        <p:nvSpPr>
          <p:cNvPr id="1652" name="Google Shape;1652;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3" name="Google Shape;1653;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Treat the initial reach-out as a cancellation intent: acknowledge, probe for the reason, unsubscribe them and let them know they're off the mailing list, remind them the voucher is valid for a year and tied to a membership, and check upcoming appointments as in case 2. If they come back and insist on closing the account, first find out whether they also want their data deleted. Either way: invalidate the voucher (C Do &gt; Voucher Invalidate); attempt to cancel FC and check whether the system flags that the voucher would be refunded (if it does, escalate to a TL to cancel and invalidate without a refund, then continue); send the closure email before deactivating, since you can't email them after; deactivate (CRM Do &gt; Deactivate). If they want data deleted: credit card removal, escalate to a TL to remove the card from Stripe permanently; personal data removal, log it to the Data right to know/delete request tracker. If they ask for their personal information deleted specifically, clarify whether they want the membership cancelled, the data deleted, or both. With an unused voucher and an explicit data-deletion request, log the tracker ticket immediately. Macro: Deactivated (send before deactivating).</a:t>
            </a:r>
            <a:endParaRPr/>
          </a:p>
        </p:txBody>
      </p:sp>
      <p:sp>
        <p:nvSpPr>
          <p:cNvPr id="1654" name="Google Shape;1654;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2" name="Shape 1682"/>
        <p:cNvGrpSpPr/>
        <p:nvPr/>
      </p:nvGrpSpPr>
      <p:grpSpPr>
        <a:xfrm>
          <a:off x="0" y="0"/>
          <a:ext cx="0" cy="0"/>
          <a:chOff x="0" y="0"/>
          <a:chExt cx="0" cy="0"/>
        </a:xfrm>
      </p:grpSpPr>
      <p:sp>
        <p:nvSpPr>
          <p:cNvPr id="1683" name="Google Shape;1683;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4" name="Google Shape;1684;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Most of the time, customers want to take matters into their own hands. If the customer already initiated a self-refund, the system might leave a voucher behind as a last-ditch effort to retain them. If that happens: invalidate the system-generated voucher, if the system hasn't already; cancel FC, the recurring cleaning plan and any upcoming appointments, if applicable; address any remaining concerns. Since the refund was initiated before or during their first outreach, the retention attempt has technically already failed before we could intervene. Accept the customer's decision and focus on a clean, hassle-free cancellation. ON THE SLIDE: how a leftover voucher looks in the CRM after a self-refund: the DHJ voucher row is tagged "Refunded but still valid". That is the system-generated voucher to invalidate. Related macros: Unused DHJ Voucher — Refund Request; Unused DHJ Voucher — Wants to 'Try it Out' (Trial Cleaning); Unused DHJ Voucher — Wants One Time Cleaning; Deactivated (send before deactivating).</a:t>
            </a:r>
            <a:endParaRPr/>
          </a:p>
        </p:txBody>
      </p:sp>
      <p:sp>
        <p:nvSpPr>
          <p:cNvPr id="1685" name="Google Shape;1685;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718" name="Google Shape;1718;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7" name="Shape 1747"/>
        <p:cNvGrpSpPr/>
        <p:nvPr/>
      </p:nvGrpSpPr>
      <p:grpSpPr>
        <a:xfrm>
          <a:off x="0" y="0"/>
          <a:ext cx="0" cy="0"/>
          <a:chOff x="0" y="0"/>
          <a:chExt cx="0" cy="0"/>
        </a:xfrm>
      </p:grpSpPr>
      <p:sp>
        <p:nvSpPr>
          <p:cNvPr id="1748" name="Google Shape;174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9" name="Google Shape;174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customer with an unused DHJ voucher. Give trainees a few minutes to review it on their own, then work through it together. 1) Which case is it (no intent, refund/cancel intent, close the account, already self-refunded), and what does the account show? 2) What actions are you going to take? Probe for the reason, fix the actual issue, use the Retention Strategy Table, remind them the voucher is valid for a year and comes with a membership, self-refund link only with refund intent, cancel appointments/RC if not wanted; or the account-closure order. 3) 5-minute writing challenge: each trainee writes the comms. Read a few aloud and compare. Then open the floor for questions.</a:t>
            </a:r>
            <a:endParaRPr/>
          </a:p>
        </p:txBody>
      </p:sp>
      <p:sp>
        <p:nvSpPr>
          <p:cNvPr id="1750" name="Google Shape;175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0" name="Shape 1780"/>
        <p:cNvGrpSpPr/>
        <p:nvPr/>
      </p:nvGrpSpPr>
      <p:grpSpPr>
        <a:xfrm>
          <a:off x="0" y="0"/>
          <a:ext cx="0" cy="0"/>
          <a:chOff x="0" y="0"/>
          <a:chExt cx="0" cy="0"/>
        </a:xfrm>
      </p:grpSpPr>
      <p:sp>
        <p:nvSpPr>
          <p:cNvPr id="1781" name="Google Shape;1781;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2" name="Google Shape;1782;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Pre-Invoice Cancellation and Refund Requests. Category: Retention and Membership Cancellation. This covers a customer wanting to cancel their FCF membership before their first job has been invoiced or completed. It's unique to FCF, since FCF membership starts immediately at sign-up rather than after a completed cleaning. A Legacy DHJ customer can't be in this situation: there's no membership to cancel until their first job happens.</a:t>
            </a:r>
            <a:endParaRPr/>
          </a:p>
        </p:txBody>
      </p:sp>
      <p:sp>
        <p:nvSpPr>
          <p:cNvPr id="1783" name="Google Shape;1783;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1" name="Shape 1811"/>
        <p:cNvGrpSpPr/>
        <p:nvPr/>
      </p:nvGrpSpPr>
      <p:grpSpPr>
        <a:xfrm>
          <a:off x="0" y="0"/>
          <a:ext cx="0" cy="0"/>
          <a:chOff x="0" y="0"/>
          <a:chExt cx="0" cy="0"/>
        </a:xfrm>
      </p:grpSpPr>
      <p:sp>
        <p:nvSpPr>
          <p:cNvPr id="1812" name="Google Shape;1812;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3" name="Google Shape;1813;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customers can self-cancel from their dashboard even with zero completed jobs, something DHJ customers were never able to do, so this comes up often. The refund answer depends on a combination of factors (how long they've had it, which cleaning length they chose, whose fault any failure was), not a single rule. Picking the wrong row means refunding something that shouldn't be refunded, or denying a refund the customer is entitled to. Retention comes first, always: only use the refund table once all reasonable retention efforts have been exhausted and the customer has decided to cancel. Pricing: $19 for the first month and $59 each month after, charged upfront before the first cleaning, renewing automatically whether or not they book.</a:t>
            </a:r>
            <a:endParaRPr/>
          </a:p>
        </p:txBody>
      </p:sp>
      <p:sp>
        <p:nvSpPr>
          <p:cNvPr id="1814" name="Google Shape;1814;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RETENTION STRATEGY (FCF, no completed cleaning yet). Customer requests cancellation: acknowledge the request; provide the self-cancellation link or offer to cancel on their behalf; do not use "voucher" terminology. Step 1, identify the root cause and address it (if not provided, probe). Personal / service limits (e.g. off-platform cleaner, C moved, self-cleaning, no credit card, same-day cleaning needs): address the concern appropriately, highlight the value of the FC membership, and encourage booking using the free or heavily discounted cleaning if appropriate. Service failure (e.g. invalid LO, CP cancellation, CP LMC, no CP claim, false invoice, CP no-show): address the service failure (block/coach/penalize the CP, etc.) AND provide the necessary resolution; offer priority booking for the next clean; do not offer credits since the cleaning is already free or heavily discounted; offer a free month if the next MF will be charged within 2 weeks. Customer-fault failure (e.g. valid LO submission, customer LMC): the customer should still get the free/heavily discounted cleaning based on their original purchase; refund any LO or LMC charges, whichever is applicable. Membership terms: MF too expensive, $10–$15 reduction from the original $59 MF; MCT too long, 1-month reduction from the original 6-month MCT; unaware of membership, address the unawareness and probe for the service experience (if applicable) and any other underlying reason for cancelling; one-time cleaning, offer a one-time cleaning at full price, charged upfront. NOTE: if the customer has multiple unused paid monthly fees, offer up to 3 free months on top of the standard retention offers. Step 2, set a Timed Reminder (TR) at least 3 days before the next monthly fee to cancel FC if the customer does not respond to the retention attempt.</a:t>
            </a:r>
            <a:endParaRPr/>
          </a:p>
        </p:txBody>
      </p:sp>
      <p:sp>
        <p:nvSpPr>
          <p:cNvPr id="1836" name="Google Shape;1836;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0" name="Shape 1860"/>
        <p:cNvGrpSpPr/>
        <p:nvPr/>
      </p:nvGrpSpPr>
      <p:grpSpPr>
        <a:xfrm>
          <a:off x="0" y="0"/>
          <a:ext cx="0" cy="0"/>
          <a:chOff x="0" y="0"/>
          <a:chExt cx="0" cy="0"/>
        </a:xfrm>
      </p:grpSpPr>
      <p:sp>
        <p:nvSpPr>
          <p:cNvPr id="1861" name="Google Shape;1861;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2" name="Google Shape;1862;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EXIT STRATEGY (FCF, no completed cleaning yet). When the TR triggers and the customer has not responded, or the customer responds and insists on cancelling after the retention attempt: 1) cancel FC via CRM; 2) invalidate the voucher; 3) invalidate the TR (if it has not triggered yet). Wants a refund? Refer to the Refund eligibility cheat sheet after attempting retention. TRAINER: in slideshow mode, click "Refund eligibility cheat sheet" to jump to it.</a:t>
            </a:r>
            <a:endParaRPr/>
          </a:p>
        </p:txBody>
      </p:sp>
      <p:sp>
        <p:nvSpPr>
          <p:cNvPr id="1863" name="Google Shape;1863;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INTERNAL ONLY: the 24-hour window is something we use to decide what to do, not a rule we tell the customer. Never say "you have 24 hours to cancel" or mention any deadline. If a customer asks why they got a refund (or didn't), explain the specific outcome, not the rule. It only applies if they haven't had a cleaning yet: zero completed jobs. After even one cleaning, handle it as a normal cancellation. Why it exists: we charge the MF upfront ($19 first month, $59 after) before the first cleaning, and it renews automatically, so we give customers about a day to change their mind. How the window works: 1st MF, from sign-up to when they first contacted us to request a cancellation or refund, or to when they self-cancelled. Succeeding MFs: from when that MF was charged to when they asked. Use reasonable judgment: it's a guideline, not a strict cutoff; signing up one day and contacting us the next can still count. Signed up and changed their mind fast: treat it like they never really committed. Waited days: that's a real cancellation. No request, no refund: even inside the window, don't offer one if they didn't ask.</a:t>
            </a:r>
            <a:endParaRPr/>
          </a:p>
        </p:txBody>
      </p:sp>
      <p:sp>
        <p:nvSpPr>
          <p:cNvPr id="1887" name="Google Shape;1887;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5" name="Shape 1915"/>
        <p:cNvGrpSpPr/>
        <p:nvPr/>
      </p:nvGrpSpPr>
      <p:grpSpPr>
        <a:xfrm>
          <a:off x="0" y="0"/>
          <a:ext cx="0" cy="0"/>
          <a:chOff x="0" y="0"/>
          <a:chExt cx="0" cy="0"/>
        </a:xfrm>
      </p:grpSpPr>
      <p:sp>
        <p:nvSpPr>
          <p:cNvPr id="1916" name="Google Shape;1916;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7" name="Google Shape;1917;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 service issue, no completed job yet. 2–3 hour cleaning, within 24 hours: refund the 1st MF ($19). Use the Refund Voucher option in CRM (no tracker entry), then cancel FC in CRM and invalidate the voucher. 2–3 hour cleaning, after 24 hours: no refund unless there's a compelling reason (e.g. compassion, the customer doesn't have a card); cancel FC and invalidate the voucher; with a compelling reason, refund via the Refund Voucher option first. 4–6 hour cleaning, within 24 hours: refund the 1st MF and the add-on ($19 for 4 hours, $59 for 6 hours); log to the FCF Refund tracker for a Stripe FULL refund, then cancel FC and invalidate the voucher. 4–6 hour cleaning, after 24 hours: no refund of the 1st MF unless compelling; refund the add-on; log to the FCF Refund tracker for a Stripe PARTIAL refund, then cancel FC and invalidate the voucher.</a:t>
            </a:r>
            <a:endParaRPr/>
          </a:p>
        </p:txBody>
      </p:sp>
      <p:sp>
        <p:nvSpPr>
          <p:cNvPr id="1918" name="Google Shape;1918;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1" name="Shape 1931"/>
        <p:cNvGrpSpPr/>
        <p:nvPr/>
      </p:nvGrpSpPr>
      <p:grpSpPr>
        <a:xfrm>
          <a:off x="0" y="0"/>
          <a:ext cx="0" cy="0"/>
          <a:chOff x="0" y="0"/>
          <a:chExt cx="0" cy="0"/>
        </a:xfrm>
      </p:grpSpPr>
      <p:sp>
        <p:nvSpPr>
          <p:cNvPr id="1932" name="Google Shape;1932;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3" name="Google Shape;1933;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failure, company's or CP's fault: timing doesn't matter; refund the 1st MF and the add-on. Service failure, customer at fault, within 24 hours: refund both. Customer at fault (except biohazard), after 24 hours: no refund of the 1st MF unless there's a compelling reason; refund the add-on. Biohazard reported by the CP: timing doesn't matter; refund both. How to process: 2–3 hour cleaning, use the Refund Voucher option in CRM (no tracker entry); 4–6 hour cleaning, log to the FCF Refund tracker for a Stripe FULL refund. Then cancel FC in CRM and invalidate the voucher. Agent Do: for 4–6 hour cleanings, don't use the Refund Voucher option: it only refunds the $19 MF, not the add-on. Log to the FCF Refund tab so a TL issues the full Stripe refund.</a:t>
            </a:r>
            <a:endParaRPr/>
          </a:p>
        </p:txBody>
      </p:sp>
      <p:sp>
        <p:nvSpPr>
          <p:cNvPr id="1934" name="Google Shape;1934;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0" name="Shape 1950"/>
        <p:cNvGrpSpPr/>
        <p:nvPr/>
      </p:nvGrpSpPr>
      <p:grpSpPr>
        <a:xfrm>
          <a:off x="0" y="0"/>
          <a:ext cx="0" cy="0"/>
          <a:chOff x="0" y="0"/>
          <a:chExt cx="0" cy="0"/>
        </a:xfrm>
      </p:grpSpPr>
      <p:sp>
        <p:nvSpPr>
          <p:cNvPr id="1951" name="Google Shape;1951;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2" name="Google Shape;1952;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 MFs paid with no jobs done: no refund by default (timing doesn't matter), unless one of these applies: 1) they reached out within 24 hours of being charged their most recent MF; 2) they tried to book within a specific MF's coverage period but didn't get a cleaning because of CP or platform fault: refund that specific MF; 3) they reached out within about 3 days of their most recent MF charge AND the root cause is CP or platform fault (not a strict 72-hour cutoff; before the 4th day can still qualify); 4) biohazard reported by the CP: refund all unused MFs in full if the customer asks (the 120-day timeframe still applies), regardless of timing, since they never had a real shot at using the membership. The add-on is refunded. If any apply, for the 1st charge: 2–3 hour cleaning, Refund Voucher option in CRM; 4–6 hour cleaning, FCF Refund tab for a Stripe FULL refund; then cancel FC in CRM and invalidate the voucher. Macros: FCF Refund (No Completed Cleaning): Cleaning Charge Only; Courtesy (Membership Fee); Courtesy (Service Issue); Partial MF Refund (1 of 2+ Charges).</a:t>
            </a:r>
            <a:endParaRPr/>
          </a:p>
        </p:txBody>
      </p:sp>
      <p:sp>
        <p:nvSpPr>
          <p:cNvPr id="1953" name="Google Shape;1953;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1" name="Shape 1981"/>
        <p:cNvGrpSpPr/>
        <p:nvPr/>
      </p:nvGrpSpPr>
      <p:grpSpPr>
        <a:xfrm>
          <a:off x="0" y="0"/>
          <a:ext cx="0" cy="0"/>
          <a:chOff x="0" y="0"/>
          <a:chExt cx="0" cy="0"/>
        </a:xfrm>
      </p:grpSpPr>
      <p:sp>
        <p:nvSpPr>
          <p:cNvPr id="1982" name="Google Shape;1982;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3" name="Google Shape;1983;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Related scenario, FCF first-cleaning duration change: FCF customers occasionally want to change the duration they picked at sign-up. Approved handling: keep FC in place, manually update the voucher duration in Django, and settle the price difference at sign-up-tier pricing: +$19 for 4 hours, +$59 for 6 hours; refund the difference on a downgrade. Agent Do: confirm the current and target tier, get the customer's agreement on the price difference, then update the voucher duration in Django and charge or refund accordingly.</a:t>
            </a:r>
            <a:endParaRPr/>
          </a:p>
        </p:txBody>
      </p:sp>
      <p:sp>
        <p:nvSpPr>
          <p:cNvPr id="1984" name="Google Shape;1984;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3" name="Shape 2013"/>
        <p:cNvGrpSpPr/>
        <p:nvPr/>
      </p:nvGrpSpPr>
      <p:grpSpPr>
        <a:xfrm>
          <a:off x="0" y="0"/>
          <a:ext cx="0" cy="0"/>
          <a:chOff x="0" y="0"/>
          <a:chExt cx="0" cy="0"/>
        </a:xfrm>
      </p:grpSpPr>
      <p:sp>
        <p:nvSpPr>
          <p:cNvPr id="2014" name="Google Shape;2014;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5" name="Google Shape;2015;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016" name="Google Shape;2016;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5" name="Shape 2045"/>
        <p:cNvGrpSpPr/>
        <p:nvPr/>
      </p:nvGrpSpPr>
      <p:grpSpPr>
        <a:xfrm>
          <a:off x="0" y="0"/>
          <a:ext cx="0" cy="0"/>
          <a:chOff x="0" y="0"/>
          <a:chExt cx="0" cy="0"/>
        </a:xfrm>
      </p:grpSpPr>
      <p:sp>
        <p:nvSpPr>
          <p:cNvPr id="2046" name="Google Shape;2046;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7" name="Google Shape;2047;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FCF ticket where the customer wants to cancel before their first completed job. Give trainees a few minutes to review it on their own, then work through it together. 1) Which row applies? Check there are zero completed jobs, retention was attempted, the timing (internal 24-hour window), the cleaning length (2–3 vs 4–6 hours), and whose fault any failure was. 2) What actions are you going to take? 2–3 hours: Refund Voucher option in CRM; 4–6 hours: FCF Refund tracker for a Stripe full or partial refund; then cancel FC and invalidate the voucher. 3) 5-minute writing challenge: each trainee writes the comms, without mentioning the 24-hour window. Read a few aloud and compare. Then open the floor for questions.</a:t>
            </a:r>
            <a:endParaRPr/>
          </a:p>
        </p:txBody>
      </p:sp>
      <p:sp>
        <p:nvSpPr>
          <p:cNvPr id="2048" name="Google Shape;2048;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8" name="Shape 2078"/>
        <p:cNvGrpSpPr/>
        <p:nvPr/>
      </p:nvGrpSpPr>
      <p:grpSpPr>
        <a:xfrm>
          <a:off x="0" y="0"/>
          <a:ext cx="0" cy="0"/>
          <a:chOff x="0" y="0"/>
          <a:chExt cx="0" cy="0"/>
        </a:xfrm>
      </p:grpSpPr>
      <p:sp>
        <p:nvSpPr>
          <p:cNvPr id="2079" name="Google Shape;2079;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0" name="Google Shape;2080;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Trial Cleaning (TC) / One-Time Cleaning (OTC). This covers two non-membership (or limited-membership) alternatives to a full ForeverClean membership. Both come up in two ways: 1) Conversion: a customer with an unused DHJ voucher, or an FCF membership with no completed job, can be converted to TC/OTC instead of using or refunding the voucher or continuing the membership. 2) Direct purchase: a customer can buy TC/OTC directly through Sales without ever signing up for ForeverClean (full regular rate from the FC Sales Calculator). This applies to both DHJ and FCF. Why it matters: not every customer wants an ongoing membership. Steering them into a refund by default, when a TC/OTC would get them what they want, is a missed opportunity.</a:t>
            </a:r>
            <a:endParaRPr/>
          </a:p>
        </p:txBody>
      </p:sp>
      <p:sp>
        <p:nvSpPr>
          <p:cNvPr id="2081" name="Google Shape;2081;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9" name="Shape 2109"/>
        <p:cNvGrpSpPr/>
        <p:nvPr/>
      </p:nvGrpSpPr>
      <p:grpSpPr>
        <a:xfrm>
          <a:off x="0" y="0"/>
          <a:ext cx="0" cy="0"/>
          <a:chOff x="0" y="0"/>
          <a:chExt cx="0" cy="0"/>
        </a:xfrm>
      </p:grpSpPr>
      <p:sp>
        <p:nvSpPr>
          <p:cNvPr id="2110" name="Google Shape;2110;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1" name="Google Shape;2111;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are one-off paid cleanings charged upfront, but they have completely different downstream consequences. Trial Cleaning (TC): triggers an FC table (membership). The customer has a 30-day window from the appointment to cancel with no obligation. If no cancellation request comes in during that window, the membership activates for real: $59/month, 6-month MCT, $99 ETF going forward. Use case: wants to try the membership before committing. One-Time Cleaning (OTC): no FC table; nothing further, no ongoing relationship. Use case: wants a single cleaning (e.g. a move-out clean) with no interest in a membership.</a:t>
            </a:r>
            <a:endParaRPr/>
          </a:p>
        </p:txBody>
      </p:sp>
      <p:sp>
        <p:nvSpPr>
          <p:cNvPr id="2112" name="Google Shape;2112;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7" name="Shape 2127"/>
        <p:cNvGrpSpPr/>
        <p:nvPr/>
      </p:nvGrpSpPr>
      <p:grpSpPr>
        <a:xfrm>
          <a:off x="0" y="0"/>
          <a:ext cx="0" cy="0"/>
          <a:chOff x="0" y="0"/>
          <a:chExt cx="0" cy="0"/>
        </a:xfrm>
      </p:grpSpPr>
      <p:sp>
        <p:nvSpPr>
          <p:cNvPr id="2128" name="Google Shape;2128;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9" name="Google Shape;2129;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Use the (Transformation) FC SALES CALCULATOR to get the correct TC/OTC rate before applying either deduction. DHJ: deduct the voucher purchase price they already paid. FCF: deduct all membership fees paid to date (within 120 days), not just the initial $19 first MF, plus the add-on if they chose a 4-hour ($19) or 6-hour ($59) cleaning. If the deduction exceeds the TC/OTC price (FCF): no refund of the excess; the customer pays $0, but nothing comes back to them. Examples: 2 MFs + $59 add-on = $137 paid; a 6-hour clean at $378 means they pay the remaining $241. $150 in MFs paid vs a $120 OTC: $0 due, and the $30 is not refunded.</a:t>
            </a:r>
            <a:endParaRPr/>
          </a:p>
        </p:txBody>
      </p:sp>
      <p:sp>
        <p:nvSpPr>
          <p:cNvPr id="2130" name="Google Shape;2130;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9" name="Shape 2149"/>
        <p:cNvGrpSpPr/>
        <p:nvPr/>
      </p:nvGrpSpPr>
      <p:grpSpPr>
        <a:xfrm>
          <a:off x="0" y="0"/>
          <a:ext cx="0" cy="0"/>
          <a:chOff x="0" y="0"/>
          <a:chExt cx="0" cy="0"/>
        </a:xfrm>
      </p:grpSpPr>
      <p:sp>
        <p:nvSpPr>
          <p:cNvPr id="2150" name="Google Shape;2150;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1" name="Google Shape;2151;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Acknowledge and empathize. DHJ only: if they have refund intent, provide the self-refund link, advise entering the voucher code before "Refund Voucher", and include the code in your email (not applicable to FCF: they signed up for a membership, not a voucher). Explain what they signed up for and offer the alternative. DHJ OTC: "The voucher you purchased comes with a membership, so if you're only looking for a one-time cleaning, using it wouldn't be the best route. What I can do instead is offer a one-time cleaning at $[X], that's the regular rate minus the $[X] you already paid for the voucher, charged upfront. Just let me know your preferred date and time and I'll get that booked for you." FCF OTC: "What you signed up for is a membership, so if you're only looking for a one-time cleaning…" DHJ/FCF TC: "I totally get that you might not want to commit to a membership right away. We actually have a Trial Cleaning option, which could be a better fit. It lets you try things out first… a standard [X]-hour clean is normally $[X], but we can apply what you've already paid, bringing your total to $[X], charged upfront." For TC, set expectations: 30 days from the appointment to contact us if they don't want to continue, cancelled with no obligation; otherwise the $59/month membership starts automatically, with a 6-month MCT, and a $99 ETF if cancelled after the 30 days and before completing the 6 months. Check upcoming appointments and RC: cancel via CRM if there's no sign they want to keep them. Macros: "DHJ - Wants to 'Try it Out' (Trial Cleaning)", "DHJ - Wants One Time Cleaning".</a:t>
            </a:r>
            <a:endParaRPr/>
          </a:p>
        </p:txBody>
      </p:sp>
      <p:sp>
        <p:nvSpPr>
          <p:cNvPr id="2152" name="Google Shape;2152;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0" name="Shape 2170"/>
        <p:cNvGrpSpPr/>
        <p:nvPr/>
      </p:nvGrpSpPr>
      <p:grpSpPr>
        <a:xfrm>
          <a:off x="0" y="0"/>
          <a:ext cx="0" cy="0"/>
          <a:chOff x="0" y="0"/>
          <a:chExt cx="0" cy="0"/>
        </a:xfrm>
      </p:grpSpPr>
      <p:sp>
        <p:nvSpPr>
          <p:cNvPr id="2171" name="Google Shape;2171;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2" name="Google Shape;2172;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accepts: confirm the account info (complete address, a valid card on file, appointment date, time and duration). If they still want a refund: DHJ, refund the voucher via CRM and invalidate it; FCF, log the 1st charge (1st MF + add-on, if any) to the FCF Refund log so a TL refunds it via Stripe. If they no longer want a refund, apply the deduction and invalidate the voucher (DHJ voucher price; FCF all MFs paid + add-on). Charge upfront using the FC Sales Calculator. Book the appointment (CRM if applicable, otherwise the customer dashboard). Handle the existing FC table: OTC (DHJ or FCF), invalidate the voucher and deactivate the FC table. DHJ TC: leave the FC table as is, since DHJ MFs only start after a completed job. FCF TC: deactivate the FC table, since FCF starts at sign-up and auto-renews. Prevent a double charge: issue an admin_courtesy voucher (don't notify the customer). TC only: click the voucher in Legacy CRM and select "ForeverClean force" (triggers FC once the job is completed) and "1 free month" (delays the next MF by 30 days); add the customer to the FC table (FCF); update the ETF to $99. Confirm to the customer: charged upfront, appointment booked, notified once the CP confirms.</a:t>
            </a:r>
            <a:endParaRPr/>
          </a:p>
        </p:txBody>
      </p:sp>
      <p:sp>
        <p:nvSpPr>
          <p:cNvPr id="2173" name="Google Shape;2173;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7" name="Shape 2207"/>
        <p:cNvGrpSpPr/>
        <p:nvPr/>
      </p:nvGrpSpPr>
      <p:grpSpPr>
        <a:xfrm>
          <a:off x="0" y="0"/>
          <a:ext cx="0" cy="0"/>
          <a:chOff x="0" y="0"/>
          <a:chExt cx="0" cy="0"/>
        </a:xfrm>
      </p:grpSpPr>
      <p:sp>
        <p:nvSpPr>
          <p:cNvPr id="2208" name="Google Shape;2208;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9" name="Google Shape;2209;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declines the TC/OTC offer. Refund: DHJ, if they request a refund within 1 year of purchase, refund the DHJ voucher through CRM and invalidate it. FCF: check the Refund Eligibility Cheat Sheet (No Completed Job Yet) in the FCF Pre-Invoice Cancellation article. FC table: deactivate it in every case. Advise the customer: DHJ, refund processed, 5–10 business days; FCF, depends on the cheat sheet. CRM account: if they want their account closed, deactivate it, but send comms before deactivating.</a:t>
            </a:r>
            <a:endParaRPr/>
          </a:p>
        </p:txBody>
      </p:sp>
      <p:sp>
        <p:nvSpPr>
          <p:cNvPr id="2210" name="Google Shape;2210;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4" name="Shape 2234"/>
        <p:cNvGrpSpPr/>
        <p:nvPr/>
      </p:nvGrpSpPr>
      <p:grpSpPr>
        <a:xfrm>
          <a:off x="0" y="0"/>
          <a:ext cx="0" cy="0"/>
          <a:chOff x="0" y="0"/>
          <a:chExt cx="0" cy="0"/>
        </a:xfrm>
      </p:grpSpPr>
      <p:sp>
        <p:nvSpPr>
          <p:cNvPr id="2235" name="Google Shape;2235;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6" name="Google Shape;2236;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Applies however the customer got here (Care or Sales). Changed their mind, or no clear reason: give a full admin refund of what they paid; invalidate the voucher tied to the order; if it was a Trial Cleaning, cancel the FC table too (easy to forget: OTC never had a table, but a TC did, and it doesn't go away just because you refunded); double-check the appointment itself is cancelled; if they say why, acknowledge warmly and say they're welcome back; if they don't, probe, since a vague reason might be fixable. If they come back to try again, don't charge upfront again; just help them book, and it's invoiced normally. Cancelled because of a service issue (no-show, cancellation, no CP claim): same refund steps, plus real acknowledgment: "I understand it's frustrating when your cleaning gets cancelled. I'm here to help." Fix the root cause: block the CP/customer pairing and coach or penalize the CP. If they're open to it, offer a different, reliable cleaner, with priority booking if you can: "While your first cleaner cancelled, we can connect you with another trusted cleaner if you'd like to try again." A small incentive ($10–$25 in credits, or a free hour) goes a long way: we're asking for a second chance. Completed the Trial and wants to cancel within the 30-day window: cancel FC, no ETF, whatever the reason. Even if the reason was a bad cleaning, cancel as asked; you can offer a second chance (a different cleaner plus around $20 in credits) if they seem open. If they come back later, follow the usual FC Reactivations.</a:t>
            </a:r>
            <a:endParaRPr/>
          </a:p>
        </p:txBody>
      </p:sp>
      <p:sp>
        <p:nvSpPr>
          <p:cNvPr id="2237" name="Google Shape;2237;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customer paid upfront for a TC/OTC but only received part of the cleaning. Key point: the customer has no idea a voucher exists on their account; it's an internal way to avoid double-charging when the CP invoices. They paid upfront and expect real money back. If the CP already refunded part of it (as a voucher) and the customer wants cash: the CP already confirmed something went wrong, so invalidate that voucher, admin refund the matching amount from the original charge, and let the customer know. Example: a $252 OTC for 4 hours with 1 hour refunded: refund $63 ($252 / 4). If nothing has been confirmed and it looks like an overcharge: run the standard Overcharged Hours process first, and only refund once it's confirmed (real evidence, or the CP never responded). Match the refund to what wasn't done: paid 4 hours, got 2, half back. Steps: 1) Block automated comms (C CRM &gt; Do &gt; Deactivate block comms) so the customer doesn't get a confusing "your voucher was refunded" message, then refund from the CP dashboard so the CP is only paid for the hours worked. 2) Once you've confirmed the message didn't go out, remove the block and invalidate the voucher. 3) Do the math and issue an admin refund for the TC/OTC manual charge.</a:t>
            </a:r>
            <a:endParaRPr/>
          </a:p>
        </p:txBody>
      </p:sp>
      <p:sp>
        <p:nvSpPr>
          <p:cNvPr id="2258" name="Google Shape;2258;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2" name="Shape 2282"/>
        <p:cNvGrpSpPr/>
        <p:nvPr/>
      </p:nvGrpSpPr>
      <p:grpSpPr>
        <a:xfrm>
          <a:off x="0" y="0"/>
          <a:ext cx="0" cy="0"/>
          <a:chOff x="0" y="0"/>
          <a:chExt cx="0" cy="0"/>
        </a:xfrm>
      </p:grpSpPr>
      <p:sp>
        <p:nvSpPr>
          <p:cNvPr id="2283" name="Google Shape;2283;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4" name="Google Shape;2284;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285" name="Google Shape;2285;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4" name="Shape 2314"/>
        <p:cNvGrpSpPr/>
        <p:nvPr/>
      </p:nvGrpSpPr>
      <p:grpSpPr>
        <a:xfrm>
          <a:off x="0" y="0"/>
          <a:ext cx="0" cy="0"/>
          <a:chOff x="0" y="0"/>
          <a:chExt cx="0" cy="0"/>
        </a:xfrm>
      </p:grpSpPr>
      <p:sp>
        <p:nvSpPr>
          <p:cNvPr id="2315" name="Google Shape;2315;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6" name="Google Shape;2316;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TC or OTC could be offered (or a TC/OTC cancellation). Give trainees a few minutes to review it on their own, then work through it together. 1) TC or OTC, and why? DHJ or FCF? 2) What actions are you going to take? Get the rate from the FC Sales Calculator, deduct what was paid (voucher, or MFs + add-on within 120 days; no refund of any excess), charge upfront, book, handle the FC table by model, issue the admin_courtesy voucher, and for a TC force FC + 1 free month and set the ETF to $99. 3) 5-minute writing challenge: each trainee writes the offer, including TC expectations if relevant. Read a few aloud and compare. Then open the floor for questions.</a:t>
            </a:r>
            <a:endParaRPr/>
          </a:p>
        </p:txBody>
      </p:sp>
      <p:sp>
        <p:nvSpPr>
          <p:cNvPr id="2317" name="Google Shape;2317;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7" name="Shape 2347"/>
        <p:cNvGrpSpPr/>
        <p:nvPr/>
      </p:nvGrpSpPr>
      <p:grpSpPr>
        <a:xfrm>
          <a:off x="0" y="0"/>
          <a:ext cx="0" cy="0"/>
          <a:chOff x="0" y="0"/>
          <a:chExt cx="0" cy="0"/>
        </a:xfrm>
      </p:grpSpPr>
      <p:sp>
        <p:nvSpPr>
          <p:cNvPr id="2348" name="Google Shape;2348;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9" name="Google Shape;2349;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 Unused DHJ Voucher (FC hasn't started; sort into four cases; self-refund link only with refund intent; close accounts in order). FCF Pre-Invoice (retention first; internal 24-hour window; 2–3 hr Refund Voucher vs 4–6 hr Stripe via tracker; cancel FC and invalidate). Trial and One-Time Cleaning (TC creates an FC table with a 30-day window, OTC doesn't; deduct what was paid; never refund the excess).</a:t>
            </a:r>
            <a:endParaRPr/>
          </a:p>
        </p:txBody>
      </p:sp>
      <p:sp>
        <p:nvSpPr>
          <p:cNvPr id="2350" name="Google Shape;2350;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2.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62.xml"/><Relationship Id="rId11" Type="http://schemas.openxmlformats.org/officeDocument/2006/relationships/slide" Target="/ppt/slides/slide28.xml"/><Relationship Id="rId22" Type="http://schemas.openxmlformats.org/officeDocument/2006/relationships/slide" Target="/ppt/slides/slide73.xml"/><Relationship Id="rId10" Type="http://schemas.openxmlformats.org/officeDocument/2006/relationships/slide" Target="/ppt/slides/slide28.xml"/><Relationship Id="rId21" Type="http://schemas.openxmlformats.org/officeDocument/2006/relationships/slide" Target="/ppt/slides/slide73.xml"/><Relationship Id="rId13" Type="http://schemas.openxmlformats.org/officeDocument/2006/relationships/slide" Target="/ppt/slides/slide35.xml"/><Relationship Id="rId12" Type="http://schemas.openxmlformats.org/officeDocument/2006/relationships/slide" Target="/ppt/slides/slide35.xml"/><Relationship Id="rId23" Type="http://schemas.openxmlformats.org/officeDocument/2006/relationships/slide" Target="/ppt/slides/slide73.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28.xml"/><Relationship Id="rId15" Type="http://schemas.openxmlformats.org/officeDocument/2006/relationships/slide" Target="/ppt/slides/slide51.xml"/><Relationship Id="rId14" Type="http://schemas.openxmlformats.org/officeDocument/2006/relationships/slide" Target="/ppt/slides/slide35.xml"/><Relationship Id="rId17" Type="http://schemas.openxmlformats.org/officeDocument/2006/relationships/slide" Target="/ppt/slides/slide51.xml"/><Relationship Id="rId16" Type="http://schemas.openxmlformats.org/officeDocument/2006/relationships/slide" Target="/ppt/slides/slide51.xml"/><Relationship Id="rId5" Type="http://schemas.openxmlformats.org/officeDocument/2006/relationships/slide" Target="/ppt/slides/slide3.xml"/><Relationship Id="rId19" Type="http://schemas.openxmlformats.org/officeDocument/2006/relationships/slide" Target="/ppt/slides/slide62.xml"/><Relationship Id="rId6" Type="http://schemas.openxmlformats.org/officeDocument/2006/relationships/slide" Target="/ppt/slides/slide12.xml"/><Relationship Id="rId18" Type="http://schemas.openxmlformats.org/officeDocument/2006/relationships/slide" Target="/ppt/slides/slide62.xml"/><Relationship Id="rId7" Type="http://schemas.openxmlformats.org/officeDocument/2006/relationships/slide" Target="/ppt/slides/slide12.xml"/><Relationship Id="rId8" Type="http://schemas.openxmlformats.org/officeDocument/2006/relationships/slide" Target="/ppt/slid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rive.google.com/file/d/1FNrb0bVkfw4z9XO_nxwU_teVxbLA2VtL/view?usp=sharing"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21.png"/><Relationship Id="rId7"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17.png"/><Relationship Id="rId5"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drive.google.com/file/d/1f9SkROdd6ZQ01fgADNoryrOM1S-hbers/view?usp=drive_link" TargetMode="External"/><Relationship Id="rId4" Type="http://schemas.openxmlformats.org/officeDocument/2006/relationships/hyperlink" Target="https://drive.google.com/file/d/1FYPC3uPVpHR5z_jfTcPIV1V5yKSX3KW0/view?usp=drive_link" TargetMode="External"/><Relationship Id="rId5"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4.png"/><Relationship Id="rId4" Type="http://schemas.openxmlformats.org/officeDocument/2006/relationships/image" Target="../media/image44.png"/><Relationship Id="rId5" Type="http://schemas.openxmlformats.org/officeDocument/2006/relationships/image" Target="../media/image11.png"/><Relationship Id="rId6"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6.png"/><Relationship Id="rId4" Type="http://schemas.openxmlformats.org/officeDocument/2006/relationships/image" Target="../media/image25.png"/><Relationship Id="rId5"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6.png"/><Relationship Id="rId4" Type="http://schemas.openxmlformats.org/officeDocument/2006/relationships/image" Target="../media/image31.png"/><Relationship Id="rId5" Type="http://schemas.openxmlformats.org/officeDocument/2006/relationships/image" Target="../media/image38.png"/><Relationship Id="rId6"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2.png"/><Relationship Id="rId4"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35.png"/><Relationship Id="rId4" Type="http://schemas.openxmlformats.org/officeDocument/2006/relationships/image" Target="../media/image44.png"/><Relationship Id="rId5" Type="http://schemas.openxmlformats.org/officeDocument/2006/relationships/image" Target="../media/image33.png"/><Relationship Id="rId6" Type="http://schemas.openxmlformats.org/officeDocument/2006/relationships/image" Target="../media/image39.png"/><Relationship Id="rId7"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56.png"/><Relationship Id="rId4" Type="http://schemas.openxmlformats.org/officeDocument/2006/relationships/image" Target="../media/image40.png"/><Relationship Id="rId5" Type="http://schemas.openxmlformats.org/officeDocument/2006/relationships/image" Target="../media/image37.png"/><Relationship Id="rId6" Type="http://schemas.openxmlformats.org/officeDocument/2006/relationships/image" Target="../media/image23.png"/><Relationship Id="rId7" Type="http://schemas.openxmlformats.org/officeDocument/2006/relationships/image" Target="../media/image42.png"/><Relationship Id="rId8"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7.png"/><Relationship Id="rId4" Type="http://schemas.openxmlformats.org/officeDocument/2006/relationships/image" Target="../media/image46.png"/><Relationship Id="rId5" Type="http://schemas.openxmlformats.org/officeDocument/2006/relationships/image" Target="../media/image48.png"/><Relationship Id="rId6" Type="http://schemas.openxmlformats.org/officeDocument/2006/relationships/image" Target="../media/image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8.png"/><Relationship Id="rId4" Type="http://schemas.openxmlformats.org/officeDocument/2006/relationships/image" Target="../media/image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png"/><Relationship Id="rId4" Type="http://schemas.openxmlformats.org/officeDocument/2006/relationships/image" Target="../media/image5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3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5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4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61.png"/><Relationship Id="rId4" Type="http://schemas.openxmlformats.org/officeDocument/2006/relationships/image" Target="../media/image50.png"/><Relationship Id="rId5" Type="http://schemas.openxmlformats.org/officeDocument/2006/relationships/image" Target="../media/image3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6.png"/><Relationship Id="rId4"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51.png"/><Relationship Id="rId4" Type="http://schemas.openxmlformats.org/officeDocument/2006/relationships/image" Target="../media/image57.png"/><Relationship Id="rId5" Type="http://schemas.openxmlformats.org/officeDocument/2006/relationships/image" Target="../media/image53.png"/><Relationship Id="rId6" Type="http://schemas.openxmlformats.org/officeDocument/2006/relationships/image" Target="../media/image5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55.png"/><Relationship Id="rId4" Type="http://schemas.openxmlformats.org/officeDocument/2006/relationships/image" Target="../media/image16.png"/><Relationship Id="rId5" Type="http://schemas.openxmlformats.org/officeDocument/2006/relationships/image" Target="../media/image4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64.png"/><Relationship Id="rId4" Type="http://schemas.openxmlformats.org/officeDocument/2006/relationships/image" Target="../media/image15.png"/><Relationship Id="rId5" Type="http://schemas.openxmlformats.org/officeDocument/2006/relationships/image" Target="../media/image65.png"/><Relationship Id="rId6" Type="http://schemas.openxmlformats.org/officeDocument/2006/relationships/image" Target="../media/image7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66.png"/><Relationship Id="rId4" Type="http://schemas.openxmlformats.org/officeDocument/2006/relationships/image" Target="../media/image5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62.png"/><Relationship Id="rId4" Type="http://schemas.openxmlformats.org/officeDocument/2006/relationships/image" Target="../media/image68.png"/><Relationship Id="rId5" Type="http://schemas.openxmlformats.org/officeDocument/2006/relationships/image" Target="../media/image15.png"/><Relationship Id="rId6" Type="http://schemas.openxmlformats.org/officeDocument/2006/relationships/image" Target="../media/image60.png"/><Relationship Id="rId7" Type="http://schemas.openxmlformats.org/officeDocument/2006/relationships/image" Target="../media/image5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8.png"/><Relationship Id="rId4" Type="http://schemas.openxmlformats.org/officeDocument/2006/relationships/image" Target="../media/image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png"/><Relationship Id="rId4" Type="http://schemas.openxmlformats.org/officeDocument/2006/relationships/image" Target="../media/image7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0.png"/><Relationship Id="rId4" Type="http://schemas.openxmlformats.org/officeDocument/2006/relationships/hyperlink" Target="https://www.homeaglow.com/crm/tickets/tkt_gs2vwxl9s8x4" TargetMode="External"/><Relationship Id="rId5" Type="http://schemas.openxmlformats.org/officeDocument/2006/relationships/hyperlink" Target="https://www.homeaglow.com/crm/tickets/tkt_gs2vwxl9s8x4"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2.png"/><Relationship Id="rId4" Type="http://schemas.openxmlformats.org/officeDocument/2006/relationships/image" Target="../media/image69.png"/><Relationship Id="rId5" Type="http://schemas.openxmlformats.org/officeDocument/2006/relationships/image" Target="../media/image71.png"/><Relationship Id="rId6" Type="http://schemas.openxmlformats.org/officeDocument/2006/relationships/image" Target="../media/image4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1.png"/><Relationship Id="rId4" Type="http://schemas.openxmlformats.org/officeDocument/2006/relationships/image" Target="../media/image74.png"/><Relationship Id="rId5" Type="http://schemas.openxmlformats.org/officeDocument/2006/relationships/image" Target="../media/image37.png"/><Relationship Id="rId6" Type="http://schemas.openxmlformats.org/officeDocument/2006/relationships/image" Target="../media/image6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77.png"/><Relationship Id="rId4" Type="http://schemas.openxmlformats.org/officeDocument/2006/relationships/image" Target="../media/image23.png"/><Relationship Id="rId5" Type="http://schemas.openxmlformats.org/officeDocument/2006/relationships/image" Target="../media/image12.png"/><Relationship Id="rId6" Type="http://schemas.openxmlformats.org/officeDocument/2006/relationships/image" Target="../media/image72.png"/><Relationship Id="rId7" Type="http://schemas.openxmlformats.org/officeDocument/2006/relationships/image" Target="../media/image8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8.png"/><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1.png"/><Relationship Id="rId4" Type="http://schemas.openxmlformats.org/officeDocument/2006/relationships/image" Target="../media/image7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10.png"/><Relationship Id="rId4" Type="http://schemas.openxmlformats.org/officeDocument/2006/relationships/image" Target="../media/image20.png"/><Relationship Id="rId5" Type="http://schemas.openxmlformats.org/officeDocument/2006/relationships/hyperlink" Target="https://www.homeaglow.com/crm/tickets/tkt_zq683ef0gw0z" TargetMode="External"/><Relationship Id="rId6" Type="http://schemas.openxmlformats.org/officeDocument/2006/relationships/hyperlink" Target="https://www.homeaglow.com/crm/tickets/tkt_zq683ef0gw0z" TargetMode="External"/><Relationship Id="rId7" Type="http://schemas.openxmlformats.org/officeDocument/2006/relationships/hyperlink" Target="https://www.homeaglow.com/crm/tickets/tkt_zq683ef0gw0z"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slide" Target="/ppt/slides/slide6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75.png"/><Relationship Id="rId4" Type="http://schemas.openxmlformats.org/officeDocument/2006/relationships/image" Target="../media/image51.png"/><Relationship Id="rId5" Type="http://schemas.openxmlformats.org/officeDocument/2006/relationships/image" Target="../media/image31.png"/><Relationship Id="rId6" Type="http://schemas.openxmlformats.org/officeDocument/2006/relationships/image" Target="../media/image15.png"/><Relationship Id="rId7" Type="http://schemas.openxmlformats.org/officeDocument/2006/relationships/image" Target="../media/image67.png"/><Relationship Id="rId8" Type="http://schemas.openxmlformats.org/officeDocument/2006/relationships/image" Target="../media/image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47.png"/><Relationship Id="rId4" Type="http://schemas.openxmlformats.org/officeDocument/2006/relationships/image" Target="../media/image5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10.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31.png"/><Relationship Id="rId4" Type="http://schemas.openxmlformats.org/officeDocument/2006/relationships/image" Target="../media/image23.png"/><Relationship Id="rId5" Type="http://schemas.openxmlformats.org/officeDocument/2006/relationships/image" Target="../media/image76.png"/><Relationship Id="rId6" Type="http://schemas.openxmlformats.org/officeDocument/2006/relationships/image" Target="../media/image50.png"/><Relationship Id="rId7" Type="http://schemas.openxmlformats.org/officeDocument/2006/relationships/image" Target="../media/image86.png"/><Relationship Id="rId8" Type="http://schemas.openxmlformats.org/officeDocument/2006/relationships/image" Target="../media/image4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7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28.png"/><Relationship Id="rId4" Type="http://schemas.openxmlformats.org/officeDocument/2006/relationships/image" Target="../media/image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1.png"/><Relationship Id="rId4" Type="http://schemas.openxmlformats.org/officeDocument/2006/relationships/image" Target="../media/image8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8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8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69.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image" Target="../media/image4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8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8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28.png"/><Relationship Id="rId4" Type="http://schemas.openxmlformats.org/officeDocument/2006/relationships/image" Target="../media/image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 Id="rId3" Type="http://schemas.openxmlformats.org/officeDocument/2006/relationships/image" Target="../media/image8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Retention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Membership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Cancellation</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How we decide when to retain, when to make an offer, and how to let a customer go fairly.</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Washington State: FC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$0, MCT 0. Cancel right away, no retention.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Understanding Offer Logic</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each offer is built to do, and when to use 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Cancellation Intent in C/CP Comms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customer told the CP, not us. Reach out first.</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General Retention Playbook</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Fix the real problem. Weigh the five key factors.</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a:hlinkClick action="ppaction://hlinksldjump" r:id="rId15"/>
          </p:cNvPr>
          <p:cNvSpPr/>
          <p:nvPr/>
        </p:nvSpPr>
        <p:spPr>
          <a:xfrm>
            <a:off x="46405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Unused DHJ Voucher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Bought, not used. Sort the request, then act.</a:t>
            </a:r>
            <a:endParaRPr b="0" i="0" spc="0" sz="1300" u="none" cap="none" strike="noStrike">
              <a:solidFill>
                <a:schemeClr val="dk1"/>
              </a:solidFill>
              <a:latin typeface="Calibri"/>
              <a:ea typeface="Calibri"/>
              <a:cs typeface="Calibri"/>
              <a:sym typeface="Calibri"/>
            </a:endParaRPr>
          </a:p>
        </p:txBody>
      </p:sp>
      <p:sp>
        <p:nvSpPr>
          <p:cNvPr id="55" name="Google Shape;55;p6">
            <a:hlinkClick action="ppaction://hlinksldjump" r:id="rId16"/>
          </p:cNvPr>
          <p:cNvSpPr/>
          <p:nvPr/>
        </p:nvSpPr>
        <p:spPr>
          <a:xfrm>
            <a:off x="47320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6" name="Google Shape;56;p6">
            <a:hlinkClick action="ppaction://hlinksldjump" r:id="rId17"/>
          </p:cNvPr>
          <p:cNvSpPr/>
          <p:nvPr/>
        </p:nvSpPr>
        <p:spPr>
          <a:xfrm>
            <a:off x="83484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7" name="Google Shape;57;p6">
            <a:hlinkClick action="ppaction://hlinksldjump" r:id="rId18"/>
          </p:cNvPr>
          <p:cNvSpPr/>
          <p:nvPr/>
        </p:nvSpPr>
        <p:spPr>
          <a:xfrm>
            <a:off x="46405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FCF Pre-Invoice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completed job yet. Which refund applies?</a:t>
            </a:r>
            <a:endParaRPr b="0" i="0" spc="0" sz="1300" u="none" cap="none" strike="noStrike">
              <a:solidFill>
                <a:schemeClr val="dk1"/>
              </a:solidFill>
              <a:latin typeface="Calibri"/>
              <a:ea typeface="Calibri"/>
              <a:cs typeface="Calibri"/>
              <a:sym typeface="Calibri"/>
            </a:endParaRPr>
          </a:p>
        </p:txBody>
      </p:sp>
      <p:sp>
        <p:nvSpPr>
          <p:cNvPr id="58" name="Google Shape;58;p6">
            <a:hlinkClick action="ppaction://hlinksldjump" r:id="rId19"/>
          </p:cNvPr>
          <p:cNvSpPr/>
          <p:nvPr/>
        </p:nvSpPr>
        <p:spPr>
          <a:xfrm>
            <a:off x="47320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59" name="Google Shape;59;p6">
            <a:hlinkClick action="ppaction://hlinksldjump" r:id="rId20"/>
          </p:cNvPr>
          <p:cNvSpPr/>
          <p:nvPr/>
        </p:nvSpPr>
        <p:spPr>
          <a:xfrm>
            <a:off x="83484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0" name="Google Shape;60;p6">
            <a:hlinkClick action="ppaction://hlinksldjump" r:id="rId21"/>
          </p:cNvPr>
          <p:cNvSpPr/>
          <p:nvPr/>
        </p:nvSpPr>
        <p:spPr>
          <a:xfrm>
            <a:off x="46405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Trial &amp; One-Time Cleaning</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Alternatives to a full membership.</a:t>
            </a:r>
            <a:endParaRPr b="0" i="0" spc="0" sz="1300" u="none" cap="none" strike="noStrike">
              <a:solidFill>
                <a:schemeClr val="dk1"/>
              </a:solidFill>
              <a:latin typeface="Calibri"/>
              <a:ea typeface="Calibri"/>
              <a:cs typeface="Calibri"/>
              <a:sym typeface="Calibri"/>
            </a:endParaRPr>
          </a:p>
        </p:txBody>
      </p:sp>
      <p:sp>
        <p:nvSpPr>
          <p:cNvPr id="61" name="Google Shape;61;p6">
            <a:hlinkClick action="ppaction://hlinksldjump" r:id="rId22"/>
          </p:cNvPr>
          <p:cNvSpPr/>
          <p:nvPr/>
        </p:nvSpPr>
        <p:spPr>
          <a:xfrm>
            <a:off x="47320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2" name="Google Shape;62;p6">
            <a:hlinkClick action="ppaction://hlinksldjump" r:id="rId23"/>
          </p:cNvPr>
          <p:cNvSpPr/>
          <p:nvPr/>
        </p:nvSpPr>
        <p:spPr>
          <a:xfrm>
            <a:off x="83484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3" name="Google Shape;63;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Washington State: FC Cancellation</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 temporary, state-specific override of standard ETF and MCT handling.</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Who it applies to</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there's no ETF talk and no retention</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Edge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4.png" id="87" name="Google Shape;87;p7"/>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For WA customers, the system already set the fee and the term to zero.</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5" name="Google Shape;105;p8"/>
          <p:cNvSpPr txBox="1"/>
          <p:nvPr/>
        </p:nvSpPr>
        <p:spPr>
          <a:xfrm>
            <a:off x="5943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for every WA customer</a:t>
            </a:r>
            <a:endParaRPr b="0" i="0" spc="0" sz="1000" u="none" cap="none" strike="noStrike">
              <a:solidFill>
                <a:schemeClr val="dk1"/>
              </a:solidFill>
              <a:latin typeface="Calibri"/>
              <a:ea typeface="Calibri"/>
              <a:cs typeface="Calibri"/>
              <a:sym typeface="Calibri"/>
            </a:endParaRPr>
          </a:p>
        </p:txBody>
      </p:sp>
      <p:sp>
        <p:nvSpPr>
          <p:cNvPr id="106" name="Google Shape;106;p8"/>
          <p:cNvSpPr/>
          <p:nvPr/>
        </p:nvSpPr>
        <p:spPr>
          <a:xfrm>
            <a:off x="32308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 name="Google Shape;107;p8"/>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8" name="Google Shape;108;p8"/>
          <p:cNvSpPr txBox="1"/>
          <p:nvPr/>
        </p:nvSpPr>
        <p:spPr>
          <a:xfrm>
            <a:off x="34137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months of MCT</a:t>
            </a:r>
            <a:endParaRPr b="0" i="0" spc="0" sz="1000" u="none" cap="none" strike="noStrike">
              <a:solidFill>
                <a:schemeClr val="dk1"/>
              </a:solidFill>
              <a:latin typeface="Calibri"/>
              <a:ea typeface="Calibri"/>
              <a:cs typeface="Calibri"/>
              <a:sym typeface="Calibri"/>
            </a:endParaRPr>
          </a:p>
        </p:txBody>
      </p:sp>
      <p:sp>
        <p:nvSpPr>
          <p:cNvPr id="109" name="Google Shape;109;p8"/>
          <p:cNvSpPr/>
          <p:nvPr/>
        </p:nvSpPr>
        <p:spPr>
          <a:xfrm>
            <a:off x="60502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 name="Google Shape;110;p8"/>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May 11</a:t>
            </a:r>
            <a:endParaRPr b="0" i="0" spc="0" sz="3000" u="none" cap="none" strike="noStrike">
              <a:solidFill>
                <a:schemeClr val="dk1"/>
              </a:solidFill>
              <a:latin typeface="Calibri"/>
              <a:ea typeface="Calibri"/>
              <a:cs typeface="Calibri"/>
              <a:sym typeface="Calibri"/>
            </a:endParaRPr>
          </a:p>
        </p:txBody>
      </p:sp>
      <p:sp>
        <p:nvSpPr>
          <p:cNvPr id="111" name="Google Shape;111;p8"/>
          <p:cNvSpPr txBox="1"/>
          <p:nvPr/>
        </p:nvSpPr>
        <p:spPr>
          <a:xfrm>
            <a:off x="62331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Effective 2026. Existing and new customers, any membership type</a:t>
            </a:r>
            <a:endParaRPr b="0" i="0" spc="0" sz="1000" u="none" cap="none" strike="noStrike">
              <a:solidFill>
                <a:schemeClr val="dk1"/>
              </a:solidFill>
              <a:latin typeface="Calibri"/>
              <a:ea typeface="Calibri"/>
              <a:cs typeface="Calibri"/>
              <a:sym typeface="Calibri"/>
            </a:endParaRPr>
          </a:p>
        </p:txBody>
      </p:sp>
      <p:sp>
        <p:nvSpPr>
          <p:cNvPr id="112" name="Google Shape;112;p8"/>
          <p:cNvSpPr/>
          <p:nvPr/>
        </p:nvSpPr>
        <p:spPr>
          <a:xfrm>
            <a:off x="411480" y="2880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 name="Google Shape;113;p8"/>
          <p:cNvPicPr preferRelativeResize="0"/>
          <p:nvPr/>
        </p:nvPicPr>
        <p:blipFill rotWithShape="1">
          <a:blip r:embed="rId3">
            <a:alphaModFix/>
          </a:blip>
          <a:srcRect b="0" l="0" r="0" t="0"/>
          <a:stretch/>
        </p:blipFill>
        <p:spPr>
          <a:xfrm>
            <a:off x="566928" y="2990088"/>
            <a:ext cx="164592" cy="164592"/>
          </a:xfrm>
          <a:prstGeom prst="rect">
            <a:avLst/>
          </a:prstGeom>
          <a:noFill/>
          <a:ln>
            <a:noFill/>
          </a:ln>
        </p:spPr>
      </p:pic>
      <p:sp>
        <p:nvSpPr>
          <p:cNvPr id="114" name="Google Shape;114;p8"/>
          <p:cNvSpPr txBox="1"/>
          <p:nvPr/>
        </p:nvSpPr>
        <p:spPr>
          <a:xfrm>
            <a:off x="822960" y="2980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Confirm residency first:  </a:t>
            </a:r>
            <a:r>
              <a:rPr b="0" i="0" lang="en-US" spc="0" sz="1000" u="none" cap="none" strike="noStrike">
                <a:solidFill>
                  <a:srgbClr val="1D1D1F"/>
                </a:solidFill>
                <a:latin typeface="Arial"/>
                <a:ea typeface="Arial"/>
                <a:cs typeface="Arial"/>
                <a:sym typeface="Arial"/>
              </a:rPr>
              <a:t>mentioning the WA lawsuit isn't enough. Only where they live counts.</a:t>
            </a:r>
            <a:endParaRPr b="0" i="0" spc="0" sz="1000" u="none" cap="none" strike="noStrike">
              <a:solidFill>
                <a:schemeClr val="dk1"/>
              </a:solidFill>
              <a:latin typeface="Calibri"/>
              <a:ea typeface="Calibri"/>
              <a:cs typeface="Calibri"/>
              <a:sym typeface="Calibri"/>
            </a:endParaRPr>
          </a:p>
        </p:txBody>
      </p:sp>
      <p:sp>
        <p:nvSpPr>
          <p:cNvPr id="115" name="Google Shape;115;p8"/>
          <p:cNvSpPr/>
          <p:nvPr/>
        </p:nvSpPr>
        <p:spPr>
          <a:xfrm>
            <a:off x="411480" y="34015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4">
            <a:alphaModFix/>
          </a:blip>
          <a:srcRect b="0" l="0" r="0" t="0"/>
          <a:stretch/>
        </p:blipFill>
        <p:spPr>
          <a:xfrm>
            <a:off x="566928" y="3511296"/>
            <a:ext cx="164592" cy="164592"/>
          </a:xfrm>
          <a:prstGeom prst="rect">
            <a:avLst/>
          </a:prstGeom>
          <a:noFill/>
          <a:ln>
            <a:noFill/>
          </a:ln>
        </p:spPr>
      </p:pic>
      <p:sp>
        <p:nvSpPr>
          <p:cNvPr id="117" name="Google Shape;117;p8"/>
          <p:cNvSpPr txBox="1"/>
          <p:nvPr/>
        </p:nvSpPr>
        <p:spPr>
          <a:xfrm>
            <a:off x="822960" y="34015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Zero Tolerance Policy:  </a:t>
            </a:r>
            <a:r>
              <a:rPr b="0" i="0" lang="en-US" spc="0" sz="1000" u="none" cap="none" strike="noStrike">
                <a:solidFill>
                  <a:srgbClr val="1D1D1F"/>
                </a:solidFill>
                <a:latin typeface="Arial"/>
                <a:ea typeface="Arial"/>
                <a:cs typeface="Arial"/>
                <a:sym typeface="Arial"/>
              </a:rPr>
              <a:t>mishandling a WA cancellation request is a ZTP violation.</a:t>
            </a:r>
            <a:endParaRPr b="0" i="0" spc="0" sz="1000" u="none" cap="none" strike="noStrike">
              <a:solidFill>
                <a:schemeClr val="dk1"/>
              </a:solidFill>
              <a:latin typeface="Calibri"/>
              <a:ea typeface="Calibri"/>
              <a:cs typeface="Calibri"/>
              <a:sym typeface="Calibri"/>
            </a:endParaRPr>
          </a:p>
        </p:txBody>
      </p:sp>
      <p:sp>
        <p:nvSpPr>
          <p:cNvPr id="118" name="Google Shape;118;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25" name="Google Shape;125;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it's handled differently</a:t>
            </a:r>
            <a:endParaRPr b="0" i="0" spc="0" sz="2400" u="none" cap="none" strike="noStrike">
              <a:solidFill>
                <a:schemeClr val="dk1"/>
              </a:solidFill>
              <a:latin typeface="Calibri"/>
              <a:ea typeface="Calibri"/>
              <a:cs typeface="Calibri"/>
              <a:sym typeface="Calibri"/>
            </a:endParaRPr>
          </a:p>
        </p:txBody>
      </p:sp>
      <p:sp>
        <p:nvSpPr>
          <p:cNvPr id="126" name="Google Shape;126;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legal and regulatory situation, not a more sympathetic customer.</a:t>
            </a:r>
            <a:endParaRPr b="0" i="0" spc="0" sz="1200" u="none" cap="none" strike="noStrike">
              <a:solidFill>
                <a:schemeClr val="dk1"/>
              </a:solidFill>
              <a:latin typeface="Calibri"/>
              <a:ea typeface="Calibri"/>
              <a:cs typeface="Calibri"/>
              <a:sym typeface="Calibri"/>
            </a:endParaRPr>
          </a:p>
        </p:txBody>
      </p:sp>
      <p:sp>
        <p:nvSpPr>
          <p:cNvPr id="127" name="Google Shape;127;p9"/>
          <p:cNvSpPr/>
          <p:nvPr/>
        </p:nvSpPr>
        <p:spPr>
          <a:xfrm>
            <a:off x="4114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 name="Google Shape;129;p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30" name="Google Shape;130;p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Already waived</a:t>
            </a:r>
            <a:endParaRPr b="0" i="0" spc="0" sz="1200" u="none" cap="none" strike="noStrike">
              <a:solidFill>
                <a:schemeClr val="dk1"/>
              </a:solidFill>
              <a:latin typeface="Calibri"/>
              <a:ea typeface="Calibri"/>
              <a:cs typeface="Calibri"/>
              <a:sym typeface="Calibri"/>
            </a:endParaRPr>
          </a:p>
        </p:txBody>
      </p:sp>
      <p:sp>
        <p:nvSpPr>
          <p:cNvPr id="131" name="Google Shape;131;p9"/>
          <p:cNvSpPr txBox="1"/>
          <p:nvPr/>
        </p:nvSpPr>
        <p:spPr>
          <a:xfrm>
            <a:off x="5760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$0 and MCT 0 are set on the account. You confirm it and act on it.</a:t>
            </a:r>
            <a:endParaRPr b="0" i="0" spc="0" sz="950" u="none" cap="none" strike="noStrike">
              <a:solidFill>
                <a:schemeClr val="dk1"/>
              </a:solidFill>
              <a:latin typeface="Calibri"/>
              <a:ea typeface="Calibri"/>
              <a:cs typeface="Calibri"/>
              <a:sym typeface="Calibri"/>
            </a:endParaRPr>
          </a:p>
        </p:txBody>
      </p:sp>
      <p:sp>
        <p:nvSpPr>
          <p:cNvPr id="132" name="Google Shape;132;p9"/>
          <p:cNvSpPr/>
          <p:nvPr/>
        </p:nvSpPr>
        <p:spPr>
          <a:xfrm>
            <a:off x="32308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 name="Google Shape;134;p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35" name="Google Shape;135;p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Never mention the ETF</a:t>
            </a:r>
            <a:endParaRPr b="0" i="0" spc="0" sz="1200" u="none" cap="none" strike="noStrike">
              <a:solidFill>
                <a:schemeClr val="dk1"/>
              </a:solidFill>
              <a:latin typeface="Calibri"/>
              <a:ea typeface="Calibri"/>
              <a:cs typeface="Calibri"/>
              <a:sym typeface="Calibri"/>
            </a:endParaRPr>
          </a:p>
        </p:txBody>
      </p:sp>
      <p:sp>
        <p:nvSpPr>
          <p:cNvPr id="136" name="Google Shape;136;p9"/>
          <p:cNvSpPr txBox="1"/>
          <p:nvPr/>
        </p:nvSpPr>
        <p:spPr>
          <a:xfrm>
            <a:off x="33954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to explain it, not to say it's waived. Nothing to discuss.</a:t>
            </a:r>
            <a:endParaRPr b="0" i="0" spc="0" sz="950" u="none" cap="none" strike="noStrike">
              <a:solidFill>
                <a:schemeClr val="dk1"/>
              </a:solidFill>
              <a:latin typeface="Calibri"/>
              <a:ea typeface="Calibri"/>
              <a:cs typeface="Calibri"/>
              <a:sym typeface="Calibri"/>
            </a:endParaRPr>
          </a:p>
        </p:txBody>
      </p:sp>
      <p:sp>
        <p:nvSpPr>
          <p:cNvPr id="137" name="Google Shape;137;p9"/>
          <p:cNvSpPr/>
          <p:nvPr/>
        </p:nvSpPr>
        <p:spPr>
          <a:xfrm>
            <a:off x="60502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 name="Google Shape;139;p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0" name="Google Shape;140;p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retention</a:t>
            </a:r>
            <a:endParaRPr b="0" i="0" spc="0" sz="1200" u="none" cap="none" strike="noStrike">
              <a:solidFill>
                <a:schemeClr val="dk1"/>
              </a:solidFill>
              <a:latin typeface="Calibri"/>
              <a:ea typeface="Calibri"/>
              <a:cs typeface="Calibri"/>
              <a:sym typeface="Calibri"/>
            </a:endParaRPr>
          </a:p>
        </p:txBody>
      </p:sp>
      <p:sp>
        <p:nvSpPr>
          <p:cNvPr id="141" name="Google Shape;141;p9"/>
          <p:cNvSpPr txBox="1"/>
          <p:nvPr/>
        </p:nvSpPr>
        <p:spPr>
          <a:xfrm>
            <a:off x="62148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path to cancel must be as friction-free as possible.</a:t>
            </a:r>
            <a:endParaRPr b="0" i="0" spc="0" sz="950" u="none" cap="none" strike="noStrike">
              <a:solidFill>
                <a:schemeClr val="dk1"/>
              </a:solidFill>
              <a:latin typeface="Calibri"/>
              <a:ea typeface="Calibri"/>
              <a:cs typeface="Calibri"/>
              <a:sym typeface="Calibri"/>
            </a:endParaRPr>
          </a:p>
        </p:txBody>
      </p:sp>
      <p:sp>
        <p:nvSpPr>
          <p:cNvPr id="142" name="Google Shape;142;p9"/>
          <p:cNvSpPr txBox="1"/>
          <p:nvPr/>
        </p:nvSpPr>
        <p:spPr>
          <a:xfrm>
            <a:off x="411480" y="338328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ZTP VIOLATIONS</a:t>
            </a:r>
            <a:endParaRPr b="0" i="0" spc="0" sz="800" u="none" cap="none" strike="noStrike">
              <a:solidFill>
                <a:schemeClr val="dk1"/>
              </a:solidFill>
              <a:latin typeface="Calibri"/>
              <a:ea typeface="Calibri"/>
              <a:cs typeface="Calibri"/>
              <a:sym typeface="Calibri"/>
            </a:endParaRPr>
          </a:p>
        </p:txBody>
      </p:sp>
      <p:sp>
        <p:nvSpPr>
          <p:cNvPr id="143" name="Google Shape;143;p9"/>
          <p:cNvSpPr/>
          <p:nvPr/>
        </p:nvSpPr>
        <p:spPr>
          <a:xfrm>
            <a:off x="41148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Applying an ETF</a:t>
            </a:r>
            <a:endParaRPr b="0" i="0" spc="0" sz="900" u="none" cap="none" strike="noStrike">
              <a:solidFill>
                <a:schemeClr val="dk1"/>
              </a:solidFill>
              <a:latin typeface="Calibri"/>
              <a:ea typeface="Calibri"/>
              <a:cs typeface="Calibri"/>
              <a:sym typeface="Calibri"/>
            </a:endParaRPr>
          </a:p>
        </p:txBody>
      </p:sp>
      <p:sp>
        <p:nvSpPr>
          <p:cNvPr id="144" name="Google Shape;144;p9"/>
          <p:cNvSpPr/>
          <p:nvPr/>
        </p:nvSpPr>
        <p:spPr>
          <a:xfrm>
            <a:off x="251460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Citing MCT to delay</a:t>
            </a:r>
            <a:endParaRPr b="0" i="0" spc="0" sz="900" u="none" cap="none" strike="noStrike">
              <a:solidFill>
                <a:schemeClr val="dk1"/>
              </a:solidFill>
              <a:latin typeface="Calibri"/>
              <a:ea typeface="Calibri"/>
              <a:cs typeface="Calibri"/>
              <a:sym typeface="Calibri"/>
            </a:endParaRPr>
          </a:p>
        </p:txBody>
      </p:sp>
      <p:sp>
        <p:nvSpPr>
          <p:cNvPr id="145" name="Google Shape;145;p9"/>
          <p:cNvSpPr/>
          <p:nvPr/>
        </p:nvSpPr>
        <p:spPr>
          <a:xfrm>
            <a:off x="461772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Retention offers before cancelling</a:t>
            </a:r>
            <a:endParaRPr b="0" i="0" spc="0" sz="9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Disclosing ETF/MCT as if they apply</a:t>
            </a:r>
            <a:endParaRPr b="0" i="0" spc="0" sz="900" u="none" cap="none" strike="noStrike">
              <a:solidFill>
                <a:schemeClr val="dk1"/>
              </a:solidFill>
              <a:latin typeface="Calibri"/>
              <a:ea typeface="Calibri"/>
              <a:cs typeface="Calibri"/>
              <a:sym typeface="Calibri"/>
            </a:endParaRPr>
          </a:p>
        </p:txBody>
      </p:sp>
      <p:sp>
        <p:nvSpPr>
          <p:cNvPr id="147" name="Google Shape;147;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54" name="Google Shape;154;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 - Steps 1-2</a:t>
            </a:r>
            <a:endParaRPr b="0" i="0" spc="0" sz="2400" u="none" cap="none" strike="noStrike">
              <a:solidFill>
                <a:schemeClr val="dk1"/>
              </a:solidFill>
              <a:latin typeface="Calibri"/>
              <a:ea typeface="Calibri"/>
              <a:cs typeface="Calibri"/>
              <a:sym typeface="Calibri"/>
            </a:endParaRPr>
          </a:p>
        </p:txBody>
      </p:sp>
      <p:sp>
        <p:nvSpPr>
          <p:cNvPr id="155" name="Google Shape;155;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account, then cancel immediately.</a:t>
            </a:r>
            <a:endParaRPr b="0" i="0" spc="0" sz="1200" u="none" cap="none" strike="noStrike">
              <a:solidFill>
                <a:schemeClr val="dk1"/>
              </a:solidFill>
              <a:latin typeface="Calibri"/>
              <a:ea typeface="Calibri"/>
              <a:cs typeface="Calibri"/>
              <a:sym typeface="Calibri"/>
            </a:endParaRPr>
          </a:p>
        </p:txBody>
      </p:sp>
      <p:sp>
        <p:nvSpPr>
          <p:cNvPr id="156" name="Google Shape;156;p10"/>
          <p:cNvSpPr/>
          <p:nvPr/>
        </p:nvSpPr>
        <p:spPr>
          <a:xfrm>
            <a:off x="41148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 name="Google Shape;157;p10"/>
          <p:cNvSpPr txBox="1"/>
          <p:nvPr/>
        </p:nvSpPr>
        <p:spPr>
          <a:xfrm>
            <a:off x="41148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they live in WA</a:t>
            </a:r>
            <a:endParaRPr b="0" i="0" spc="0" sz="1000" u="none" cap="none" strike="noStrike">
              <a:solidFill>
                <a:schemeClr val="dk1"/>
              </a:solidFill>
              <a:latin typeface="Calibri"/>
              <a:ea typeface="Calibri"/>
              <a:cs typeface="Calibri"/>
              <a:sym typeface="Calibri"/>
            </a:endParaRPr>
          </a:p>
        </p:txBody>
      </p:sp>
      <p:cxnSp>
        <p:nvCxnSpPr>
          <p:cNvPr id="158" name="Google Shape;158;p10"/>
          <p:cNvCxnSpPr/>
          <p:nvPr/>
        </p:nvCxnSpPr>
        <p:spPr>
          <a:xfrm>
            <a:off x="233172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9" name="Google Shape;159;p10"/>
          <p:cNvSpPr/>
          <p:nvPr/>
        </p:nvSpPr>
        <p:spPr>
          <a:xfrm>
            <a:off x="2544775" y="1325880"/>
            <a:ext cx="1920240" cy="548640"/>
          </a:xfrm>
          <a:prstGeom prst="roundRect">
            <a:avLst>
              <a:gd fmla="val 1333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2544775"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Check: MCT 0, ETF $0</a:t>
            </a:r>
            <a:endParaRPr b="0" i="0" spc="0" sz="1000" u="none" cap="none" strike="noStrike">
              <a:solidFill>
                <a:schemeClr val="dk1"/>
              </a:solidFill>
              <a:latin typeface="Calibri"/>
              <a:ea typeface="Calibri"/>
              <a:cs typeface="Calibri"/>
              <a:sym typeface="Calibri"/>
            </a:endParaRPr>
          </a:p>
        </p:txBody>
      </p:sp>
      <p:cxnSp>
        <p:nvCxnSpPr>
          <p:cNvPr id="161" name="Google Shape;161;p10"/>
          <p:cNvCxnSpPr/>
          <p:nvPr/>
        </p:nvCxnSpPr>
        <p:spPr>
          <a:xfrm>
            <a:off x="4465015"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2" name="Google Shape;162;p10"/>
          <p:cNvSpPr/>
          <p:nvPr/>
        </p:nvSpPr>
        <p:spPr>
          <a:xfrm>
            <a:off x="467807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 name="Google Shape;163;p10"/>
          <p:cNvSpPr txBox="1"/>
          <p:nvPr/>
        </p:nvSpPr>
        <p:spPr>
          <a:xfrm>
            <a:off x="467807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intent. No retention</a:t>
            </a:r>
            <a:endParaRPr b="0" i="0" spc="0" sz="1000" u="none" cap="none" strike="noStrike">
              <a:solidFill>
                <a:schemeClr val="dk1"/>
              </a:solidFill>
              <a:latin typeface="Calibri"/>
              <a:ea typeface="Calibri"/>
              <a:cs typeface="Calibri"/>
              <a:sym typeface="Calibri"/>
            </a:endParaRPr>
          </a:p>
        </p:txBody>
      </p:sp>
      <p:cxnSp>
        <p:nvCxnSpPr>
          <p:cNvPr id="164" name="Google Shape;164;p10"/>
          <p:cNvCxnSpPr/>
          <p:nvPr/>
        </p:nvCxnSpPr>
        <p:spPr>
          <a:xfrm>
            <a:off x="659831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5" name="Google Shape;165;p10"/>
          <p:cNvSpPr/>
          <p:nvPr/>
        </p:nvSpPr>
        <p:spPr>
          <a:xfrm>
            <a:off x="6811366"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 name="Google Shape;166;p10"/>
          <p:cNvSpPr txBox="1"/>
          <p:nvPr/>
        </p:nvSpPr>
        <p:spPr>
          <a:xfrm>
            <a:off x="6811366"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dk1"/>
              </a:buClr>
              <a:buSzPts val="1000"/>
              <a:buFont typeface="Calibri"/>
              <a:buNone/>
            </a:pPr>
            <a:r>
              <a:t/>
            </a:r>
            <a:endParaRPr b="0" i="0" spc="0" sz="1000" u="none" cap="none" strike="noStrike">
              <a:solidFill>
                <a:schemeClr val="dk1"/>
              </a:solidFill>
              <a:latin typeface="Calibri"/>
              <a:ea typeface="Calibri"/>
              <a:cs typeface="Calibri"/>
              <a:sym typeface="Calibri"/>
            </a:endParaRPr>
          </a:p>
        </p:txBody>
      </p:sp>
      <p:sp>
        <p:nvSpPr>
          <p:cNvPr id="167" name="Google Shape;167;p10"/>
          <p:cNvSpPr txBox="1"/>
          <p:nvPr/>
        </p:nvSpPr>
        <p:spPr>
          <a:xfrm>
            <a:off x="6811366" y="1344168"/>
            <a:ext cx="1920240" cy="301752"/>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Cancel FC immediately</a:t>
            </a:r>
            <a:endParaRPr b="0" i="0" spc="0" sz="1000" u="none" cap="none" strike="noStrike">
              <a:solidFill>
                <a:schemeClr val="dk1"/>
              </a:solidFill>
              <a:latin typeface="Calibri"/>
              <a:ea typeface="Calibri"/>
              <a:cs typeface="Calibri"/>
              <a:sym typeface="Calibri"/>
            </a:endParaRPr>
          </a:p>
        </p:txBody>
      </p:sp>
      <p:sp>
        <p:nvSpPr>
          <p:cNvPr id="168" name="Google Shape;168;p10">
            <a:hlinkClick r:id="rId3"/>
          </p:cNvPr>
          <p:cNvSpPr/>
          <p:nvPr/>
        </p:nvSpPr>
        <p:spPr>
          <a:xfrm>
            <a:off x="7222846" y="1673352"/>
            <a:ext cx="109728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6D7A8"/>
              </a:buClr>
              <a:buSzPts val="900"/>
              <a:buFont typeface="Arial"/>
              <a:buNone/>
            </a:pPr>
            <a:r>
              <a:rPr b="1" i="0" lang="en-US" spc="0" sz="900" u="sng" cap="none" strike="noStrike">
                <a:solidFill>
                  <a:srgbClr val="B6D7A8"/>
                </a:solidFill>
                <a:latin typeface="Arial"/>
                <a:ea typeface="Arial"/>
                <a:cs typeface="Arial"/>
                <a:sym typeface="Arial"/>
              </a:rPr>
              <a:t>▷ Watch &amp; Learn</a:t>
            </a:r>
            <a:endParaRPr b="0" i="0" spc="0" sz="900" u="none" cap="none" strike="noStrike">
              <a:solidFill>
                <a:schemeClr val="dk1"/>
              </a:solidFill>
              <a:latin typeface="Calibri"/>
              <a:ea typeface="Calibri"/>
              <a:cs typeface="Calibri"/>
              <a:sym typeface="Calibri"/>
            </a:endParaRPr>
          </a:p>
        </p:txBody>
      </p:sp>
      <p:cxnSp>
        <p:nvCxnSpPr>
          <p:cNvPr id="169" name="Google Shape;169;p10"/>
          <p:cNvCxnSpPr/>
          <p:nvPr/>
        </p:nvCxnSpPr>
        <p:spPr>
          <a:xfrm>
            <a:off x="3504895" y="1874520"/>
            <a:ext cx="0" cy="228600"/>
          </a:xfrm>
          <a:prstGeom prst="straightConnector1">
            <a:avLst/>
          </a:prstGeom>
          <a:noFill/>
          <a:ln cap="flat" cmpd="sng" w="12700">
            <a:solidFill>
              <a:srgbClr val="6E6E73"/>
            </a:solidFill>
            <a:prstDash val="solid"/>
            <a:round/>
            <a:headEnd len="sm" w="sm" type="none"/>
            <a:tailEnd len="med" w="med" type="triangle"/>
          </a:ln>
        </p:spPr>
      </p:cxnSp>
      <p:sp>
        <p:nvSpPr>
          <p:cNvPr id="170" name="Google Shape;170;p10"/>
          <p:cNvSpPr/>
          <p:nvPr/>
        </p:nvSpPr>
        <p:spPr>
          <a:xfrm>
            <a:off x="2133295" y="2103120"/>
            <a:ext cx="2743200" cy="365760"/>
          </a:xfrm>
          <a:prstGeom prst="roundRect">
            <a:avLst>
              <a:gd fmla="val 20000" name="adj"/>
            </a:avLst>
          </a:prstGeom>
          <a:solidFill>
            <a:srgbClr val="FCEBEA"/>
          </a:solidFill>
          <a:ln cap="flat" cmpd="sng" w="9525">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Play"/>
              <a:buNone/>
            </a:pPr>
            <a:r>
              <a:rPr b="1" i="0" lang="en-US" spc="0" sz="900" u="none" cap="none" strike="noStrike">
                <a:solidFill>
                  <a:srgbClr val="B3261E"/>
                </a:solidFill>
                <a:latin typeface="Play"/>
                <a:ea typeface="Play"/>
                <a:cs typeface="Play"/>
                <a:sym typeface="Play"/>
              </a:rPr>
              <a:t>Not set? Escalate to TL/Support. Don't fix it yourself.</a:t>
            </a:r>
            <a:endParaRPr b="0" i="0" spc="0" sz="900" u="none" cap="none" strike="noStrike">
              <a:solidFill>
                <a:schemeClr val="dk1"/>
              </a:solidFill>
              <a:latin typeface="Calibri"/>
              <a:ea typeface="Calibri"/>
              <a:cs typeface="Calibri"/>
              <a:sym typeface="Calibri"/>
            </a:endParaRPr>
          </a:p>
        </p:txBody>
      </p:sp>
      <p:sp>
        <p:nvSpPr>
          <p:cNvPr id="171" name="Google Shape;171;p10"/>
          <p:cNvSpPr txBox="1"/>
          <p:nvPr/>
        </p:nvSpPr>
        <p:spPr>
          <a:xfrm>
            <a:off x="411480" y="26700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IN YOUR REPLY</a:t>
            </a:r>
            <a:endParaRPr b="0" i="0" spc="0" sz="800" u="none" cap="none" strike="noStrike">
              <a:solidFill>
                <a:schemeClr val="dk1"/>
              </a:solidFill>
              <a:latin typeface="Calibri"/>
              <a:ea typeface="Calibri"/>
              <a:cs typeface="Calibri"/>
              <a:sym typeface="Calibri"/>
            </a:endParaRPr>
          </a:p>
        </p:txBody>
      </p:sp>
      <p:sp>
        <p:nvSpPr>
          <p:cNvPr id="172" name="Google Shape;172;p10"/>
          <p:cNvSpPr/>
          <p:nvPr/>
        </p:nvSpPr>
        <p:spPr>
          <a:xfrm>
            <a:off x="411480" y="2880360"/>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 name="Google Shape;173;p10"/>
          <p:cNvSpPr/>
          <p:nvPr/>
        </p:nvSpPr>
        <p:spPr>
          <a:xfrm>
            <a:off x="530352"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 name="Google Shape;174;p10"/>
          <p:cNvSpPr txBox="1"/>
          <p:nvPr/>
        </p:nvSpPr>
        <p:spPr>
          <a:xfrm>
            <a:off x="530352"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5" name="Google Shape;175;p10"/>
          <p:cNvSpPr txBox="1"/>
          <p:nvPr/>
        </p:nvSpPr>
        <p:spPr>
          <a:xfrm>
            <a:off x="914400" y="2880360"/>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Confirm it's cancelled  </a:t>
            </a:r>
            <a:r>
              <a:rPr b="0" i="0" lang="en-US" spc="0" sz="900" u="none" cap="none" strike="noStrike">
                <a:solidFill>
                  <a:srgbClr val="6E6E73"/>
                </a:solidFill>
                <a:latin typeface="Arial"/>
                <a:ea typeface="Arial"/>
                <a:cs typeface="Arial"/>
                <a:sym typeface="Arial"/>
              </a:rPr>
              <a:t>Say the membership is cancelled.</a:t>
            </a:r>
            <a:endParaRPr b="0" i="0" spc="0" sz="1050" u="none" cap="none" strike="noStrike">
              <a:solidFill>
                <a:schemeClr val="dk1"/>
              </a:solidFill>
              <a:latin typeface="Calibri"/>
              <a:ea typeface="Calibri"/>
              <a:cs typeface="Calibri"/>
              <a:sym typeface="Calibri"/>
            </a:endParaRPr>
          </a:p>
        </p:txBody>
      </p:sp>
      <p:sp>
        <p:nvSpPr>
          <p:cNvPr id="176" name="Google Shape;176;p10"/>
          <p:cNvSpPr/>
          <p:nvPr/>
        </p:nvSpPr>
        <p:spPr>
          <a:xfrm>
            <a:off x="411480" y="3410712"/>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30352" y="35021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txBox="1"/>
          <p:nvPr/>
        </p:nvSpPr>
        <p:spPr>
          <a:xfrm>
            <a:off x="530352" y="35021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9" name="Google Shape;179;p10"/>
          <p:cNvSpPr txBox="1"/>
          <p:nvPr/>
        </p:nvSpPr>
        <p:spPr>
          <a:xfrm>
            <a:off x="914400" y="3410712"/>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No ETF, at all  </a:t>
            </a:r>
            <a:r>
              <a:rPr b="0" i="0" lang="en-US" spc="0" sz="900" u="none" cap="none" strike="noStrike">
                <a:solidFill>
                  <a:srgbClr val="6E6E73"/>
                </a:solidFill>
                <a:latin typeface="Arial"/>
                <a:ea typeface="Arial"/>
                <a:cs typeface="Arial"/>
                <a:sym typeface="Arial"/>
              </a:rPr>
              <a:t>Not to explain it, not to say it's waived.</a:t>
            </a:r>
            <a:endParaRPr b="0" i="0" spc="0" sz="1050" u="none" cap="none" strike="noStrike">
              <a:solidFill>
                <a:schemeClr val="dk1"/>
              </a:solidFill>
              <a:latin typeface="Calibri"/>
              <a:ea typeface="Calibri"/>
              <a:cs typeface="Calibri"/>
              <a:sym typeface="Calibri"/>
            </a:endParaRPr>
          </a:p>
        </p:txBody>
      </p:sp>
      <p:sp>
        <p:nvSpPr>
          <p:cNvPr id="180" name="Google Shape;180;p10"/>
          <p:cNvSpPr/>
          <p:nvPr/>
        </p:nvSpPr>
        <p:spPr>
          <a:xfrm>
            <a:off x="4754880" y="2880360"/>
            <a:ext cx="3977640" cy="987552"/>
          </a:xfrm>
          <a:prstGeom prst="roundRect">
            <a:avLst>
              <a:gd fmla="val 740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4754880" y="2953512"/>
            <a:ext cx="45720" cy="841248"/>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txBox="1"/>
          <p:nvPr/>
        </p:nvSpPr>
        <p:spPr>
          <a:xfrm>
            <a:off x="4937760" y="2880360"/>
            <a:ext cx="3657600" cy="9875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SOFT RE-ENGAGEMENT NOTE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“If you change your mind, reach out and we can explore alternative pricing options that might fit better.”</a:t>
            </a:r>
            <a:endParaRPr b="0" i="0" spc="0" sz="1000" u="none" cap="none" strike="noStrike">
              <a:solidFill>
                <a:schemeClr val="dk1"/>
              </a:solidFill>
              <a:latin typeface="Calibri"/>
              <a:ea typeface="Calibri"/>
              <a:cs typeface="Calibri"/>
              <a:sym typeface="Calibri"/>
            </a:endParaRPr>
          </a:p>
        </p:txBody>
      </p:sp>
      <p:sp>
        <p:nvSpPr>
          <p:cNvPr id="183" name="Google Shape;183;p1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 name="Google Shape;184;p10"/>
          <p:cNvPicPr preferRelativeResize="0"/>
          <p:nvPr/>
        </p:nvPicPr>
        <p:blipFill rotWithShape="1">
          <a:blip r:embed="rId4">
            <a:alphaModFix/>
          </a:blip>
          <a:srcRect b="0" l="0" r="0" t="0"/>
          <a:stretch/>
        </p:blipFill>
        <p:spPr>
          <a:xfrm>
            <a:off x="566928" y="4178808"/>
            <a:ext cx="164592" cy="164592"/>
          </a:xfrm>
          <a:prstGeom prst="rect">
            <a:avLst/>
          </a:prstGeom>
          <a:noFill/>
          <a:ln>
            <a:noFill/>
          </a:ln>
        </p:spPr>
      </p:pic>
      <p:sp>
        <p:nvSpPr>
          <p:cNvPr id="185" name="Google Shape;185;p1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ETF charged anyway?  </a:t>
            </a:r>
            <a:r>
              <a:rPr b="0" i="0" lang="en-US" spc="0" sz="1000" u="none" cap="none" strike="noStrike">
                <a:solidFill>
                  <a:srgbClr val="1D1D1F"/>
                </a:solidFill>
                <a:latin typeface="Arial"/>
                <a:ea typeface="Arial"/>
                <a:cs typeface="Arial"/>
                <a:sym typeface="Arial"/>
              </a:rPr>
              <a:t>refund it right away. Don't wait for the customer to ask.</a:t>
            </a:r>
            <a:endParaRPr b="0" i="0" spc="0" sz="1000" u="none" cap="none" strike="noStrike">
              <a:solidFill>
                <a:schemeClr val="dk1"/>
              </a:solidFill>
              <a:latin typeface="Calibri"/>
              <a:ea typeface="Calibri"/>
              <a:cs typeface="Calibri"/>
              <a:sym typeface="Calibri"/>
            </a:endParaRPr>
          </a:p>
        </p:txBody>
      </p:sp>
      <p:sp>
        <p:nvSpPr>
          <p:cNvPr id="186" name="Google Shape;186;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93" name="Google Shape;193;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 3: MF refund requests</a:t>
            </a:r>
            <a:endParaRPr b="0" i="0" spc="0" sz="2400" u="none" cap="none" strike="noStrike">
              <a:solidFill>
                <a:schemeClr val="dk1"/>
              </a:solidFill>
              <a:latin typeface="Calibri"/>
              <a:ea typeface="Calibri"/>
              <a:cs typeface="Calibri"/>
              <a:sym typeface="Calibri"/>
            </a:endParaRPr>
          </a:p>
        </p:txBody>
      </p:sp>
      <p:sp>
        <p:nvSpPr>
          <p:cNvPr id="194" name="Google Shape;194;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one place WA customers are treated more conservatively, not less.</a:t>
            </a:r>
            <a:endParaRPr b="0" i="0" spc="0" sz="1200" u="none" cap="none" strike="noStrike">
              <a:solidFill>
                <a:schemeClr val="dk1"/>
              </a:solidFill>
              <a:latin typeface="Calibri"/>
              <a:ea typeface="Calibri"/>
              <a:cs typeface="Calibri"/>
              <a:sym typeface="Calibri"/>
            </a:endParaRPr>
          </a:p>
        </p:txBody>
      </p:sp>
      <p:sp>
        <p:nvSpPr>
          <p:cNvPr id="195" name="Google Shape;195;p11"/>
          <p:cNvSpPr/>
          <p:nvPr/>
        </p:nvSpPr>
        <p:spPr>
          <a:xfrm>
            <a:off x="411480" y="1325880"/>
            <a:ext cx="4069080" cy="1600200"/>
          </a:xfrm>
          <a:prstGeom prst="roundRect">
            <a:avLst>
              <a:gd fmla="val 457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1"/>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Default: no MF refund</a:t>
            </a:r>
            <a:endParaRPr b="0" i="0" spc="0" sz="1050" u="none" cap="none" strike="noStrike">
              <a:solidFill>
                <a:schemeClr val="dk1"/>
              </a:solidFill>
              <a:latin typeface="Calibri"/>
              <a:ea typeface="Calibri"/>
              <a:cs typeface="Calibri"/>
              <a:sym typeface="Calibri"/>
            </a:endParaRPr>
          </a:p>
        </p:txBody>
      </p:sp>
      <p:sp>
        <p:nvSpPr>
          <p:cNvPr id="197" name="Google Shape;197;p11"/>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Cancel FC proactively</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Explain the MF isn't refundable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Unless another policy makes them eligible anyway</a:t>
            </a:r>
            <a:endParaRPr b="0" i="0" spc="0" sz="950" u="none" cap="none" strike="noStrike">
              <a:solidFill>
                <a:schemeClr val="dk1"/>
              </a:solidFill>
              <a:latin typeface="Calibri"/>
              <a:ea typeface="Calibri"/>
              <a:cs typeface="Calibri"/>
              <a:sym typeface="Calibri"/>
            </a:endParaRPr>
          </a:p>
        </p:txBody>
      </p:sp>
      <p:sp>
        <p:nvSpPr>
          <p:cNvPr id="198" name="Google Shape;198;p11"/>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 name="Google Shape;199;p11"/>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Cites the WA AG notice?</a:t>
            </a:r>
            <a:endParaRPr b="0" i="0" spc="0" sz="1050" u="none" cap="none" strike="noStrike">
              <a:solidFill>
                <a:schemeClr val="dk1"/>
              </a:solidFill>
              <a:latin typeface="Calibri"/>
              <a:ea typeface="Calibri"/>
              <a:cs typeface="Calibri"/>
              <a:sym typeface="Calibri"/>
            </a:endParaRPr>
          </a:p>
        </p:txBody>
      </p:sp>
      <p:sp>
        <p:nvSpPr>
          <p:cNvPr id="200" name="Google Shape;200;p11"/>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Consent Decree alone: handle as BAU</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if </a:t>
            </a:r>
            <a:r>
              <a:rPr b="1" i="0" lang="en-US" spc="0" sz="950" u="none" cap="none" strike="noStrike">
                <a:solidFill>
                  <a:srgbClr val="1D1D1F"/>
                </a:solidFill>
                <a:latin typeface="Arial"/>
                <a:ea typeface="Arial"/>
                <a:cs typeface="Arial"/>
                <a:sym typeface="Arial"/>
              </a:rPr>
              <a:t>we were too slow</a:t>
            </a:r>
            <a:r>
              <a:rPr b="0" i="0" lang="en-US" spc="0" sz="950" u="none" cap="none" strike="noStrike">
                <a:solidFill>
                  <a:srgbClr val="1D1D1F"/>
                </a:solidFill>
                <a:latin typeface="Arial"/>
                <a:ea typeface="Arial"/>
                <a:cs typeface="Arial"/>
                <a:sym typeface="Arial"/>
              </a:rPr>
              <a:t> to cancel before the latest MF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a:t>
            </a:r>
            <a:r>
              <a:rPr b="1" i="0" lang="en-US" spc="0" sz="950" u="none" cap="none" strike="noStrike">
                <a:solidFill>
                  <a:srgbClr val="1D1D1F"/>
                </a:solidFill>
                <a:latin typeface="Arial"/>
                <a:ea typeface="Arial"/>
                <a:cs typeface="Arial"/>
                <a:sym typeface="Arial"/>
              </a:rPr>
              <a:t>we made cancelling harder</a:t>
            </a:r>
            <a:r>
              <a:rPr b="0" i="0" lang="en-US" spc="0" sz="950" u="none" cap="none" strike="noStrike">
                <a:solidFill>
                  <a:srgbClr val="1D1D1F"/>
                </a:solidFill>
                <a:latin typeface="Arial"/>
                <a:ea typeface="Arial"/>
                <a:cs typeface="Arial"/>
                <a:sym typeface="Arial"/>
              </a:rPr>
              <a:t> (retention push, slow replies)</a:t>
            </a:r>
            <a:endParaRPr b="0" i="0" spc="0" sz="950" u="none" cap="none" strike="noStrike">
              <a:solidFill>
                <a:schemeClr val="dk1"/>
              </a:solidFill>
              <a:latin typeface="Calibri"/>
              <a:ea typeface="Calibri"/>
              <a:cs typeface="Calibri"/>
              <a:sym typeface="Calibri"/>
            </a:endParaRPr>
          </a:p>
        </p:txBody>
      </p:sp>
      <p:sp>
        <p:nvSpPr>
          <p:cNvPr id="201" name="Google Shape;201;p11"/>
          <p:cNvSpPr/>
          <p:nvPr/>
        </p:nvSpPr>
        <p:spPr>
          <a:xfrm>
            <a:off x="411480" y="3108960"/>
            <a:ext cx="8321040" cy="868680"/>
          </a:xfrm>
          <a:prstGeom prst="roundRect">
            <a:avLst>
              <a:gd fmla="val 842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1"/>
          <p:cNvSpPr/>
          <p:nvPr/>
        </p:nvSpPr>
        <p:spPr>
          <a:xfrm>
            <a:off x="411480" y="3182112"/>
            <a:ext cx="45720" cy="7223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 name="Google Shape;203;p11"/>
          <p:cNvSpPr txBox="1"/>
          <p:nvPr/>
        </p:nvSpPr>
        <p:spPr>
          <a:xfrm>
            <a:off x="594360" y="3108960"/>
            <a:ext cx="80010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SUGGESTED COMMS</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b="0" i="0" spc="0" sz="1000" u="none" cap="none" strike="noStrike">
              <a:solidFill>
                <a:schemeClr val="dk1"/>
              </a:solidFill>
              <a:latin typeface="Calibri"/>
              <a:ea typeface="Calibri"/>
              <a:cs typeface="Calibri"/>
              <a:sym typeface="Calibri"/>
            </a:endParaRPr>
          </a:p>
        </p:txBody>
      </p:sp>
      <p:sp>
        <p:nvSpPr>
          <p:cNvPr id="204" name="Google Shape;20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11" name="Google Shape;21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4–5: Vouchers &amp; CP reports</a:t>
            </a:r>
            <a:endParaRPr b="0" i="0" spc="0" sz="2400" u="none" cap="none" strike="noStrike">
              <a:solidFill>
                <a:schemeClr val="dk1"/>
              </a:solidFill>
              <a:latin typeface="Calibri"/>
              <a:ea typeface="Calibri"/>
              <a:cs typeface="Calibri"/>
              <a:sym typeface="Calibri"/>
            </a:endParaRPr>
          </a:p>
        </p:txBody>
      </p:sp>
      <p:sp>
        <p:nvSpPr>
          <p:cNvPr id="212" name="Google Shape;21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retention attempt in either case.</a:t>
            </a:r>
            <a:endParaRPr b="0" i="0" spc="0" sz="1200" u="none" cap="none" strike="noStrike">
              <a:solidFill>
                <a:schemeClr val="dk1"/>
              </a:solidFill>
              <a:latin typeface="Calibri"/>
              <a:ea typeface="Calibri"/>
              <a:cs typeface="Calibri"/>
              <a:sym typeface="Calibri"/>
            </a:endParaRPr>
          </a:p>
        </p:txBody>
      </p:sp>
      <p:sp>
        <p:nvSpPr>
          <p:cNvPr id="213" name="Google Shape;213;p12"/>
          <p:cNvSpPr/>
          <p:nvPr/>
        </p:nvSpPr>
        <p:spPr>
          <a:xfrm>
            <a:off x="4114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 name="Google Shape;215;p1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6" name="Google Shape;216;p12"/>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4: Unused DHJ voucher</a:t>
            </a:r>
            <a:endParaRPr b="0" i="0" spc="0" sz="1200" u="none" cap="none" strike="noStrike">
              <a:solidFill>
                <a:schemeClr val="dk1"/>
              </a:solidFill>
              <a:latin typeface="Calibri"/>
              <a:ea typeface="Calibri"/>
              <a:cs typeface="Calibri"/>
              <a:sym typeface="Calibri"/>
            </a:endParaRPr>
          </a:p>
        </p:txBody>
      </p:sp>
      <p:sp>
        <p:nvSpPr>
          <p:cNvPr id="217" name="Google Shape;217;p12"/>
          <p:cNvSpPr txBox="1"/>
          <p:nvPr/>
        </p:nvSpPr>
        <p:spPr>
          <a:xfrm>
            <a:off x="5760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Legacy DHJ, membership not started, wants a refund: refund and invalidate the voucher, deactivate the FC table.</a:t>
            </a:r>
            <a:endParaRPr b="0" i="0" spc="0" sz="950" u="none" cap="none" strike="noStrike">
              <a:solidFill>
                <a:schemeClr val="dk1"/>
              </a:solidFill>
              <a:latin typeface="Calibri"/>
              <a:ea typeface="Calibri"/>
              <a:cs typeface="Calibri"/>
              <a:sym typeface="Calibri"/>
            </a:endParaRPr>
          </a:p>
        </p:txBody>
      </p:sp>
      <p:sp>
        <p:nvSpPr>
          <p:cNvPr id="218" name="Google Shape;218;p12"/>
          <p:cNvSpPr/>
          <p:nvPr/>
        </p:nvSpPr>
        <p:spPr>
          <a:xfrm>
            <a:off x="46405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2"/>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 name="Google Shape;220;p12"/>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221" name="Google Shape;221;p12"/>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5: They told the CP they want to cancel, not HG</a:t>
            </a:r>
            <a:endParaRPr b="0" i="0" spc="0" sz="1200" u="none" cap="none" strike="noStrike">
              <a:solidFill>
                <a:schemeClr val="dk1"/>
              </a:solidFill>
              <a:latin typeface="Calibri"/>
              <a:ea typeface="Calibri"/>
              <a:cs typeface="Calibri"/>
              <a:sym typeface="Calibri"/>
            </a:endParaRPr>
          </a:p>
        </p:txBody>
      </p:sp>
      <p:sp>
        <p:nvSpPr>
          <p:cNvPr id="222" name="Google Shape;222;p12"/>
          <p:cNvSpPr txBox="1"/>
          <p:nvPr/>
        </p:nvSpPr>
        <p:spPr>
          <a:xfrm>
            <a:off x="48051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 still active? Reach out first. Send the self-cancel link. Don’t mention ETF/MCT.</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Give them options:</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can self-cancel, or you can do it for them.</a:t>
            </a:r>
            <a:endParaRPr b="0" i="0" spc="0" sz="950" u="none" cap="none" strike="noStrike">
              <a:solidFill>
                <a:schemeClr val="dk1"/>
              </a:solidFill>
              <a:latin typeface="Calibri"/>
              <a:ea typeface="Calibri"/>
              <a:cs typeface="Calibri"/>
              <a:sym typeface="Calibri"/>
            </a:endParaRPr>
          </a:p>
        </p:txBody>
      </p:sp>
      <p:sp>
        <p:nvSpPr>
          <p:cNvPr id="223" name="Google Shape;223;p12"/>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 name="Google Shape;224;p12"/>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225" name="Google Shape;225;p12"/>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Both cases:  </a:t>
            </a:r>
            <a:r>
              <a:rPr b="0" i="0" lang="en-US" spc="0" sz="1000" u="none" cap="none" strike="noStrike">
                <a:solidFill>
                  <a:srgbClr val="1D1D1F"/>
                </a:solidFill>
                <a:latin typeface="Arial"/>
                <a:ea typeface="Arial"/>
                <a:cs typeface="Arial"/>
                <a:sym typeface="Arial"/>
              </a:rPr>
              <a:t>no retention attempt needed.</a:t>
            </a:r>
            <a:endParaRPr b="0" i="0" spc="0" sz="1000" u="none" cap="none" strike="noStrike">
              <a:solidFill>
                <a:schemeClr val="dk1"/>
              </a:solidFill>
              <a:latin typeface="Calibri"/>
              <a:ea typeface="Calibri"/>
              <a:cs typeface="Calibri"/>
              <a:sym typeface="Calibri"/>
            </a:endParaRPr>
          </a:p>
        </p:txBody>
      </p:sp>
      <p:sp>
        <p:nvSpPr>
          <p:cNvPr id="226" name="Google Shape;226;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33" name="Google Shape;233;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Edge cases</a:t>
            </a:r>
            <a:endParaRPr b="0" i="0" spc="0" sz="2400" u="none" cap="none" strike="noStrike">
              <a:solidFill>
                <a:schemeClr val="dk1"/>
              </a:solidFill>
              <a:latin typeface="Calibri"/>
              <a:ea typeface="Calibri"/>
              <a:cs typeface="Calibri"/>
              <a:sym typeface="Calibri"/>
            </a:endParaRPr>
          </a:p>
        </p:txBody>
      </p:sp>
      <p:sp>
        <p:nvSpPr>
          <p:cNvPr id="234" name="Google Shape;234;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was the ETF charged, and does the customer actually live in WA?</a:t>
            </a:r>
            <a:endParaRPr b="0" i="0" spc="0" sz="1200" u="none" cap="none" strike="noStrike">
              <a:solidFill>
                <a:schemeClr val="dk1"/>
              </a:solidFill>
              <a:latin typeface="Calibri"/>
              <a:ea typeface="Calibri"/>
              <a:cs typeface="Calibri"/>
              <a:sym typeface="Calibri"/>
            </a:endParaRPr>
          </a:p>
        </p:txBody>
      </p:sp>
      <p:graphicFrame>
        <p:nvGraphicFramePr>
          <p:cNvPr id="235" name="Google Shape;235;p13"/>
          <p:cNvGraphicFramePr/>
          <p:nvPr/>
        </p:nvGraphicFramePr>
        <p:xfrm>
          <a:off x="411480" y="1325880"/>
          <a:ext cx="3000000" cy="3000000"/>
        </p:xfrm>
        <a:graphic>
          <a:graphicData uri="http://schemas.openxmlformats.org/drawingml/2006/table">
            <a:tbl>
              <a:tblPr>
                <a:noFill/>
                <a:tableStyleId>{B081CFC9-8F92-4C66-A42C-550710BF50CA}</a:tableStyleId>
              </a:tblPr>
              <a:tblGrid>
                <a:gridCol w="4206250"/>
                <a:gridCol w="4114800"/>
              </a:tblGrid>
              <a:tr h="365750">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Situation</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What you do</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Self-cancelled and was charged an ETF</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before May 11, 2026</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Don't refund: it predates the change</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after go-live, no refund asked</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 proactively</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Non-WA customer mentions the WA lawsuit </a:t>
                      </a:r>
                      <a:r>
                        <a:rPr lang="en-US" spc="0" sz="1050" u="none" cap="none" strike="noStrike">
                          <a:solidFill>
                            <a:srgbClr val="6E6E73"/>
                          </a:solidFill>
                        </a:rPr>
                        <a:t> (no material legal threat)</a:t>
                      </a:r>
                      <a:endParaRPr b="1" spc="0" sz="1050" u="none" cap="none" strike="noStrike">
                        <a:solidFill>
                          <a:srgbClr val="1D1D1F"/>
                        </a:solidFil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Handle as BAU</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36" name="Google Shape;236;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KNOWLEDGE CHECK</a:t>
            </a:r>
            <a:endParaRPr b="0" i="0" spc="0" sz="800" u="none" cap="none" strike="noStrike">
              <a:solidFill>
                <a:schemeClr val="dk1"/>
              </a:solidFill>
              <a:latin typeface="Calibri"/>
              <a:ea typeface="Calibri"/>
              <a:cs typeface="Calibri"/>
              <a:sym typeface="Calibri"/>
            </a:endParaRPr>
          </a:p>
        </p:txBody>
      </p:sp>
      <p:sp>
        <p:nvSpPr>
          <p:cNvPr id="243" name="Google Shape;243;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4" name="Google Shape;244;p1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7" name="Google Shape;247;p1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asks to cancel. Do you mention the ETF is waived?</a:t>
            </a:r>
            <a:endParaRPr b="0" i="0" spc="0" sz="1000" u="none" cap="none" strike="noStrike">
              <a:solidFill>
                <a:schemeClr val="dk1"/>
              </a:solidFill>
              <a:latin typeface="Calibri"/>
              <a:ea typeface="Calibri"/>
              <a:cs typeface="Calibri"/>
              <a:sym typeface="Calibri"/>
            </a:endParaRPr>
          </a:p>
        </p:txBody>
      </p:sp>
      <p:sp>
        <p:nvSpPr>
          <p:cNvPr id="248" name="Google Shape;248;p1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Don't reference the ETF at all.</a:t>
            </a:r>
            <a:endParaRPr b="0" i="0" spc="0" sz="900" u="none" cap="none" strike="noStrike">
              <a:solidFill>
                <a:schemeClr val="dk1"/>
              </a:solidFill>
              <a:latin typeface="Calibri"/>
              <a:ea typeface="Calibri"/>
              <a:cs typeface="Calibri"/>
              <a:sym typeface="Calibri"/>
            </a:endParaRPr>
          </a:p>
        </p:txBody>
      </p:sp>
      <p:sp>
        <p:nvSpPr>
          <p:cNvPr id="250" name="Google Shape;250;p1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3" name="Google Shape;253;p1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account shows ETF $140 for a WA customer. Fix it yourself?</a:t>
            </a:r>
            <a:endParaRPr b="0" i="0" spc="0" sz="1000" u="none" cap="none" strike="noStrike">
              <a:solidFill>
                <a:schemeClr val="dk1"/>
              </a:solidFill>
              <a:latin typeface="Calibri"/>
              <a:ea typeface="Calibri"/>
              <a:cs typeface="Calibri"/>
              <a:sym typeface="Calibri"/>
            </a:endParaRPr>
          </a:p>
        </p:txBody>
      </p:sp>
      <p:sp>
        <p:nvSpPr>
          <p:cNvPr id="254" name="Google Shape;254;p1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Escalate to TL/Support, who raise it to get it fixed.</a:t>
            </a:r>
            <a:endParaRPr b="0" i="0" spc="0" sz="900" u="none" cap="none" strike="noStrike">
              <a:solidFill>
                <a:schemeClr val="dk1"/>
              </a:solidFill>
              <a:latin typeface="Calibri"/>
              <a:ea typeface="Calibri"/>
              <a:cs typeface="Calibri"/>
              <a:sym typeface="Calibri"/>
            </a:endParaRPr>
          </a:p>
        </p:txBody>
      </p:sp>
      <p:sp>
        <p:nvSpPr>
          <p:cNvPr id="256" name="Google Shape;256;p1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59" name="Google Shape;259;p1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cites the AG notice and wants their MF back. We cancelled on time.</a:t>
            </a:r>
            <a:endParaRPr b="0" i="0" spc="0" sz="1000" u="none" cap="none" strike="noStrike">
              <a:solidFill>
                <a:schemeClr val="dk1"/>
              </a:solidFill>
              <a:latin typeface="Calibri"/>
              <a:ea typeface="Calibri"/>
              <a:cs typeface="Calibri"/>
              <a:sym typeface="Calibri"/>
            </a:endParaRPr>
          </a:p>
        </p:txBody>
      </p:sp>
      <p:sp>
        <p:nvSpPr>
          <p:cNvPr id="260" name="Google Shape;260;p1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Handle as BAU. No refund on the Consent Decree alone.</a:t>
            </a:r>
            <a:endParaRPr b="0" i="0" spc="0" sz="900" u="none" cap="none" strike="noStrike">
              <a:solidFill>
                <a:schemeClr val="dk1"/>
              </a:solidFill>
              <a:latin typeface="Calibri"/>
              <a:ea typeface="Calibri"/>
              <a:cs typeface="Calibri"/>
              <a:sym typeface="Calibri"/>
            </a:endParaRPr>
          </a:p>
        </p:txBody>
      </p:sp>
      <p:sp>
        <p:nvSpPr>
          <p:cNvPr id="262" name="Google Shape;262;p1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5" name="Google Shape;265;p1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Texas customer mentions the WA lawsuit. Apply this process?</a:t>
            </a:r>
            <a:endParaRPr b="0" i="0" spc="0" sz="1000" u="none" cap="none" strike="noStrike">
              <a:solidFill>
                <a:schemeClr val="dk1"/>
              </a:solidFill>
              <a:latin typeface="Calibri"/>
              <a:ea typeface="Calibri"/>
              <a:cs typeface="Calibri"/>
              <a:sym typeface="Calibri"/>
            </a:endParaRPr>
          </a:p>
        </p:txBody>
      </p:sp>
      <p:sp>
        <p:nvSpPr>
          <p:cNvPr id="266" name="Google Shape;266;p1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It's residency-based. Handle as BAU.</a:t>
            </a:r>
            <a:endParaRPr b="0" i="0" spc="0" sz="900" u="none" cap="none" strike="noStrike">
              <a:solidFill>
                <a:schemeClr val="dk1"/>
              </a:solidFill>
              <a:latin typeface="Calibri"/>
              <a:ea typeface="Calibri"/>
              <a:cs typeface="Calibri"/>
              <a:sym typeface="Calibri"/>
            </a:endParaRPr>
          </a:p>
        </p:txBody>
      </p:sp>
      <p:sp>
        <p:nvSpPr>
          <p:cNvPr id="268" name="Google Shape;26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gtEl>
                                        <p:attrNameLst>
                                          <p:attrName>style.visibility</p:attrName>
                                        </p:attrNameLst>
                                      </p:cBhvr>
                                      <p:to>
                                        <p:strVal val="visible"/>
                                      </p:to>
                                    </p:set>
                                    <p:animEffect filter="fade" transition="in">
                                      <p:cBhvr>
                                        <p:cTn dur="600"/>
                                        <p:tgtEl>
                                          <p:spTgt spid="2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600"/>
                                        <p:tgtEl>
                                          <p:spTgt spid="2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1"/>
                                        </p:tgtEl>
                                        <p:attrNameLst>
                                          <p:attrName>style.visibility</p:attrName>
                                        </p:attrNameLst>
                                      </p:cBhvr>
                                      <p:to>
                                        <p:strVal val="visible"/>
                                      </p:to>
                                    </p:set>
                                    <p:animEffect filter="fade" transition="in">
                                      <p:cBhvr>
                                        <p:cTn dur="600"/>
                                        <p:tgtEl>
                                          <p:spTgt spid="2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gtEl>
                                        <p:attrNameLst>
                                          <p:attrName>style.visibility</p:attrName>
                                        </p:attrNameLst>
                                      </p:cBhvr>
                                      <p:to>
                                        <p:strVal val="visible"/>
                                      </p:to>
                                    </p:set>
                                    <p:animEffect filter="fade" transition="in">
                                      <p:cBhvr>
                                        <p:cTn dur="6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PRACTICE</a:t>
            </a:r>
            <a:endParaRPr b="0" i="0" spc="0" sz="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6" name="Google Shape;276;p1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7" name="Google Shape;277;p1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79" name="Google Shape;279;p1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0" name="Google Shape;280;p1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1" name="Google Shape;281;p1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2" name="Google Shape;282;p1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3" name="Google Shape;283;p1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6" name="Google Shape;286;p1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Does the WA process apply? Why?</a:t>
            </a:r>
            <a:endParaRPr b="0" i="0" spc="0" sz="1250" u="none" cap="none" strike="noStrike">
              <a:solidFill>
                <a:schemeClr val="dk1"/>
              </a:solidFill>
              <a:latin typeface="Calibri"/>
              <a:ea typeface="Calibri"/>
              <a:cs typeface="Calibri"/>
              <a:sym typeface="Calibri"/>
            </a:endParaRPr>
          </a:p>
        </p:txBody>
      </p:sp>
      <p:sp>
        <p:nvSpPr>
          <p:cNvPr id="287" name="Google Shape;287;p1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Confirm residency and the account state.</a:t>
            </a:r>
            <a:endParaRPr b="0" i="0" spc="0" sz="1000" u="none" cap="none" strike="noStrike">
              <a:solidFill>
                <a:schemeClr val="dk1"/>
              </a:solidFill>
              <a:latin typeface="Calibri"/>
              <a:ea typeface="Calibri"/>
              <a:cs typeface="Calibri"/>
              <a:sym typeface="Calibri"/>
            </a:endParaRPr>
          </a:p>
        </p:txBody>
      </p:sp>
      <p:sp>
        <p:nvSpPr>
          <p:cNvPr id="288" name="Google Shape;288;p1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1" name="Google Shape;291;p1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2" name="Google Shape;292;p1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refund, escalate, or BAU?</a:t>
            </a:r>
            <a:endParaRPr b="0" i="0" spc="0" sz="1000" u="none" cap="none" strike="noStrike">
              <a:solidFill>
                <a:schemeClr val="dk1"/>
              </a:solidFill>
              <a:latin typeface="Calibri"/>
              <a:ea typeface="Calibri"/>
              <a:cs typeface="Calibri"/>
              <a:sym typeface="Calibri"/>
            </a:endParaRPr>
          </a:p>
        </p:txBody>
      </p:sp>
      <p:sp>
        <p:nvSpPr>
          <p:cNvPr id="293" name="Google Shape;293;p1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6" name="Google Shape;296;p1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7" name="Google Shape;297;p1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298" name="Google Shape;298;p1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9" name="Google Shape;299;p1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0" name="Google Shape;300;p1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1" name="Google Shape;301;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1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08" name="Google Shape;308;p1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Understanding Offer Logic</a:t>
            </a:r>
            <a:endParaRPr b="0" i="0" spc="0" sz="2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When and how should I make an offer?</a:t>
            </a:r>
            <a:endParaRPr b="0" i="0" spc="0" sz="1150" u="none" cap="none" strike="noStrike">
              <a:solidFill>
                <a:schemeClr val="dk1"/>
              </a:solidFill>
              <a:latin typeface="Calibri"/>
              <a:ea typeface="Calibri"/>
              <a:cs typeface="Calibri"/>
              <a:sym typeface="Calibri"/>
            </a:endParaRPr>
          </a:p>
        </p:txBody>
      </p:sp>
      <p:sp>
        <p:nvSpPr>
          <p:cNvPr id="310" name="Google Shape;310;p1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1" name="Google Shape;311;p1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2" name="Google Shape;312;p1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3" name="Google Shape;313;p1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You don't need cancellation intent</a:t>
            </a:r>
            <a:endParaRPr b="0" i="0" spc="0" sz="1050" u="none" cap="none" strike="noStrike">
              <a:solidFill>
                <a:schemeClr val="dk1"/>
              </a:solidFill>
              <a:latin typeface="Calibri"/>
              <a:ea typeface="Calibri"/>
              <a:cs typeface="Calibri"/>
              <a:sym typeface="Calibri"/>
            </a:endParaRPr>
          </a:p>
        </p:txBody>
      </p:sp>
      <p:sp>
        <p:nvSpPr>
          <p:cNvPr id="314" name="Google Shape;314;p1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5" name="Google Shape;315;p1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6" name="Google Shape;316;p1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Exit and Make-Right offers</a:t>
            </a:r>
            <a:endParaRPr b="0" i="0" spc="0" sz="1050" u="none" cap="none" strike="noStrike">
              <a:solidFill>
                <a:schemeClr val="dk1"/>
              </a:solidFill>
              <a:latin typeface="Calibri"/>
              <a:ea typeface="Calibri"/>
              <a:cs typeface="Calibri"/>
              <a:sym typeface="Calibri"/>
            </a:endParaRPr>
          </a:p>
        </p:txBody>
      </p:sp>
      <p:sp>
        <p:nvSpPr>
          <p:cNvPr id="317" name="Google Shape;317;p1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8" name="Google Shape;318;p1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19" name="Google Shape;319;p1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each offer is built to do</a:t>
            </a:r>
            <a:endParaRPr b="0" i="0" spc="0" sz="1050" u="none" cap="none" strike="noStrike">
              <a:solidFill>
                <a:schemeClr val="dk1"/>
              </a:solidFill>
              <a:latin typeface="Calibri"/>
              <a:ea typeface="Calibri"/>
              <a:cs typeface="Calibri"/>
              <a:sym typeface="Calibri"/>
            </a:endParaRPr>
          </a:p>
        </p:txBody>
      </p:sp>
      <p:sp>
        <p:nvSpPr>
          <p:cNvPr id="320" name="Google Shape;320;p1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1" name="Google Shape;321;p1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2" name="Google Shape;322;p1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Caps, existing offers and guardrails</a:t>
            </a:r>
            <a:endParaRPr b="0" i="0" spc="0" sz="1050" u="none" cap="none" strike="noStrike">
              <a:solidFill>
                <a:schemeClr val="dk1"/>
              </a:solidFill>
              <a:latin typeface="Calibri"/>
              <a:ea typeface="Calibri"/>
              <a:cs typeface="Calibri"/>
              <a:sym typeface="Calibri"/>
            </a:endParaRPr>
          </a:p>
        </p:txBody>
      </p:sp>
      <p:sp>
        <p:nvSpPr>
          <p:cNvPr id="323" name="Google Shape;323;p1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2.png" id="325" name="Google Shape;325;p16"/>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326" name="Google Shape;326;p1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39" name="Google Shape;339;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No cancellation intent needed</a:t>
            </a:r>
            <a:endParaRPr b="0" i="0" spc="0" sz="2400" u="none" cap="none" strike="noStrike">
              <a:solidFill>
                <a:schemeClr val="dk1"/>
              </a:solidFill>
              <a:latin typeface="Calibri"/>
              <a:ea typeface="Calibri"/>
              <a:cs typeface="Calibri"/>
              <a:sym typeface="Calibri"/>
            </a:endParaRPr>
          </a:p>
        </p:txBody>
      </p:sp>
      <p:sp>
        <p:nvSpPr>
          <p:cNvPr id="340" name="Google Shape;340;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But offers aren't rewards, apologies, or something we issue just because we can.</a:t>
            </a:r>
            <a:endParaRPr b="0" i="0" spc="0" sz="1200" u="none" cap="none" strike="noStrike">
              <a:solidFill>
                <a:schemeClr val="dk1"/>
              </a:solidFill>
              <a:latin typeface="Calibri"/>
              <a:ea typeface="Calibri"/>
              <a:cs typeface="Calibri"/>
              <a:sym typeface="Calibri"/>
            </a:endParaRPr>
          </a:p>
        </p:txBody>
      </p:sp>
      <p:sp>
        <p:nvSpPr>
          <p:cNvPr id="341" name="Google Shape;341;p17"/>
          <p:cNvSpPr/>
          <p:nvPr/>
        </p:nvSpPr>
        <p:spPr>
          <a:xfrm>
            <a:off x="411480" y="1325880"/>
            <a:ext cx="3108960" cy="2331720"/>
          </a:xfrm>
          <a:prstGeom prst="roundRect">
            <a:avLst>
              <a:gd fmla="val 313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nvSpPr>
        <p:spPr>
          <a:xfrm>
            <a:off x="640080" y="1325880"/>
            <a:ext cx="2697480" cy="2331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Offer in your first response</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if the situation calls for it. The easiest customers to retain haven't decided to leave yet.</a:t>
            </a:r>
            <a:endParaRPr b="0" i="0" spc="0" sz="1500" u="none" cap="none" strike="noStrike">
              <a:solidFill>
                <a:schemeClr val="dk1"/>
              </a:solidFill>
              <a:latin typeface="Calibri"/>
              <a:ea typeface="Calibri"/>
              <a:cs typeface="Calibri"/>
              <a:sym typeface="Calibri"/>
            </a:endParaRPr>
          </a:p>
        </p:txBody>
      </p:sp>
      <p:sp>
        <p:nvSpPr>
          <p:cNvPr id="343" name="Google Shape;343;p17"/>
          <p:cNvSpPr txBox="1"/>
          <p:nvPr/>
        </p:nvSpPr>
        <p:spPr>
          <a:xfrm>
            <a:off x="370332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EVERY OFFER HAS A JOB</a:t>
            </a:r>
            <a:endParaRPr b="0" i="0" spc="0" sz="800" u="none" cap="none" strike="noStrike">
              <a:solidFill>
                <a:schemeClr val="dk1"/>
              </a:solidFill>
              <a:latin typeface="Calibri"/>
              <a:ea typeface="Calibri"/>
              <a:cs typeface="Calibri"/>
              <a:sym typeface="Calibri"/>
            </a:endParaRPr>
          </a:p>
        </p:txBody>
      </p:sp>
      <p:sp>
        <p:nvSpPr>
          <p:cNvPr id="344" name="Google Shape;344;p17"/>
          <p:cNvSpPr/>
          <p:nvPr/>
        </p:nvSpPr>
        <p:spPr>
          <a:xfrm>
            <a:off x="3703320" y="1572768"/>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7"/>
          <p:cNvSpPr/>
          <p:nvPr/>
        </p:nvSpPr>
        <p:spPr>
          <a:xfrm>
            <a:off x="3813048"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6" name="Google Shape;346;p17"/>
          <p:cNvPicPr preferRelativeResize="0"/>
          <p:nvPr/>
        </p:nvPicPr>
        <p:blipFill rotWithShape="1">
          <a:blip r:embed="rId3">
            <a:alphaModFix/>
          </a:blip>
          <a:srcRect b="0" l="0" r="0" t="0"/>
          <a:stretch/>
        </p:blipFill>
        <p:spPr>
          <a:xfrm>
            <a:off x="3892052" y="1715780"/>
            <a:ext cx="171176" cy="171176"/>
          </a:xfrm>
          <a:prstGeom prst="rect">
            <a:avLst/>
          </a:prstGeom>
          <a:noFill/>
          <a:ln>
            <a:noFill/>
          </a:ln>
        </p:spPr>
      </p:pic>
      <p:sp>
        <p:nvSpPr>
          <p:cNvPr id="347" name="Google Shape;347;p17"/>
          <p:cNvSpPr txBox="1"/>
          <p:nvPr/>
        </p:nvSpPr>
        <p:spPr>
          <a:xfrm>
            <a:off x="4251960" y="1572768"/>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Rebuild trust after a bad experience</a:t>
            </a:r>
            <a:endParaRPr b="0" i="0" spc="0" sz="1100" u="none" cap="none" strike="noStrike">
              <a:solidFill>
                <a:schemeClr val="dk1"/>
              </a:solidFill>
              <a:latin typeface="Calibri"/>
              <a:ea typeface="Calibri"/>
              <a:cs typeface="Calibri"/>
              <a:sym typeface="Calibri"/>
            </a:endParaRPr>
          </a:p>
        </p:txBody>
      </p:sp>
      <p:sp>
        <p:nvSpPr>
          <p:cNvPr id="348" name="Google Shape;348;p17"/>
          <p:cNvSpPr/>
          <p:nvPr/>
        </p:nvSpPr>
        <p:spPr>
          <a:xfrm>
            <a:off x="3703320" y="2103120"/>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7"/>
          <p:cNvSpPr/>
          <p:nvPr/>
        </p:nvSpPr>
        <p:spPr>
          <a:xfrm>
            <a:off x="3813048" y="21671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0" name="Google Shape;350;p17"/>
          <p:cNvPicPr preferRelativeResize="0"/>
          <p:nvPr/>
        </p:nvPicPr>
        <p:blipFill rotWithShape="1">
          <a:blip r:embed="rId4">
            <a:alphaModFix/>
          </a:blip>
          <a:srcRect b="0" l="0" r="0" t="0"/>
          <a:stretch/>
        </p:blipFill>
        <p:spPr>
          <a:xfrm>
            <a:off x="3892052" y="2246132"/>
            <a:ext cx="171176" cy="171176"/>
          </a:xfrm>
          <a:prstGeom prst="rect">
            <a:avLst/>
          </a:prstGeom>
          <a:noFill/>
          <a:ln>
            <a:noFill/>
          </a:ln>
        </p:spPr>
      </p:pic>
      <p:sp>
        <p:nvSpPr>
          <p:cNvPr id="351" name="Google Shape;351;p17"/>
          <p:cNvSpPr txBox="1"/>
          <p:nvPr/>
        </p:nvSpPr>
        <p:spPr>
          <a:xfrm>
            <a:off x="4251960" y="2103120"/>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Remove a financial barrier</a:t>
            </a:r>
            <a:endParaRPr b="0" i="0" spc="0" sz="1100" u="none" cap="none" strike="noStrike">
              <a:solidFill>
                <a:schemeClr val="dk1"/>
              </a:solidFill>
              <a:latin typeface="Calibri"/>
              <a:ea typeface="Calibri"/>
              <a:cs typeface="Calibri"/>
              <a:sym typeface="Calibri"/>
            </a:endParaRPr>
          </a:p>
        </p:txBody>
      </p:sp>
      <p:sp>
        <p:nvSpPr>
          <p:cNvPr id="352" name="Google Shape;352;p17"/>
          <p:cNvSpPr/>
          <p:nvPr/>
        </p:nvSpPr>
        <p:spPr>
          <a:xfrm>
            <a:off x="3703320" y="2633472"/>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7"/>
          <p:cNvSpPr/>
          <p:nvPr/>
        </p:nvSpPr>
        <p:spPr>
          <a:xfrm>
            <a:off x="3813048" y="269748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7"/>
          <p:cNvPicPr preferRelativeResize="0"/>
          <p:nvPr/>
        </p:nvPicPr>
        <p:blipFill rotWithShape="1">
          <a:blip r:embed="rId5">
            <a:alphaModFix/>
          </a:blip>
          <a:srcRect b="0" l="0" r="0" t="0"/>
          <a:stretch/>
        </p:blipFill>
        <p:spPr>
          <a:xfrm>
            <a:off x="3892052" y="2776484"/>
            <a:ext cx="171176" cy="171176"/>
          </a:xfrm>
          <a:prstGeom prst="rect">
            <a:avLst/>
          </a:prstGeom>
          <a:noFill/>
          <a:ln>
            <a:noFill/>
          </a:ln>
        </p:spPr>
      </p:pic>
      <p:sp>
        <p:nvSpPr>
          <p:cNvPr id="355" name="Google Shape;355;p17"/>
          <p:cNvSpPr txBox="1"/>
          <p:nvPr/>
        </p:nvSpPr>
        <p:spPr>
          <a:xfrm>
            <a:off x="4251960" y="2633472"/>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Make it easier to keep using Homeaglow</a:t>
            </a:r>
            <a:endParaRPr b="0" i="0" spc="0" sz="1100" u="none" cap="none" strike="noStrike">
              <a:solidFill>
                <a:schemeClr val="dk1"/>
              </a:solidFill>
              <a:latin typeface="Calibri"/>
              <a:ea typeface="Calibri"/>
              <a:cs typeface="Calibri"/>
              <a:sym typeface="Calibri"/>
            </a:endParaRPr>
          </a:p>
        </p:txBody>
      </p:sp>
      <p:sp>
        <p:nvSpPr>
          <p:cNvPr id="356" name="Google Shape;356;p17"/>
          <p:cNvSpPr/>
          <p:nvPr/>
        </p:nvSpPr>
        <p:spPr>
          <a:xfrm>
            <a:off x="3703320" y="3163824"/>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7"/>
          <p:cNvSpPr/>
          <p:nvPr/>
        </p:nvSpPr>
        <p:spPr>
          <a:xfrm>
            <a:off x="3813048" y="32278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7"/>
          <p:cNvPicPr preferRelativeResize="0"/>
          <p:nvPr/>
        </p:nvPicPr>
        <p:blipFill rotWithShape="1">
          <a:blip r:embed="rId6">
            <a:alphaModFix/>
          </a:blip>
          <a:srcRect b="0" l="0" r="0" t="0"/>
          <a:stretch/>
        </p:blipFill>
        <p:spPr>
          <a:xfrm>
            <a:off x="3892052" y="3306836"/>
            <a:ext cx="171176" cy="171176"/>
          </a:xfrm>
          <a:prstGeom prst="rect">
            <a:avLst/>
          </a:prstGeom>
          <a:noFill/>
          <a:ln>
            <a:noFill/>
          </a:ln>
        </p:spPr>
      </p:pic>
      <p:sp>
        <p:nvSpPr>
          <p:cNvPr id="359" name="Google Shape;359;p17"/>
          <p:cNvSpPr txBox="1"/>
          <p:nvPr/>
        </p:nvSpPr>
        <p:spPr>
          <a:xfrm>
            <a:off x="4251960" y="3163824"/>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out a membership fairly</a:t>
            </a:r>
            <a:endParaRPr b="0" i="0" spc="0" sz="1100" u="none" cap="none" strike="noStrike">
              <a:solidFill>
                <a:schemeClr val="dk1"/>
              </a:solidFill>
              <a:latin typeface="Calibri"/>
              <a:ea typeface="Calibri"/>
              <a:cs typeface="Calibri"/>
              <a:sym typeface="Calibri"/>
            </a:endParaRPr>
          </a:p>
        </p:txBody>
      </p:sp>
      <p:sp>
        <p:nvSpPr>
          <p:cNvPr id="360" name="Google Shape;360;p1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1" name="Google Shape;361;p17"/>
          <p:cNvPicPr preferRelativeResize="0"/>
          <p:nvPr/>
        </p:nvPicPr>
        <p:blipFill rotWithShape="1">
          <a:blip r:embed="rId7">
            <a:alphaModFix/>
          </a:blip>
          <a:srcRect b="0" l="0" r="0" t="0"/>
          <a:stretch/>
        </p:blipFill>
        <p:spPr>
          <a:xfrm>
            <a:off x="566928" y="3950208"/>
            <a:ext cx="164592" cy="164592"/>
          </a:xfrm>
          <a:prstGeom prst="rect">
            <a:avLst/>
          </a:prstGeom>
          <a:noFill/>
          <a:ln>
            <a:noFill/>
          </a:ln>
        </p:spPr>
      </p:pic>
      <p:sp>
        <p:nvSpPr>
          <p:cNvPr id="362" name="Google Shape;362;p1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"Is this the problem this offer was designed to solve?" Not "Am I allowed to use this?"</a:t>
            </a:r>
            <a:endParaRPr b="0" i="0" spc="0" sz="1000" u="none" cap="none" strike="noStrike">
              <a:solidFill>
                <a:schemeClr val="dk1"/>
              </a:solidFill>
              <a:latin typeface="Calibri"/>
              <a:ea typeface="Calibri"/>
              <a:cs typeface="Calibri"/>
              <a:sym typeface="Calibri"/>
            </a:endParaRPr>
          </a:p>
        </p:txBody>
      </p:sp>
      <p:sp>
        <p:nvSpPr>
          <p:cNvPr id="363" name="Google Shape;36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70" name="Google Shape;37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Three kinds of offers</a:t>
            </a:r>
            <a:endParaRPr b="0" i="0" spc="0" sz="2400" u="none" cap="none" strike="noStrike">
              <a:solidFill>
                <a:schemeClr val="dk1"/>
              </a:solidFill>
              <a:latin typeface="Calibri"/>
              <a:ea typeface="Calibri"/>
              <a:cs typeface="Calibri"/>
              <a:sym typeface="Calibri"/>
            </a:endParaRPr>
          </a:p>
        </p:txBody>
      </p:sp>
      <p:sp>
        <p:nvSpPr>
          <p:cNvPr id="371" name="Google Shape;37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Every offer does one of three jobs.</a:t>
            </a:r>
            <a:endParaRPr b="0" i="0" spc="0" sz="1200" u="none" cap="none" strike="noStrike">
              <a:solidFill>
                <a:schemeClr val="dk1"/>
              </a:solidFill>
              <a:latin typeface="Calibri"/>
              <a:ea typeface="Calibri"/>
              <a:cs typeface="Calibri"/>
              <a:sym typeface="Calibri"/>
            </a:endParaRPr>
          </a:p>
        </p:txBody>
      </p:sp>
      <p:sp>
        <p:nvSpPr>
          <p:cNvPr id="372" name="Google Shape;372;p18"/>
          <p:cNvSpPr/>
          <p:nvPr/>
        </p:nvSpPr>
        <p:spPr>
          <a:xfrm>
            <a:off x="411480" y="1325880"/>
            <a:ext cx="2682240" cy="2743200"/>
          </a:xfrm>
          <a:prstGeom prst="roundRect">
            <a:avLst>
              <a:gd fmla="val 272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8"/>
          <p:cNvSpPr/>
          <p:nvPr/>
        </p:nvSpPr>
        <p:spPr>
          <a:xfrm>
            <a:off x="411480" y="1325880"/>
            <a:ext cx="2682240" cy="384048"/>
          </a:xfrm>
          <a:prstGeom prst="roundRect">
            <a:avLst>
              <a:gd fmla="val 14286"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Retention</a:t>
            </a:r>
            <a:endParaRPr b="0" i="0" spc="0" sz="1300" u="none" cap="none" strike="noStrike">
              <a:solidFill>
                <a:schemeClr val="dk1"/>
              </a:solidFill>
              <a:latin typeface="Calibri"/>
              <a:ea typeface="Calibri"/>
              <a:cs typeface="Calibri"/>
              <a:sym typeface="Calibri"/>
            </a:endParaRPr>
          </a:p>
        </p:txBody>
      </p:sp>
      <p:sp>
        <p:nvSpPr>
          <p:cNvPr id="374" name="Google Shape;374;p18"/>
          <p:cNvSpPr txBox="1"/>
          <p:nvPr/>
        </p:nvSpPr>
        <p:spPr>
          <a:xfrm>
            <a:off x="5760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Keep the membership active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standing in the way of them staying?</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Vouchers &amp; credits, MF reduction, MCT reduction (Job 1), free months</a:t>
            </a:r>
            <a:endParaRPr b="0" i="0" spc="0" sz="750" u="none" cap="none" strike="noStrike">
              <a:solidFill>
                <a:schemeClr val="dk1"/>
              </a:solidFill>
              <a:latin typeface="Calibri"/>
              <a:ea typeface="Calibri"/>
              <a:cs typeface="Calibri"/>
              <a:sym typeface="Calibri"/>
            </a:endParaRPr>
          </a:p>
        </p:txBody>
      </p:sp>
      <p:sp>
        <p:nvSpPr>
          <p:cNvPr id="375" name="Google Shape;375;p18"/>
          <p:cNvSpPr/>
          <p:nvPr/>
        </p:nvSpPr>
        <p:spPr>
          <a:xfrm>
            <a:off x="3230880" y="1325880"/>
            <a:ext cx="2682240" cy="2743200"/>
          </a:xfrm>
          <a:prstGeom prst="roundRect">
            <a:avLst>
              <a:gd fmla="val 272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8"/>
          <p:cNvSpPr/>
          <p:nvPr/>
        </p:nvSpPr>
        <p:spPr>
          <a:xfrm>
            <a:off x="3230880" y="1325880"/>
            <a:ext cx="2682240" cy="384048"/>
          </a:xfrm>
          <a:prstGeom prst="roundRect">
            <a:avLst>
              <a:gd fmla="val 14286" name="adj"/>
            </a:avLst>
          </a:prstGeom>
          <a:solidFill>
            <a:srgbClr val="1D1D1F"/>
          </a:solidFill>
          <a:ln cap="flat" cmpd="sng" w="9525">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Exit</a:t>
            </a:r>
            <a:endParaRPr b="0" i="0" spc="0" sz="1300" u="none" cap="none" strike="noStrike">
              <a:solidFill>
                <a:schemeClr val="dk1"/>
              </a:solidFill>
              <a:latin typeface="Calibri"/>
              <a:ea typeface="Calibri"/>
              <a:cs typeface="Calibri"/>
              <a:sym typeface="Calibri"/>
            </a:endParaRPr>
          </a:p>
        </p:txBody>
      </p:sp>
      <p:sp>
        <p:nvSpPr>
          <p:cNvPr id="377" name="Google Shape;377;p18"/>
          <p:cNvSpPr txBox="1"/>
          <p:nvPr/>
        </p:nvSpPr>
        <p:spPr>
          <a:xfrm>
            <a:off x="33954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the membership out fairly</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the lowest-cost way for them to leave?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MCT reduction (Job 2), ETF reduction</a:t>
            </a:r>
            <a:endParaRPr b="0" i="0" spc="0" sz="750" u="none" cap="none" strike="noStrike">
              <a:solidFill>
                <a:schemeClr val="dk1"/>
              </a:solidFill>
              <a:latin typeface="Calibri"/>
              <a:ea typeface="Calibri"/>
              <a:cs typeface="Calibri"/>
              <a:sym typeface="Calibri"/>
            </a:endParaRPr>
          </a:p>
        </p:txBody>
      </p:sp>
      <p:sp>
        <p:nvSpPr>
          <p:cNvPr id="378" name="Google Shape;378;p18"/>
          <p:cNvSpPr/>
          <p:nvPr/>
        </p:nvSpPr>
        <p:spPr>
          <a:xfrm>
            <a:off x="6050280" y="1325880"/>
            <a:ext cx="2682240" cy="2743200"/>
          </a:xfrm>
          <a:prstGeom prst="roundRect">
            <a:avLst>
              <a:gd fmla="val 272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8"/>
          <p:cNvSpPr/>
          <p:nvPr/>
        </p:nvSpPr>
        <p:spPr>
          <a:xfrm>
            <a:off x="6050280" y="1325880"/>
            <a:ext cx="2682240" cy="384048"/>
          </a:xfrm>
          <a:prstGeom prst="roundRect">
            <a:avLst>
              <a:gd fmla="val 14286"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Make-Right</a:t>
            </a:r>
            <a:endParaRPr b="0" i="0" spc="0" sz="1300" u="none" cap="none" strike="noStrike">
              <a:solidFill>
                <a:schemeClr val="dk1"/>
              </a:solidFill>
              <a:latin typeface="Calibri"/>
              <a:ea typeface="Calibri"/>
              <a:cs typeface="Calibri"/>
              <a:sym typeface="Calibri"/>
            </a:endParaRPr>
          </a:p>
        </p:txBody>
      </p:sp>
      <p:sp>
        <p:nvSpPr>
          <p:cNvPr id="380" name="Google Shape;380;p18"/>
          <p:cNvSpPr txBox="1"/>
          <p:nvPr/>
        </p:nvSpPr>
        <p:spPr>
          <a:xfrm>
            <a:off x="62148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Correct a Homeaglow or system error</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 did we cause, and what makes it right?</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The individual charge and refund pages (LMC, Lockout, Priority Fee…)</a:t>
            </a:r>
            <a:endParaRPr b="0" i="0" spc="0" sz="750" u="none" cap="none" strike="noStrike">
              <a:solidFill>
                <a:schemeClr val="dk1"/>
              </a:solidFill>
              <a:latin typeface="Calibri"/>
              <a:ea typeface="Calibri"/>
              <a:cs typeface="Calibri"/>
              <a:sym typeface="Calibri"/>
            </a:endParaRPr>
          </a:p>
        </p:txBody>
      </p:sp>
      <p:sp>
        <p:nvSpPr>
          <p:cNvPr id="381" name="Google Shape;381;p18"/>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2" name="Google Shape;382;p18"/>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383" name="Google Shape;383;p18"/>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line:  </a:t>
            </a:r>
            <a:r>
              <a:rPr b="0" i="0" lang="en-US" spc="0" sz="1000" u="none" cap="none" strike="noStrike">
                <a:solidFill>
                  <a:srgbClr val="1D1D1F"/>
                </a:solidFill>
                <a:latin typeface="Arial"/>
                <a:ea typeface="Arial"/>
                <a:cs typeface="Arial"/>
                <a:sym typeface="Arial"/>
              </a:rPr>
              <a:t>not "did they ask to cancel?" but "have I assessed them as unretainable?"</a:t>
            </a:r>
            <a:endParaRPr b="0" i="0" spc="0" sz="1000" u="none" cap="none" strike="noStrike">
              <a:solidFill>
                <a:schemeClr val="dk1"/>
              </a:solidFill>
              <a:latin typeface="Calibri"/>
              <a:ea typeface="Calibri"/>
              <a:cs typeface="Calibri"/>
              <a:sym typeface="Calibri"/>
            </a:endParaRPr>
          </a:p>
        </p:txBody>
      </p:sp>
      <p:sp>
        <p:nvSpPr>
          <p:cNvPr id="384" name="Google Shape;384;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91" name="Google Shape;391;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choose an offer</a:t>
            </a:r>
            <a:endParaRPr b="0" i="0" spc="0" sz="2400" u="none" cap="none" strike="noStrike">
              <a:solidFill>
                <a:schemeClr val="dk1"/>
              </a:solidFill>
              <a:latin typeface="Calibri"/>
              <a:ea typeface="Calibri"/>
              <a:cs typeface="Calibri"/>
              <a:sym typeface="Calibri"/>
            </a:endParaRPr>
          </a:p>
        </p:txBody>
      </p:sp>
      <p:sp>
        <p:nvSpPr>
          <p:cNvPr id="392" name="Google Shape;392;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Run the quick test, then three questions.</a:t>
            </a:r>
            <a:endParaRPr b="0" i="0" spc="0" sz="1200" u="none" cap="none" strike="noStrike">
              <a:solidFill>
                <a:schemeClr val="dk1"/>
              </a:solidFill>
              <a:latin typeface="Calibri"/>
              <a:ea typeface="Calibri"/>
              <a:cs typeface="Calibri"/>
              <a:sym typeface="Calibri"/>
            </a:endParaRPr>
          </a:p>
        </p:txBody>
      </p:sp>
      <p:sp>
        <p:nvSpPr>
          <p:cNvPr id="393" name="Google Shape;393;p19"/>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QUICK TEST</a:t>
            </a:r>
            <a:endParaRPr b="0" i="0" spc="0" sz="800" u="none" cap="none" strike="noStrike">
              <a:solidFill>
                <a:schemeClr val="dk1"/>
              </a:solidFill>
              <a:latin typeface="Calibri"/>
              <a:ea typeface="Calibri"/>
              <a:cs typeface="Calibri"/>
              <a:sym typeface="Calibri"/>
            </a:endParaRPr>
          </a:p>
        </p:txBody>
      </p:sp>
      <p:sp>
        <p:nvSpPr>
          <p:cNvPr id="394" name="Google Shape;394;p19"/>
          <p:cNvSpPr/>
          <p:nvPr/>
        </p:nvSpPr>
        <p:spPr>
          <a:xfrm>
            <a:off x="411480" y="15087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19"/>
          <p:cNvSpPr txBox="1"/>
          <p:nvPr/>
        </p:nvSpPr>
        <p:spPr>
          <a:xfrm>
            <a:off x="411480" y="15087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Account error or system-caused charge?</a:t>
            </a:r>
            <a:endParaRPr b="0" i="0" spc="0" sz="1000" u="none" cap="none" strike="noStrike">
              <a:solidFill>
                <a:schemeClr val="dk1"/>
              </a:solidFill>
              <a:latin typeface="Calibri"/>
              <a:ea typeface="Calibri"/>
              <a:cs typeface="Calibri"/>
              <a:sym typeface="Calibri"/>
            </a:endParaRPr>
          </a:p>
        </p:txBody>
      </p:sp>
      <p:cxnSp>
        <p:nvCxnSpPr>
          <p:cNvPr id="396" name="Google Shape;396;p19"/>
          <p:cNvCxnSpPr/>
          <p:nvPr/>
        </p:nvCxnSpPr>
        <p:spPr>
          <a:xfrm>
            <a:off x="3703320" y="1737360"/>
            <a:ext cx="228600" cy="0"/>
          </a:xfrm>
          <a:prstGeom prst="straightConnector1">
            <a:avLst/>
          </a:prstGeom>
          <a:noFill/>
          <a:ln cap="flat" cmpd="sng" w="12700">
            <a:solidFill>
              <a:srgbClr val="6E6E73"/>
            </a:solidFill>
            <a:prstDash val="solid"/>
            <a:round/>
            <a:headEnd len="sm" w="sm" type="none"/>
            <a:tailEnd len="med" w="med" type="triangle"/>
          </a:ln>
        </p:spPr>
      </p:cxnSp>
      <p:sp>
        <p:nvSpPr>
          <p:cNvPr id="397" name="Google Shape;397;p19"/>
          <p:cNvSpPr/>
          <p:nvPr/>
        </p:nvSpPr>
        <p:spPr>
          <a:xfrm>
            <a:off x="3931920" y="1536192"/>
            <a:ext cx="960120" cy="402336"/>
          </a:xfrm>
          <a:prstGeom prst="roundRect">
            <a:avLst>
              <a:gd fmla="val 18182"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19"/>
          <p:cNvSpPr txBox="1"/>
          <p:nvPr/>
        </p:nvSpPr>
        <p:spPr>
          <a:xfrm>
            <a:off x="3931920" y="1536192"/>
            <a:ext cx="96012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Make-Right</a:t>
            </a:r>
            <a:endParaRPr b="0" i="0" spc="0" sz="1000" u="none" cap="none" strike="noStrike">
              <a:solidFill>
                <a:schemeClr val="dk1"/>
              </a:solidFill>
              <a:latin typeface="Calibri"/>
              <a:ea typeface="Calibri"/>
              <a:cs typeface="Calibri"/>
              <a:sym typeface="Calibri"/>
            </a:endParaRPr>
          </a:p>
        </p:txBody>
      </p:sp>
      <p:sp>
        <p:nvSpPr>
          <p:cNvPr id="399" name="Google Shape;399;p19"/>
          <p:cNvSpPr txBox="1"/>
          <p:nvPr/>
        </p:nvSpPr>
        <p:spPr>
          <a:xfrm>
            <a:off x="3730752" y="1554480"/>
            <a:ext cx="274320" cy="16459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Yes</a:t>
            </a:r>
            <a:endParaRPr b="0" i="0" spc="0" sz="750" u="none" cap="none" strike="noStrike">
              <a:solidFill>
                <a:schemeClr val="dk1"/>
              </a:solidFill>
              <a:latin typeface="Calibri"/>
              <a:ea typeface="Calibri"/>
              <a:cs typeface="Calibri"/>
              <a:sym typeface="Calibri"/>
            </a:endParaRPr>
          </a:p>
        </p:txBody>
      </p:sp>
      <p:cxnSp>
        <p:nvCxnSpPr>
          <p:cNvPr id="400" name="Google Shape;400;p19"/>
          <p:cNvCxnSpPr/>
          <p:nvPr/>
        </p:nvCxnSpPr>
        <p:spPr>
          <a:xfrm>
            <a:off x="2057400" y="1965960"/>
            <a:ext cx="0" cy="228600"/>
          </a:xfrm>
          <a:prstGeom prst="straightConnector1">
            <a:avLst/>
          </a:prstGeom>
          <a:noFill/>
          <a:ln cap="flat" cmpd="sng" w="12700">
            <a:solidFill>
              <a:srgbClr val="6E6E73"/>
            </a:solidFill>
            <a:prstDash val="solid"/>
            <a:round/>
            <a:headEnd len="sm" w="sm" type="none"/>
            <a:tailEnd len="med" w="med" type="triangle"/>
          </a:ln>
        </p:spPr>
      </p:cxnSp>
      <p:sp>
        <p:nvSpPr>
          <p:cNvPr id="401" name="Google Shape;401;p19"/>
          <p:cNvSpPr txBox="1"/>
          <p:nvPr/>
        </p:nvSpPr>
        <p:spPr>
          <a:xfrm>
            <a:off x="2121408" y="1984248"/>
            <a:ext cx="36576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No</a:t>
            </a:r>
            <a:endParaRPr b="0" i="0" spc="0" sz="750" u="none" cap="none" strike="noStrike">
              <a:solidFill>
                <a:schemeClr val="dk1"/>
              </a:solidFill>
              <a:latin typeface="Calibri"/>
              <a:ea typeface="Calibri"/>
              <a:cs typeface="Calibri"/>
              <a:sym typeface="Calibri"/>
            </a:endParaRPr>
          </a:p>
        </p:txBody>
      </p:sp>
      <p:sp>
        <p:nvSpPr>
          <p:cNvPr id="402" name="Google Shape;402;p19"/>
          <p:cNvSpPr/>
          <p:nvPr/>
        </p:nvSpPr>
        <p:spPr>
          <a:xfrm>
            <a:off x="411480" y="21945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19"/>
          <p:cNvSpPr txBox="1"/>
          <p:nvPr/>
        </p:nvSpPr>
        <p:spPr>
          <a:xfrm>
            <a:off x="411480" y="21945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Already assessed as unretainable?</a:t>
            </a:r>
            <a:endParaRPr b="0" i="0" spc="0" sz="1000" u="none" cap="none" strike="noStrike">
              <a:solidFill>
                <a:schemeClr val="dk1"/>
              </a:solidFill>
              <a:latin typeface="Calibri"/>
              <a:ea typeface="Calibri"/>
              <a:cs typeface="Calibri"/>
              <a:sym typeface="Calibri"/>
            </a:endParaRPr>
          </a:p>
        </p:txBody>
      </p:sp>
      <p:cxnSp>
        <p:nvCxnSpPr>
          <p:cNvPr id="404" name="Google Shape;404;p19"/>
          <p:cNvCxnSpPr/>
          <p:nvPr/>
        </p:nvCxnSpPr>
        <p:spPr>
          <a:xfrm>
            <a:off x="2057400" y="2651760"/>
            <a:ext cx="0" cy="137160"/>
          </a:xfrm>
          <a:prstGeom prst="straightConnector1">
            <a:avLst/>
          </a:prstGeom>
          <a:noFill/>
          <a:ln cap="flat" cmpd="sng" w="12700">
            <a:solidFill>
              <a:srgbClr val="6E6E73"/>
            </a:solidFill>
            <a:prstDash val="solid"/>
            <a:round/>
            <a:headEnd len="sm" w="sm" type="none"/>
            <a:tailEnd len="sm" w="sm" type="none"/>
          </a:ln>
        </p:spPr>
      </p:cxnSp>
      <p:cxnSp>
        <p:nvCxnSpPr>
          <p:cNvPr id="405" name="Google Shape;405;p19"/>
          <p:cNvCxnSpPr/>
          <p:nvPr/>
        </p:nvCxnSpPr>
        <p:spPr>
          <a:xfrm>
            <a:off x="1051560" y="2788920"/>
            <a:ext cx="2011680" cy="0"/>
          </a:xfrm>
          <a:prstGeom prst="straightConnector1">
            <a:avLst/>
          </a:prstGeom>
          <a:noFill/>
          <a:ln cap="flat" cmpd="sng" w="12700">
            <a:solidFill>
              <a:srgbClr val="6E6E73"/>
            </a:solidFill>
            <a:prstDash val="solid"/>
            <a:round/>
            <a:headEnd len="sm" w="sm" type="none"/>
            <a:tailEnd len="sm" w="sm" type="none"/>
          </a:ln>
        </p:spPr>
      </p:cxnSp>
      <p:cxnSp>
        <p:nvCxnSpPr>
          <p:cNvPr id="406" name="Google Shape;406;p19"/>
          <p:cNvCxnSpPr/>
          <p:nvPr/>
        </p:nvCxnSpPr>
        <p:spPr>
          <a:xfrm>
            <a:off x="1051560" y="278892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407" name="Google Shape;407;p19"/>
          <p:cNvCxnSpPr/>
          <p:nvPr/>
        </p:nvCxnSpPr>
        <p:spPr>
          <a:xfrm>
            <a:off x="3063240" y="2788920"/>
            <a:ext cx="0" cy="137160"/>
          </a:xfrm>
          <a:prstGeom prst="straightConnector1">
            <a:avLst/>
          </a:prstGeom>
          <a:noFill/>
          <a:ln cap="flat" cmpd="sng" w="12700">
            <a:solidFill>
              <a:srgbClr val="6E6E73"/>
            </a:solidFill>
            <a:prstDash val="solid"/>
            <a:round/>
            <a:headEnd len="sm" w="sm" type="none"/>
            <a:tailEnd len="med" w="med" type="triangle"/>
          </a:ln>
        </p:spPr>
      </p:cxnSp>
      <p:sp>
        <p:nvSpPr>
          <p:cNvPr id="408" name="Google Shape;408;p19"/>
          <p:cNvSpPr txBox="1"/>
          <p:nvPr/>
        </p:nvSpPr>
        <p:spPr>
          <a:xfrm>
            <a:off x="112471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chemeClr val="dk1"/>
              </a:solidFill>
              <a:latin typeface="Calibri"/>
              <a:ea typeface="Calibri"/>
              <a:cs typeface="Calibri"/>
              <a:sym typeface="Calibri"/>
            </a:endParaRPr>
          </a:p>
        </p:txBody>
      </p:sp>
      <p:sp>
        <p:nvSpPr>
          <p:cNvPr id="409" name="Google Shape;409;p19"/>
          <p:cNvSpPr txBox="1"/>
          <p:nvPr/>
        </p:nvSpPr>
        <p:spPr>
          <a:xfrm>
            <a:off x="313639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chemeClr val="dk1"/>
              </a:solidFill>
              <a:latin typeface="Calibri"/>
              <a:ea typeface="Calibri"/>
              <a:cs typeface="Calibri"/>
              <a:sym typeface="Calibri"/>
            </a:endParaRPr>
          </a:p>
        </p:txBody>
      </p:sp>
      <p:sp>
        <p:nvSpPr>
          <p:cNvPr id="410" name="Google Shape;410;p19"/>
          <p:cNvSpPr/>
          <p:nvPr/>
        </p:nvSpPr>
        <p:spPr>
          <a:xfrm>
            <a:off x="411480" y="2926080"/>
            <a:ext cx="1280160" cy="402336"/>
          </a:xfrm>
          <a:prstGeom prst="roundRect">
            <a:avLst>
              <a:gd fmla="val 1818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1" name="Google Shape;411;p19"/>
          <p:cNvSpPr txBox="1"/>
          <p:nvPr/>
        </p:nvSpPr>
        <p:spPr>
          <a:xfrm>
            <a:off x="41148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Retention</a:t>
            </a:r>
            <a:endParaRPr b="0" i="0" spc="0" sz="1000" u="none" cap="none" strike="noStrike">
              <a:solidFill>
                <a:schemeClr val="dk1"/>
              </a:solidFill>
              <a:latin typeface="Calibri"/>
              <a:ea typeface="Calibri"/>
              <a:cs typeface="Calibri"/>
              <a:sym typeface="Calibri"/>
            </a:endParaRPr>
          </a:p>
        </p:txBody>
      </p:sp>
      <p:sp>
        <p:nvSpPr>
          <p:cNvPr id="412" name="Google Shape;412;p19"/>
          <p:cNvSpPr/>
          <p:nvPr/>
        </p:nvSpPr>
        <p:spPr>
          <a:xfrm>
            <a:off x="2423160" y="2926080"/>
            <a:ext cx="1280160" cy="402336"/>
          </a:xfrm>
          <a:prstGeom prst="roundRect">
            <a:avLst>
              <a:gd fmla="val 18182"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3" name="Google Shape;413;p19"/>
          <p:cNvSpPr txBox="1"/>
          <p:nvPr/>
        </p:nvSpPr>
        <p:spPr>
          <a:xfrm>
            <a:off x="242316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Exit</a:t>
            </a:r>
            <a:endParaRPr b="0" i="0" spc="0" sz="1000" u="none" cap="none" strike="noStrike">
              <a:solidFill>
                <a:schemeClr val="dk1"/>
              </a:solidFill>
              <a:latin typeface="Calibri"/>
              <a:ea typeface="Calibri"/>
              <a:cs typeface="Calibri"/>
              <a:sym typeface="Calibri"/>
            </a:endParaRPr>
          </a:p>
        </p:txBody>
      </p:sp>
      <p:sp>
        <p:nvSpPr>
          <p:cNvPr id="414" name="Google Shape;414;p19"/>
          <p:cNvSpPr/>
          <p:nvPr/>
        </p:nvSpPr>
        <p:spPr>
          <a:xfrm>
            <a:off x="5120640" y="13258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19"/>
          <p:cNvSpPr/>
          <p:nvPr/>
        </p:nvSpPr>
        <p:spPr>
          <a:xfrm>
            <a:off x="5230368" y="14904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19"/>
          <p:cNvSpPr txBox="1"/>
          <p:nvPr/>
        </p:nvSpPr>
        <p:spPr>
          <a:xfrm>
            <a:off x="5230368" y="14904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19"/>
          <p:cNvSpPr txBox="1"/>
          <p:nvPr/>
        </p:nvSpPr>
        <p:spPr>
          <a:xfrm>
            <a:off x="5596128" y="13258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What problem are they really solving?</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Why they ask, not what they ask for.</a:t>
            </a:r>
            <a:endParaRPr b="0" i="0" spc="0" sz="1050" u="none" cap="none" strike="noStrike">
              <a:solidFill>
                <a:schemeClr val="dk1"/>
              </a:solidFill>
              <a:latin typeface="Calibri"/>
              <a:ea typeface="Calibri"/>
              <a:cs typeface="Calibri"/>
              <a:sym typeface="Calibri"/>
            </a:endParaRPr>
          </a:p>
        </p:txBody>
      </p:sp>
      <p:sp>
        <p:nvSpPr>
          <p:cNvPr id="418" name="Google Shape;418;p19"/>
          <p:cNvSpPr/>
          <p:nvPr/>
        </p:nvSpPr>
        <p:spPr>
          <a:xfrm>
            <a:off x="5120640" y="20116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9"/>
          <p:cNvSpPr/>
          <p:nvPr/>
        </p:nvSpPr>
        <p:spPr>
          <a:xfrm>
            <a:off x="5230368" y="21762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19"/>
          <p:cNvSpPr txBox="1"/>
          <p:nvPr/>
        </p:nvSpPr>
        <p:spPr>
          <a:xfrm>
            <a:off x="5230368" y="21762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1" name="Google Shape;421;p19"/>
          <p:cNvSpPr txBox="1"/>
          <p:nvPr/>
        </p:nvSpPr>
        <p:spPr>
          <a:xfrm>
            <a:off x="5596128" y="20116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Does an offer solve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Sometimes they just want an explanation.</a:t>
            </a:r>
            <a:endParaRPr b="0" i="0" spc="0" sz="1050" u="none" cap="none" strike="noStrike">
              <a:solidFill>
                <a:schemeClr val="dk1"/>
              </a:solidFill>
              <a:latin typeface="Calibri"/>
              <a:ea typeface="Calibri"/>
              <a:cs typeface="Calibri"/>
              <a:sym typeface="Calibri"/>
            </a:endParaRPr>
          </a:p>
        </p:txBody>
      </p:sp>
      <p:sp>
        <p:nvSpPr>
          <p:cNvPr id="422" name="Google Shape;422;p19"/>
          <p:cNvSpPr/>
          <p:nvPr/>
        </p:nvSpPr>
        <p:spPr>
          <a:xfrm>
            <a:off x="5120640" y="26974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3" name="Google Shape;423;p19"/>
          <p:cNvSpPr/>
          <p:nvPr/>
        </p:nvSpPr>
        <p:spPr>
          <a:xfrm>
            <a:off x="5230368" y="28620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19"/>
          <p:cNvSpPr txBox="1"/>
          <p:nvPr/>
        </p:nvSpPr>
        <p:spPr>
          <a:xfrm>
            <a:off x="5230368" y="28620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5" name="Google Shape;425;p19"/>
          <p:cNvSpPr txBox="1"/>
          <p:nvPr/>
        </p:nvSpPr>
        <p:spPr>
          <a:xfrm>
            <a:off x="5596128" y="26974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Already addressed?</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Use the existing offer, or upgrade it when appropriate</a:t>
            </a:r>
            <a:endParaRPr b="0" i="0" spc="0" sz="1050" u="none" cap="none" strike="noStrike">
              <a:solidFill>
                <a:schemeClr val="dk1"/>
              </a:solidFill>
              <a:latin typeface="Calibri"/>
              <a:ea typeface="Calibri"/>
              <a:cs typeface="Calibri"/>
              <a:sym typeface="Calibri"/>
            </a:endParaRPr>
          </a:p>
        </p:txBody>
      </p:sp>
      <p:sp>
        <p:nvSpPr>
          <p:cNvPr id="426" name="Google Shape;426;p1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27" name="Google Shape;427;p19"/>
          <p:cNvPicPr preferRelativeResize="0"/>
          <p:nvPr/>
        </p:nvPicPr>
        <p:blipFill rotWithShape="1">
          <a:blip r:embed="rId3">
            <a:alphaModFix/>
          </a:blip>
          <a:srcRect b="0" l="0" r="0" t="0"/>
          <a:stretch/>
        </p:blipFill>
        <p:spPr>
          <a:xfrm>
            <a:off x="566928" y="3721608"/>
            <a:ext cx="164592" cy="164592"/>
          </a:xfrm>
          <a:prstGeom prst="rect">
            <a:avLst/>
          </a:prstGeom>
          <a:noFill/>
          <a:ln>
            <a:noFill/>
          </a:ln>
        </p:spPr>
      </p:pic>
      <p:sp>
        <p:nvSpPr>
          <p:cNvPr id="428" name="Google Shape;428;p1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Not the count:  </a:t>
            </a:r>
            <a:r>
              <a:rPr b="0" i="0" lang="en-US" spc="0" sz="1000" u="none" cap="none" strike="noStrike">
                <a:solidFill>
                  <a:srgbClr val="1D1D1F"/>
                </a:solidFill>
                <a:latin typeface="Arial"/>
                <a:ea typeface="Arial"/>
                <a:cs typeface="Arial"/>
                <a:sym typeface="Arial"/>
              </a:rPr>
              <a:t>what matters is whether their current concern is already addressed.</a:t>
            </a:r>
            <a:endParaRPr b="0" i="0" spc="0" sz="1000" u="none" cap="none" strike="noStrike">
              <a:solidFill>
                <a:schemeClr val="dk1"/>
              </a:solidFill>
              <a:latin typeface="Calibri"/>
              <a:ea typeface="Calibri"/>
              <a:cs typeface="Calibri"/>
              <a:sym typeface="Calibri"/>
            </a:endParaRPr>
          </a:p>
        </p:txBody>
      </p:sp>
      <p:sp>
        <p:nvSpPr>
          <p:cNvPr id="429" name="Google Shape;429;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36" name="Google Shape;436;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Vouchers &amp; credits</a:t>
            </a:r>
            <a:endParaRPr b="0" i="0" spc="0" sz="2400" u="none" cap="none" strike="noStrike">
              <a:solidFill>
                <a:schemeClr val="dk1"/>
              </a:solidFill>
              <a:latin typeface="Calibri"/>
              <a:ea typeface="Calibri"/>
              <a:cs typeface="Calibri"/>
              <a:sym typeface="Calibri"/>
            </a:endParaRPr>
          </a:p>
        </p:txBody>
      </p:sp>
      <p:sp>
        <p:nvSpPr>
          <p:cNvPr id="437" name="Google Shape;437;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it makes sense to offer.</a:t>
            </a:r>
            <a:endParaRPr b="0" i="0" spc="0" sz="1200" u="none" cap="none" strike="noStrike">
              <a:solidFill>
                <a:schemeClr val="dk1"/>
              </a:solidFill>
              <a:latin typeface="Calibri"/>
              <a:ea typeface="Calibri"/>
              <a:cs typeface="Calibri"/>
              <a:sym typeface="Calibri"/>
            </a:endParaRPr>
          </a:p>
        </p:txBody>
      </p:sp>
      <p:sp>
        <p:nvSpPr>
          <p:cNvPr id="438" name="Google Shape;438;p20"/>
          <p:cNvSpPr/>
          <p:nvPr/>
        </p:nvSpPr>
        <p:spPr>
          <a:xfrm>
            <a:off x="4114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2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0" name="Google Shape;440;p2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441" name="Google Shape;441;p20"/>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Gets customer to rebook </a:t>
            </a:r>
            <a:endParaRPr b="0" i="0" spc="0" sz="1200" u="none" cap="none" strike="noStrike">
              <a:solidFill>
                <a:schemeClr val="dk1"/>
              </a:solidFill>
              <a:latin typeface="Calibri"/>
              <a:ea typeface="Calibri"/>
              <a:cs typeface="Calibri"/>
              <a:sym typeface="Calibri"/>
            </a:endParaRPr>
          </a:p>
        </p:txBody>
      </p:sp>
      <p:sp>
        <p:nvSpPr>
          <p:cNvPr id="442" name="Google Shape;442;p20"/>
          <p:cNvSpPr txBox="1"/>
          <p:nvPr/>
        </p:nvSpPr>
        <p:spPr>
          <a:xfrm>
            <a:off x="576072" y="2104767"/>
            <a:ext cx="3762900" cy="292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Encourages customer to book again.</a:t>
            </a:r>
            <a:endParaRPr b="0" i="0" spc="0" sz="9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When it doesn’t make sense to offer → if customer is already satisfied with how issue was resolved</a:t>
            </a:r>
            <a:endParaRPr b="0" i="0" spc="0" sz="900" u="none" cap="none" strike="noStrike">
              <a:solidFill>
                <a:srgbClr val="666666"/>
              </a:solidFill>
              <a:latin typeface="Arial"/>
              <a:ea typeface="Arial"/>
              <a:cs typeface="Arial"/>
              <a:sym typeface="Arial"/>
            </a:endParaRPr>
          </a:p>
        </p:txBody>
      </p:sp>
      <p:sp>
        <p:nvSpPr>
          <p:cNvPr id="443" name="Google Shape;443;p20"/>
          <p:cNvSpPr/>
          <p:nvPr/>
        </p:nvSpPr>
        <p:spPr>
          <a:xfrm>
            <a:off x="46405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20"/>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5" name="Google Shape;445;p20"/>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446" name="Google Shape;446;p20"/>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Repairs trust</a:t>
            </a:r>
            <a:endParaRPr b="0" i="0" spc="0" sz="1200" u="none" cap="none" strike="noStrike">
              <a:solidFill>
                <a:schemeClr val="dk1"/>
              </a:solidFill>
              <a:latin typeface="Calibri"/>
              <a:ea typeface="Calibri"/>
              <a:cs typeface="Calibri"/>
              <a:sym typeface="Calibri"/>
            </a:endParaRPr>
          </a:p>
        </p:txBody>
      </p:sp>
      <p:sp>
        <p:nvSpPr>
          <p:cNvPr id="447" name="Google Shape;447;p20"/>
          <p:cNvSpPr txBox="1"/>
          <p:nvPr/>
        </p:nvSpPr>
        <p:spPr>
          <a:xfrm>
            <a:off x="4805175" y="2240275"/>
            <a:ext cx="3762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up for an issue still sitting with them. Ready to book ≠ resolved.</a:t>
            </a:r>
            <a:endParaRPr b="0" i="0" spc="0" sz="950" u="none" cap="none" strike="noStrike">
              <a:solidFill>
                <a:schemeClr val="dk1"/>
              </a:solidFill>
              <a:latin typeface="Calibri"/>
              <a:ea typeface="Calibri"/>
              <a:cs typeface="Calibri"/>
              <a:sym typeface="Calibri"/>
            </a:endParaRPr>
          </a:p>
        </p:txBody>
      </p:sp>
      <p:sp>
        <p:nvSpPr>
          <p:cNvPr id="448" name="Google Shape;448;p20"/>
          <p:cNvSpPr txBox="1"/>
          <p:nvPr/>
        </p:nvSpPr>
        <p:spPr>
          <a:xfrm>
            <a:off x="411480" y="276148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CHECK FOR AN UNUSED ONE FIRST</a:t>
            </a:r>
            <a:endParaRPr b="0" i="0" spc="0" sz="800" u="none" cap="none" strike="noStrike">
              <a:solidFill>
                <a:schemeClr val="dk1"/>
              </a:solidFill>
              <a:latin typeface="Calibri"/>
              <a:ea typeface="Calibri"/>
              <a:cs typeface="Calibri"/>
              <a:sym typeface="Calibri"/>
            </a:endParaRPr>
          </a:p>
        </p:txBody>
      </p:sp>
      <p:sp>
        <p:nvSpPr>
          <p:cNvPr id="449" name="Google Shape;449;p20"/>
          <p:cNvSpPr/>
          <p:nvPr/>
        </p:nvSpPr>
        <p:spPr>
          <a:xfrm>
            <a:off x="4114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20"/>
          <p:cNvSpPr txBox="1"/>
          <p:nvPr/>
        </p:nvSpPr>
        <p:spPr>
          <a:xfrm>
            <a:off x="5486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Less than appropriate</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Top it up</a:t>
            </a:r>
            <a:endParaRPr b="0" i="0" spc="0" sz="900" u="none" cap="none" strike="noStrike">
              <a:solidFill>
                <a:schemeClr val="dk1"/>
              </a:solidFill>
              <a:latin typeface="Calibri"/>
              <a:ea typeface="Calibri"/>
              <a:cs typeface="Calibri"/>
              <a:sym typeface="Calibri"/>
            </a:endParaRPr>
          </a:p>
        </p:txBody>
      </p:sp>
      <p:sp>
        <p:nvSpPr>
          <p:cNvPr id="451" name="Google Shape;451;p20"/>
          <p:cNvSpPr/>
          <p:nvPr/>
        </p:nvSpPr>
        <p:spPr>
          <a:xfrm>
            <a:off x="32308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2" name="Google Shape;452;p20"/>
          <p:cNvSpPr txBox="1"/>
          <p:nvPr/>
        </p:nvSpPr>
        <p:spPr>
          <a:xfrm>
            <a:off x="33680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Meets or exceeds</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Use that one instead of issuing more</a:t>
            </a:r>
            <a:endParaRPr b="0" i="0" spc="0" sz="900" u="none" cap="none" strike="noStrike">
              <a:solidFill>
                <a:schemeClr val="dk1"/>
              </a:solidFill>
              <a:latin typeface="Calibri"/>
              <a:ea typeface="Calibri"/>
              <a:cs typeface="Calibri"/>
              <a:sym typeface="Calibri"/>
            </a:endParaRPr>
          </a:p>
        </p:txBody>
      </p:sp>
      <p:sp>
        <p:nvSpPr>
          <p:cNvPr id="453" name="Google Shape;453;p20"/>
          <p:cNvSpPr/>
          <p:nvPr/>
        </p:nvSpPr>
        <p:spPr>
          <a:xfrm>
            <a:off x="60502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0"/>
          <p:cNvSpPr txBox="1"/>
          <p:nvPr/>
        </p:nvSpPr>
        <p:spPr>
          <a:xfrm>
            <a:off x="61874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Already used</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Issue new, if it qualifies</a:t>
            </a:r>
            <a:endParaRPr b="0" i="0" spc="0" sz="900" u="none" cap="none" strike="noStrike">
              <a:solidFill>
                <a:schemeClr val="dk1"/>
              </a:solidFill>
              <a:latin typeface="Calibri"/>
              <a:ea typeface="Calibri"/>
              <a:cs typeface="Calibri"/>
              <a:sym typeface="Calibri"/>
            </a:endParaRPr>
          </a:p>
        </p:txBody>
      </p:sp>
      <p:sp>
        <p:nvSpPr>
          <p:cNvPr id="455" name="Google Shape;455;p20"/>
          <p:cNvSpPr/>
          <p:nvPr/>
        </p:nvSpPr>
        <p:spPr>
          <a:xfrm>
            <a:off x="411480" y="3730752"/>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6" name="Google Shape;456;p20"/>
          <p:cNvPicPr preferRelativeResize="0"/>
          <p:nvPr/>
        </p:nvPicPr>
        <p:blipFill rotWithShape="1">
          <a:blip r:embed="rId5">
            <a:alphaModFix/>
          </a:blip>
          <a:srcRect b="0" l="0" r="0" t="0"/>
          <a:stretch/>
        </p:blipFill>
        <p:spPr>
          <a:xfrm>
            <a:off x="566928" y="3840480"/>
            <a:ext cx="164592" cy="164592"/>
          </a:xfrm>
          <a:prstGeom prst="rect">
            <a:avLst/>
          </a:prstGeom>
          <a:noFill/>
          <a:ln>
            <a:noFill/>
          </a:ln>
        </p:spPr>
      </p:pic>
      <p:sp>
        <p:nvSpPr>
          <p:cNvPr id="457" name="Google Shape;457;p20"/>
          <p:cNvSpPr txBox="1"/>
          <p:nvPr/>
        </p:nvSpPr>
        <p:spPr>
          <a:xfrm>
            <a:off x="822960" y="3730752"/>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Possible abuse?  </a:t>
            </a:r>
            <a:r>
              <a:rPr b="0" i="0" lang="en-US" spc="0" sz="1000" u="none" cap="none" strike="noStrike">
                <a:solidFill>
                  <a:srgbClr val="1D1D1F"/>
                </a:solidFill>
                <a:latin typeface="Arial"/>
                <a:ea typeface="Arial"/>
                <a:cs typeface="Arial"/>
                <a:sym typeface="Arial"/>
              </a:rPr>
              <a:t>don't issue another right away. Confirm the current complaint qualifies first.</a:t>
            </a:r>
            <a:endParaRPr b="0" i="0" spc="0" sz="1000" u="none" cap="none" strike="noStrike">
              <a:solidFill>
                <a:schemeClr val="dk1"/>
              </a:solidFill>
              <a:latin typeface="Calibri"/>
              <a:ea typeface="Calibri"/>
              <a:cs typeface="Calibri"/>
              <a:sym typeface="Calibri"/>
            </a:endParaRPr>
          </a:p>
        </p:txBody>
      </p:sp>
      <p:sp>
        <p:nvSpPr>
          <p:cNvPr id="458" name="Google Shape;458;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459" name="Google Shape;459;p20"/>
          <p:cNvSpPr/>
          <p:nvPr/>
        </p:nvSpPr>
        <p:spPr>
          <a:xfrm>
            <a:off x="41148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credits</a:t>
            </a:r>
            <a:endParaRPr b="0" i="0" spc="0" sz="1400" u="none" cap="none" strike="noStrike">
              <a:solidFill>
                <a:srgbClr val="000000"/>
              </a:solidFill>
              <a:latin typeface="Arial"/>
              <a:ea typeface="Arial"/>
              <a:cs typeface="Arial"/>
              <a:sym typeface="Arial"/>
            </a:endParaRPr>
          </a:p>
        </p:txBody>
      </p:sp>
      <p:sp>
        <p:nvSpPr>
          <p:cNvPr id="460" name="Google Shape;460;p20"/>
          <p:cNvSpPr/>
          <p:nvPr/>
        </p:nvSpPr>
        <p:spPr>
          <a:xfrm>
            <a:off x="320040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a voucher</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67" name="Google Shape;467;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reduction</a:t>
            </a:r>
            <a:endParaRPr b="0" i="0" spc="0" sz="2400" u="none" cap="none" strike="noStrike">
              <a:solidFill>
                <a:schemeClr val="dk1"/>
              </a:solidFill>
              <a:latin typeface="Calibri"/>
              <a:ea typeface="Calibri"/>
              <a:cs typeface="Calibri"/>
              <a:sym typeface="Calibri"/>
            </a:endParaRPr>
          </a:p>
        </p:txBody>
      </p:sp>
      <p:sp>
        <p:nvSpPr>
          <p:cNvPr id="468" name="Google Shape;468;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for when the membership fee itself feels too costly.</a:t>
            </a:r>
            <a:endParaRPr b="0" i="0" spc="0" sz="1200" u="none" cap="none" strike="noStrike">
              <a:solidFill>
                <a:schemeClr val="dk1"/>
              </a:solidFill>
              <a:latin typeface="Calibri"/>
              <a:ea typeface="Calibri"/>
              <a:cs typeface="Calibri"/>
              <a:sym typeface="Calibri"/>
            </a:endParaRPr>
          </a:p>
        </p:txBody>
      </p:sp>
      <p:sp>
        <p:nvSpPr>
          <p:cNvPr id="469" name="Google Shape;469;p21"/>
          <p:cNvSpPr/>
          <p:nvPr/>
        </p:nvSpPr>
        <p:spPr>
          <a:xfrm>
            <a:off x="41148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0" name="Google Shape;470;p2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cost</a:t>
            </a:r>
            <a:endParaRPr b="0" i="0" spc="0" sz="1050" u="none" cap="none" strike="noStrike">
              <a:solidFill>
                <a:schemeClr val="dk1"/>
              </a:solidFill>
              <a:latin typeface="Calibri"/>
              <a:ea typeface="Calibri"/>
              <a:cs typeface="Calibri"/>
              <a:sym typeface="Calibri"/>
            </a:endParaRPr>
          </a:p>
        </p:txBody>
      </p:sp>
      <p:sp>
        <p:nvSpPr>
          <p:cNvPr id="471" name="Google Shape;471;p21"/>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"It isn't worth it" / "I can't afford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MF reduction is your default </a:t>
            </a:r>
            <a:endParaRPr b="1"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t>
            </a:r>
            <a:r>
              <a:rPr b="1" i="0" lang="en-US" spc="0" sz="1050" u="none" cap="none" strike="noStrike">
                <a:solidFill>
                  <a:schemeClr val="hlink"/>
                </a:solidFill>
                <a:uFill>
                  <a:noFill/>
                </a:uFill>
                <a:latin typeface="Play"/>
                <a:ea typeface="Play"/>
                <a:cs typeface="Play"/>
                <a:sym typeface="Play"/>
                <a:hlinkClick r:id="rId3"/>
              </a:rPr>
              <a:t>▶  Watch: Updating the MF</a:t>
            </a:r>
            <a:endParaRPr b="1" i="0" spc="0" sz="950" u="none" cap="none" strike="noStrike">
              <a:solidFill>
                <a:srgbClr val="0B7A6F"/>
              </a:solidFill>
              <a:latin typeface="Arial"/>
              <a:ea typeface="Arial"/>
              <a:cs typeface="Arial"/>
              <a:sym typeface="Arial"/>
            </a:endParaRPr>
          </a:p>
        </p:txBody>
      </p:sp>
      <p:sp>
        <p:nvSpPr>
          <p:cNvPr id="472" name="Google Shape;472;p21"/>
          <p:cNvSpPr/>
          <p:nvPr/>
        </p:nvSpPr>
        <p:spPr>
          <a:xfrm>
            <a:off x="466344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Cleaner's rate too high</a:t>
            </a:r>
            <a:endParaRPr b="0" i="0" spc="0" sz="1050" u="none" cap="none" strike="noStrike">
              <a:solidFill>
                <a:schemeClr val="dk1"/>
              </a:solidFill>
              <a:latin typeface="Calibri"/>
              <a:ea typeface="Calibri"/>
              <a:cs typeface="Calibri"/>
              <a:sym typeface="Calibri"/>
            </a:endParaRPr>
          </a:p>
        </p:txBody>
      </p:sp>
      <p:sp>
        <p:nvSpPr>
          <p:cNvPr id="474" name="Google Shape;474;p21"/>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per-cleaning cost problem</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See Setting Max CP Rate </a:t>
            </a:r>
            <a:r>
              <a:rPr b="1" i="0" lang="en-US" spc="0" sz="950" u="none" cap="none" strike="noStrike">
                <a:solidFill>
                  <a:schemeClr val="hlink"/>
                </a:solidFill>
                <a:uFill>
                  <a:noFill/>
                </a:uFill>
                <a:latin typeface="Arial"/>
                <a:ea typeface="Arial"/>
                <a:cs typeface="Arial"/>
                <a:sym typeface="Arial"/>
                <a:hlinkClick r:id="rId4"/>
              </a:rPr>
              <a:t>▶</a:t>
            </a:r>
            <a:r>
              <a:rPr b="1" i="0" lang="en-US" spc="0" sz="950" u="none" cap="none" strike="noStrike">
                <a:solidFill>
                  <a:srgbClr val="0B7A6F"/>
                </a:solidFill>
                <a:latin typeface="Arial"/>
                <a:ea typeface="Arial"/>
                <a:cs typeface="Arial"/>
                <a:sym typeface="Arial"/>
              </a:rPr>
              <a:t> </a:t>
            </a:r>
            <a:endParaRPr b="0" i="0" spc="0" sz="950" u="none" cap="none" strike="noStrike">
              <a:solidFill>
                <a:srgbClr val="0B7A6F"/>
              </a:solidFill>
              <a:latin typeface="Calibri"/>
              <a:ea typeface="Calibri"/>
              <a:cs typeface="Calibri"/>
              <a:sym typeface="Calibri"/>
            </a:endParaRPr>
          </a:p>
        </p:txBody>
      </p:sp>
      <p:sp>
        <p:nvSpPr>
          <p:cNvPr id="475" name="Google Shape;475;p21"/>
          <p:cNvSpPr/>
          <p:nvPr/>
        </p:nvSpPr>
        <p:spPr>
          <a:xfrm>
            <a:off x="41148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6" name="Google Shape;476;p21"/>
          <p:cNvSpPr txBox="1"/>
          <p:nvPr/>
        </p:nvSpPr>
        <p:spPr>
          <a:xfrm>
            <a:off x="41148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$10–$15</a:t>
            </a:r>
            <a:endParaRPr b="0" i="0" spc="0" sz="3000" u="none" cap="none" strike="noStrike">
              <a:solidFill>
                <a:schemeClr val="dk1"/>
              </a:solidFill>
              <a:latin typeface="Calibri"/>
              <a:ea typeface="Calibri"/>
              <a:cs typeface="Calibri"/>
              <a:sym typeface="Calibri"/>
            </a:endParaRPr>
          </a:p>
        </p:txBody>
      </p:sp>
      <p:sp>
        <p:nvSpPr>
          <p:cNvPr id="477" name="Google Shape;477;p21"/>
          <p:cNvSpPr txBox="1"/>
          <p:nvPr/>
        </p:nvSpPr>
        <p:spPr>
          <a:xfrm>
            <a:off x="59436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common, 1 to 5 months paid</a:t>
            </a:r>
            <a:endParaRPr b="0" i="0" spc="0" sz="1000" u="none" cap="none" strike="noStrike">
              <a:solidFill>
                <a:schemeClr val="dk1"/>
              </a:solidFill>
              <a:latin typeface="Calibri"/>
              <a:ea typeface="Calibri"/>
              <a:cs typeface="Calibri"/>
              <a:sym typeface="Calibri"/>
            </a:endParaRPr>
          </a:p>
        </p:txBody>
      </p:sp>
      <p:sp>
        <p:nvSpPr>
          <p:cNvPr id="478" name="Google Shape;478;p21"/>
          <p:cNvSpPr/>
          <p:nvPr/>
        </p:nvSpPr>
        <p:spPr>
          <a:xfrm>
            <a:off x="320040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9" name="Google Shape;479;p21"/>
          <p:cNvSpPr txBox="1"/>
          <p:nvPr/>
        </p:nvSpPr>
        <p:spPr>
          <a:xfrm>
            <a:off x="320040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Up to 50%</a:t>
            </a:r>
            <a:endParaRPr b="0" i="0" spc="0" sz="3000" u="none" cap="none" strike="noStrike">
              <a:solidFill>
                <a:schemeClr val="dk1"/>
              </a:solidFill>
              <a:latin typeface="Calibri"/>
              <a:ea typeface="Calibri"/>
              <a:cs typeface="Calibri"/>
              <a:sym typeface="Calibri"/>
            </a:endParaRPr>
          </a:p>
        </p:txBody>
      </p:sp>
      <p:sp>
        <p:nvSpPr>
          <p:cNvPr id="480" name="Google Shape;480;p21"/>
          <p:cNvSpPr txBox="1"/>
          <p:nvPr/>
        </p:nvSpPr>
        <p:spPr>
          <a:xfrm>
            <a:off x="338328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rare cases, usually with Support approval</a:t>
            </a:r>
            <a:endParaRPr b="0" i="0" spc="0" sz="1000" u="none" cap="none" strike="noStrike">
              <a:solidFill>
                <a:schemeClr val="dk1"/>
              </a:solidFill>
              <a:latin typeface="Calibri"/>
              <a:ea typeface="Calibri"/>
              <a:cs typeface="Calibri"/>
              <a:sym typeface="Calibri"/>
            </a:endParaRPr>
          </a:p>
        </p:txBody>
      </p:sp>
      <p:sp>
        <p:nvSpPr>
          <p:cNvPr id="481" name="Google Shape;481;p21"/>
          <p:cNvSpPr/>
          <p:nvPr/>
        </p:nvSpPr>
        <p:spPr>
          <a:xfrm>
            <a:off x="5989320" y="2697480"/>
            <a:ext cx="274320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2" name="Google Shape;482;p21"/>
          <p:cNvSpPr txBox="1"/>
          <p:nvPr/>
        </p:nvSpPr>
        <p:spPr>
          <a:xfrm>
            <a:off x="6126480" y="2697480"/>
            <a:ext cx="2514600" cy="1188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Always from $59</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On $49, now qualifies for $15:</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Arial"/>
              <a:buNone/>
            </a:pPr>
            <a:r>
              <a:rPr b="1" i="0" lang="en-US" spc="0" sz="1100" u="none" cap="none" strike="noStrike">
                <a:solidFill>
                  <a:srgbClr val="1D1D1F"/>
                </a:solidFill>
                <a:latin typeface="Arial"/>
                <a:ea typeface="Arial"/>
                <a:cs typeface="Arial"/>
                <a:sym typeface="Arial"/>
              </a:rPr>
              <a:t>$59 − $15 = $44</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B3261E"/>
              </a:buClr>
              <a:buSzPts val="900"/>
              <a:buFont typeface="Arial"/>
              <a:buNone/>
            </a:pPr>
            <a:r>
              <a:rPr b="0" i="0" lang="en-US" spc="0" sz="900" u="none" cap="none" strike="noStrike">
                <a:solidFill>
                  <a:srgbClr val="B3261E"/>
                </a:solidFill>
                <a:latin typeface="Arial"/>
                <a:ea typeface="Arial"/>
                <a:cs typeface="Arial"/>
                <a:sym typeface="Arial"/>
              </a:rPr>
              <a:t>not $34</a:t>
            </a:r>
            <a:endParaRPr b="0" i="0" spc="0" sz="1200" u="none" cap="none" strike="noStrike">
              <a:solidFill>
                <a:schemeClr val="dk1"/>
              </a:solidFill>
              <a:latin typeface="Calibri"/>
              <a:ea typeface="Calibri"/>
              <a:cs typeface="Calibri"/>
              <a:sym typeface="Calibri"/>
            </a:endParaRPr>
          </a:p>
        </p:txBody>
      </p:sp>
      <p:sp>
        <p:nvSpPr>
          <p:cNvPr id="483" name="Google Shape;483;p21"/>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4" name="Google Shape;484;p21"/>
          <p:cNvPicPr preferRelativeResize="0"/>
          <p:nvPr/>
        </p:nvPicPr>
        <p:blipFill rotWithShape="1">
          <a:blip r:embed="rId5">
            <a:alphaModFix/>
          </a:blip>
          <a:srcRect b="0" l="0" r="0" t="0"/>
          <a:stretch/>
        </p:blipFill>
        <p:spPr>
          <a:xfrm>
            <a:off x="566928" y="4133088"/>
            <a:ext cx="164592" cy="164592"/>
          </a:xfrm>
          <a:prstGeom prst="rect">
            <a:avLst/>
          </a:prstGeom>
          <a:noFill/>
          <a:ln>
            <a:noFill/>
          </a:ln>
        </p:spPr>
      </p:pic>
      <p:sp>
        <p:nvSpPr>
          <p:cNvPr id="485" name="Google Shape;485;p21"/>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shorten the cleaning:  </a:t>
            </a:r>
            <a:r>
              <a:rPr b="0" i="0" lang="en-US" spc="0" sz="1000" u="none" cap="none" strike="noStrike">
                <a:solidFill>
                  <a:srgbClr val="1D1D1F"/>
                </a:solidFill>
                <a:latin typeface="Arial"/>
                <a:ea typeface="Arial"/>
                <a:cs typeface="Arial"/>
                <a:sym typeface="Arial"/>
              </a:rPr>
              <a:t>it trades a cost complaint for a quality complaint.</a:t>
            </a:r>
            <a:endParaRPr b="0" i="0" spc="0" sz="1000" u="none" cap="none" strike="noStrike">
              <a:solidFill>
                <a:schemeClr val="dk1"/>
              </a:solidFill>
              <a:latin typeface="Calibri"/>
              <a:ea typeface="Calibri"/>
              <a:cs typeface="Calibri"/>
              <a:sym typeface="Calibri"/>
            </a:endParaRPr>
          </a:p>
        </p:txBody>
      </p:sp>
      <p:sp>
        <p:nvSpPr>
          <p:cNvPr id="486" name="Google Shape;486;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93" name="Google Shape;493;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MCT reduction</a:t>
            </a:r>
            <a:endParaRPr b="0" i="0" spc="0" sz="2400" u="none" cap="none" strike="noStrike">
              <a:solidFill>
                <a:schemeClr val="dk1"/>
              </a:solidFill>
              <a:latin typeface="Calibri"/>
              <a:ea typeface="Calibri"/>
              <a:cs typeface="Calibri"/>
              <a:sym typeface="Calibri"/>
            </a:endParaRPr>
          </a:p>
        </p:txBody>
      </p:sp>
      <p:sp>
        <p:nvSpPr>
          <p:cNvPr id="494" name="Google Shape;494;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Two jobs. Cap: 2 months off the original 6-month MCT.</a:t>
            </a:r>
            <a:endParaRPr b="0" i="0" spc="0" sz="1200" u="none" cap="none" strike="noStrike">
              <a:solidFill>
                <a:schemeClr val="dk1"/>
              </a:solidFill>
              <a:latin typeface="Calibri"/>
              <a:ea typeface="Calibri"/>
              <a:cs typeface="Calibri"/>
              <a:sym typeface="Calibri"/>
            </a:endParaRPr>
          </a:p>
        </p:txBody>
      </p:sp>
      <p:sp>
        <p:nvSpPr>
          <p:cNvPr id="495" name="Google Shape;495;p22"/>
          <p:cNvSpPr/>
          <p:nvPr/>
        </p:nvSpPr>
        <p:spPr>
          <a:xfrm>
            <a:off x="411480" y="1325880"/>
            <a:ext cx="4069080" cy="1280160"/>
          </a:xfrm>
          <a:prstGeom prst="roundRect">
            <a:avLst>
              <a:gd fmla="val 571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6" name="Google Shape;496;p2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Retention</a:t>
            </a:r>
            <a:endParaRPr b="0" i="0" spc="0" sz="1050" u="none" cap="none" strike="noStrike">
              <a:solidFill>
                <a:schemeClr val="dk1"/>
              </a:solidFill>
              <a:latin typeface="Calibri"/>
              <a:ea typeface="Calibri"/>
              <a:cs typeface="Calibri"/>
              <a:sym typeface="Calibri"/>
            </a:endParaRPr>
          </a:p>
        </p:txBody>
      </p:sp>
      <p:sp>
        <p:nvSpPr>
          <p:cNvPr id="497" name="Google Shape;497;p22"/>
          <p:cNvSpPr txBox="1"/>
          <p:nvPr/>
        </p:nvSpPr>
        <p:spPr>
          <a:xfrm>
            <a:off x="57607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"Six months is too long"</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Vague concern: start with 1 month</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Concrete reason: go straight to 2</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MCT</a:t>
            </a:r>
            <a:endParaRPr b="0" i="0" spc="0" sz="950" u="none" cap="none" strike="noStrike">
              <a:solidFill>
                <a:srgbClr val="1D1D1F"/>
              </a:solidFill>
              <a:latin typeface="Arial"/>
              <a:ea typeface="Arial"/>
              <a:cs typeface="Arial"/>
              <a:sym typeface="Arial"/>
            </a:endParaRPr>
          </a:p>
        </p:txBody>
      </p:sp>
      <p:sp>
        <p:nvSpPr>
          <p:cNvPr id="498" name="Google Shape;498;p22"/>
          <p:cNvSpPr/>
          <p:nvPr/>
        </p:nvSpPr>
        <p:spPr>
          <a:xfrm>
            <a:off x="4663440" y="1325880"/>
            <a:ext cx="4069080" cy="1280160"/>
          </a:xfrm>
          <a:prstGeom prst="roundRect">
            <a:avLst>
              <a:gd fmla="val 571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2"/>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2: Exit</a:t>
            </a:r>
            <a:endParaRPr b="0" i="0" spc="0" sz="1050" u="none" cap="none" strike="noStrike">
              <a:solidFill>
                <a:schemeClr val="dk1"/>
              </a:solidFill>
              <a:latin typeface="Calibri"/>
              <a:ea typeface="Calibri"/>
              <a:cs typeface="Calibri"/>
              <a:sym typeface="Calibri"/>
            </a:endParaRPr>
          </a:p>
        </p:txBody>
      </p:sp>
      <p:sp>
        <p:nvSpPr>
          <p:cNvPr id="500" name="Google Shape;500;p22"/>
          <p:cNvSpPr txBox="1"/>
          <p:nvPr/>
        </p:nvSpPr>
        <p:spPr>
          <a:xfrm>
            <a:off x="482803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Customer isn't retainable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2 months if incredibly escalated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it's the most amicable close</a:t>
            </a:r>
            <a:endParaRPr b="0" i="0" spc="0" sz="950" u="none" cap="none" strike="noStrike">
              <a:solidFill>
                <a:schemeClr val="dk1"/>
              </a:solidFill>
              <a:latin typeface="Calibri"/>
              <a:ea typeface="Calibri"/>
              <a:cs typeface="Calibri"/>
              <a:sym typeface="Calibri"/>
            </a:endParaRPr>
          </a:p>
        </p:txBody>
      </p:sp>
      <p:graphicFrame>
        <p:nvGraphicFramePr>
          <p:cNvPr id="501" name="Google Shape;501;p22"/>
          <p:cNvGraphicFramePr/>
          <p:nvPr/>
        </p:nvGraphicFramePr>
        <p:xfrm>
          <a:off x="411480" y="2743200"/>
          <a:ext cx="3000000" cy="3000000"/>
        </p:xfrm>
        <a:graphic>
          <a:graphicData uri="http://schemas.openxmlformats.org/drawingml/2006/table">
            <a:tbl>
              <a:tblPr>
                <a:noFill/>
                <a:tableStyleId>{B081CFC9-8F92-4C66-A42C-550710BF50CA}</a:tableStyleId>
              </a:tblPr>
              <a:tblGrid>
                <a:gridCol w="2011675"/>
                <a:gridCol w="6309350"/>
              </a:tblGrid>
              <a:tr h="2926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Months paid</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MCT reduction</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1–3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1–2 months off the original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4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(ETF still applies). 2 only if incredibly escalated</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5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effectively waives the ETF</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02" name="Google Shape;502;p22"/>
          <p:cNvSpPr/>
          <p:nvPr/>
        </p:nvSpPr>
        <p:spPr>
          <a:xfrm>
            <a:off x="411480" y="4160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3" name="Google Shape;503;p22"/>
          <p:cNvPicPr preferRelativeResize="0"/>
          <p:nvPr/>
        </p:nvPicPr>
        <p:blipFill rotWithShape="1">
          <a:blip r:embed="rId3">
            <a:alphaModFix/>
          </a:blip>
          <a:srcRect b="0" l="0" r="0" t="0"/>
          <a:stretch/>
        </p:blipFill>
        <p:spPr>
          <a:xfrm>
            <a:off x="566928" y="4270248"/>
            <a:ext cx="164592" cy="164592"/>
          </a:xfrm>
          <a:prstGeom prst="rect">
            <a:avLst/>
          </a:prstGeom>
          <a:noFill/>
          <a:ln>
            <a:noFill/>
          </a:ln>
        </p:spPr>
      </p:pic>
      <p:sp>
        <p:nvSpPr>
          <p:cNvPr id="504" name="Google Shape;504;p22"/>
          <p:cNvSpPr txBox="1"/>
          <p:nvPr/>
        </p:nvSpPr>
        <p:spPr>
          <a:xfrm>
            <a:off x="822960" y="4261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Decide upfront:  </a:t>
            </a:r>
            <a:r>
              <a:rPr b="0" i="0" lang="en-US" spc="0" sz="1000" u="none" cap="none" strike="noStrike">
                <a:solidFill>
                  <a:srgbClr val="1D1D1F"/>
                </a:solidFill>
                <a:latin typeface="Arial"/>
                <a:ea typeface="Arial"/>
                <a:cs typeface="Arial"/>
                <a:sym typeface="Arial"/>
              </a:rPr>
              <a:t>don't offer 1 month and upgrade when they push back.</a:t>
            </a:r>
            <a:endParaRPr b="0" i="0" spc="0" sz="1000" u="none" cap="none" strike="noStrike">
              <a:solidFill>
                <a:schemeClr val="dk1"/>
              </a:solidFill>
              <a:latin typeface="Calibri"/>
              <a:ea typeface="Calibri"/>
              <a:cs typeface="Calibri"/>
              <a:sym typeface="Calibri"/>
            </a:endParaRPr>
          </a:p>
        </p:txBody>
      </p:sp>
      <p:sp>
        <p:nvSpPr>
          <p:cNvPr id="505" name="Google Shape;505;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12" name="Google Shape;512;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months: two jobs</a:t>
            </a:r>
            <a:endParaRPr b="0" i="0" spc="0" sz="2400" u="none" cap="none" strike="noStrike">
              <a:solidFill>
                <a:schemeClr val="dk1"/>
              </a:solidFill>
              <a:latin typeface="Calibri"/>
              <a:ea typeface="Calibri"/>
              <a:cs typeface="Calibri"/>
              <a:sym typeface="Calibri"/>
            </a:endParaRPr>
          </a:p>
        </p:txBody>
      </p:sp>
      <p:sp>
        <p:nvSpPr>
          <p:cNvPr id="513" name="Google Shape;513;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Give back paid time, or moves a badly timed charge.</a:t>
            </a:r>
            <a:endParaRPr b="0" i="0" spc="0" sz="1200" u="none" cap="none" strike="noStrike">
              <a:solidFill>
                <a:schemeClr val="dk1"/>
              </a:solidFill>
              <a:latin typeface="Calibri"/>
              <a:ea typeface="Calibri"/>
              <a:cs typeface="Calibri"/>
              <a:sym typeface="Calibri"/>
            </a:endParaRPr>
          </a:p>
        </p:txBody>
      </p:sp>
      <p:sp>
        <p:nvSpPr>
          <p:cNvPr id="514" name="Google Shape;514;p23"/>
          <p:cNvSpPr/>
          <p:nvPr/>
        </p:nvSpPr>
        <p:spPr>
          <a:xfrm>
            <a:off x="411480" y="1325880"/>
            <a:ext cx="365760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5" name="Google Shape;515;p23"/>
          <p:cNvSpPr/>
          <p:nvPr/>
        </p:nvSpPr>
        <p:spPr>
          <a:xfrm>
            <a:off x="411480" y="1325880"/>
            <a:ext cx="36576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Give back paid time</a:t>
            </a:r>
            <a:endParaRPr b="0" i="0" spc="0" sz="1050" u="none" cap="none" strike="noStrike">
              <a:solidFill>
                <a:schemeClr val="dk1"/>
              </a:solidFill>
              <a:latin typeface="Calibri"/>
              <a:ea typeface="Calibri"/>
              <a:cs typeface="Calibri"/>
              <a:sym typeface="Calibri"/>
            </a:endParaRPr>
          </a:p>
        </p:txBody>
      </p:sp>
      <p:sp>
        <p:nvSpPr>
          <p:cNvPr id="516" name="Google Shape;516;p23"/>
          <p:cNvSpPr txBox="1"/>
          <p:nvPr/>
        </p:nvSpPr>
        <p:spPr>
          <a:xfrm>
            <a:off x="576072" y="1764792"/>
            <a:ext cx="332841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MF within the 120-day window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Doesn't need to be recent or in a row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by month, not by customer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Older than 120 days: </a:t>
            </a:r>
            <a:r>
              <a:rPr b="0" i="0" lang="en-US" spc="0" sz="950" u="none" cap="none" strike="noStrike">
                <a:solidFill>
                  <a:srgbClr val="1D1D1F"/>
                </a:solidFill>
                <a:latin typeface="Arial"/>
                <a:ea typeface="Arial"/>
                <a:cs typeface="Arial"/>
                <a:sym typeface="Arial"/>
              </a:rPr>
              <a:t>Support approves first</a:t>
            </a:r>
            <a:endParaRPr b="0" i="0" spc="0" sz="950" u="none" cap="none" strike="noStrike">
              <a:solidFill>
                <a:srgbClr val="1D1D1F"/>
              </a:solidFill>
              <a:latin typeface="Arial"/>
              <a:ea typeface="Arial"/>
              <a:cs typeface="Arial"/>
              <a:sym typeface="Arial"/>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lifetime cap (unless you see a pattern of abuse)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Adding Free Months</a:t>
            </a:r>
            <a:endParaRPr b="0" i="0" spc="0" sz="950" u="none" cap="none" strike="noStrike">
              <a:solidFill>
                <a:srgbClr val="1D1D1F"/>
              </a:solidFill>
              <a:latin typeface="Arial"/>
              <a:ea typeface="Arial"/>
              <a:cs typeface="Arial"/>
              <a:sym typeface="Arial"/>
            </a:endParaRPr>
          </a:p>
        </p:txBody>
      </p:sp>
      <p:graphicFrame>
        <p:nvGraphicFramePr>
          <p:cNvPr id="517" name="Google Shape;517;p23"/>
          <p:cNvGraphicFramePr/>
          <p:nvPr/>
        </p:nvGraphicFramePr>
        <p:xfrm>
          <a:off x="4206240" y="1325880"/>
          <a:ext cx="3000000" cy="3000000"/>
        </p:xfrm>
        <a:graphic>
          <a:graphicData uri="http://schemas.openxmlformats.org/drawingml/2006/table">
            <a:tbl>
              <a:tblPr>
                <a:noFill/>
                <a:tableStyleId>{B081CFC9-8F92-4C66-A42C-550710BF50CA}</a:tableStyleId>
              </a:tblPr>
              <a:tblGrid>
                <a:gridCol w="3246125"/>
                <a:gridCol w="1280150"/>
              </a:tblGrid>
              <a:tr h="310900">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Job 2: moves charge coming at a bad time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Give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Legacy DHJ: cancelling, ≤3 weeks into the MF cycle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FCF: cancelling over a service issue AND MF due within 2 weeks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next MF within in </a:t>
                      </a:r>
                      <a:r>
                        <a:rPr lang="en-US" spc="0" sz="850" u="none" cap="none" strike="noStrike">
                          <a:solidFill>
                            <a:srgbClr val="1D1D1F"/>
                          </a:solidFill>
                        </a:rPr>
                        <a:t>7</a:t>
                      </a:r>
                      <a:r>
                        <a:rPr lang="en-US" spc="0" sz="850" u="none" cap="none" strike="noStrike">
                          <a:solidFill>
                            <a:srgbClr val="1D1D1F"/>
                          </a:solidFill>
                          <a:latin typeface="Arial"/>
                          <a:ea typeface="Arial"/>
                          <a:cs typeface="Arial"/>
                          <a:sym typeface="Arial"/>
                        </a:rPr>
                        <a:t>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time now</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MF already overdue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Not cancelling, 2+ overdue MFs (or within 7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18" name="Google Shape;518;p2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9" name="Google Shape;519;p23"/>
          <p:cNvPicPr preferRelativeResize="0"/>
          <p:nvPr/>
        </p:nvPicPr>
        <p:blipFill rotWithShape="1">
          <a:blip r:embed="rId3">
            <a:alphaModFix/>
          </a:blip>
          <a:srcRect b="0" l="0" r="0" t="0"/>
          <a:stretch/>
        </p:blipFill>
        <p:spPr>
          <a:xfrm>
            <a:off x="566928" y="4087368"/>
            <a:ext cx="164592" cy="164592"/>
          </a:xfrm>
          <a:prstGeom prst="rect">
            <a:avLst/>
          </a:prstGeom>
          <a:noFill/>
          <a:ln>
            <a:noFill/>
          </a:ln>
        </p:spPr>
      </p:pic>
      <p:sp>
        <p:nvSpPr>
          <p:cNvPr id="520" name="Google Shape;520;p2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Job 2:  </a:t>
            </a:r>
            <a:r>
              <a:rPr b="0" i="0" lang="en-US" spc="0" sz="1000" u="none" cap="none" strike="noStrike">
                <a:solidFill>
                  <a:srgbClr val="1D1D1F"/>
                </a:solidFill>
                <a:latin typeface="Arial"/>
                <a:ea typeface="Arial"/>
                <a:cs typeface="Arial"/>
                <a:sym typeface="Arial"/>
              </a:rPr>
              <a:t>give it now. Don't offer and wait, or they may be charged before they reply.</a:t>
            </a:r>
            <a:endParaRPr b="0" i="0" spc="0" sz="1000" u="none" cap="none" strike="noStrike">
              <a:solidFill>
                <a:schemeClr val="dk1"/>
              </a:solidFill>
              <a:latin typeface="Calibri"/>
              <a:ea typeface="Calibri"/>
              <a:cs typeface="Calibri"/>
              <a:sym typeface="Calibri"/>
            </a:endParaRPr>
          </a:p>
        </p:txBody>
      </p:sp>
      <p:sp>
        <p:nvSpPr>
          <p:cNvPr id="521" name="Google Shape;52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28" name="Google Shape;52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 caps &amp; repeat pauses</a:t>
            </a:r>
            <a:endParaRPr b="0" i="0" spc="0" sz="24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Free months only work while FC is active.</a:t>
            </a:r>
            <a:endParaRPr b="0" i="0" spc="0" sz="1200" u="none" cap="none" strike="noStrike">
              <a:solidFill>
                <a:schemeClr val="dk1"/>
              </a:solidFill>
              <a:latin typeface="Calibri"/>
              <a:ea typeface="Calibri"/>
              <a:cs typeface="Calibri"/>
              <a:sym typeface="Calibri"/>
            </a:endParaRPr>
          </a:p>
        </p:txBody>
      </p:sp>
      <p:sp>
        <p:nvSpPr>
          <p:cNvPr id="530" name="Google Shape;530;p24"/>
          <p:cNvSpPr/>
          <p:nvPr/>
        </p:nvSpPr>
        <p:spPr>
          <a:xfrm>
            <a:off x="4114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 months</a:t>
            </a:r>
            <a:endParaRPr b="0" i="0" spc="0" sz="3000" u="none" cap="none" strike="noStrike">
              <a:solidFill>
                <a:schemeClr val="dk1"/>
              </a:solidFill>
              <a:latin typeface="Calibri"/>
              <a:ea typeface="Calibri"/>
              <a:cs typeface="Calibri"/>
              <a:sym typeface="Calibri"/>
            </a:endParaRPr>
          </a:p>
        </p:txBody>
      </p:sp>
      <p:sp>
        <p:nvSpPr>
          <p:cNvPr id="532" name="Google Shape;532;p24"/>
          <p:cNvSpPr txBox="1"/>
          <p:nvPr/>
        </p:nvSpPr>
        <p:spPr>
          <a:xfrm>
            <a:off x="5943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Standard cap</a:t>
            </a:r>
            <a:endParaRPr b="0" i="0" spc="0" sz="1000" u="none" cap="none" strike="noStrike">
              <a:solidFill>
                <a:schemeClr val="dk1"/>
              </a:solidFill>
              <a:latin typeface="Calibri"/>
              <a:ea typeface="Calibri"/>
              <a:cs typeface="Calibri"/>
              <a:sym typeface="Calibri"/>
            </a:endParaRPr>
          </a:p>
        </p:txBody>
      </p:sp>
      <p:sp>
        <p:nvSpPr>
          <p:cNvPr id="533" name="Google Shape;533;p24"/>
          <p:cNvSpPr/>
          <p:nvPr/>
        </p:nvSpPr>
        <p:spPr>
          <a:xfrm>
            <a:off x="32308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4" name="Google Shape;534;p24"/>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6 months</a:t>
            </a:r>
            <a:endParaRPr b="0" i="0" spc="0" sz="3000" u="none" cap="none" strike="noStrike">
              <a:solidFill>
                <a:schemeClr val="dk1"/>
              </a:solidFill>
              <a:latin typeface="Calibri"/>
              <a:ea typeface="Calibri"/>
              <a:cs typeface="Calibri"/>
              <a:sym typeface="Calibri"/>
            </a:endParaRPr>
          </a:p>
        </p:txBody>
      </p:sp>
      <p:sp>
        <p:nvSpPr>
          <p:cNvPr id="535" name="Google Shape;535;p24"/>
          <p:cNvSpPr txBox="1"/>
          <p:nvPr/>
        </p:nvSpPr>
        <p:spPr>
          <a:xfrm>
            <a:off x="34137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Pausing. More needs Support</a:t>
            </a:r>
            <a:endParaRPr b="0" i="0" spc="0" sz="1000" u="none" cap="none" strike="noStrike">
              <a:solidFill>
                <a:schemeClr val="dk1"/>
              </a:solidFill>
              <a:latin typeface="Calibri"/>
              <a:ea typeface="Calibri"/>
              <a:cs typeface="Calibri"/>
              <a:sym typeface="Calibri"/>
            </a:endParaRPr>
          </a:p>
        </p:txBody>
      </p:sp>
      <p:sp>
        <p:nvSpPr>
          <p:cNvPr id="536" name="Google Shape;536;p24"/>
          <p:cNvSpPr/>
          <p:nvPr/>
        </p:nvSpPr>
        <p:spPr>
          <a:xfrm>
            <a:off x="60502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7" name="Google Shape;537;p24"/>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As needed</a:t>
            </a:r>
            <a:endParaRPr b="0" i="0" spc="0" sz="3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62331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Bulk overdue charges</a:t>
            </a:r>
            <a:endParaRPr b="0" i="0" spc="0" sz="1000" u="none" cap="none" strike="noStrike">
              <a:solidFill>
                <a:schemeClr val="dk1"/>
              </a:solidFill>
              <a:latin typeface="Calibri"/>
              <a:ea typeface="Calibri"/>
              <a:cs typeface="Calibri"/>
              <a:sym typeface="Calibri"/>
            </a:endParaRPr>
          </a:p>
        </p:txBody>
      </p:sp>
      <p:sp>
        <p:nvSpPr>
          <p:cNvPr id="539" name="Google Shape;539;p24"/>
          <p:cNvSpPr txBox="1"/>
          <p:nvPr/>
        </p:nvSpPr>
        <p:spPr>
          <a:xfrm>
            <a:off x="411480" y="2633472"/>
            <a:ext cx="6400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ASKS TO PAUSE AGAIN? ALL THREE MUST BE TRUE</a:t>
            </a:r>
            <a:endParaRPr b="0" i="0" spc="0" sz="800" u="none" cap="none" strike="noStrike">
              <a:solidFill>
                <a:schemeClr val="dk1"/>
              </a:solidFill>
              <a:latin typeface="Calibri"/>
              <a:ea typeface="Calibri"/>
              <a:cs typeface="Calibri"/>
              <a:sym typeface="Calibri"/>
            </a:endParaRPr>
          </a:p>
        </p:txBody>
      </p:sp>
      <p:sp>
        <p:nvSpPr>
          <p:cNvPr id="540" name="Google Shape;540;p24"/>
          <p:cNvSpPr/>
          <p:nvPr/>
        </p:nvSpPr>
        <p:spPr>
          <a:xfrm>
            <a:off x="4114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1" name="Google Shape;541;p24"/>
          <p:cNvSpPr/>
          <p:nvPr/>
        </p:nvSpPr>
        <p:spPr>
          <a:xfrm>
            <a:off x="5394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2" name="Google Shape;542;p24"/>
          <p:cNvPicPr preferRelativeResize="0"/>
          <p:nvPr/>
        </p:nvPicPr>
        <p:blipFill rotWithShape="1">
          <a:blip r:embed="rId3">
            <a:alphaModFix/>
          </a:blip>
          <a:srcRect b="0" l="0" r="0" t="0"/>
          <a:stretch/>
        </p:blipFill>
        <p:spPr>
          <a:xfrm>
            <a:off x="618500" y="3096524"/>
            <a:ext cx="171176" cy="171176"/>
          </a:xfrm>
          <a:prstGeom prst="rect">
            <a:avLst/>
          </a:prstGeom>
          <a:noFill/>
          <a:ln>
            <a:noFill/>
          </a:ln>
        </p:spPr>
      </p:pic>
      <p:sp>
        <p:nvSpPr>
          <p:cNvPr id="543" name="Google Shape;543;p24"/>
          <p:cNvSpPr txBox="1"/>
          <p:nvPr/>
        </p:nvSpPr>
        <p:spPr>
          <a:xfrm>
            <a:off x="9601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2+ MFs charged and paid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since the last pause ended</a:t>
            </a:r>
            <a:endParaRPr b="0" i="0" spc="0" sz="1000" u="none" cap="none" strike="noStrike">
              <a:solidFill>
                <a:schemeClr val="dk1"/>
              </a:solidFill>
              <a:latin typeface="Calibri"/>
              <a:ea typeface="Calibri"/>
              <a:cs typeface="Calibri"/>
              <a:sym typeface="Calibri"/>
            </a:endParaRPr>
          </a:p>
        </p:txBody>
      </p:sp>
      <p:sp>
        <p:nvSpPr>
          <p:cNvPr id="544" name="Google Shape;544;p24"/>
          <p:cNvSpPr/>
          <p:nvPr/>
        </p:nvSpPr>
        <p:spPr>
          <a:xfrm>
            <a:off x="32308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5" name="Google Shape;545;p24"/>
          <p:cNvSpPr/>
          <p:nvPr/>
        </p:nvSpPr>
        <p:spPr>
          <a:xfrm>
            <a:off x="33588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6" name="Google Shape;546;p24"/>
          <p:cNvPicPr preferRelativeResize="0"/>
          <p:nvPr/>
        </p:nvPicPr>
        <p:blipFill rotWithShape="1">
          <a:blip r:embed="rId4">
            <a:alphaModFix/>
          </a:blip>
          <a:srcRect b="0" l="0" r="0" t="0"/>
          <a:stretch/>
        </p:blipFill>
        <p:spPr>
          <a:xfrm>
            <a:off x="3437900" y="3096524"/>
            <a:ext cx="171176" cy="171176"/>
          </a:xfrm>
          <a:prstGeom prst="rect">
            <a:avLst/>
          </a:prstGeom>
          <a:noFill/>
          <a:ln>
            <a:noFill/>
          </a:ln>
        </p:spPr>
      </p:pic>
      <p:sp>
        <p:nvSpPr>
          <p:cNvPr id="547" name="Google Shape;547;p24"/>
          <p:cNvSpPr txBox="1"/>
          <p:nvPr/>
        </p:nvSpPr>
        <p:spPr>
          <a:xfrm>
            <a:off x="37795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Actually using the service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booked or completed cleanings</a:t>
            </a:r>
            <a:endParaRPr b="0" i="0" spc="0" sz="1000" u="none" cap="none" strike="noStrike">
              <a:solidFill>
                <a:schemeClr val="dk1"/>
              </a:solidFill>
              <a:latin typeface="Calibri"/>
              <a:ea typeface="Calibri"/>
              <a:cs typeface="Calibri"/>
              <a:sym typeface="Calibri"/>
            </a:endParaRPr>
          </a:p>
        </p:txBody>
      </p:sp>
      <p:sp>
        <p:nvSpPr>
          <p:cNvPr id="548" name="Google Shape;548;p24"/>
          <p:cNvSpPr/>
          <p:nvPr/>
        </p:nvSpPr>
        <p:spPr>
          <a:xfrm>
            <a:off x="60502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9" name="Google Shape;549;p24"/>
          <p:cNvSpPr/>
          <p:nvPr/>
        </p:nvSpPr>
        <p:spPr>
          <a:xfrm>
            <a:off x="61782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0" name="Google Shape;550;p24"/>
          <p:cNvPicPr preferRelativeResize="0"/>
          <p:nvPr/>
        </p:nvPicPr>
        <p:blipFill rotWithShape="1">
          <a:blip r:embed="rId5">
            <a:alphaModFix/>
          </a:blip>
          <a:srcRect b="0" l="0" r="0" t="0"/>
          <a:stretch/>
        </p:blipFill>
        <p:spPr>
          <a:xfrm>
            <a:off x="6257300" y="3096524"/>
            <a:ext cx="171176" cy="171176"/>
          </a:xfrm>
          <a:prstGeom prst="rect">
            <a:avLst/>
          </a:prstGeom>
          <a:noFill/>
          <a:ln>
            <a:noFill/>
          </a:ln>
        </p:spPr>
      </p:pic>
      <p:sp>
        <p:nvSpPr>
          <p:cNvPr id="551" name="Google Shape;551;p24"/>
          <p:cNvSpPr txBox="1"/>
          <p:nvPr/>
        </p:nvSpPr>
        <p:spPr>
          <a:xfrm>
            <a:off x="65989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Not asking for a refund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at the same time</a:t>
            </a:r>
            <a:endParaRPr b="0" i="0" spc="0" sz="1000" u="none" cap="none" strike="noStrike">
              <a:solidFill>
                <a:schemeClr val="dk1"/>
              </a:solidFill>
              <a:latin typeface="Calibri"/>
              <a:ea typeface="Calibri"/>
              <a:cs typeface="Calibri"/>
              <a:sym typeface="Calibri"/>
            </a:endParaRPr>
          </a:p>
        </p:txBody>
      </p:sp>
      <p:sp>
        <p:nvSpPr>
          <p:cNvPr id="552" name="Google Shape;552;p24"/>
          <p:cNvSpPr/>
          <p:nvPr/>
        </p:nvSpPr>
        <p:spPr>
          <a:xfrm>
            <a:off x="411480" y="365760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3" name="Google Shape;553;p24"/>
          <p:cNvPicPr preferRelativeResize="0"/>
          <p:nvPr/>
        </p:nvPicPr>
        <p:blipFill rotWithShape="1">
          <a:blip r:embed="rId6">
            <a:alphaModFix/>
          </a:blip>
          <a:srcRect b="0" l="0" r="0" t="0"/>
          <a:stretch/>
        </p:blipFill>
        <p:spPr>
          <a:xfrm>
            <a:off x="566928" y="3767328"/>
            <a:ext cx="164592" cy="164592"/>
          </a:xfrm>
          <a:prstGeom prst="rect">
            <a:avLst/>
          </a:prstGeom>
          <a:noFill/>
          <a:ln>
            <a:noFill/>
          </a:ln>
        </p:spPr>
      </p:pic>
      <p:sp>
        <p:nvSpPr>
          <p:cNvPr id="554" name="Google Shape;554;p24"/>
          <p:cNvSpPr txBox="1"/>
          <p:nvPr/>
        </p:nvSpPr>
        <p:spPr>
          <a:xfrm>
            <a:off x="822960" y="365760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Important!   </a:t>
            </a:r>
            <a:r>
              <a:rPr b="0" i="0" lang="en-US" spc="0" sz="1000" u="none" cap="none" strike="noStrike">
                <a:solidFill>
                  <a:srgbClr val="1D1D1F"/>
                </a:solidFill>
                <a:latin typeface="Arial"/>
                <a:ea typeface="Arial"/>
                <a:cs typeface="Arial"/>
                <a:sym typeface="Arial"/>
              </a:rPr>
              <a:t>Free months only work while FC is active. You can’t add free months to a cancelled FC.</a:t>
            </a:r>
            <a:endParaRPr b="0" i="0" spc="0" sz="1000" u="none" cap="none" strike="noStrike">
              <a:solidFill>
                <a:schemeClr val="dk1"/>
              </a:solidFill>
              <a:latin typeface="Calibri"/>
              <a:ea typeface="Calibri"/>
              <a:cs typeface="Calibri"/>
              <a:sym typeface="Calibri"/>
            </a:endParaRPr>
          </a:p>
        </p:txBody>
      </p:sp>
      <p:sp>
        <p:nvSpPr>
          <p:cNvPr id="555" name="Google Shape;555;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62" name="Google Shape;562;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Guardrail: asked to pause again</a:t>
            </a:r>
            <a:endParaRPr b="0" i="0" spc="0" sz="2400" u="none" cap="none" strike="noStrike">
              <a:solidFill>
                <a:schemeClr val="dk1"/>
              </a:solidFill>
              <a:latin typeface="Calibri"/>
              <a:ea typeface="Calibri"/>
              <a:cs typeface="Calibri"/>
              <a:sym typeface="Calibri"/>
            </a:endParaRPr>
          </a:p>
        </p:txBody>
      </p:sp>
      <p:sp>
        <p:nvSpPr>
          <p:cNvPr id="563" name="Google Shape;563;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a customer asks for a new pause right after a previous one.</a:t>
            </a:r>
            <a:endParaRPr b="0" i="0" spc="0" sz="1200" u="none" cap="none" strike="noStrike">
              <a:solidFill>
                <a:schemeClr val="dk1"/>
              </a:solidFill>
              <a:latin typeface="Calibri"/>
              <a:ea typeface="Calibri"/>
              <a:cs typeface="Calibri"/>
              <a:sym typeface="Calibri"/>
            </a:endParaRPr>
          </a:p>
        </p:txBody>
      </p:sp>
      <p:sp>
        <p:nvSpPr>
          <p:cNvPr id="564" name="Google Shape;564;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65" name="Google Shape;565;p25"/>
          <p:cNvSpPr txBox="1"/>
          <p:nvPr/>
        </p:nvSpPr>
        <p:spPr>
          <a:xfrm>
            <a:off x="411480" y="1298448"/>
            <a:ext cx="475488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SITUATION</a:t>
            </a:r>
            <a:endParaRPr b="0" i="0" spc="0" sz="1400" u="none" cap="none" strike="noStrike">
              <a:solidFill>
                <a:srgbClr val="000000"/>
              </a:solidFill>
              <a:latin typeface="Arial"/>
              <a:ea typeface="Arial"/>
              <a:cs typeface="Arial"/>
              <a:sym typeface="Arial"/>
            </a:endParaRPr>
          </a:p>
        </p:txBody>
      </p:sp>
      <p:sp>
        <p:nvSpPr>
          <p:cNvPr id="566" name="Google Shape;566;p25"/>
          <p:cNvSpPr txBox="1"/>
          <p:nvPr/>
        </p:nvSpPr>
        <p:spPr>
          <a:xfrm>
            <a:off x="5303520" y="1298448"/>
            <a:ext cx="34290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WHAT TO DO</a:t>
            </a:r>
            <a:endParaRPr b="0" i="0" spc="0" sz="1400" u="none" cap="none" strike="noStrike">
              <a:solidFill>
                <a:srgbClr val="000000"/>
              </a:solidFill>
              <a:latin typeface="Arial"/>
              <a:ea typeface="Arial"/>
              <a:cs typeface="Arial"/>
              <a:sym typeface="Arial"/>
            </a:endParaRPr>
          </a:p>
        </p:txBody>
      </p:sp>
      <p:sp>
        <p:nvSpPr>
          <p:cNvPr id="567" name="Google Shape;567;p25"/>
          <p:cNvSpPr/>
          <p:nvPr/>
        </p:nvSpPr>
        <p:spPr>
          <a:xfrm>
            <a:off x="411480" y="1517904"/>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8" name="Google Shape;568;p25"/>
          <p:cNvSpPr/>
          <p:nvPr/>
        </p:nvSpPr>
        <p:spPr>
          <a:xfrm>
            <a:off x="411480" y="1591056"/>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5"/>
          <p:cNvSpPr txBox="1"/>
          <p:nvPr/>
        </p:nvSpPr>
        <p:spPr>
          <a:xfrm>
            <a:off x="594360" y="1517904"/>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Fewer than </a:t>
            </a:r>
            <a:r>
              <a:rPr b="1" i="0" lang="en-US" spc="0" sz="1050" u="none" cap="none" strike="noStrike">
                <a:solidFill>
                  <a:srgbClr val="1D1D1F"/>
                </a:solidFill>
                <a:latin typeface="Play"/>
                <a:ea typeface="Play"/>
                <a:cs typeface="Play"/>
                <a:sym typeface="Play"/>
              </a:rPr>
              <a:t>2 MFs</a:t>
            </a:r>
            <a:r>
              <a:rPr b="0" i="0" lang="en-US" spc="0" sz="1050" u="none" cap="none" strike="noStrike">
                <a:solidFill>
                  <a:srgbClr val="1D1D1F"/>
                </a:solidFill>
                <a:latin typeface="Arial"/>
                <a:ea typeface="Arial"/>
                <a:cs typeface="Arial"/>
                <a:sym typeface="Arial"/>
              </a:rPr>
              <a:t> charged and paid since the last pause ended</a:t>
            </a:r>
            <a:endParaRPr b="0" i="0" spc="0" sz="1400" u="none" cap="none" strike="noStrike">
              <a:solidFill>
                <a:srgbClr val="000000"/>
              </a:solidFill>
              <a:latin typeface="Arial"/>
              <a:ea typeface="Arial"/>
              <a:cs typeface="Arial"/>
              <a:sym typeface="Arial"/>
            </a:endParaRPr>
          </a:p>
        </p:txBody>
      </p:sp>
      <p:sp>
        <p:nvSpPr>
          <p:cNvPr id="570" name="Google Shape;570;p25"/>
          <p:cNvSpPr/>
          <p:nvPr/>
        </p:nvSpPr>
        <p:spPr>
          <a:xfrm>
            <a:off x="5303520" y="1517904"/>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25"/>
          <p:cNvSpPr txBox="1"/>
          <p:nvPr/>
        </p:nvSpPr>
        <p:spPr>
          <a:xfrm>
            <a:off x="5468112" y="1517904"/>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matter how long they’re asking for</a:t>
            </a:r>
            <a:endParaRPr b="0" i="0" spc="0" sz="1400" u="none" cap="none" strike="noStrike">
              <a:solidFill>
                <a:srgbClr val="000000"/>
              </a:solidFill>
              <a:latin typeface="Arial"/>
              <a:ea typeface="Arial"/>
              <a:cs typeface="Arial"/>
              <a:sym typeface="Arial"/>
            </a:endParaRPr>
          </a:p>
        </p:txBody>
      </p:sp>
      <p:sp>
        <p:nvSpPr>
          <p:cNvPr id="572" name="Google Shape;572;p25"/>
          <p:cNvSpPr/>
          <p:nvPr/>
        </p:nvSpPr>
        <p:spPr>
          <a:xfrm>
            <a:off x="411480" y="2176272"/>
            <a:ext cx="47548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3" name="Google Shape;573;p25"/>
          <p:cNvSpPr/>
          <p:nvPr/>
        </p:nvSpPr>
        <p:spPr>
          <a:xfrm>
            <a:off x="411480" y="2249424"/>
            <a:ext cx="45720" cy="768096"/>
          </a:xfrm>
          <a:prstGeom prst="rect">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25"/>
          <p:cNvSpPr txBox="1"/>
          <p:nvPr/>
        </p:nvSpPr>
        <p:spPr>
          <a:xfrm>
            <a:off x="594360" y="2176272"/>
            <a:ext cx="448056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All three</a:t>
            </a:r>
            <a:r>
              <a:rPr b="0" i="0" lang="en-US" spc="0" sz="1050" u="none" cap="none" strike="noStrike">
                <a:solidFill>
                  <a:srgbClr val="1D1D1F"/>
                </a:solidFill>
                <a:latin typeface="Arial"/>
                <a:ea typeface="Arial"/>
                <a:cs typeface="Arial"/>
                <a:sym typeface="Arial"/>
              </a:rPr>
              <a:t> are true: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least 2 MFs charged and paid since the last pause ended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Actually </a:t>
            </a:r>
            <a:r>
              <a:rPr b="1" i="0" lang="en-US" spc="0" sz="950" u="none" cap="none" strike="noStrike">
                <a:solidFill>
                  <a:srgbClr val="1D1D1F"/>
                </a:solidFill>
                <a:latin typeface="Play"/>
                <a:ea typeface="Play"/>
                <a:cs typeface="Play"/>
                <a:sym typeface="Play"/>
              </a:rPr>
              <a:t>using the service</a:t>
            </a:r>
            <a:r>
              <a:rPr b="0" i="0" lang="en-US" spc="0" sz="950" u="none" cap="none" strike="noStrike">
                <a:solidFill>
                  <a:srgbClr val="1D1D1F"/>
                </a:solidFill>
                <a:latin typeface="Arial"/>
                <a:ea typeface="Arial"/>
                <a:cs typeface="Arial"/>
                <a:sym typeface="Arial"/>
              </a:rPr>
              <a:t> since then (booked or completed cleanings)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950" u="none" cap="none" strike="noStrike">
                <a:solidFill>
                  <a:srgbClr val="1D1D1F"/>
                </a:solidFill>
                <a:latin typeface="Play"/>
                <a:ea typeface="Play"/>
                <a:cs typeface="Play"/>
                <a:sym typeface="Play"/>
              </a:rPr>
              <a:t>Not</a:t>
            </a:r>
            <a:r>
              <a:rPr b="0" i="0" lang="en-US" spc="0" sz="950" u="none" cap="none" strike="noStrike">
                <a:solidFill>
                  <a:srgbClr val="1D1D1F"/>
                </a:solidFill>
                <a:latin typeface="Arial"/>
                <a:ea typeface="Arial"/>
                <a:cs typeface="Arial"/>
                <a:sym typeface="Arial"/>
              </a:rPr>
              <a:t> also asking for a refund right now</a:t>
            </a:r>
            <a:endParaRPr b="0" i="0" spc="0" sz="1400" u="none" cap="none" strike="noStrike">
              <a:solidFill>
                <a:srgbClr val="000000"/>
              </a:solidFill>
              <a:latin typeface="Arial"/>
              <a:ea typeface="Arial"/>
              <a:cs typeface="Arial"/>
              <a:sym typeface="Arial"/>
            </a:endParaRPr>
          </a:p>
        </p:txBody>
      </p:sp>
      <p:sp>
        <p:nvSpPr>
          <p:cNvPr id="575" name="Google Shape;575;p25"/>
          <p:cNvSpPr/>
          <p:nvPr/>
        </p:nvSpPr>
        <p:spPr>
          <a:xfrm>
            <a:off x="5303520" y="2176272"/>
            <a:ext cx="342900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5"/>
          <p:cNvSpPr txBox="1"/>
          <p:nvPr/>
        </p:nvSpPr>
        <p:spPr>
          <a:xfrm>
            <a:off x="5468112" y="2176272"/>
            <a:ext cx="315468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  Give the pause normally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Within the caps (up to 6 months)</a:t>
            </a:r>
            <a:endParaRPr b="0" i="0" spc="0" sz="1400" u="none" cap="none" strike="noStrike">
              <a:solidFill>
                <a:srgbClr val="000000"/>
              </a:solidFill>
              <a:latin typeface="Arial"/>
              <a:ea typeface="Arial"/>
              <a:cs typeface="Arial"/>
              <a:sym typeface="Arial"/>
            </a:endParaRPr>
          </a:p>
        </p:txBody>
      </p:sp>
      <p:sp>
        <p:nvSpPr>
          <p:cNvPr id="577" name="Google Shape;577;p25"/>
          <p:cNvSpPr/>
          <p:nvPr/>
        </p:nvSpPr>
        <p:spPr>
          <a:xfrm>
            <a:off x="411480" y="3182112"/>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8" name="Google Shape;578;p25"/>
          <p:cNvSpPr/>
          <p:nvPr/>
        </p:nvSpPr>
        <p:spPr>
          <a:xfrm>
            <a:off x="411480" y="3255264"/>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5"/>
          <p:cNvSpPr txBox="1"/>
          <p:nvPr/>
        </p:nvSpPr>
        <p:spPr>
          <a:xfrm>
            <a:off x="594360" y="3182112"/>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Any one</a:t>
            </a:r>
            <a:r>
              <a:rPr b="0" i="0" lang="en-US" spc="0" sz="1050" u="none" cap="none" strike="noStrike">
                <a:solidFill>
                  <a:srgbClr val="1D1D1F"/>
                </a:solidFill>
                <a:latin typeface="Arial"/>
                <a:ea typeface="Arial"/>
                <a:cs typeface="Arial"/>
                <a:sym typeface="Arial"/>
              </a:rPr>
              <a:t> of those three is </a:t>
            </a:r>
            <a:r>
              <a:rPr b="1" i="0" lang="en-US" spc="0" sz="1050" u="none" cap="none" strike="noStrike">
                <a:solidFill>
                  <a:srgbClr val="1D1D1F"/>
                </a:solidFill>
                <a:latin typeface="Play"/>
                <a:ea typeface="Play"/>
                <a:cs typeface="Play"/>
                <a:sym typeface="Play"/>
              </a:rPr>
              <a:t>not</a:t>
            </a:r>
            <a:r>
              <a:rPr b="0" i="0" lang="en-US" spc="0" sz="1050" u="none" cap="none" strike="noStrike">
                <a:solidFill>
                  <a:srgbClr val="1D1D1F"/>
                </a:solidFill>
                <a:latin typeface="Arial"/>
                <a:ea typeface="Arial"/>
                <a:cs typeface="Arial"/>
                <a:sym typeface="Arial"/>
              </a:rPr>
              <a:t> true</a:t>
            </a:r>
            <a:endParaRPr b="0" i="0" spc="0" sz="1400" u="none" cap="none" strike="noStrike">
              <a:solidFill>
                <a:srgbClr val="000000"/>
              </a:solidFill>
              <a:latin typeface="Arial"/>
              <a:ea typeface="Arial"/>
              <a:cs typeface="Arial"/>
              <a:sym typeface="Arial"/>
            </a:endParaRPr>
          </a:p>
        </p:txBody>
      </p:sp>
      <p:sp>
        <p:nvSpPr>
          <p:cNvPr id="580" name="Google Shape;580;p25"/>
          <p:cNvSpPr/>
          <p:nvPr/>
        </p:nvSpPr>
        <p:spPr>
          <a:xfrm>
            <a:off x="5303520" y="3182112"/>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1" name="Google Shape;581;p25"/>
          <p:cNvSpPr txBox="1"/>
          <p:nvPr/>
        </p:nvSpPr>
        <p:spPr>
          <a:xfrm>
            <a:off x="5468112" y="3182112"/>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It could be abuse, not a real need for a pause</a:t>
            </a:r>
            <a:endParaRPr b="0" i="0" spc="0" sz="1400" u="none" cap="none" strike="noStrike">
              <a:solidFill>
                <a:srgbClr val="000000"/>
              </a:solidFill>
              <a:latin typeface="Arial"/>
              <a:ea typeface="Arial"/>
              <a:cs typeface="Arial"/>
              <a:sym typeface="Arial"/>
            </a:endParaRPr>
          </a:p>
        </p:txBody>
      </p:sp>
      <p:sp>
        <p:nvSpPr>
          <p:cNvPr id="582" name="Google Shape;582;p25"/>
          <p:cNvSpPr/>
          <p:nvPr/>
        </p:nvSpPr>
        <p:spPr>
          <a:xfrm>
            <a:off x="411480" y="3895344"/>
            <a:ext cx="8321040" cy="786384"/>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5"/>
          <p:cNvSpPr txBox="1"/>
          <p:nvPr/>
        </p:nvSpPr>
        <p:spPr>
          <a:xfrm>
            <a:off x="594360" y="3895344"/>
            <a:ext cx="7955279" cy="7863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Why this matters: </a:t>
            </a:r>
            <a:r>
              <a:rPr b="0" i="0" lang="en-US" spc="0" sz="950" u="none" cap="none" strike="noStrike">
                <a:solidFill>
                  <a:srgbClr val="1D1D1F"/>
                </a:solidFill>
                <a:latin typeface="Arial"/>
                <a:ea typeface="Arial"/>
                <a:cs typeface="Arial"/>
                <a:sym typeface="Arial"/>
              </a:rPr>
              <a:t>pausing again with no MF charged in between looks like avoiding the MF (and the ETF that comes with cancelling), not needing a break. Payment alone doesn’t prove it’s genuine. Payment + actual usage + no refund request together closes those gaps.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90" name="Google Shape;590;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cancel anyway</a:t>
            </a:r>
            <a:endParaRPr b="0" i="0" spc="0" sz="2400" u="none" cap="none" strike="noStrike">
              <a:solidFill>
                <a:schemeClr val="dk1"/>
              </a:solidFill>
              <a:latin typeface="Calibri"/>
              <a:ea typeface="Calibri"/>
              <a:cs typeface="Calibri"/>
              <a:sym typeface="Calibri"/>
            </a:endParaRPr>
          </a:p>
        </p:txBody>
      </p:sp>
      <p:sp>
        <p:nvSpPr>
          <p:cNvPr id="591" name="Google Shape;591;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Invalidate the retention offer, with two exemptions.</a:t>
            </a:r>
            <a:endParaRPr b="0" i="0" spc="0" sz="1200" u="none" cap="none" strike="noStrike">
              <a:solidFill>
                <a:schemeClr val="dk1"/>
              </a:solidFill>
              <a:latin typeface="Calibri"/>
              <a:ea typeface="Calibri"/>
              <a:cs typeface="Calibri"/>
              <a:sym typeface="Calibri"/>
            </a:endParaRPr>
          </a:p>
        </p:txBody>
      </p:sp>
      <p:sp>
        <p:nvSpPr>
          <p:cNvPr id="592" name="Google Shape;592;p26"/>
          <p:cNvSpPr/>
          <p:nvPr/>
        </p:nvSpPr>
        <p:spPr>
          <a:xfrm>
            <a:off x="411480" y="1325880"/>
            <a:ext cx="8321040" cy="548640"/>
          </a:xfrm>
          <a:prstGeom prst="roundRect">
            <a:avLst>
              <a:gd fmla="val 13333" name="adj"/>
            </a:avLst>
          </a:prstGeom>
          <a:solidFill>
            <a:srgbClr val="1D1D1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3" name="Google Shape;593;p26"/>
          <p:cNvSpPr txBox="1"/>
          <p:nvPr/>
        </p:nvSpPr>
        <p:spPr>
          <a:xfrm>
            <a:off x="640080" y="1325880"/>
            <a:ext cx="7955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Play"/>
              <a:buNone/>
            </a:pPr>
            <a:r>
              <a:rPr b="1" i="0" lang="en-US" spc="0" sz="1200" u="none" cap="none" strike="noStrike">
                <a:solidFill>
                  <a:srgbClr val="FFFFFF"/>
                </a:solidFill>
                <a:latin typeface="Play"/>
                <a:ea typeface="Play"/>
                <a:cs typeface="Play"/>
                <a:sym typeface="Play"/>
              </a:rPr>
              <a:t>Default: invalidate the retention offer when you process the cancellation.</a:t>
            </a:r>
            <a:endParaRPr b="0" i="0" spc="0" sz="1200" u="none" cap="none" strike="noStrike">
              <a:solidFill>
                <a:schemeClr val="dk1"/>
              </a:solidFill>
              <a:latin typeface="Calibri"/>
              <a:ea typeface="Calibri"/>
              <a:cs typeface="Calibri"/>
              <a:sym typeface="Calibri"/>
            </a:endParaRPr>
          </a:p>
        </p:txBody>
      </p:sp>
      <p:sp>
        <p:nvSpPr>
          <p:cNvPr id="594" name="Google Shape;594;p26"/>
          <p:cNvSpPr/>
          <p:nvPr/>
        </p:nvSpPr>
        <p:spPr>
          <a:xfrm>
            <a:off x="4114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26"/>
          <p:cNvSpPr/>
          <p:nvPr/>
        </p:nvSpPr>
        <p:spPr>
          <a:xfrm>
            <a:off x="5760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96" name="Google Shape;596;p26"/>
          <p:cNvPicPr preferRelativeResize="0"/>
          <p:nvPr/>
        </p:nvPicPr>
        <p:blipFill rotWithShape="1">
          <a:blip r:embed="rId3">
            <a:alphaModFix/>
          </a:blip>
          <a:srcRect b="0" l="0" r="0" t="0"/>
          <a:stretch/>
        </p:blipFill>
        <p:spPr>
          <a:xfrm>
            <a:off x="655076" y="2255276"/>
            <a:ext cx="171176" cy="171176"/>
          </a:xfrm>
          <a:prstGeom prst="rect">
            <a:avLst/>
          </a:prstGeom>
          <a:noFill/>
          <a:ln>
            <a:noFill/>
          </a:ln>
        </p:spPr>
      </p:pic>
      <p:sp>
        <p:nvSpPr>
          <p:cNvPr id="597" name="Google Shape;597;p26"/>
          <p:cNvSpPr txBox="1"/>
          <p:nvPr/>
        </p:nvSpPr>
        <p:spPr>
          <a:xfrm>
            <a:off x="5760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Paid for: keep it</a:t>
            </a:r>
            <a:endParaRPr b="0" i="0" spc="0" sz="1200" u="none" cap="none" strike="noStrike">
              <a:solidFill>
                <a:schemeClr val="dk1"/>
              </a:solidFill>
              <a:latin typeface="Calibri"/>
              <a:ea typeface="Calibri"/>
              <a:cs typeface="Calibri"/>
              <a:sym typeface="Calibri"/>
            </a:endParaRPr>
          </a:p>
        </p:txBody>
      </p:sp>
      <p:sp>
        <p:nvSpPr>
          <p:cNvPr id="598" name="Google Shape;598;p26"/>
          <p:cNvSpPr txBox="1"/>
          <p:nvPr/>
        </p:nvSpPr>
        <p:spPr>
          <a:xfrm>
            <a:off x="5760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Admin courtesy voucher for the unused hours of a partly used Legacy DHJ voucher.</a:t>
            </a:r>
            <a:endParaRPr b="0" i="0" spc="0" sz="950" u="none" cap="none" strike="noStrike">
              <a:solidFill>
                <a:schemeClr val="dk1"/>
              </a:solidFill>
              <a:latin typeface="Calibri"/>
              <a:ea typeface="Calibri"/>
              <a:cs typeface="Calibri"/>
              <a:sym typeface="Calibri"/>
            </a:endParaRPr>
          </a:p>
        </p:txBody>
      </p:sp>
      <p:sp>
        <p:nvSpPr>
          <p:cNvPr id="599" name="Google Shape;599;p26"/>
          <p:cNvSpPr/>
          <p:nvPr/>
        </p:nvSpPr>
        <p:spPr>
          <a:xfrm>
            <a:off x="46405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0" name="Google Shape;600;p26"/>
          <p:cNvSpPr/>
          <p:nvPr/>
        </p:nvSpPr>
        <p:spPr>
          <a:xfrm>
            <a:off x="48051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1" name="Google Shape;601;p26"/>
          <p:cNvPicPr preferRelativeResize="0"/>
          <p:nvPr/>
        </p:nvPicPr>
        <p:blipFill rotWithShape="1">
          <a:blip r:embed="rId4">
            <a:alphaModFix/>
          </a:blip>
          <a:srcRect b="0" l="0" r="0" t="0"/>
          <a:stretch/>
        </p:blipFill>
        <p:spPr>
          <a:xfrm>
            <a:off x="4884176" y="2255276"/>
            <a:ext cx="171176" cy="171176"/>
          </a:xfrm>
          <a:prstGeom prst="rect">
            <a:avLst/>
          </a:prstGeom>
          <a:noFill/>
          <a:ln>
            <a:noFill/>
          </a:ln>
        </p:spPr>
      </p:pic>
      <p:sp>
        <p:nvSpPr>
          <p:cNvPr id="602" name="Google Shape;602;p26"/>
          <p:cNvSpPr txBox="1"/>
          <p:nvPr/>
        </p:nvSpPr>
        <p:spPr>
          <a:xfrm>
            <a:off x="48051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Earned: keep it</a:t>
            </a:r>
            <a:endParaRPr b="0" i="0" spc="0" sz="1200" u="none" cap="none" strike="noStrike">
              <a:solidFill>
                <a:schemeClr val="dk1"/>
              </a:solidFill>
              <a:latin typeface="Calibri"/>
              <a:ea typeface="Calibri"/>
              <a:cs typeface="Calibri"/>
              <a:sym typeface="Calibri"/>
            </a:endParaRPr>
          </a:p>
        </p:txBody>
      </p:sp>
      <p:sp>
        <p:nvSpPr>
          <p:cNvPr id="603" name="Google Shape;603;p26"/>
          <p:cNvSpPr txBox="1"/>
          <p:nvPr/>
        </p:nvSpPr>
        <p:spPr>
          <a:xfrm>
            <a:off x="48051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Credits accepted inside MCT, then MCT completed. Refund or reissue what the system stripped.</a:t>
            </a:r>
            <a:endParaRPr b="0" i="0" spc="0" sz="950" u="none" cap="none" strike="noStrike">
              <a:solidFill>
                <a:schemeClr val="dk1"/>
              </a:solidFill>
              <a:latin typeface="Calibri"/>
              <a:ea typeface="Calibri"/>
              <a:cs typeface="Calibri"/>
              <a:sym typeface="Calibri"/>
            </a:endParaRPr>
          </a:p>
        </p:txBody>
      </p:sp>
      <p:sp>
        <p:nvSpPr>
          <p:cNvPr id="604" name="Google Shape;604;p26"/>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5" name="Google Shape;605;p26"/>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606" name="Google Shape;606;p26"/>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did the customer pay for it, or earn it by staying? Then it survives the cancellation.</a:t>
            </a:r>
            <a:endParaRPr b="0" i="0" spc="0" sz="1000" u="none" cap="none" strike="noStrike">
              <a:solidFill>
                <a:schemeClr val="dk1"/>
              </a:solidFill>
              <a:latin typeface="Calibri"/>
              <a:ea typeface="Calibri"/>
              <a:cs typeface="Calibri"/>
              <a:sym typeface="Calibri"/>
            </a:endParaRPr>
          </a:p>
        </p:txBody>
      </p:sp>
      <p:sp>
        <p:nvSpPr>
          <p:cNvPr id="607" name="Google Shape;607;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14" name="Google Shape;614;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offers: MCT or ETF reduction?</a:t>
            </a:r>
            <a:endParaRPr b="0" i="0" spc="0" sz="2400" u="none" cap="none" strike="noStrike">
              <a:solidFill>
                <a:schemeClr val="dk1"/>
              </a:solidFill>
              <a:latin typeface="Calibri"/>
              <a:ea typeface="Calibri"/>
              <a:cs typeface="Calibri"/>
              <a:sym typeface="Calibri"/>
            </a:endParaRPr>
          </a:p>
        </p:txBody>
      </p:sp>
      <p:sp>
        <p:nvSpPr>
          <p:cNvPr id="615" name="Google Shape;615;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Pick whichever gets a customer out for less.</a:t>
            </a:r>
            <a:endParaRPr b="0" i="0" spc="0" sz="1200" u="none" cap="none" strike="noStrike">
              <a:solidFill>
                <a:schemeClr val="dk1"/>
              </a:solidFill>
              <a:latin typeface="Calibri"/>
              <a:ea typeface="Calibri"/>
              <a:cs typeface="Calibri"/>
              <a:sym typeface="Calibri"/>
            </a:endParaRPr>
          </a:p>
        </p:txBody>
      </p:sp>
      <p:sp>
        <p:nvSpPr>
          <p:cNvPr id="616" name="Google Shape;616;p27"/>
          <p:cNvSpPr/>
          <p:nvPr/>
        </p:nvSpPr>
        <p:spPr>
          <a:xfrm>
            <a:off x="411480" y="1298448"/>
            <a:ext cx="8321040" cy="100584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7" name="Google Shape;617;p27"/>
          <p:cNvSpPr/>
          <p:nvPr/>
        </p:nvSpPr>
        <p:spPr>
          <a:xfrm>
            <a:off x="411480" y="1298448"/>
            <a:ext cx="8321040" cy="310896"/>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Which tool?</a:t>
            </a:r>
            <a:endParaRPr b="0" i="0" spc="0" sz="1050" u="none" cap="none" strike="noStrike">
              <a:solidFill>
                <a:schemeClr val="dk1"/>
              </a:solidFill>
              <a:latin typeface="Calibri"/>
              <a:ea typeface="Calibri"/>
              <a:cs typeface="Calibri"/>
              <a:sym typeface="Calibri"/>
            </a:endParaRPr>
          </a:p>
        </p:txBody>
      </p:sp>
      <p:sp>
        <p:nvSpPr>
          <p:cNvPr id="618" name="Google Shape;618;p27"/>
          <p:cNvSpPr txBox="1"/>
          <p:nvPr/>
        </p:nvSpPr>
        <p:spPr>
          <a:xfrm>
            <a:off x="576072" y="1682496"/>
            <a:ext cx="8001000" cy="566928"/>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Not retainable, not eligible for ETF waiver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Compare MCT vs ETF reduction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Use whichever costs the customer less</a:t>
            </a:r>
            <a:endParaRPr b="0" i="0" spc="0" sz="950" u="none" cap="none" strike="noStrike">
              <a:solidFill>
                <a:schemeClr val="dk1"/>
              </a:solidFill>
              <a:latin typeface="Calibri"/>
              <a:ea typeface="Calibri"/>
              <a:cs typeface="Calibri"/>
              <a:sym typeface="Calibri"/>
            </a:endParaRPr>
          </a:p>
        </p:txBody>
      </p:sp>
      <p:sp>
        <p:nvSpPr>
          <p:cNvPr id="619" name="Google Shape;619;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20" name="Google Shape;620;p27"/>
          <p:cNvSpPr txBox="1"/>
          <p:nvPr/>
        </p:nvSpPr>
        <p:spPr>
          <a:xfrm>
            <a:off x="411480" y="2432304"/>
            <a:ext cx="54864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SAMPLE SCENARIO</a:t>
            </a:r>
            <a:endParaRPr b="0" i="0" spc="0" sz="1400" u="none" cap="none" strike="noStrike">
              <a:solidFill>
                <a:srgbClr val="000000"/>
              </a:solidFill>
              <a:latin typeface="Arial"/>
              <a:ea typeface="Arial"/>
              <a:cs typeface="Arial"/>
              <a:sym typeface="Arial"/>
            </a:endParaRPr>
          </a:p>
        </p:txBody>
      </p:sp>
      <p:sp>
        <p:nvSpPr>
          <p:cNvPr id="621" name="Google Shape;621;p27"/>
          <p:cNvSpPr/>
          <p:nvPr/>
        </p:nvSpPr>
        <p:spPr>
          <a:xfrm>
            <a:off x="411480" y="2651760"/>
            <a:ext cx="8321040" cy="420624"/>
          </a:xfrm>
          <a:prstGeom prst="roundRect">
            <a:avLst>
              <a:gd fmla="val 8000" name="adj"/>
            </a:avLst>
          </a:prstGeom>
          <a:solidFill>
            <a:srgbClr val="E3F4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2" name="Google Shape;622;p27"/>
          <p:cNvSpPr txBox="1"/>
          <p:nvPr/>
        </p:nvSpPr>
        <p:spPr>
          <a:xfrm>
            <a:off x="594360" y="2651760"/>
            <a:ext cx="7955279"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C has </a:t>
            </a:r>
            <a:r>
              <a:rPr b="1" i="0" lang="en-US" spc="0" sz="1050" u="none" cap="none" strike="noStrike">
                <a:solidFill>
                  <a:srgbClr val="1D1D1F"/>
                </a:solidFill>
                <a:latin typeface="Play"/>
                <a:ea typeface="Play"/>
                <a:cs typeface="Play"/>
                <a:sym typeface="Play"/>
              </a:rPr>
              <a:t>1 paid $59 MF</a:t>
            </a:r>
            <a:r>
              <a:rPr b="0" i="0" lang="en-US" spc="0" sz="1050" u="none" cap="none" strike="noStrike">
                <a:solidFill>
                  <a:srgbClr val="1D1D1F"/>
                </a:solidFill>
                <a:latin typeface="Arial"/>
                <a:ea typeface="Arial"/>
                <a:cs typeface="Arial"/>
                <a:sym typeface="Arial"/>
              </a:rPr>
              <a:t>, a </a:t>
            </a:r>
            <a:r>
              <a:rPr b="1" i="0" lang="en-US" spc="0" sz="1050" u="none" cap="none" strike="noStrike">
                <a:solidFill>
                  <a:srgbClr val="1D1D1F"/>
                </a:solidFill>
                <a:latin typeface="Play"/>
                <a:ea typeface="Play"/>
                <a:cs typeface="Play"/>
                <a:sym typeface="Play"/>
              </a:rPr>
              <a:t>6-month MCT</a:t>
            </a:r>
            <a:r>
              <a:rPr b="0" i="0" lang="en-US" spc="0" sz="1050" u="none" cap="none" strike="noStrike">
                <a:solidFill>
                  <a:srgbClr val="1D1D1F"/>
                </a:solidFill>
                <a:latin typeface="Arial"/>
                <a:ea typeface="Arial"/>
                <a:cs typeface="Arial"/>
                <a:sym typeface="Arial"/>
              </a:rPr>
              <a:t> from sign-up, and cancelling now costs a </a:t>
            </a:r>
            <a:r>
              <a:rPr b="1" i="0" lang="en-US" spc="0" sz="1050" u="none" cap="none" strike="noStrike">
                <a:solidFill>
                  <a:srgbClr val="1D1D1F"/>
                </a:solidFill>
                <a:latin typeface="Play"/>
                <a:ea typeface="Play"/>
                <a:cs typeface="Play"/>
                <a:sym typeface="Play"/>
              </a:rPr>
              <a:t>$140 ETF</a:t>
            </a:r>
            <a:r>
              <a:rPr b="0" i="0" lang="en-US" spc="0" sz="1050" u="none" cap="none" strike="noStrike">
                <a:solidFill>
                  <a:srgbClr val="1D1D1F"/>
                </a:solidFill>
                <a:latin typeface="Arial"/>
                <a:ea typeface="Arial"/>
                <a:cs typeface="Arial"/>
                <a:sym typeface="Arial"/>
              </a:rPr>
              <a:t>.</a:t>
            </a:r>
            <a:endParaRPr b="0" i="0" spc="0" sz="1400" u="none" cap="none" strike="noStrike">
              <a:solidFill>
                <a:srgbClr val="000000"/>
              </a:solidFill>
              <a:latin typeface="Arial"/>
              <a:ea typeface="Arial"/>
              <a:cs typeface="Arial"/>
              <a:sym typeface="Arial"/>
            </a:endParaRPr>
          </a:p>
        </p:txBody>
      </p:sp>
      <p:sp>
        <p:nvSpPr>
          <p:cNvPr id="623" name="Google Shape;623;p27"/>
          <p:cNvSpPr/>
          <p:nvPr/>
        </p:nvSpPr>
        <p:spPr>
          <a:xfrm>
            <a:off x="4114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4" name="Google Shape;624;p27"/>
          <p:cNvSpPr txBox="1"/>
          <p:nvPr/>
        </p:nvSpPr>
        <p:spPr>
          <a:xfrm>
            <a:off x="5943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MCT by 1 month</a:t>
            </a:r>
            <a:r>
              <a:rPr b="0" i="0" lang="en-US" spc="0" sz="950" u="none" cap="none" strike="noStrike">
                <a:solidFill>
                  <a:srgbClr val="6E6E73"/>
                </a:solidFill>
                <a:latin typeface="Arial"/>
                <a:ea typeface="Arial"/>
                <a:cs typeface="Arial"/>
                <a:sym typeface="Arial"/>
              </a:rPr>
              <a:t>  (4 months remaining)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$59 × 4 months = </a:t>
            </a:r>
            <a:r>
              <a:rPr b="1" i="0" lang="en-US" spc="0" sz="1400" u="none" cap="none" strike="noStrike">
                <a:solidFill>
                  <a:srgbClr val="1D1D1F"/>
                </a:solidFill>
                <a:latin typeface="Play"/>
                <a:ea typeface="Play"/>
                <a:cs typeface="Play"/>
                <a:sym typeface="Play"/>
              </a:rPr>
              <a:t>$236</a:t>
            </a:r>
            <a:endParaRPr b="0" i="0" spc="0" sz="1400" u="none" cap="none" strike="noStrike">
              <a:solidFill>
                <a:srgbClr val="000000"/>
              </a:solidFill>
              <a:latin typeface="Arial"/>
              <a:ea typeface="Arial"/>
              <a:cs typeface="Arial"/>
              <a:sym typeface="Arial"/>
            </a:endParaRPr>
          </a:p>
        </p:txBody>
      </p:sp>
      <p:sp>
        <p:nvSpPr>
          <p:cNvPr id="625" name="Google Shape;625;p27"/>
          <p:cNvSpPr/>
          <p:nvPr/>
        </p:nvSpPr>
        <p:spPr>
          <a:xfrm>
            <a:off x="46405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6" name="Google Shape;626;p27"/>
          <p:cNvSpPr txBox="1"/>
          <p:nvPr/>
        </p:nvSpPr>
        <p:spPr>
          <a:xfrm>
            <a:off x="48234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ETF</a:t>
            </a:r>
            <a:r>
              <a:rPr b="0" i="0" lang="en-US" spc="0" sz="950" u="none" cap="none" strike="noStrike">
                <a:solidFill>
                  <a:srgbClr val="6E6E73"/>
                </a:solidFill>
                <a:latin typeface="Arial"/>
                <a:ea typeface="Arial"/>
                <a:cs typeface="Arial"/>
                <a:sym typeface="Arial"/>
              </a:rPr>
              <a:t>  (max 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$140 × 50% = </a:t>
            </a:r>
            <a:r>
              <a:rPr b="1" i="0" lang="en-US" spc="0" sz="1400" u="none" cap="none" strike="noStrike">
                <a:solidFill>
                  <a:srgbClr val="1D1D1F"/>
                </a:solidFill>
                <a:latin typeface="Play"/>
                <a:ea typeface="Play"/>
                <a:cs typeface="Play"/>
                <a:sym typeface="Play"/>
              </a:rPr>
              <a:t>$70</a:t>
            </a:r>
            <a:endParaRPr b="0" i="0" spc="0" sz="1400" u="none" cap="none" strike="noStrike">
              <a:solidFill>
                <a:srgbClr val="000000"/>
              </a:solidFill>
              <a:latin typeface="Arial"/>
              <a:ea typeface="Arial"/>
              <a:cs typeface="Arial"/>
              <a:sym typeface="Arial"/>
            </a:endParaRPr>
          </a:p>
        </p:txBody>
      </p:sp>
      <p:sp>
        <p:nvSpPr>
          <p:cNvPr id="627" name="Google Shape;627;p27"/>
          <p:cNvSpPr/>
          <p:nvPr/>
        </p:nvSpPr>
        <p:spPr>
          <a:xfrm>
            <a:off x="411480" y="4133087"/>
            <a:ext cx="8321040" cy="402336"/>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8" name="Google Shape;628;p27"/>
          <p:cNvSpPr txBox="1"/>
          <p:nvPr/>
        </p:nvSpPr>
        <p:spPr>
          <a:xfrm>
            <a:off x="594360" y="4133087"/>
            <a:ext cx="5852160"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9A6410"/>
                </a:solidFill>
                <a:latin typeface="Play"/>
                <a:ea typeface="Play"/>
                <a:cs typeface="Play"/>
                <a:sym typeface="Play"/>
              </a:rPr>
              <a:t>Your turn: </a:t>
            </a:r>
            <a:r>
              <a:rPr b="0" i="0" lang="en-US" spc="0" sz="1050" u="none" cap="none" strike="noStrike">
                <a:solidFill>
                  <a:srgbClr val="1D1D1F"/>
                </a:solidFill>
                <a:latin typeface="Arial"/>
                <a:ea typeface="Arial"/>
                <a:cs typeface="Arial"/>
                <a:sym typeface="Arial"/>
              </a:rPr>
              <a:t>which exit offer would you choose, and why?</a:t>
            </a:r>
            <a:endParaRPr b="0" i="0" spc="0" sz="1400" u="none" cap="none" strike="noStrike">
              <a:solidFill>
                <a:srgbClr val="000000"/>
              </a:solidFill>
              <a:latin typeface="Arial"/>
              <a:ea typeface="Arial"/>
              <a:cs typeface="Arial"/>
              <a:sym typeface="Arial"/>
            </a:endParaRPr>
          </a:p>
        </p:txBody>
      </p:sp>
      <p:sp>
        <p:nvSpPr>
          <p:cNvPr id="629" name="Google Shape;629;p27"/>
          <p:cNvSpPr/>
          <p:nvPr/>
        </p:nvSpPr>
        <p:spPr>
          <a:xfrm>
            <a:off x="6629400" y="4187952"/>
            <a:ext cx="2011680" cy="292608"/>
          </a:xfrm>
          <a:prstGeom prst="roundRect">
            <a:avLst>
              <a:gd fmla="val 30000"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  Show the decision</a:t>
            </a:r>
            <a:endParaRPr b="0" i="0" spc="0" sz="1400" u="none" cap="none" strike="noStrike">
              <a:solidFill>
                <a:srgbClr val="000000"/>
              </a:solidFill>
              <a:latin typeface="Arial"/>
              <a:ea typeface="Arial"/>
              <a:cs typeface="Arial"/>
              <a:sym typeface="Arial"/>
            </a:endParaRPr>
          </a:p>
        </p:txBody>
      </p:sp>
      <p:sp>
        <p:nvSpPr>
          <p:cNvPr id="630" name="Google Shape;630;p27"/>
          <p:cNvSpPr/>
          <p:nvPr/>
        </p:nvSpPr>
        <p:spPr>
          <a:xfrm>
            <a:off x="4645152" y="3182112"/>
            <a:ext cx="4087368" cy="841248"/>
          </a:xfrm>
          <a:prstGeom prst="roundRect">
            <a:avLst>
              <a:gd fmla="val 8000" name="adj"/>
            </a:avLst>
          </a:prstGeom>
          <a:noFill/>
          <a:ln cap="flat" cmpd="sng" w="2857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1" name="Google Shape;631;p27"/>
          <p:cNvSpPr/>
          <p:nvPr/>
        </p:nvSpPr>
        <p:spPr>
          <a:xfrm>
            <a:off x="7406640" y="3273552"/>
            <a:ext cx="1207008" cy="256032"/>
          </a:xfrm>
          <a:prstGeom prst="roundRect">
            <a:avLst>
              <a:gd fmla="val 30000" name="adj"/>
            </a:avLst>
          </a:prstGeom>
          <a:solidFill>
            <a:srgbClr val="E3F4F1"/>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Lower cost</a:t>
            </a:r>
            <a:endParaRPr b="0" i="0" spc="0" sz="1400" u="none" cap="none" strike="noStrike">
              <a:solidFill>
                <a:srgbClr val="000000"/>
              </a:solidFill>
              <a:latin typeface="Arial"/>
              <a:ea typeface="Arial"/>
              <a:cs typeface="Arial"/>
              <a:sym typeface="Arial"/>
            </a:endParaRPr>
          </a:p>
        </p:txBody>
      </p:sp>
      <p:sp>
        <p:nvSpPr>
          <p:cNvPr id="632" name="Google Shape;632;p27"/>
          <p:cNvSpPr/>
          <p:nvPr/>
        </p:nvSpPr>
        <p:spPr>
          <a:xfrm>
            <a:off x="411480" y="4133087"/>
            <a:ext cx="8321040" cy="402336"/>
          </a:xfrm>
          <a:prstGeom prst="roundRect">
            <a:avLst>
              <a:gd fmla="val 8000" name="adj"/>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3" name="Google Shape;633;p27"/>
          <p:cNvSpPr txBox="1"/>
          <p:nvPr/>
        </p:nvSpPr>
        <p:spPr>
          <a:xfrm>
            <a:off x="594360" y="4133087"/>
            <a:ext cx="7955279"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Decision: </a:t>
            </a:r>
            <a:r>
              <a:rPr b="0" i="0" lang="en-US" spc="0" sz="1050" u="none" cap="none" strike="noStrike">
                <a:solidFill>
                  <a:srgbClr val="FFFFFF"/>
                </a:solidFill>
                <a:latin typeface="Arial"/>
                <a:ea typeface="Arial"/>
                <a:cs typeface="Arial"/>
                <a:sym typeface="Arial"/>
              </a:rPr>
              <a:t>reducing the ETF is the most cost-effective exit offer for this customer.</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0"/>
                                        </p:tgtEl>
                                        <p:attrNameLst>
                                          <p:attrName>style.visibility</p:attrName>
                                        </p:attrNameLst>
                                      </p:cBhvr>
                                      <p:to>
                                        <p:strVal val="visible"/>
                                      </p:to>
                                    </p:set>
                                    <p:animEffect filter="fade" transition="in">
                                      <p:cBhvr>
                                        <p:cTn dur="600"/>
                                        <p:tgtEl>
                                          <p:spTgt spid="630"/>
                                        </p:tgtEl>
                                      </p:cBhvr>
                                    </p:animEffect>
                                  </p:childTnLst>
                                </p:cTn>
                              </p:par>
                              <p:par>
                                <p:cTn fill="hold" nodeType="withEffect" presetClass="entr" presetID="10" presetSubtype="0">
                                  <p:stCondLst>
                                    <p:cond delay="0"/>
                                  </p:stCondLst>
                                  <p:childTnLst>
                                    <p:set>
                                      <p:cBhvr>
                                        <p:cTn dur="1" fill="hold">
                                          <p:stCondLst>
                                            <p:cond delay="0"/>
                                          </p:stCondLst>
                                        </p:cTn>
                                        <p:tgtEl>
                                          <p:spTgt spid="631"/>
                                        </p:tgtEl>
                                        <p:attrNameLst>
                                          <p:attrName>style.visibility</p:attrName>
                                        </p:attrNameLst>
                                      </p:cBhvr>
                                      <p:to>
                                        <p:strVal val="visible"/>
                                      </p:to>
                                    </p:set>
                                    <p:animEffect filter="fade" transition="in">
                                      <p:cBhvr>
                                        <p:cTn dur="600"/>
                                        <p:tgtEl>
                                          <p:spTgt spid="631"/>
                                        </p:tgtEl>
                                      </p:cBhvr>
                                    </p:animEffect>
                                  </p:childTnLst>
                                </p:cTn>
                              </p:par>
                              <p:par>
                                <p:cTn fill="hold" nodeType="withEffect" presetClass="entr" presetID="10" presetSubtype="0">
                                  <p:stCondLst>
                                    <p:cond delay="0"/>
                                  </p:stCondLst>
                                  <p:childTnLst>
                                    <p:set>
                                      <p:cBhvr>
                                        <p:cTn dur="1" fill="hold">
                                          <p:stCondLst>
                                            <p:cond delay="0"/>
                                          </p:stCondLst>
                                        </p:cTn>
                                        <p:tgtEl>
                                          <p:spTgt spid="632"/>
                                        </p:tgtEl>
                                        <p:attrNameLst>
                                          <p:attrName>style.visibility</p:attrName>
                                        </p:attrNameLst>
                                      </p:cBhvr>
                                      <p:to>
                                        <p:strVal val="visible"/>
                                      </p:to>
                                    </p:set>
                                    <p:animEffect filter="fade" transition="in">
                                      <p:cBhvr>
                                        <p:cTn dur="600"/>
                                        <p:tgtEl>
                                          <p:spTgt spid="632"/>
                                        </p:tgtEl>
                                      </p:cBhvr>
                                    </p:animEffect>
                                  </p:childTnLst>
                                </p:cTn>
                              </p:par>
                              <p:par>
                                <p:cTn fill="hold" nodeType="withEffect" presetClass="entr" presetID="10" presetSubtype="0">
                                  <p:stCondLst>
                                    <p:cond delay="0"/>
                                  </p:stCondLst>
                                  <p:childTnLst>
                                    <p:set>
                                      <p:cBhvr>
                                        <p:cTn dur="1" fill="hold">
                                          <p:stCondLst>
                                            <p:cond delay="0"/>
                                          </p:stCondLst>
                                        </p:cTn>
                                        <p:tgtEl>
                                          <p:spTgt spid="633"/>
                                        </p:tgtEl>
                                        <p:attrNameLst>
                                          <p:attrName>style.visibility</p:attrName>
                                        </p:attrNameLst>
                                      </p:cBhvr>
                                      <p:to>
                                        <p:strVal val="visible"/>
                                      </p:to>
                                    </p:set>
                                    <p:animEffect filter="fade" transition="in">
                                      <p:cBhvr>
                                        <p:cTn dur="600"/>
                                        <p:tgtEl>
                                          <p:spTgt spid="6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40" name="Google Shape;640;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a:t>
            </a:r>
            <a:endParaRPr b="0" i="0" spc="0" sz="2400" u="none" cap="none" strike="noStrike">
              <a:solidFill>
                <a:schemeClr val="dk1"/>
              </a:solidFill>
              <a:latin typeface="Calibri"/>
              <a:ea typeface="Calibri"/>
              <a:cs typeface="Calibri"/>
              <a:sym typeface="Calibri"/>
            </a:endParaRPr>
          </a:p>
        </p:txBody>
      </p:sp>
      <p:sp>
        <p:nvSpPr>
          <p:cNvPr id="641" name="Google Shape;641;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It depends entirely on why the customer is cancelling.</a:t>
            </a:r>
            <a:endParaRPr b="0" i="0" spc="0" sz="1200" u="none" cap="none" strike="noStrike">
              <a:solidFill>
                <a:schemeClr val="dk1"/>
              </a:solidFill>
              <a:latin typeface="Calibri"/>
              <a:ea typeface="Calibri"/>
              <a:cs typeface="Calibri"/>
              <a:sym typeface="Calibri"/>
            </a:endParaRPr>
          </a:p>
        </p:txBody>
      </p:sp>
      <p:sp>
        <p:nvSpPr>
          <p:cNvPr id="642" name="Google Shape;642;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43" name="Google Shape;643;p28"/>
          <p:cNvSpPr/>
          <p:nvPr/>
        </p:nvSpPr>
        <p:spPr>
          <a:xfrm>
            <a:off x="411480" y="1298448"/>
            <a:ext cx="3246120" cy="201168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4" name="Google Shape;644;p28"/>
          <p:cNvSpPr/>
          <p:nvPr/>
        </p:nvSpPr>
        <p:spPr>
          <a:xfrm>
            <a:off x="411480" y="1298448"/>
            <a:ext cx="324612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1  Check the first job’s hours</a:t>
            </a:r>
            <a:endParaRPr b="0" i="0" spc="0" sz="1400" u="none" cap="none" strike="noStrike">
              <a:solidFill>
                <a:srgbClr val="000000"/>
              </a:solidFill>
              <a:latin typeface="Arial"/>
              <a:ea typeface="Arial"/>
              <a:cs typeface="Arial"/>
              <a:sym typeface="Arial"/>
            </a:endParaRPr>
          </a:p>
        </p:txBody>
      </p:sp>
      <p:sp>
        <p:nvSpPr>
          <p:cNvPr id="645" name="Google Shape;645;p28"/>
          <p:cNvSpPr txBox="1"/>
          <p:nvPr/>
        </p:nvSpPr>
        <p:spPr>
          <a:xfrm>
            <a:off x="576072" y="1682496"/>
            <a:ext cx="2926080" cy="15727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ETF = $35/hr × first-cleaning hours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An overcharge on that job inflates the ETF. Resolve the OCH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Invoiced 4 hrs, CP’s messages show 2.5 → refund 1.5 hrs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1" i="0" lang="en-US" spc="0" sz="1400" u="none" cap="none" strike="noStrike">
                <a:solidFill>
                  <a:srgbClr val="0B7A6F"/>
                </a:solidFill>
                <a:latin typeface="Play"/>
                <a:ea typeface="Play"/>
                <a:cs typeface="Play"/>
                <a:sym typeface="Play"/>
              </a:rPr>
              <a:t>ETF $140 → $87.50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That’s the ETF you present.</a:t>
            </a:r>
            <a:endParaRPr b="0" i="0" spc="0" sz="1400" u="none" cap="none" strike="noStrike">
              <a:solidFill>
                <a:srgbClr val="000000"/>
              </a:solidFill>
              <a:latin typeface="Arial"/>
              <a:ea typeface="Arial"/>
              <a:cs typeface="Arial"/>
              <a:sym typeface="Arial"/>
            </a:endParaRPr>
          </a:p>
        </p:txBody>
      </p:sp>
      <p:sp>
        <p:nvSpPr>
          <p:cNvPr id="646" name="Google Shape;646;p28"/>
          <p:cNvSpPr txBox="1"/>
          <p:nvPr/>
        </p:nvSpPr>
        <p:spPr>
          <a:xfrm>
            <a:off x="3794760" y="1298448"/>
            <a:ext cx="4937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2  WHEN TO OFFER IT</a:t>
            </a:r>
            <a:endParaRPr b="0" i="0" spc="0" sz="1400" u="none" cap="none" strike="noStrike">
              <a:solidFill>
                <a:srgbClr val="000000"/>
              </a:solidFill>
              <a:latin typeface="Arial"/>
              <a:ea typeface="Arial"/>
              <a:cs typeface="Arial"/>
              <a:sym typeface="Arial"/>
            </a:endParaRPr>
          </a:p>
        </p:txBody>
      </p:sp>
      <p:sp>
        <p:nvSpPr>
          <p:cNvPr id="647" name="Google Shape;647;p28"/>
          <p:cNvSpPr/>
          <p:nvPr/>
        </p:nvSpPr>
        <p:spPr>
          <a:xfrm>
            <a:off x="3794760" y="1517904"/>
            <a:ext cx="4937760" cy="530352"/>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8" name="Google Shape;648;p28"/>
          <p:cNvSpPr txBox="1"/>
          <p:nvPr/>
        </p:nvSpPr>
        <p:spPr>
          <a:xfrm>
            <a:off x="3931920" y="1517904"/>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Unawareness only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(or “I only wanted a one-time cleaning”)</a:t>
            </a:r>
            <a:endParaRPr b="0" i="0" spc="0" sz="1400" u="none" cap="none" strike="noStrike">
              <a:solidFill>
                <a:srgbClr val="000000"/>
              </a:solidFill>
              <a:latin typeface="Arial"/>
              <a:ea typeface="Arial"/>
              <a:cs typeface="Arial"/>
              <a:sym typeface="Arial"/>
            </a:endParaRPr>
          </a:p>
        </p:txBody>
      </p:sp>
      <p:sp>
        <p:nvSpPr>
          <p:cNvPr id="649" name="Google Shape;649;p28"/>
          <p:cNvSpPr txBox="1"/>
          <p:nvPr/>
        </p:nvSpPr>
        <p:spPr>
          <a:xfrm>
            <a:off x="5943600" y="1517904"/>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Don’t offer it proactively. Wait for a hint they’d pay a reduced ETF.</a:t>
            </a:r>
            <a:endParaRPr b="0" i="0" spc="0" sz="1400" u="none" cap="none" strike="noStrike">
              <a:solidFill>
                <a:srgbClr val="000000"/>
              </a:solidFill>
              <a:latin typeface="Arial"/>
              <a:ea typeface="Arial"/>
              <a:cs typeface="Arial"/>
              <a:sym typeface="Arial"/>
            </a:endParaRPr>
          </a:p>
        </p:txBody>
      </p:sp>
      <p:sp>
        <p:nvSpPr>
          <p:cNvPr id="650" name="Google Shape;650;p28"/>
          <p:cNvSpPr/>
          <p:nvPr/>
        </p:nvSpPr>
        <p:spPr>
          <a:xfrm>
            <a:off x="3794760" y="2121408"/>
            <a:ext cx="4937760" cy="5303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1" name="Google Shape;651;p28"/>
          <p:cNvSpPr txBox="1"/>
          <p:nvPr/>
        </p:nvSpPr>
        <p:spPr>
          <a:xfrm>
            <a:off x="3931920" y="2121408"/>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Any other reason mixed in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(service issue, cost complaint…)</a:t>
            </a:r>
            <a:endParaRPr b="0" i="0" spc="0" sz="1400" u="none" cap="none" strike="noStrike">
              <a:solidFill>
                <a:srgbClr val="000000"/>
              </a:solidFill>
              <a:latin typeface="Arial"/>
              <a:ea typeface="Arial"/>
              <a:cs typeface="Arial"/>
              <a:sym typeface="Arial"/>
            </a:endParaRPr>
          </a:p>
        </p:txBody>
      </p:sp>
      <p:sp>
        <p:nvSpPr>
          <p:cNvPr id="652" name="Google Shape;652;p28"/>
          <p:cNvSpPr txBox="1"/>
          <p:nvPr/>
        </p:nvSpPr>
        <p:spPr>
          <a:xfrm>
            <a:off x="5943600" y="2121408"/>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Standard exit tool once retention is exhausted. MCT cheaper? Use that.</a:t>
            </a:r>
            <a:endParaRPr b="0" i="0" spc="0" sz="1400" u="none" cap="none" strike="noStrike">
              <a:solidFill>
                <a:srgbClr val="000000"/>
              </a:solidFill>
              <a:latin typeface="Arial"/>
              <a:ea typeface="Arial"/>
              <a:cs typeface="Arial"/>
              <a:sym typeface="Arial"/>
            </a:endParaRPr>
          </a:p>
        </p:txBody>
      </p:sp>
      <p:sp>
        <p:nvSpPr>
          <p:cNvPr id="653" name="Google Shape;653;p28"/>
          <p:cNvSpPr/>
          <p:nvPr/>
        </p:nvSpPr>
        <p:spPr>
          <a:xfrm>
            <a:off x="3794760" y="2724912"/>
            <a:ext cx="4937760" cy="530352"/>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8"/>
          <p:cNvSpPr txBox="1"/>
          <p:nvPr/>
        </p:nvSpPr>
        <p:spPr>
          <a:xfrm>
            <a:off x="3931920" y="2724912"/>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Extreme financial hardship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(skip retention attempts)</a:t>
            </a:r>
            <a:endParaRPr b="0" i="0" spc="0" sz="1400" u="none" cap="none" strike="noStrike">
              <a:solidFill>
                <a:srgbClr val="000000"/>
              </a:solidFill>
              <a:latin typeface="Arial"/>
              <a:ea typeface="Arial"/>
              <a:cs typeface="Arial"/>
              <a:sym typeface="Arial"/>
            </a:endParaRPr>
          </a:p>
        </p:txBody>
      </p:sp>
      <p:sp>
        <p:nvSpPr>
          <p:cNvPr id="655" name="Google Shape;655;p28"/>
          <p:cNvSpPr txBox="1"/>
          <p:nvPr/>
        </p:nvSpPr>
        <p:spPr>
          <a:xfrm>
            <a:off x="5943600" y="2724912"/>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Go straight to 50% off. Declined? Waive the ETF entirely.</a:t>
            </a:r>
            <a:endParaRPr b="0" i="0" spc="0" sz="1400" u="none" cap="none" strike="noStrike">
              <a:solidFill>
                <a:srgbClr val="000000"/>
              </a:solidFill>
              <a:latin typeface="Arial"/>
              <a:ea typeface="Arial"/>
              <a:cs typeface="Arial"/>
              <a:sym typeface="Arial"/>
            </a:endParaRPr>
          </a:p>
        </p:txBody>
      </p:sp>
      <p:sp>
        <p:nvSpPr>
          <p:cNvPr id="656" name="Google Shape;656;p28"/>
          <p:cNvSpPr/>
          <p:nvPr/>
        </p:nvSpPr>
        <p:spPr>
          <a:xfrm>
            <a:off x="4114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28"/>
          <p:cNvSpPr/>
          <p:nvPr/>
        </p:nvSpPr>
        <p:spPr>
          <a:xfrm>
            <a:off x="411480" y="3438144"/>
            <a:ext cx="2682240" cy="310896"/>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3  What can be deducted</a:t>
            </a:r>
            <a:endParaRPr b="0" i="0" spc="0" sz="1400" u="none" cap="none" strike="noStrike">
              <a:solidFill>
                <a:srgbClr val="000000"/>
              </a:solidFill>
              <a:latin typeface="Arial"/>
              <a:ea typeface="Arial"/>
              <a:cs typeface="Arial"/>
              <a:sym typeface="Arial"/>
            </a:endParaRPr>
          </a:p>
        </p:txBody>
      </p:sp>
      <p:sp>
        <p:nvSpPr>
          <p:cNvPr id="658" name="Google Shape;658;p28"/>
          <p:cNvSpPr txBox="1"/>
          <p:nvPr/>
        </p:nvSpPr>
        <p:spPr>
          <a:xfrm>
            <a:off x="5486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MF and/or voucher price</a:t>
            </a:r>
            <a:r>
              <a:rPr b="0" i="0" lang="en-US" spc="0" sz="900" u="none" cap="none" strike="noStrike">
                <a:solidFill>
                  <a:srgbClr val="1D1D1F"/>
                </a:solidFill>
                <a:latin typeface="Arial"/>
                <a:ea typeface="Arial"/>
                <a:cs typeface="Arial"/>
                <a:sym typeface="Arial"/>
              </a:rPr>
              <a:t>: don’t stack automatically, only when justified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Additional-hours charge</a:t>
            </a:r>
            <a:r>
              <a:rPr b="0" i="0" lang="en-US" spc="0" sz="900" u="none" cap="none" strike="noStrike">
                <a:solidFill>
                  <a:srgbClr val="1D1D1F"/>
                </a:solidFill>
                <a:latin typeface="Arial"/>
                <a:ea typeface="Arial"/>
                <a:cs typeface="Arial"/>
                <a:sym typeface="Arial"/>
              </a:rPr>
              <a:t>: if the FC-triggering job ran past the voucher’s hours</a:t>
            </a:r>
            <a:endParaRPr b="0" i="0" spc="0" sz="1400" u="none" cap="none" strike="noStrike">
              <a:solidFill>
                <a:srgbClr val="000000"/>
              </a:solidFill>
              <a:latin typeface="Arial"/>
              <a:ea typeface="Arial"/>
              <a:cs typeface="Arial"/>
              <a:sym typeface="Arial"/>
            </a:endParaRPr>
          </a:p>
        </p:txBody>
      </p:sp>
      <p:sp>
        <p:nvSpPr>
          <p:cNvPr id="659" name="Google Shape;659;p28"/>
          <p:cNvSpPr/>
          <p:nvPr/>
        </p:nvSpPr>
        <p:spPr>
          <a:xfrm>
            <a:off x="32308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0" name="Google Shape;660;p28"/>
          <p:cNvSpPr/>
          <p:nvPr/>
        </p:nvSpPr>
        <p:spPr>
          <a:xfrm>
            <a:off x="3230880" y="3438144"/>
            <a:ext cx="268224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Cap: 50% of the original ETF</a:t>
            </a:r>
            <a:endParaRPr b="0" i="0" spc="0" sz="1400" u="none" cap="none" strike="noStrike">
              <a:solidFill>
                <a:srgbClr val="000000"/>
              </a:solidFill>
              <a:latin typeface="Arial"/>
              <a:ea typeface="Arial"/>
              <a:cs typeface="Arial"/>
              <a:sym typeface="Arial"/>
            </a:endParaRPr>
          </a:p>
        </p:txBody>
      </p:sp>
      <p:sp>
        <p:nvSpPr>
          <p:cNvPr id="661" name="Google Shape;661;p28"/>
          <p:cNvSpPr txBox="1"/>
          <p:nvPr/>
        </p:nvSpPr>
        <p:spPr>
          <a:xfrm>
            <a:off x="33680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Whatever is deducted. More line items don’t raise the ceiling, they just change how you get there.</a:t>
            </a:r>
            <a:endParaRPr b="0" i="0" spc="0" sz="1400" u="none" cap="none" strike="noStrike">
              <a:solidFill>
                <a:srgbClr val="000000"/>
              </a:solidFill>
              <a:latin typeface="Arial"/>
              <a:ea typeface="Arial"/>
              <a:cs typeface="Arial"/>
              <a:sym typeface="Arial"/>
            </a:endParaRPr>
          </a:p>
        </p:txBody>
      </p:sp>
      <p:sp>
        <p:nvSpPr>
          <p:cNvPr id="662" name="Google Shape;662;p28"/>
          <p:cNvSpPr/>
          <p:nvPr/>
        </p:nvSpPr>
        <p:spPr>
          <a:xfrm>
            <a:off x="60502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28"/>
          <p:cNvSpPr/>
          <p:nvPr/>
        </p:nvSpPr>
        <p:spPr>
          <a:xfrm>
            <a:off x="6050280" y="3438144"/>
            <a:ext cx="2682240" cy="310896"/>
          </a:xfrm>
          <a:prstGeom prst="roundRect">
            <a:avLst>
              <a:gd fmla="val 8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Before you apply it</a:t>
            </a:r>
            <a:endParaRPr b="0" i="0" spc="0" sz="1400" u="none" cap="none" strike="noStrike">
              <a:solidFill>
                <a:srgbClr val="000000"/>
              </a:solidFill>
              <a:latin typeface="Arial"/>
              <a:ea typeface="Arial"/>
              <a:cs typeface="Arial"/>
              <a:sym typeface="Arial"/>
            </a:endParaRPr>
          </a:p>
        </p:txBody>
      </p:sp>
      <p:sp>
        <p:nvSpPr>
          <p:cNvPr id="664" name="Google Shape;664;p28"/>
          <p:cNvSpPr txBox="1"/>
          <p:nvPr/>
        </p:nvSpPr>
        <p:spPr>
          <a:xfrm>
            <a:off x="61874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Note the customer’s </a:t>
            </a:r>
            <a:r>
              <a:rPr b="1" i="0" lang="en-US" spc="0" sz="900" u="none" cap="none" strike="noStrike">
                <a:solidFill>
                  <a:srgbClr val="1D1D1F"/>
                </a:solidFill>
                <a:latin typeface="Play"/>
                <a:ea typeface="Play"/>
                <a:cs typeface="Play"/>
                <a:sym typeface="Play"/>
              </a:rPr>
              <a:t>LTNR</a:t>
            </a:r>
            <a:r>
              <a:rPr b="0" i="0" lang="en-US" spc="0" sz="900" u="none" cap="none" strike="noStrike">
                <a:solidFill>
                  <a:srgbClr val="1D1D1F"/>
                </a:solidFill>
                <a:latin typeface="Arial"/>
                <a:ea typeface="Arial"/>
                <a:cs typeface="Arial"/>
                <a:sym typeface="Arial"/>
              </a:rPr>
              <a:t> in the internal note (context, not a limit).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Existing reduction? Always calculate from the </a:t>
            </a:r>
            <a:r>
              <a:rPr b="1" i="0" lang="en-US" spc="0" sz="900" u="none" cap="none" strike="noStrike">
                <a:solidFill>
                  <a:srgbClr val="1D1D1F"/>
                </a:solidFill>
                <a:latin typeface="Play"/>
                <a:ea typeface="Play"/>
                <a:cs typeface="Play"/>
                <a:sym typeface="Play"/>
              </a:rPr>
              <a:t>original</a:t>
            </a:r>
            <a:r>
              <a:rPr b="0" i="0" lang="en-US" spc="0" sz="900" u="none" cap="none" strike="noStrike">
                <a:solidFill>
                  <a:srgbClr val="1D1D1F"/>
                </a:solidFill>
                <a:latin typeface="Arial"/>
                <a:ea typeface="Arial"/>
                <a:cs typeface="Arial"/>
                <a:sym typeface="Arial"/>
              </a:rPr>
              <a:t> ETF.</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71" name="Google Shape;671;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 the 50% cap</a:t>
            </a:r>
            <a:endParaRPr b="0" i="0" spc="0" sz="2400" u="none" cap="none" strike="noStrike">
              <a:solidFill>
                <a:schemeClr val="dk1"/>
              </a:solidFill>
              <a:latin typeface="Calibri"/>
              <a:ea typeface="Calibri"/>
              <a:cs typeface="Calibri"/>
              <a:sym typeface="Calibri"/>
            </a:endParaRPr>
          </a:p>
        </p:txBody>
      </p:sp>
      <p:sp>
        <p:nvSpPr>
          <p:cNvPr id="672" name="Google Shape;672;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Deductions change how you get there, not the ceiling.</a:t>
            </a:r>
            <a:endParaRPr b="0" i="0" spc="0" sz="1200" u="none" cap="none" strike="noStrike">
              <a:solidFill>
                <a:schemeClr val="dk1"/>
              </a:solidFill>
              <a:latin typeface="Calibri"/>
              <a:ea typeface="Calibri"/>
              <a:cs typeface="Calibri"/>
              <a:sym typeface="Calibri"/>
            </a:endParaRPr>
          </a:p>
        </p:txBody>
      </p:sp>
      <p:sp>
        <p:nvSpPr>
          <p:cNvPr id="673" name="Google Shape;673;p29"/>
          <p:cNvSpPr/>
          <p:nvPr/>
        </p:nvSpPr>
        <p:spPr>
          <a:xfrm>
            <a:off x="411480" y="1325880"/>
            <a:ext cx="23774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4" name="Google Shape;674;p29"/>
          <p:cNvSpPr txBox="1"/>
          <p:nvPr/>
        </p:nvSpPr>
        <p:spPr>
          <a:xfrm>
            <a:off x="411480" y="1490472"/>
            <a:ext cx="23774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50%</a:t>
            </a:r>
            <a:endParaRPr b="0" i="0" spc="0" sz="3000" u="none" cap="none" strike="noStrike">
              <a:solidFill>
                <a:schemeClr val="dk1"/>
              </a:solidFill>
              <a:latin typeface="Calibri"/>
              <a:ea typeface="Calibri"/>
              <a:cs typeface="Calibri"/>
              <a:sym typeface="Calibri"/>
            </a:endParaRPr>
          </a:p>
        </p:txBody>
      </p:sp>
      <p:sp>
        <p:nvSpPr>
          <p:cNvPr id="675" name="Google Shape;675;p29"/>
          <p:cNvSpPr txBox="1"/>
          <p:nvPr/>
        </p:nvSpPr>
        <p:spPr>
          <a:xfrm>
            <a:off x="594360" y="2148840"/>
            <a:ext cx="2011680" cy="11887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max off the original ETF, whatever is deducted</a:t>
            </a:r>
            <a:endParaRPr b="0" i="0" spc="0" sz="1000" u="none" cap="none" strike="noStrike">
              <a:solidFill>
                <a:srgbClr val="6E6E73"/>
              </a:solidFill>
              <a:latin typeface="Arial"/>
              <a:ea typeface="Arial"/>
              <a:cs typeface="Arial"/>
              <a:sym typeface="Arial"/>
            </a:endParaRPr>
          </a:p>
          <a:p>
            <a:pPr indent="0" lvl="0" marL="0" marR="0" rtl="0" algn="ctr">
              <a:lnSpc>
                <a:spcPct val="100000"/>
              </a:lnSpc>
              <a:spcBef>
                <a:spcPts val="0"/>
              </a:spcBef>
              <a:spcAft>
                <a:spcPts val="0"/>
              </a:spcAft>
              <a:buClr>
                <a:srgbClr val="6E6E73"/>
              </a:buClr>
              <a:buSzPts val="1000"/>
              <a:buFont typeface="Arial"/>
              <a:buNone/>
            </a:pPr>
            <a:r>
              <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ETF</a:t>
            </a:r>
            <a:endParaRPr b="0" i="0" spc="0" sz="1000" u="none" cap="none" strike="noStrike">
              <a:solidFill>
                <a:srgbClr val="6E6E73"/>
              </a:solidFill>
              <a:latin typeface="Arial"/>
              <a:ea typeface="Arial"/>
              <a:cs typeface="Arial"/>
              <a:sym typeface="Arial"/>
            </a:endParaRPr>
          </a:p>
        </p:txBody>
      </p:sp>
      <p:sp>
        <p:nvSpPr>
          <p:cNvPr id="676" name="Google Shape;676;p29"/>
          <p:cNvSpPr txBox="1"/>
          <p:nvPr/>
        </p:nvSpPr>
        <p:spPr>
          <a:xfrm>
            <a:off x="297180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WHAT CAN BE DEDUCTED</a:t>
            </a:r>
            <a:endParaRPr b="0" i="0" spc="0" sz="800" u="none" cap="none" strike="noStrike">
              <a:solidFill>
                <a:schemeClr val="dk1"/>
              </a:solidFill>
              <a:latin typeface="Calibri"/>
              <a:ea typeface="Calibri"/>
              <a:cs typeface="Calibri"/>
              <a:sym typeface="Calibri"/>
            </a:endParaRPr>
          </a:p>
        </p:txBody>
      </p:sp>
      <p:sp>
        <p:nvSpPr>
          <p:cNvPr id="677" name="Google Shape;677;p29"/>
          <p:cNvSpPr/>
          <p:nvPr/>
        </p:nvSpPr>
        <p:spPr>
          <a:xfrm>
            <a:off x="2971800" y="15727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p:nvPr/>
        </p:nvSpPr>
        <p:spPr>
          <a:xfrm>
            <a:off x="3090672" y="17099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79" name="Google Shape;679;p29"/>
          <p:cNvPicPr preferRelativeResize="0"/>
          <p:nvPr/>
        </p:nvPicPr>
        <p:blipFill rotWithShape="1">
          <a:blip r:embed="rId3">
            <a:alphaModFix/>
          </a:blip>
          <a:srcRect b="0" l="0" r="0" t="0"/>
          <a:stretch/>
        </p:blipFill>
        <p:spPr>
          <a:xfrm>
            <a:off x="3169676" y="1788932"/>
            <a:ext cx="171176" cy="171176"/>
          </a:xfrm>
          <a:prstGeom prst="rect">
            <a:avLst/>
          </a:prstGeom>
          <a:noFill/>
          <a:ln>
            <a:noFill/>
          </a:ln>
        </p:spPr>
      </p:pic>
      <p:sp>
        <p:nvSpPr>
          <p:cNvPr id="680" name="Google Shape;680;p29"/>
          <p:cNvSpPr txBox="1"/>
          <p:nvPr/>
        </p:nvSpPr>
        <p:spPr>
          <a:xfrm>
            <a:off x="3520440" y="15727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MF and/or voucher price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Standard. Stack only when justified.</a:t>
            </a:r>
            <a:endParaRPr b="0" i="0" spc="0" sz="1050" u="none" cap="none" strike="noStrike">
              <a:solidFill>
                <a:schemeClr val="dk1"/>
              </a:solidFill>
              <a:latin typeface="Calibri"/>
              <a:ea typeface="Calibri"/>
              <a:cs typeface="Calibri"/>
              <a:sym typeface="Calibri"/>
            </a:endParaRPr>
          </a:p>
        </p:txBody>
      </p:sp>
      <p:sp>
        <p:nvSpPr>
          <p:cNvPr id="681" name="Google Shape;681;p29"/>
          <p:cNvSpPr/>
          <p:nvPr/>
        </p:nvSpPr>
        <p:spPr>
          <a:xfrm>
            <a:off x="2971800" y="22585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29"/>
          <p:cNvSpPr/>
          <p:nvPr/>
        </p:nvSpPr>
        <p:spPr>
          <a:xfrm>
            <a:off x="3090672" y="23957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3" name="Google Shape;683;p29"/>
          <p:cNvPicPr preferRelativeResize="0"/>
          <p:nvPr/>
        </p:nvPicPr>
        <p:blipFill rotWithShape="1">
          <a:blip r:embed="rId4">
            <a:alphaModFix/>
          </a:blip>
          <a:srcRect b="0" l="0" r="0" t="0"/>
          <a:stretch/>
        </p:blipFill>
        <p:spPr>
          <a:xfrm>
            <a:off x="3169676" y="2474732"/>
            <a:ext cx="171176" cy="171176"/>
          </a:xfrm>
          <a:prstGeom prst="rect">
            <a:avLst/>
          </a:prstGeom>
          <a:noFill/>
          <a:ln>
            <a:noFill/>
          </a:ln>
        </p:spPr>
      </p:pic>
      <p:sp>
        <p:nvSpPr>
          <p:cNvPr id="684" name="Google Shape;684;p29"/>
          <p:cNvSpPr txBox="1"/>
          <p:nvPr/>
        </p:nvSpPr>
        <p:spPr>
          <a:xfrm>
            <a:off x="3520440" y="22585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Additional-hours charge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FC-triggering job ran over the voucher's hours.</a:t>
            </a:r>
            <a:endParaRPr b="0" i="0" spc="0" sz="1050" u="none" cap="none" strike="noStrike">
              <a:solidFill>
                <a:schemeClr val="dk1"/>
              </a:solidFill>
              <a:latin typeface="Calibri"/>
              <a:ea typeface="Calibri"/>
              <a:cs typeface="Calibri"/>
              <a:sym typeface="Calibri"/>
            </a:endParaRPr>
          </a:p>
        </p:txBody>
      </p:sp>
      <p:sp>
        <p:nvSpPr>
          <p:cNvPr id="685" name="Google Shape;685;p2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6" name="Google Shape;686;p29"/>
          <p:cNvPicPr preferRelativeResize="0"/>
          <p:nvPr/>
        </p:nvPicPr>
        <p:blipFill rotWithShape="1">
          <a:blip r:embed="rId5">
            <a:alphaModFix/>
          </a:blip>
          <a:srcRect b="0" l="0" r="0" t="0"/>
          <a:stretch/>
        </p:blipFill>
        <p:spPr>
          <a:xfrm>
            <a:off x="566928" y="3721608"/>
            <a:ext cx="164592" cy="164592"/>
          </a:xfrm>
          <a:prstGeom prst="rect">
            <a:avLst/>
          </a:prstGeom>
          <a:noFill/>
          <a:ln>
            <a:noFill/>
          </a:ln>
        </p:spPr>
      </p:pic>
      <p:sp>
        <p:nvSpPr>
          <p:cNvPr id="687" name="Google Shape;687;p2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Internal note:  </a:t>
            </a:r>
            <a:r>
              <a:rPr b="0" i="0" lang="en-US" spc="0" sz="1000" u="none" cap="none" strike="noStrike">
                <a:solidFill>
                  <a:srgbClr val="1D1D1F"/>
                </a:solidFill>
                <a:latin typeface="Arial"/>
                <a:ea typeface="Arial"/>
                <a:cs typeface="Arial"/>
                <a:sym typeface="Arial"/>
              </a:rPr>
              <a:t>record the customer's LTNR. Context only, not a limit.</a:t>
            </a:r>
            <a:endParaRPr b="0" i="0" spc="0" sz="1000" u="none" cap="none" strike="noStrike">
              <a:solidFill>
                <a:schemeClr val="dk1"/>
              </a:solidFill>
              <a:latin typeface="Calibri"/>
              <a:ea typeface="Calibri"/>
              <a:cs typeface="Calibri"/>
              <a:sym typeface="Calibri"/>
            </a:endParaRPr>
          </a:p>
        </p:txBody>
      </p:sp>
      <p:sp>
        <p:nvSpPr>
          <p:cNvPr id="688" name="Google Shape;688;p29"/>
          <p:cNvSpPr/>
          <p:nvPr/>
        </p:nvSpPr>
        <p:spPr>
          <a:xfrm>
            <a:off x="411480" y="40873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9" name="Google Shape;689;p29"/>
          <p:cNvPicPr preferRelativeResize="0"/>
          <p:nvPr/>
        </p:nvPicPr>
        <p:blipFill rotWithShape="1">
          <a:blip r:embed="rId6">
            <a:alphaModFix/>
          </a:blip>
          <a:srcRect b="0" l="0" r="0" t="0"/>
          <a:stretch/>
        </p:blipFill>
        <p:spPr>
          <a:xfrm>
            <a:off x="566928" y="4197096"/>
            <a:ext cx="164592" cy="164592"/>
          </a:xfrm>
          <a:prstGeom prst="rect">
            <a:avLst/>
          </a:prstGeom>
          <a:noFill/>
          <a:ln>
            <a:noFill/>
          </a:ln>
        </p:spPr>
      </p:pic>
      <p:sp>
        <p:nvSpPr>
          <p:cNvPr id="690" name="Google Shape;690;p29"/>
          <p:cNvSpPr txBox="1"/>
          <p:nvPr/>
        </p:nvSpPr>
        <p:spPr>
          <a:xfrm>
            <a:off x="822960" y="41879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Always from the original ETF:  </a:t>
            </a:r>
            <a:r>
              <a:rPr b="0" i="0" lang="en-US" spc="0" sz="1000" u="none" cap="none" strike="noStrike">
                <a:solidFill>
                  <a:srgbClr val="1D1D1F"/>
                </a:solidFill>
                <a:latin typeface="Arial"/>
                <a:ea typeface="Arial"/>
                <a:cs typeface="Arial"/>
                <a:sym typeface="Arial"/>
              </a:rPr>
              <a:t>never an already-discounted amount. Check for an existing reduction.</a:t>
            </a:r>
            <a:endParaRPr b="0" i="0" spc="0" sz="1000" u="none" cap="none" strike="noStrike">
              <a:solidFill>
                <a:schemeClr val="dk1"/>
              </a:solidFill>
              <a:latin typeface="Calibri"/>
              <a:ea typeface="Calibri"/>
              <a:cs typeface="Calibri"/>
              <a:sym typeface="Calibri"/>
            </a:endParaRPr>
          </a:p>
        </p:txBody>
      </p:sp>
      <p:sp>
        <p:nvSpPr>
          <p:cNvPr id="691" name="Google Shape;691;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KNOWLEDGE CHECK</a:t>
            </a:r>
            <a:endParaRPr b="0" i="0" spc="0" sz="800" u="none" cap="none" strike="noStrike">
              <a:solidFill>
                <a:schemeClr val="dk1"/>
              </a:solidFill>
              <a:latin typeface="Calibri"/>
              <a:ea typeface="Calibri"/>
              <a:cs typeface="Calibri"/>
              <a:sym typeface="Calibri"/>
            </a:endParaRPr>
          </a:p>
        </p:txBody>
      </p:sp>
      <p:sp>
        <p:nvSpPr>
          <p:cNvPr id="698" name="Google Shape;698;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699" name="Google Shape;699;p30"/>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0" name="Google Shape;700;p30"/>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1" name="Google Shape;701;p30"/>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02" name="Google Shape;702;p30"/>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complains about a poor cleaning but hasn't mentioned cancelling. Can you offer a voucher?</a:t>
            </a:r>
            <a:endParaRPr b="0" i="0" spc="0" sz="1000" u="none" cap="none" strike="noStrike">
              <a:solidFill>
                <a:schemeClr val="dk1"/>
              </a:solidFill>
              <a:latin typeface="Calibri"/>
              <a:ea typeface="Calibri"/>
              <a:cs typeface="Calibri"/>
              <a:sym typeface="Calibri"/>
            </a:endParaRPr>
          </a:p>
        </p:txBody>
      </p:sp>
      <p:sp>
        <p:nvSpPr>
          <p:cNvPr id="703" name="Google Shape;703;p30"/>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4" name="Google Shape;704;p30"/>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You don't need cancellation intent if an offer fixes the problem.</a:t>
            </a:r>
            <a:endParaRPr b="0" i="0" spc="0" sz="900" u="none" cap="none" strike="noStrike">
              <a:solidFill>
                <a:schemeClr val="dk1"/>
              </a:solidFill>
              <a:latin typeface="Calibri"/>
              <a:ea typeface="Calibri"/>
              <a:cs typeface="Calibri"/>
              <a:sym typeface="Calibri"/>
            </a:endParaRPr>
          </a:p>
        </p:txBody>
      </p:sp>
      <p:sp>
        <p:nvSpPr>
          <p:cNvPr id="705" name="Google Shape;705;p30"/>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30"/>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7" name="Google Shape;707;p30"/>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08" name="Google Shape;708;p30"/>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Customer is on $49 MF (a $10 reduction) and now qualifies for $15. New fee?</a:t>
            </a:r>
            <a:endParaRPr b="0" i="0" spc="0" sz="1000" u="none" cap="none" strike="noStrike">
              <a:solidFill>
                <a:schemeClr val="dk1"/>
              </a:solidFill>
              <a:latin typeface="Calibri"/>
              <a:ea typeface="Calibri"/>
              <a:cs typeface="Calibri"/>
              <a:sym typeface="Calibri"/>
            </a:endParaRPr>
          </a:p>
        </p:txBody>
      </p:sp>
      <p:sp>
        <p:nvSpPr>
          <p:cNvPr id="709" name="Google Shape;709;p30"/>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0" name="Google Shape;710;p30"/>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$44: always from $59. $59 − $15.</a:t>
            </a:r>
            <a:endParaRPr b="0" i="0" spc="0" sz="900" u="none" cap="none" strike="noStrike">
              <a:solidFill>
                <a:schemeClr val="dk1"/>
              </a:solidFill>
              <a:latin typeface="Calibri"/>
              <a:ea typeface="Calibri"/>
              <a:cs typeface="Calibri"/>
              <a:sym typeface="Calibri"/>
            </a:endParaRPr>
          </a:p>
        </p:txBody>
      </p:sp>
      <p:sp>
        <p:nvSpPr>
          <p:cNvPr id="711" name="Google Shape;711;p30"/>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3" name="Google Shape;713;p30"/>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14" name="Google Shape;714;p30"/>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 was cancelled, but RC ran and charged a Lockout fee. What kind of offer is the refund?</a:t>
            </a:r>
            <a:endParaRPr b="0" i="0" spc="0" sz="1000" u="none" cap="none" strike="noStrike">
              <a:solidFill>
                <a:schemeClr val="dk1"/>
              </a:solidFill>
              <a:latin typeface="Calibri"/>
              <a:ea typeface="Calibri"/>
              <a:cs typeface="Calibri"/>
              <a:sym typeface="Calibri"/>
            </a:endParaRPr>
          </a:p>
        </p:txBody>
      </p:sp>
      <p:sp>
        <p:nvSpPr>
          <p:cNvPr id="715" name="Google Shape;715;p30"/>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6" name="Google Shape;716;p30"/>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Make-Right: we caused it, whatever their status.</a:t>
            </a:r>
            <a:endParaRPr b="0" i="0" spc="0" sz="900" u="none" cap="none" strike="noStrike">
              <a:solidFill>
                <a:schemeClr val="dk1"/>
              </a:solidFill>
              <a:latin typeface="Calibri"/>
              <a:ea typeface="Calibri"/>
              <a:cs typeface="Calibri"/>
              <a:sym typeface="Calibri"/>
            </a:endParaRPr>
          </a:p>
        </p:txBody>
      </p:sp>
      <p:sp>
        <p:nvSpPr>
          <p:cNvPr id="717" name="Google Shape;717;p30"/>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8" name="Google Shape;718;p30"/>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9" name="Google Shape;719;p30"/>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720" name="Google Shape;720;p30"/>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Cancelling only because they were unaware of FC. Offer an ETF reduction?</a:t>
            </a:r>
            <a:endParaRPr b="0" i="0" spc="0" sz="1000" u="none" cap="none" strike="noStrike">
              <a:solidFill>
                <a:schemeClr val="dk1"/>
              </a:solidFill>
              <a:latin typeface="Calibri"/>
              <a:ea typeface="Calibri"/>
              <a:cs typeface="Calibri"/>
              <a:sym typeface="Calibri"/>
            </a:endParaRPr>
          </a:p>
        </p:txBody>
      </p:sp>
      <p:sp>
        <p:nvSpPr>
          <p:cNvPr id="721" name="Google Shape;721;p30"/>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2" name="Google Shape;722;p30"/>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proactively. Wait for a hint they'd pay a reduced ETF.</a:t>
            </a:r>
            <a:endParaRPr b="0" i="0" spc="0" sz="900" u="none" cap="none" strike="noStrike">
              <a:solidFill>
                <a:schemeClr val="dk1"/>
              </a:solidFill>
              <a:latin typeface="Calibri"/>
              <a:ea typeface="Calibri"/>
              <a:cs typeface="Calibri"/>
              <a:sym typeface="Calibri"/>
            </a:endParaRPr>
          </a:p>
        </p:txBody>
      </p:sp>
      <p:sp>
        <p:nvSpPr>
          <p:cNvPr id="723" name="Google Shape;723;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04"/>
                                        </p:tgtEl>
                                        <p:attrNameLst>
                                          <p:attrName>style.visibility</p:attrName>
                                        </p:attrNameLst>
                                      </p:cBhvr>
                                      <p:to>
                                        <p:strVal val="visible"/>
                                      </p:to>
                                    </p:set>
                                    <p:animEffect filter="fade" transition="in">
                                      <p:cBhvr>
                                        <p:cTn dur="600"/>
                                        <p:tgtEl>
                                          <p:spTgt spid="70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0"/>
                                        </p:tgtEl>
                                        <p:attrNameLst>
                                          <p:attrName>style.visibility</p:attrName>
                                        </p:attrNameLst>
                                      </p:cBhvr>
                                      <p:to>
                                        <p:strVal val="visible"/>
                                      </p:to>
                                    </p:set>
                                    <p:animEffect filter="fade" transition="in">
                                      <p:cBhvr>
                                        <p:cTn dur="600"/>
                                        <p:tgtEl>
                                          <p:spTgt spid="7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6"/>
                                        </p:tgtEl>
                                        <p:attrNameLst>
                                          <p:attrName>style.visibility</p:attrName>
                                        </p:attrNameLst>
                                      </p:cBhvr>
                                      <p:to>
                                        <p:strVal val="visible"/>
                                      </p:to>
                                    </p:set>
                                    <p:animEffect filter="fade" transition="in">
                                      <p:cBhvr>
                                        <p:cTn dur="600"/>
                                        <p:tgtEl>
                                          <p:spTgt spid="7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2"/>
                                        </p:tgtEl>
                                        <p:attrNameLst>
                                          <p:attrName>style.visibility</p:attrName>
                                        </p:attrNameLst>
                                      </p:cBhvr>
                                      <p:to>
                                        <p:strVal val="visible"/>
                                      </p:to>
                                    </p:set>
                                    <p:animEffect filter="fade" transition="in">
                                      <p:cBhvr>
                                        <p:cTn dur="600"/>
                                        <p:tgtEl>
                                          <p:spTgt spid="7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PRACTICE</a:t>
            </a:r>
            <a:endParaRPr b="0" i="0" spc="0" sz="800" u="none" cap="none" strike="noStrike">
              <a:solidFill>
                <a:schemeClr val="dk1"/>
              </a:solidFill>
              <a:latin typeface="Calibri"/>
              <a:ea typeface="Calibri"/>
              <a:cs typeface="Calibri"/>
              <a:sym typeface="Calibri"/>
            </a:endParaRPr>
          </a:p>
        </p:txBody>
      </p:sp>
      <p:sp>
        <p:nvSpPr>
          <p:cNvPr id="730" name="Google Shape;730;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731" name="Google Shape;731;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732" name="Google Shape;732;p31"/>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3" name="Google Shape;733;p31"/>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34" name="Google Shape;734;p31"/>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735" name="Google Shape;735;p31"/>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736" name="Google Shape;736;p31"/>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737" name="Google Shape;737;p31"/>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738" name="Google Shape;738;p31"/>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9" name="Google Shape;739;p31"/>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0" name="Google Shape;740;p31"/>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41" name="Google Shape;741;p31"/>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problem is the customer solving?</a:t>
            </a:r>
            <a:endParaRPr b="0" i="0" spc="0" sz="1250" u="none" cap="none" strike="noStrike">
              <a:solidFill>
                <a:schemeClr val="dk1"/>
              </a:solidFill>
              <a:latin typeface="Calibri"/>
              <a:ea typeface="Calibri"/>
              <a:cs typeface="Calibri"/>
              <a:sym typeface="Calibri"/>
            </a:endParaRPr>
          </a:p>
        </p:txBody>
      </p:sp>
      <p:sp>
        <p:nvSpPr>
          <p:cNvPr id="742" name="Google Shape;742;p31"/>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which kind of offer fits: Retention, Exit or Make-Right?</a:t>
            </a:r>
            <a:endParaRPr b="0" i="0" spc="0" sz="1000" u="none" cap="none" strike="noStrike">
              <a:solidFill>
                <a:schemeClr val="dk1"/>
              </a:solidFill>
              <a:latin typeface="Calibri"/>
              <a:ea typeface="Calibri"/>
              <a:cs typeface="Calibri"/>
              <a:sym typeface="Calibri"/>
            </a:endParaRPr>
          </a:p>
        </p:txBody>
      </p:sp>
      <p:sp>
        <p:nvSpPr>
          <p:cNvPr id="743" name="Google Shape;743;p31"/>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4" name="Google Shape;744;p31"/>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5" name="Google Shape;745;p31"/>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46" name="Google Shape;746;p31"/>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747" name="Google Shape;747;p31"/>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Which offer, how much, and any existing offer?</a:t>
            </a:r>
            <a:endParaRPr b="0" i="0" spc="0" sz="1000" u="none" cap="none" strike="noStrike">
              <a:solidFill>
                <a:schemeClr val="dk1"/>
              </a:solidFill>
              <a:latin typeface="Calibri"/>
              <a:ea typeface="Calibri"/>
              <a:cs typeface="Calibri"/>
              <a:sym typeface="Calibri"/>
            </a:endParaRPr>
          </a:p>
        </p:txBody>
      </p:sp>
      <p:sp>
        <p:nvSpPr>
          <p:cNvPr id="748" name="Google Shape;748;p31"/>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9" name="Google Shape;749;p31"/>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0" name="Google Shape;750;p31"/>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51" name="Google Shape;751;p31"/>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752" name="Google Shape;752;p31"/>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753" name="Google Shape;753;p31"/>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4" name="Google Shape;754;p31"/>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755" name="Google Shape;755;p31"/>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756" name="Google Shape;756;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32"/>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763" name="Google Shape;763;p32"/>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Cancellation Intent in C/CP Comms</a:t>
            </a:r>
            <a:endParaRPr b="0" i="0" spc="0" sz="2800" u="none" cap="none" strike="noStrike">
              <a:solidFill>
                <a:schemeClr val="dk1"/>
              </a:solidFill>
              <a:latin typeface="Calibri"/>
              <a:ea typeface="Calibri"/>
              <a:cs typeface="Calibri"/>
              <a:sym typeface="Calibri"/>
            </a:endParaRPr>
          </a:p>
        </p:txBody>
      </p:sp>
      <p:sp>
        <p:nvSpPr>
          <p:cNvPr id="764" name="Google Shape;764;p32"/>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customer told their CP they want to cancel. They haven't told us yet.</a:t>
            </a:r>
            <a:endParaRPr b="0" i="0" spc="0" sz="1150" u="none" cap="none" strike="noStrike">
              <a:solidFill>
                <a:schemeClr val="dk1"/>
              </a:solidFill>
              <a:latin typeface="Calibri"/>
              <a:ea typeface="Calibri"/>
              <a:cs typeface="Calibri"/>
              <a:sym typeface="Calibri"/>
            </a:endParaRPr>
          </a:p>
        </p:txBody>
      </p:sp>
      <p:sp>
        <p:nvSpPr>
          <p:cNvPr id="765" name="Google Shape;765;p32"/>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66" name="Google Shape;766;p32"/>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7" name="Google Shape;767;p32"/>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68" name="Google Shape;768;p32"/>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we reach out first</a:t>
            </a:r>
            <a:endParaRPr b="0" i="0" spc="0" sz="1050" u="none" cap="none" strike="noStrike">
              <a:solidFill>
                <a:schemeClr val="dk1"/>
              </a:solidFill>
              <a:latin typeface="Calibri"/>
              <a:ea typeface="Calibri"/>
              <a:cs typeface="Calibri"/>
              <a:sym typeface="Calibri"/>
            </a:endParaRPr>
          </a:p>
        </p:txBody>
      </p:sp>
      <p:sp>
        <p:nvSpPr>
          <p:cNvPr id="769" name="Google Shape;769;p32"/>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0" name="Google Shape;770;p32"/>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71" name="Google Shape;771;p32"/>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Opening the conversation the right way</a:t>
            </a:r>
            <a:endParaRPr b="0" i="0" spc="0" sz="1050" u="none" cap="none" strike="noStrike">
              <a:solidFill>
                <a:schemeClr val="dk1"/>
              </a:solidFill>
              <a:latin typeface="Calibri"/>
              <a:ea typeface="Calibri"/>
              <a:cs typeface="Calibri"/>
              <a:sym typeface="Calibri"/>
            </a:endParaRPr>
          </a:p>
        </p:txBody>
      </p:sp>
      <p:sp>
        <p:nvSpPr>
          <p:cNvPr id="772" name="Google Shape;772;p32"/>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3" name="Google Shape;773;p32"/>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74" name="Google Shape;774;p32"/>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775" name="Google Shape;775;p32"/>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6" name="Google Shape;776;p32"/>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77" name="Google Shape;777;p32"/>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Routing to the right playbook</a:t>
            </a:r>
            <a:endParaRPr b="0" i="0" spc="0" sz="1050" u="none" cap="none" strike="noStrike">
              <a:solidFill>
                <a:schemeClr val="dk1"/>
              </a:solidFill>
              <a:latin typeface="Calibri"/>
              <a:ea typeface="Calibri"/>
              <a:cs typeface="Calibri"/>
              <a:sym typeface="Calibri"/>
            </a:endParaRPr>
          </a:p>
        </p:txBody>
      </p:sp>
      <p:sp>
        <p:nvSpPr>
          <p:cNvPr id="778" name="Google Shape;778;p32"/>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9" name="Google Shape;779;p32"/>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30.png" id="780" name="Google Shape;780;p32"/>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781" name="Google Shape;781;p32"/>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2" name="Google Shape;782;p32"/>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32"/>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4" name="Google Shape;784;p32"/>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5" name="Google Shape;785;p32"/>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6" name="Google Shape;786;p32"/>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7" name="Google Shape;787;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2" name="Shape 792"/>
        <p:cNvGrpSpPr/>
        <p:nvPr/>
      </p:nvGrpSpPr>
      <p:grpSpPr>
        <a:xfrm>
          <a:off x="0" y="0"/>
          <a:ext cx="0" cy="0"/>
          <a:chOff x="0" y="0"/>
          <a:chExt cx="0" cy="0"/>
        </a:xfrm>
      </p:grpSpPr>
      <p:sp>
        <p:nvSpPr>
          <p:cNvPr id="793" name="Google Shape;793;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94" name="Google Shape;794;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795" name="Google Shape;795;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We spotted it in C/CP messages while investigating something else.</a:t>
            </a:r>
            <a:endParaRPr b="0" i="0" spc="0" sz="1200" u="none" cap="none" strike="noStrike">
              <a:solidFill>
                <a:schemeClr val="dk1"/>
              </a:solidFill>
              <a:latin typeface="Calibri"/>
              <a:ea typeface="Calibri"/>
              <a:cs typeface="Calibri"/>
              <a:sym typeface="Calibri"/>
            </a:endParaRPr>
          </a:p>
        </p:txBody>
      </p:sp>
      <p:sp>
        <p:nvSpPr>
          <p:cNvPr id="796" name="Google Shape;796;p33"/>
          <p:cNvSpPr/>
          <p:nvPr/>
        </p:nvSpPr>
        <p:spPr>
          <a:xfrm>
            <a:off x="411480" y="1508760"/>
            <a:ext cx="251460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7" name="Google Shape;797;p33"/>
          <p:cNvSpPr txBox="1"/>
          <p:nvPr/>
        </p:nvSpPr>
        <p:spPr>
          <a:xfrm>
            <a:off x="41148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 tells the CP: "I want to cancel"</a:t>
            </a:r>
            <a:endParaRPr b="0" i="0" spc="0" sz="1000" u="none" cap="none" strike="noStrike">
              <a:solidFill>
                <a:schemeClr val="dk1"/>
              </a:solidFill>
              <a:latin typeface="Calibri"/>
              <a:ea typeface="Calibri"/>
              <a:cs typeface="Calibri"/>
              <a:sym typeface="Calibri"/>
            </a:endParaRPr>
          </a:p>
        </p:txBody>
      </p:sp>
      <p:cxnSp>
        <p:nvCxnSpPr>
          <p:cNvPr id="798" name="Google Shape;798;p33"/>
          <p:cNvCxnSpPr/>
          <p:nvPr/>
        </p:nvCxnSpPr>
        <p:spPr>
          <a:xfrm>
            <a:off x="292608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99" name="Google Shape;799;p33"/>
          <p:cNvSpPr/>
          <p:nvPr/>
        </p:nvSpPr>
        <p:spPr>
          <a:xfrm>
            <a:off x="3314700" y="1508760"/>
            <a:ext cx="251460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0" name="Google Shape;800;p33"/>
          <p:cNvSpPr txBox="1"/>
          <p:nvPr/>
        </p:nvSpPr>
        <p:spPr>
          <a:xfrm>
            <a:off x="331470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CP can cancel a job, not FC</a:t>
            </a:r>
            <a:endParaRPr b="0" i="0" spc="0" sz="1000" u="none" cap="none" strike="noStrike">
              <a:solidFill>
                <a:schemeClr val="dk1"/>
              </a:solidFill>
              <a:latin typeface="Calibri"/>
              <a:ea typeface="Calibri"/>
              <a:cs typeface="Calibri"/>
              <a:sym typeface="Calibri"/>
            </a:endParaRPr>
          </a:p>
        </p:txBody>
      </p:sp>
      <p:cxnSp>
        <p:nvCxnSpPr>
          <p:cNvPr id="801" name="Google Shape;801;p33"/>
          <p:cNvCxnSpPr/>
          <p:nvPr/>
        </p:nvCxnSpPr>
        <p:spPr>
          <a:xfrm>
            <a:off x="582930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802" name="Google Shape;802;p33"/>
          <p:cNvSpPr/>
          <p:nvPr/>
        </p:nvSpPr>
        <p:spPr>
          <a:xfrm>
            <a:off x="6217920" y="1508760"/>
            <a:ext cx="2514600" cy="640080"/>
          </a:xfrm>
          <a:prstGeom prst="roundRect">
            <a:avLst>
              <a:gd fmla="val 11429"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3" name="Google Shape;803;p33"/>
          <p:cNvSpPr txBox="1"/>
          <p:nvPr/>
        </p:nvSpPr>
        <p:spPr>
          <a:xfrm>
            <a:off x="621792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The MF hits again. Frustration</a:t>
            </a:r>
            <a:endParaRPr b="0" i="0" spc="0" sz="1000" u="none" cap="none" strike="noStrike">
              <a:solidFill>
                <a:schemeClr val="dk1"/>
              </a:solidFill>
              <a:latin typeface="Calibri"/>
              <a:ea typeface="Calibri"/>
              <a:cs typeface="Calibri"/>
              <a:sym typeface="Calibri"/>
            </a:endParaRPr>
          </a:p>
        </p:txBody>
      </p:sp>
      <p:sp>
        <p:nvSpPr>
          <p:cNvPr id="804" name="Google Shape;804;p33"/>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IF WE DO NOTHING</a:t>
            </a:r>
            <a:endParaRPr b="0" i="0" spc="0" sz="800" u="none" cap="none" strike="noStrike">
              <a:solidFill>
                <a:schemeClr val="dk1"/>
              </a:solidFill>
              <a:latin typeface="Calibri"/>
              <a:ea typeface="Calibri"/>
              <a:cs typeface="Calibri"/>
              <a:sym typeface="Calibri"/>
            </a:endParaRPr>
          </a:p>
        </p:txBody>
      </p:sp>
      <p:sp>
        <p:nvSpPr>
          <p:cNvPr id="805" name="Google Shape;805;p33"/>
          <p:cNvSpPr/>
          <p:nvPr/>
        </p:nvSpPr>
        <p:spPr>
          <a:xfrm>
            <a:off x="411480" y="2377440"/>
            <a:ext cx="8321040" cy="868680"/>
          </a:xfrm>
          <a:prstGeom prst="roundRect">
            <a:avLst>
              <a:gd fmla="val 842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6" name="Google Shape;806;p33"/>
          <p:cNvPicPr preferRelativeResize="0"/>
          <p:nvPr/>
        </p:nvPicPr>
        <p:blipFill rotWithShape="1">
          <a:blip r:embed="rId3">
            <a:alphaModFix/>
          </a:blip>
          <a:srcRect b="0" l="0" r="0" t="0"/>
          <a:stretch/>
        </p:blipFill>
        <p:spPr>
          <a:xfrm>
            <a:off x="685800" y="2633472"/>
            <a:ext cx="347472" cy="347472"/>
          </a:xfrm>
          <a:prstGeom prst="rect">
            <a:avLst/>
          </a:prstGeom>
          <a:noFill/>
          <a:ln>
            <a:noFill/>
          </a:ln>
        </p:spPr>
      </p:pic>
      <p:sp>
        <p:nvSpPr>
          <p:cNvPr id="807" name="Google Shape;807;p33"/>
          <p:cNvSpPr txBox="1"/>
          <p:nvPr/>
        </p:nvSpPr>
        <p:spPr>
          <a:xfrm>
            <a:off x="1234440" y="2377440"/>
            <a:ext cx="73152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So we reach out first</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It reads as attentive, not intrusive, if we open it the right way.</a:t>
            </a:r>
            <a:endParaRPr b="0" i="0" spc="0" sz="1500" u="none" cap="none" strike="noStrike">
              <a:solidFill>
                <a:schemeClr val="dk1"/>
              </a:solidFill>
              <a:latin typeface="Calibri"/>
              <a:ea typeface="Calibri"/>
              <a:cs typeface="Calibri"/>
              <a:sym typeface="Calibri"/>
            </a:endParaRPr>
          </a:p>
        </p:txBody>
      </p:sp>
      <p:sp>
        <p:nvSpPr>
          <p:cNvPr id="808" name="Google Shape;808;p33"/>
          <p:cNvSpPr/>
          <p:nvPr/>
        </p:nvSpPr>
        <p:spPr>
          <a:xfrm>
            <a:off x="411480" y="34290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9" name="Google Shape;809;p33"/>
          <p:cNvPicPr preferRelativeResize="0"/>
          <p:nvPr/>
        </p:nvPicPr>
        <p:blipFill rotWithShape="1">
          <a:blip r:embed="rId4">
            <a:alphaModFix/>
          </a:blip>
          <a:srcRect b="0" l="0" r="0" t="0"/>
          <a:stretch/>
        </p:blipFill>
        <p:spPr>
          <a:xfrm>
            <a:off x="566928" y="3538728"/>
            <a:ext cx="164592" cy="164592"/>
          </a:xfrm>
          <a:prstGeom prst="rect">
            <a:avLst/>
          </a:prstGeom>
          <a:noFill/>
          <a:ln>
            <a:noFill/>
          </a:ln>
        </p:spPr>
      </p:pic>
      <p:sp>
        <p:nvSpPr>
          <p:cNvPr id="810" name="Google Shape;810;p33"/>
          <p:cNvSpPr txBox="1"/>
          <p:nvPr/>
        </p:nvSpPr>
        <p:spPr>
          <a:xfrm>
            <a:off x="822960" y="35295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Customer contacted us about cancelling?  </a:t>
            </a:r>
            <a:r>
              <a:rPr b="0" i="0" lang="en-US" spc="0" sz="1000" u="none" cap="none" strike="noStrike">
                <a:solidFill>
                  <a:srgbClr val="1D1D1F"/>
                </a:solidFill>
                <a:latin typeface="Arial"/>
                <a:ea typeface="Arial"/>
                <a:cs typeface="Arial"/>
                <a:sym typeface="Arial"/>
              </a:rPr>
              <a:t>that's a normal retention conversation. Go to the Retention Playbook.</a:t>
            </a:r>
            <a:endParaRPr b="0" i="0" spc="0" sz="1000" u="none" cap="none" strike="noStrike">
              <a:solidFill>
                <a:schemeClr val="dk1"/>
              </a:solidFill>
              <a:latin typeface="Calibri"/>
              <a:ea typeface="Calibri"/>
              <a:cs typeface="Calibri"/>
              <a:sym typeface="Calibri"/>
            </a:endParaRPr>
          </a:p>
        </p:txBody>
      </p:sp>
      <p:sp>
        <p:nvSpPr>
          <p:cNvPr id="811" name="Google Shape;811;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34"/>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18" name="Google Shape;818;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Get the opening right</a:t>
            </a:r>
            <a:endParaRPr b="0" i="0" spc="0" sz="2400" u="none" cap="none" strike="noStrike">
              <a:solidFill>
                <a:schemeClr val="dk1"/>
              </a:solidFill>
              <a:latin typeface="Calibri"/>
              <a:ea typeface="Calibri"/>
              <a:cs typeface="Calibri"/>
              <a:sym typeface="Calibri"/>
            </a:endParaRPr>
          </a:p>
        </p:txBody>
      </p:sp>
      <p:sp>
        <p:nvSpPr>
          <p:cNvPr id="819" name="Google Shape;819;p34"/>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something, not everything.</a:t>
            </a:r>
            <a:endParaRPr b="0" i="0" spc="0" sz="1200" u="none" cap="none" strike="noStrike">
              <a:solidFill>
                <a:schemeClr val="dk1"/>
              </a:solidFill>
              <a:latin typeface="Calibri"/>
              <a:ea typeface="Calibri"/>
              <a:cs typeface="Calibri"/>
              <a:sym typeface="Calibri"/>
            </a:endParaRPr>
          </a:p>
        </p:txBody>
      </p:sp>
      <p:sp>
        <p:nvSpPr>
          <p:cNvPr id="820" name="Google Shape;820;p34"/>
          <p:cNvSpPr/>
          <p:nvPr/>
        </p:nvSpPr>
        <p:spPr>
          <a:xfrm>
            <a:off x="4114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4"/>
          <p:cNvSpPr/>
          <p:nvPr/>
        </p:nvSpPr>
        <p:spPr>
          <a:xfrm>
            <a:off x="5943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2" name="Google Shape;822;p34"/>
          <p:cNvPicPr preferRelativeResize="0"/>
          <p:nvPr/>
        </p:nvPicPr>
        <p:blipFill rotWithShape="1">
          <a:blip r:embed="rId3">
            <a:alphaModFix/>
          </a:blip>
          <a:srcRect b="0" l="0" r="0" t="0"/>
          <a:stretch/>
        </p:blipFill>
        <p:spPr>
          <a:xfrm>
            <a:off x="686532" y="1600932"/>
            <a:ext cx="199705" cy="199705"/>
          </a:xfrm>
          <a:prstGeom prst="rect">
            <a:avLst/>
          </a:prstGeom>
          <a:noFill/>
          <a:ln>
            <a:noFill/>
          </a:ln>
        </p:spPr>
      </p:pic>
      <p:sp>
        <p:nvSpPr>
          <p:cNvPr id="823" name="Google Shape;823;p34"/>
          <p:cNvSpPr txBox="1"/>
          <p:nvPr/>
        </p:nvSpPr>
        <p:spPr>
          <a:xfrm>
            <a:off x="25908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24" name="Google Shape;824;p34"/>
          <p:cNvSpPr txBox="1"/>
          <p:nvPr/>
        </p:nvSpPr>
        <p:spPr>
          <a:xfrm>
            <a:off x="5943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Pretend you don't know</a:t>
            </a:r>
            <a:endParaRPr b="0" i="0" spc="0" sz="1200" u="none" cap="none" strike="noStrike">
              <a:solidFill>
                <a:schemeClr val="dk1"/>
              </a:solidFill>
              <a:latin typeface="Calibri"/>
              <a:ea typeface="Calibri"/>
              <a:cs typeface="Calibri"/>
              <a:sym typeface="Calibri"/>
            </a:endParaRPr>
          </a:p>
        </p:txBody>
      </p:sp>
      <p:sp>
        <p:nvSpPr>
          <p:cNvPr id="825" name="Google Shape;825;p34"/>
          <p:cNvSpPr txBox="1"/>
          <p:nvPr/>
        </p:nvSpPr>
        <p:spPr>
          <a:xfrm>
            <a:off x="5943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Looks like we ignored a clear signal, and delays what they want.</a:t>
            </a:r>
            <a:endParaRPr b="0" i="0" spc="0" sz="950" u="none" cap="none" strike="noStrike">
              <a:solidFill>
                <a:schemeClr val="dk1"/>
              </a:solidFill>
              <a:latin typeface="Calibri"/>
              <a:ea typeface="Calibri"/>
              <a:cs typeface="Calibri"/>
              <a:sym typeface="Calibri"/>
            </a:endParaRPr>
          </a:p>
        </p:txBody>
      </p:sp>
      <p:sp>
        <p:nvSpPr>
          <p:cNvPr id="826" name="Google Shape;826;p34"/>
          <p:cNvSpPr/>
          <p:nvPr/>
        </p:nvSpPr>
        <p:spPr>
          <a:xfrm>
            <a:off x="3230880" y="1325880"/>
            <a:ext cx="2682300" cy="2011800"/>
          </a:xfrm>
          <a:prstGeom prst="roundRect">
            <a:avLst>
              <a:gd fmla="val 3636"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34"/>
          <p:cNvSpPr/>
          <p:nvPr/>
        </p:nvSpPr>
        <p:spPr>
          <a:xfrm>
            <a:off x="34137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8" name="Google Shape;828;p34"/>
          <p:cNvPicPr preferRelativeResize="0"/>
          <p:nvPr/>
        </p:nvPicPr>
        <p:blipFill rotWithShape="1">
          <a:blip r:embed="rId4">
            <a:alphaModFix/>
          </a:blip>
          <a:srcRect b="0" l="0" r="0" t="0"/>
          <a:stretch/>
        </p:blipFill>
        <p:spPr>
          <a:xfrm>
            <a:off x="3505932" y="1600932"/>
            <a:ext cx="199705" cy="199705"/>
          </a:xfrm>
          <a:prstGeom prst="rect">
            <a:avLst/>
          </a:prstGeom>
          <a:noFill/>
          <a:ln>
            <a:noFill/>
          </a:ln>
        </p:spPr>
      </p:pic>
      <p:sp>
        <p:nvSpPr>
          <p:cNvPr id="829" name="Google Shape;829;p34"/>
          <p:cNvSpPr txBox="1"/>
          <p:nvPr/>
        </p:nvSpPr>
        <p:spPr>
          <a:xfrm>
            <a:off x="54102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0" name="Google Shape;830;p34"/>
          <p:cNvSpPr txBox="1"/>
          <p:nvPr/>
        </p:nvSpPr>
        <p:spPr>
          <a:xfrm>
            <a:off x="34137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Know something, not everything</a:t>
            </a:r>
            <a:endParaRPr b="0" i="0" spc="0" sz="1200" u="none" cap="none" strike="noStrike">
              <a:solidFill>
                <a:schemeClr val="dk1"/>
              </a:solidFill>
              <a:latin typeface="Calibri"/>
              <a:ea typeface="Calibri"/>
              <a:cs typeface="Calibri"/>
              <a:sym typeface="Calibri"/>
            </a:endParaRPr>
          </a:p>
        </p:txBody>
      </p:sp>
      <p:sp>
        <p:nvSpPr>
          <p:cNvPr id="831" name="Google Shape;831;p34"/>
          <p:cNvSpPr txBox="1"/>
          <p:nvPr/>
        </p:nvSpPr>
        <p:spPr>
          <a:xfrm>
            <a:off x="34137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awkward pretending, and they still tell it in their own words.</a:t>
            </a:r>
            <a:endParaRPr b="0" i="0" spc="0" sz="950" u="none" cap="none" strike="noStrike">
              <a:solidFill>
                <a:schemeClr val="dk1"/>
              </a:solidFill>
              <a:latin typeface="Calibri"/>
              <a:ea typeface="Calibri"/>
              <a:cs typeface="Calibri"/>
              <a:sym typeface="Calibri"/>
            </a:endParaRPr>
          </a:p>
        </p:txBody>
      </p:sp>
      <p:sp>
        <p:nvSpPr>
          <p:cNvPr id="832" name="Google Shape;832;p34"/>
          <p:cNvSpPr/>
          <p:nvPr/>
        </p:nvSpPr>
        <p:spPr>
          <a:xfrm>
            <a:off x="60502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4"/>
          <p:cNvSpPr/>
          <p:nvPr/>
        </p:nvSpPr>
        <p:spPr>
          <a:xfrm>
            <a:off x="62331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4" name="Google Shape;834;p34"/>
          <p:cNvPicPr preferRelativeResize="0"/>
          <p:nvPr/>
        </p:nvPicPr>
        <p:blipFill rotWithShape="1">
          <a:blip r:embed="rId5">
            <a:alphaModFix/>
          </a:blip>
          <a:srcRect b="0" l="0" r="0" t="0"/>
          <a:stretch/>
        </p:blipFill>
        <p:spPr>
          <a:xfrm>
            <a:off x="6325332" y="1600932"/>
            <a:ext cx="199705" cy="199705"/>
          </a:xfrm>
          <a:prstGeom prst="rect">
            <a:avLst/>
          </a:prstGeom>
          <a:noFill/>
          <a:ln>
            <a:noFill/>
          </a:ln>
        </p:spPr>
      </p:pic>
      <p:sp>
        <p:nvSpPr>
          <p:cNvPr id="835" name="Google Shape;835;p34"/>
          <p:cNvSpPr txBox="1"/>
          <p:nvPr/>
        </p:nvSpPr>
        <p:spPr>
          <a:xfrm>
            <a:off x="82296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6" name="Google Shape;836;p34"/>
          <p:cNvSpPr txBox="1"/>
          <p:nvPr/>
        </p:nvSpPr>
        <p:spPr>
          <a:xfrm>
            <a:off x="62331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Recite everything they told the CP</a:t>
            </a:r>
            <a:endParaRPr b="0" i="0" spc="0" sz="1200" u="none" cap="none" strike="noStrike">
              <a:solidFill>
                <a:schemeClr val="dk1"/>
              </a:solidFill>
              <a:latin typeface="Calibri"/>
              <a:ea typeface="Calibri"/>
              <a:cs typeface="Calibri"/>
              <a:sym typeface="Calibri"/>
            </a:endParaRPr>
          </a:p>
        </p:txBody>
      </p:sp>
      <p:sp>
        <p:nvSpPr>
          <p:cNvPr id="837" name="Google Shape;837;p34"/>
          <p:cNvSpPr txBox="1"/>
          <p:nvPr/>
        </p:nvSpPr>
        <p:spPr>
          <a:xfrm>
            <a:off x="62331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Feels like we were reading over their shoulder.</a:t>
            </a:r>
            <a:endParaRPr b="0" i="0" spc="0" sz="950" u="none" cap="none" strike="noStrike">
              <a:solidFill>
                <a:schemeClr val="dk1"/>
              </a:solidFill>
              <a:latin typeface="Calibri"/>
              <a:ea typeface="Calibri"/>
              <a:cs typeface="Calibri"/>
              <a:sym typeface="Calibri"/>
            </a:endParaRPr>
          </a:p>
        </p:txBody>
      </p:sp>
      <p:sp>
        <p:nvSpPr>
          <p:cNvPr id="838" name="Google Shape;838;p34"/>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39" name="Google Shape;839;p34"/>
          <p:cNvSpPr/>
          <p:nvPr/>
        </p:nvSpPr>
        <p:spPr>
          <a:xfrm>
            <a:off x="411480" y="3520440"/>
            <a:ext cx="4023360" cy="411480"/>
          </a:xfrm>
          <a:prstGeom prst="roundRect">
            <a:avLst>
              <a:gd fmla="val 18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See a sample: triggered ticket + CP’s message</a:t>
            </a:r>
            <a:endParaRPr b="0" i="0" spc="0" sz="1400" u="none" cap="none" strike="noStrike">
              <a:solidFill>
                <a:srgbClr val="000000"/>
              </a:solidFill>
              <a:latin typeface="Arial"/>
              <a:ea typeface="Arial"/>
              <a:cs typeface="Arial"/>
              <a:sym typeface="Arial"/>
            </a:endParaRPr>
          </a:p>
        </p:txBody>
      </p:sp>
      <p:sp>
        <p:nvSpPr>
          <p:cNvPr id="840" name="Google Shape;840;p34"/>
          <p:cNvSpPr txBox="1"/>
          <p:nvPr/>
        </p:nvSpPr>
        <p:spPr>
          <a:xfrm>
            <a:off x="4526280" y="3520440"/>
            <a:ext cx="4206240" cy="4114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Play"/>
                <a:ea typeface="Play"/>
                <a:cs typeface="Play"/>
                <a:sym typeface="Play"/>
              </a:rPr>
              <a:t>Click once to show both, click again to close.</a:t>
            </a:r>
            <a:endParaRPr b="0" i="0" spc="0" sz="1400" u="none" cap="none" strike="noStrike">
              <a:solidFill>
                <a:srgbClr val="000000"/>
              </a:solidFill>
              <a:latin typeface="Arial"/>
              <a:ea typeface="Arial"/>
              <a:cs typeface="Arial"/>
              <a:sym typeface="Arial"/>
            </a:endParaRPr>
          </a:p>
        </p:txBody>
      </p:sp>
      <p:sp>
        <p:nvSpPr>
          <p:cNvPr id="841" name="Google Shape;841;p34"/>
          <p:cNvSpPr/>
          <p:nvPr/>
        </p:nvSpPr>
        <p:spPr>
          <a:xfrm>
            <a:off x="347472" y="1188720"/>
            <a:ext cx="8449056" cy="3584448"/>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2" name="Google Shape;842;p34"/>
          <p:cNvSpPr txBox="1"/>
          <p:nvPr/>
        </p:nvSpPr>
        <p:spPr>
          <a:xfrm>
            <a:off x="640080" y="1298448"/>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1  </a:t>
            </a:r>
            <a:r>
              <a:rPr b="1" i="0" lang="en-US" spc="0" sz="1000" u="none" cap="none" strike="noStrike">
                <a:solidFill>
                  <a:srgbClr val="1D1D1F"/>
                </a:solidFill>
                <a:latin typeface="Play"/>
                <a:ea typeface="Play"/>
                <a:cs typeface="Play"/>
                <a:sym typeface="Play"/>
              </a:rPr>
              <a:t>Triggered ticket</a:t>
            </a:r>
            <a:r>
              <a:rPr b="0" i="0" lang="en-US" spc="0" sz="1000" u="none" cap="none" strike="noStrike">
                <a:solidFill>
                  <a:srgbClr val="6E6E73"/>
                </a:solidFill>
                <a:latin typeface="Play"/>
                <a:ea typeface="Play"/>
                <a:cs typeface="Play"/>
                <a:sym typeface="Play"/>
              </a:rPr>
              <a:t>  — what Care takes action on</a:t>
            </a:r>
            <a:endParaRPr b="0" i="0" spc="0" sz="1400" u="none" cap="none" strike="noStrike">
              <a:solidFill>
                <a:srgbClr val="000000"/>
              </a:solidFill>
              <a:latin typeface="Arial"/>
              <a:ea typeface="Arial"/>
              <a:cs typeface="Arial"/>
              <a:sym typeface="Arial"/>
            </a:endParaRPr>
          </a:p>
        </p:txBody>
      </p:sp>
      <p:pic>
        <p:nvPicPr>
          <p:cNvPr descr="ci_triggered_ticket.png" id="843" name="Google Shape;843;p34"/>
          <p:cNvPicPr preferRelativeResize="0"/>
          <p:nvPr/>
        </p:nvPicPr>
        <p:blipFill rotWithShape="1">
          <a:blip r:embed="rId6">
            <a:alphaModFix/>
          </a:blip>
          <a:srcRect b="0" l="0" r="0" t="0"/>
          <a:stretch/>
        </p:blipFill>
        <p:spPr>
          <a:xfrm>
            <a:off x="640080" y="1554480"/>
            <a:ext cx="4480560" cy="1589876"/>
          </a:xfrm>
          <a:prstGeom prst="rect">
            <a:avLst/>
          </a:prstGeom>
          <a:noFill/>
          <a:ln cap="flat" cmpd="sng" w="9525">
            <a:solidFill>
              <a:srgbClr val="DCE1E7"/>
            </a:solidFill>
            <a:prstDash val="solid"/>
            <a:round/>
            <a:headEnd len="sm" w="sm" type="none"/>
            <a:tailEnd len="sm" w="sm" type="none"/>
          </a:ln>
        </p:spPr>
      </p:pic>
      <p:sp>
        <p:nvSpPr>
          <p:cNvPr id="844" name="Google Shape;844;p34"/>
          <p:cNvSpPr txBox="1"/>
          <p:nvPr/>
        </p:nvSpPr>
        <p:spPr>
          <a:xfrm>
            <a:off x="640080" y="3254084"/>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2  </a:t>
            </a:r>
            <a:r>
              <a:rPr b="1" i="0" lang="en-US" spc="0" sz="1000" u="none" cap="none" strike="noStrike">
                <a:solidFill>
                  <a:srgbClr val="1D1D1F"/>
                </a:solidFill>
                <a:latin typeface="Play"/>
                <a:ea typeface="Play"/>
                <a:cs typeface="Play"/>
                <a:sym typeface="Play"/>
              </a:rPr>
              <a:t>CP’s message</a:t>
            </a:r>
            <a:r>
              <a:rPr b="0" i="0" lang="en-US" spc="0" sz="1000" u="none" cap="none" strike="noStrike">
                <a:solidFill>
                  <a:srgbClr val="6E6E73"/>
                </a:solidFill>
                <a:latin typeface="Play"/>
                <a:ea typeface="Play"/>
                <a:cs typeface="Play"/>
                <a:sym typeface="Play"/>
              </a:rPr>
              <a:t>  — the cleaner reporting that the customer wants to cancel</a:t>
            </a:r>
            <a:endParaRPr b="0" i="0" spc="0" sz="1400" u="none" cap="none" strike="noStrike">
              <a:solidFill>
                <a:srgbClr val="000000"/>
              </a:solidFill>
              <a:latin typeface="Arial"/>
              <a:ea typeface="Arial"/>
              <a:cs typeface="Arial"/>
              <a:sym typeface="Arial"/>
            </a:endParaRPr>
          </a:p>
        </p:txBody>
      </p:sp>
      <p:pic>
        <p:nvPicPr>
          <p:cNvPr descr="ci_cp_message.png" id="845" name="Google Shape;845;p34"/>
          <p:cNvPicPr preferRelativeResize="0"/>
          <p:nvPr/>
        </p:nvPicPr>
        <p:blipFill rotWithShape="1">
          <a:blip r:embed="rId7">
            <a:alphaModFix/>
          </a:blip>
          <a:srcRect b="0" l="0" r="0" t="0"/>
          <a:stretch/>
        </p:blipFill>
        <p:spPr>
          <a:xfrm>
            <a:off x="640080" y="3510116"/>
            <a:ext cx="6217920" cy="1163353"/>
          </a:xfrm>
          <a:prstGeom prst="rect">
            <a:avLst/>
          </a:prstGeom>
          <a:noFill/>
          <a:ln cap="flat" cmpd="sng" w="9525">
            <a:solidFill>
              <a:srgbClr val="DCE1E7"/>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1"/>
                                        </p:tgtEl>
                                        <p:attrNameLst>
                                          <p:attrName>style.visibility</p:attrName>
                                        </p:attrNameLst>
                                      </p:cBhvr>
                                      <p:to>
                                        <p:strVal val="visible"/>
                                      </p:to>
                                    </p:set>
                                    <p:animEffect filter="fade" transition="in">
                                      <p:cBhvr>
                                        <p:cTn dur="600"/>
                                        <p:tgtEl>
                                          <p:spTgt spid="841"/>
                                        </p:tgtEl>
                                      </p:cBhvr>
                                    </p:animEffect>
                                  </p:childTnLst>
                                </p:cTn>
                              </p:par>
                              <p:par>
                                <p:cTn fill="hold" nodeType="withEffect" presetClass="entr" presetID="10" presetSubtype="0">
                                  <p:stCondLst>
                                    <p:cond delay="0"/>
                                  </p:stCondLst>
                                  <p:childTnLst>
                                    <p:set>
                                      <p:cBhvr>
                                        <p:cTn dur="1" fill="hold">
                                          <p:stCondLst>
                                            <p:cond delay="0"/>
                                          </p:stCondLst>
                                        </p:cTn>
                                        <p:tgtEl>
                                          <p:spTgt spid="842"/>
                                        </p:tgtEl>
                                        <p:attrNameLst>
                                          <p:attrName>style.visibility</p:attrName>
                                        </p:attrNameLst>
                                      </p:cBhvr>
                                      <p:to>
                                        <p:strVal val="visible"/>
                                      </p:to>
                                    </p:set>
                                    <p:animEffect filter="fade" transition="in">
                                      <p:cBhvr>
                                        <p:cTn dur="600"/>
                                        <p:tgtEl>
                                          <p:spTgt spid="842"/>
                                        </p:tgtEl>
                                      </p:cBhvr>
                                    </p:animEffect>
                                  </p:childTnLst>
                                </p:cTn>
                              </p:par>
                              <p:par>
                                <p:cTn fill="hold" nodeType="withEffect" presetClass="entr" presetID="10" presetSubtype="0">
                                  <p:stCondLst>
                                    <p:cond delay="0"/>
                                  </p:stCondLst>
                                  <p:childTnLst>
                                    <p:set>
                                      <p:cBhvr>
                                        <p:cTn dur="1" fill="hold">
                                          <p:stCondLst>
                                            <p:cond delay="0"/>
                                          </p:stCondLst>
                                        </p:cTn>
                                        <p:tgtEl>
                                          <p:spTgt spid="843"/>
                                        </p:tgtEl>
                                        <p:attrNameLst>
                                          <p:attrName>style.visibility</p:attrName>
                                        </p:attrNameLst>
                                      </p:cBhvr>
                                      <p:to>
                                        <p:strVal val="visible"/>
                                      </p:to>
                                    </p:set>
                                    <p:animEffect filter="fade" transition="in">
                                      <p:cBhvr>
                                        <p:cTn dur="600"/>
                                        <p:tgtEl>
                                          <p:spTgt spid="843"/>
                                        </p:tgtEl>
                                      </p:cBhvr>
                                    </p:animEffect>
                                  </p:childTnLst>
                                </p:cTn>
                              </p:par>
                              <p:par>
                                <p:cTn fill="hold" nodeType="withEffect" presetClass="entr" presetID="10" presetSubtype="0">
                                  <p:stCondLst>
                                    <p:cond delay="0"/>
                                  </p:stCondLst>
                                  <p:childTnLst>
                                    <p:set>
                                      <p:cBhvr>
                                        <p:cTn dur="1" fill="hold">
                                          <p:stCondLst>
                                            <p:cond delay="0"/>
                                          </p:stCondLst>
                                        </p:cTn>
                                        <p:tgtEl>
                                          <p:spTgt spid="844"/>
                                        </p:tgtEl>
                                        <p:attrNameLst>
                                          <p:attrName>style.visibility</p:attrName>
                                        </p:attrNameLst>
                                      </p:cBhvr>
                                      <p:to>
                                        <p:strVal val="visible"/>
                                      </p:to>
                                    </p:set>
                                    <p:animEffect filter="fade" transition="in">
                                      <p:cBhvr>
                                        <p:cTn dur="600"/>
                                        <p:tgtEl>
                                          <p:spTgt spid="844"/>
                                        </p:tgtEl>
                                      </p:cBhvr>
                                    </p:animEffect>
                                  </p:childTnLst>
                                </p:cTn>
                              </p:par>
                              <p:par>
                                <p:cTn fill="hold" nodeType="withEffect" presetClass="entr" presetID="10" presetSubtype="0">
                                  <p:stCondLst>
                                    <p:cond delay="0"/>
                                  </p:stCondLst>
                                  <p:childTnLst>
                                    <p:set>
                                      <p:cBhvr>
                                        <p:cTn dur="1" fill="hold">
                                          <p:stCondLst>
                                            <p:cond delay="0"/>
                                          </p:stCondLst>
                                        </p:cTn>
                                        <p:tgtEl>
                                          <p:spTgt spid="845"/>
                                        </p:tgtEl>
                                        <p:attrNameLst>
                                          <p:attrName>style.visibility</p:attrName>
                                        </p:attrNameLst>
                                      </p:cBhvr>
                                      <p:to>
                                        <p:strVal val="visible"/>
                                      </p:to>
                                    </p:set>
                                    <p:animEffect filter="fade" transition="in">
                                      <p:cBhvr>
                                        <p:cTn dur="600"/>
                                        <p:tgtEl>
                                          <p:spTgt spid="8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1"/>
                                          </p:stCondLst>
                                        </p:cTn>
                                        <p:tgtEl>
                                          <p:spTgt spid="841"/>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3"/>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4"/>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0" name="Shape 850"/>
        <p:cNvGrpSpPr/>
        <p:nvPr/>
      </p:nvGrpSpPr>
      <p:grpSpPr>
        <a:xfrm>
          <a:off x="0" y="0"/>
          <a:ext cx="0" cy="0"/>
          <a:chOff x="0" y="0"/>
          <a:chExt cx="0" cy="0"/>
        </a:xfrm>
      </p:grpSpPr>
      <p:sp>
        <p:nvSpPr>
          <p:cNvPr id="851" name="Google Shape;851;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52" name="Google Shape;852;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853" name="Google Shape;853;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Reach out, let them explain, then it's a normal retention conversation.</a:t>
            </a:r>
            <a:endParaRPr b="0" i="0" spc="0" sz="1200" u="none" cap="none" strike="noStrike">
              <a:solidFill>
                <a:schemeClr val="dk1"/>
              </a:solidFill>
              <a:latin typeface="Calibri"/>
              <a:ea typeface="Calibri"/>
              <a:cs typeface="Calibri"/>
              <a:sym typeface="Calibri"/>
            </a:endParaRPr>
          </a:p>
        </p:txBody>
      </p:sp>
      <p:sp>
        <p:nvSpPr>
          <p:cNvPr id="854" name="Google Shape;854;p35"/>
          <p:cNvSpPr/>
          <p:nvPr/>
        </p:nvSpPr>
        <p:spPr>
          <a:xfrm>
            <a:off x="411480"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5" name="Google Shape;855;p35"/>
          <p:cNvSpPr/>
          <p:nvPr/>
        </p:nvSpPr>
        <p:spPr>
          <a:xfrm>
            <a:off x="521208"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6" name="Google Shape;856;p35"/>
          <p:cNvSpPr txBox="1"/>
          <p:nvPr/>
        </p:nvSpPr>
        <p:spPr>
          <a:xfrm>
            <a:off x="521208"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57" name="Google Shape;857;p35"/>
          <p:cNvSpPr/>
          <p:nvPr/>
        </p:nvSpPr>
        <p:spPr>
          <a:xfrm>
            <a:off x="1545336"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8" name="Google Shape;858;p35"/>
          <p:cNvPicPr preferRelativeResize="0"/>
          <p:nvPr/>
        </p:nvPicPr>
        <p:blipFill rotWithShape="1">
          <a:blip r:embed="rId3">
            <a:alphaModFix/>
          </a:blip>
          <a:srcRect b="0" l="0" r="0" t="0"/>
          <a:stretch/>
        </p:blipFill>
        <p:spPr>
          <a:xfrm>
            <a:off x="1624340" y="1496324"/>
            <a:ext cx="171176" cy="171176"/>
          </a:xfrm>
          <a:prstGeom prst="rect">
            <a:avLst/>
          </a:prstGeom>
          <a:noFill/>
          <a:ln>
            <a:noFill/>
          </a:ln>
        </p:spPr>
      </p:pic>
      <p:sp>
        <p:nvSpPr>
          <p:cNvPr id="859" name="Google Shape;859;p35"/>
          <p:cNvSpPr txBox="1"/>
          <p:nvPr/>
        </p:nvSpPr>
        <p:spPr>
          <a:xfrm>
            <a:off x="521208"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Reach out</a:t>
            </a:r>
            <a:endParaRPr b="0" i="0" spc="0" sz="1100" u="none" cap="none" strike="noStrike">
              <a:solidFill>
                <a:schemeClr val="dk1"/>
              </a:solidFill>
              <a:latin typeface="Calibri"/>
              <a:ea typeface="Calibri"/>
              <a:cs typeface="Calibri"/>
              <a:sym typeface="Calibri"/>
            </a:endParaRPr>
          </a:p>
        </p:txBody>
      </p:sp>
      <p:sp>
        <p:nvSpPr>
          <p:cNvPr id="860" name="Google Shape;860;p35"/>
          <p:cNvSpPr txBox="1"/>
          <p:nvPr/>
        </p:nvSpPr>
        <p:spPr>
          <a:xfrm>
            <a:off x="521208"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Don't wait for them to raise it.</a:t>
            </a:r>
            <a:endParaRPr b="0" i="0" spc="0" sz="900" u="none" cap="none" strike="noStrike">
              <a:solidFill>
                <a:schemeClr val="dk1"/>
              </a:solidFill>
              <a:latin typeface="Calibri"/>
              <a:ea typeface="Calibri"/>
              <a:cs typeface="Calibri"/>
              <a:sym typeface="Calibri"/>
            </a:endParaRPr>
          </a:p>
        </p:txBody>
      </p:sp>
      <p:sp>
        <p:nvSpPr>
          <p:cNvPr id="861" name="Google Shape;861;p35"/>
          <p:cNvSpPr/>
          <p:nvPr/>
        </p:nvSpPr>
        <p:spPr>
          <a:xfrm>
            <a:off x="2093976"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2" name="Google Shape;862;p35"/>
          <p:cNvSpPr/>
          <p:nvPr/>
        </p:nvSpPr>
        <p:spPr>
          <a:xfrm>
            <a:off x="2203704"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3" name="Google Shape;863;p35"/>
          <p:cNvSpPr txBox="1"/>
          <p:nvPr/>
        </p:nvSpPr>
        <p:spPr>
          <a:xfrm>
            <a:off x="2203704"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64" name="Google Shape;864;p35"/>
          <p:cNvSpPr/>
          <p:nvPr/>
        </p:nvSpPr>
        <p:spPr>
          <a:xfrm>
            <a:off x="3227832"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5" name="Google Shape;865;p35"/>
          <p:cNvPicPr preferRelativeResize="0"/>
          <p:nvPr/>
        </p:nvPicPr>
        <p:blipFill rotWithShape="1">
          <a:blip r:embed="rId4">
            <a:alphaModFix/>
          </a:blip>
          <a:srcRect b="0" l="0" r="0" t="0"/>
          <a:stretch/>
        </p:blipFill>
        <p:spPr>
          <a:xfrm>
            <a:off x="3306836" y="1496324"/>
            <a:ext cx="171176" cy="171176"/>
          </a:xfrm>
          <a:prstGeom prst="rect">
            <a:avLst/>
          </a:prstGeom>
          <a:noFill/>
          <a:ln>
            <a:noFill/>
          </a:ln>
        </p:spPr>
      </p:pic>
      <p:sp>
        <p:nvSpPr>
          <p:cNvPr id="866" name="Google Shape;866;p35"/>
          <p:cNvSpPr txBox="1"/>
          <p:nvPr/>
        </p:nvSpPr>
        <p:spPr>
          <a:xfrm>
            <a:off x="2203704"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Probe</a:t>
            </a:r>
            <a:endParaRPr b="0" i="0" spc="0" sz="1100" u="none" cap="none" strike="noStrike">
              <a:solidFill>
                <a:schemeClr val="dk1"/>
              </a:solidFill>
              <a:latin typeface="Calibri"/>
              <a:ea typeface="Calibri"/>
              <a:cs typeface="Calibri"/>
              <a:sym typeface="Calibri"/>
            </a:endParaRPr>
          </a:p>
        </p:txBody>
      </p:sp>
      <p:sp>
        <p:nvSpPr>
          <p:cNvPr id="867" name="Google Shape;867;p35"/>
          <p:cNvSpPr txBox="1"/>
          <p:nvPr/>
        </p:nvSpPr>
        <p:spPr>
          <a:xfrm>
            <a:off x="2203704"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Let them explain in their own words.</a:t>
            </a:r>
            <a:endParaRPr b="0" i="0" spc="0" sz="900" u="none" cap="none" strike="noStrike">
              <a:solidFill>
                <a:schemeClr val="dk1"/>
              </a:solidFill>
              <a:latin typeface="Calibri"/>
              <a:ea typeface="Calibri"/>
              <a:cs typeface="Calibri"/>
              <a:sym typeface="Calibri"/>
            </a:endParaRPr>
          </a:p>
        </p:txBody>
      </p:sp>
      <p:sp>
        <p:nvSpPr>
          <p:cNvPr id="868" name="Google Shape;868;p35"/>
          <p:cNvSpPr/>
          <p:nvPr/>
        </p:nvSpPr>
        <p:spPr>
          <a:xfrm>
            <a:off x="3776472"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9" name="Google Shape;869;p35"/>
          <p:cNvSpPr/>
          <p:nvPr/>
        </p:nvSpPr>
        <p:spPr>
          <a:xfrm>
            <a:off x="3886200"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0" name="Google Shape;870;p35"/>
          <p:cNvSpPr txBox="1"/>
          <p:nvPr/>
        </p:nvSpPr>
        <p:spPr>
          <a:xfrm>
            <a:off x="3886200"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71" name="Google Shape;871;p35"/>
          <p:cNvSpPr/>
          <p:nvPr/>
        </p:nvSpPr>
        <p:spPr>
          <a:xfrm>
            <a:off x="4910328"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2" name="Google Shape;872;p35"/>
          <p:cNvPicPr preferRelativeResize="0"/>
          <p:nvPr/>
        </p:nvPicPr>
        <p:blipFill rotWithShape="1">
          <a:blip r:embed="rId5">
            <a:alphaModFix/>
          </a:blip>
          <a:srcRect b="0" l="0" r="0" t="0"/>
          <a:stretch/>
        </p:blipFill>
        <p:spPr>
          <a:xfrm>
            <a:off x="4989332" y="1496324"/>
            <a:ext cx="171176" cy="171176"/>
          </a:xfrm>
          <a:prstGeom prst="rect">
            <a:avLst/>
          </a:prstGeom>
          <a:noFill/>
          <a:ln>
            <a:noFill/>
          </a:ln>
        </p:spPr>
      </p:pic>
      <p:sp>
        <p:nvSpPr>
          <p:cNvPr id="873" name="Google Shape;873;p35"/>
          <p:cNvSpPr txBox="1"/>
          <p:nvPr/>
        </p:nvSpPr>
        <p:spPr>
          <a:xfrm>
            <a:off x="3886200"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Explain FC &amp; ETF</a:t>
            </a:r>
            <a:endParaRPr b="0" i="0" spc="0" sz="1100" u="none" cap="none" strike="noStrike">
              <a:solidFill>
                <a:schemeClr val="dk1"/>
              </a:solidFill>
              <a:latin typeface="Calibri"/>
              <a:ea typeface="Calibri"/>
              <a:cs typeface="Calibri"/>
              <a:sym typeface="Calibri"/>
            </a:endParaRPr>
          </a:p>
        </p:txBody>
      </p:sp>
      <p:sp>
        <p:nvSpPr>
          <p:cNvPr id="874" name="Google Shape;874;p35"/>
          <p:cNvSpPr txBox="1"/>
          <p:nvPr/>
        </p:nvSpPr>
        <p:spPr>
          <a:xfrm>
            <a:off x="3886200"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ETF applies. Don't skip it.</a:t>
            </a:r>
            <a:endParaRPr b="0" i="0" spc="0" sz="900" u="none" cap="none" strike="noStrike">
              <a:solidFill>
                <a:schemeClr val="dk1"/>
              </a:solidFill>
              <a:latin typeface="Calibri"/>
              <a:ea typeface="Calibri"/>
              <a:cs typeface="Calibri"/>
              <a:sym typeface="Calibri"/>
            </a:endParaRPr>
          </a:p>
        </p:txBody>
      </p:sp>
      <p:sp>
        <p:nvSpPr>
          <p:cNvPr id="875" name="Google Shape;875;p35"/>
          <p:cNvSpPr/>
          <p:nvPr/>
        </p:nvSpPr>
        <p:spPr>
          <a:xfrm>
            <a:off x="5458968"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6" name="Google Shape;876;p35"/>
          <p:cNvSpPr/>
          <p:nvPr/>
        </p:nvSpPr>
        <p:spPr>
          <a:xfrm>
            <a:off x="5568696"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7" name="Google Shape;877;p35"/>
          <p:cNvSpPr txBox="1"/>
          <p:nvPr/>
        </p:nvSpPr>
        <p:spPr>
          <a:xfrm>
            <a:off x="5568696"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78" name="Google Shape;878;p35"/>
          <p:cNvSpPr/>
          <p:nvPr/>
        </p:nvSpPr>
        <p:spPr>
          <a:xfrm>
            <a:off x="6592824"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9" name="Google Shape;879;p35"/>
          <p:cNvPicPr preferRelativeResize="0"/>
          <p:nvPr/>
        </p:nvPicPr>
        <p:blipFill rotWithShape="1">
          <a:blip r:embed="rId6">
            <a:alphaModFix/>
          </a:blip>
          <a:srcRect b="0" l="0" r="0" t="0"/>
          <a:stretch/>
        </p:blipFill>
        <p:spPr>
          <a:xfrm>
            <a:off x="6671828" y="1496324"/>
            <a:ext cx="171176" cy="171176"/>
          </a:xfrm>
          <a:prstGeom prst="rect">
            <a:avLst/>
          </a:prstGeom>
          <a:noFill/>
          <a:ln>
            <a:noFill/>
          </a:ln>
        </p:spPr>
      </p:pic>
      <p:sp>
        <p:nvSpPr>
          <p:cNvPr id="880" name="Google Shape;880;p35"/>
          <p:cNvSpPr txBox="1"/>
          <p:nvPr/>
        </p:nvSpPr>
        <p:spPr>
          <a:xfrm>
            <a:off x="5568696"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Appointments &amp; RC</a:t>
            </a:r>
            <a:endParaRPr b="0" i="0" spc="0" sz="1100" u="none" cap="none" strike="noStrike">
              <a:solidFill>
                <a:schemeClr val="dk1"/>
              </a:solidFill>
              <a:latin typeface="Calibri"/>
              <a:ea typeface="Calibri"/>
              <a:cs typeface="Calibri"/>
              <a:sym typeface="Calibri"/>
            </a:endParaRPr>
          </a:p>
        </p:txBody>
      </p:sp>
      <p:sp>
        <p:nvSpPr>
          <p:cNvPr id="881" name="Google Shape;881;p35"/>
          <p:cNvSpPr txBox="1"/>
          <p:nvPr/>
        </p:nvSpPr>
        <p:spPr>
          <a:xfrm>
            <a:off x="5568696"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Cancel by default, unless they want to keep them.</a:t>
            </a:r>
            <a:endParaRPr b="0" i="0" spc="0" sz="900" u="none" cap="none" strike="noStrike">
              <a:solidFill>
                <a:schemeClr val="dk1"/>
              </a:solidFill>
              <a:latin typeface="Calibri"/>
              <a:ea typeface="Calibri"/>
              <a:cs typeface="Calibri"/>
              <a:sym typeface="Calibri"/>
            </a:endParaRPr>
          </a:p>
        </p:txBody>
      </p:sp>
      <p:sp>
        <p:nvSpPr>
          <p:cNvPr id="882" name="Google Shape;882;p35"/>
          <p:cNvSpPr/>
          <p:nvPr/>
        </p:nvSpPr>
        <p:spPr>
          <a:xfrm>
            <a:off x="7141464"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3" name="Google Shape;883;p35"/>
          <p:cNvSpPr/>
          <p:nvPr/>
        </p:nvSpPr>
        <p:spPr>
          <a:xfrm>
            <a:off x="7251192"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4" name="Google Shape;884;p35"/>
          <p:cNvSpPr txBox="1"/>
          <p:nvPr/>
        </p:nvSpPr>
        <p:spPr>
          <a:xfrm>
            <a:off x="7251192"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885" name="Google Shape;885;p35"/>
          <p:cNvSpPr/>
          <p:nvPr/>
        </p:nvSpPr>
        <p:spPr>
          <a:xfrm>
            <a:off x="8275320"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6" name="Google Shape;886;p35"/>
          <p:cNvPicPr preferRelativeResize="0"/>
          <p:nvPr/>
        </p:nvPicPr>
        <p:blipFill rotWithShape="1">
          <a:blip r:embed="rId7">
            <a:alphaModFix/>
          </a:blip>
          <a:srcRect b="0" l="0" r="0" t="0"/>
          <a:stretch/>
        </p:blipFill>
        <p:spPr>
          <a:xfrm>
            <a:off x="8354324" y="1496324"/>
            <a:ext cx="171176" cy="171176"/>
          </a:xfrm>
          <a:prstGeom prst="rect">
            <a:avLst/>
          </a:prstGeom>
          <a:noFill/>
          <a:ln>
            <a:noFill/>
          </a:ln>
        </p:spPr>
      </p:pic>
      <p:sp>
        <p:nvSpPr>
          <p:cNvPr id="887" name="Google Shape;887;p35"/>
          <p:cNvSpPr txBox="1"/>
          <p:nvPr/>
        </p:nvSpPr>
        <p:spPr>
          <a:xfrm>
            <a:off x="7251192"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Route</a:t>
            </a:r>
            <a:endParaRPr b="0" i="0" spc="0" sz="1100" u="none" cap="none" strike="noStrike">
              <a:solidFill>
                <a:schemeClr val="dk1"/>
              </a:solidFill>
              <a:latin typeface="Calibri"/>
              <a:ea typeface="Calibri"/>
              <a:cs typeface="Calibri"/>
              <a:sym typeface="Calibri"/>
            </a:endParaRPr>
          </a:p>
        </p:txBody>
      </p:sp>
      <p:sp>
        <p:nvSpPr>
          <p:cNvPr id="888" name="Google Shape;888;p35"/>
          <p:cNvSpPr txBox="1"/>
          <p:nvPr/>
        </p:nvSpPr>
        <p:spPr>
          <a:xfrm>
            <a:off x="7251192"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Customer responds? Address pain points, then follow the right retention playbook.</a:t>
            </a:r>
            <a:endParaRPr b="0" i="0" spc="0" sz="900" u="none" cap="none" strike="noStrike">
              <a:solidFill>
                <a:schemeClr val="dk1"/>
              </a:solidFill>
              <a:latin typeface="Calibri"/>
              <a:ea typeface="Calibri"/>
              <a:cs typeface="Calibri"/>
              <a:sym typeface="Calibri"/>
            </a:endParaRPr>
          </a:p>
        </p:txBody>
      </p:sp>
      <p:sp>
        <p:nvSpPr>
          <p:cNvPr id="889" name="Google Shape;889;p35"/>
          <p:cNvSpPr/>
          <p:nvPr/>
        </p:nvSpPr>
        <p:spPr>
          <a:xfrm>
            <a:off x="411450" y="3137750"/>
            <a:ext cx="8321100" cy="155280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0" name="Google Shape;890;p35"/>
          <p:cNvSpPr/>
          <p:nvPr/>
        </p:nvSpPr>
        <p:spPr>
          <a:xfrm>
            <a:off x="411480" y="327355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1" name="Google Shape;891;p35"/>
          <p:cNvSpPr txBox="1"/>
          <p:nvPr/>
        </p:nvSpPr>
        <p:spPr>
          <a:xfrm>
            <a:off x="603500" y="3400175"/>
            <a:ext cx="8001000" cy="787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OPEN WITH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1" i="1" lang="en-US" spc="0" sz="800" u="none" cap="none" strike="noStrike">
                <a:solidFill>
                  <a:srgbClr val="999999"/>
                </a:solidFill>
                <a:latin typeface="Arial"/>
                <a:ea typeface="Arial"/>
                <a:cs typeface="Arial"/>
                <a:sym typeface="Arial"/>
              </a:rPr>
              <a:t>“</a:t>
            </a:r>
            <a:r>
              <a:rPr b="0" i="1" lang="en-US" spc="0" sz="800" u="none" cap="none" strike="noStrike">
                <a:solidFill>
                  <a:srgbClr val="666666"/>
                </a:solidFill>
                <a:latin typeface="Arial"/>
                <a:ea typeface="Arial"/>
                <a:cs typeface="Arial"/>
                <a:sym typeface="Arial"/>
              </a:rPr>
              <a:t>Hey [Name], your cleaner mentioned you might be looking to cancel your membership. Wanted to check in directly.”</a:t>
            </a:r>
            <a:endParaRPr b="0" i="0" spc="0" sz="600" u="none" cap="none" strike="noStrike">
              <a:solidFill>
                <a:srgbClr val="666666"/>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pc="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PROBE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800" u="none" cap="none" strike="noStrike">
                <a:solidFill>
                  <a:srgbClr val="666666"/>
                </a:solidFill>
                <a:latin typeface="Arial"/>
                <a:ea typeface="Arial"/>
                <a:cs typeface="Arial"/>
                <a:sym typeface="Arial"/>
              </a:rPr>
              <a:t>“Do you mind sharing why? That'll help me figure out the best way to handle this for you.”</a:t>
            </a:r>
            <a:endParaRPr b="0" i="1" spc="0" sz="800" u="none" cap="none" strike="noStrike">
              <a:solidFill>
                <a:srgbClr val="666666"/>
              </a:solidFill>
              <a:latin typeface="Arial"/>
              <a:ea typeface="Arial"/>
              <a:cs typeface="Arial"/>
              <a:sym typeface="Arial"/>
            </a:endParaRPr>
          </a:p>
        </p:txBody>
      </p:sp>
      <p:sp>
        <p:nvSpPr>
          <p:cNvPr id="892" name="Google Shape;892;p3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t/>
            </a:r>
            <a:endParaRPr b="0" i="0" spc="0" sz="1000" u="none" cap="none" strike="noStrike">
              <a:solidFill>
                <a:schemeClr val="dk1"/>
              </a:solidFill>
              <a:latin typeface="Calibri"/>
              <a:ea typeface="Calibri"/>
              <a:cs typeface="Calibri"/>
              <a:sym typeface="Calibri"/>
            </a:endParaRPr>
          </a:p>
        </p:txBody>
      </p:sp>
      <p:sp>
        <p:nvSpPr>
          <p:cNvPr id="893" name="Google Shape;893;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94" name="Google Shape;894;p35"/>
          <p:cNvSpPr txBox="1"/>
          <p:nvPr/>
        </p:nvSpPr>
        <p:spPr>
          <a:xfrm>
            <a:off x="523550" y="4092600"/>
            <a:ext cx="7289400" cy="7080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Explain FC Terms</a:t>
            </a:r>
            <a:endParaRPr b="1" i="0" spc="0" sz="8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800"/>
              <a:buFont typeface="Arial"/>
              <a:buNone/>
            </a:pPr>
            <a:r>
              <a:rPr b="0" i="1" lang="en-US" spc="0" sz="800" u="none" cap="none" strike="noStrike">
                <a:solidFill>
                  <a:srgbClr val="666666"/>
                </a:solidFill>
                <a:latin typeface="Arial"/>
                <a:ea typeface="Arial"/>
                <a:cs typeface="Arial"/>
                <a:sym typeface="Arial"/>
              </a:rPr>
              <a:t>“I also want to quickly explain how the membership works. It includes a 6-month minimum commitment, and if you choose to cancel early, there’s an early termination fee of $35 per hour of your initial cleaning (which would be $[[insert amount=]] in your case).</a:t>
            </a:r>
            <a:endParaRPr b="0" i="1" spc="0" sz="8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00"/>
              <a:buFont typeface="Arial"/>
              <a:buNone/>
            </a:pPr>
            <a:r>
              <a:t/>
            </a:r>
            <a:endParaRPr b="0" i="1" spc="0" sz="1000" u="none" cap="none" strike="noStrike">
              <a:solidFill>
                <a:srgbClr val="1D1D1F"/>
              </a:solidFill>
              <a:latin typeface="Arial"/>
              <a:ea typeface="Arial"/>
              <a:cs typeface="Arial"/>
              <a:sym typeface="Arial"/>
            </a:endParaRPr>
          </a:p>
        </p:txBody>
      </p:sp>
      <p:pic>
        <p:nvPicPr>
          <p:cNvPr descr="preencoded.png" id="895" name="Google Shape;895;p35"/>
          <p:cNvPicPr preferRelativeResize="0"/>
          <p:nvPr/>
        </p:nvPicPr>
        <p:blipFill rotWithShape="1">
          <a:blip r:embed="rId8">
            <a:alphaModFix/>
          </a:blip>
          <a:srcRect b="0" l="0" r="0" t="0"/>
          <a:stretch/>
        </p:blipFill>
        <p:spPr>
          <a:xfrm>
            <a:off x="585227" y="3273547"/>
            <a:ext cx="201175" cy="201175"/>
          </a:xfrm>
          <a:prstGeom prst="rect">
            <a:avLst/>
          </a:prstGeom>
          <a:noFill/>
          <a:ln>
            <a:noFill/>
          </a:ln>
          <a:effectLst>
            <a:outerShdw blurRad="57150" rotWithShape="0" algn="bl" dir="5400000" dist="19050">
              <a:srgbClr val="0B7A6F">
                <a:alpha val="50196"/>
              </a:srgbClr>
            </a:outerShdw>
            <a:reflection blurRad="0" dir="5400000" dist="38100" endA="0" endPos="30000" fadeDir="5400012" kx="0" rotWithShape="0" algn="bl" stPos="0" sy="-100000" ky="0"/>
          </a:effectLst>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0" name="Shape 900"/>
        <p:cNvGrpSpPr/>
        <p:nvPr/>
      </p:nvGrpSpPr>
      <p:grpSpPr>
        <a:xfrm>
          <a:off x="0" y="0"/>
          <a:ext cx="0" cy="0"/>
          <a:chOff x="0" y="0"/>
          <a:chExt cx="0" cy="0"/>
        </a:xfrm>
      </p:grpSpPr>
      <p:sp>
        <p:nvSpPr>
          <p:cNvPr id="901" name="Google Shape;901;p3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902" name="Google Shape;902;p3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Route to the right playbook</a:t>
            </a:r>
            <a:endParaRPr b="0" i="0" spc="0" sz="2400" u="none" cap="none" strike="noStrike">
              <a:solidFill>
                <a:schemeClr val="dk1"/>
              </a:solidFill>
              <a:latin typeface="Calibri"/>
              <a:ea typeface="Calibri"/>
              <a:cs typeface="Calibri"/>
              <a:sym typeface="Calibri"/>
            </a:endParaRPr>
          </a:p>
        </p:txBody>
      </p:sp>
      <p:sp>
        <p:nvSpPr>
          <p:cNvPr id="903" name="Google Shape;903;p3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Once they've told you why, follow the root cause.</a:t>
            </a:r>
            <a:endParaRPr b="0" i="0" spc="0" sz="1200" u="none" cap="none" strike="noStrike">
              <a:solidFill>
                <a:schemeClr val="dk1"/>
              </a:solidFill>
              <a:latin typeface="Calibri"/>
              <a:ea typeface="Calibri"/>
              <a:cs typeface="Calibri"/>
              <a:sym typeface="Calibri"/>
            </a:endParaRPr>
          </a:p>
        </p:txBody>
      </p:sp>
      <p:sp>
        <p:nvSpPr>
          <p:cNvPr id="904" name="Google Shape;904;p36"/>
          <p:cNvSpPr/>
          <p:nvPr/>
        </p:nvSpPr>
        <p:spPr>
          <a:xfrm>
            <a:off x="411480" y="1325880"/>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5" name="Google Shape;905;p36"/>
          <p:cNvSpPr/>
          <p:nvPr/>
        </p:nvSpPr>
        <p:spPr>
          <a:xfrm>
            <a:off x="530352" y="147218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06" name="Google Shape;906;p36"/>
          <p:cNvPicPr preferRelativeResize="0"/>
          <p:nvPr/>
        </p:nvPicPr>
        <p:blipFill rotWithShape="1">
          <a:blip r:embed="rId3">
            <a:alphaModFix/>
          </a:blip>
          <a:srcRect b="0" l="0" r="0" t="0"/>
          <a:stretch/>
        </p:blipFill>
        <p:spPr>
          <a:xfrm>
            <a:off x="609356" y="1551188"/>
            <a:ext cx="171176" cy="171176"/>
          </a:xfrm>
          <a:prstGeom prst="rect">
            <a:avLst/>
          </a:prstGeom>
          <a:noFill/>
          <a:ln>
            <a:noFill/>
          </a:ln>
        </p:spPr>
      </p:pic>
      <p:sp>
        <p:nvSpPr>
          <p:cNvPr id="907" name="Google Shape;907;p36"/>
          <p:cNvSpPr txBox="1"/>
          <p:nvPr/>
        </p:nvSpPr>
        <p:spPr>
          <a:xfrm>
            <a:off x="960120" y="1325880"/>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Membership terms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Unaware, cost, MCT length</a:t>
            </a:r>
            <a:endParaRPr b="0" i="0" spc="0" sz="1100" u="none" cap="none" strike="noStrike">
              <a:solidFill>
                <a:schemeClr val="dk1"/>
              </a:solidFill>
              <a:latin typeface="Calibri"/>
              <a:ea typeface="Calibri"/>
              <a:cs typeface="Calibri"/>
              <a:sym typeface="Calibri"/>
            </a:endParaRPr>
          </a:p>
        </p:txBody>
      </p:sp>
      <p:cxnSp>
        <p:nvCxnSpPr>
          <p:cNvPr id="908" name="Google Shape;908;p36"/>
          <p:cNvCxnSpPr/>
          <p:nvPr/>
        </p:nvCxnSpPr>
        <p:spPr>
          <a:xfrm>
            <a:off x="4160520" y="1636776"/>
            <a:ext cx="411480" cy="0"/>
          </a:xfrm>
          <a:prstGeom prst="straightConnector1">
            <a:avLst/>
          </a:prstGeom>
          <a:noFill/>
          <a:ln cap="flat" cmpd="sng" w="12700">
            <a:solidFill>
              <a:srgbClr val="6E6E73"/>
            </a:solidFill>
            <a:prstDash val="solid"/>
            <a:round/>
            <a:headEnd len="sm" w="sm" type="none"/>
            <a:tailEnd len="med" w="med" type="triangle"/>
          </a:ln>
        </p:spPr>
      </p:cxnSp>
      <p:sp>
        <p:nvSpPr>
          <p:cNvPr id="909" name="Google Shape;909;p36"/>
          <p:cNvSpPr/>
          <p:nvPr/>
        </p:nvSpPr>
        <p:spPr>
          <a:xfrm>
            <a:off x="4572000" y="1325880"/>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Retention Playbook</a:t>
            </a:r>
            <a:endParaRPr b="0" i="0" spc="0" sz="1050" u="none" cap="none" strike="noStrike">
              <a:solidFill>
                <a:schemeClr val="dk1"/>
              </a:solidFill>
              <a:latin typeface="Calibri"/>
              <a:ea typeface="Calibri"/>
              <a:cs typeface="Calibri"/>
              <a:sym typeface="Calibri"/>
            </a:endParaRPr>
          </a:p>
        </p:txBody>
      </p:sp>
      <p:sp>
        <p:nvSpPr>
          <p:cNvPr id="910" name="Google Shape;910;p36"/>
          <p:cNvSpPr/>
          <p:nvPr/>
        </p:nvSpPr>
        <p:spPr>
          <a:xfrm>
            <a:off x="411480" y="2039112"/>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1" name="Google Shape;911;p36"/>
          <p:cNvSpPr/>
          <p:nvPr/>
        </p:nvSpPr>
        <p:spPr>
          <a:xfrm>
            <a:off x="530352" y="21854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2" name="Google Shape;912;p36"/>
          <p:cNvPicPr preferRelativeResize="0"/>
          <p:nvPr/>
        </p:nvPicPr>
        <p:blipFill rotWithShape="1">
          <a:blip r:embed="rId4">
            <a:alphaModFix/>
          </a:blip>
          <a:srcRect b="0" l="0" r="0" t="0"/>
          <a:stretch/>
        </p:blipFill>
        <p:spPr>
          <a:xfrm>
            <a:off x="609356" y="2264420"/>
            <a:ext cx="171176" cy="171176"/>
          </a:xfrm>
          <a:prstGeom prst="rect">
            <a:avLst/>
          </a:prstGeom>
          <a:noFill/>
          <a:ln>
            <a:noFill/>
          </a:ln>
        </p:spPr>
      </p:pic>
      <p:sp>
        <p:nvSpPr>
          <p:cNvPr id="913" name="Google Shape;913;p36"/>
          <p:cNvSpPr txBox="1"/>
          <p:nvPr/>
        </p:nvSpPr>
        <p:spPr>
          <a:xfrm>
            <a:off x="960120" y="2039112"/>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Service issue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Quality or reliability</a:t>
            </a:r>
            <a:endParaRPr b="0" i="0" spc="0" sz="1100" u="none" cap="none" strike="noStrike">
              <a:solidFill>
                <a:schemeClr val="dk1"/>
              </a:solidFill>
              <a:latin typeface="Calibri"/>
              <a:ea typeface="Calibri"/>
              <a:cs typeface="Calibri"/>
              <a:sym typeface="Calibri"/>
            </a:endParaRPr>
          </a:p>
        </p:txBody>
      </p:sp>
      <p:cxnSp>
        <p:nvCxnSpPr>
          <p:cNvPr id="914" name="Google Shape;914;p36"/>
          <p:cNvCxnSpPr/>
          <p:nvPr/>
        </p:nvCxnSpPr>
        <p:spPr>
          <a:xfrm>
            <a:off x="4160520" y="2350008"/>
            <a:ext cx="411480" cy="0"/>
          </a:xfrm>
          <a:prstGeom prst="straightConnector1">
            <a:avLst/>
          </a:prstGeom>
          <a:noFill/>
          <a:ln cap="flat" cmpd="sng" w="12700">
            <a:solidFill>
              <a:srgbClr val="6E6E73"/>
            </a:solidFill>
            <a:prstDash val="solid"/>
            <a:round/>
            <a:headEnd len="sm" w="sm" type="none"/>
            <a:tailEnd len="med" w="med" type="triangle"/>
          </a:ln>
        </p:spPr>
      </p:cxnSp>
      <p:sp>
        <p:nvSpPr>
          <p:cNvPr id="915" name="Google Shape;915;p36"/>
          <p:cNvSpPr/>
          <p:nvPr/>
        </p:nvSpPr>
        <p:spPr>
          <a:xfrm>
            <a:off x="4572000" y="2039112"/>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PCQ or Service Reliability Retention Playbook</a:t>
            </a:r>
            <a:endParaRPr b="0" i="0" spc="0" sz="1050" u="none" cap="none" strike="noStrike">
              <a:solidFill>
                <a:schemeClr val="dk1"/>
              </a:solidFill>
              <a:latin typeface="Calibri"/>
              <a:ea typeface="Calibri"/>
              <a:cs typeface="Calibri"/>
              <a:sym typeface="Calibri"/>
            </a:endParaRPr>
          </a:p>
        </p:txBody>
      </p:sp>
      <p:sp>
        <p:nvSpPr>
          <p:cNvPr id="916" name="Google Shape;916;p36"/>
          <p:cNvSpPr/>
          <p:nvPr/>
        </p:nvSpPr>
        <p:spPr>
          <a:xfrm>
            <a:off x="411480" y="2752344"/>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7" name="Google Shape;917;p36"/>
          <p:cNvSpPr/>
          <p:nvPr/>
        </p:nvSpPr>
        <p:spPr>
          <a:xfrm>
            <a:off x="530352" y="289864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8" name="Google Shape;918;p36"/>
          <p:cNvPicPr preferRelativeResize="0"/>
          <p:nvPr/>
        </p:nvPicPr>
        <p:blipFill rotWithShape="1">
          <a:blip r:embed="rId5">
            <a:alphaModFix/>
          </a:blip>
          <a:srcRect b="0" l="0" r="0" t="0"/>
          <a:stretch/>
        </p:blipFill>
        <p:spPr>
          <a:xfrm>
            <a:off x="609356" y="2977652"/>
            <a:ext cx="171176" cy="171176"/>
          </a:xfrm>
          <a:prstGeom prst="rect">
            <a:avLst/>
          </a:prstGeom>
          <a:noFill/>
          <a:ln>
            <a:noFill/>
          </a:ln>
        </p:spPr>
      </p:pic>
      <p:sp>
        <p:nvSpPr>
          <p:cNvPr id="919" name="Google Shape;919;p36"/>
          <p:cNvSpPr txBox="1"/>
          <p:nvPr/>
        </p:nvSpPr>
        <p:spPr>
          <a:xfrm>
            <a:off x="960120" y="2752344"/>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Is this customer retainable?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five key factors</a:t>
            </a:r>
            <a:endParaRPr b="0" i="0" spc="0" sz="1100" u="none" cap="none" strike="noStrike">
              <a:solidFill>
                <a:schemeClr val="dk1"/>
              </a:solidFill>
              <a:latin typeface="Calibri"/>
              <a:ea typeface="Calibri"/>
              <a:cs typeface="Calibri"/>
              <a:sym typeface="Calibri"/>
            </a:endParaRPr>
          </a:p>
        </p:txBody>
      </p:sp>
      <p:cxnSp>
        <p:nvCxnSpPr>
          <p:cNvPr id="920" name="Google Shape;920;p36"/>
          <p:cNvCxnSpPr/>
          <p:nvPr/>
        </p:nvCxnSpPr>
        <p:spPr>
          <a:xfrm>
            <a:off x="4160520" y="3063240"/>
            <a:ext cx="411480" cy="0"/>
          </a:xfrm>
          <a:prstGeom prst="straightConnector1">
            <a:avLst/>
          </a:prstGeom>
          <a:noFill/>
          <a:ln cap="flat" cmpd="sng" w="12700">
            <a:solidFill>
              <a:srgbClr val="6E6E73"/>
            </a:solidFill>
            <a:prstDash val="solid"/>
            <a:round/>
            <a:headEnd len="sm" w="sm" type="none"/>
            <a:tailEnd len="med" w="med" type="triangle"/>
          </a:ln>
        </p:spPr>
      </p:cxnSp>
      <p:sp>
        <p:nvSpPr>
          <p:cNvPr id="921" name="Google Shape;921;p36"/>
          <p:cNvSpPr/>
          <p:nvPr/>
        </p:nvSpPr>
        <p:spPr>
          <a:xfrm>
            <a:off x="4572000" y="2752344"/>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General Retention Playbook</a:t>
            </a:r>
            <a:endParaRPr b="0" i="0" spc="0" sz="1050" u="none" cap="none" strike="noStrike">
              <a:solidFill>
                <a:schemeClr val="dk1"/>
              </a:solidFill>
              <a:latin typeface="Calibri"/>
              <a:ea typeface="Calibri"/>
              <a:cs typeface="Calibri"/>
              <a:sym typeface="Calibri"/>
            </a:endParaRPr>
          </a:p>
        </p:txBody>
      </p:sp>
      <p:sp>
        <p:nvSpPr>
          <p:cNvPr id="922" name="Google Shape;922;p36"/>
          <p:cNvSpPr/>
          <p:nvPr/>
        </p:nvSpPr>
        <p:spPr>
          <a:xfrm>
            <a:off x="411480" y="352044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23" name="Google Shape;923;p36"/>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924" name="Google Shape;924;p36"/>
          <p:cNvSpPr txBox="1"/>
          <p:nvPr/>
        </p:nvSpPr>
        <p:spPr>
          <a:xfrm>
            <a:off x="822960" y="352044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Washington customer?  </a:t>
            </a:r>
            <a:r>
              <a:rPr b="0" i="0" lang="en-US" spc="0" sz="1000" u="none" cap="none" strike="noStrike">
                <a:solidFill>
                  <a:srgbClr val="1D1D1F"/>
                </a:solidFill>
                <a:latin typeface="Arial"/>
                <a:ea typeface="Arial"/>
                <a:cs typeface="Arial"/>
                <a:sym typeface="Arial"/>
              </a:rPr>
              <a:t>use the WA process: send the self-cancel link and never mention the ETF.</a:t>
            </a:r>
            <a:endParaRPr b="0" i="0" spc="0" sz="1000" u="none" cap="none" strike="noStrike">
              <a:solidFill>
                <a:schemeClr val="dk1"/>
              </a:solidFill>
              <a:latin typeface="Calibri"/>
              <a:ea typeface="Calibri"/>
              <a:cs typeface="Calibri"/>
              <a:sym typeface="Calibri"/>
            </a:endParaRPr>
          </a:p>
        </p:txBody>
      </p:sp>
      <p:sp>
        <p:nvSpPr>
          <p:cNvPr id="925" name="Google Shape;925;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0" name="Shape 930"/>
        <p:cNvGrpSpPr/>
        <p:nvPr/>
      </p:nvGrpSpPr>
      <p:grpSpPr>
        <a:xfrm>
          <a:off x="0" y="0"/>
          <a:ext cx="0" cy="0"/>
          <a:chOff x="0" y="0"/>
          <a:chExt cx="0" cy="0"/>
        </a:xfrm>
      </p:grpSpPr>
      <p:sp>
        <p:nvSpPr>
          <p:cNvPr id="931" name="Google Shape;931;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KNOWLEDGE CHECK</a:t>
            </a:r>
            <a:endParaRPr b="0" i="0" spc="0" sz="800" u="none" cap="none" strike="noStrike">
              <a:solidFill>
                <a:schemeClr val="dk1"/>
              </a:solidFill>
              <a:latin typeface="Calibri"/>
              <a:ea typeface="Calibri"/>
              <a:cs typeface="Calibri"/>
              <a:sym typeface="Calibri"/>
            </a:endParaRPr>
          </a:p>
        </p:txBody>
      </p:sp>
      <p:sp>
        <p:nvSpPr>
          <p:cNvPr id="932" name="Google Shape;932;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933" name="Google Shape;933;p37"/>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4" name="Google Shape;934;p37"/>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5" name="Google Shape;935;p37"/>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36" name="Google Shape;936;p37"/>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While checking a PCQ, you see the C told the CP they want to cancel. Wait for them to contact us?</a:t>
            </a:r>
            <a:endParaRPr b="0" i="0" spc="0" sz="1000" u="none" cap="none" strike="noStrike">
              <a:solidFill>
                <a:schemeClr val="dk1"/>
              </a:solidFill>
              <a:latin typeface="Calibri"/>
              <a:ea typeface="Calibri"/>
              <a:cs typeface="Calibri"/>
              <a:sym typeface="Calibri"/>
            </a:endParaRPr>
          </a:p>
        </p:txBody>
      </p:sp>
      <p:sp>
        <p:nvSpPr>
          <p:cNvPr id="937" name="Google Shape;937;p37"/>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8" name="Google Shape;938;p37"/>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Reach out proactively.</a:t>
            </a:r>
            <a:endParaRPr b="0" i="0" spc="0" sz="900" u="none" cap="none" strike="noStrike">
              <a:solidFill>
                <a:schemeClr val="dk1"/>
              </a:solidFill>
              <a:latin typeface="Calibri"/>
              <a:ea typeface="Calibri"/>
              <a:cs typeface="Calibri"/>
              <a:sym typeface="Calibri"/>
            </a:endParaRPr>
          </a:p>
        </p:txBody>
      </p:sp>
      <p:sp>
        <p:nvSpPr>
          <p:cNvPr id="939" name="Google Shape;939;p37"/>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0" name="Google Shape;940;p37"/>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37"/>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42" name="Google Shape;942;p37"/>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How do you open the conversation?</a:t>
            </a:r>
            <a:endParaRPr b="0" i="0" spc="0" sz="1000" u="none" cap="none" strike="noStrike">
              <a:solidFill>
                <a:schemeClr val="dk1"/>
              </a:solidFill>
              <a:latin typeface="Calibri"/>
              <a:ea typeface="Calibri"/>
              <a:cs typeface="Calibri"/>
              <a:sym typeface="Calibri"/>
            </a:endParaRPr>
          </a:p>
        </p:txBody>
      </p:sp>
      <p:sp>
        <p:nvSpPr>
          <p:cNvPr id="943" name="Google Shape;943;p37"/>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4" name="Google Shape;944;p37"/>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Know something, not everything: "Your cleaner mentioned you might be looking to cancel…"</a:t>
            </a:r>
            <a:endParaRPr b="0" i="0" spc="0" sz="900" u="none" cap="none" strike="noStrike">
              <a:solidFill>
                <a:schemeClr val="dk1"/>
              </a:solidFill>
              <a:latin typeface="Calibri"/>
              <a:ea typeface="Calibri"/>
              <a:cs typeface="Calibri"/>
              <a:sym typeface="Calibri"/>
            </a:endParaRPr>
          </a:p>
        </p:txBody>
      </p:sp>
      <p:sp>
        <p:nvSpPr>
          <p:cNvPr id="945" name="Google Shape;945;p37"/>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6" name="Google Shape;946;p37"/>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37"/>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48" name="Google Shape;948;p37"/>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sounds set on cancelling. Skip explaining the ETF?</a:t>
            </a:r>
            <a:endParaRPr b="0" i="0" spc="0" sz="1000" u="none" cap="none" strike="noStrike">
              <a:solidFill>
                <a:schemeClr val="dk1"/>
              </a:solidFill>
              <a:latin typeface="Calibri"/>
              <a:ea typeface="Calibri"/>
              <a:cs typeface="Calibri"/>
              <a:sym typeface="Calibri"/>
            </a:endParaRPr>
          </a:p>
        </p:txBody>
      </p:sp>
      <p:sp>
        <p:nvSpPr>
          <p:cNvPr id="949" name="Google Shape;949;p37"/>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0" name="Google Shape;950;p37"/>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If it applies, explain FC and ETF terms.</a:t>
            </a:r>
            <a:endParaRPr b="0" i="0" spc="0" sz="900" u="none" cap="none" strike="noStrike">
              <a:solidFill>
                <a:schemeClr val="dk1"/>
              </a:solidFill>
              <a:latin typeface="Calibri"/>
              <a:ea typeface="Calibri"/>
              <a:cs typeface="Calibri"/>
              <a:sym typeface="Calibri"/>
            </a:endParaRPr>
          </a:p>
        </p:txBody>
      </p:sp>
      <p:sp>
        <p:nvSpPr>
          <p:cNvPr id="951" name="Google Shape;951;p37"/>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2" name="Google Shape;952;p37"/>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3" name="Google Shape;953;p37"/>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954" name="Google Shape;954;p37"/>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happens to upcoming appointments and RC?</a:t>
            </a:r>
            <a:endParaRPr b="0" i="0" spc="0" sz="1000" u="none" cap="none" strike="noStrike">
              <a:solidFill>
                <a:schemeClr val="dk1"/>
              </a:solidFill>
              <a:latin typeface="Calibri"/>
              <a:ea typeface="Calibri"/>
              <a:cs typeface="Calibri"/>
              <a:sym typeface="Calibri"/>
            </a:endParaRPr>
          </a:p>
        </p:txBody>
      </p:sp>
      <p:sp>
        <p:nvSpPr>
          <p:cNvPr id="955" name="Google Shape;955;p37"/>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6" name="Google Shape;956;p37"/>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by default, unless they clearly want to keep them.</a:t>
            </a:r>
            <a:endParaRPr b="0" i="0" spc="0" sz="900" u="none" cap="none" strike="noStrike">
              <a:solidFill>
                <a:schemeClr val="dk1"/>
              </a:solidFill>
              <a:latin typeface="Calibri"/>
              <a:ea typeface="Calibri"/>
              <a:cs typeface="Calibri"/>
              <a:sym typeface="Calibri"/>
            </a:endParaRPr>
          </a:p>
        </p:txBody>
      </p:sp>
      <p:sp>
        <p:nvSpPr>
          <p:cNvPr id="957" name="Google Shape;957;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8"/>
                                        </p:tgtEl>
                                        <p:attrNameLst>
                                          <p:attrName>style.visibility</p:attrName>
                                        </p:attrNameLst>
                                      </p:cBhvr>
                                      <p:to>
                                        <p:strVal val="visible"/>
                                      </p:to>
                                    </p:set>
                                    <p:animEffect filter="fade" transition="in">
                                      <p:cBhvr>
                                        <p:cTn dur="600"/>
                                        <p:tgtEl>
                                          <p:spTgt spid="9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4"/>
                                        </p:tgtEl>
                                        <p:attrNameLst>
                                          <p:attrName>style.visibility</p:attrName>
                                        </p:attrNameLst>
                                      </p:cBhvr>
                                      <p:to>
                                        <p:strVal val="visible"/>
                                      </p:to>
                                    </p:set>
                                    <p:animEffect filter="fade" transition="in">
                                      <p:cBhvr>
                                        <p:cTn dur="600"/>
                                        <p:tgtEl>
                                          <p:spTgt spid="9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0"/>
                                        </p:tgtEl>
                                        <p:attrNameLst>
                                          <p:attrName>style.visibility</p:attrName>
                                        </p:attrNameLst>
                                      </p:cBhvr>
                                      <p:to>
                                        <p:strVal val="visible"/>
                                      </p:to>
                                    </p:set>
                                    <p:animEffect filter="fade" transition="in">
                                      <p:cBhvr>
                                        <p:cTn dur="600"/>
                                        <p:tgtEl>
                                          <p:spTgt spid="9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6"/>
                                        </p:tgtEl>
                                        <p:attrNameLst>
                                          <p:attrName>style.visibility</p:attrName>
                                        </p:attrNameLst>
                                      </p:cBhvr>
                                      <p:to>
                                        <p:strVal val="visible"/>
                                      </p:to>
                                    </p:set>
                                    <p:animEffect filter="fade" transition="in">
                                      <p:cBhvr>
                                        <p:cTn dur="600"/>
                                        <p:tgtEl>
                                          <p:spTgt spid="9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PRACTICE</a:t>
            </a:r>
            <a:endParaRPr b="0" i="0" spc="0" sz="800" u="none" cap="none" strike="noStrike">
              <a:solidFill>
                <a:schemeClr val="dk1"/>
              </a:solidFill>
              <a:latin typeface="Calibri"/>
              <a:ea typeface="Calibri"/>
              <a:cs typeface="Calibri"/>
              <a:sym typeface="Calibri"/>
            </a:endParaRPr>
          </a:p>
        </p:txBody>
      </p:sp>
      <p:sp>
        <p:nvSpPr>
          <p:cNvPr id="964" name="Google Shape;964;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965" name="Google Shape;965;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966" name="Google Shape;966;p38"/>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7" name="Google Shape;967;p38"/>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8" name="Google Shape;968;p38"/>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969" name="Google Shape;969;p38"/>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970" name="Google Shape;970;p38"/>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971" name="Google Shape;971;p38"/>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972" name="Google Shape;972;p38"/>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3" name="Google Shape;973;p38"/>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4" name="Google Shape;974;p38"/>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75" name="Google Shape;975;p38"/>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Where did the cancellation intent come from?</a:t>
            </a:r>
            <a:endParaRPr b="0" i="0" spc="0" sz="1250" u="none" cap="none" strike="noStrike">
              <a:solidFill>
                <a:schemeClr val="dk1"/>
              </a:solidFill>
              <a:latin typeface="Calibri"/>
              <a:ea typeface="Calibri"/>
              <a:cs typeface="Calibri"/>
              <a:sym typeface="Calibri"/>
            </a:endParaRPr>
          </a:p>
        </p:txBody>
      </p:sp>
      <p:sp>
        <p:nvSpPr>
          <p:cNvPr id="976" name="Google Shape;976;p38"/>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what is the customer's real reason?</a:t>
            </a:r>
            <a:endParaRPr b="0" i="0" spc="0" sz="1000" u="none" cap="none" strike="noStrike">
              <a:solidFill>
                <a:schemeClr val="dk1"/>
              </a:solidFill>
              <a:latin typeface="Calibri"/>
              <a:ea typeface="Calibri"/>
              <a:cs typeface="Calibri"/>
              <a:sym typeface="Calibri"/>
            </a:endParaRPr>
          </a:p>
        </p:txBody>
      </p:sp>
      <p:sp>
        <p:nvSpPr>
          <p:cNvPr id="977" name="Google Shape;977;p38"/>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8" name="Google Shape;978;p38"/>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9" name="Google Shape;979;p38"/>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80" name="Google Shape;980;p38"/>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981" name="Google Shape;981;p38"/>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Opening, probe, terms, appointments, playbook.</a:t>
            </a:r>
            <a:endParaRPr b="0" i="0" spc="0" sz="1000" u="none" cap="none" strike="noStrike">
              <a:solidFill>
                <a:schemeClr val="dk1"/>
              </a:solidFill>
              <a:latin typeface="Calibri"/>
              <a:ea typeface="Calibri"/>
              <a:cs typeface="Calibri"/>
              <a:sym typeface="Calibri"/>
            </a:endParaRPr>
          </a:p>
        </p:txBody>
      </p:sp>
      <p:sp>
        <p:nvSpPr>
          <p:cNvPr id="982" name="Google Shape;982;p38"/>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3" name="Google Shape;983;p38"/>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4" name="Google Shape;984;p38"/>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85" name="Google Shape;985;p38"/>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986" name="Google Shape;986;p38"/>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outreach message.</a:t>
            </a:r>
            <a:endParaRPr b="0" i="0" spc="0" sz="1000" u="none" cap="none" strike="noStrike">
              <a:solidFill>
                <a:schemeClr val="dk1"/>
              </a:solidFill>
              <a:latin typeface="Calibri"/>
              <a:ea typeface="Calibri"/>
              <a:cs typeface="Calibri"/>
              <a:sym typeface="Calibri"/>
            </a:endParaRPr>
          </a:p>
        </p:txBody>
      </p:sp>
      <p:sp>
        <p:nvSpPr>
          <p:cNvPr id="987" name="Google Shape;987;p38"/>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88" name="Google Shape;988;p38"/>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989" name="Google Shape;989;p38"/>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990" name="Google Shape;990;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5" name="Shape 995"/>
        <p:cNvGrpSpPr/>
        <p:nvPr/>
      </p:nvGrpSpPr>
      <p:grpSpPr>
        <a:xfrm>
          <a:off x="0" y="0"/>
          <a:ext cx="0" cy="0"/>
          <a:chOff x="0" y="0"/>
          <a:chExt cx="0" cy="0"/>
        </a:xfrm>
      </p:grpSpPr>
      <p:sp>
        <p:nvSpPr>
          <p:cNvPr id="996" name="Google Shape;996;p3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997" name="Google Shape;997;p3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General Retention Playbook</a:t>
            </a:r>
            <a:endParaRPr b="0" i="0" spc="0" sz="2800" u="none" cap="none" strike="noStrike">
              <a:solidFill>
                <a:schemeClr val="dk1"/>
              </a:solidFill>
              <a:latin typeface="Calibri"/>
              <a:ea typeface="Calibri"/>
              <a:cs typeface="Calibri"/>
              <a:sym typeface="Calibri"/>
            </a:endParaRPr>
          </a:p>
        </p:txBody>
      </p:sp>
      <p:sp>
        <p:nvSpPr>
          <p:cNvPr id="998" name="Google Shape;998;p3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thinking behind every retention conversation.</a:t>
            </a:r>
            <a:endParaRPr b="0" i="0" spc="0" sz="1150" u="none" cap="none" strike="noStrike">
              <a:solidFill>
                <a:schemeClr val="dk1"/>
              </a:solidFill>
              <a:latin typeface="Calibri"/>
              <a:ea typeface="Calibri"/>
              <a:cs typeface="Calibri"/>
              <a:sym typeface="Calibri"/>
            </a:endParaRPr>
          </a:p>
        </p:txBody>
      </p:sp>
      <p:sp>
        <p:nvSpPr>
          <p:cNvPr id="999" name="Google Shape;999;p3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000" name="Google Shape;1000;p3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1" name="Google Shape;1001;p3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002" name="Google Shape;1002;p3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Fix the real problem, not just offer something</a:t>
            </a:r>
            <a:endParaRPr b="0" i="0" spc="0" sz="1050" u="none" cap="none" strike="noStrike">
              <a:solidFill>
                <a:schemeClr val="dk1"/>
              </a:solidFill>
              <a:latin typeface="Calibri"/>
              <a:ea typeface="Calibri"/>
              <a:cs typeface="Calibri"/>
              <a:sym typeface="Calibri"/>
            </a:endParaRPr>
          </a:p>
        </p:txBody>
      </p:sp>
      <p:sp>
        <p:nvSpPr>
          <p:cNvPr id="1003" name="Google Shape;1003;p3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4" name="Google Shape;1004;p3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05" name="Google Shape;1005;p3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 key factors: weigh, don't count</a:t>
            </a:r>
            <a:endParaRPr b="0" i="0" spc="0" sz="1050" u="none" cap="none" strike="noStrike">
              <a:solidFill>
                <a:schemeClr val="dk1"/>
              </a:solidFill>
              <a:latin typeface="Calibri"/>
              <a:ea typeface="Calibri"/>
              <a:cs typeface="Calibri"/>
              <a:sym typeface="Calibri"/>
            </a:endParaRPr>
          </a:p>
        </p:txBody>
      </p:sp>
      <p:sp>
        <p:nvSpPr>
          <p:cNvPr id="1006" name="Google Shape;1006;p3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7" name="Google Shape;1007;p3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08" name="Google Shape;1008;p3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Matching and presenting the offer</a:t>
            </a:r>
            <a:endParaRPr b="0" i="0" spc="0" sz="1050" u="none" cap="none" strike="noStrike">
              <a:solidFill>
                <a:schemeClr val="dk1"/>
              </a:solidFill>
              <a:latin typeface="Calibri"/>
              <a:ea typeface="Calibri"/>
              <a:cs typeface="Calibri"/>
              <a:sym typeface="Calibri"/>
            </a:endParaRPr>
          </a:p>
        </p:txBody>
      </p:sp>
      <p:sp>
        <p:nvSpPr>
          <p:cNvPr id="1009" name="Google Shape;1009;p3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0" name="Google Shape;1010;p3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11" name="Google Shape;1011;p3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retention isn't the right call</a:t>
            </a:r>
            <a:endParaRPr b="0" i="0" spc="0" sz="1050" u="none" cap="none" strike="noStrike">
              <a:solidFill>
                <a:schemeClr val="dk1"/>
              </a:solidFill>
              <a:latin typeface="Calibri"/>
              <a:ea typeface="Calibri"/>
              <a:cs typeface="Calibri"/>
              <a:sym typeface="Calibri"/>
            </a:endParaRPr>
          </a:p>
        </p:txBody>
      </p:sp>
      <p:sp>
        <p:nvSpPr>
          <p:cNvPr id="1012" name="Google Shape;1012;p3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3" name="Google Shape;1013;p3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0.png" id="1014" name="Google Shape;1014;p39"/>
          <p:cNvPicPr preferRelativeResize="0"/>
          <p:nvPr/>
        </p:nvPicPr>
        <p:blipFill rotWithShape="1">
          <a:blip r:embed="rId4">
            <a:alphaModFix/>
          </a:blip>
          <a:srcRect b="0" l="0" r="0" t="0"/>
          <a:stretch/>
        </p:blipFill>
        <p:spPr>
          <a:xfrm>
            <a:off x="5541264" y="1776984"/>
            <a:ext cx="2926080" cy="1584960"/>
          </a:xfrm>
          <a:prstGeom prst="rect">
            <a:avLst/>
          </a:prstGeom>
          <a:noFill/>
          <a:ln>
            <a:noFill/>
          </a:ln>
        </p:spPr>
      </p:pic>
      <p:sp>
        <p:nvSpPr>
          <p:cNvPr id="1015" name="Google Shape;1015;p3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6" name="Google Shape;1016;p3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7" name="Google Shape;1017;p3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8" name="Google Shape;1018;p3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9" name="Google Shape;1019;p3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0" name="Google Shape;1020;p3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1" name="Google Shape;1021;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28" name="Google Shape;1028;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Fix the real problem</a:t>
            </a:r>
            <a:endParaRPr b="0" i="0" spc="0" sz="2400" u="none" cap="none" strike="noStrike">
              <a:solidFill>
                <a:schemeClr val="dk1"/>
              </a:solidFill>
              <a:latin typeface="Calibri"/>
              <a:ea typeface="Calibri"/>
              <a:cs typeface="Calibri"/>
              <a:sym typeface="Calibri"/>
            </a:endParaRPr>
          </a:p>
        </p:txBody>
      </p:sp>
      <p:sp>
        <p:nvSpPr>
          <p:cNvPr id="1029" name="Google Shape;1029;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offer something.</a:t>
            </a:r>
            <a:endParaRPr b="0" i="0" spc="0" sz="1200" u="none" cap="none" strike="noStrike">
              <a:solidFill>
                <a:schemeClr val="dk1"/>
              </a:solidFill>
              <a:latin typeface="Calibri"/>
              <a:ea typeface="Calibri"/>
              <a:cs typeface="Calibri"/>
              <a:sym typeface="Calibri"/>
            </a:endParaRPr>
          </a:p>
        </p:txBody>
      </p:sp>
      <p:sp>
        <p:nvSpPr>
          <p:cNvPr id="1030" name="Google Shape;1030;p40"/>
          <p:cNvSpPr/>
          <p:nvPr/>
        </p:nvSpPr>
        <p:spPr>
          <a:xfrm>
            <a:off x="411480" y="1325880"/>
            <a:ext cx="4069080" cy="1920240"/>
          </a:xfrm>
          <a:prstGeom prst="roundRect">
            <a:avLst>
              <a:gd fmla="val 3810"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1" name="Google Shape;1031;p40"/>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Old: the retention ladder</a:t>
            </a:r>
            <a:endParaRPr b="0" i="0" spc="0" sz="1050" u="none" cap="none" strike="noStrike">
              <a:solidFill>
                <a:schemeClr val="dk1"/>
              </a:solidFill>
              <a:latin typeface="Calibri"/>
              <a:ea typeface="Calibri"/>
              <a:cs typeface="Calibri"/>
              <a:sym typeface="Calibri"/>
            </a:endParaRPr>
          </a:p>
        </p:txBody>
      </p:sp>
      <p:sp>
        <p:nvSpPr>
          <p:cNvPr id="1032" name="Google Shape;1032;p40"/>
          <p:cNvSpPr txBox="1"/>
          <p:nvPr/>
        </p:nvSpPr>
        <p:spPr>
          <a:xfrm>
            <a:off x="57607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Start small</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Escalate only if they push back</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Feels like being managed with incentives</a:t>
            </a:r>
            <a:endParaRPr b="0" i="0" spc="0" sz="1050" u="none" cap="none" strike="noStrike">
              <a:solidFill>
                <a:schemeClr val="dk1"/>
              </a:solidFill>
              <a:latin typeface="Calibri"/>
              <a:ea typeface="Calibri"/>
              <a:cs typeface="Calibri"/>
              <a:sym typeface="Calibri"/>
            </a:endParaRPr>
          </a:p>
        </p:txBody>
      </p:sp>
      <p:sp>
        <p:nvSpPr>
          <p:cNvPr id="1033" name="Google Shape;1033;p40"/>
          <p:cNvSpPr/>
          <p:nvPr/>
        </p:nvSpPr>
        <p:spPr>
          <a:xfrm>
            <a:off x="4663440" y="1325880"/>
            <a:ext cx="4069080" cy="1920240"/>
          </a:xfrm>
          <a:prstGeom prst="roundRect">
            <a:avLst>
              <a:gd fmla="val 381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4" name="Google Shape;1034;p4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Now: root cause first</a:t>
            </a:r>
            <a:endParaRPr b="0" i="0" spc="0" sz="1050" u="none" cap="none" strike="noStrike">
              <a:solidFill>
                <a:schemeClr val="dk1"/>
              </a:solidFill>
              <a:latin typeface="Calibri"/>
              <a:ea typeface="Calibri"/>
              <a:cs typeface="Calibri"/>
              <a:sym typeface="Calibri"/>
            </a:endParaRPr>
          </a:p>
        </p:txBody>
      </p:sp>
      <p:sp>
        <p:nvSpPr>
          <p:cNvPr id="1035" name="Google Shape;1035;p40"/>
          <p:cNvSpPr txBox="1"/>
          <p:nvPr/>
        </p:nvSpPr>
        <p:spPr>
          <a:xfrm>
            <a:off x="482803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Find why they want to leave</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Match the offer to that reason</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Show its value clearly</a:t>
            </a:r>
            <a:endParaRPr b="0" i="0" spc="0" sz="1050" u="none" cap="none" strike="noStrike">
              <a:solidFill>
                <a:schemeClr val="dk1"/>
              </a:solidFill>
              <a:latin typeface="Calibri"/>
              <a:ea typeface="Calibri"/>
              <a:cs typeface="Calibri"/>
              <a:sym typeface="Calibri"/>
            </a:endParaRPr>
          </a:p>
        </p:txBody>
      </p:sp>
      <p:sp>
        <p:nvSpPr>
          <p:cNvPr id="1036" name="Google Shape;1036;p40"/>
          <p:cNvSpPr/>
          <p:nvPr/>
        </p:nvSpPr>
        <p:spPr>
          <a:xfrm>
            <a:off x="411480" y="34747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7" name="Google Shape;1037;p40"/>
          <p:cNvPicPr preferRelativeResize="0"/>
          <p:nvPr/>
        </p:nvPicPr>
        <p:blipFill rotWithShape="1">
          <a:blip r:embed="rId3">
            <a:alphaModFix/>
          </a:blip>
          <a:srcRect b="0" l="0" r="0" t="0"/>
          <a:stretch/>
        </p:blipFill>
        <p:spPr>
          <a:xfrm>
            <a:off x="566928" y="3584448"/>
            <a:ext cx="164592" cy="164592"/>
          </a:xfrm>
          <a:prstGeom prst="rect">
            <a:avLst/>
          </a:prstGeom>
          <a:noFill/>
          <a:ln>
            <a:noFill/>
          </a:ln>
        </p:spPr>
      </p:pic>
      <p:sp>
        <p:nvSpPr>
          <p:cNvPr id="1038" name="Google Shape;1038;p40"/>
          <p:cNvSpPr txBox="1"/>
          <p:nvPr/>
        </p:nvSpPr>
        <p:spPr>
          <a:xfrm>
            <a:off x="822960" y="35753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goal:  </a:t>
            </a:r>
            <a:r>
              <a:rPr b="0" i="0" lang="en-US" spc="0" sz="1000" u="none" cap="none" strike="noStrike">
                <a:solidFill>
                  <a:srgbClr val="1D1D1F"/>
                </a:solidFill>
                <a:latin typeface="Arial"/>
                <a:ea typeface="Arial"/>
                <a:cs typeface="Arial"/>
                <a:sym typeface="Arial"/>
              </a:rPr>
              <a:t>the customer feels understood, and their specific problem gets solved.</a:t>
            </a:r>
            <a:endParaRPr b="0" i="0" spc="0" sz="1000" u="none" cap="none" strike="noStrike">
              <a:solidFill>
                <a:schemeClr val="dk1"/>
              </a:solidFill>
              <a:latin typeface="Calibri"/>
              <a:ea typeface="Calibri"/>
              <a:cs typeface="Calibri"/>
              <a:sym typeface="Calibri"/>
            </a:endParaRPr>
          </a:p>
        </p:txBody>
      </p:sp>
      <p:sp>
        <p:nvSpPr>
          <p:cNvPr id="1039" name="Google Shape;1039;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4" name="Shape 1044"/>
        <p:cNvGrpSpPr/>
        <p:nvPr/>
      </p:nvGrpSpPr>
      <p:grpSpPr>
        <a:xfrm>
          <a:off x="0" y="0"/>
          <a:ext cx="0" cy="0"/>
          <a:chOff x="0" y="0"/>
          <a:chExt cx="0" cy="0"/>
        </a:xfrm>
      </p:grpSpPr>
      <p:sp>
        <p:nvSpPr>
          <p:cNvPr id="1045" name="Google Shape;1045;p4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46" name="Google Shape;1046;p4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5 key factors</a:t>
            </a:r>
            <a:endParaRPr b="0" i="0" spc="0" sz="2400" u="none" cap="none" strike="noStrike">
              <a:solidFill>
                <a:schemeClr val="dk1"/>
              </a:solidFill>
              <a:latin typeface="Calibri"/>
              <a:ea typeface="Calibri"/>
              <a:cs typeface="Calibri"/>
              <a:sym typeface="Calibri"/>
            </a:endParaRPr>
          </a:p>
        </p:txBody>
      </p:sp>
      <p:sp>
        <p:nvSpPr>
          <p:cNvPr id="1047" name="Google Shape;1047;p4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Look at all five together.</a:t>
            </a:r>
            <a:endParaRPr b="0" i="0" spc="0" sz="1200" u="none" cap="none" strike="noStrike">
              <a:solidFill>
                <a:schemeClr val="dk1"/>
              </a:solidFill>
              <a:latin typeface="Calibri"/>
              <a:ea typeface="Calibri"/>
              <a:cs typeface="Calibri"/>
              <a:sym typeface="Calibri"/>
            </a:endParaRPr>
          </a:p>
        </p:txBody>
      </p:sp>
      <p:graphicFrame>
        <p:nvGraphicFramePr>
          <p:cNvPr id="1048" name="Google Shape;1048;p41"/>
          <p:cNvGraphicFramePr/>
          <p:nvPr/>
        </p:nvGraphicFramePr>
        <p:xfrm>
          <a:off x="411480" y="1298448"/>
          <a:ext cx="3000000" cy="3000000"/>
        </p:xfrm>
        <a:graphic>
          <a:graphicData uri="http://schemas.openxmlformats.org/drawingml/2006/table">
            <a:tbl>
              <a:tblPr>
                <a:noFill/>
                <a:tableStyleId>{B081CFC9-8F92-4C66-A42C-550710BF50CA}</a:tableStyleId>
              </a:tblPr>
              <a:tblGrid>
                <a:gridCol w="1463050"/>
                <a:gridCol w="3200400"/>
                <a:gridCol w="3657600"/>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Factor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Retainable signal</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B3261E"/>
                        </a:buClr>
                        <a:buSzPts val="950"/>
                        <a:buFont typeface="Play"/>
                        <a:buNone/>
                      </a:pPr>
                      <a:r>
                        <a:rPr b="1" lang="en-US" spc="0" sz="950" u="none" cap="none" strike="noStrike">
                          <a:solidFill>
                            <a:srgbClr val="B3261E"/>
                          </a:solidFill>
                          <a:latin typeface="Play"/>
                          <a:ea typeface="Play"/>
                          <a:cs typeface="Play"/>
                          <a:sym typeface="Play"/>
                        </a:rPr>
                        <a:t>Harder to retain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CEBEA"/>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Intent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Asking for help or clarification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Already decided. Not automatically unretainable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Issue type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Fixable: quality, scheduling, confusion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failures, broken promises. Still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Emotion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Mild frustration, wants it fixed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Strong, final language: slow down, test openness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Escalation risk</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Frustrated, no material legal threat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AG threat, legal letter, lawyer: cancel + waive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History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First occurrence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bad experiences. Still worth a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049" name="Google Shape;1049;p41"/>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0" name="Google Shape;1050;p41"/>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1051" name="Google Shape;1051;p41"/>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History:  </a:t>
            </a:r>
            <a:r>
              <a:rPr b="0" i="0" lang="en-US" spc="0" sz="1000" u="none" cap="none" strike="noStrike">
                <a:solidFill>
                  <a:srgbClr val="1D1D1F"/>
                </a:solidFill>
                <a:latin typeface="Arial"/>
                <a:ea typeface="Arial"/>
                <a:cs typeface="Arial"/>
                <a:sym typeface="Arial"/>
              </a:rPr>
              <a:t>only stop after two consecutive job problems and the customer declined help.</a:t>
            </a:r>
            <a:endParaRPr b="0" i="0" spc="0" sz="1000" u="none" cap="none" strike="noStrike">
              <a:solidFill>
                <a:schemeClr val="dk1"/>
              </a:solidFill>
              <a:latin typeface="Calibri"/>
              <a:ea typeface="Calibri"/>
              <a:cs typeface="Calibri"/>
              <a:sym typeface="Calibri"/>
            </a:endParaRPr>
          </a:p>
        </p:txBody>
      </p:sp>
      <p:sp>
        <p:nvSpPr>
          <p:cNvPr id="1052" name="Google Shape;1052;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59" name="Google Shape;1059;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Weigh, don't count</a:t>
            </a:r>
            <a:endParaRPr b="0" i="0" spc="0" sz="2400" u="none" cap="none" strike="noStrike">
              <a:solidFill>
                <a:schemeClr val="dk1"/>
              </a:solidFill>
              <a:latin typeface="Calibri"/>
              <a:ea typeface="Calibri"/>
              <a:cs typeface="Calibri"/>
              <a:sym typeface="Calibri"/>
            </a:endParaRPr>
          </a:p>
        </p:txBody>
      </p:sp>
      <p:sp>
        <p:nvSpPr>
          <p:cNvPr id="1060" name="Google Shape;1060;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situation, not the scoreboard.</a:t>
            </a:r>
            <a:endParaRPr b="0" i="0" spc="0" sz="1200" u="none" cap="none" strike="noStrike">
              <a:solidFill>
                <a:schemeClr val="dk1"/>
              </a:solidFill>
              <a:latin typeface="Calibri"/>
              <a:ea typeface="Calibri"/>
              <a:cs typeface="Calibri"/>
              <a:sym typeface="Calibri"/>
            </a:endParaRPr>
          </a:p>
        </p:txBody>
      </p:sp>
      <p:sp>
        <p:nvSpPr>
          <p:cNvPr id="1061" name="Google Shape;1061;p42"/>
          <p:cNvSpPr/>
          <p:nvPr/>
        </p:nvSpPr>
        <p:spPr>
          <a:xfrm>
            <a:off x="411480" y="1325880"/>
            <a:ext cx="4069080" cy="1828800"/>
          </a:xfrm>
          <a:prstGeom prst="roundRect">
            <a:avLst>
              <a:gd fmla="val 4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2" name="Google Shape;1062;p42"/>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Hard overrides: this alone decides</a:t>
            </a:r>
            <a:endParaRPr b="0" i="0" spc="0" sz="1050" u="none" cap="none" strike="noStrike">
              <a:solidFill>
                <a:schemeClr val="dk1"/>
              </a:solidFill>
              <a:latin typeface="Calibri"/>
              <a:ea typeface="Calibri"/>
              <a:cs typeface="Calibri"/>
              <a:sym typeface="Calibri"/>
            </a:endParaRPr>
          </a:p>
        </p:txBody>
      </p:sp>
      <p:sp>
        <p:nvSpPr>
          <p:cNvPr id="1063" name="Google Shape;1063;p42"/>
          <p:cNvSpPr txBox="1"/>
          <p:nvPr/>
        </p:nvSpPr>
        <p:spPr>
          <a:xfrm>
            <a:off x="57607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Material legal threat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Confirmed abuse toward a cleaner</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Retention is off the table, whatever the other factors say</a:t>
            </a:r>
            <a:endParaRPr b="0" i="0" spc="0" sz="1000" u="none" cap="none" strike="noStrike">
              <a:solidFill>
                <a:schemeClr val="dk1"/>
              </a:solidFill>
              <a:latin typeface="Calibri"/>
              <a:ea typeface="Calibri"/>
              <a:cs typeface="Calibri"/>
              <a:sym typeface="Calibri"/>
            </a:endParaRPr>
          </a:p>
        </p:txBody>
      </p:sp>
      <p:sp>
        <p:nvSpPr>
          <p:cNvPr id="1064" name="Google Shape;1064;p42"/>
          <p:cNvSpPr/>
          <p:nvPr/>
        </p:nvSpPr>
        <p:spPr>
          <a:xfrm>
            <a:off x="4663440" y="1325880"/>
            <a:ext cx="4069080" cy="1828800"/>
          </a:xfrm>
          <a:prstGeom prst="roundRect">
            <a:avLst>
              <a:gd fmla="val 4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5" name="Google Shape;1065;p42"/>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Weigh it: a signal to slow down</a:t>
            </a:r>
            <a:endParaRPr b="0" i="0" spc="0" sz="1050" u="none" cap="none" strike="noStrike">
              <a:solidFill>
                <a:schemeClr val="dk1"/>
              </a:solidFill>
              <a:latin typeface="Calibri"/>
              <a:ea typeface="Calibri"/>
              <a:cs typeface="Calibri"/>
              <a:sym typeface="Calibri"/>
            </a:endParaRPr>
          </a:p>
        </p:txBody>
      </p:sp>
      <p:sp>
        <p:nvSpPr>
          <p:cNvPr id="1066" name="Google Shape;1066;p42"/>
          <p:cNvSpPr txBox="1"/>
          <p:nvPr/>
        </p:nvSpPr>
        <p:spPr>
          <a:xfrm>
            <a:off x="482803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Strong, final language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Already decided to cancel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Repeated failures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Test openness. Not a disqualifier</a:t>
            </a:r>
            <a:endParaRPr b="0" i="0" spc="0" sz="1000" u="none" cap="none" strike="noStrike">
              <a:solidFill>
                <a:schemeClr val="dk1"/>
              </a:solidFill>
              <a:latin typeface="Calibri"/>
              <a:ea typeface="Calibri"/>
              <a:cs typeface="Calibri"/>
              <a:sym typeface="Calibri"/>
            </a:endParaRPr>
          </a:p>
        </p:txBody>
      </p:sp>
      <p:sp>
        <p:nvSpPr>
          <p:cNvPr id="1067" name="Google Shape;1067;p42"/>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8" name="Google Shape;1068;p42"/>
          <p:cNvPicPr preferRelativeResize="0"/>
          <p:nvPr/>
        </p:nvPicPr>
        <p:blipFill rotWithShape="1">
          <a:blip r:embed="rId3">
            <a:alphaModFix/>
          </a:blip>
          <a:srcRect b="0" l="0" r="0" t="0"/>
          <a:stretch/>
        </p:blipFill>
        <p:spPr>
          <a:xfrm>
            <a:off x="566928" y="3447288"/>
            <a:ext cx="164592" cy="164592"/>
          </a:xfrm>
          <a:prstGeom prst="rect">
            <a:avLst/>
          </a:prstGeom>
          <a:noFill/>
          <a:ln>
            <a:noFill/>
          </a:ln>
        </p:spPr>
      </p:pic>
      <p:sp>
        <p:nvSpPr>
          <p:cNvPr id="1069" name="Google Shape;1069;p42"/>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3 of 5 "harder"?  </a:t>
            </a:r>
            <a:r>
              <a:rPr b="0" i="0" lang="en-US" spc="0" sz="1000" u="none" cap="none" strike="noStrike">
                <a:solidFill>
                  <a:srgbClr val="1D1D1F"/>
                </a:solidFill>
                <a:latin typeface="Arial"/>
                <a:ea typeface="Arial"/>
                <a:cs typeface="Arial"/>
                <a:sym typeface="Arial"/>
              </a:rPr>
              <a:t>can still be worth a real attempt. 4 of 5 "retainable" can still be a no.</a:t>
            </a:r>
            <a:endParaRPr b="0" i="0" spc="0" sz="1000" u="none" cap="none" strike="noStrike">
              <a:solidFill>
                <a:schemeClr val="dk1"/>
              </a:solidFill>
              <a:latin typeface="Calibri"/>
              <a:ea typeface="Calibri"/>
              <a:cs typeface="Calibri"/>
              <a:sym typeface="Calibri"/>
            </a:endParaRPr>
          </a:p>
        </p:txBody>
      </p:sp>
      <p:sp>
        <p:nvSpPr>
          <p:cNvPr id="1070" name="Google Shape;1070;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77" name="Google Shape;1077;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Four steps</a:t>
            </a:r>
            <a:endParaRPr b="0" i="0" spc="0" sz="2400" u="none" cap="none" strike="noStrike">
              <a:solidFill>
                <a:schemeClr val="dk1"/>
              </a:solidFill>
              <a:latin typeface="Calibri"/>
              <a:ea typeface="Calibri"/>
              <a:cs typeface="Calibri"/>
              <a:sym typeface="Calibri"/>
            </a:endParaRPr>
          </a:p>
        </p:txBody>
      </p:sp>
      <p:sp>
        <p:nvSpPr>
          <p:cNvPr id="1078" name="Google Shape;1078;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understand, align, then offer with purpose.</a:t>
            </a:r>
            <a:endParaRPr b="0" i="0" spc="0" sz="1200" u="none" cap="none" strike="noStrike">
              <a:solidFill>
                <a:schemeClr val="dk1"/>
              </a:solidFill>
              <a:latin typeface="Calibri"/>
              <a:ea typeface="Calibri"/>
              <a:cs typeface="Calibri"/>
              <a:sym typeface="Calibri"/>
            </a:endParaRPr>
          </a:p>
        </p:txBody>
      </p:sp>
      <p:sp>
        <p:nvSpPr>
          <p:cNvPr id="1079" name="Google Shape;1079;p43"/>
          <p:cNvSpPr/>
          <p:nvPr/>
        </p:nvSpPr>
        <p:spPr>
          <a:xfrm>
            <a:off x="4114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0" name="Google Shape;1080;p43"/>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1" name="Google Shape;1081;p43"/>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082" name="Google Shape;1082;p43"/>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Acknowledge</a:t>
            </a:r>
            <a:endParaRPr b="0" i="0" spc="0" sz="1200" u="none" cap="none" strike="noStrike">
              <a:solidFill>
                <a:schemeClr val="dk1"/>
              </a:solidFill>
              <a:latin typeface="Calibri"/>
              <a:ea typeface="Calibri"/>
              <a:cs typeface="Calibri"/>
              <a:sym typeface="Calibri"/>
            </a:endParaRPr>
          </a:p>
        </p:txBody>
      </p:sp>
      <p:sp>
        <p:nvSpPr>
          <p:cNvPr id="1083" name="Google Shape;1083;p43"/>
          <p:cNvSpPr txBox="1"/>
          <p:nvPr/>
        </p:nvSpPr>
        <p:spPr>
          <a:xfrm>
            <a:off x="5760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them feel heard. Acknowledge the request, then probe.</a:t>
            </a:r>
            <a:endParaRPr b="0" i="0" spc="0" sz="950" u="none" cap="none" strike="noStrike">
              <a:solidFill>
                <a:schemeClr val="dk1"/>
              </a:solidFill>
              <a:latin typeface="Calibri"/>
              <a:ea typeface="Calibri"/>
              <a:cs typeface="Calibri"/>
              <a:sym typeface="Calibri"/>
            </a:endParaRPr>
          </a:p>
        </p:txBody>
      </p:sp>
      <p:sp>
        <p:nvSpPr>
          <p:cNvPr id="1084" name="Google Shape;1084;p43"/>
          <p:cNvSpPr/>
          <p:nvPr/>
        </p:nvSpPr>
        <p:spPr>
          <a:xfrm>
            <a:off x="25260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5" name="Google Shape;1085;p43"/>
          <p:cNvSpPr/>
          <p:nvPr/>
        </p:nvSpPr>
        <p:spPr>
          <a:xfrm>
            <a:off x="26906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6" name="Google Shape;1086;p43"/>
          <p:cNvSpPr txBox="1"/>
          <p:nvPr/>
        </p:nvSpPr>
        <p:spPr>
          <a:xfrm>
            <a:off x="26906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087" name="Google Shape;1087;p43"/>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Find the root cause</a:t>
            </a:r>
            <a:endParaRPr b="0" i="0" spc="0" sz="1200" u="none" cap="none" strike="noStrike">
              <a:solidFill>
                <a:schemeClr val="dk1"/>
              </a:solidFill>
              <a:latin typeface="Calibri"/>
              <a:ea typeface="Calibri"/>
              <a:cs typeface="Calibri"/>
              <a:sym typeface="Calibri"/>
            </a:endParaRPr>
          </a:p>
        </p:txBody>
      </p:sp>
      <p:sp>
        <p:nvSpPr>
          <p:cNvPr id="1088" name="Google Shape;1088;p43"/>
          <p:cNvSpPr txBox="1"/>
          <p:nvPr/>
        </p:nvSpPr>
        <p:spPr>
          <a:xfrm>
            <a:off x="26906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Unaware of FC? Explain FC &amp; ETF first. No discount yet.</a:t>
            </a:r>
            <a:endParaRPr b="0" i="0" spc="0" sz="950" u="none" cap="none" strike="noStrike">
              <a:solidFill>
                <a:schemeClr val="dk1"/>
              </a:solidFill>
              <a:latin typeface="Calibri"/>
              <a:ea typeface="Calibri"/>
              <a:cs typeface="Calibri"/>
              <a:sym typeface="Calibri"/>
            </a:endParaRPr>
          </a:p>
        </p:txBody>
      </p:sp>
      <p:sp>
        <p:nvSpPr>
          <p:cNvPr id="1089" name="Google Shape;1089;p43"/>
          <p:cNvSpPr/>
          <p:nvPr/>
        </p:nvSpPr>
        <p:spPr>
          <a:xfrm>
            <a:off x="46405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0" name="Google Shape;1090;p43"/>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1" name="Google Shape;1091;p43"/>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092" name="Google Shape;1092;p43"/>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Align the offer</a:t>
            </a:r>
            <a:endParaRPr b="0" i="0" spc="0" sz="1200" u="none" cap="none" strike="noStrike">
              <a:solidFill>
                <a:schemeClr val="dk1"/>
              </a:solidFill>
              <a:latin typeface="Calibri"/>
              <a:ea typeface="Calibri"/>
              <a:cs typeface="Calibri"/>
              <a:sym typeface="Calibri"/>
            </a:endParaRPr>
          </a:p>
        </p:txBody>
      </p:sp>
      <p:sp>
        <p:nvSpPr>
          <p:cNvPr id="1093" name="Google Shape;1093;p43"/>
          <p:cNvSpPr txBox="1"/>
          <p:nvPr/>
        </p:nvSpPr>
        <p:spPr>
          <a:xfrm>
            <a:off x="48051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Match the offer to the reason they want to leave.</a:t>
            </a:r>
            <a:endParaRPr b="0" i="0" spc="0" sz="950" u="none" cap="none" strike="noStrike">
              <a:solidFill>
                <a:schemeClr val="dk1"/>
              </a:solidFill>
              <a:latin typeface="Calibri"/>
              <a:ea typeface="Calibri"/>
              <a:cs typeface="Calibri"/>
              <a:sym typeface="Calibri"/>
            </a:endParaRPr>
          </a:p>
        </p:txBody>
      </p:sp>
      <p:sp>
        <p:nvSpPr>
          <p:cNvPr id="1094" name="Google Shape;1094;p43"/>
          <p:cNvSpPr/>
          <p:nvPr/>
        </p:nvSpPr>
        <p:spPr>
          <a:xfrm>
            <a:off x="67551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5" name="Google Shape;1095;p43"/>
          <p:cNvSpPr/>
          <p:nvPr/>
        </p:nvSpPr>
        <p:spPr>
          <a:xfrm>
            <a:off x="69197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6" name="Google Shape;1096;p43"/>
          <p:cNvSpPr txBox="1"/>
          <p:nvPr/>
        </p:nvSpPr>
        <p:spPr>
          <a:xfrm>
            <a:off x="69197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097" name="Google Shape;1097;p43"/>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Tools, not defaults</a:t>
            </a:r>
            <a:endParaRPr b="0" i="0" spc="0" sz="1200" u="none" cap="none" strike="noStrike">
              <a:solidFill>
                <a:schemeClr val="dk1"/>
              </a:solidFill>
              <a:latin typeface="Calibri"/>
              <a:ea typeface="Calibri"/>
              <a:cs typeface="Calibri"/>
              <a:sym typeface="Calibri"/>
            </a:endParaRPr>
          </a:p>
        </p:txBody>
      </p:sp>
      <p:sp>
        <p:nvSpPr>
          <p:cNvPr id="1098" name="Google Shape;1098;p43"/>
          <p:cNvSpPr txBox="1"/>
          <p:nvPr/>
        </p:nvSpPr>
        <p:spPr>
          <a:xfrm>
            <a:off x="69197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Does this offer answer their specific reason?</a:t>
            </a:r>
            <a:endParaRPr b="0" i="0" spc="0" sz="950" u="none" cap="none" strike="noStrike">
              <a:solidFill>
                <a:schemeClr val="dk1"/>
              </a:solidFill>
              <a:latin typeface="Calibri"/>
              <a:ea typeface="Calibri"/>
              <a:cs typeface="Calibri"/>
              <a:sym typeface="Calibri"/>
            </a:endParaRPr>
          </a:p>
        </p:txBody>
      </p:sp>
      <p:graphicFrame>
        <p:nvGraphicFramePr>
          <p:cNvPr id="1099" name="Google Shape;1099;p43"/>
          <p:cNvGraphicFramePr/>
          <p:nvPr/>
        </p:nvGraphicFramePr>
        <p:xfrm>
          <a:off x="411480" y="3063240"/>
          <a:ext cx="3000000" cy="3000000"/>
        </p:xfrm>
        <a:graphic>
          <a:graphicData uri="http://schemas.openxmlformats.org/drawingml/2006/table">
            <a:tbl>
              <a:tblPr>
                <a:noFill/>
                <a:tableStyleId>{B081CFC9-8F92-4C66-A42C-550710BF50CA}</a:tableStyleId>
              </a:tblPr>
              <a:tblGrid>
                <a:gridCol w="3291850"/>
                <a:gridCol w="5029200"/>
              </a:tblGrid>
              <a:tr h="3109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Root cause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Right move on first response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Service-related (e.g. PCQ)</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voucher or credit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Cost or commitment (MF or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reduction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100" name="Google Shape;1100;p43"/>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1" name="Google Shape;1101;p43"/>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102" name="Google Shape;1102;p43"/>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Unaware of the membership?  </a:t>
            </a:r>
            <a:r>
              <a:rPr b="0" i="0" lang="en-US" spc="0" sz="1000" u="none" cap="none" strike="noStrike">
                <a:solidFill>
                  <a:srgbClr val="1D1D1F"/>
                </a:solidFill>
                <a:latin typeface="Arial"/>
                <a:ea typeface="Arial"/>
                <a:cs typeface="Arial"/>
                <a:sym typeface="Arial"/>
              </a:rPr>
              <a:t>MF/MCT reductions don't fix that. Explain first.</a:t>
            </a:r>
            <a:endParaRPr b="0" i="0" spc="0" sz="1000" u="none" cap="none" strike="noStrike">
              <a:solidFill>
                <a:schemeClr val="dk1"/>
              </a:solidFill>
              <a:latin typeface="Calibri"/>
              <a:ea typeface="Calibri"/>
              <a:cs typeface="Calibri"/>
              <a:sym typeface="Calibri"/>
            </a:endParaRPr>
          </a:p>
        </p:txBody>
      </p:sp>
      <p:sp>
        <p:nvSpPr>
          <p:cNvPr id="1103" name="Google Shape;1103;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8" name="Shape 1108"/>
        <p:cNvGrpSpPr/>
        <p:nvPr/>
      </p:nvGrpSpPr>
      <p:grpSpPr>
        <a:xfrm>
          <a:off x="0" y="0"/>
          <a:ext cx="0" cy="0"/>
          <a:chOff x="0" y="0"/>
          <a:chExt cx="0" cy="0"/>
        </a:xfrm>
      </p:grpSpPr>
      <p:sp>
        <p:nvSpPr>
          <p:cNvPr id="1109" name="Google Shape;1109;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10" name="Google Shape;1110;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Presenting an offer</a:t>
            </a:r>
            <a:endParaRPr b="0" i="0" spc="0" sz="2400" u="none" cap="none" strike="noStrike">
              <a:solidFill>
                <a:schemeClr val="dk1"/>
              </a:solidFill>
              <a:latin typeface="Calibri"/>
              <a:ea typeface="Calibri"/>
              <a:cs typeface="Calibri"/>
              <a:sym typeface="Calibri"/>
            </a:endParaRPr>
          </a:p>
        </p:txBody>
      </p:sp>
      <p:sp>
        <p:nvSpPr>
          <p:cNvPr id="1111" name="Google Shape;1111;p4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Present it and wait, or issue it right away. Just be clear which.</a:t>
            </a:r>
            <a:endParaRPr b="0" i="0" spc="0" sz="1200" u="none" cap="none" strike="noStrike">
              <a:solidFill>
                <a:schemeClr val="dk1"/>
              </a:solidFill>
              <a:latin typeface="Calibri"/>
              <a:ea typeface="Calibri"/>
              <a:cs typeface="Calibri"/>
              <a:sym typeface="Calibri"/>
            </a:endParaRPr>
          </a:p>
        </p:txBody>
      </p:sp>
      <p:sp>
        <p:nvSpPr>
          <p:cNvPr id="1112" name="Google Shape;1112;p44"/>
          <p:cNvSpPr/>
          <p:nvPr/>
        </p:nvSpPr>
        <p:spPr>
          <a:xfrm>
            <a:off x="411480" y="132588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3" name="Google Shape;1113;p44"/>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Present and wait</a:t>
            </a:r>
            <a:endParaRPr b="0" i="0" spc="0" sz="1050" u="none" cap="none" strike="noStrike">
              <a:solidFill>
                <a:schemeClr val="dk1"/>
              </a:solidFill>
              <a:latin typeface="Calibri"/>
              <a:ea typeface="Calibri"/>
              <a:cs typeface="Calibri"/>
              <a:sym typeface="Calibri"/>
            </a:endParaRPr>
          </a:p>
        </p:txBody>
      </p:sp>
      <p:sp>
        <p:nvSpPr>
          <p:cNvPr id="1114" name="Google Shape;1114;p44"/>
          <p:cNvSpPr txBox="1"/>
          <p:nvPr/>
        </p:nvSpPr>
        <p:spPr>
          <a:xfrm>
            <a:off x="57607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Collaborative: gives them a choice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Shows you care about their experience</a:t>
            </a:r>
            <a:endParaRPr b="0" i="0" spc="0" sz="950" u="none" cap="none" strike="noStrike">
              <a:solidFill>
                <a:schemeClr val="dk1"/>
              </a:solidFill>
              <a:latin typeface="Calibri"/>
              <a:ea typeface="Calibri"/>
              <a:cs typeface="Calibri"/>
              <a:sym typeface="Calibri"/>
            </a:endParaRPr>
          </a:p>
        </p:txBody>
      </p:sp>
      <p:sp>
        <p:nvSpPr>
          <p:cNvPr id="1115" name="Google Shape;1115;p44"/>
          <p:cNvSpPr/>
          <p:nvPr/>
        </p:nvSpPr>
        <p:spPr>
          <a:xfrm>
            <a:off x="4663440" y="1325880"/>
            <a:ext cx="406908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6" name="Google Shape;1116;p44"/>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Issue right away when…</a:t>
            </a:r>
            <a:endParaRPr b="0" i="0" spc="0" sz="1050" u="none" cap="none" strike="noStrike">
              <a:solidFill>
                <a:schemeClr val="dk1"/>
              </a:solidFill>
              <a:latin typeface="Calibri"/>
              <a:ea typeface="Calibri"/>
              <a:cs typeface="Calibri"/>
              <a:sym typeface="Calibri"/>
            </a:endParaRPr>
          </a:p>
        </p:txBody>
      </p:sp>
      <p:sp>
        <p:nvSpPr>
          <p:cNvPr id="1117" name="Google Shape;1117;p44"/>
          <p:cNvSpPr txBox="1"/>
          <p:nvPr/>
        </p:nvSpPr>
        <p:spPr>
          <a:xfrm>
            <a:off x="482803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customer asked for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MF is overdue or almost due</a:t>
            </a:r>
            <a:endParaRPr b="0" i="0" spc="0" sz="950" u="none" cap="none" strike="noStrike">
              <a:solidFill>
                <a:schemeClr val="dk1"/>
              </a:solidFill>
              <a:latin typeface="Calibri"/>
              <a:ea typeface="Calibri"/>
              <a:cs typeface="Calibri"/>
              <a:sym typeface="Calibri"/>
            </a:endParaRPr>
          </a:p>
        </p:txBody>
      </p:sp>
      <p:sp>
        <p:nvSpPr>
          <p:cNvPr id="1118" name="Google Shape;1118;p44"/>
          <p:cNvSpPr/>
          <p:nvPr/>
        </p:nvSpPr>
        <p:spPr>
          <a:xfrm>
            <a:off x="411480" y="2788920"/>
            <a:ext cx="832104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9" name="Google Shape;1119;p44"/>
          <p:cNvSpPr/>
          <p:nvPr/>
        </p:nvSpPr>
        <p:spPr>
          <a:xfrm>
            <a:off x="411480" y="286207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0" name="Google Shape;1120;p44"/>
          <p:cNvSpPr txBox="1"/>
          <p:nvPr/>
        </p:nvSpPr>
        <p:spPr>
          <a:xfrm>
            <a:off x="594360" y="2788920"/>
            <a:ext cx="80010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BEYOND POLICY? USE "NO… BUT"</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not able to [X], but what I can do is [Y].”</a:t>
            </a:r>
            <a:endParaRPr b="0" i="0" spc="0" sz="1000" u="none" cap="none" strike="noStrike">
              <a:solidFill>
                <a:schemeClr val="dk1"/>
              </a:solidFill>
              <a:latin typeface="Calibri"/>
              <a:ea typeface="Calibri"/>
              <a:cs typeface="Calibri"/>
              <a:sym typeface="Calibri"/>
            </a:endParaRPr>
          </a:p>
        </p:txBody>
      </p:sp>
      <p:sp>
        <p:nvSpPr>
          <p:cNvPr id="1121" name="Google Shape;1121;p44"/>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22" name="Google Shape;1122;p44"/>
          <p:cNvPicPr preferRelativeResize="0"/>
          <p:nvPr/>
        </p:nvPicPr>
        <p:blipFill rotWithShape="1">
          <a:blip r:embed="rId3">
            <a:alphaModFix/>
          </a:blip>
          <a:srcRect b="0" l="0" r="0" t="0"/>
          <a:stretch/>
        </p:blipFill>
        <p:spPr>
          <a:xfrm>
            <a:off x="566928" y="3630168"/>
            <a:ext cx="164592" cy="164592"/>
          </a:xfrm>
          <a:prstGeom prst="rect">
            <a:avLst/>
          </a:prstGeom>
          <a:noFill/>
          <a:ln>
            <a:noFill/>
          </a:ln>
        </p:spPr>
      </p:pic>
      <p:sp>
        <p:nvSpPr>
          <p:cNvPr id="1123" name="Google Shape;1123;p44"/>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Either way:  </a:t>
            </a:r>
            <a:r>
              <a:rPr b="0" i="0" lang="en-US" spc="0" sz="1000" u="none" cap="none" strike="noStrike">
                <a:solidFill>
                  <a:srgbClr val="1D1D1F"/>
                </a:solidFill>
                <a:latin typeface="Arial"/>
                <a:ea typeface="Arial"/>
                <a:cs typeface="Arial"/>
                <a:sym typeface="Arial"/>
              </a:rPr>
              <a:t>say clearly whether the offer is already on the account or not.</a:t>
            </a:r>
            <a:endParaRPr b="0" i="0" spc="0" sz="1000" u="none" cap="none" strike="noStrike">
              <a:solidFill>
                <a:schemeClr val="dk1"/>
              </a:solidFill>
              <a:latin typeface="Calibri"/>
              <a:ea typeface="Calibri"/>
              <a:cs typeface="Calibri"/>
              <a:sym typeface="Calibri"/>
            </a:endParaRPr>
          </a:p>
        </p:txBody>
      </p:sp>
      <p:sp>
        <p:nvSpPr>
          <p:cNvPr id="1124" name="Google Shape;1124;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9" name="Shape 1129"/>
        <p:cNvGrpSpPr/>
        <p:nvPr/>
      </p:nvGrpSpPr>
      <p:grpSpPr>
        <a:xfrm>
          <a:off x="0" y="0"/>
          <a:ext cx="0" cy="0"/>
          <a:chOff x="0" y="0"/>
          <a:chExt cx="0" cy="0"/>
        </a:xfrm>
      </p:grpSpPr>
      <p:sp>
        <p:nvSpPr>
          <p:cNvPr id="1130" name="Google Shape;1130;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31" name="Google Shape;1131;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Who isn't retainable?</a:t>
            </a:r>
            <a:endParaRPr b="0" i="0" spc="0" sz="2400" u="none" cap="none" strike="noStrike">
              <a:solidFill>
                <a:schemeClr val="dk1"/>
              </a:solidFill>
              <a:latin typeface="Calibri"/>
              <a:ea typeface="Calibri"/>
              <a:cs typeface="Calibri"/>
              <a:sym typeface="Calibri"/>
            </a:endParaRPr>
          </a:p>
        </p:txBody>
      </p:sp>
      <p:sp>
        <p:nvSpPr>
          <p:cNvPr id="1132" name="Google Shape;1132;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list is narrower than you think.</a:t>
            </a:r>
            <a:endParaRPr b="0" i="0" spc="0" sz="1200" u="none" cap="none" strike="noStrike">
              <a:solidFill>
                <a:schemeClr val="dk1"/>
              </a:solidFill>
              <a:latin typeface="Calibri"/>
              <a:ea typeface="Calibri"/>
              <a:cs typeface="Calibri"/>
              <a:sym typeface="Calibri"/>
            </a:endParaRPr>
          </a:p>
        </p:txBody>
      </p:sp>
      <p:sp>
        <p:nvSpPr>
          <p:cNvPr id="1133" name="Google Shape;1133;p45"/>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4" name="Google Shape;1134;p45"/>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5" name="Google Shape;1135;p4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136" name="Google Shape;1136;p45"/>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ongoing need</a:t>
            </a:r>
            <a:endParaRPr b="0" i="0" spc="0" sz="1200" u="none" cap="none" strike="noStrike">
              <a:solidFill>
                <a:schemeClr val="dk1"/>
              </a:solidFill>
              <a:latin typeface="Calibri"/>
              <a:ea typeface="Calibri"/>
              <a:cs typeface="Calibri"/>
              <a:sym typeface="Calibri"/>
            </a:endParaRPr>
          </a:p>
        </p:txBody>
      </p:sp>
      <p:sp>
        <p:nvSpPr>
          <p:cNvPr id="1137" name="Google Shape;1137;p45"/>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longer has a home, or moved to a care facility.</a:t>
            </a:r>
            <a:endParaRPr b="0" i="0" spc="0" sz="950" u="none" cap="none" strike="noStrike">
              <a:solidFill>
                <a:schemeClr val="dk1"/>
              </a:solidFill>
              <a:latin typeface="Calibri"/>
              <a:ea typeface="Calibri"/>
              <a:cs typeface="Calibri"/>
              <a:sym typeface="Calibri"/>
            </a:endParaRPr>
          </a:p>
        </p:txBody>
      </p:sp>
      <p:sp>
        <p:nvSpPr>
          <p:cNvPr id="1138" name="Google Shape;1138;p45"/>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9" name="Google Shape;1139;p45"/>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0" name="Google Shape;1140;p4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41" name="Google Shape;1141;p45"/>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Extreme hardship</a:t>
            </a:r>
            <a:endParaRPr b="0" i="0" spc="0" sz="1200" u="none" cap="none" strike="noStrike">
              <a:solidFill>
                <a:schemeClr val="dk1"/>
              </a:solidFill>
              <a:latin typeface="Calibri"/>
              <a:ea typeface="Calibri"/>
              <a:cs typeface="Calibri"/>
              <a:sym typeface="Calibri"/>
            </a:endParaRPr>
          </a:p>
        </p:txBody>
      </p:sp>
      <p:sp>
        <p:nvSpPr>
          <p:cNvPr id="1142" name="Google Shape;1142;p45"/>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Even a reduced fee isn't reasonable. Empathy, not a sales pitch.</a:t>
            </a:r>
            <a:endParaRPr b="0" i="0" spc="0" sz="950" u="none" cap="none" strike="noStrike">
              <a:solidFill>
                <a:schemeClr val="dk1"/>
              </a:solidFill>
              <a:latin typeface="Calibri"/>
              <a:ea typeface="Calibri"/>
              <a:cs typeface="Calibri"/>
              <a:sym typeface="Calibri"/>
            </a:endParaRPr>
          </a:p>
        </p:txBody>
      </p:sp>
      <p:sp>
        <p:nvSpPr>
          <p:cNvPr id="1143" name="Google Shape;1143;p45"/>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4" name="Google Shape;1144;p45"/>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5" name="Google Shape;1145;p4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46" name="Google Shape;1146;p45"/>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Material legal threat</a:t>
            </a:r>
            <a:endParaRPr b="0" i="0" spc="0" sz="1200" u="none" cap="none" strike="noStrike">
              <a:solidFill>
                <a:schemeClr val="dk1"/>
              </a:solidFill>
              <a:latin typeface="Calibri"/>
              <a:ea typeface="Calibri"/>
              <a:cs typeface="Calibri"/>
              <a:sym typeface="Calibri"/>
            </a:endParaRPr>
          </a:p>
        </p:txBody>
      </p:sp>
      <p:sp>
        <p:nvSpPr>
          <p:cNvPr id="1147" name="Google Shape;1147;p45"/>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AG complaint, litigation, formal legal proceedings.</a:t>
            </a:r>
            <a:endParaRPr b="0" i="0" spc="0" sz="950" u="none" cap="none" strike="noStrike">
              <a:solidFill>
                <a:schemeClr val="dk1"/>
              </a:solidFill>
              <a:latin typeface="Calibri"/>
              <a:ea typeface="Calibri"/>
              <a:cs typeface="Calibri"/>
              <a:sym typeface="Calibri"/>
            </a:endParaRPr>
          </a:p>
        </p:txBody>
      </p:sp>
      <p:sp>
        <p:nvSpPr>
          <p:cNvPr id="1148" name="Google Shape;1148;p45"/>
          <p:cNvSpPr/>
          <p:nvPr/>
        </p:nvSpPr>
        <p:spPr>
          <a:xfrm>
            <a:off x="411480" y="3063240"/>
            <a:ext cx="8321040" cy="1005840"/>
          </a:xfrm>
          <a:prstGeom prst="roundRect">
            <a:avLst>
              <a:gd fmla="val 727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9" name="Google Shape;1149;p45"/>
          <p:cNvSpPr/>
          <p:nvPr/>
        </p:nvSpPr>
        <p:spPr>
          <a:xfrm>
            <a:off x="411480" y="306324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worth a real attempt</a:t>
            </a:r>
            <a:endParaRPr b="0" i="0" spc="0" sz="1050" u="none" cap="none" strike="noStrike">
              <a:solidFill>
                <a:schemeClr val="dk1"/>
              </a:solidFill>
              <a:latin typeface="Calibri"/>
              <a:ea typeface="Calibri"/>
              <a:cs typeface="Calibri"/>
              <a:sym typeface="Calibri"/>
            </a:endParaRPr>
          </a:p>
        </p:txBody>
      </p:sp>
      <p:sp>
        <p:nvSpPr>
          <p:cNvPr id="1150" name="Google Shape;1150;p45"/>
          <p:cNvSpPr txBox="1"/>
          <p:nvPr/>
        </p:nvSpPr>
        <p:spPr>
          <a:xfrm>
            <a:off x="576072" y="3502152"/>
            <a:ext cx="7991856" cy="493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Angry, distrustful or frustrated customers: many calm down once heard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 can't afford it": MF/MCT reduction, a pause or free months may work</a:t>
            </a:r>
            <a:endParaRPr b="0" i="0" spc="0" sz="950" u="none" cap="none" strike="noStrike">
              <a:solidFill>
                <a:schemeClr val="dk1"/>
              </a:solidFill>
              <a:latin typeface="Calibri"/>
              <a:ea typeface="Calibri"/>
              <a:cs typeface="Calibri"/>
              <a:sym typeface="Calibri"/>
            </a:endParaRPr>
          </a:p>
        </p:txBody>
      </p:sp>
      <p:sp>
        <p:nvSpPr>
          <p:cNvPr id="1151" name="Google Shape;1151;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4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58" name="Google Shape;1158;p4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Usually not a retention target</a:t>
            </a:r>
            <a:endParaRPr b="0" i="0" spc="0" sz="2400" u="none" cap="none" strike="noStrike">
              <a:solidFill>
                <a:schemeClr val="dk1"/>
              </a:solidFill>
              <a:latin typeface="Calibri"/>
              <a:ea typeface="Calibri"/>
              <a:cs typeface="Calibri"/>
              <a:sym typeface="Calibri"/>
            </a:endParaRPr>
          </a:p>
        </p:txBody>
      </p:sp>
      <p:sp>
        <p:nvSpPr>
          <p:cNvPr id="1159" name="Google Shape;1159;p4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Common patterns, not automatic answers.</a:t>
            </a:r>
            <a:endParaRPr b="0" i="0" spc="0" sz="1200" u="none" cap="none" strike="noStrike">
              <a:solidFill>
                <a:schemeClr val="dk1"/>
              </a:solidFill>
              <a:latin typeface="Calibri"/>
              <a:ea typeface="Calibri"/>
              <a:cs typeface="Calibri"/>
              <a:sym typeface="Calibri"/>
            </a:endParaRPr>
          </a:p>
        </p:txBody>
      </p:sp>
      <p:sp>
        <p:nvSpPr>
          <p:cNvPr id="1160" name="Google Shape;1160;p46"/>
          <p:cNvSpPr/>
          <p:nvPr/>
        </p:nvSpPr>
        <p:spPr>
          <a:xfrm>
            <a:off x="4114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History of filing disputes</a:t>
            </a:r>
            <a:endParaRPr b="0" i="0" spc="0" sz="900" u="none" cap="none" strike="noStrike">
              <a:solidFill>
                <a:schemeClr val="dk1"/>
              </a:solidFill>
              <a:latin typeface="Calibri"/>
              <a:ea typeface="Calibri"/>
              <a:cs typeface="Calibri"/>
              <a:sym typeface="Calibri"/>
            </a:endParaRPr>
          </a:p>
        </p:txBody>
      </p:sp>
      <p:sp>
        <p:nvSpPr>
          <p:cNvPr id="1161" name="Google Shape;1161;p46"/>
          <p:cNvSpPr/>
          <p:nvPr/>
        </p:nvSpPr>
        <p:spPr>
          <a:xfrm>
            <a:off x="4114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2" name="Google Shape;1162;p46"/>
          <p:cNvSpPr/>
          <p:nvPr/>
        </p:nvSpPr>
        <p:spPr>
          <a:xfrm>
            <a:off x="32308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Bankruptcy / extreme hardship</a:t>
            </a:r>
            <a:endParaRPr b="0" i="0" spc="0" sz="900" u="none" cap="none" strike="noStrike">
              <a:solidFill>
                <a:schemeClr val="dk1"/>
              </a:solidFill>
              <a:latin typeface="Calibri"/>
              <a:ea typeface="Calibri"/>
              <a:cs typeface="Calibri"/>
              <a:sym typeface="Calibri"/>
            </a:endParaRPr>
          </a:p>
        </p:txBody>
      </p:sp>
      <p:sp>
        <p:nvSpPr>
          <p:cNvPr id="1163" name="Google Shape;1163;p46"/>
          <p:cNvSpPr/>
          <p:nvPr/>
        </p:nvSpPr>
        <p:spPr>
          <a:xfrm>
            <a:off x="32308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4" name="Google Shape;1164;p46"/>
          <p:cNvSpPr/>
          <p:nvPr/>
        </p:nvSpPr>
        <p:spPr>
          <a:xfrm>
            <a:off x="60502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Military deployment</a:t>
            </a:r>
            <a:endParaRPr b="0" i="0" spc="0" sz="900" u="none" cap="none" strike="noStrike">
              <a:solidFill>
                <a:schemeClr val="dk1"/>
              </a:solidFill>
              <a:latin typeface="Calibri"/>
              <a:ea typeface="Calibri"/>
              <a:cs typeface="Calibri"/>
              <a:sym typeface="Calibri"/>
            </a:endParaRPr>
          </a:p>
        </p:txBody>
      </p:sp>
      <p:sp>
        <p:nvSpPr>
          <p:cNvPr id="1165" name="Google Shape;1165;p46"/>
          <p:cNvSpPr/>
          <p:nvPr/>
        </p:nvSpPr>
        <p:spPr>
          <a:xfrm>
            <a:off x="60502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6" name="Google Shape;1166;p46"/>
          <p:cNvSpPr/>
          <p:nvPr/>
        </p:nvSpPr>
        <p:spPr>
          <a:xfrm>
            <a:off x="4114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ADA accommodation needs</a:t>
            </a:r>
            <a:endParaRPr b="0" i="0" spc="0" sz="900" u="none" cap="none" strike="noStrike">
              <a:solidFill>
                <a:schemeClr val="dk1"/>
              </a:solidFill>
              <a:latin typeface="Calibri"/>
              <a:ea typeface="Calibri"/>
              <a:cs typeface="Calibri"/>
              <a:sym typeface="Calibri"/>
            </a:endParaRPr>
          </a:p>
        </p:txBody>
      </p:sp>
      <p:sp>
        <p:nvSpPr>
          <p:cNvPr id="1167" name="Google Shape;1167;p46"/>
          <p:cNvSpPr/>
          <p:nvPr/>
        </p:nvSpPr>
        <p:spPr>
          <a:xfrm>
            <a:off x="4114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8" name="Google Shape;1168;p46"/>
          <p:cNvSpPr/>
          <p:nvPr/>
        </p:nvSpPr>
        <p:spPr>
          <a:xfrm>
            <a:off x="32308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weather / disaster</a:t>
            </a:r>
            <a:endParaRPr b="0" i="0" spc="0" sz="900" u="none" cap="none" strike="noStrike">
              <a:solidFill>
                <a:schemeClr val="dk1"/>
              </a:solidFill>
              <a:latin typeface="Calibri"/>
              <a:ea typeface="Calibri"/>
              <a:cs typeface="Calibri"/>
              <a:sym typeface="Calibri"/>
            </a:endParaRPr>
          </a:p>
        </p:txBody>
      </p:sp>
      <p:sp>
        <p:nvSpPr>
          <p:cNvPr id="1169" name="Google Shape;1169;p46"/>
          <p:cNvSpPr/>
          <p:nvPr/>
        </p:nvSpPr>
        <p:spPr>
          <a:xfrm>
            <a:off x="32308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0" name="Google Shape;1170;p46"/>
          <p:cNvSpPr/>
          <p:nvPr/>
        </p:nvSpPr>
        <p:spPr>
          <a:xfrm>
            <a:off x="60502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illness</a:t>
            </a:r>
            <a:endParaRPr b="0" i="0" spc="0" sz="900" u="none" cap="none" strike="noStrike">
              <a:solidFill>
                <a:schemeClr val="dk1"/>
              </a:solidFill>
              <a:latin typeface="Calibri"/>
              <a:ea typeface="Calibri"/>
              <a:cs typeface="Calibri"/>
              <a:sym typeface="Calibri"/>
            </a:endParaRPr>
          </a:p>
        </p:txBody>
      </p:sp>
      <p:sp>
        <p:nvSpPr>
          <p:cNvPr id="1171" name="Google Shape;1171;p46"/>
          <p:cNvSpPr/>
          <p:nvPr/>
        </p:nvSpPr>
        <p:spPr>
          <a:xfrm>
            <a:off x="60502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6"/>
          <p:cNvSpPr/>
          <p:nvPr/>
        </p:nvSpPr>
        <p:spPr>
          <a:xfrm>
            <a:off x="4114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Death in the household</a:t>
            </a:r>
            <a:endParaRPr b="0" i="0" spc="0" sz="900" u="none" cap="none" strike="noStrike">
              <a:solidFill>
                <a:schemeClr val="dk1"/>
              </a:solidFill>
              <a:latin typeface="Calibri"/>
              <a:ea typeface="Calibri"/>
              <a:cs typeface="Calibri"/>
              <a:sym typeface="Calibri"/>
            </a:endParaRPr>
          </a:p>
        </p:txBody>
      </p:sp>
      <p:sp>
        <p:nvSpPr>
          <p:cNvPr id="1173" name="Google Shape;1173;p46"/>
          <p:cNvSpPr/>
          <p:nvPr/>
        </p:nvSpPr>
        <p:spPr>
          <a:xfrm>
            <a:off x="4114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4" name="Google Shape;1174;p46"/>
          <p:cNvSpPr/>
          <p:nvPr/>
        </p:nvSpPr>
        <p:spPr>
          <a:xfrm>
            <a:off x="32308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Moving outside coverage</a:t>
            </a:r>
            <a:endParaRPr b="0" i="0" spc="0" sz="900" u="none" cap="none" strike="noStrike">
              <a:solidFill>
                <a:schemeClr val="dk1"/>
              </a:solidFill>
              <a:latin typeface="Calibri"/>
              <a:ea typeface="Calibri"/>
              <a:cs typeface="Calibri"/>
              <a:sym typeface="Calibri"/>
            </a:endParaRPr>
          </a:p>
        </p:txBody>
      </p:sp>
      <p:sp>
        <p:nvSpPr>
          <p:cNvPr id="1175" name="Google Shape;1175;p46"/>
          <p:cNvSpPr/>
          <p:nvPr/>
        </p:nvSpPr>
        <p:spPr>
          <a:xfrm>
            <a:off x="32308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6" name="Google Shape;1176;p46"/>
          <p:cNvSpPr/>
          <p:nvPr/>
        </p:nvSpPr>
        <p:spPr>
          <a:xfrm>
            <a:off x="60502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Genuine attempt already declined</a:t>
            </a:r>
            <a:endParaRPr b="0" i="0" spc="0" sz="900" u="none" cap="none" strike="noStrike">
              <a:solidFill>
                <a:schemeClr val="dk1"/>
              </a:solidFill>
              <a:latin typeface="Calibri"/>
              <a:ea typeface="Calibri"/>
              <a:cs typeface="Calibri"/>
              <a:sym typeface="Calibri"/>
            </a:endParaRPr>
          </a:p>
        </p:txBody>
      </p:sp>
      <p:sp>
        <p:nvSpPr>
          <p:cNvPr id="1177" name="Google Shape;1177;p46"/>
          <p:cNvSpPr/>
          <p:nvPr/>
        </p:nvSpPr>
        <p:spPr>
          <a:xfrm>
            <a:off x="60502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8" name="Google Shape;1178;p46"/>
          <p:cNvSpPr/>
          <p:nvPr/>
        </p:nvSpPr>
        <p:spPr>
          <a:xfrm>
            <a:off x="411480" y="26974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Multiple unused MFs + firm</a:t>
            </a:r>
            <a:endParaRPr b="0" i="0" spc="0" sz="900" u="none" cap="none" strike="noStrike">
              <a:solidFill>
                <a:schemeClr val="dk1"/>
              </a:solidFill>
              <a:latin typeface="Calibri"/>
              <a:ea typeface="Calibri"/>
              <a:cs typeface="Calibri"/>
              <a:sym typeface="Calibri"/>
            </a:endParaRPr>
          </a:p>
        </p:txBody>
      </p:sp>
      <p:sp>
        <p:nvSpPr>
          <p:cNvPr id="1179" name="Google Shape;1179;p46"/>
          <p:cNvSpPr/>
          <p:nvPr/>
        </p:nvSpPr>
        <p:spPr>
          <a:xfrm>
            <a:off x="411480" y="26974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0" name="Google Shape;1180;p46"/>
          <p:cNvSpPr/>
          <p:nvPr/>
        </p:nvSpPr>
        <p:spPr>
          <a:xfrm>
            <a:off x="32308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Material legal threat</a:t>
            </a:r>
            <a:endParaRPr b="0" i="0" spc="0" sz="900" u="none" cap="none" strike="noStrike">
              <a:solidFill>
                <a:schemeClr val="dk1"/>
              </a:solidFill>
              <a:latin typeface="Calibri"/>
              <a:ea typeface="Calibri"/>
              <a:cs typeface="Calibri"/>
              <a:sym typeface="Calibri"/>
            </a:endParaRPr>
          </a:p>
        </p:txBody>
      </p:sp>
      <p:sp>
        <p:nvSpPr>
          <p:cNvPr id="1181" name="Google Shape;1181;p46"/>
          <p:cNvSpPr/>
          <p:nvPr/>
        </p:nvSpPr>
        <p:spPr>
          <a:xfrm>
            <a:off x="60502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Abusive toward a cleaner</a:t>
            </a:r>
            <a:endParaRPr b="0" i="0" spc="0" sz="900" u="none" cap="none" strike="noStrike">
              <a:solidFill>
                <a:schemeClr val="dk1"/>
              </a:solidFill>
              <a:latin typeface="Calibri"/>
              <a:ea typeface="Calibri"/>
              <a:cs typeface="Calibri"/>
              <a:sym typeface="Calibri"/>
            </a:endParaRPr>
          </a:p>
        </p:txBody>
      </p:sp>
      <p:sp>
        <p:nvSpPr>
          <p:cNvPr id="1182" name="Google Shape;1182;p46"/>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3" name="Google Shape;1183;p46"/>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1184" name="Google Shape;1184;p46"/>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Abusive toward a cleaner:  </a:t>
            </a:r>
            <a:r>
              <a:rPr b="0" i="0" lang="en-US" spc="0" sz="1000" u="none" cap="none" strike="noStrike">
                <a:solidFill>
                  <a:srgbClr val="1D1D1F"/>
                </a:solidFill>
                <a:latin typeface="Arial"/>
                <a:ea typeface="Arial"/>
                <a:cs typeface="Arial"/>
                <a:sym typeface="Arial"/>
              </a:rPr>
              <a:t>retention is off the table. Only exit offers (ETF/MCT reduction) remain.</a:t>
            </a:r>
            <a:endParaRPr b="0" i="0" spc="0" sz="1000" u="none" cap="none" strike="noStrike">
              <a:solidFill>
                <a:schemeClr val="dk1"/>
              </a:solidFill>
              <a:latin typeface="Calibri"/>
              <a:ea typeface="Calibri"/>
              <a:cs typeface="Calibri"/>
              <a:sym typeface="Calibri"/>
            </a:endParaRPr>
          </a:p>
        </p:txBody>
      </p:sp>
      <p:sp>
        <p:nvSpPr>
          <p:cNvPr id="1185" name="Google Shape;1185;p46"/>
          <p:cNvSpPr/>
          <p:nvPr/>
        </p:nvSpPr>
        <p:spPr>
          <a:xfrm>
            <a:off x="411480" y="376732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6" name="Google Shape;1186;p46"/>
          <p:cNvPicPr preferRelativeResize="0"/>
          <p:nvPr/>
        </p:nvPicPr>
        <p:blipFill rotWithShape="1">
          <a:blip r:embed="rId4">
            <a:alphaModFix/>
          </a:blip>
          <a:srcRect b="0" l="0" r="0" t="0"/>
          <a:stretch/>
        </p:blipFill>
        <p:spPr>
          <a:xfrm>
            <a:off x="566928" y="3877056"/>
            <a:ext cx="164592" cy="164592"/>
          </a:xfrm>
          <a:prstGeom prst="rect">
            <a:avLst/>
          </a:prstGeom>
          <a:noFill/>
          <a:ln>
            <a:noFill/>
          </a:ln>
        </p:spPr>
      </p:pic>
      <p:sp>
        <p:nvSpPr>
          <p:cNvPr id="1187" name="Google Shape;1187;p46"/>
          <p:cNvSpPr txBox="1"/>
          <p:nvPr/>
        </p:nvSpPr>
        <p:spPr>
          <a:xfrm>
            <a:off x="822960" y="386791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their situation isn't about the service. Pushing retention looks tone-deaf.</a:t>
            </a:r>
            <a:endParaRPr b="0" i="0" spc="0" sz="1000" u="none" cap="none" strike="noStrike">
              <a:solidFill>
                <a:schemeClr val="dk1"/>
              </a:solidFill>
              <a:latin typeface="Calibri"/>
              <a:ea typeface="Calibri"/>
              <a:cs typeface="Calibri"/>
              <a:sym typeface="Calibri"/>
            </a:endParaRPr>
          </a:p>
        </p:txBody>
      </p:sp>
      <p:sp>
        <p:nvSpPr>
          <p:cNvPr id="1188" name="Google Shape;1188;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3" name="Shape 1193"/>
        <p:cNvGrpSpPr/>
        <p:nvPr/>
      </p:nvGrpSpPr>
      <p:grpSpPr>
        <a:xfrm>
          <a:off x="0" y="0"/>
          <a:ext cx="0" cy="0"/>
          <a:chOff x="0" y="0"/>
          <a:chExt cx="0" cy="0"/>
        </a:xfrm>
      </p:grpSpPr>
      <p:sp>
        <p:nvSpPr>
          <p:cNvPr id="1194" name="Google Shape;1194;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95" name="Google Shape;1195;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Context decides</a:t>
            </a:r>
            <a:endParaRPr b="0" i="0" spc="0" sz="2400" u="none" cap="none" strike="noStrike">
              <a:solidFill>
                <a:schemeClr val="dk1"/>
              </a:solidFill>
              <a:latin typeface="Calibri"/>
              <a:ea typeface="Calibri"/>
              <a:cs typeface="Calibri"/>
              <a:sym typeface="Calibri"/>
            </a:endParaRPr>
          </a:p>
        </p:txBody>
      </p:sp>
      <p:sp>
        <p:nvSpPr>
          <p:cNvPr id="1196" name="Google Shape;1196;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same situation can point to a different call. Investigate first.</a:t>
            </a:r>
            <a:endParaRPr b="0" i="0" spc="0" sz="1200" u="none" cap="none" strike="noStrike">
              <a:solidFill>
                <a:schemeClr val="dk1"/>
              </a:solidFill>
              <a:latin typeface="Calibri"/>
              <a:ea typeface="Calibri"/>
              <a:cs typeface="Calibri"/>
              <a:sym typeface="Calibri"/>
            </a:endParaRPr>
          </a:p>
        </p:txBody>
      </p:sp>
      <p:sp>
        <p:nvSpPr>
          <p:cNvPr id="1197" name="Google Shape;1197;p47"/>
          <p:cNvSpPr txBox="1"/>
          <p:nvPr/>
        </p:nvSpPr>
        <p:spPr>
          <a:xfrm>
            <a:off x="25146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50"/>
              <a:buFont typeface="Arial"/>
              <a:buNone/>
            </a:pPr>
            <a:r>
              <a:rPr b="1" i="0" lang="en-US" spc="0" sz="850" u="none" cap="none" strike="noStrike">
                <a:solidFill>
                  <a:srgbClr val="B3261E"/>
                </a:solidFill>
                <a:latin typeface="Arial"/>
                <a:ea typeface="Arial"/>
                <a:cs typeface="Arial"/>
                <a:sym typeface="Arial"/>
              </a:rPr>
              <a:t>Leans non-retainable</a:t>
            </a:r>
            <a:endParaRPr b="0" i="0" spc="0" sz="850" u="none" cap="none" strike="noStrike">
              <a:solidFill>
                <a:schemeClr val="dk1"/>
              </a:solidFill>
              <a:latin typeface="Calibri"/>
              <a:ea typeface="Calibri"/>
              <a:cs typeface="Calibri"/>
              <a:sym typeface="Calibri"/>
            </a:endParaRPr>
          </a:p>
        </p:txBody>
      </p:sp>
      <p:sp>
        <p:nvSpPr>
          <p:cNvPr id="1198" name="Google Shape;1198;p47"/>
          <p:cNvSpPr txBox="1"/>
          <p:nvPr/>
        </p:nvSpPr>
        <p:spPr>
          <a:xfrm>
            <a:off x="57150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But…</a:t>
            </a:r>
            <a:endParaRPr b="0" i="0" spc="0" sz="850" u="none" cap="none" strike="noStrike">
              <a:solidFill>
                <a:schemeClr val="dk1"/>
              </a:solidFill>
              <a:latin typeface="Calibri"/>
              <a:ea typeface="Calibri"/>
              <a:cs typeface="Calibri"/>
              <a:sym typeface="Calibri"/>
            </a:endParaRPr>
          </a:p>
        </p:txBody>
      </p:sp>
      <p:sp>
        <p:nvSpPr>
          <p:cNvPr id="1199" name="Google Shape;1199;p47"/>
          <p:cNvSpPr/>
          <p:nvPr/>
        </p:nvSpPr>
        <p:spPr>
          <a:xfrm>
            <a:off x="411480" y="148132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0" name="Google Shape;1200;p47"/>
          <p:cNvSpPr/>
          <p:nvPr/>
        </p:nvSpPr>
        <p:spPr>
          <a:xfrm>
            <a:off x="502920"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1" name="Google Shape;1201;p47"/>
          <p:cNvPicPr preferRelativeResize="0"/>
          <p:nvPr/>
        </p:nvPicPr>
        <p:blipFill rotWithShape="1">
          <a:blip r:embed="rId3">
            <a:alphaModFix/>
          </a:blip>
          <a:srcRect b="0" l="0" r="0" t="0"/>
          <a:stretch/>
        </p:blipFill>
        <p:spPr>
          <a:xfrm>
            <a:off x="581924" y="1715780"/>
            <a:ext cx="171176" cy="171176"/>
          </a:xfrm>
          <a:prstGeom prst="rect">
            <a:avLst/>
          </a:prstGeom>
          <a:noFill/>
          <a:ln>
            <a:noFill/>
          </a:ln>
        </p:spPr>
      </p:pic>
      <p:sp>
        <p:nvSpPr>
          <p:cNvPr id="1202" name="Google Shape;1202;p47"/>
          <p:cNvSpPr txBox="1"/>
          <p:nvPr/>
        </p:nvSpPr>
        <p:spPr>
          <a:xfrm>
            <a:off x="914400" y="148132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History of disputes</a:t>
            </a:r>
            <a:endParaRPr b="0" i="0" spc="0" sz="1050" u="none" cap="none" strike="noStrike">
              <a:solidFill>
                <a:schemeClr val="dk1"/>
              </a:solidFill>
              <a:latin typeface="Calibri"/>
              <a:ea typeface="Calibri"/>
              <a:cs typeface="Calibri"/>
              <a:sym typeface="Calibri"/>
            </a:endParaRPr>
          </a:p>
        </p:txBody>
      </p:sp>
      <p:sp>
        <p:nvSpPr>
          <p:cNvPr id="1203" name="Google Shape;1203;p47"/>
          <p:cNvSpPr/>
          <p:nvPr/>
        </p:nvSpPr>
        <p:spPr>
          <a:xfrm>
            <a:off x="2514600" y="148132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4" name="Google Shape;1204;p47"/>
          <p:cNvSpPr txBox="1"/>
          <p:nvPr/>
        </p:nvSpPr>
        <p:spPr>
          <a:xfrm>
            <a:off x="2651760" y="148132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cancel or a refund → non-retainable</a:t>
            </a:r>
            <a:endParaRPr b="0" i="0" spc="0" sz="950" u="none" cap="none" strike="noStrike">
              <a:solidFill>
                <a:schemeClr val="dk1"/>
              </a:solidFill>
              <a:latin typeface="Calibri"/>
              <a:ea typeface="Calibri"/>
              <a:cs typeface="Calibri"/>
              <a:sym typeface="Calibri"/>
            </a:endParaRPr>
          </a:p>
        </p:txBody>
      </p:sp>
      <p:sp>
        <p:nvSpPr>
          <p:cNvPr id="1205" name="Google Shape;1205;p47"/>
          <p:cNvSpPr/>
          <p:nvPr/>
        </p:nvSpPr>
        <p:spPr>
          <a:xfrm>
            <a:off x="5715000" y="148132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6" name="Google Shape;1206;p47"/>
          <p:cNvSpPr txBox="1"/>
          <p:nvPr/>
        </p:nvSpPr>
        <p:spPr>
          <a:xfrm>
            <a:off x="5852160" y="148132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keep using it → let them (unless fraud)</a:t>
            </a:r>
            <a:endParaRPr b="0" i="0" spc="0" sz="950" u="none" cap="none" strike="noStrike">
              <a:solidFill>
                <a:schemeClr val="dk1"/>
              </a:solidFill>
              <a:latin typeface="Calibri"/>
              <a:ea typeface="Calibri"/>
              <a:cs typeface="Calibri"/>
              <a:sym typeface="Calibri"/>
            </a:endParaRPr>
          </a:p>
        </p:txBody>
      </p:sp>
      <p:sp>
        <p:nvSpPr>
          <p:cNvPr id="1207" name="Google Shape;1207;p47"/>
          <p:cNvSpPr/>
          <p:nvPr/>
        </p:nvSpPr>
        <p:spPr>
          <a:xfrm>
            <a:off x="411480" y="221284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8" name="Google Shape;1208;p47"/>
          <p:cNvSpPr/>
          <p:nvPr/>
        </p:nvSpPr>
        <p:spPr>
          <a:xfrm>
            <a:off x="502920" y="236829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9" name="Google Shape;1209;p47"/>
          <p:cNvPicPr preferRelativeResize="0"/>
          <p:nvPr/>
        </p:nvPicPr>
        <p:blipFill rotWithShape="1">
          <a:blip r:embed="rId4">
            <a:alphaModFix/>
          </a:blip>
          <a:srcRect b="0" l="0" r="0" t="0"/>
          <a:stretch/>
        </p:blipFill>
        <p:spPr>
          <a:xfrm>
            <a:off x="581924" y="2447300"/>
            <a:ext cx="171176" cy="171176"/>
          </a:xfrm>
          <a:prstGeom prst="rect">
            <a:avLst/>
          </a:prstGeom>
          <a:noFill/>
          <a:ln>
            <a:noFill/>
          </a:ln>
        </p:spPr>
      </p:pic>
      <p:sp>
        <p:nvSpPr>
          <p:cNvPr id="1210" name="Google Shape;1210;p47"/>
          <p:cNvSpPr txBox="1"/>
          <p:nvPr/>
        </p:nvSpPr>
        <p:spPr>
          <a:xfrm>
            <a:off x="914400" y="221284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Severe illness</a:t>
            </a:r>
            <a:endParaRPr b="0" i="0" spc="0" sz="1050" u="none" cap="none" strike="noStrike">
              <a:solidFill>
                <a:schemeClr val="dk1"/>
              </a:solidFill>
              <a:latin typeface="Calibri"/>
              <a:ea typeface="Calibri"/>
              <a:cs typeface="Calibri"/>
              <a:sym typeface="Calibri"/>
            </a:endParaRPr>
          </a:p>
        </p:txBody>
      </p:sp>
      <p:sp>
        <p:nvSpPr>
          <p:cNvPr id="1211" name="Google Shape;1211;p47"/>
          <p:cNvSpPr/>
          <p:nvPr/>
        </p:nvSpPr>
        <p:spPr>
          <a:xfrm>
            <a:off x="2514600" y="221284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2" name="Google Shape;1212;p47"/>
          <p:cNvSpPr txBox="1"/>
          <p:nvPr/>
        </p:nvSpPr>
        <p:spPr>
          <a:xfrm>
            <a:off x="2651760" y="221284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Cancelling because of it → cancel, waive ETF</a:t>
            </a:r>
            <a:endParaRPr b="0" i="0" spc="0" sz="950" u="none" cap="none" strike="noStrike">
              <a:solidFill>
                <a:schemeClr val="dk1"/>
              </a:solidFill>
              <a:latin typeface="Calibri"/>
              <a:ea typeface="Calibri"/>
              <a:cs typeface="Calibri"/>
              <a:sym typeface="Calibri"/>
            </a:endParaRPr>
          </a:p>
        </p:txBody>
      </p:sp>
      <p:sp>
        <p:nvSpPr>
          <p:cNvPr id="1213" name="Google Shape;1213;p47"/>
          <p:cNvSpPr/>
          <p:nvPr/>
        </p:nvSpPr>
        <p:spPr>
          <a:xfrm>
            <a:off x="5715000" y="221284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4" name="Google Shape;1214;p47"/>
          <p:cNvSpPr txBox="1"/>
          <p:nvPr/>
        </p:nvSpPr>
        <p:spPr>
          <a:xfrm>
            <a:off x="5852160" y="221284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Needs the help because of it → retain</a:t>
            </a:r>
            <a:endParaRPr b="0" i="0" spc="0" sz="950" u="none" cap="none" strike="noStrike">
              <a:solidFill>
                <a:schemeClr val="dk1"/>
              </a:solidFill>
              <a:latin typeface="Calibri"/>
              <a:ea typeface="Calibri"/>
              <a:cs typeface="Calibri"/>
              <a:sym typeface="Calibri"/>
            </a:endParaRPr>
          </a:p>
        </p:txBody>
      </p:sp>
      <p:sp>
        <p:nvSpPr>
          <p:cNvPr id="1215" name="Google Shape;1215;p47"/>
          <p:cNvSpPr/>
          <p:nvPr/>
        </p:nvSpPr>
        <p:spPr>
          <a:xfrm>
            <a:off x="411480" y="294436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6" name="Google Shape;1216;p47"/>
          <p:cNvSpPr/>
          <p:nvPr/>
        </p:nvSpPr>
        <p:spPr>
          <a:xfrm>
            <a:off x="502920" y="30998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7" name="Google Shape;1217;p47"/>
          <p:cNvPicPr preferRelativeResize="0"/>
          <p:nvPr/>
        </p:nvPicPr>
        <p:blipFill rotWithShape="1">
          <a:blip r:embed="rId5">
            <a:alphaModFix/>
          </a:blip>
          <a:srcRect b="0" l="0" r="0" t="0"/>
          <a:stretch/>
        </p:blipFill>
        <p:spPr>
          <a:xfrm>
            <a:off x="581924" y="3178820"/>
            <a:ext cx="171176" cy="171176"/>
          </a:xfrm>
          <a:prstGeom prst="rect">
            <a:avLst/>
          </a:prstGeom>
          <a:noFill/>
          <a:ln>
            <a:noFill/>
          </a:ln>
        </p:spPr>
      </p:pic>
      <p:sp>
        <p:nvSpPr>
          <p:cNvPr id="1218" name="Google Shape;1218;p47"/>
          <p:cNvSpPr txBox="1"/>
          <p:nvPr/>
        </p:nvSpPr>
        <p:spPr>
          <a:xfrm>
            <a:off x="914400" y="294436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Military deployment</a:t>
            </a:r>
            <a:endParaRPr b="0" i="0" spc="0" sz="1050" u="none" cap="none" strike="noStrike">
              <a:solidFill>
                <a:schemeClr val="dk1"/>
              </a:solidFill>
              <a:latin typeface="Calibri"/>
              <a:ea typeface="Calibri"/>
              <a:cs typeface="Calibri"/>
              <a:sym typeface="Calibri"/>
            </a:endParaRPr>
          </a:p>
        </p:txBody>
      </p:sp>
      <p:sp>
        <p:nvSpPr>
          <p:cNvPr id="1219" name="Google Shape;1219;p47"/>
          <p:cNvSpPr/>
          <p:nvPr/>
        </p:nvSpPr>
        <p:spPr>
          <a:xfrm>
            <a:off x="2514600" y="294436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0" name="Google Shape;1220;p47"/>
          <p:cNvSpPr txBox="1"/>
          <p:nvPr/>
        </p:nvSpPr>
        <p:spPr>
          <a:xfrm>
            <a:off x="2651760" y="294436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now → cancel</a:t>
            </a:r>
            <a:endParaRPr b="0" i="0" spc="0" sz="950" u="none" cap="none" strike="noStrike">
              <a:solidFill>
                <a:schemeClr val="dk1"/>
              </a:solidFill>
              <a:latin typeface="Calibri"/>
              <a:ea typeface="Calibri"/>
              <a:cs typeface="Calibri"/>
              <a:sym typeface="Calibri"/>
            </a:endParaRPr>
          </a:p>
        </p:txBody>
      </p:sp>
      <p:sp>
        <p:nvSpPr>
          <p:cNvPr id="1221" name="Google Shape;1221;p47"/>
          <p:cNvSpPr/>
          <p:nvPr/>
        </p:nvSpPr>
        <p:spPr>
          <a:xfrm>
            <a:off x="5715000" y="294436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2" name="Google Shape;1222;p47"/>
          <p:cNvSpPr txBox="1"/>
          <p:nvPr/>
        </p:nvSpPr>
        <p:spPr>
          <a:xfrm>
            <a:off x="5852160" y="294436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in a few months → Timed Reminder</a:t>
            </a:r>
            <a:endParaRPr b="0" i="0" spc="0" sz="950" u="none" cap="none" strike="noStrike">
              <a:solidFill>
                <a:schemeClr val="dk1"/>
              </a:solidFill>
              <a:latin typeface="Calibri"/>
              <a:ea typeface="Calibri"/>
              <a:cs typeface="Calibri"/>
              <a:sym typeface="Calibri"/>
            </a:endParaRPr>
          </a:p>
        </p:txBody>
      </p:sp>
      <p:sp>
        <p:nvSpPr>
          <p:cNvPr id="1223" name="Google Shape;1223;p47"/>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24" name="Google Shape;1224;p47"/>
          <p:cNvPicPr preferRelativeResize="0"/>
          <p:nvPr/>
        </p:nvPicPr>
        <p:blipFill rotWithShape="1">
          <a:blip r:embed="rId6">
            <a:alphaModFix/>
          </a:blip>
          <a:srcRect b="0" l="0" r="0" t="0"/>
          <a:stretch/>
        </p:blipFill>
        <p:spPr>
          <a:xfrm>
            <a:off x="566928" y="3904488"/>
            <a:ext cx="164592" cy="164592"/>
          </a:xfrm>
          <a:prstGeom prst="rect">
            <a:avLst/>
          </a:prstGeom>
          <a:noFill/>
          <a:ln>
            <a:noFill/>
          </a:ln>
        </p:spPr>
      </p:pic>
      <p:sp>
        <p:nvSpPr>
          <p:cNvPr id="1225" name="Google Shape;1225;p47"/>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what is the customer asking for right now? Not just which situation is on the account.</a:t>
            </a:r>
            <a:endParaRPr b="0" i="0" spc="0" sz="1000" u="none" cap="none" strike="noStrike">
              <a:solidFill>
                <a:schemeClr val="dk1"/>
              </a:solidFill>
              <a:latin typeface="Calibri"/>
              <a:ea typeface="Calibri"/>
              <a:cs typeface="Calibri"/>
              <a:sym typeface="Calibri"/>
            </a:endParaRPr>
          </a:p>
        </p:txBody>
      </p:sp>
      <p:sp>
        <p:nvSpPr>
          <p:cNvPr id="1226" name="Google Shape;1226;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1" name="Shape 1231"/>
        <p:cNvGrpSpPr/>
        <p:nvPr/>
      </p:nvGrpSpPr>
      <p:grpSpPr>
        <a:xfrm>
          <a:off x="0" y="0"/>
          <a:ext cx="0" cy="0"/>
          <a:chOff x="0" y="0"/>
          <a:chExt cx="0" cy="0"/>
        </a:xfrm>
      </p:grpSpPr>
      <p:sp>
        <p:nvSpPr>
          <p:cNvPr id="1232" name="Google Shape;1232;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33" name="Google Shape;1233;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Clear signs they're retainable</a:t>
            </a:r>
            <a:endParaRPr b="0" i="0" spc="0" sz="2400" u="none" cap="none" strike="noStrike">
              <a:solidFill>
                <a:schemeClr val="dk1"/>
              </a:solidFill>
              <a:latin typeface="Calibri"/>
              <a:ea typeface="Calibri"/>
              <a:cs typeface="Calibri"/>
              <a:sym typeface="Calibri"/>
            </a:endParaRPr>
          </a:p>
        </p:txBody>
      </p:sp>
      <p:sp>
        <p:nvSpPr>
          <p:cNvPr id="1234" name="Google Shape;1234;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objection is about structure, not value.</a:t>
            </a:r>
            <a:endParaRPr b="0" i="0" spc="0" sz="1200" u="none" cap="none" strike="noStrike">
              <a:solidFill>
                <a:schemeClr val="dk1"/>
              </a:solidFill>
              <a:latin typeface="Calibri"/>
              <a:ea typeface="Calibri"/>
              <a:cs typeface="Calibri"/>
              <a:sym typeface="Calibri"/>
            </a:endParaRPr>
          </a:p>
        </p:txBody>
      </p:sp>
      <p:sp>
        <p:nvSpPr>
          <p:cNvPr id="1235" name="Google Shape;1235;p48"/>
          <p:cNvSpPr/>
          <p:nvPr/>
        </p:nvSpPr>
        <p:spPr>
          <a:xfrm>
            <a:off x="4114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6" name="Google Shape;1236;p48"/>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7" name="Google Shape;1237;p48"/>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1238" name="Google Shape;1238;p48"/>
          <p:cNvSpPr txBox="1"/>
          <p:nvPr/>
        </p:nvSpPr>
        <p:spPr>
          <a:xfrm>
            <a:off x="5760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Happy with the cleaning</a:t>
            </a:r>
            <a:endParaRPr b="0" i="0" spc="0" sz="1200" u="none" cap="none" strike="noStrike">
              <a:solidFill>
                <a:schemeClr val="dk1"/>
              </a:solidFill>
              <a:latin typeface="Calibri"/>
              <a:ea typeface="Calibri"/>
              <a:cs typeface="Calibri"/>
              <a:sym typeface="Calibri"/>
            </a:endParaRPr>
          </a:p>
        </p:txBody>
      </p:sp>
      <p:sp>
        <p:nvSpPr>
          <p:cNvPr id="1239" name="Google Shape;1239;p48"/>
          <p:cNvSpPr/>
          <p:nvPr/>
        </p:nvSpPr>
        <p:spPr>
          <a:xfrm>
            <a:off x="5760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0" name="Google Shape;1240;p48"/>
          <p:cNvSpPr txBox="1"/>
          <p:nvPr/>
        </p:nvSpPr>
        <p:spPr>
          <a:xfrm>
            <a:off x="6675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“The cleaner did a good job but I don't want a membership.”</a:t>
            </a:r>
            <a:endParaRPr b="0" i="0" spc="0" sz="950" u="none" cap="none" strike="noStrike">
              <a:solidFill>
                <a:schemeClr val="dk1"/>
              </a:solidFill>
              <a:latin typeface="Calibri"/>
              <a:ea typeface="Calibri"/>
              <a:cs typeface="Calibri"/>
              <a:sym typeface="Calibri"/>
            </a:endParaRPr>
          </a:p>
        </p:txBody>
      </p:sp>
      <p:sp>
        <p:nvSpPr>
          <p:cNvPr id="1241" name="Google Shape;1241;p48"/>
          <p:cNvSpPr txBox="1"/>
          <p:nvPr/>
        </p:nvSpPr>
        <p:spPr>
          <a:xfrm>
            <a:off x="5760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service worked. It's about structure.</a:t>
            </a:r>
            <a:endParaRPr b="0" i="0" spc="0" sz="950" u="none" cap="none" strike="noStrike">
              <a:solidFill>
                <a:schemeClr val="dk1"/>
              </a:solidFill>
              <a:latin typeface="Calibri"/>
              <a:ea typeface="Calibri"/>
              <a:cs typeface="Calibri"/>
              <a:sym typeface="Calibri"/>
            </a:endParaRPr>
          </a:p>
        </p:txBody>
      </p:sp>
      <p:sp>
        <p:nvSpPr>
          <p:cNvPr id="1242" name="Google Shape;1242;p48"/>
          <p:cNvSpPr/>
          <p:nvPr/>
        </p:nvSpPr>
        <p:spPr>
          <a:xfrm>
            <a:off x="32308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3" name="Google Shape;1243;p48"/>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4" name="Google Shape;1244;p48"/>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1245" name="Google Shape;1245;p48"/>
          <p:cNvSpPr txBox="1"/>
          <p:nvPr/>
        </p:nvSpPr>
        <p:spPr>
          <a:xfrm>
            <a:off x="33954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Temporary money concern</a:t>
            </a:r>
            <a:endParaRPr b="0" i="0" spc="0" sz="1200" u="none" cap="none" strike="noStrike">
              <a:solidFill>
                <a:schemeClr val="dk1"/>
              </a:solidFill>
              <a:latin typeface="Calibri"/>
              <a:ea typeface="Calibri"/>
              <a:cs typeface="Calibri"/>
              <a:sym typeface="Calibri"/>
            </a:endParaRPr>
          </a:p>
        </p:txBody>
      </p:sp>
      <p:sp>
        <p:nvSpPr>
          <p:cNvPr id="1246" name="Google Shape;1246;p48"/>
          <p:cNvSpPr/>
          <p:nvPr/>
        </p:nvSpPr>
        <p:spPr>
          <a:xfrm>
            <a:off x="33954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7" name="Google Shape;1247;p48"/>
          <p:cNvSpPr txBox="1"/>
          <p:nvPr/>
        </p:nvSpPr>
        <p:spPr>
          <a:xfrm>
            <a:off x="34869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can't afford the monthly fee right now.”</a:t>
            </a:r>
            <a:endParaRPr b="0" i="0" spc="0" sz="950" u="none" cap="none" strike="noStrike">
              <a:solidFill>
                <a:schemeClr val="dk1"/>
              </a:solidFill>
              <a:latin typeface="Calibri"/>
              <a:ea typeface="Calibri"/>
              <a:cs typeface="Calibri"/>
              <a:sym typeface="Calibri"/>
            </a:endParaRPr>
          </a:p>
        </p:txBody>
      </p:sp>
      <p:sp>
        <p:nvSpPr>
          <p:cNvPr id="1248" name="Google Shape;1248;p48"/>
          <p:cNvSpPr txBox="1"/>
          <p:nvPr/>
        </p:nvSpPr>
        <p:spPr>
          <a:xfrm>
            <a:off x="33954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 adjustment or flexibility. Severe distress? Pause or help cancel.</a:t>
            </a:r>
            <a:endParaRPr b="0" i="0" spc="0" sz="950" u="none" cap="none" strike="noStrike">
              <a:solidFill>
                <a:schemeClr val="dk1"/>
              </a:solidFill>
              <a:latin typeface="Calibri"/>
              <a:ea typeface="Calibri"/>
              <a:cs typeface="Calibri"/>
              <a:sym typeface="Calibri"/>
            </a:endParaRPr>
          </a:p>
        </p:txBody>
      </p:sp>
      <p:sp>
        <p:nvSpPr>
          <p:cNvPr id="1249" name="Google Shape;1249;p48"/>
          <p:cNvSpPr/>
          <p:nvPr/>
        </p:nvSpPr>
        <p:spPr>
          <a:xfrm>
            <a:off x="60502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0" name="Google Shape;1250;p48"/>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1" name="Google Shape;1251;p48"/>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1252" name="Google Shape;1252;p48"/>
          <p:cNvSpPr txBox="1"/>
          <p:nvPr/>
        </p:nvSpPr>
        <p:spPr>
          <a:xfrm>
            <a:off x="62148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Membership confusion</a:t>
            </a:r>
            <a:endParaRPr b="0" i="0" spc="0" sz="1200" u="none" cap="none" strike="noStrike">
              <a:solidFill>
                <a:schemeClr val="dk1"/>
              </a:solidFill>
              <a:latin typeface="Calibri"/>
              <a:ea typeface="Calibri"/>
              <a:cs typeface="Calibri"/>
              <a:sym typeface="Calibri"/>
            </a:endParaRPr>
          </a:p>
        </p:txBody>
      </p:sp>
      <p:sp>
        <p:nvSpPr>
          <p:cNvPr id="1253" name="Google Shape;1253;p48"/>
          <p:cNvSpPr/>
          <p:nvPr/>
        </p:nvSpPr>
        <p:spPr>
          <a:xfrm>
            <a:off x="62148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4" name="Google Shape;1254;p48"/>
          <p:cNvSpPr txBox="1"/>
          <p:nvPr/>
        </p:nvSpPr>
        <p:spPr>
          <a:xfrm>
            <a:off x="63063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didn't realize I signed up for 6 months.”</a:t>
            </a:r>
            <a:endParaRPr b="0" i="0" spc="0" sz="950" u="none" cap="none" strike="noStrike">
              <a:solidFill>
                <a:schemeClr val="dk1"/>
              </a:solidFill>
              <a:latin typeface="Calibri"/>
              <a:ea typeface="Calibri"/>
              <a:cs typeface="Calibri"/>
              <a:sym typeface="Calibri"/>
            </a:endParaRPr>
          </a:p>
        </p:txBody>
      </p:sp>
      <p:sp>
        <p:nvSpPr>
          <p:cNvPr id="1255" name="Google Shape;1255;p48"/>
          <p:cNvSpPr txBox="1"/>
          <p:nvPr/>
        </p:nvSpPr>
        <p:spPr>
          <a:xfrm>
            <a:off x="62148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Clarify calmly, probe the service, keep going.</a:t>
            </a:r>
            <a:endParaRPr b="0" i="0" spc="0" sz="950" u="none" cap="none" strike="noStrike">
              <a:solidFill>
                <a:schemeClr val="dk1"/>
              </a:solidFill>
              <a:latin typeface="Calibri"/>
              <a:ea typeface="Calibri"/>
              <a:cs typeface="Calibri"/>
              <a:sym typeface="Calibri"/>
            </a:endParaRPr>
          </a:p>
        </p:txBody>
      </p:sp>
      <p:sp>
        <p:nvSpPr>
          <p:cNvPr id="1256" name="Google Shape;1256;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1" name="Shape 1261"/>
        <p:cNvGrpSpPr/>
        <p:nvPr/>
      </p:nvGrpSpPr>
      <p:grpSpPr>
        <a:xfrm>
          <a:off x="0" y="0"/>
          <a:ext cx="0" cy="0"/>
          <a:chOff x="0" y="0"/>
          <a:chExt cx="0" cy="0"/>
        </a:xfrm>
      </p:grpSpPr>
      <p:sp>
        <p:nvSpPr>
          <p:cNvPr id="1262" name="Google Shape;1262;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63" name="Google Shape;1263;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Genuine unhappiness</a:t>
            </a:r>
            <a:endParaRPr b="0" i="0" spc="0" sz="2400" u="none" cap="none" strike="noStrike">
              <a:solidFill>
                <a:schemeClr val="dk1"/>
              </a:solidFill>
              <a:latin typeface="Calibri"/>
              <a:ea typeface="Calibri"/>
              <a:cs typeface="Calibri"/>
              <a:sym typeface="Calibri"/>
            </a:endParaRPr>
          </a:p>
        </p:txBody>
      </p:sp>
      <p:sp>
        <p:nvSpPr>
          <p:cNvPr id="1264" name="Google Shape;1264;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assume they're non-retainable. Be human first.</a:t>
            </a:r>
            <a:endParaRPr b="0" i="0" spc="0" sz="1200" u="none" cap="none" strike="noStrike">
              <a:solidFill>
                <a:schemeClr val="dk1"/>
              </a:solidFill>
              <a:latin typeface="Calibri"/>
              <a:ea typeface="Calibri"/>
              <a:cs typeface="Calibri"/>
              <a:sym typeface="Calibri"/>
            </a:endParaRPr>
          </a:p>
        </p:txBody>
      </p:sp>
      <p:sp>
        <p:nvSpPr>
          <p:cNvPr id="1265" name="Google Shape;1265;p49"/>
          <p:cNvSpPr/>
          <p:nvPr/>
        </p:nvSpPr>
        <p:spPr>
          <a:xfrm>
            <a:off x="411480" y="12984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6" name="Google Shape;1266;p49"/>
          <p:cNvSpPr/>
          <p:nvPr/>
        </p:nvSpPr>
        <p:spPr>
          <a:xfrm>
            <a:off x="548640" y="15179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67" name="Google Shape;1267;p49"/>
          <p:cNvPicPr preferRelativeResize="0"/>
          <p:nvPr/>
        </p:nvPicPr>
        <p:blipFill rotWithShape="1">
          <a:blip r:embed="rId3">
            <a:alphaModFix/>
          </a:blip>
          <a:srcRect b="0" l="0" r="0" t="0"/>
          <a:stretch/>
        </p:blipFill>
        <p:spPr>
          <a:xfrm>
            <a:off x="640812" y="1610076"/>
            <a:ext cx="199705" cy="199705"/>
          </a:xfrm>
          <a:prstGeom prst="rect">
            <a:avLst/>
          </a:prstGeom>
          <a:noFill/>
          <a:ln>
            <a:noFill/>
          </a:ln>
        </p:spPr>
      </p:pic>
      <p:sp>
        <p:nvSpPr>
          <p:cNvPr id="1268" name="Google Shape;1268;p49"/>
          <p:cNvSpPr txBox="1"/>
          <p:nvPr/>
        </p:nvSpPr>
        <p:spPr>
          <a:xfrm>
            <a:off x="1051560" y="12984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Extreme escalation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"This is a scam, cancel this NOW"</a:t>
            </a:r>
            <a:endParaRPr b="0" i="0" spc="0" sz="1100" u="none" cap="none" strike="noStrike">
              <a:solidFill>
                <a:schemeClr val="dk1"/>
              </a:solidFill>
              <a:latin typeface="Calibri"/>
              <a:ea typeface="Calibri"/>
              <a:cs typeface="Calibri"/>
              <a:sym typeface="Calibri"/>
            </a:endParaRPr>
          </a:p>
        </p:txBody>
      </p:sp>
      <p:sp>
        <p:nvSpPr>
          <p:cNvPr id="1269" name="Google Shape;1269;p49"/>
          <p:cNvSpPr txBox="1"/>
          <p:nvPr/>
        </p:nvSpPr>
        <p:spPr>
          <a:xfrm>
            <a:off x="3611880" y="12984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No offer yet. Be human, probe gently.</a:t>
            </a:r>
            <a:endParaRPr b="0" i="0" spc="0" sz="950" u="none" cap="none" strike="noStrike">
              <a:solidFill>
                <a:schemeClr val="dk1"/>
              </a:solidFill>
              <a:latin typeface="Calibri"/>
              <a:ea typeface="Calibri"/>
              <a:cs typeface="Calibri"/>
              <a:sym typeface="Calibri"/>
            </a:endParaRPr>
          </a:p>
        </p:txBody>
      </p:sp>
      <p:sp>
        <p:nvSpPr>
          <p:cNvPr id="1270" name="Google Shape;1270;p49"/>
          <p:cNvSpPr/>
          <p:nvPr/>
        </p:nvSpPr>
        <p:spPr>
          <a:xfrm>
            <a:off x="5897880" y="13898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1" name="Google Shape;1271;p49"/>
          <p:cNvSpPr txBox="1"/>
          <p:nvPr/>
        </p:nvSpPr>
        <p:spPr>
          <a:xfrm>
            <a:off x="5989320" y="13898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“I'm so sorry to hear that, I'm here to help! What happened?”</a:t>
            </a:r>
            <a:endParaRPr b="0" i="0" spc="0" sz="850" u="none" cap="none" strike="noStrike">
              <a:solidFill>
                <a:schemeClr val="dk1"/>
              </a:solidFill>
              <a:latin typeface="Calibri"/>
              <a:ea typeface="Calibri"/>
              <a:cs typeface="Calibri"/>
              <a:sym typeface="Calibri"/>
            </a:endParaRPr>
          </a:p>
        </p:txBody>
      </p:sp>
      <p:sp>
        <p:nvSpPr>
          <p:cNvPr id="1272" name="Google Shape;1272;p49"/>
          <p:cNvSpPr/>
          <p:nvPr/>
        </p:nvSpPr>
        <p:spPr>
          <a:xfrm>
            <a:off x="411480" y="22128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3" name="Google Shape;1273;p49"/>
          <p:cNvSpPr/>
          <p:nvPr/>
        </p:nvSpPr>
        <p:spPr>
          <a:xfrm>
            <a:off x="548640" y="24323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74" name="Google Shape;1274;p49"/>
          <p:cNvPicPr preferRelativeResize="0"/>
          <p:nvPr/>
        </p:nvPicPr>
        <p:blipFill rotWithShape="1">
          <a:blip r:embed="rId4">
            <a:alphaModFix/>
          </a:blip>
          <a:srcRect b="0" l="0" r="0" t="0"/>
          <a:stretch/>
        </p:blipFill>
        <p:spPr>
          <a:xfrm>
            <a:off x="640812" y="2524476"/>
            <a:ext cx="199705" cy="199705"/>
          </a:xfrm>
          <a:prstGeom prst="rect">
            <a:avLst/>
          </a:prstGeom>
          <a:noFill/>
          <a:ln>
            <a:noFill/>
          </a:ln>
        </p:spPr>
      </p:pic>
      <p:sp>
        <p:nvSpPr>
          <p:cNvPr id="1275" name="Google Shape;1275;p49"/>
          <p:cNvSpPr txBox="1"/>
          <p:nvPr/>
        </p:nvSpPr>
        <p:spPr>
          <a:xfrm>
            <a:off x="1051560" y="22128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Repeated failures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66666"/>
                </a:solidFill>
                <a:latin typeface="Arial"/>
                <a:ea typeface="Arial"/>
                <a:cs typeface="Arial"/>
                <a:sym typeface="Arial"/>
              </a:rPr>
              <a:t>"I gave your service more than one chance and keep being disappointed. Just cancel this now"</a:t>
            </a:r>
            <a:endParaRPr b="0" i="0" spc="0" sz="900" u="none" cap="none" strike="noStrike">
              <a:solidFill>
                <a:srgbClr val="666666"/>
              </a:solidFill>
              <a:latin typeface="Arial"/>
              <a:ea typeface="Arial"/>
              <a:cs typeface="Arial"/>
              <a:sym typeface="Arial"/>
            </a:endParaRPr>
          </a:p>
        </p:txBody>
      </p:sp>
      <p:sp>
        <p:nvSpPr>
          <p:cNvPr id="1276" name="Google Shape;1276;p49"/>
          <p:cNvSpPr txBox="1"/>
          <p:nvPr/>
        </p:nvSpPr>
        <p:spPr>
          <a:xfrm>
            <a:off x="3611880" y="22128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Waive fees first, then gently offer one more try.</a:t>
            </a:r>
            <a:endParaRPr b="0" i="0" spc="0" sz="950" u="none" cap="none" strike="noStrike">
              <a:solidFill>
                <a:schemeClr val="dk1"/>
              </a:solidFill>
              <a:latin typeface="Calibri"/>
              <a:ea typeface="Calibri"/>
              <a:cs typeface="Calibri"/>
              <a:sym typeface="Calibri"/>
            </a:endParaRPr>
          </a:p>
        </p:txBody>
      </p:sp>
      <p:sp>
        <p:nvSpPr>
          <p:cNvPr id="1277" name="Google Shape;1277;p49"/>
          <p:cNvSpPr/>
          <p:nvPr/>
        </p:nvSpPr>
        <p:spPr>
          <a:xfrm>
            <a:off x="5897880" y="23042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8" name="Google Shape;1278;p49"/>
          <p:cNvSpPr txBox="1"/>
          <p:nvPr/>
        </p:nvSpPr>
        <p:spPr>
          <a:xfrm>
            <a:off x="5946900" y="2304300"/>
            <a:ext cx="3009000" cy="640200"/>
          </a:xfrm>
          <a:prstGeom prst="rect">
            <a:avLst/>
          </a:prstGeom>
          <a:noFill/>
          <a:ln>
            <a:noFill/>
          </a:ln>
        </p:spPr>
        <p:txBody>
          <a:bodyPr anchorCtr="0" anchor="ctr" bIns="0" lIns="0" spcFirstLastPara="1" rIns="0" wrap="square" tIns="0">
            <a:noAutofit/>
          </a:bodyPr>
          <a:lstStyle/>
          <a:p>
            <a:pPr indent="0" lvl="0" marL="0" marR="381000" rtl="0" algn="just">
              <a:lnSpc>
                <a:spcPct val="115000"/>
              </a:lnSpc>
              <a:spcBef>
                <a:spcPts val="1200"/>
              </a:spcBef>
              <a:spcAft>
                <a:spcPts val="1200"/>
              </a:spcAft>
              <a:buClr>
                <a:schemeClr val="dk1"/>
              </a:buClr>
              <a:buSzPts val="1100"/>
              <a:buFont typeface="Arial"/>
              <a:buNone/>
            </a:pPr>
            <a:r>
              <a:rPr b="0" i="1" lang="en-US" spc="0" sz="700" u="none" cap="none" strike="noStrike">
                <a:solidFill>
                  <a:schemeClr val="dk1"/>
                </a:solidFill>
                <a:latin typeface="Arial"/>
                <a:ea typeface="Arial"/>
                <a:cs typeface="Arial"/>
                <a:sym typeface="Arial"/>
              </a:rPr>
              <a:t>"I'm so sorry to hear about the terrible experience. Of course, I can process your cancellation, and given your experience I'll waive all fees. I know I'm totally pushing my luck here, but I’d really love to try and set you up with someone great. But again, I totally understand if you'd prefer to go, just say the word."</a:t>
            </a:r>
            <a:endParaRPr b="0" i="1" spc="0" sz="700" u="none" cap="none" strike="noStrike">
              <a:solidFill>
                <a:schemeClr val="dk1"/>
              </a:solidFill>
              <a:latin typeface="Arial"/>
              <a:ea typeface="Arial"/>
              <a:cs typeface="Arial"/>
              <a:sym typeface="Arial"/>
            </a:endParaRPr>
          </a:p>
        </p:txBody>
      </p:sp>
      <p:sp>
        <p:nvSpPr>
          <p:cNvPr id="1279" name="Google Shape;1279;p49"/>
          <p:cNvSpPr/>
          <p:nvPr/>
        </p:nvSpPr>
        <p:spPr>
          <a:xfrm>
            <a:off x="411480" y="31272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0" name="Google Shape;1280;p49"/>
          <p:cNvSpPr/>
          <p:nvPr/>
        </p:nvSpPr>
        <p:spPr>
          <a:xfrm>
            <a:off x="548640" y="33467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1" name="Google Shape;1281;p49"/>
          <p:cNvPicPr preferRelativeResize="0"/>
          <p:nvPr/>
        </p:nvPicPr>
        <p:blipFill rotWithShape="1">
          <a:blip r:embed="rId5">
            <a:alphaModFix/>
          </a:blip>
          <a:srcRect b="0" l="0" r="0" t="0"/>
          <a:stretch/>
        </p:blipFill>
        <p:spPr>
          <a:xfrm>
            <a:off x="640812" y="3438876"/>
            <a:ext cx="199705" cy="199705"/>
          </a:xfrm>
          <a:prstGeom prst="rect">
            <a:avLst/>
          </a:prstGeom>
          <a:noFill/>
          <a:ln>
            <a:noFill/>
          </a:ln>
        </p:spPr>
      </p:pic>
      <p:sp>
        <p:nvSpPr>
          <p:cNvPr id="1282" name="Google Shape;1282;p49"/>
          <p:cNvSpPr txBox="1"/>
          <p:nvPr/>
        </p:nvSpPr>
        <p:spPr>
          <a:xfrm>
            <a:off x="1051560" y="31272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Feels deceived or trapped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"You never told me about the membership"</a:t>
            </a:r>
            <a:endParaRPr b="0" i="0" spc="0" sz="1100" u="none" cap="none" strike="noStrike">
              <a:solidFill>
                <a:schemeClr val="dk1"/>
              </a:solidFill>
              <a:latin typeface="Calibri"/>
              <a:ea typeface="Calibri"/>
              <a:cs typeface="Calibri"/>
              <a:sym typeface="Calibri"/>
            </a:endParaRPr>
          </a:p>
        </p:txBody>
      </p:sp>
      <p:sp>
        <p:nvSpPr>
          <p:cNvPr id="1283" name="Google Shape;1283;p49"/>
          <p:cNvSpPr txBox="1"/>
          <p:nvPr/>
        </p:nvSpPr>
        <p:spPr>
          <a:xfrm>
            <a:off x="3611880" y="31272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Explain FC factually, then probe the cleaning.</a:t>
            </a:r>
            <a:endParaRPr b="0" i="0" spc="0" sz="950" u="none" cap="none" strike="noStrike">
              <a:solidFill>
                <a:schemeClr val="dk1"/>
              </a:solidFill>
              <a:latin typeface="Calibri"/>
              <a:ea typeface="Calibri"/>
              <a:cs typeface="Calibri"/>
              <a:sym typeface="Calibri"/>
            </a:endParaRPr>
          </a:p>
        </p:txBody>
      </p:sp>
      <p:sp>
        <p:nvSpPr>
          <p:cNvPr id="1284" name="Google Shape;1284;p49"/>
          <p:cNvSpPr/>
          <p:nvPr/>
        </p:nvSpPr>
        <p:spPr>
          <a:xfrm>
            <a:off x="5897880" y="32186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5" name="Google Shape;1285;p49"/>
          <p:cNvSpPr txBox="1"/>
          <p:nvPr/>
        </p:nvSpPr>
        <p:spPr>
          <a:xfrm>
            <a:off x="5989320" y="32186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0" lang="en-US" spc="0" sz="850" u="none" cap="none" strike="noStrike">
                <a:solidFill>
                  <a:srgbClr val="1D1D1F"/>
                </a:solidFill>
                <a:latin typeface="Arial"/>
                <a:ea typeface="Arial"/>
                <a:cs typeface="Arial"/>
                <a:sym typeface="Arial"/>
              </a:rPr>
              <a:t>Clarity and empathy before any solution.</a:t>
            </a:r>
            <a:endParaRPr b="0" i="0" spc="0" sz="850" u="none" cap="none" strike="noStrike">
              <a:solidFill>
                <a:schemeClr val="dk1"/>
              </a:solidFill>
              <a:latin typeface="Calibri"/>
              <a:ea typeface="Calibri"/>
              <a:cs typeface="Calibri"/>
              <a:sym typeface="Calibri"/>
            </a:endParaRPr>
          </a:p>
        </p:txBody>
      </p:sp>
      <p:sp>
        <p:nvSpPr>
          <p:cNvPr id="1286" name="Google Shape;1286;p49"/>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7" name="Google Shape;1287;p49"/>
          <p:cNvPicPr preferRelativeResize="0"/>
          <p:nvPr/>
        </p:nvPicPr>
        <p:blipFill rotWithShape="1">
          <a:blip r:embed="rId6">
            <a:alphaModFix/>
          </a:blip>
          <a:srcRect b="0" l="0" r="0" t="0"/>
          <a:stretch/>
        </p:blipFill>
        <p:spPr>
          <a:xfrm>
            <a:off x="566928" y="4178808"/>
            <a:ext cx="164592" cy="164592"/>
          </a:xfrm>
          <a:prstGeom prst="rect">
            <a:avLst/>
          </a:prstGeom>
          <a:noFill/>
          <a:ln>
            <a:noFill/>
          </a:ln>
        </p:spPr>
      </p:pic>
      <p:sp>
        <p:nvSpPr>
          <p:cNvPr id="1288" name="Google Shape;1288;p49"/>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Trust broken?  </a:t>
            </a:r>
            <a:r>
              <a:rPr b="0" i="0" lang="en-US" spc="0" sz="1000" u="none" cap="none" strike="noStrike">
                <a:solidFill>
                  <a:srgbClr val="1D1D1F"/>
                </a:solidFill>
                <a:latin typeface="Arial"/>
                <a:ea typeface="Arial"/>
                <a:cs typeface="Arial"/>
                <a:sym typeface="Arial"/>
              </a:rPr>
              <a:t>pushing retention too soon raises dispute risk.</a:t>
            </a:r>
            <a:endParaRPr b="0" i="0" spc="0" sz="1000" u="none" cap="none" strike="noStrike">
              <a:solidFill>
                <a:schemeClr val="dk1"/>
              </a:solidFill>
              <a:latin typeface="Calibri"/>
              <a:ea typeface="Calibri"/>
              <a:cs typeface="Calibri"/>
              <a:sym typeface="Calibri"/>
            </a:endParaRPr>
          </a:p>
        </p:txBody>
      </p:sp>
      <p:sp>
        <p:nvSpPr>
          <p:cNvPr id="1289" name="Google Shape;1289;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4" name="Shape 1294"/>
        <p:cNvGrpSpPr/>
        <p:nvPr/>
      </p:nvGrpSpPr>
      <p:grpSpPr>
        <a:xfrm>
          <a:off x="0" y="0"/>
          <a:ext cx="0" cy="0"/>
          <a:chOff x="0" y="0"/>
          <a:chExt cx="0" cy="0"/>
        </a:xfrm>
      </p:grpSpPr>
      <p:sp>
        <p:nvSpPr>
          <p:cNvPr id="1295" name="Google Shape;1295;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96" name="Google Shape;1296;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Newspaper Test</a:t>
            </a:r>
            <a:endParaRPr b="0" i="0" spc="0" sz="2400" u="none" cap="none" strike="noStrike">
              <a:solidFill>
                <a:schemeClr val="dk1"/>
              </a:solidFill>
              <a:latin typeface="Calibri"/>
              <a:ea typeface="Calibri"/>
              <a:cs typeface="Calibri"/>
              <a:sym typeface="Calibri"/>
            </a:endParaRPr>
          </a:p>
        </p:txBody>
      </p:sp>
      <p:sp>
        <p:nvSpPr>
          <p:cNvPr id="1297" name="Google Shape;1297;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If this interaction were published, would we stand by it?</a:t>
            </a:r>
            <a:endParaRPr b="0" i="0" spc="0" sz="1200" u="none" cap="none" strike="noStrike">
              <a:solidFill>
                <a:schemeClr val="dk1"/>
              </a:solidFill>
              <a:latin typeface="Calibri"/>
              <a:ea typeface="Calibri"/>
              <a:cs typeface="Calibri"/>
              <a:sym typeface="Calibri"/>
            </a:endParaRPr>
          </a:p>
        </p:txBody>
      </p:sp>
      <p:sp>
        <p:nvSpPr>
          <p:cNvPr id="1298" name="Google Shape;1298;p50"/>
          <p:cNvSpPr/>
          <p:nvPr/>
        </p:nvSpPr>
        <p:spPr>
          <a:xfrm>
            <a:off x="411480" y="1325880"/>
            <a:ext cx="3108960" cy="2423160"/>
          </a:xfrm>
          <a:prstGeom prst="roundRect">
            <a:avLst>
              <a:gd fmla="val 3019"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9" name="Google Shape;1299;p50"/>
          <p:cNvPicPr preferRelativeResize="0"/>
          <p:nvPr/>
        </p:nvPicPr>
        <p:blipFill rotWithShape="1">
          <a:blip r:embed="rId3">
            <a:alphaModFix/>
          </a:blip>
          <a:srcRect b="0" l="0" r="0" t="0"/>
          <a:stretch/>
        </p:blipFill>
        <p:spPr>
          <a:xfrm>
            <a:off x="685800" y="1600200"/>
            <a:ext cx="457200" cy="457200"/>
          </a:xfrm>
          <a:prstGeom prst="rect">
            <a:avLst/>
          </a:prstGeom>
          <a:noFill/>
          <a:ln>
            <a:noFill/>
          </a:ln>
        </p:spPr>
      </p:pic>
      <p:sp>
        <p:nvSpPr>
          <p:cNvPr id="1300" name="Google Shape;1300;p50"/>
          <p:cNvSpPr txBox="1"/>
          <p:nvPr/>
        </p:nvSpPr>
        <p:spPr>
          <a:xfrm>
            <a:off x="685800" y="2194560"/>
            <a:ext cx="2606040" cy="1417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If enforcing a rule would feel gross, deceptive or shameful to explain publicly, don't enforce it.</a:t>
            </a:r>
            <a:endParaRPr b="0" i="0" spc="0" sz="1300" u="none" cap="none" strike="noStrike">
              <a:solidFill>
                <a:schemeClr val="dk1"/>
              </a:solidFill>
              <a:latin typeface="Calibri"/>
              <a:ea typeface="Calibri"/>
              <a:cs typeface="Calibri"/>
              <a:sym typeface="Calibri"/>
            </a:endParaRPr>
          </a:p>
        </p:txBody>
      </p:sp>
      <p:sp>
        <p:nvSpPr>
          <p:cNvPr id="1301" name="Google Shape;1301;p50"/>
          <p:cNvSpPr txBox="1"/>
          <p:nvPr/>
        </p:nvSpPr>
        <p:spPr>
          <a:xfrm>
            <a:off x="3703320" y="1325880"/>
            <a:ext cx="5029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 FIXED INCOME, HAPPY WITH THE CLEANING, CAN'T AFFORD IT</a:t>
            </a:r>
            <a:endParaRPr b="0" i="0" spc="0" sz="800" u="none" cap="none" strike="noStrike">
              <a:solidFill>
                <a:schemeClr val="dk1"/>
              </a:solidFill>
              <a:latin typeface="Calibri"/>
              <a:ea typeface="Calibri"/>
              <a:cs typeface="Calibri"/>
              <a:sym typeface="Calibri"/>
            </a:endParaRPr>
          </a:p>
        </p:txBody>
      </p:sp>
      <p:sp>
        <p:nvSpPr>
          <p:cNvPr id="1302" name="Google Shape;1302;p50"/>
          <p:cNvSpPr/>
          <p:nvPr/>
        </p:nvSpPr>
        <p:spPr>
          <a:xfrm>
            <a:off x="3703320" y="1600200"/>
            <a:ext cx="2423160" cy="2148840"/>
          </a:xfrm>
          <a:prstGeom prst="roundRect">
            <a:avLst>
              <a:gd fmla="val 340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3" name="Google Shape;1303;p50"/>
          <p:cNvSpPr/>
          <p:nvPr/>
        </p:nvSpPr>
        <p:spPr>
          <a:xfrm>
            <a:off x="3703320" y="1600200"/>
            <a:ext cx="24231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Strict enforcement</a:t>
            </a:r>
            <a:endParaRPr b="0" i="0" spc="0" sz="1050" u="none" cap="none" strike="noStrike">
              <a:solidFill>
                <a:schemeClr val="dk1"/>
              </a:solidFill>
              <a:latin typeface="Calibri"/>
              <a:ea typeface="Calibri"/>
              <a:cs typeface="Calibri"/>
              <a:sym typeface="Calibri"/>
            </a:endParaRPr>
          </a:p>
        </p:txBody>
      </p:sp>
      <p:sp>
        <p:nvSpPr>
          <p:cNvPr id="1304" name="Google Shape;1304;p50"/>
          <p:cNvSpPr txBox="1"/>
          <p:nvPr/>
        </p:nvSpPr>
        <p:spPr>
          <a:xfrm>
            <a:off x="386791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"Didn't read the terms: enforce the ETF"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Looks like taking advantage of someone struggling</a:t>
            </a:r>
            <a:endParaRPr b="0" i="0" spc="0" sz="950" u="none" cap="none" strike="noStrike">
              <a:solidFill>
                <a:schemeClr val="dk1"/>
              </a:solidFill>
              <a:latin typeface="Calibri"/>
              <a:ea typeface="Calibri"/>
              <a:cs typeface="Calibri"/>
              <a:sym typeface="Calibri"/>
            </a:endParaRPr>
          </a:p>
        </p:txBody>
      </p:sp>
      <p:sp>
        <p:nvSpPr>
          <p:cNvPr id="1305" name="Google Shape;1305;p50"/>
          <p:cNvSpPr/>
          <p:nvPr/>
        </p:nvSpPr>
        <p:spPr>
          <a:xfrm>
            <a:off x="6309360" y="1600200"/>
            <a:ext cx="242316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6" name="Google Shape;1306;p50"/>
          <p:cNvSpPr/>
          <p:nvPr/>
        </p:nvSpPr>
        <p:spPr>
          <a:xfrm>
            <a:off x="6309360" y="1600200"/>
            <a:ext cx="24231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Retention-aware</a:t>
            </a:r>
            <a:endParaRPr b="0" i="0" spc="0" sz="1050" u="none" cap="none" strike="noStrike">
              <a:solidFill>
                <a:schemeClr val="dk1"/>
              </a:solidFill>
              <a:latin typeface="Calibri"/>
              <a:ea typeface="Calibri"/>
              <a:cs typeface="Calibri"/>
              <a:sym typeface="Calibri"/>
            </a:endParaRPr>
          </a:p>
        </p:txBody>
      </p:sp>
      <p:sp>
        <p:nvSpPr>
          <p:cNvPr id="1307" name="Google Shape;1307;p50"/>
          <p:cNvSpPr txBox="1"/>
          <p:nvPr/>
        </p:nvSpPr>
        <p:spPr>
          <a:xfrm>
            <a:off x="647395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Recognize the limitation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Apply compassion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Consider an ETF waiver</a:t>
            </a:r>
            <a:endParaRPr b="0" i="0" spc="0" sz="950" u="none" cap="none" strike="noStrike">
              <a:solidFill>
                <a:schemeClr val="dk1"/>
              </a:solidFill>
              <a:latin typeface="Calibri"/>
              <a:ea typeface="Calibri"/>
              <a:cs typeface="Calibri"/>
              <a:sym typeface="Calibri"/>
            </a:endParaRPr>
          </a:p>
        </p:txBody>
      </p:sp>
      <p:sp>
        <p:nvSpPr>
          <p:cNvPr id="1308" name="Google Shape;1308;p5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09" name="Google Shape;1309;p50"/>
          <p:cNvPicPr preferRelativeResize="0"/>
          <p:nvPr/>
        </p:nvPicPr>
        <p:blipFill rotWithShape="1">
          <a:blip r:embed="rId4">
            <a:alphaModFix/>
          </a:blip>
          <a:srcRect b="0" l="0" r="0" t="0"/>
          <a:stretch/>
        </p:blipFill>
        <p:spPr>
          <a:xfrm>
            <a:off x="566928" y="4041648"/>
            <a:ext cx="164592" cy="164592"/>
          </a:xfrm>
          <a:prstGeom prst="rect">
            <a:avLst/>
          </a:prstGeom>
          <a:noFill/>
          <a:ln>
            <a:noFill/>
          </a:ln>
        </p:spPr>
      </p:pic>
      <p:sp>
        <p:nvSpPr>
          <p:cNvPr id="1310" name="Google Shape;1310;p5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That's why  </a:t>
            </a:r>
            <a:r>
              <a:rPr b="0" i="0" lang="en-US" spc="0" sz="1000" u="none" cap="none" strike="noStrike">
                <a:solidFill>
                  <a:srgbClr val="1D1D1F"/>
                </a:solidFill>
                <a:latin typeface="Arial"/>
                <a:ea typeface="Arial"/>
                <a:cs typeface="Arial"/>
                <a:sym typeface="Arial"/>
              </a:rPr>
              <a:t>ETF waivers exist for compassion and extreme hardship cases.</a:t>
            </a:r>
            <a:endParaRPr b="0" i="0" spc="0" sz="1000" u="none" cap="none" strike="noStrike">
              <a:solidFill>
                <a:schemeClr val="dk1"/>
              </a:solidFill>
              <a:latin typeface="Calibri"/>
              <a:ea typeface="Calibri"/>
              <a:cs typeface="Calibri"/>
              <a:sym typeface="Calibri"/>
            </a:endParaRPr>
          </a:p>
        </p:txBody>
      </p:sp>
      <p:sp>
        <p:nvSpPr>
          <p:cNvPr id="1311" name="Google Shape;1311;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18" name="Google Shape;1318;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Don't close too soon</a:t>
            </a:r>
            <a:endParaRPr b="0" i="0" spc="0" sz="2400" u="none" cap="none" strike="noStrike">
              <a:solidFill>
                <a:schemeClr val="dk1"/>
              </a:solidFill>
              <a:latin typeface="Calibri"/>
              <a:ea typeface="Calibri"/>
              <a:cs typeface="Calibri"/>
              <a:sym typeface="Calibri"/>
            </a:endParaRPr>
          </a:p>
        </p:txBody>
      </p:sp>
      <p:sp>
        <p:nvSpPr>
          <p:cNvPr id="1319" name="Google Shape;1319;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Graceful Closure can't be reopened. Make sure you've explored everything.</a:t>
            </a:r>
            <a:endParaRPr b="0" i="0" spc="0" sz="1200" u="none" cap="none" strike="noStrike">
              <a:solidFill>
                <a:schemeClr val="dk1"/>
              </a:solidFill>
              <a:latin typeface="Calibri"/>
              <a:ea typeface="Calibri"/>
              <a:cs typeface="Calibri"/>
              <a:sym typeface="Calibri"/>
            </a:endParaRPr>
          </a:p>
        </p:txBody>
      </p:sp>
      <p:sp>
        <p:nvSpPr>
          <p:cNvPr id="1320" name="Google Shape;1320;p51"/>
          <p:cNvSpPr txBox="1"/>
          <p:nvPr/>
        </p:nvSpPr>
        <p:spPr>
          <a:xfrm>
            <a:off x="411480" y="1298448"/>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BEFORE GRACEFUL CLOSURE, ASK</a:t>
            </a:r>
            <a:endParaRPr b="0" i="0" spc="0" sz="800" u="none" cap="none" strike="noStrike">
              <a:solidFill>
                <a:schemeClr val="dk1"/>
              </a:solidFill>
              <a:latin typeface="Calibri"/>
              <a:ea typeface="Calibri"/>
              <a:cs typeface="Calibri"/>
              <a:sym typeface="Calibri"/>
            </a:endParaRPr>
          </a:p>
        </p:txBody>
      </p:sp>
      <p:sp>
        <p:nvSpPr>
          <p:cNvPr id="1321" name="Google Shape;1321;p51"/>
          <p:cNvSpPr/>
          <p:nvPr/>
        </p:nvSpPr>
        <p:spPr>
          <a:xfrm>
            <a:off x="411480" y="1508760"/>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2" name="Google Shape;1322;p51"/>
          <p:cNvSpPr/>
          <p:nvPr/>
        </p:nvSpPr>
        <p:spPr>
          <a:xfrm>
            <a:off x="530352"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3" name="Google Shape;1323;p51"/>
          <p:cNvSpPr txBox="1"/>
          <p:nvPr/>
        </p:nvSpPr>
        <p:spPr>
          <a:xfrm>
            <a:off x="530352"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24" name="Google Shape;1324;p51"/>
          <p:cNvSpPr txBox="1"/>
          <p:nvPr/>
        </p:nvSpPr>
        <p:spPr>
          <a:xfrm>
            <a:off x="914400" y="1508760"/>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Explored all options?</a:t>
            </a:r>
            <a:endParaRPr b="0" i="0" spc="0" sz="1050" u="none" cap="none" strike="noStrike">
              <a:solidFill>
                <a:schemeClr val="dk1"/>
              </a:solidFill>
              <a:latin typeface="Calibri"/>
              <a:ea typeface="Calibri"/>
              <a:cs typeface="Calibri"/>
              <a:sym typeface="Calibri"/>
            </a:endParaRPr>
          </a:p>
        </p:txBody>
      </p:sp>
      <p:sp>
        <p:nvSpPr>
          <p:cNvPr id="1325" name="Google Shape;1325;p51"/>
          <p:cNvSpPr/>
          <p:nvPr/>
        </p:nvSpPr>
        <p:spPr>
          <a:xfrm>
            <a:off x="3520440" y="1508760"/>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6" name="Google Shape;1326;p51"/>
          <p:cNvSpPr txBox="1"/>
          <p:nvPr/>
        </p:nvSpPr>
        <p:spPr>
          <a:xfrm>
            <a:off x="3657600" y="1508760"/>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just the one they declined.</a:t>
            </a:r>
            <a:endParaRPr b="0" i="0" spc="0" sz="900" u="none" cap="none" strike="noStrike">
              <a:solidFill>
                <a:schemeClr val="dk1"/>
              </a:solidFill>
              <a:latin typeface="Calibri"/>
              <a:ea typeface="Calibri"/>
              <a:cs typeface="Calibri"/>
              <a:sym typeface="Calibri"/>
            </a:endParaRPr>
          </a:p>
        </p:txBody>
      </p:sp>
      <p:sp>
        <p:nvSpPr>
          <p:cNvPr id="1327" name="Google Shape;1327;p51"/>
          <p:cNvSpPr/>
          <p:nvPr/>
        </p:nvSpPr>
        <p:spPr>
          <a:xfrm>
            <a:off x="411480" y="2039112"/>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8" name="Google Shape;1328;p51"/>
          <p:cNvSpPr/>
          <p:nvPr/>
        </p:nvSpPr>
        <p:spPr>
          <a:xfrm>
            <a:off x="530352" y="21305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9" name="Google Shape;1329;p51"/>
          <p:cNvSpPr txBox="1"/>
          <p:nvPr/>
        </p:nvSpPr>
        <p:spPr>
          <a:xfrm>
            <a:off x="530352" y="21305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30" name="Google Shape;1330;p51"/>
          <p:cNvSpPr txBox="1"/>
          <p:nvPr/>
        </p:nvSpPr>
        <p:spPr>
          <a:xfrm>
            <a:off x="914400" y="2039112"/>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Know the full picture?</a:t>
            </a:r>
            <a:endParaRPr b="0" i="0" spc="0" sz="1050" u="none" cap="none" strike="noStrike">
              <a:solidFill>
                <a:schemeClr val="dk1"/>
              </a:solidFill>
              <a:latin typeface="Calibri"/>
              <a:ea typeface="Calibri"/>
              <a:cs typeface="Calibri"/>
              <a:sym typeface="Calibri"/>
            </a:endParaRPr>
          </a:p>
        </p:txBody>
      </p:sp>
      <p:sp>
        <p:nvSpPr>
          <p:cNvPr id="1331" name="Google Shape;1331;p51"/>
          <p:cNvSpPr/>
          <p:nvPr/>
        </p:nvSpPr>
        <p:spPr>
          <a:xfrm>
            <a:off x="3520440" y="2039112"/>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2" name="Google Shape;1332;p51"/>
          <p:cNvSpPr txBox="1"/>
          <p:nvPr/>
        </p:nvSpPr>
        <p:spPr>
          <a:xfrm>
            <a:off x="3657600" y="2039112"/>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reply to a probe ≠ no options left.</a:t>
            </a:r>
            <a:endParaRPr b="0" i="0" spc="0" sz="900" u="none" cap="none" strike="noStrike">
              <a:solidFill>
                <a:schemeClr val="dk1"/>
              </a:solidFill>
              <a:latin typeface="Calibri"/>
              <a:ea typeface="Calibri"/>
              <a:cs typeface="Calibri"/>
              <a:sym typeface="Calibri"/>
            </a:endParaRPr>
          </a:p>
        </p:txBody>
      </p:sp>
      <p:sp>
        <p:nvSpPr>
          <p:cNvPr id="1333" name="Google Shape;1333;p51"/>
          <p:cNvSpPr/>
          <p:nvPr/>
        </p:nvSpPr>
        <p:spPr>
          <a:xfrm>
            <a:off x="411480" y="2606040"/>
            <a:ext cx="8321040"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4" name="Google Shape;1334;p51"/>
          <p:cNvSpPr/>
          <p:nvPr/>
        </p:nvSpPr>
        <p:spPr>
          <a:xfrm>
            <a:off x="411480" y="2679192"/>
            <a:ext cx="45720" cy="5394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5" name="Google Shape;1335;p51"/>
          <p:cNvSpPr txBox="1"/>
          <p:nvPr/>
        </p:nvSpPr>
        <p:spPr>
          <a:xfrm>
            <a:off x="594360" y="2606040"/>
            <a:ext cx="8001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NOT RESPONDING TO PROBING? REFRAME - you can probe as long as the customer is still engaging.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 just want to make sure I've explored all available options and that we're not missing anything that might better fit your needs.”</a:t>
            </a:r>
            <a:endParaRPr b="0" i="0" spc="0" sz="1000" u="none" cap="none" strike="noStrike">
              <a:solidFill>
                <a:schemeClr val="dk1"/>
              </a:solidFill>
              <a:latin typeface="Calibri"/>
              <a:ea typeface="Calibri"/>
              <a:cs typeface="Calibri"/>
              <a:sym typeface="Calibri"/>
            </a:endParaRPr>
          </a:p>
        </p:txBody>
      </p:sp>
      <p:sp>
        <p:nvSpPr>
          <p:cNvPr id="1336" name="Google Shape;1336;p51"/>
          <p:cNvSpPr/>
          <p:nvPr/>
        </p:nvSpPr>
        <p:spPr>
          <a:xfrm>
            <a:off x="411480" y="342900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37" name="Google Shape;1337;p51"/>
          <p:cNvPicPr preferRelativeResize="0"/>
          <p:nvPr/>
        </p:nvPicPr>
        <p:blipFill rotWithShape="1">
          <a:blip r:embed="rId3">
            <a:alphaModFix/>
          </a:blip>
          <a:srcRect b="0" l="0" r="0" t="0"/>
          <a:stretch/>
        </p:blipFill>
        <p:spPr>
          <a:xfrm>
            <a:off x="566928" y="3575304"/>
            <a:ext cx="164592" cy="164592"/>
          </a:xfrm>
          <a:prstGeom prst="rect">
            <a:avLst/>
          </a:prstGeom>
          <a:noFill/>
          <a:ln>
            <a:noFill/>
          </a:ln>
        </p:spPr>
      </p:pic>
      <p:sp>
        <p:nvSpPr>
          <p:cNvPr id="1338" name="Google Shape;1338;p51"/>
          <p:cNvSpPr txBox="1"/>
          <p:nvPr/>
        </p:nvSpPr>
        <p:spPr>
          <a:xfrm>
            <a:off x="822960" y="342900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Still no reason?  </a:t>
            </a:r>
            <a:r>
              <a:rPr b="0" i="0" lang="en-US" spc="0" sz="1000" u="none" cap="none" strike="noStrike">
                <a:solidFill>
                  <a:srgbClr val="1D1D1F"/>
                </a:solidFill>
                <a:latin typeface="Arial"/>
                <a:ea typeface="Arial"/>
                <a:cs typeface="Arial"/>
                <a:sym typeface="Arial"/>
              </a:rPr>
              <a:t>keep asking, don't close. Explain the ETF still applies, on its own terms.</a:t>
            </a:r>
            <a:endParaRPr b="0" i="0" spc="0" sz="1000" u="none" cap="none" strike="noStrike">
              <a:solidFill>
                <a:schemeClr val="dk1"/>
              </a:solidFill>
              <a:latin typeface="Calibri"/>
              <a:ea typeface="Calibri"/>
              <a:cs typeface="Calibri"/>
              <a:sym typeface="Calibri"/>
            </a:endParaRPr>
          </a:p>
        </p:txBody>
      </p:sp>
      <p:sp>
        <p:nvSpPr>
          <p:cNvPr id="1339" name="Google Shape;1339;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4" name="Shape 1344"/>
        <p:cNvGrpSpPr/>
        <p:nvPr/>
      </p:nvGrpSpPr>
      <p:grpSpPr>
        <a:xfrm>
          <a:off x="0" y="0"/>
          <a:ext cx="0" cy="0"/>
          <a:chOff x="0" y="0"/>
          <a:chExt cx="0" cy="0"/>
        </a:xfrm>
      </p:grpSpPr>
      <p:sp>
        <p:nvSpPr>
          <p:cNvPr id="1345" name="Google Shape;1345;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46" name="Google Shape;1346;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not to do</a:t>
            </a:r>
            <a:endParaRPr b="0" i="0" spc="0" sz="2400" u="none" cap="none" strike="noStrike">
              <a:solidFill>
                <a:schemeClr val="dk1"/>
              </a:solidFill>
              <a:latin typeface="Calibri"/>
              <a:ea typeface="Calibri"/>
              <a:cs typeface="Calibri"/>
              <a:sym typeface="Calibri"/>
            </a:endParaRPr>
          </a:p>
        </p:txBody>
      </p:sp>
      <p:sp>
        <p:nvSpPr>
          <p:cNvPr id="1347" name="Google Shape;1347;p5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mistakes that cost trust or money.</a:t>
            </a:r>
            <a:endParaRPr b="0" i="0" spc="0" sz="1200" u="none" cap="none" strike="noStrike">
              <a:solidFill>
                <a:schemeClr val="dk1"/>
              </a:solidFill>
              <a:latin typeface="Calibri"/>
              <a:ea typeface="Calibri"/>
              <a:cs typeface="Calibri"/>
              <a:sym typeface="Calibri"/>
            </a:endParaRPr>
          </a:p>
        </p:txBody>
      </p:sp>
      <p:sp>
        <p:nvSpPr>
          <p:cNvPr id="1348" name="Google Shape;1348;p52"/>
          <p:cNvSpPr/>
          <p:nvPr/>
        </p:nvSpPr>
        <p:spPr>
          <a:xfrm>
            <a:off x="4114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9" name="Google Shape;1349;p52"/>
          <p:cNvSpPr/>
          <p:nvPr/>
        </p:nvSpPr>
        <p:spPr>
          <a:xfrm>
            <a:off x="5760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0" name="Google Shape;1350;p52"/>
          <p:cNvPicPr preferRelativeResize="0"/>
          <p:nvPr/>
        </p:nvPicPr>
        <p:blipFill rotWithShape="1">
          <a:blip r:embed="rId3">
            <a:alphaModFix/>
          </a:blip>
          <a:srcRect b="0" l="0" r="0" t="0"/>
          <a:stretch/>
        </p:blipFill>
        <p:spPr>
          <a:xfrm>
            <a:off x="663854" y="1578254"/>
            <a:ext cx="190195" cy="190195"/>
          </a:xfrm>
          <a:prstGeom prst="rect">
            <a:avLst/>
          </a:prstGeom>
          <a:noFill/>
          <a:ln>
            <a:noFill/>
          </a:ln>
        </p:spPr>
      </p:pic>
      <p:sp>
        <p:nvSpPr>
          <p:cNvPr id="1351" name="Google Shape;1351;p52"/>
          <p:cNvSpPr txBox="1"/>
          <p:nvPr/>
        </p:nvSpPr>
        <p:spPr>
          <a:xfrm>
            <a:off x="10698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Refund the MF and waive the ETF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Both cover the discounted first cleaning. Apply the MF toward the ETF instead.</a:t>
            </a:r>
            <a:endParaRPr b="0" i="0" spc="0" sz="1100" u="none" cap="none" strike="noStrike">
              <a:solidFill>
                <a:schemeClr val="dk1"/>
              </a:solidFill>
              <a:latin typeface="Calibri"/>
              <a:ea typeface="Calibri"/>
              <a:cs typeface="Calibri"/>
              <a:sym typeface="Calibri"/>
            </a:endParaRPr>
          </a:p>
        </p:txBody>
      </p:sp>
      <p:sp>
        <p:nvSpPr>
          <p:cNvPr id="1352" name="Google Shape;1352;p52"/>
          <p:cNvSpPr/>
          <p:nvPr/>
        </p:nvSpPr>
        <p:spPr>
          <a:xfrm>
            <a:off x="46405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3" name="Google Shape;1353;p52"/>
          <p:cNvSpPr/>
          <p:nvPr/>
        </p:nvSpPr>
        <p:spPr>
          <a:xfrm>
            <a:off x="48051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4" name="Google Shape;1354;p52"/>
          <p:cNvPicPr preferRelativeResize="0"/>
          <p:nvPr/>
        </p:nvPicPr>
        <p:blipFill rotWithShape="1">
          <a:blip r:embed="rId4">
            <a:alphaModFix/>
          </a:blip>
          <a:srcRect b="0" l="0" r="0" t="0"/>
          <a:stretch/>
        </p:blipFill>
        <p:spPr>
          <a:xfrm>
            <a:off x="4892954" y="1578254"/>
            <a:ext cx="190195" cy="190195"/>
          </a:xfrm>
          <a:prstGeom prst="rect">
            <a:avLst/>
          </a:prstGeom>
          <a:noFill/>
          <a:ln>
            <a:noFill/>
          </a:ln>
        </p:spPr>
      </p:pic>
      <p:sp>
        <p:nvSpPr>
          <p:cNvPr id="1355" name="Google Shape;1355;p52"/>
          <p:cNvSpPr txBox="1"/>
          <p:nvPr/>
        </p:nvSpPr>
        <p:spPr>
          <a:xfrm>
            <a:off x="52989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Raise membership unprompted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Stay on their stated issue. Don't manufacture a cancellation.</a:t>
            </a:r>
            <a:endParaRPr b="0" i="0" spc="0" sz="1100" u="none" cap="none" strike="noStrike">
              <a:solidFill>
                <a:schemeClr val="dk1"/>
              </a:solidFill>
              <a:latin typeface="Calibri"/>
              <a:ea typeface="Calibri"/>
              <a:cs typeface="Calibri"/>
              <a:sym typeface="Calibri"/>
            </a:endParaRPr>
          </a:p>
        </p:txBody>
      </p:sp>
      <p:sp>
        <p:nvSpPr>
          <p:cNvPr id="1356" name="Google Shape;1356;p52"/>
          <p:cNvSpPr/>
          <p:nvPr/>
        </p:nvSpPr>
        <p:spPr>
          <a:xfrm>
            <a:off x="4114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7" name="Google Shape;1357;p52"/>
          <p:cNvSpPr/>
          <p:nvPr/>
        </p:nvSpPr>
        <p:spPr>
          <a:xfrm>
            <a:off x="5760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8" name="Google Shape;1358;p52"/>
          <p:cNvPicPr preferRelativeResize="0"/>
          <p:nvPr/>
        </p:nvPicPr>
        <p:blipFill rotWithShape="1">
          <a:blip r:embed="rId5">
            <a:alphaModFix/>
          </a:blip>
          <a:srcRect b="0" l="0" r="0" t="0"/>
          <a:stretch/>
        </p:blipFill>
        <p:spPr>
          <a:xfrm>
            <a:off x="663854" y="2648102"/>
            <a:ext cx="190195" cy="190195"/>
          </a:xfrm>
          <a:prstGeom prst="rect">
            <a:avLst/>
          </a:prstGeom>
          <a:noFill/>
          <a:ln>
            <a:noFill/>
          </a:ln>
        </p:spPr>
      </p:pic>
      <p:sp>
        <p:nvSpPr>
          <p:cNvPr id="1359" name="Google Shape;1359;p52"/>
          <p:cNvSpPr txBox="1"/>
          <p:nvPr/>
        </p:nvSpPr>
        <p:spPr>
          <a:xfrm>
            <a:off x="10698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Repeat the same offer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Or reopen closed negotiations. See Graceful Closure.</a:t>
            </a:r>
            <a:endParaRPr b="0" i="0" spc="0" sz="1100" u="none" cap="none" strike="noStrike">
              <a:solidFill>
                <a:schemeClr val="dk1"/>
              </a:solidFill>
              <a:latin typeface="Calibri"/>
              <a:ea typeface="Calibri"/>
              <a:cs typeface="Calibri"/>
              <a:sym typeface="Calibri"/>
            </a:endParaRPr>
          </a:p>
        </p:txBody>
      </p:sp>
      <p:sp>
        <p:nvSpPr>
          <p:cNvPr id="1360" name="Google Shape;1360;p52"/>
          <p:cNvSpPr/>
          <p:nvPr/>
        </p:nvSpPr>
        <p:spPr>
          <a:xfrm>
            <a:off x="46405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1" name="Google Shape;1361;p52"/>
          <p:cNvSpPr/>
          <p:nvPr/>
        </p:nvSpPr>
        <p:spPr>
          <a:xfrm>
            <a:off x="48051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2" name="Google Shape;1362;p52"/>
          <p:cNvPicPr preferRelativeResize="0"/>
          <p:nvPr/>
        </p:nvPicPr>
        <p:blipFill rotWithShape="1">
          <a:blip r:embed="rId6">
            <a:alphaModFix/>
          </a:blip>
          <a:srcRect b="0" l="0" r="0" t="0"/>
          <a:stretch/>
        </p:blipFill>
        <p:spPr>
          <a:xfrm>
            <a:off x="4892954" y="2648102"/>
            <a:ext cx="190195" cy="190195"/>
          </a:xfrm>
          <a:prstGeom prst="rect">
            <a:avLst/>
          </a:prstGeom>
          <a:noFill/>
          <a:ln>
            <a:noFill/>
          </a:ln>
        </p:spPr>
      </p:pic>
      <p:sp>
        <p:nvSpPr>
          <p:cNvPr id="1363" name="Google Shape;1363;p52"/>
          <p:cNvSpPr txBox="1"/>
          <p:nvPr/>
        </p:nvSpPr>
        <p:spPr>
          <a:xfrm>
            <a:off x="52989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Close too soon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Probe first. You can't reopen after Graceful Closure.</a:t>
            </a:r>
            <a:endParaRPr b="0" i="0" spc="0" sz="1100" u="none" cap="none" strike="noStrike">
              <a:solidFill>
                <a:schemeClr val="dk1"/>
              </a:solidFill>
              <a:latin typeface="Calibri"/>
              <a:ea typeface="Calibri"/>
              <a:cs typeface="Calibri"/>
              <a:sym typeface="Calibri"/>
            </a:endParaRPr>
          </a:p>
        </p:txBody>
      </p:sp>
      <p:sp>
        <p:nvSpPr>
          <p:cNvPr id="1364" name="Google Shape;1364;p52"/>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5" name="Google Shape;1365;p52"/>
          <p:cNvPicPr preferRelativeResize="0"/>
          <p:nvPr/>
        </p:nvPicPr>
        <p:blipFill rotWithShape="1">
          <a:blip r:embed="rId7">
            <a:alphaModFix/>
          </a:blip>
          <a:srcRect b="0" l="0" r="0" t="0"/>
          <a:stretch/>
        </p:blipFill>
        <p:spPr>
          <a:xfrm>
            <a:off x="566928" y="3630168"/>
            <a:ext cx="164592" cy="164592"/>
          </a:xfrm>
          <a:prstGeom prst="rect">
            <a:avLst/>
          </a:prstGeom>
          <a:noFill/>
          <a:ln>
            <a:noFill/>
          </a:ln>
        </p:spPr>
      </p:pic>
      <p:sp>
        <p:nvSpPr>
          <p:cNvPr id="1366" name="Google Shape;1366;p52"/>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Exemptions to MF + ETF:  </a:t>
            </a:r>
            <a:r>
              <a:rPr b="0" i="0" lang="en-US" spc="0" sz="1000" u="none" cap="none" strike="noStrike">
                <a:solidFill>
                  <a:srgbClr val="1D1D1F"/>
                </a:solidFill>
                <a:latin typeface="Arial"/>
                <a:ea typeface="Arial"/>
                <a:cs typeface="Arial"/>
                <a:sym typeface="Arial"/>
              </a:rPr>
              <a:t>extenuating circumstances, material legal threats, a history of disputes.</a:t>
            </a:r>
            <a:endParaRPr b="0" i="0" spc="0" sz="1000" u="none" cap="none" strike="noStrike">
              <a:solidFill>
                <a:schemeClr val="dk1"/>
              </a:solidFill>
              <a:latin typeface="Calibri"/>
              <a:ea typeface="Calibri"/>
              <a:cs typeface="Calibri"/>
              <a:sym typeface="Calibri"/>
            </a:endParaRPr>
          </a:p>
        </p:txBody>
      </p:sp>
      <p:sp>
        <p:nvSpPr>
          <p:cNvPr id="1367" name="Google Shape;1367;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2" name="Shape 1372"/>
        <p:cNvGrpSpPr/>
        <p:nvPr/>
      </p:nvGrpSpPr>
      <p:grpSpPr>
        <a:xfrm>
          <a:off x="0" y="0"/>
          <a:ext cx="0" cy="0"/>
          <a:chOff x="0" y="0"/>
          <a:chExt cx="0" cy="0"/>
        </a:xfrm>
      </p:grpSpPr>
      <p:sp>
        <p:nvSpPr>
          <p:cNvPr id="1373" name="Google Shape;1373;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KNOWLEDGE CHECK</a:t>
            </a:r>
            <a:endParaRPr b="0" i="0" spc="0" sz="800" u="none" cap="none" strike="noStrike">
              <a:solidFill>
                <a:schemeClr val="dk1"/>
              </a:solidFill>
              <a:latin typeface="Calibri"/>
              <a:ea typeface="Calibri"/>
              <a:cs typeface="Calibri"/>
              <a:sym typeface="Calibri"/>
            </a:endParaRPr>
          </a:p>
        </p:txBody>
      </p:sp>
      <p:sp>
        <p:nvSpPr>
          <p:cNvPr id="1374" name="Google Shape;1374;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375" name="Google Shape;1375;p5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6" name="Google Shape;1376;p5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7" name="Google Shape;1377;p5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78" name="Google Shape;1378;p5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threatens to file with the Attorney General, but the issue is first-time and fixable. Retain?</a:t>
            </a:r>
            <a:endParaRPr b="0" i="0" spc="0" sz="1000" u="none" cap="none" strike="noStrike">
              <a:solidFill>
                <a:schemeClr val="dk1"/>
              </a:solidFill>
              <a:latin typeface="Calibri"/>
              <a:ea typeface="Calibri"/>
              <a:cs typeface="Calibri"/>
              <a:sym typeface="Calibri"/>
            </a:endParaRPr>
          </a:p>
        </p:txBody>
      </p:sp>
      <p:sp>
        <p:nvSpPr>
          <p:cNvPr id="1379" name="Google Shape;1379;p5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0" name="Google Shape;1380;p5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 material legal threat alone overrides. Cancel FC and waive the ETF.</a:t>
            </a:r>
            <a:endParaRPr b="0" i="0" spc="0" sz="900" u="none" cap="none" strike="noStrike">
              <a:solidFill>
                <a:schemeClr val="dk1"/>
              </a:solidFill>
              <a:latin typeface="Calibri"/>
              <a:ea typeface="Calibri"/>
              <a:cs typeface="Calibri"/>
              <a:sym typeface="Calibri"/>
            </a:endParaRPr>
          </a:p>
        </p:txBody>
      </p:sp>
      <p:sp>
        <p:nvSpPr>
          <p:cNvPr id="1381" name="Google Shape;1381;p5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2" name="Google Shape;1382;p5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3" name="Google Shape;1383;p5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84" name="Google Shape;1384;p5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can't afford this." Stop attempting retention?</a:t>
            </a:r>
            <a:endParaRPr b="0" i="0" spc="0" sz="1000" u="none" cap="none" strike="noStrike">
              <a:solidFill>
                <a:schemeClr val="dk1"/>
              </a:solidFill>
              <a:latin typeface="Calibri"/>
              <a:ea typeface="Calibri"/>
              <a:cs typeface="Calibri"/>
              <a:sym typeface="Calibri"/>
            </a:endParaRPr>
          </a:p>
        </p:txBody>
      </p:sp>
      <p:sp>
        <p:nvSpPr>
          <p:cNvPr id="1385" name="Google Shape;1385;p5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6" name="Google Shape;1386;p5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Affordability alone isn't a reason. Try an MF/MCT reduction, pause or free months.</a:t>
            </a:r>
            <a:endParaRPr b="0" i="0" spc="0" sz="900" u="none" cap="none" strike="noStrike">
              <a:solidFill>
                <a:schemeClr val="dk1"/>
              </a:solidFill>
              <a:latin typeface="Calibri"/>
              <a:ea typeface="Calibri"/>
              <a:cs typeface="Calibri"/>
              <a:sym typeface="Calibri"/>
            </a:endParaRPr>
          </a:p>
        </p:txBody>
      </p:sp>
      <p:sp>
        <p:nvSpPr>
          <p:cNvPr id="1387" name="Google Shape;1387;p5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8" name="Google Shape;1388;p5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9" name="Google Shape;1389;p5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390" name="Google Shape;1390;p5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declined your offer. Offer a bigger one?</a:t>
            </a:r>
            <a:endParaRPr b="0" i="0" spc="0" sz="1000" u="none" cap="none" strike="noStrike">
              <a:solidFill>
                <a:schemeClr val="dk1"/>
              </a:solidFill>
              <a:latin typeface="Calibri"/>
              <a:ea typeface="Calibri"/>
              <a:cs typeface="Calibri"/>
              <a:sym typeface="Calibri"/>
            </a:endParaRPr>
          </a:p>
        </p:txBody>
      </p:sp>
      <p:sp>
        <p:nvSpPr>
          <p:cNvPr id="1391" name="Google Shape;1391;p5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2" name="Google Shape;1392;p5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if it's tied to their specific reason, not just because they said no.</a:t>
            </a:r>
            <a:endParaRPr b="0" i="0" spc="0" sz="900" u="none" cap="none" strike="noStrike">
              <a:solidFill>
                <a:schemeClr val="dk1"/>
              </a:solidFill>
              <a:latin typeface="Calibri"/>
              <a:ea typeface="Calibri"/>
              <a:cs typeface="Calibri"/>
              <a:sym typeface="Calibri"/>
            </a:endParaRPr>
          </a:p>
        </p:txBody>
      </p:sp>
      <p:sp>
        <p:nvSpPr>
          <p:cNvPr id="1393" name="Google Shape;1393;p5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4" name="Google Shape;1394;p5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5" name="Google Shape;1395;p5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396" name="Google Shape;1396;p5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want an MF refund and an ETF waiver. Both?</a:t>
            </a:r>
            <a:endParaRPr b="0" i="0" spc="0" sz="1000" u="none" cap="none" strike="noStrike">
              <a:solidFill>
                <a:schemeClr val="dk1"/>
              </a:solidFill>
              <a:latin typeface="Calibri"/>
              <a:ea typeface="Calibri"/>
              <a:cs typeface="Calibri"/>
              <a:sym typeface="Calibri"/>
            </a:endParaRPr>
          </a:p>
        </p:txBody>
      </p:sp>
      <p:sp>
        <p:nvSpPr>
          <p:cNvPr id="1397" name="Google Shape;1397;p5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8" name="Google Shape;1398;p5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Apply the MF toward reducing the ETF (unless an exemption applies).</a:t>
            </a:r>
            <a:endParaRPr b="0" i="0" spc="0" sz="900" u="none" cap="none" strike="noStrike">
              <a:solidFill>
                <a:schemeClr val="dk1"/>
              </a:solidFill>
              <a:latin typeface="Calibri"/>
              <a:ea typeface="Calibri"/>
              <a:cs typeface="Calibri"/>
              <a:sym typeface="Calibri"/>
            </a:endParaRPr>
          </a:p>
        </p:txBody>
      </p:sp>
      <p:sp>
        <p:nvSpPr>
          <p:cNvPr id="1399" name="Google Shape;1399;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0"/>
                                        </p:tgtEl>
                                        <p:attrNameLst>
                                          <p:attrName>style.visibility</p:attrName>
                                        </p:attrNameLst>
                                      </p:cBhvr>
                                      <p:to>
                                        <p:strVal val="visible"/>
                                      </p:to>
                                    </p:set>
                                    <p:animEffect filter="fade" transition="in">
                                      <p:cBhvr>
                                        <p:cTn dur="600"/>
                                        <p:tgtEl>
                                          <p:spTgt spid="13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6"/>
                                        </p:tgtEl>
                                        <p:attrNameLst>
                                          <p:attrName>style.visibility</p:attrName>
                                        </p:attrNameLst>
                                      </p:cBhvr>
                                      <p:to>
                                        <p:strVal val="visible"/>
                                      </p:to>
                                    </p:set>
                                    <p:animEffect filter="fade" transition="in">
                                      <p:cBhvr>
                                        <p:cTn dur="600"/>
                                        <p:tgtEl>
                                          <p:spTgt spid="13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2"/>
                                        </p:tgtEl>
                                        <p:attrNameLst>
                                          <p:attrName>style.visibility</p:attrName>
                                        </p:attrNameLst>
                                      </p:cBhvr>
                                      <p:to>
                                        <p:strVal val="visible"/>
                                      </p:to>
                                    </p:set>
                                    <p:animEffect filter="fade" transition="in">
                                      <p:cBhvr>
                                        <p:cTn dur="600"/>
                                        <p:tgtEl>
                                          <p:spTgt spid="13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8"/>
                                        </p:tgtEl>
                                        <p:attrNameLst>
                                          <p:attrName>style.visibility</p:attrName>
                                        </p:attrNameLst>
                                      </p:cBhvr>
                                      <p:to>
                                        <p:strVal val="visible"/>
                                      </p:to>
                                    </p:set>
                                    <p:animEffect filter="fade" transition="in">
                                      <p:cBhvr>
                                        <p:cTn dur="600"/>
                                        <p:tgtEl>
                                          <p:spTgt spid="139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4" name="Shape 1404"/>
        <p:cNvGrpSpPr/>
        <p:nvPr/>
      </p:nvGrpSpPr>
      <p:grpSpPr>
        <a:xfrm>
          <a:off x="0" y="0"/>
          <a:ext cx="0" cy="0"/>
          <a:chOff x="0" y="0"/>
          <a:chExt cx="0" cy="0"/>
        </a:xfrm>
      </p:grpSpPr>
      <p:sp>
        <p:nvSpPr>
          <p:cNvPr id="1405" name="Google Shape;1405;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PRACTICE</a:t>
            </a:r>
            <a:endParaRPr b="0" i="0" spc="0" sz="800" u="none" cap="none" strike="noStrike">
              <a:solidFill>
                <a:schemeClr val="dk1"/>
              </a:solidFill>
              <a:latin typeface="Calibri"/>
              <a:ea typeface="Calibri"/>
              <a:cs typeface="Calibri"/>
              <a:sym typeface="Calibri"/>
            </a:endParaRPr>
          </a:p>
        </p:txBody>
      </p:sp>
      <p:sp>
        <p:nvSpPr>
          <p:cNvPr id="1406" name="Google Shape;1406;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407" name="Google Shape;1407;p5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408" name="Google Shape;1408;p5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9" name="Google Shape;1409;p5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0" name="Google Shape;1410;p5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411" name="Google Shape;1411;p5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412" name="Google Shape;1412;p5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413" name="Google Shape;1413;p5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414" name="Google Shape;1414;p5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5" name="Google Shape;1415;p5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6" name="Google Shape;1416;p5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17" name="Google Shape;1417;p5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the customer retainable? Why?</a:t>
            </a:r>
            <a:endParaRPr b="0" i="0" spc="0" sz="1250" u="none" cap="none" strike="noStrike">
              <a:solidFill>
                <a:schemeClr val="dk1"/>
              </a:solidFill>
              <a:latin typeface="Calibri"/>
              <a:ea typeface="Calibri"/>
              <a:cs typeface="Calibri"/>
              <a:sym typeface="Calibri"/>
            </a:endParaRPr>
          </a:p>
        </p:txBody>
      </p:sp>
      <p:sp>
        <p:nvSpPr>
          <p:cNvPr id="1418" name="Google Shape;1418;p5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Weigh the five key factors. Any hard override?</a:t>
            </a:r>
            <a:endParaRPr b="0" i="0" spc="0" sz="1000" u="none" cap="none" strike="noStrike">
              <a:solidFill>
                <a:schemeClr val="dk1"/>
              </a:solidFill>
              <a:latin typeface="Calibri"/>
              <a:ea typeface="Calibri"/>
              <a:cs typeface="Calibri"/>
              <a:sym typeface="Calibri"/>
            </a:endParaRPr>
          </a:p>
        </p:txBody>
      </p:sp>
      <p:sp>
        <p:nvSpPr>
          <p:cNvPr id="1419" name="Google Shape;1419;p5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0" name="Google Shape;1420;p5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1" name="Google Shape;1421;p5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22" name="Google Shape;1422;p5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423" name="Google Shape;1423;p5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Root cause, the matching offer, how you'll present it.</a:t>
            </a:r>
            <a:endParaRPr b="0" i="0" spc="0" sz="1000" u="none" cap="none" strike="noStrike">
              <a:solidFill>
                <a:schemeClr val="dk1"/>
              </a:solidFill>
              <a:latin typeface="Calibri"/>
              <a:ea typeface="Calibri"/>
              <a:cs typeface="Calibri"/>
              <a:sym typeface="Calibri"/>
            </a:endParaRPr>
          </a:p>
        </p:txBody>
      </p:sp>
      <p:sp>
        <p:nvSpPr>
          <p:cNvPr id="1424" name="Google Shape;1424;p5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5" name="Google Shape;1425;p5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6" name="Google Shape;1426;p5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27" name="Google Shape;1427;p5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428" name="Google Shape;1428;p5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429" name="Google Shape;1429;p5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0" name="Google Shape;1430;p5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31" name="Google Shape;1431;p5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432" name="Google Shape;1432;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7" name="Shape 1437"/>
        <p:cNvGrpSpPr/>
        <p:nvPr/>
      </p:nvGrpSpPr>
      <p:grpSpPr>
        <a:xfrm>
          <a:off x="0" y="0"/>
          <a:ext cx="0" cy="0"/>
          <a:chOff x="0" y="0"/>
          <a:chExt cx="0" cy="0"/>
        </a:xfrm>
      </p:grpSpPr>
      <p:sp>
        <p:nvSpPr>
          <p:cNvPr id="1438" name="Google Shape;1438;p5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chemeClr val="dk1"/>
              </a:solidFill>
              <a:latin typeface="Calibri"/>
              <a:ea typeface="Calibri"/>
              <a:cs typeface="Calibri"/>
              <a:sym typeface="Calibri"/>
            </a:endParaRPr>
          </a:p>
        </p:txBody>
      </p:sp>
      <p:sp>
        <p:nvSpPr>
          <p:cNvPr id="1439" name="Google Shape;1439;p5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Unused DHJ Voucher</a:t>
            </a:r>
            <a:endParaRPr b="0" i="0" spc="0" sz="2800" u="none" cap="none" strike="noStrike">
              <a:solidFill>
                <a:schemeClr val="dk1"/>
              </a:solidFill>
              <a:latin typeface="Calibri"/>
              <a:ea typeface="Calibri"/>
              <a:cs typeface="Calibri"/>
              <a:sym typeface="Calibri"/>
            </a:endParaRPr>
          </a:p>
        </p:txBody>
      </p:sp>
      <p:sp>
        <p:nvSpPr>
          <p:cNvPr id="1440" name="Google Shape;1440;p5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They bought a DHJ voucher, but haven't used it. FC hasn't started yet.</a:t>
            </a:r>
            <a:endParaRPr b="0" i="0" spc="0" sz="1150" u="none" cap="none" strike="noStrike">
              <a:solidFill>
                <a:schemeClr val="dk1"/>
              </a:solidFill>
              <a:latin typeface="Calibri"/>
              <a:ea typeface="Calibri"/>
              <a:cs typeface="Calibri"/>
              <a:sym typeface="Calibri"/>
            </a:endParaRPr>
          </a:p>
        </p:txBody>
      </p:sp>
      <p:sp>
        <p:nvSpPr>
          <p:cNvPr id="1441" name="Google Shape;1441;p5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442" name="Google Shape;1442;p5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3" name="Google Shape;1443;p5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444" name="Google Shape;1444;p5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Reading the account at this stage</a:t>
            </a:r>
            <a:endParaRPr b="0" i="0" spc="0" sz="1050" u="none" cap="none" strike="noStrike">
              <a:solidFill>
                <a:schemeClr val="dk1"/>
              </a:solidFill>
              <a:latin typeface="Calibri"/>
              <a:ea typeface="Calibri"/>
              <a:cs typeface="Calibri"/>
              <a:sym typeface="Calibri"/>
            </a:endParaRPr>
          </a:p>
        </p:txBody>
      </p:sp>
      <p:sp>
        <p:nvSpPr>
          <p:cNvPr id="1445" name="Google Shape;1445;p5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6" name="Google Shape;1446;p5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447" name="Google Shape;1447;p5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Sorting the request into 4 cases</a:t>
            </a:r>
            <a:endParaRPr b="0" i="0" spc="0" sz="1050" u="none" cap="none" strike="noStrike">
              <a:solidFill>
                <a:schemeClr val="dk1"/>
              </a:solidFill>
              <a:latin typeface="Calibri"/>
              <a:ea typeface="Calibri"/>
              <a:cs typeface="Calibri"/>
              <a:sym typeface="Calibri"/>
            </a:endParaRPr>
          </a:p>
        </p:txBody>
      </p:sp>
      <p:sp>
        <p:nvSpPr>
          <p:cNvPr id="1448" name="Google Shape;1448;p5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9" name="Google Shape;1449;p5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450" name="Google Shape;1450;p5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offers for this customer</a:t>
            </a:r>
            <a:endParaRPr b="0" i="0" spc="0" sz="1050" u="none" cap="none" strike="noStrike">
              <a:solidFill>
                <a:schemeClr val="dk1"/>
              </a:solidFill>
              <a:latin typeface="Calibri"/>
              <a:ea typeface="Calibri"/>
              <a:cs typeface="Calibri"/>
              <a:sym typeface="Calibri"/>
            </a:endParaRPr>
          </a:p>
        </p:txBody>
      </p:sp>
      <p:sp>
        <p:nvSpPr>
          <p:cNvPr id="1451" name="Google Shape;1451;p5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52" name="Google Shape;1452;p5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453" name="Google Shape;1453;p5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Refunds and closing the account</a:t>
            </a:r>
            <a:endParaRPr b="0" i="0" spc="0" sz="1050" u="none" cap="none" strike="noStrike">
              <a:solidFill>
                <a:schemeClr val="dk1"/>
              </a:solidFill>
              <a:latin typeface="Calibri"/>
              <a:ea typeface="Calibri"/>
              <a:cs typeface="Calibri"/>
              <a:sym typeface="Calibri"/>
            </a:endParaRPr>
          </a:p>
        </p:txBody>
      </p:sp>
      <p:sp>
        <p:nvSpPr>
          <p:cNvPr id="1454" name="Google Shape;1454;p5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5" name="Google Shape;1455;p5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_pay.png" id="1456" name="Google Shape;1456;p55"/>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1457" name="Google Shape;1457;p5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8" name="Google Shape;1458;p5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9" name="Google Shape;1459;p5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0" name="Google Shape;1460;p5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1" name="Google Shape;1461;p5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2" name="Google Shape;1462;p5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3" name="Google Shape;1463;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70" name="Google Shape;1470;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471" name="Google Shape;1471;p5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Bought, not used. The membership starts only after a completed job.</a:t>
            </a:r>
            <a:endParaRPr b="0" i="0" spc="0" sz="1200" u="none" cap="none" strike="noStrike">
              <a:solidFill>
                <a:schemeClr val="dk1"/>
              </a:solidFill>
              <a:latin typeface="Calibri"/>
              <a:ea typeface="Calibri"/>
              <a:cs typeface="Calibri"/>
              <a:sym typeface="Calibri"/>
            </a:endParaRPr>
          </a:p>
        </p:txBody>
      </p:sp>
      <p:sp>
        <p:nvSpPr>
          <p:cNvPr id="1472" name="Google Shape;1472;p56"/>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3" name="Google Shape;1473;p56"/>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Buys the voucher</a:t>
            </a:r>
            <a:endParaRPr b="0" i="0" spc="0" sz="1000" u="none" cap="none" strike="noStrike">
              <a:solidFill>
                <a:schemeClr val="dk1"/>
              </a:solidFill>
              <a:latin typeface="Calibri"/>
              <a:ea typeface="Calibri"/>
              <a:cs typeface="Calibri"/>
              <a:sym typeface="Calibri"/>
            </a:endParaRPr>
          </a:p>
        </p:txBody>
      </p:sp>
      <p:cxnSp>
        <p:nvCxnSpPr>
          <p:cNvPr id="1474" name="Google Shape;1474;p56"/>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5" name="Google Shape;1475;p56"/>
          <p:cNvSpPr txBox="1"/>
          <p:nvPr/>
        </p:nvSpPr>
        <p:spPr>
          <a:xfrm>
            <a:off x="41148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shows. No FC table</a:t>
            </a:r>
            <a:endParaRPr b="0" i="0" spc="0" sz="900" u="none" cap="none" strike="noStrike">
              <a:solidFill>
                <a:schemeClr val="dk1"/>
              </a:solidFill>
              <a:latin typeface="Calibri"/>
              <a:ea typeface="Calibri"/>
              <a:cs typeface="Calibri"/>
              <a:sym typeface="Calibri"/>
            </a:endParaRPr>
          </a:p>
        </p:txBody>
      </p:sp>
      <p:sp>
        <p:nvSpPr>
          <p:cNvPr id="1476" name="Google Shape;1476;p56"/>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7" name="Google Shape;1477;p56"/>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Books a cleaning</a:t>
            </a:r>
            <a:endParaRPr b="0" i="0" spc="0" sz="1000" u="none" cap="none" strike="noStrike">
              <a:solidFill>
                <a:schemeClr val="dk1"/>
              </a:solidFill>
              <a:latin typeface="Calibri"/>
              <a:ea typeface="Calibri"/>
              <a:cs typeface="Calibri"/>
              <a:sym typeface="Calibri"/>
            </a:endParaRPr>
          </a:p>
        </p:txBody>
      </p:sp>
      <p:cxnSp>
        <p:nvCxnSpPr>
          <p:cNvPr id="1478" name="Google Shape;1478;p56"/>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9" name="Google Shape;1479;p56"/>
          <p:cNvSpPr txBox="1"/>
          <p:nvPr/>
        </p:nvSpPr>
        <p:spPr>
          <a:xfrm>
            <a:off x="2544775"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FC table appears: "active, 0 paid months"</a:t>
            </a:r>
            <a:endParaRPr b="0" i="0" spc="0" sz="900" u="none" cap="none" strike="noStrike">
              <a:solidFill>
                <a:schemeClr val="dk1"/>
              </a:solidFill>
              <a:latin typeface="Calibri"/>
              <a:ea typeface="Calibri"/>
              <a:cs typeface="Calibri"/>
              <a:sym typeface="Calibri"/>
            </a:endParaRPr>
          </a:p>
        </p:txBody>
      </p:sp>
      <p:sp>
        <p:nvSpPr>
          <p:cNvPr id="1480" name="Google Shape;1480;p56"/>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1" name="Google Shape;1481;p56"/>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Cleaning completed</a:t>
            </a:r>
            <a:endParaRPr b="0" i="0" spc="0" sz="1000" u="none" cap="none" strike="noStrike">
              <a:solidFill>
                <a:schemeClr val="dk1"/>
              </a:solidFill>
              <a:latin typeface="Calibri"/>
              <a:ea typeface="Calibri"/>
              <a:cs typeface="Calibri"/>
              <a:sym typeface="Calibri"/>
            </a:endParaRPr>
          </a:p>
        </p:txBody>
      </p:sp>
      <p:cxnSp>
        <p:nvCxnSpPr>
          <p:cNvPr id="1482" name="Google Shape;1482;p56"/>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83" name="Google Shape;1483;p56"/>
          <p:cNvSpPr txBox="1"/>
          <p:nvPr/>
        </p:nvSpPr>
        <p:spPr>
          <a:xfrm>
            <a:off x="467807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applied to the job</a:t>
            </a:r>
            <a:endParaRPr b="0" i="0" spc="0" sz="900" u="none" cap="none" strike="noStrike">
              <a:solidFill>
                <a:schemeClr val="dk1"/>
              </a:solidFill>
              <a:latin typeface="Calibri"/>
              <a:ea typeface="Calibri"/>
              <a:cs typeface="Calibri"/>
              <a:sym typeface="Calibri"/>
            </a:endParaRPr>
          </a:p>
        </p:txBody>
      </p:sp>
      <p:sp>
        <p:nvSpPr>
          <p:cNvPr id="1484" name="Google Shape;1484;p56"/>
          <p:cNvSpPr/>
          <p:nvPr/>
        </p:nvSpPr>
        <p:spPr>
          <a:xfrm>
            <a:off x="6811366" y="1371600"/>
            <a:ext cx="1920240" cy="502920"/>
          </a:xfrm>
          <a:prstGeom prst="roundRect">
            <a:avLst>
              <a:gd fmla="val 14545"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5" name="Google Shape;1485;p56"/>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Membership starts</a:t>
            </a:r>
            <a:endParaRPr b="0" i="0" spc="0" sz="1000" u="none" cap="none" strike="noStrike">
              <a:solidFill>
                <a:schemeClr val="dk1"/>
              </a:solidFill>
              <a:latin typeface="Calibri"/>
              <a:ea typeface="Calibri"/>
              <a:cs typeface="Calibri"/>
              <a:sym typeface="Calibri"/>
            </a:endParaRPr>
          </a:p>
        </p:txBody>
      </p:sp>
      <p:sp>
        <p:nvSpPr>
          <p:cNvPr id="1486" name="Google Shape;1486;p56"/>
          <p:cNvSpPr txBox="1"/>
          <p:nvPr/>
        </p:nvSpPr>
        <p:spPr>
          <a:xfrm>
            <a:off x="6811366"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Now FC has really begun</a:t>
            </a:r>
            <a:endParaRPr b="0" i="0" spc="0" sz="900" u="none" cap="none" strike="noStrike">
              <a:solidFill>
                <a:schemeClr val="dk1"/>
              </a:solidFill>
              <a:latin typeface="Calibri"/>
              <a:ea typeface="Calibri"/>
              <a:cs typeface="Calibri"/>
              <a:sym typeface="Calibri"/>
            </a:endParaRPr>
          </a:p>
        </p:txBody>
      </p:sp>
      <p:sp>
        <p:nvSpPr>
          <p:cNvPr id="1487" name="Google Shape;1487;p56"/>
          <p:cNvSpPr/>
          <p:nvPr/>
        </p:nvSpPr>
        <p:spPr>
          <a:xfrm>
            <a:off x="411480" y="260604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88" name="Google Shape;1488;p56"/>
          <p:cNvPicPr preferRelativeResize="0"/>
          <p:nvPr/>
        </p:nvPicPr>
        <p:blipFill rotWithShape="1">
          <a:blip r:embed="rId3">
            <a:alphaModFix/>
          </a:blip>
          <a:srcRect b="0" l="0" r="0" t="0"/>
          <a:stretch/>
        </p:blipFill>
        <p:spPr>
          <a:xfrm>
            <a:off x="566928" y="2752344"/>
            <a:ext cx="164592" cy="164592"/>
          </a:xfrm>
          <a:prstGeom prst="rect">
            <a:avLst/>
          </a:prstGeom>
          <a:noFill/>
          <a:ln>
            <a:noFill/>
          </a:ln>
        </p:spPr>
      </p:pic>
      <p:sp>
        <p:nvSpPr>
          <p:cNvPr id="1489" name="Google Shape;1489;p56"/>
          <p:cNvSpPr txBox="1"/>
          <p:nvPr/>
        </p:nvSpPr>
        <p:spPr>
          <a:xfrm>
            <a:off x="822960" y="260604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"FC table &gt; Active, 0 paid months"  </a:t>
            </a:r>
            <a:r>
              <a:rPr b="0" i="0" lang="en-US" spc="0" sz="1000" u="none" cap="none" strike="noStrike">
                <a:solidFill>
                  <a:srgbClr val="1D1D1F"/>
                </a:solidFill>
                <a:latin typeface="Arial"/>
                <a:ea typeface="Arial"/>
                <a:cs typeface="Arial"/>
                <a:sym typeface="Arial"/>
              </a:rPr>
              <a:t>doesn't mean FC has started. Not until the voucher is used on a completed job.</a:t>
            </a:r>
            <a:endParaRPr b="0" i="0" spc="0" sz="1000" u="none" cap="none" strike="noStrike">
              <a:solidFill>
                <a:schemeClr val="dk1"/>
              </a:solidFill>
              <a:latin typeface="Calibri"/>
              <a:ea typeface="Calibri"/>
              <a:cs typeface="Calibri"/>
              <a:sym typeface="Calibri"/>
            </a:endParaRPr>
          </a:p>
        </p:txBody>
      </p:sp>
      <p:sp>
        <p:nvSpPr>
          <p:cNvPr id="1490" name="Google Shape;1490;p56"/>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1" name="Google Shape;1491;p56"/>
          <p:cNvSpPr txBox="1"/>
          <p:nvPr/>
        </p:nvSpPr>
        <p:spPr>
          <a:xfrm>
            <a:off x="566925" y="3355850"/>
            <a:ext cx="8028300" cy="54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sng" cap="none" strike="noStrike">
                <a:solidFill>
                  <a:schemeClr val="hlink"/>
                </a:solidFill>
                <a:latin typeface="Arial"/>
                <a:ea typeface="Arial"/>
                <a:cs typeface="Arial"/>
                <a:sym typeface="Arial"/>
                <a:hlinkClick r:id="rId4"/>
              </a:rPr>
              <a:t>Lets see what DHJ Voucher Deal Customer looks like</a:t>
            </a:r>
            <a:r>
              <a:rPr b="0" i="0" lang="en-US" spc="0" sz="1000" u="none" cap="none" strike="noStrike">
                <a:solidFill>
                  <a:schemeClr val="hlink"/>
                </a:solidFill>
                <a:uFill>
                  <a:noFill/>
                </a:uFill>
                <a:latin typeface="Arial"/>
                <a:ea typeface="Arial"/>
                <a:cs typeface="Arial"/>
                <a:sym typeface="Arial"/>
                <a:hlinkClick r:id="rId5"/>
              </a:rPr>
              <a:t>🔗 </a:t>
            </a:r>
            <a:endParaRPr b="0" i="0" spc="0" sz="1000" u="none" cap="none" strike="noStrike">
              <a:solidFill>
                <a:srgbClr val="0B7A6F"/>
              </a:solidFill>
              <a:latin typeface="Calibri"/>
              <a:ea typeface="Calibri"/>
              <a:cs typeface="Calibri"/>
              <a:sym typeface="Calibri"/>
            </a:endParaRPr>
          </a:p>
        </p:txBody>
      </p:sp>
      <p:sp>
        <p:nvSpPr>
          <p:cNvPr id="1492" name="Google Shape;1492;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7" name="Shape 1497"/>
        <p:cNvGrpSpPr/>
        <p:nvPr/>
      </p:nvGrpSpPr>
      <p:grpSpPr>
        <a:xfrm>
          <a:off x="0" y="0"/>
          <a:ext cx="0" cy="0"/>
          <a:chOff x="0" y="0"/>
          <a:chExt cx="0" cy="0"/>
        </a:xfrm>
      </p:grpSpPr>
      <p:sp>
        <p:nvSpPr>
          <p:cNvPr id="1498" name="Google Shape;1498;p5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99" name="Google Shape;1499;p5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does the customer want?</a:t>
            </a:r>
            <a:endParaRPr b="0" i="0" spc="0" sz="2400" u="none" cap="none" strike="noStrike">
              <a:solidFill>
                <a:schemeClr val="dk1"/>
              </a:solidFill>
              <a:latin typeface="Calibri"/>
              <a:ea typeface="Calibri"/>
              <a:cs typeface="Calibri"/>
              <a:sym typeface="Calibri"/>
            </a:endParaRPr>
          </a:p>
        </p:txBody>
      </p:sp>
      <p:sp>
        <p:nvSpPr>
          <p:cNvPr id="1500" name="Google Shape;1500;p5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Sort the request into one of four cases first. They lead to very different places.</a:t>
            </a:r>
            <a:endParaRPr b="0" i="0" spc="0" sz="1200" u="none" cap="none" strike="noStrike">
              <a:solidFill>
                <a:schemeClr val="dk1"/>
              </a:solidFill>
              <a:latin typeface="Calibri"/>
              <a:ea typeface="Calibri"/>
              <a:cs typeface="Calibri"/>
              <a:sym typeface="Calibri"/>
            </a:endParaRPr>
          </a:p>
        </p:txBody>
      </p:sp>
      <p:sp>
        <p:nvSpPr>
          <p:cNvPr id="1501" name="Google Shape;1501;p57"/>
          <p:cNvSpPr/>
          <p:nvPr/>
        </p:nvSpPr>
        <p:spPr>
          <a:xfrm>
            <a:off x="411480" y="1325880"/>
            <a:ext cx="409194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2" name="Google Shape;1502;p57"/>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3" name="Google Shape;1503;p57"/>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504" name="Google Shape;1504;p57"/>
          <p:cNvSpPr/>
          <p:nvPr/>
        </p:nvSpPr>
        <p:spPr>
          <a:xfrm>
            <a:off x="39547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5" name="Google Shape;1505;p57"/>
          <p:cNvPicPr preferRelativeResize="0"/>
          <p:nvPr/>
        </p:nvPicPr>
        <p:blipFill rotWithShape="1">
          <a:blip r:embed="rId3">
            <a:alphaModFix/>
          </a:blip>
          <a:srcRect b="0" l="0" r="0" t="0"/>
          <a:stretch/>
        </p:blipFill>
        <p:spPr>
          <a:xfrm>
            <a:off x="4046952" y="1555212"/>
            <a:ext cx="199705" cy="199705"/>
          </a:xfrm>
          <a:prstGeom prst="rect">
            <a:avLst/>
          </a:prstGeom>
          <a:noFill/>
          <a:ln>
            <a:noFill/>
          </a:ln>
        </p:spPr>
      </p:pic>
      <p:sp>
        <p:nvSpPr>
          <p:cNvPr id="1506" name="Google Shape;1506;p57"/>
          <p:cNvSpPr txBox="1"/>
          <p:nvPr/>
        </p:nvSpPr>
        <p:spPr>
          <a:xfrm>
            <a:off x="9601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No refund or cancel intent</a:t>
            </a:r>
            <a:endParaRPr b="0" i="0" spc="0" sz="1250" u="none" cap="none" strike="noStrike">
              <a:solidFill>
                <a:schemeClr val="dk1"/>
              </a:solidFill>
              <a:latin typeface="Calibri"/>
              <a:ea typeface="Calibri"/>
              <a:cs typeface="Calibri"/>
              <a:sym typeface="Calibri"/>
            </a:endParaRPr>
          </a:p>
        </p:txBody>
      </p:sp>
      <p:sp>
        <p:nvSpPr>
          <p:cNvPr id="1507" name="Google Shape;1507;p57"/>
          <p:cNvSpPr txBox="1"/>
          <p:nvPr/>
        </p:nvSpPr>
        <p:spPr>
          <a:xfrm>
            <a:off x="9601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Help with their concern. Subtly remind them that their voucher includes a membership</a:t>
            </a:r>
            <a:endParaRPr b="0" i="0" spc="0" sz="1000" u="none" cap="none" strike="noStrike">
              <a:solidFill>
                <a:schemeClr val="dk1"/>
              </a:solidFill>
              <a:latin typeface="Calibri"/>
              <a:ea typeface="Calibri"/>
              <a:cs typeface="Calibri"/>
              <a:sym typeface="Calibri"/>
            </a:endParaRPr>
          </a:p>
        </p:txBody>
      </p:sp>
      <p:sp>
        <p:nvSpPr>
          <p:cNvPr id="1508" name="Google Shape;1508;p57"/>
          <p:cNvSpPr/>
          <p:nvPr/>
        </p:nvSpPr>
        <p:spPr>
          <a:xfrm>
            <a:off x="4640580" y="1325880"/>
            <a:ext cx="4091940" cy="1188720"/>
          </a:xfrm>
          <a:prstGeom prst="roundRect">
            <a:avLst>
              <a:gd fmla="val 615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9" name="Google Shape;1509;p57"/>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0" name="Google Shape;1510;p57"/>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511" name="Google Shape;1511;p57"/>
          <p:cNvSpPr/>
          <p:nvPr/>
        </p:nvSpPr>
        <p:spPr>
          <a:xfrm>
            <a:off x="81838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2" name="Google Shape;1512;p57"/>
          <p:cNvPicPr preferRelativeResize="0"/>
          <p:nvPr/>
        </p:nvPicPr>
        <p:blipFill rotWithShape="1">
          <a:blip r:embed="rId4">
            <a:alphaModFix/>
          </a:blip>
          <a:srcRect b="0" l="0" r="0" t="0"/>
          <a:stretch/>
        </p:blipFill>
        <p:spPr>
          <a:xfrm>
            <a:off x="8276052" y="1555212"/>
            <a:ext cx="199705" cy="199705"/>
          </a:xfrm>
          <a:prstGeom prst="rect">
            <a:avLst/>
          </a:prstGeom>
          <a:noFill/>
          <a:ln>
            <a:noFill/>
          </a:ln>
        </p:spPr>
      </p:pic>
      <p:sp>
        <p:nvSpPr>
          <p:cNvPr id="1513" name="Google Shape;1513;p57"/>
          <p:cNvSpPr txBox="1"/>
          <p:nvPr/>
        </p:nvSpPr>
        <p:spPr>
          <a:xfrm>
            <a:off x="51892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a refund or to cancel</a:t>
            </a:r>
            <a:endParaRPr b="0" i="0" spc="0" sz="1250" u="none" cap="none" strike="noStrike">
              <a:solidFill>
                <a:schemeClr val="dk1"/>
              </a:solidFill>
              <a:latin typeface="Calibri"/>
              <a:ea typeface="Calibri"/>
              <a:cs typeface="Calibri"/>
              <a:sym typeface="Calibri"/>
            </a:endParaRPr>
          </a:p>
        </p:txBody>
      </p:sp>
      <p:sp>
        <p:nvSpPr>
          <p:cNvPr id="1514" name="Google Shape;1514;p57"/>
          <p:cNvSpPr txBox="1"/>
          <p:nvPr/>
        </p:nvSpPr>
        <p:spPr>
          <a:xfrm>
            <a:off x="51892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Probe, address the issue, present the right offer.</a:t>
            </a:r>
            <a:endParaRPr b="0" i="0" spc="0" sz="1000" u="none" cap="none" strike="noStrike">
              <a:solidFill>
                <a:schemeClr val="dk1"/>
              </a:solidFill>
              <a:latin typeface="Calibri"/>
              <a:ea typeface="Calibri"/>
              <a:cs typeface="Calibri"/>
              <a:sym typeface="Calibri"/>
            </a:endParaRPr>
          </a:p>
        </p:txBody>
      </p:sp>
      <p:sp>
        <p:nvSpPr>
          <p:cNvPr id="1515" name="Google Shape;1515;p57"/>
          <p:cNvSpPr/>
          <p:nvPr/>
        </p:nvSpPr>
        <p:spPr>
          <a:xfrm>
            <a:off x="411480" y="2651760"/>
            <a:ext cx="409194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6" name="Google Shape;1516;p57"/>
          <p:cNvSpPr/>
          <p:nvPr/>
        </p:nvSpPr>
        <p:spPr>
          <a:xfrm>
            <a:off x="5760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7" name="Google Shape;1517;p57"/>
          <p:cNvSpPr txBox="1"/>
          <p:nvPr/>
        </p:nvSpPr>
        <p:spPr>
          <a:xfrm>
            <a:off x="5760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18" name="Google Shape;1518;p57"/>
          <p:cNvSpPr/>
          <p:nvPr/>
        </p:nvSpPr>
        <p:spPr>
          <a:xfrm>
            <a:off x="39547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9" name="Google Shape;1519;p57"/>
          <p:cNvPicPr preferRelativeResize="0"/>
          <p:nvPr/>
        </p:nvPicPr>
        <p:blipFill rotWithShape="1">
          <a:blip r:embed="rId5">
            <a:alphaModFix/>
          </a:blip>
          <a:srcRect b="0" l="0" r="0" t="0"/>
          <a:stretch/>
        </p:blipFill>
        <p:spPr>
          <a:xfrm>
            <a:off x="4046952" y="2881092"/>
            <a:ext cx="199705" cy="199705"/>
          </a:xfrm>
          <a:prstGeom prst="rect">
            <a:avLst/>
          </a:prstGeom>
          <a:noFill/>
          <a:ln>
            <a:noFill/>
          </a:ln>
        </p:spPr>
      </p:pic>
      <p:sp>
        <p:nvSpPr>
          <p:cNvPr id="1520" name="Google Shape;1520;p57"/>
          <p:cNvSpPr txBox="1"/>
          <p:nvPr/>
        </p:nvSpPr>
        <p:spPr>
          <a:xfrm>
            <a:off x="9601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the account closed</a:t>
            </a:r>
            <a:endParaRPr b="0" i="0" spc="0" sz="1250" u="none" cap="none" strike="noStrike">
              <a:solidFill>
                <a:schemeClr val="dk1"/>
              </a:solidFill>
              <a:latin typeface="Calibri"/>
              <a:ea typeface="Calibri"/>
              <a:cs typeface="Calibri"/>
              <a:sym typeface="Calibri"/>
            </a:endParaRPr>
          </a:p>
        </p:txBody>
      </p:sp>
      <p:sp>
        <p:nvSpPr>
          <p:cNvPr id="1521" name="Google Shape;1521;p57"/>
          <p:cNvSpPr txBox="1"/>
          <p:nvPr/>
        </p:nvSpPr>
        <p:spPr>
          <a:xfrm>
            <a:off x="9601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Treat it as cancellation intent. Then close it properly.</a:t>
            </a:r>
            <a:endParaRPr b="0" i="0" spc="0" sz="1000" u="none" cap="none" strike="noStrike">
              <a:solidFill>
                <a:schemeClr val="dk1"/>
              </a:solidFill>
              <a:latin typeface="Calibri"/>
              <a:ea typeface="Calibri"/>
              <a:cs typeface="Calibri"/>
              <a:sym typeface="Calibri"/>
            </a:endParaRPr>
          </a:p>
        </p:txBody>
      </p:sp>
      <p:sp>
        <p:nvSpPr>
          <p:cNvPr id="1522" name="Google Shape;1522;p57"/>
          <p:cNvSpPr/>
          <p:nvPr/>
        </p:nvSpPr>
        <p:spPr>
          <a:xfrm>
            <a:off x="4640580" y="2651760"/>
            <a:ext cx="4091940" cy="1188720"/>
          </a:xfrm>
          <a:prstGeom prst="roundRect">
            <a:avLst>
              <a:gd fmla="val 615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3" name="Google Shape;1523;p57"/>
          <p:cNvSpPr/>
          <p:nvPr/>
        </p:nvSpPr>
        <p:spPr>
          <a:xfrm>
            <a:off x="48051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4" name="Google Shape;1524;p57"/>
          <p:cNvSpPr txBox="1"/>
          <p:nvPr/>
        </p:nvSpPr>
        <p:spPr>
          <a:xfrm>
            <a:off x="48051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25" name="Google Shape;1525;p57"/>
          <p:cNvSpPr/>
          <p:nvPr/>
        </p:nvSpPr>
        <p:spPr>
          <a:xfrm>
            <a:off x="81838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26" name="Google Shape;1526;p57"/>
          <p:cNvPicPr preferRelativeResize="0"/>
          <p:nvPr/>
        </p:nvPicPr>
        <p:blipFill rotWithShape="1">
          <a:blip r:embed="rId6">
            <a:alphaModFix/>
          </a:blip>
          <a:srcRect b="0" l="0" r="0" t="0"/>
          <a:stretch/>
        </p:blipFill>
        <p:spPr>
          <a:xfrm>
            <a:off x="8276052" y="2881092"/>
            <a:ext cx="199705" cy="199705"/>
          </a:xfrm>
          <a:prstGeom prst="rect">
            <a:avLst/>
          </a:prstGeom>
          <a:noFill/>
          <a:ln>
            <a:noFill/>
          </a:ln>
        </p:spPr>
      </p:pic>
      <p:sp>
        <p:nvSpPr>
          <p:cNvPr id="1527" name="Google Shape;1527;p57"/>
          <p:cNvSpPr txBox="1"/>
          <p:nvPr/>
        </p:nvSpPr>
        <p:spPr>
          <a:xfrm>
            <a:off x="51892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Already self-refunded</a:t>
            </a:r>
            <a:endParaRPr b="0" i="0" spc="0" sz="1250" u="none" cap="none" strike="noStrike">
              <a:solidFill>
                <a:schemeClr val="dk1"/>
              </a:solidFill>
              <a:latin typeface="Calibri"/>
              <a:ea typeface="Calibri"/>
              <a:cs typeface="Calibri"/>
              <a:sym typeface="Calibri"/>
            </a:endParaRPr>
          </a:p>
        </p:txBody>
      </p:sp>
      <p:sp>
        <p:nvSpPr>
          <p:cNvPr id="1528" name="Google Shape;1528;p57"/>
          <p:cNvSpPr txBox="1"/>
          <p:nvPr/>
        </p:nvSpPr>
        <p:spPr>
          <a:xfrm>
            <a:off x="51892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Accept it. Give a clean, hassle-free cancellation.</a:t>
            </a:r>
            <a:endParaRPr b="0" i="0" spc="0" sz="1000" u="none" cap="none" strike="noStrike">
              <a:solidFill>
                <a:schemeClr val="dk1"/>
              </a:solidFill>
              <a:latin typeface="Calibri"/>
              <a:ea typeface="Calibri"/>
              <a:cs typeface="Calibri"/>
              <a:sym typeface="Calibri"/>
            </a:endParaRPr>
          </a:p>
        </p:txBody>
      </p:sp>
      <p:sp>
        <p:nvSpPr>
          <p:cNvPr id="1529" name="Google Shape;1529;p5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4" name="Shape 1534"/>
        <p:cNvGrpSpPr/>
        <p:nvPr/>
      </p:nvGrpSpPr>
      <p:grpSpPr>
        <a:xfrm>
          <a:off x="0" y="0"/>
          <a:ext cx="0" cy="0"/>
          <a:chOff x="0" y="0"/>
          <a:chExt cx="0" cy="0"/>
        </a:xfrm>
      </p:grpSpPr>
      <p:sp>
        <p:nvSpPr>
          <p:cNvPr id="1535" name="Google Shape;1535;p5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36" name="Google Shape;1536;p5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1: No refund or cancel intent</a:t>
            </a:r>
            <a:endParaRPr b="0" i="0" spc="0" sz="2400" u="none" cap="none" strike="noStrike">
              <a:solidFill>
                <a:schemeClr val="dk1"/>
              </a:solidFill>
              <a:latin typeface="Calibri"/>
              <a:ea typeface="Calibri"/>
              <a:cs typeface="Calibri"/>
              <a:sym typeface="Calibri"/>
            </a:endParaRPr>
          </a:p>
        </p:txBody>
      </p:sp>
      <p:sp>
        <p:nvSpPr>
          <p:cNvPr id="1537" name="Google Shape;1537;p5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make it bigger than it needs to be.</a:t>
            </a:r>
            <a:endParaRPr b="0" i="0" spc="0" sz="1200" u="none" cap="none" strike="noStrike">
              <a:solidFill>
                <a:schemeClr val="dk1"/>
              </a:solidFill>
              <a:latin typeface="Calibri"/>
              <a:ea typeface="Calibri"/>
              <a:cs typeface="Calibri"/>
              <a:sym typeface="Calibri"/>
            </a:endParaRPr>
          </a:p>
        </p:txBody>
      </p:sp>
      <p:sp>
        <p:nvSpPr>
          <p:cNvPr id="1538" name="Google Shape;1538;p58"/>
          <p:cNvSpPr/>
          <p:nvPr/>
        </p:nvSpPr>
        <p:spPr>
          <a:xfrm>
            <a:off x="4114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9" name="Google Shape;1539;p5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0" name="Google Shape;1540;p5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41" name="Google Shape;1541;p5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Help with their concern</a:t>
            </a:r>
            <a:endParaRPr b="0" i="0" spc="0" sz="1200" u="none" cap="none" strike="noStrike">
              <a:solidFill>
                <a:schemeClr val="dk1"/>
              </a:solidFill>
              <a:latin typeface="Calibri"/>
              <a:ea typeface="Calibri"/>
              <a:cs typeface="Calibri"/>
              <a:sym typeface="Calibri"/>
            </a:endParaRPr>
          </a:p>
        </p:txBody>
      </p:sp>
      <p:sp>
        <p:nvSpPr>
          <p:cNvPr id="1542" name="Google Shape;1542;p58"/>
          <p:cNvSpPr txBox="1"/>
          <p:nvPr/>
        </p:nvSpPr>
        <p:spPr>
          <a:xfrm>
            <a:off x="5760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That's why they reached out.</a:t>
            </a:r>
            <a:endParaRPr b="0" i="0" spc="0" sz="950" u="none" cap="none" strike="noStrike">
              <a:solidFill>
                <a:schemeClr val="dk1"/>
              </a:solidFill>
              <a:latin typeface="Calibri"/>
              <a:ea typeface="Calibri"/>
              <a:cs typeface="Calibri"/>
              <a:sym typeface="Calibri"/>
            </a:endParaRPr>
          </a:p>
        </p:txBody>
      </p:sp>
      <p:sp>
        <p:nvSpPr>
          <p:cNvPr id="1543" name="Google Shape;1543;p58"/>
          <p:cNvSpPr/>
          <p:nvPr/>
        </p:nvSpPr>
        <p:spPr>
          <a:xfrm>
            <a:off x="32308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4" name="Google Shape;1544;p5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5" name="Google Shape;1545;p5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546" name="Google Shape;1546;p5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100" u="none" cap="none" strike="noStrike">
                <a:solidFill>
                  <a:srgbClr val="1D1D1F"/>
                </a:solidFill>
                <a:latin typeface="Play"/>
                <a:ea typeface="Play"/>
                <a:cs typeface="Play"/>
                <a:sym typeface="Play"/>
              </a:rPr>
              <a:t>Remind them subtly of their membership</a:t>
            </a:r>
            <a:endParaRPr b="0" i="0" spc="0" sz="1100" u="none" cap="none" strike="noStrike">
              <a:solidFill>
                <a:schemeClr val="dk1"/>
              </a:solidFill>
              <a:latin typeface="Calibri"/>
              <a:ea typeface="Calibri"/>
              <a:cs typeface="Calibri"/>
              <a:sym typeface="Calibri"/>
            </a:endParaRPr>
          </a:p>
        </p:txBody>
      </p:sp>
      <p:sp>
        <p:nvSpPr>
          <p:cNvPr id="1547" name="Google Shape;1547;p58"/>
          <p:cNvSpPr txBox="1"/>
          <p:nvPr/>
        </p:nvSpPr>
        <p:spPr>
          <a:xfrm>
            <a:off x="3395397" y="2281430"/>
            <a:ext cx="2353200" cy="246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Skip it if they clearly already know.</a:t>
            </a:r>
            <a:endParaRPr b="0" i="0" spc="0" sz="950" u="none" cap="none" strike="noStrike">
              <a:solidFill>
                <a:schemeClr val="dk1"/>
              </a:solidFill>
              <a:latin typeface="Calibri"/>
              <a:ea typeface="Calibri"/>
              <a:cs typeface="Calibri"/>
              <a:sym typeface="Calibri"/>
            </a:endParaRPr>
          </a:p>
        </p:txBody>
      </p:sp>
      <p:sp>
        <p:nvSpPr>
          <p:cNvPr id="1548" name="Google Shape;1548;p58"/>
          <p:cNvSpPr/>
          <p:nvPr/>
        </p:nvSpPr>
        <p:spPr>
          <a:xfrm>
            <a:off x="60502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9" name="Google Shape;1549;p5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0" name="Google Shape;1550;p5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551" name="Google Shape;1551;p5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Terms are the issue?</a:t>
            </a:r>
            <a:endParaRPr b="0" i="0" spc="0" sz="1200" u="none" cap="none" strike="noStrike">
              <a:solidFill>
                <a:schemeClr val="dk1"/>
              </a:solidFill>
              <a:latin typeface="Calibri"/>
              <a:ea typeface="Calibri"/>
              <a:cs typeface="Calibri"/>
              <a:sym typeface="Calibri"/>
            </a:endParaRPr>
          </a:p>
        </p:txBody>
      </p:sp>
      <p:sp>
        <p:nvSpPr>
          <p:cNvPr id="1552" name="Google Shape;1552;p58"/>
          <p:cNvSpPr txBox="1"/>
          <p:nvPr/>
        </p:nvSpPr>
        <p:spPr>
          <a:xfrm>
            <a:off x="62148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Walk through MF, MCT and ETF.</a:t>
            </a:r>
            <a:endParaRPr b="0" i="0" spc="0" sz="950" u="none" cap="none" strike="noStrike">
              <a:solidFill>
                <a:schemeClr val="dk1"/>
              </a:solidFill>
              <a:latin typeface="Calibri"/>
              <a:ea typeface="Calibri"/>
              <a:cs typeface="Calibri"/>
              <a:sym typeface="Calibri"/>
            </a:endParaRPr>
          </a:p>
        </p:txBody>
      </p:sp>
      <p:sp>
        <p:nvSpPr>
          <p:cNvPr id="1553" name="Google Shape;1553;p58"/>
          <p:cNvSpPr/>
          <p:nvPr/>
        </p:nvSpPr>
        <p:spPr>
          <a:xfrm>
            <a:off x="411480" y="2670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4" name="Google Shape;1554;p58"/>
          <p:cNvPicPr preferRelativeResize="0"/>
          <p:nvPr/>
        </p:nvPicPr>
        <p:blipFill rotWithShape="1">
          <a:blip r:embed="rId6">
            <a:alphaModFix/>
          </a:blip>
          <a:srcRect b="0" l="0" r="0" t="0"/>
          <a:stretch/>
        </p:blipFill>
        <p:spPr>
          <a:xfrm>
            <a:off x="566928" y="2779776"/>
            <a:ext cx="164592" cy="164592"/>
          </a:xfrm>
          <a:prstGeom prst="rect">
            <a:avLst/>
          </a:prstGeom>
          <a:noFill/>
          <a:ln>
            <a:noFill/>
          </a:ln>
        </p:spPr>
      </p:pic>
      <p:sp>
        <p:nvSpPr>
          <p:cNvPr id="1555" name="Google Shape;1555;p58"/>
          <p:cNvSpPr txBox="1"/>
          <p:nvPr/>
        </p:nvSpPr>
        <p:spPr>
          <a:xfrm>
            <a:off x="822960" y="2770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 didn't realize there's a monthly fee"?  </a:t>
            </a:r>
            <a:r>
              <a:rPr b="0" i="0" lang="en-US" spc="0" sz="1000" u="none" cap="none" strike="noStrike">
                <a:solidFill>
                  <a:srgbClr val="1D1D1F"/>
                </a:solidFill>
                <a:latin typeface="Arial"/>
                <a:ea typeface="Arial"/>
                <a:cs typeface="Arial"/>
                <a:sym typeface="Arial"/>
              </a:rPr>
              <a:t>that's no longer a reminder. Explain the actual terms.</a:t>
            </a:r>
            <a:endParaRPr b="0" i="0" spc="0" sz="1000" u="none" cap="none" strike="noStrike">
              <a:solidFill>
                <a:schemeClr val="dk1"/>
              </a:solidFill>
              <a:latin typeface="Calibri"/>
              <a:ea typeface="Calibri"/>
              <a:cs typeface="Calibri"/>
              <a:sym typeface="Calibri"/>
            </a:endParaRPr>
          </a:p>
        </p:txBody>
      </p:sp>
      <p:sp>
        <p:nvSpPr>
          <p:cNvPr id="1556" name="Google Shape;1556;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57" name="Google Shape;1557;p58"/>
          <p:cNvSpPr/>
          <p:nvPr/>
        </p:nvSpPr>
        <p:spPr>
          <a:xfrm>
            <a:off x="411480" y="3136392"/>
            <a:ext cx="8321040" cy="292608"/>
          </a:xfrm>
          <a:prstGeom prst="roundRect">
            <a:avLst>
              <a:gd fmla="val 8000" name="adj"/>
            </a:avLst>
          </a:prstGeom>
          <a:solidFill>
            <a:srgbClr val="0B7A6F"/>
          </a:solidFill>
          <a:ln>
            <a:noFill/>
          </a:ln>
        </p:spPr>
        <p:txBody>
          <a:bodyPr anchorCtr="0" anchor="ctr" bIns="0" lIns="164575"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  5-min writing challenge</a:t>
            </a:r>
            <a:r>
              <a:rPr b="0" i="0" lang="en-US" spc="0" sz="950" u="none" cap="none" strike="noStrike">
                <a:solidFill>
                  <a:srgbClr val="FFFFFF"/>
                </a:solidFill>
                <a:latin typeface="Arial"/>
                <a:ea typeface="Arial"/>
                <a:cs typeface="Arial"/>
                <a:sym typeface="Arial"/>
              </a:rPr>
              <a:t>   Read the customer’s message and write your reply.</a:t>
            </a:r>
            <a:endParaRPr b="0" i="0" spc="0" sz="1400" u="none" cap="none" strike="noStrike">
              <a:solidFill>
                <a:srgbClr val="000000"/>
              </a:solidFill>
              <a:latin typeface="Arial"/>
              <a:ea typeface="Arial"/>
              <a:cs typeface="Arial"/>
              <a:sym typeface="Arial"/>
            </a:endParaRPr>
          </a:p>
        </p:txBody>
      </p:sp>
      <p:sp>
        <p:nvSpPr>
          <p:cNvPr id="1558" name="Google Shape;1558;p58"/>
          <p:cNvSpPr/>
          <p:nvPr/>
        </p:nvSpPr>
        <p:spPr>
          <a:xfrm>
            <a:off x="411480" y="3502152"/>
            <a:ext cx="406908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9" name="Google Shape;1559;p58"/>
          <p:cNvSpPr txBox="1"/>
          <p:nvPr/>
        </p:nvSpPr>
        <p:spPr>
          <a:xfrm>
            <a:off x="594360" y="3575304"/>
            <a:ext cx="36576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CUSTOMER MESSAGE</a:t>
            </a:r>
            <a:endParaRPr b="0" i="0" spc="0" sz="1400" u="none" cap="none" strike="noStrike">
              <a:solidFill>
                <a:srgbClr val="000000"/>
              </a:solidFill>
              <a:latin typeface="Arial"/>
              <a:ea typeface="Arial"/>
              <a:cs typeface="Arial"/>
              <a:sym typeface="Arial"/>
            </a:endParaRPr>
          </a:p>
        </p:txBody>
      </p:sp>
      <p:sp>
        <p:nvSpPr>
          <p:cNvPr id="1560" name="Google Shape;1560;p58"/>
          <p:cNvSpPr/>
          <p:nvPr/>
        </p:nvSpPr>
        <p:spPr>
          <a:xfrm>
            <a:off x="594360" y="3776472"/>
            <a:ext cx="3703320" cy="566928"/>
          </a:xfrm>
          <a:prstGeom prst="roundRect">
            <a:avLst>
              <a:gd fmla="val 15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1" name="Google Shape;1561;p58"/>
          <p:cNvSpPr txBox="1"/>
          <p:nvPr/>
        </p:nvSpPr>
        <p:spPr>
          <a:xfrm>
            <a:off x="731520" y="3776472"/>
            <a:ext cx="3429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rgbClr val="1D1D1F"/>
                </a:solidFill>
                <a:latin typeface="Arial"/>
                <a:ea typeface="Arial"/>
                <a:cs typeface="Arial"/>
                <a:sym typeface="Arial"/>
              </a:rPr>
              <a:t>“Can you make sure I’m scheduled for Nov 15, 1PM cleaning?”</a:t>
            </a:r>
            <a:endParaRPr b="0" i="0" spc="0" sz="1400" u="none" cap="none" strike="noStrike">
              <a:solidFill>
                <a:srgbClr val="000000"/>
              </a:solidFill>
              <a:latin typeface="Arial"/>
              <a:ea typeface="Arial"/>
              <a:cs typeface="Arial"/>
              <a:sym typeface="Arial"/>
            </a:endParaRPr>
          </a:p>
        </p:txBody>
      </p:sp>
      <p:sp>
        <p:nvSpPr>
          <p:cNvPr id="1562" name="Google Shape;1562;p58"/>
          <p:cNvSpPr txBox="1"/>
          <p:nvPr/>
        </p:nvSpPr>
        <p:spPr>
          <a:xfrm>
            <a:off x="594360" y="4379976"/>
            <a:ext cx="370332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Then compare it with the sample.</a:t>
            </a:r>
            <a:endParaRPr b="0" i="0" spc="0" sz="1400" u="none" cap="none" strike="noStrike">
              <a:solidFill>
                <a:srgbClr val="000000"/>
              </a:solidFill>
              <a:latin typeface="Arial"/>
              <a:ea typeface="Arial"/>
              <a:cs typeface="Arial"/>
              <a:sym typeface="Arial"/>
            </a:endParaRPr>
          </a:p>
        </p:txBody>
      </p:sp>
      <p:sp>
        <p:nvSpPr>
          <p:cNvPr id="1563" name="Google Shape;1563;p58"/>
          <p:cNvSpPr/>
          <p:nvPr/>
        </p:nvSpPr>
        <p:spPr>
          <a:xfrm>
            <a:off x="4617720" y="3502152"/>
            <a:ext cx="4114800" cy="1188720"/>
          </a:xfrm>
          <a:prstGeom prst="roundRect">
            <a:avLst>
              <a:gd fmla="val 8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4" name="Google Shape;1564;p58"/>
          <p:cNvSpPr/>
          <p:nvPr/>
        </p:nvSpPr>
        <p:spPr>
          <a:xfrm>
            <a:off x="5532120" y="3922776"/>
            <a:ext cx="228600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565" name="Google Shape;1565;p58"/>
          <p:cNvSpPr/>
          <p:nvPr/>
        </p:nvSpPr>
        <p:spPr>
          <a:xfrm>
            <a:off x="4617720" y="3502152"/>
            <a:ext cx="4114800" cy="118872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6" name="Google Shape;1566;p58"/>
          <p:cNvSpPr txBox="1"/>
          <p:nvPr/>
        </p:nvSpPr>
        <p:spPr>
          <a:xfrm>
            <a:off x="4800600" y="3575304"/>
            <a:ext cx="3749039" cy="10789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I’ve got you! You’re all set for Nov 15 at 1PM.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Just a quick reminder, your voucher comes with a membership which will start once it’s used.</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65"/>
                                        </p:tgtEl>
                                        <p:attrNameLst>
                                          <p:attrName>style.visibility</p:attrName>
                                        </p:attrNameLst>
                                      </p:cBhvr>
                                      <p:to>
                                        <p:strVal val="visible"/>
                                      </p:to>
                                    </p:set>
                                    <p:animEffect filter="fade" transition="in">
                                      <p:cBhvr>
                                        <p:cTn dur="600"/>
                                        <p:tgtEl>
                                          <p:spTgt spid="1565"/>
                                        </p:tgtEl>
                                      </p:cBhvr>
                                    </p:animEffect>
                                  </p:childTnLst>
                                </p:cTn>
                              </p:par>
                              <p:par>
                                <p:cTn fill="hold" nodeType="withEffect" presetClass="entr" presetID="10" presetSubtype="0">
                                  <p:stCondLst>
                                    <p:cond delay="0"/>
                                  </p:stCondLst>
                                  <p:childTnLst>
                                    <p:set>
                                      <p:cBhvr>
                                        <p:cTn dur="1" fill="hold">
                                          <p:stCondLst>
                                            <p:cond delay="0"/>
                                          </p:stCondLst>
                                        </p:cTn>
                                        <p:tgtEl>
                                          <p:spTgt spid="1566"/>
                                        </p:tgtEl>
                                        <p:attrNameLst>
                                          <p:attrName>style.visibility</p:attrName>
                                        </p:attrNameLst>
                                      </p:cBhvr>
                                      <p:to>
                                        <p:strVal val="visible"/>
                                      </p:to>
                                    </p:set>
                                    <p:animEffect filter="fade" transition="in">
                                      <p:cBhvr>
                                        <p:cTn dur="600"/>
                                        <p:tgtEl>
                                          <p:spTgt spid="156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1" name="Shape 1571"/>
        <p:cNvGrpSpPr/>
        <p:nvPr/>
      </p:nvGrpSpPr>
      <p:grpSpPr>
        <a:xfrm>
          <a:off x="0" y="0"/>
          <a:ext cx="0" cy="0"/>
          <a:chOff x="0" y="0"/>
          <a:chExt cx="0" cy="0"/>
        </a:xfrm>
      </p:grpSpPr>
      <p:sp>
        <p:nvSpPr>
          <p:cNvPr id="1572" name="Google Shape;1572;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73" name="Google Shape;1573;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Refund or cancel intent</a:t>
            </a:r>
            <a:endParaRPr b="0" i="0" spc="0" sz="2400" u="none" cap="none" strike="noStrike">
              <a:solidFill>
                <a:schemeClr val="dk1"/>
              </a:solidFill>
              <a:latin typeface="Calibri"/>
              <a:ea typeface="Calibri"/>
              <a:cs typeface="Calibri"/>
              <a:sym typeface="Calibri"/>
            </a:endParaRPr>
          </a:p>
        </p:txBody>
      </p:sp>
      <p:sp>
        <p:nvSpPr>
          <p:cNvPr id="1574" name="Google Shape;1574;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first, then follow the reason.</a:t>
            </a:r>
            <a:endParaRPr b="0" i="0" spc="0" sz="1200" u="none" cap="none" strike="noStrike">
              <a:solidFill>
                <a:schemeClr val="dk1"/>
              </a:solidFill>
              <a:latin typeface="Calibri"/>
              <a:ea typeface="Calibri"/>
              <a:cs typeface="Calibri"/>
              <a:sym typeface="Calibri"/>
            </a:endParaRPr>
          </a:p>
        </p:txBody>
      </p:sp>
      <p:sp>
        <p:nvSpPr>
          <p:cNvPr id="1575" name="Google Shape;1575;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76" name="Google Shape;1576;p59"/>
          <p:cNvSpPr/>
          <p:nvPr/>
        </p:nvSpPr>
        <p:spPr>
          <a:xfrm>
            <a:off x="2331720" y="1298448"/>
            <a:ext cx="3749039" cy="438912"/>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Acknowledge the request. Did the C provide a reason?</a:t>
            </a:r>
            <a:endParaRPr b="0" i="0" spc="0" sz="1400" u="none" cap="none" strike="noStrike">
              <a:solidFill>
                <a:srgbClr val="000000"/>
              </a:solidFill>
              <a:latin typeface="Arial"/>
              <a:ea typeface="Arial"/>
              <a:cs typeface="Arial"/>
              <a:sym typeface="Arial"/>
            </a:endParaRPr>
          </a:p>
        </p:txBody>
      </p:sp>
      <p:cxnSp>
        <p:nvCxnSpPr>
          <p:cNvPr id="1577" name="Google Shape;1577;p59"/>
          <p:cNvCxnSpPr/>
          <p:nvPr/>
        </p:nvCxnSpPr>
        <p:spPr>
          <a:xfrm>
            <a:off x="6080760" y="1517904"/>
            <a:ext cx="685800" cy="0"/>
          </a:xfrm>
          <a:prstGeom prst="straightConnector1">
            <a:avLst/>
          </a:prstGeom>
          <a:noFill/>
          <a:ln cap="flat" cmpd="sng" w="12700">
            <a:solidFill>
              <a:srgbClr val="6E6E73"/>
            </a:solidFill>
            <a:prstDash val="solid"/>
            <a:round/>
            <a:headEnd len="sm" w="sm" type="none"/>
            <a:tailEnd len="med" w="med" type="triangle"/>
          </a:ln>
        </p:spPr>
      </p:cxnSp>
      <p:sp>
        <p:nvSpPr>
          <p:cNvPr id="1578" name="Google Shape;1578;p59"/>
          <p:cNvSpPr txBox="1"/>
          <p:nvPr/>
        </p:nvSpPr>
        <p:spPr>
          <a:xfrm>
            <a:off x="6199632" y="1316736"/>
            <a:ext cx="4572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1579" name="Google Shape;1579;p59"/>
          <p:cNvSpPr/>
          <p:nvPr/>
        </p:nvSpPr>
        <p:spPr>
          <a:xfrm>
            <a:off x="6766560" y="1280160"/>
            <a:ext cx="1965960" cy="749808"/>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Probe for the reason</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Unsubscribe if C has a cancel intent only </a:t>
            </a:r>
            <a:r>
              <a:rPr b="1" i="0" lang="en-US" spc="0" sz="850" u="none" cap="none" strike="noStrike">
                <a:solidFill>
                  <a:srgbClr val="0B7A6F"/>
                </a:solidFill>
                <a:latin typeface="Arial"/>
                <a:ea typeface="Arial"/>
                <a:cs typeface="Arial"/>
                <a:sym typeface="Arial"/>
              </a:rPr>
              <a:t>Watch ▷</a:t>
            </a:r>
            <a:r>
              <a:rPr b="0" i="0" lang="en-US" spc="0" sz="850" u="none" cap="none" strike="noStrike">
                <a:solidFill>
                  <a:srgbClr val="1D1D1F"/>
                </a:solidFill>
                <a:latin typeface="Arial"/>
                <a:ea typeface="Arial"/>
                <a:cs typeface="Arial"/>
                <a:sym typeface="Arial"/>
              </a:rPr>
              <a:t> </a:t>
            </a:r>
            <a:endParaRPr b="0" i="0" spc="0" sz="1400" u="none" cap="none" strike="noStrike">
              <a:solidFill>
                <a:srgbClr val="000000"/>
              </a:solidFill>
              <a:latin typeface="Arial"/>
              <a:ea typeface="Arial"/>
              <a:cs typeface="Arial"/>
              <a:sym typeface="Arial"/>
            </a:endParaRPr>
          </a:p>
        </p:txBody>
      </p:sp>
      <p:cxnSp>
        <p:nvCxnSpPr>
          <p:cNvPr id="1580" name="Google Shape;1580;p59"/>
          <p:cNvCxnSpPr/>
          <p:nvPr/>
        </p:nvCxnSpPr>
        <p:spPr>
          <a:xfrm>
            <a:off x="4206240" y="1737360"/>
            <a:ext cx="0" cy="164592"/>
          </a:xfrm>
          <a:prstGeom prst="straightConnector1">
            <a:avLst/>
          </a:prstGeom>
          <a:noFill/>
          <a:ln cap="flat" cmpd="sng" w="12700">
            <a:solidFill>
              <a:srgbClr val="6E6E73"/>
            </a:solidFill>
            <a:prstDash val="solid"/>
            <a:round/>
            <a:headEnd len="sm" w="sm" type="none"/>
            <a:tailEnd len="sm" w="sm" type="none"/>
          </a:ln>
        </p:spPr>
      </p:cxnSp>
      <p:cxnSp>
        <p:nvCxnSpPr>
          <p:cNvPr id="1581" name="Google Shape;1581;p59"/>
          <p:cNvCxnSpPr/>
          <p:nvPr/>
        </p:nvCxnSpPr>
        <p:spPr>
          <a:xfrm>
            <a:off x="1554480" y="1901952"/>
            <a:ext cx="3291840" cy="0"/>
          </a:xfrm>
          <a:prstGeom prst="straightConnector1">
            <a:avLst/>
          </a:prstGeom>
          <a:noFill/>
          <a:ln cap="flat" cmpd="sng" w="12700">
            <a:solidFill>
              <a:srgbClr val="6E6E73"/>
            </a:solidFill>
            <a:prstDash val="solid"/>
            <a:round/>
            <a:headEnd len="sm" w="sm" type="none"/>
            <a:tailEnd len="sm" w="sm" type="none"/>
          </a:ln>
        </p:spPr>
      </p:cxnSp>
      <p:cxnSp>
        <p:nvCxnSpPr>
          <p:cNvPr id="1582" name="Google Shape;1582;p59"/>
          <p:cNvCxnSpPr/>
          <p:nvPr/>
        </p:nvCxnSpPr>
        <p:spPr>
          <a:xfrm>
            <a:off x="1554480" y="1901952"/>
            <a:ext cx="0" cy="164591"/>
          </a:xfrm>
          <a:prstGeom prst="straightConnector1">
            <a:avLst/>
          </a:prstGeom>
          <a:noFill/>
          <a:ln cap="flat" cmpd="sng" w="12700">
            <a:solidFill>
              <a:srgbClr val="6E6E73"/>
            </a:solidFill>
            <a:prstDash val="solid"/>
            <a:round/>
            <a:headEnd len="sm" w="sm" type="none"/>
            <a:tailEnd len="med" w="med" type="triangle"/>
          </a:ln>
        </p:spPr>
      </p:cxnSp>
      <p:cxnSp>
        <p:nvCxnSpPr>
          <p:cNvPr id="1583" name="Google Shape;1583;p59"/>
          <p:cNvCxnSpPr/>
          <p:nvPr/>
        </p:nvCxnSpPr>
        <p:spPr>
          <a:xfrm>
            <a:off x="4846320" y="1901952"/>
            <a:ext cx="0" cy="164591"/>
          </a:xfrm>
          <a:prstGeom prst="straightConnector1">
            <a:avLst/>
          </a:prstGeom>
          <a:noFill/>
          <a:ln cap="flat" cmpd="sng" w="12700">
            <a:solidFill>
              <a:srgbClr val="6E6E73"/>
            </a:solidFill>
            <a:prstDash val="solid"/>
            <a:round/>
            <a:headEnd len="sm" w="sm" type="none"/>
            <a:tailEnd len="med" w="med" type="triangle"/>
          </a:ln>
        </p:spPr>
      </p:cxnSp>
      <p:sp>
        <p:nvSpPr>
          <p:cNvPr id="1584" name="Google Shape;1584;p59"/>
          <p:cNvSpPr txBox="1"/>
          <p:nvPr/>
        </p:nvSpPr>
        <p:spPr>
          <a:xfrm>
            <a:off x="4279392" y="1755648"/>
            <a:ext cx="457200" cy="14630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1585" name="Google Shape;1585;p59"/>
          <p:cNvSpPr/>
          <p:nvPr/>
        </p:nvSpPr>
        <p:spPr>
          <a:xfrm>
            <a:off x="411480" y="2066543"/>
            <a:ext cx="2286000" cy="347472"/>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Service</a:t>
            </a:r>
            <a:r>
              <a:rPr b="0" i="0" lang="en-US" spc="0" sz="850" u="none" cap="none" strike="noStrike">
                <a:solidFill>
                  <a:srgbClr val="FFFFFF"/>
                </a:solidFill>
                <a:latin typeface="Arial"/>
                <a:ea typeface="Arial"/>
                <a:cs typeface="Arial"/>
                <a:sym typeface="Arial"/>
              </a:rPr>
              <a:t>   address the actual issue</a:t>
            </a:r>
            <a:endParaRPr b="0" i="0" spc="0" sz="1400" u="none" cap="none" strike="noStrike">
              <a:solidFill>
                <a:srgbClr val="000000"/>
              </a:solidFill>
              <a:latin typeface="Arial"/>
              <a:ea typeface="Arial"/>
              <a:cs typeface="Arial"/>
              <a:sym typeface="Arial"/>
            </a:endParaRPr>
          </a:p>
        </p:txBody>
      </p:sp>
      <p:sp>
        <p:nvSpPr>
          <p:cNvPr id="1586" name="Google Shape;1586;p59"/>
          <p:cNvSpPr/>
          <p:nvPr/>
        </p:nvSpPr>
        <p:spPr>
          <a:xfrm>
            <a:off x="411480" y="2468880"/>
            <a:ext cx="2286000" cy="14447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7" name="Google Shape;1587;p59"/>
          <p:cNvSpPr/>
          <p:nvPr/>
        </p:nvSpPr>
        <p:spPr>
          <a:xfrm>
            <a:off x="2834640" y="2066543"/>
            <a:ext cx="4023360" cy="347472"/>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Membership</a:t>
            </a:r>
            <a:r>
              <a:rPr b="0" i="0" lang="en-US" spc="0" sz="850" u="none" cap="none" strike="noStrike">
                <a:solidFill>
                  <a:srgbClr val="FFFFFF"/>
                </a:solidFill>
                <a:latin typeface="Arial"/>
                <a:ea typeface="Arial"/>
                <a:cs typeface="Arial"/>
                <a:sym typeface="Arial"/>
              </a:rPr>
              <a:t>   membership-terms objection</a:t>
            </a:r>
            <a:endParaRPr b="0" i="0" spc="0" sz="1400" u="none" cap="none" strike="noStrike">
              <a:solidFill>
                <a:srgbClr val="000000"/>
              </a:solidFill>
              <a:latin typeface="Arial"/>
              <a:ea typeface="Arial"/>
              <a:cs typeface="Arial"/>
              <a:sym typeface="Arial"/>
            </a:endParaRPr>
          </a:p>
        </p:txBody>
      </p:sp>
      <p:sp>
        <p:nvSpPr>
          <p:cNvPr id="1588" name="Google Shape;1588;p59"/>
          <p:cNvSpPr/>
          <p:nvPr/>
        </p:nvSpPr>
        <p:spPr>
          <a:xfrm>
            <a:off x="2834640" y="2468880"/>
            <a:ext cx="4023360" cy="1444752"/>
          </a:xfrm>
          <a:prstGeom prst="roundRect">
            <a:avLst>
              <a:gd fmla="val 8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9" name="Google Shape;1589;p59"/>
          <p:cNvSpPr txBox="1"/>
          <p:nvPr/>
        </p:nvSpPr>
        <p:spPr>
          <a:xfrm>
            <a:off x="548640" y="2542032"/>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Service-related issues</a:t>
            </a:r>
            <a:r>
              <a:rPr b="0" i="0" lang="en-US" spc="0" sz="800" u="none" cap="none" strike="noStrike">
                <a:solidFill>
                  <a:srgbClr val="6E6E73"/>
                </a:solidFill>
                <a:latin typeface="Arial"/>
                <a:ea typeface="Arial"/>
                <a:cs typeface="Arial"/>
                <a:sym typeface="Arial"/>
              </a:rPr>
              <a:t>  (CP no-show, CP cancellation, no CP claim)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Offer $10–$25 credits</a:t>
            </a:r>
            <a:endParaRPr b="0" i="0" spc="0" sz="1400" u="none" cap="none" strike="noStrike">
              <a:solidFill>
                <a:srgbClr val="000000"/>
              </a:solidFill>
              <a:latin typeface="Arial"/>
              <a:ea typeface="Arial"/>
              <a:cs typeface="Arial"/>
              <a:sym typeface="Arial"/>
            </a:endParaRPr>
          </a:p>
        </p:txBody>
      </p:sp>
      <p:sp>
        <p:nvSpPr>
          <p:cNvPr id="1590" name="Google Shape;1590;p59"/>
          <p:cNvSpPr txBox="1"/>
          <p:nvPr/>
        </p:nvSpPr>
        <p:spPr>
          <a:xfrm>
            <a:off x="548640" y="3200400"/>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Service limitations / personal</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No offers necessary</a:t>
            </a:r>
            <a:endParaRPr b="0" i="0" spc="0" sz="1400" u="none" cap="none" strike="noStrike">
              <a:solidFill>
                <a:srgbClr val="000000"/>
              </a:solidFill>
              <a:latin typeface="Arial"/>
              <a:ea typeface="Arial"/>
              <a:cs typeface="Arial"/>
              <a:sym typeface="Arial"/>
            </a:endParaRPr>
          </a:p>
        </p:txBody>
      </p:sp>
      <p:sp>
        <p:nvSpPr>
          <p:cNvPr id="1591" name="Google Shape;1591;p59"/>
          <p:cNvSpPr txBox="1"/>
          <p:nvPr/>
        </p:nvSpPr>
        <p:spPr>
          <a:xfrm>
            <a:off x="2971800" y="2523744"/>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MF expensive</a:t>
            </a:r>
            <a:r>
              <a:rPr b="0" i="0" lang="en-US" spc="0" sz="900" u="none" cap="none" strike="noStrike">
                <a:solidFill>
                  <a:srgbClr val="1D1D1F"/>
                </a:solidFill>
                <a:latin typeface="Arial"/>
                <a:ea typeface="Arial"/>
                <a:cs typeface="Arial"/>
                <a:sym typeface="Arial"/>
              </a:rPr>
              <a:t>  → reduce by $10–$15 off the original amount</a:t>
            </a:r>
            <a:endParaRPr b="0" i="0" spc="0" sz="1400" u="none" cap="none" strike="noStrike">
              <a:solidFill>
                <a:srgbClr val="000000"/>
              </a:solidFill>
              <a:latin typeface="Arial"/>
              <a:ea typeface="Arial"/>
              <a:cs typeface="Arial"/>
              <a:sym typeface="Arial"/>
            </a:endParaRPr>
          </a:p>
        </p:txBody>
      </p:sp>
      <p:sp>
        <p:nvSpPr>
          <p:cNvPr id="1592" name="Google Shape;1592;p59"/>
          <p:cNvSpPr txBox="1"/>
          <p:nvPr/>
        </p:nvSpPr>
        <p:spPr>
          <a:xfrm>
            <a:off x="2971800" y="2788920"/>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MCT too long</a:t>
            </a:r>
            <a:r>
              <a:rPr b="0" i="0" lang="en-US" spc="0" sz="900" u="none" cap="none" strike="noStrike">
                <a:solidFill>
                  <a:srgbClr val="1D1D1F"/>
                </a:solidFill>
                <a:latin typeface="Arial"/>
                <a:ea typeface="Arial"/>
                <a:cs typeface="Arial"/>
                <a:sym typeface="Arial"/>
              </a:rPr>
              <a:t>  → reduce by 2 months from the original MCT</a:t>
            </a:r>
            <a:endParaRPr b="0" i="0" spc="0" sz="1400" u="none" cap="none" strike="noStrike">
              <a:solidFill>
                <a:srgbClr val="000000"/>
              </a:solidFill>
              <a:latin typeface="Arial"/>
              <a:ea typeface="Arial"/>
              <a:cs typeface="Arial"/>
              <a:sym typeface="Arial"/>
            </a:endParaRPr>
          </a:p>
        </p:txBody>
      </p:sp>
      <p:sp>
        <p:nvSpPr>
          <p:cNvPr id="1593" name="Google Shape;1593;p59"/>
          <p:cNvSpPr txBox="1"/>
          <p:nvPr/>
        </p:nvSpPr>
        <p:spPr>
          <a:xfrm>
            <a:off x="2971800" y="3054096"/>
            <a:ext cx="3794760" cy="3657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Doesn’t want a membership</a:t>
            </a:r>
            <a:r>
              <a:rPr b="0" i="0" lang="en-US" spc="0" sz="900" u="none" cap="none" strike="noStrike">
                <a:solidFill>
                  <a:srgbClr val="1D1D1F"/>
                </a:solidFill>
                <a:latin typeface="Arial"/>
                <a:ea typeface="Arial"/>
                <a:cs typeface="Arial"/>
                <a:sym typeface="Arial"/>
              </a:rPr>
              <a:t>  → no offers; advise them to contact us for more flexible terms. OTC can be offered</a:t>
            </a:r>
            <a:endParaRPr b="0" i="0" spc="0" sz="1400" u="none" cap="none" strike="noStrike">
              <a:solidFill>
                <a:srgbClr val="000000"/>
              </a:solidFill>
              <a:latin typeface="Arial"/>
              <a:ea typeface="Arial"/>
              <a:cs typeface="Arial"/>
              <a:sym typeface="Arial"/>
            </a:endParaRPr>
          </a:p>
        </p:txBody>
      </p:sp>
      <p:sp>
        <p:nvSpPr>
          <p:cNvPr id="1594" name="Google Shape;1594;p59"/>
          <p:cNvSpPr txBox="1"/>
          <p:nvPr/>
        </p:nvSpPr>
        <p:spPr>
          <a:xfrm>
            <a:off x="2971800" y="3438144"/>
            <a:ext cx="37947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OTC</a:t>
            </a:r>
            <a:r>
              <a:rPr b="0" i="0" lang="en-US" spc="0" sz="900" u="none" cap="none" strike="noStrike">
                <a:solidFill>
                  <a:srgbClr val="1D1D1F"/>
                </a:solidFill>
                <a:latin typeface="Arial"/>
                <a:ea typeface="Arial"/>
                <a:cs typeface="Arial"/>
                <a:sym typeface="Arial"/>
              </a:rPr>
              <a:t> (One time cleaning) → full price, charged upfront</a:t>
            </a:r>
            <a:endParaRPr b="0" i="0" spc="0" sz="1400" u="none" cap="none" strike="noStrike">
              <a:solidFill>
                <a:srgbClr val="000000"/>
              </a:solidFill>
              <a:latin typeface="Arial"/>
              <a:ea typeface="Arial"/>
              <a:cs typeface="Arial"/>
              <a:sym typeface="Arial"/>
            </a:endParaRPr>
          </a:p>
        </p:txBody>
      </p:sp>
      <p:sp>
        <p:nvSpPr>
          <p:cNvPr id="1595" name="Google Shape;1595;p59"/>
          <p:cNvSpPr txBox="1"/>
          <p:nvPr/>
        </p:nvSpPr>
        <p:spPr>
          <a:xfrm>
            <a:off x="2971800" y="3703320"/>
            <a:ext cx="37947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TC</a:t>
            </a:r>
            <a:r>
              <a:rPr b="0" i="0" lang="en-US" spc="0" sz="900" u="none" cap="none" strike="noStrike">
                <a:solidFill>
                  <a:srgbClr val="1D1D1F"/>
                </a:solidFill>
                <a:latin typeface="Arial"/>
                <a:ea typeface="Arial"/>
                <a:cs typeface="Arial"/>
                <a:sym typeface="Arial"/>
              </a:rPr>
              <a:t> (Trial Cleaning) → regular price, charged upfront</a:t>
            </a:r>
            <a:endParaRPr b="0" i="0" spc="0" sz="1400" u="none" cap="none" strike="noStrike">
              <a:solidFill>
                <a:srgbClr val="000000"/>
              </a:solidFill>
              <a:latin typeface="Arial"/>
              <a:ea typeface="Arial"/>
              <a:cs typeface="Arial"/>
              <a:sym typeface="Arial"/>
            </a:endParaRPr>
          </a:p>
        </p:txBody>
      </p:sp>
      <p:cxnSp>
        <p:nvCxnSpPr>
          <p:cNvPr id="1596" name="Google Shape;1596;p59"/>
          <p:cNvCxnSpPr/>
          <p:nvPr/>
        </p:nvCxnSpPr>
        <p:spPr>
          <a:xfrm>
            <a:off x="155448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7" name="Google Shape;1597;p59"/>
          <p:cNvCxnSpPr/>
          <p:nvPr/>
        </p:nvCxnSpPr>
        <p:spPr>
          <a:xfrm>
            <a:off x="484632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8" name="Google Shape;1598;p59"/>
          <p:cNvCxnSpPr/>
          <p:nvPr/>
        </p:nvCxnSpPr>
        <p:spPr>
          <a:xfrm>
            <a:off x="7744968" y="2029968"/>
            <a:ext cx="0" cy="2011680"/>
          </a:xfrm>
          <a:prstGeom prst="straightConnector1">
            <a:avLst/>
          </a:prstGeom>
          <a:noFill/>
          <a:ln cap="flat" cmpd="sng" w="12700">
            <a:solidFill>
              <a:srgbClr val="6E6E73"/>
            </a:solidFill>
            <a:prstDash val="solid"/>
            <a:round/>
            <a:headEnd len="sm" w="sm" type="none"/>
            <a:tailEnd len="med" w="med" type="triangle"/>
          </a:ln>
        </p:spPr>
      </p:cxnSp>
      <p:sp>
        <p:nvSpPr>
          <p:cNvPr id="1599" name="Google Shape;1599;p59"/>
          <p:cNvSpPr/>
          <p:nvPr/>
        </p:nvSpPr>
        <p:spPr>
          <a:xfrm>
            <a:off x="411480" y="4041648"/>
            <a:ext cx="8321040" cy="64008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0" lIns="228600" spcFirstLastPara="1" rIns="22860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Remind them the voucher comes with a membership and is valid for 1 year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Cancel RC and upcoming appointments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Provide the self-refund link </a:t>
            </a:r>
            <a:r>
              <a:rPr b="1" i="0" lang="en-US" spc="0" sz="900" u="none" cap="none" strike="noStrike">
                <a:solidFill>
                  <a:srgbClr val="9A6410"/>
                </a:solidFill>
                <a:latin typeface="Play"/>
                <a:ea typeface="Play"/>
                <a:cs typeface="Play"/>
                <a:sym typeface="Play"/>
              </a:rPr>
              <a:t>(refund intent only)</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89"/>
                                        </p:tgtEl>
                                        <p:attrNameLst>
                                          <p:attrName>style.visibility</p:attrName>
                                        </p:attrNameLst>
                                      </p:cBhvr>
                                      <p:to>
                                        <p:strVal val="visible"/>
                                      </p:to>
                                    </p:set>
                                    <p:animEffect filter="fade" transition="in">
                                      <p:cBhvr>
                                        <p:cTn dur="600"/>
                                        <p:tgtEl>
                                          <p:spTgt spid="15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0"/>
                                        </p:tgtEl>
                                        <p:attrNameLst>
                                          <p:attrName>style.visibility</p:attrName>
                                        </p:attrNameLst>
                                      </p:cBhvr>
                                      <p:to>
                                        <p:strVal val="visible"/>
                                      </p:to>
                                    </p:set>
                                    <p:animEffect filter="fade" transition="in">
                                      <p:cBhvr>
                                        <p:cTn dur="600"/>
                                        <p:tgtEl>
                                          <p:spTgt spid="159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1"/>
                                        </p:tgtEl>
                                        <p:attrNameLst>
                                          <p:attrName>style.visibility</p:attrName>
                                        </p:attrNameLst>
                                      </p:cBhvr>
                                      <p:to>
                                        <p:strVal val="visible"/>
                                      </p:to>
                                    </p:set>
                                    <p:animEffect filter="fade" transition="in">
                                      <p:cBhvr>
                                        <p:cTn dur="600"/>
                                        <p:tgtEl>
                                          <p:spTgt spid="159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2"/>
                                        </p:tgtEl>
                                        <p:attrNameLst>
                                          <p:attrName>style.visibility</p:attrName>
                                        </p:attrNameLst>
                                      </p:cBhvr>
                                      <p:to>
                                        <p:strVal val="visible"/>
                                      </p:to>
                                    </p:set>
                                    <p:animEffect filter="fade" transition="in">
                                      <p:cBhvr>
                                        <p:cTn dur="600"/>
                                        <p:tgtEl>
                                          <p:spTgt spid="15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3"/>
                                        </p:tgtEl>
                                        <p:attrNameLst>
                                          <p:attrName>style.visibility</p:attrName>
                                        </p:attrNameLst>
                                      </p:cBhvr>
                                      <p:to>
                                        <p:strVal val="visible"/>
                                      </p:to>
                                    </p:set>
                                    <p:animEffect filter="fade" transition="in">
                                      <p:cBhvr>
                                        <p:cTn dur="600"/>
                                        <p:tgtEl>
                                          <p:spTgt spid="15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4"/>
                                        </p:tgtEl>
                                        <p:attrNameLst>
                                          <p:attrName>style.visibility</p:attrName>
                                        </p:attrNameLst>
                                      </p:cBhvr>
                                      <p:to>
                                        <p:strVal val="visible"/>
                                      </p:to>
                                    </p:set>
                                    <p:animEffect filter="fade" transition="in">
                                      <p:cBhvr>
                                        <p:cTn dur="600"/>
                                        <p:tgtEl>
                                          <p:spTgt spid="159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5"/>
                                        </p:tgtEl>
                                        <p:attrNameLst>
                                          <p:attrName>style.visibility</p:attrName>
                                        </p:attrNameLst>
                                      </p:cBhvr>
                                      <p:to>
                                        <p:strVal val="visible"/>
                                      </p:to>
                                    </p:set>
                                    <p:animEffect filter="fade" transition="in">
                                      <p:cBhvr>
                                        <p:cTn dur="600"/>
                                        <p:tgtEl>
                                          <p:spTgt spid="159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4" name="Shape 1604"/>
        <p:cNvGrpSpPr/>
        <p:nvPr/>
      </p:nvGrpSpPr>
      <p:grpSpPr>
        <a:xfrm>
          <a:off x="0" y="0"/>
          <a:ext cx="0" cy="0"/>
          <a:chOff x="0" y="0"/>
          <a:chExt cx="0" cy="0"/>
        </a:xfrm>
      </p:grpSpPr>
      <p:sp>
        <p:nvSpPr>
          <p:cNvPr id="1605" name="Google Shape;1605;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06" name="Google Shape;1606;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Scenario challenge</a:t>
            </a:r>
            <a:endParaRPr b="0" i="0" spc="0" sz="2400" u="none" cap="none" strike="noStrike">
              <a:solidFill>
                <a:schemeClr val="dk1"/>
              </a:solidFill>
              <a:latin typeface="Calibri"/>
              <a:ea typeface="Calibri"/>
              <a:cs typeface="Calibri"/>
              <a:sym typeface="Calibri"/>
            </a:endParaRPr>
          </a:p>
        </p:txBody>
      </p:sp>
      <p:sp>
        <p:nvSpPr>
          <p:cNvPr id="1607" name="Google Shape;1607;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customer’s message. How would you respond?</a:t>
            </a:r>
            <a:endParaRPr b="0" i="0" spc="0" sz="1200" u="none" cap="none" strike="noStrike">
              <a:solidFill>
                <a:schemeClr val="dk1"/>
              </a:solidFill>
              <a:latin typeface="Calibri"/>
              <a:ea typeface="Calibri"/>
              <a:cs typeface="Calibri"/>
              <a:sym typeface="Calibri"/>
            </a:endParaRPr>
          </a:p>
        </p:txBody>
      </p:sp>
      <p:sp>
        <p:nvSpPr>
          <p:cNvPr id="1608" name="Google Shape;1608;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609" name="Google Shape;1609;p60"/>
          <p:cNvSpPr txBox="1"/>
          <p:nvPr/>
        </p:nvSpPr>
        <p:spPr>
          <a:xfrm>
            <a:off x="411480" y="1280160"/>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1</a:t>
            </a:r>
            <a:endParaRPr b="0" i="0" spc="0" sz="1400" u="none" cap="none" strike="noStrike">
              <a:solidFill>
                <a:srgbClr val="000000"/>
              </a:solidFill>
              <a:latin typeface="Arial"/>
              <a:ea typeface="Arial"/>
              <a:cs typeface="Arial"/>
              <a:sym typeface="Arial"/>
            </a:endParaRPr>
          </a:p>
        </p:txBody>
      </p:sp>
      <p:sp>
        <p:nvSpPr>
          <p:cNvPr id="1610" name="Google Shape;1610;p60"/>
          <p:cNvSpPr/>
          <p:nvPr/>
        </p:nvSpPr>
        <p:spPr>
          <a:xfrm>
            <a:off x="411480" y="1481328"/>
            <a:ext cx="4069080" cy="640080"/>
          </a:xfrm>
          <a:prstGeom prst="roundRect">
            <a:avLst>
              <a:gd fmla="val 12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1" name="Google Shape;1611;p60"/>
          <p:cNvSpPr txBox="1"/>
          <p:nvPr/>
        </p:nvSpPr>
        <p:spPr>
          <a:xfrm>
            <a:off x="548640" y="1481328"/>
            <a:ext cx="3794760" cy="6400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 don’t want to use your service. Give me my money back!”</a:t>
            </a:r>
            <a:endParaRPr b="0" i="0" spc="0" sz="1400" u="none" cap="none" strike="noStrike">
              <a:solidFill>
                <a:srgbClr val="000000"/>
              </a:solidFill>
              <a:latin typeface="Arial"/>
              <a:ea typeface="Arial"/>
              <a:cs typeface="Arial"/>
              <a:sym typeface="Arial"/>
            </a:endParaRPr>
          </a:p>
        </p:txBody>
      </p:sp>
      <p:sp>
        <p:nvSpPr>
          <p:cNvPr id="1612" name="Google Shape;1612;p60"/>
          <p:cNvSpPr/>
          <p:nvPr/>
        </p:nvSpPr>
        <p:spPr>
          <a:xfrm>
            <a:off x="411480" y="2231136"/>
            <a:ext cx="4069080" cy="246888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3" name="Google Shape;1613;p60"/>
          <p:cNvSpPr txBox="1"/>
          <p:nvPr/>
        </p:nvSpPr>
        <p:spPr>
          <a:xfrm>
            <a:off x="411480" y="292608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614" name="Google Shape;1614;p60"/>
          <p:cNvSpPr/>
          <p:nvPr/>
        </p:nvSpPr>
        <p:spPr>
          <a:xfrm>
            <a:off x="1394460" y="320040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615" name="Google Shape;1615;p60"/>
          <p:cNvSpPr/>
          <p:nvPr/>
        </p:nvSpPr>
        <p:spPr>
          <a:xfrm>
            <a:off x="411480" y="2231136"/>
            <a:ext cx="4069080" cy="246888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6" name="Google Shape;1616;p60"/>
          <p:cNvSpPr txBox="1"/>
          <p:nvPr/>
        </p:nvSpPr>
        <p:spPr>
          <a:xfrm>
            <a:off x="557784" y="2304288"/>
            <a:ext cx="3776472" cy="23408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Sorry to hear that! Would you mind sharing why? I’d be happy to see if there’s anything I can do that might work better for you.</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If now just isn’t the right time, your voucher is good for a year, so you can always use it later. Just a quick reminder, your voucher includes a 6-month membership which will start once it’s used. If you’d rather go ahead with the refund, you can use this link: &lt;refund link&gt;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Let me know what works best for you. I’m here to help!</a:t>
            </a:r>
            <a:endParaRPr b="0" i="0" spc="0" sz="1400" u="none" cap="none" strike="noStrike">
              <a:solidFill>
                <a:srgbClr val="000000"/>
              </a:solidFill>
              <a:latin typeface="Arial"/>
              <a:ea typeface="Arial"/>
              <a:cs typeface="Arial"/>
              <a:sym typeface="Arial"/>
            </a:endParaRPr>
          </a:p>
        </p:txBody>
      </p:sp>
      <p:sp>
        <p:nvSpPr>
          <p:cNvPr id="1617" name="Google Shape;1617;p60"/>
          <p:cNvSpPr txBox="1"/>
          <p:nvPr/>
        </p:nvSpPr>
        <p:spPr>
          <a:xfrm>
            <a:off x="4663440" y="1280160"/>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2</a:t>
            </a:r>
            <a:endParaRPr b="0" i="0" spc="0" sz="1400" u="none" cap="none" strike="noStrike">
              <a:solidFill>
                <a:srgbClr val="000000"/>
              </a:solidFill>
              <a:latin typeface="Arial"/>
              <a:ea typeface="Arial"/>
              <a:cs typeface="Arial"/>
              <a:sym typeface="Arial"/>
            </a:endParaRPr>
          </a:p>
        </p:txBody>
      </p:sp>
      <p:sp>
        <p:nvSpPr>
          <p:cNvPr id="1618" name="Google Shape;1618;p60"/>
          <p:cNvSpPr/>
          <p:nvPr/>
        </p:nvSpPr>
        <p:spPr>
          <a:xfrm>
            <a:off x="4663440" y="1481328"/>
            <a:ext cx="4069080" cy="640080"/>
          </a:xfrm>
          <a:prstGeom prst="roundRect">
            <a:avLst>
              <a:gd fmla="val 12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9" name="Google Shape;1619;p60"/>
          <p:cNvSpPr txBox="1"/>
          <p:nvPr/>
        </p:nvSpPr>
        <p:spPr>
          <a:xfrm>
            <a:off x="4800600" y="1481328"/>
            <a:ext cx="3794760" cy="6400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 can’t afford this membership. Please just cancel.”</a:t>
            </a:r>
            <a:endParaRPr b="0" i="0" spc="0" sz="1400" u="none" cap="none" strike="noStrike">
              <a:solidFill>
                <a:srgbClr val="000000"/>
              </a:solidFill>
              <a:latin typeface="Arial"/>
              <a:ea typeface="Arial"/>
              <a:cs typeface="Arial"/>
              <a:sym typeface="Arial"/>
            </a:endParaRPr>
          </a:p>
        </p:txBody>
      </p:sp>
      <p:sp>
        <p:nvSpPr>
          <p:cNvPr id="1620" name="Google Shape;1620;p60"/>
          <p:cNvSpPr/>
          <p:nvPr/>
        </p:nvSpPr>
        <p:spPr>
          <a:xfrm>
            <a:off x="4663440" y="2231136"/>
            <a:ext cx="4069080" cy="246888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1" name="Google Shape;1621;p60"/>
          <p:cNvSpPr txBox="1"/>
          <p:nvPr/>
        </p:nvSpPr>
        <p:spPr>
          <a:xfrm>
            <a:off x="4663440" y="292608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622" name="Google Shape;1622;p60"/>
          <p:cNvSpPr/>
          <p:nvPr/>
        </p:nvSpPr>
        <p:spPr>
          <a:xfrm>
            <a:off x="5646420" y="320040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623" name="Google Shape;1623;p60"/>
          <p:cNvSpPr/>
          <p:nvPr/>
        </p:nvSpPr>
        <p:spPr>
          <a:xfrm>
            <a:off x="4663440" y="2231136"/>
            <a:ext cx="4069080" cy="246888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4" name="Google Shape;1624;p60"/>
          <p:cNvSpPr txBox="1"/>
          <p:nvPr/>
        </p:nvSpPr>
        <p:spPr>
          <a:xfrm>
            <a:off x="4809744" y="2304288"/>
            <a:ext cx="3776472" cy="23408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I completely understand. If the membership isn’t within your budget right now, I’d be happy to help.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Before you decide, I can lower your monthly membership from $59 to $44 if that would make it more manageable. Your voucher is also valid for a year, so you can hold onto it and use it later if the timing works better. The 6-month membership won’t start until you use the voucher for your first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Let me know what works best for you. I’m happy to help either way!</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15"/>
                                        </p:tgtEl>
                                        <p:attrNameLst>
                                          <p:attrName>style.visibility</p:attrName>
                                        </p:attrNameLst>
                                      </p:cBhvr>
                                      <p:to>
                                        <p:strVal val="visible"/>
                                      </p:to>
                                    </p:set>
                                    <p:animEffect filter="fade" transition="in">
                                      <p:cBhvr>
                                        <p:cTn dur="600"/>
                                        <p:tgtEl>
                                          <p:spTgt spid="1615"/>
                                        </p:tgtEl>
                                      </p:cBhvr>
                                    </p:animEffect>
                                  </p:childTnLst>
                                </p:cTn>
                              </p:par>
                              <p:par>
                                <p:cTn fill="hold" nodeType="withEffect" presetClass="entr" presetID="10" presetSubtype="0">
                                  <p:stCondLst>
                                    <p:cond delay="0"/>
                                  </p:stCondLst>
                                  <p:childTnLst>
                                    <p:set>
                                      <p:cBhvr>
                                        <p:cTn dur="1" fill="hold">
                                          <p:stCondLst>
                                            <p:cond delay="0"/>
                                          </p:stCondLst>
                                        </p:cTn>
                                        <p:tgtEl>
                                          <p:spTgt spid="1616"/>
                                        </p:tgtEl>
                                        <p:attrNameLst>
                                          <p:attrName>style.visibility</p:attrName>
                                        </p:attrNameLst>
                                      </p:cBhvr>
                                      <p:to>
                                        <p:strVal val="visible"/>
                                      </p:to>
                                    </p:set>
                                    <p:animEffect filter="fade" transition="in">
                                      <p:cBhvr>
                                        <p:cTn dur="600"/>
                                        <p:tgtEl>
                                          <p:spTgt spid="16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23"/>
                                        </p:tgtEl>
                                        <p:attrNameLst>
                                          <p:attrName>style.visibility</p:attrName>
                                        </p:attrNameLst>
                                      </p:cBhvr>
                                      <p:to>
                                        <p:strVal val="visible"/>
                                      </p:to>
                                    </p:set>
                                    <p:animEffect filter="fade" transition="in">
                                      <p:cBhvr>
                                        <p:cTn dur="600"/>
                                        <p:tgtEl>
                                          <p:spTgt spid="1623"/>
                                        </p:tgtEl>
                                      </p:cBhvr>
                                    </p:animEffect>
                                  </p:childTnLst>
                                </p:cTn>
                              </p:par>
                              <p:par>
                                <p:cTn fill="hold" nodeType="withEffect" presetClass="entr" presetID="10" presetSubtype="0">
                                  <p:stCondLst>
                                    <p:cond delay="0"/>
                                  </p:stCondLst>
                                  <p:childTnLst>
                                    <p:set>
                                      <p:cBhvr>
                                        <p:cTn dur="1" fill="hold">
                                          <p:stCondLst>
                                            <p:cond delay="0"/>
                                          </p:stCondLst>
                                        </p:cTn>
                                        <p:tgtEl>
                                          <p:spTgt spid="1624"/>
                                        </p:tgtEl>
                                        <p:attrNameLst>
                                          <p:attrName>style.visibility</p:attrName>
                                        </p:attrNameLst>
                                      </p:cBhvr>
                                      <p:to>
                                        <p:strVal val="visible"/>
                                      </p:to>
                                    </p:set>
                                    <p:animEffect filter="fade" transition="in">
                                      <p:cBhvr>
                                        <p:cTn dur="600"/>
                                        <p:tgtEl>
                                          <p:spTgt spid="16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9" name="Shape 1629"/>
        <p:cNvGrpSpPr/>
        <p:nvPr/>
      </p:nvGrpSpPr>
      <p:grpSpPr>
        <a:xfrm>
          <a:off x="0" y="0"/>
          <a:ext cx="0" cy="0"/>
          <a:chOff x="0" y="0"/>
          <a:chExt cx="0" cy="0"/>
        </a:xfrm>
      </p:grpSpPr>
      <p:sp>
        <p:nvSpPr>
          <p:cNvPr id="1630" name="Google Shape;1630;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31" name="Google Shape;1631;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They decline the resolution</a:t>
            </a:r>
            <a:endParaRPr b="0" i="0" spc="0" sz="2400" u="none" cap="none" strike="noStrike">
              <a:solidFill>
                <a:schemeClr val="dk1"/>
              </a:solidFill>
              <a:latin typeface="Calibri"/>
              <a:ea typeface="Calibri"/>
              <a:cs typeface="Calibri"/>
              <a:sym typeface="Calibri"/>
            </a:endParaRPr>
          </a:p>
        </p:txBody>
      </p:sp>
      <p:sp>
        <p:nvSpPr>
          <p:cNvPr id="1632" name="Google Shape;1632;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still want a refund or a cancellation. What they ask for decides the steps.</a:t>
            </a:r>
            <a:endParaRPr b="0" i="0" spc="0" sz="1200" u="none" cap="none" strike="noStrike">
              <a:solidFill>
                <a:schemeClr val="dk1"/>
              </a:solidFill>
              <a:latin typeface="Calibri"/>
              <a:ea typeface="Calibri"/>
              <a:cs typeface="Calibri"/>
              <a:sym typeface="Calibri"/>
            </a:endParaRPr>
          </a:p>
        </p:txBody>
      </p:sp>
      <p:sp>
        <p:nvSpPr>
          <p:cNvPr id="1633" name="Google Shape;1633;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634" name="Google Shape;1634;p61"/>
          <p:cNvSpPr/>
          <p:nvPr/>
        </p:nvSpPr>
        <p:spPr>
          <a:xfrm>
            <a:off x="3154680" y="1280160"/>
            <a:ext cx="2834640" cy="365760"/>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If C declines the resolution</a:t>
            </a:r>
            <a:endParaRPr b="0" i="0" spc="0" sz="1400" u="none" cap="none" strike="noStrike">
              <a:solidFill>
                <a:srgbClr val="000000"/>
              </a:solidFill>
              <a:latin typeface="Arial"/>
              <a:ea typeface="Arial"/>
              <a:cs typeface="Arial"/>
              <a:sym typeface="Arial"/>
            </a:endParaRPr>
          </a:p>
        </p:txBody>
      </p:sp>
      <p:cxnSp>
        <p:nvCxnSpPr>
          <p:cNvPr id="1635" name="Google Shape;1635;p61"/>
          <p:cNvCxnSpPr/>
          <p:nvPr/>
        </p:nvCxnSpPr>
        <p:spPr>
          <a:xfrm>
            <a:off x="4572000" y="1645920"/>
            <a:ext cx="0" cy="164592"/>
          </a:xfrm>
          <a:prstGeom prst="straightConnector1">
            <a:avLst/>
          </a:prstGeom>
          <a:noFill/>
          <a:ln cap="flat" cmpd="sng" w="12700">
            <a:solidFill>
              <a:srgbClr val="6E6E73"/>
            </a:solidFill>
            <a:prstDash val="solid"/>
            <a:round/>
            <a:headEnd len="sm" w="sm" type="none"/>
            <a:tailEnd len="sm" w="sm" type="none"/>
          </a:ln>
        </p:spPr>
      </p:cxnSp>
      <p:cxnSp>
        <p:nvCxnSpPr>
          <p:cNvPr id="1636" name="Google Shape;1636;p61"/>
          <p:cNvCxnSpPr/>
          <p:nvPr/>
        </p:nvCxnSpPr>
        <p:spPr>
          <a:xfrm>
            <a:off x="1600200" y="1810512"/>
            <a:ext cx="3063240" cy="0"/>
          </a:xfrm>
          <a:prstGeom prst="straightConnector1">
            <a:avLst/>
          </a:prstGeom>
          <a:noFill/>
          <a:ln cap="flat" cmpd="sng" w="12700">
            <a:solidFill>
              <a:srgbClr val="6E6E73"/>
            </a:solidFill>
            <a:prstDash val="solid"/>
            <a:round/>
            <a:headEnd len="sm" w="sm" type="none"/>
            <a:tailEnd len="sm" w="sm" type="none"/>
          </a:ln>
        </p:spPr>
      </p:cxnSp>
      <p:cxnSp>
        <p:nvCxnSpPr>
          <p:cNvPr id="1637" name="Google Shape;1637;p61"/>
          <p:cNvCxnSpPr/>
          <p:nvPr/>
        </p:nvCxnSpPr>
        <p:spPr>
          <a:xfrm>
            <a:off x="1600200" y="1810512"/>
            <a:ext cx="0" cy="146304"/>
          </a:xfrm>
          <a:prstGeom prst="straightConnector1">
            <a:avLst/>
          </a:prstGeom>
          <a:noFill/>
          <a:ln cap="flat" cmpd="sng" w="12700">
            <a:solidFill>
              <a:srgbClr val="6E6E73"/>
            </a:solidFill>
            <a:prstDash val="solid"/>
            <a:round/>
            <a:headEnd len="sm" w="sm" type="none"/>
            <a:tailEnd len="med" w="med" type="triangle"/>
          </a:ln>
        </p:spPr>
      </p:cxnSp>
      <p:cxnSp>
        <p:nvCxnSpPr>
          <p:cNvPr id="1638" name="Google Shape;1638;p61"/>
          <p:cNvCxnSpPr/>
          <p:nvPr/>
        </p:nvCxnSpPr>
        <p:spPr>
          <a:xfrm>
            <a:off x="4663440" y="1810512"/>
            <a:ext cx="0" cy="146304"/>
          </a:xfrm>
          <a:prstGeom prst="straightConnector1">
            <a:avLst/>
          </a:prstGeom>
          <a:noFill/>
          <a:ln cap="flat" cmpd="sng" w="12700">
            <a:solidFill>
              <a:srgbClr val="6E6E73"/>
            </a:solidFill>
            <a:prstDash val="solid"/>
            <a:round/>
            <a:headEnd len="sm" w="sm" type="none"/>
            <a:tailEnd len="med" w="med" type="triangle"/>
          </a:ln>
        </p:spPr>
      </p:cxnSp>
      <p:sp>
        <p:nvSpPr>
          <p:cNvPr id="1639" name="Google Shape;1639;p61"/>
          <p:cNvSpPr/>
          <p:nvPr/>
        </p:nvSpPr>
        <p:spPr>
          <a:xfrm>
            <a:off x="411480" y="1956816"/>
            <a:ext cx="2377440" cy="457200"/>
          </a:xfrm>
          <a:prstGeom prst="roundRect">
            <a:avLst>
              <a:gd fmla="val 8000" name="adj"/>
            </a:avLst>
          </a:prstGeom>
          <a:solidFill>
            <a:srgbClr val="2E7D3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Cancel and refund</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OR refund only</a:t>
            </a:r>
            <a:endParaRPr b="0" i="0" spc="0" sz="1400" u="none" cap="none" strike="noStrike">
              <a:solidFill>
                <a:srgbClr val="000000"/>
              </a:solidFill>
              <a:latin typeface="Arial"/>
              <a:ea typeface="Arial"/>
              <a:cs typeface="Arial"/>
              <a:sym typeface="Arial"/>
            </a:endParaRPr>
          </a:p>
        </p:txBody>
      </p:sp>
      <p:sp>
        <p:nvSpPr>
          <p:cNvPr id="1640" name="Google Shape;1640;p61"/>
          <p:cNvSpPr/>
          <p:nvPr/>
        </p:nvSpPr>
        <p:spPr>
          <a:xfrm>
            <a:off x="411480" y="2505456"/>
            <a:ext cx="2377440" cy="2176272"/>
          </a:xfrm>
          <a:prstGeom prst="roundRect">
            <a:avLst>
              <a:gd fmla="val 8000" name="adj"/>
            </a:avLst>
          </a:prstGeom>
          <a:solidFill>
            <a:srgbClr val="E4F2E1"/>
          </a:solidFill>
          <a:ln cap="flat" cmpd="sng" w="9525">
            <a:solidFill>
              <a:srgbClr val="2E7D3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1" name="Google Shape;1641;p61"/>
          <p:cNvSpPr txBox="1"/>
          <p:nvPr/>
        </p:nvSpPr>
        <p:spPr>
          <a:xfrm>
            <a:off x="548640" y="2596896"/>
            <a:ext cx="2121300" cy="1944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Refund the voucher through CRM </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   CRM → voucher → refund DHJ/FC</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it right away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Advise C it’s refunded: 5–10 business days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Watch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1" i="0" lang="en-US" spc="0" sz="850" u="none" cap="none" strike="noStrike">
                <a:solidFill>
                  <a:srgbClr val="0B7A6F"/>
                </a:solidFill>
                <a:latin typeface="Arial"/>
                <a:ea typeface="Arial"/>
                <a:cs typeface="Arial"/>
                <a:sym typeface="Arial"/>
              </a:rPr>
              <a:t>Refunding the voucher ▷</a:t>
            </a:r>
            <a:endParaRPr b="1" i="0" spc="0" sz="850" u="none" cap="none" strike="noStrike">
              <a:solidFill>
                <a:srgbClr val="0B7A6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Deactivating the FC table ▷</a:t>
            </a:r>
            <a:endParaRPr b="1" i="0" spc="0" sz="850" u="none" cap="none" strike="noStrike">
              <a:solidFill>
                <a:srgbClr val="0B7A6F"/>
              </a:solidFill>
              <a:latin typeface="Arial"/>
              <a:ea typeface="Arial"/>
              <a:cs typeface="Arial"/>
              <a:sym typeface="Arial"/>
            </a:endParaRPr>
          </a:p>
        </p:txBody>
      </p:sp>
      <p:sp>
        <p:nvSpPr>
          <p:cNvPr id="1642" name="Google Shape;1642;p61"/>
          <p:cNvSpPr/>
          <p:nvPr/>
        </p:nvSpPr>
        <p:spPr>
          <a:xfrm>
            <a:off x="3017520" y="1956816"/>
            <a:ext cx="3291840" cy="566928"/>
          </a:xfrm>
          <a:prstGeom prst="roundRect">
            <a:avLst>
              <a:gd fmla="val 8000" name="adj"/>
            </a:avLst>
          </a:prstGeom>
          <a:solidFill>
            <a:srgbClr val="5E4A9C"/>
          </a:solidFill>
          <a:ln>
            <a:noFill/>
          </a:ln>
        </p:spPr>
        <p:txBody>
          <a:bodyPr anchorCtr="0" anchor="ctr" bIns="0" lIns="91425" spcFirstLastPara="1" rIns="91425"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Cancel only.</a:t>
            </a:r>
            <a:r>
              <a:rPr b="0" i="0" lang="en-US" spc="0" sz="950" u="none" cap="none" strike="noStrike">
                <a:solidFill>
                  <a:srgbClr val="FFFFFF"/>
                </a:solidFill>
                <a:latin typeface="Arial"/>
                <a:ea typeface="Arial"/>
                <a:cs typeface="Arial"/>
                <a:sym typeface="Arial"/>
              </a:rPr>
              <a:t> Do they also want their personal information deleted?</a:t>
            </a:r>
            <a:endParaRPr b="0" i="0" spc="0" sz="1400" u="none" cap="none" strike="noStrike">
              <a:solidFill>
                <a:srgbClr val="000000"/>
              </a:solidFill>
              <a:latin typeface="Arial"/>
              <a:ea typeface="Arial"/>
              <a:cs typeface="Arial"/>
              <a:sym typeface="Arial"/>
            </a:endParaRPr>
          </a:p>
        </p:txBody>
      </p:sp>
      <p:cxnSp>
        <p:nvCxnSpPr>
          <p:cNvPr id="1643" name="Google Shape;1643;p61"/>
          <p:cNvCxnSpPr/>
          <p:nvPr/>
        </p:nvCxnSpPr>
        <p:spPr>
          <a:xfrm>
            <a:off x="4663440" y="2523744"/>
            <a:ext cx="0" cy="164592"/>
          </a:xfrm>
          <a:prstGeom prst="straightConnector1">
            <a:avLst/>
          </a:prstGeom>
          <a:noFill/>
          <a:ln cap="flat" cmpd="sng" w="12700">
            <a:solidFill>
              <a:srgbClr val="6E6E73"/>
            </a:solidFill>
            <a:prstDash val="solid"/>
            <a:round/>
            <a:headEnd len="sm" w="sm" type="none"/>
            <a:tailEnd len="med" w="med" type="triangle"/>
          </a:ln>
        </p:spPr>
      </p:cxnSp>
      <p:sp>
        <p:nvSpPr>
          <p:cNvPr id="1644" name="Google Shape;1644;p61"/>
          <p:cNvSpPr txBox="1"/>
          <p:nvPr/>
        </p:nvSpPr>
        <p:spPr>
          <a:xfrm>
            <a:off x="4736592" y="2523744"/>
            <a:ext cx="457200" cy="16459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1645" name="Google Shape;1645;p61"/>
          <p:cNvSpPr/>
          <p:nvPr/>
        </p:nvSpPr>
        <p:spPr>
          <a:xfrm>
            <a:off x="3017520" y="2688336"/>
            <a:ext cx="3291840" cy="1993392"/>
          </a:xfrm>
          <a:prstGeom prst="roundRect">
            <a:avLst>
              <a:gd fmla="val 8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6" name="Google Shape;1646;p61"/>
          <p:cNvSpPr txBox="1"/>
          <p:nvPr/>
        </p:nvSpPr>
        <p:spPr>
          <a:xfrm>
            <a:off x="3154680" y="2761488"/>
            <a:ext cx="3035700" cy="1790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Credit card removal</a:t>
            </a:r>
            <a:r>
              <a:rPr b="0" i="0" lang="en-US" spc="0" sz="950" u="none" cap="none" strike="noStrike">
                <a:solidFill>
                  <a:srgbClr val="1D1D1F"/>
                </a:solidFill>
                <a:latin typeface="Arial"/>
                <a:ea typeface="Arial"/>
                <a:cs typeface="Arial"/>
                <a:sym typeface="Arial"/>
              </a:rPr>
              <a:t>  → escalate to a TL</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Personal data</a:t>
            </a:r>
            <a:r>
              <a:rPr b="0" i="0" lang="en-US" spc="0" sz="950" u="none" cap="none" strike="noStrike">
                <a:solidFill>
                  <a:srgbClr val="1D1D1F"/>
                </a:solidFill>
                <a:latin typeface="Arial"/>
                <a:ea typeface="Arial"/>
                <a:cs typeface="Arial"/>
                <a:sym typeface="Arial"/>
              </a:rPr>
              <a:t>  → log it to the Data right to know/delete request tracker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the voucher through the CRM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Send a closure email (before deactivating)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via CRM</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1" i="0" lang="en-US" spc="0" sz="850" u="none" cap="none" strike="noStrike">
                <a:solidFill>
                  <a:srgbClr val="0B7A6F"/>
                </a:solidFill>
                <a:latin typeface="Arial"/>
                <a:ea typeface="Arial"/>
                <a:cs typeface="Arial"/>
                <a:sym typeface="Arial"/>
              </a:rPr>
              <a:t>Watch </a:t>
            </a:r>
            <a:endParaRPr b="1" i="0" spc="0" sz="850" u="none" cap="none" strike="noStrike">
              <a:solidFill>
                <a:srgbClr val="0B7A6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Deactivating via CRM ▷</a:t>
            </a:r>
            <a:endParaRPr b="1" i="0" spc="0" sz="850" u="none" cap="none" strike="noStrike">
              <a:solidFill>
                <a:srgbClr val="0B7A6F"/>
              </a:solidFill>
              <a:latin typeface="Arial"/>
              <a:ea typeface="Arial"/>
              <a:cs typeface="Arial"/>
              <a:sym typeface="Arial"/>
            </a:endParaRPr>
          </a:p>
        </p:txBody>
      </p:sp>
      <p:cxnSp>
        <p:nvCxnSpPr>
          <p:cNvPr id="1647" name="Google Shape;1647;p61"/>
          <p:cNvCxnSpPr/>
          <p:nvPr/>
        </p:nvCxnSpPr>
        <p:spPr>
          <a:xfrm>
            <a:off x="6309360" y="2240280"/>
            <a:ext cx="228600" cy="0"/>
          </a:xfrm>
          <a:prstGeom prst="straightConnector1">
            <a:avLst/>
          </a:prstGeom>
          <a:noFill/>
          <a:ln cap="flat" cmpd="sng" w="12700">
            <a:solidFill>
              <a:srgbClr val="6E6E73"/>
            </a:solidFill>
            <a:prstDash val="solid"/>
            <a:round/>
            <a:headEnd len="sm" w="sm" type="none"/>
            <a:tailEnd len="med" w="med" type="triangle"/>
          </a:ln>
        </p:spPr>
      </p:cxnSp>
      <p:sp>
        <p:nvSpPr>
          <p:cNvPr id="1648" name="Google Shape;1648;p61"/>
          <p:cNvSpPr txBox="1"/>
          <p:nvPr/>
        </p:nvSpPr>
        <p:spPr>
          <a:xfrm>
            <a:off x="6336792" y="2048256"/>
            <a:ext cx="274320" cy="16459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1649" name="Google Shape;1649;p61"/>
          <p:cNvSpPr/>
          <p:nvPr/>
        </p:nvSpPr>
        <p:spPr>
          <a:xfrm>
            <a:off x="6537960" y="1956816"/>
            <a:ext cx="2194560" cy="2724912"/>
          </a:xfrm>
          <a:prstGeom prst="roundRect">
            <a:avLst>
              <a:gd fmla="val 8000" name="adj"/>
            </a:avLst>
          </a:prstGeom>
          <a:solidFill>
            <a:srgbClr val="F8E6EE"/>
          </a:solidFill>
          <a:ln cap="flat" cmpd="sng" w="9525">
            <a:solidFill>
              <a:srgbClr val="A8456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0" name="Google Shape;1650;p61"/>
          <p:cNvSpPr txBox="1"/>
          <p:nvPr/>
        </p:nvSpPr>
        <p:spPr>
          <a:xfrm>
            <a:off x="6656832" y="2048256"/>
            <a:ext cx="1975104" cy="2560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the voucher through the CRM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1" i="0" lang="en-US" spc="0" sz="950" u="none" cap="none" strike="noStrike">
                <a:solidFill>
                  <a:srgbClr val="A8456B"/>
                </a:solidFill>
                <a:latin typeface="Play"/>
                <a:ea typeface="Play"/>
                <a:cs typeface="Play"/>
                <a:sym typeface="Play"/>
              </a:rPr>
              <a:t>Also wants the account closed?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Send a closure email (before deactivating)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via CRM</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5" name="Shape 1655"/>
        <p:cNvGrpSpPr/>
        <p:nvPr/>
      </p:nvGrpSpPr>
      <p:grpSpPr>
        <a:xfrm>
          <a:off x="0" y="0"/>
          <a:ext cx="0" cy="0"/>
          <a:chOff x="0" y="0"/>
          <a:chExt cx="0" cy="0"/>
        </a:xfrm>
      </p:grpSpPr>
      <p:sp>
        <p:nvSpPr>
          <p:cNvPr id="1656" name="Google Shape;1656;p6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57" name="Google Shape;1657;p6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3: Close the account</a:t>
            </a:r>
            <a:endParaRPr b="0" i="0" spc="0" sz="2400" u="none" cap="none" strike="noStrike">
              <a:solidFill>
                <a:schemeClr val="dk1"/>
              </a:solidFill>
              <a:latin typeface="Calibri"/>
              <a:ea typeface="Calibri"/>
              <a:cs typeface="Calibri"/>
              <a:sym typeface="Calibri"/>
            </a:endParaRPr>
          </a:p>
        </p:txBody>
      </p:sp>
      <p:sp>
        <p:nvSpPr>
          <p:cNvPr id="1658" name="Google Shape;1658;p6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intent. Treat the first reach-out as cancellation intent.</a:t>
            </a:r>
            <a:endParaRPr b="0" i="0" spc="0" sz="1200" u="none" cap="none" strike="noStrike">
              <a:solidFill>
                <a:schemeClr val="dk1"/>
              </a:solidFill>
              <a:latin typeface="Calibri"/>
              <a:ea typeface="Calibri"/>
              <a:cs typeface="Calibri"/>
              <a:sym typeface="Calibri"/>
            </a:endParaRPr>
          </a:p>
        </p:txBody>
      </p:sp>
      <p:sp>
        <p:nvSpPr>
          <p:cNvPr id="1659" name="Google Shape;1659;p62"/>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FIRST REACH-OUT</a:t>
            </a:r>
            <a:endParaRPr b="0" i="0" spc="0" sz="800" u="none" cap="none" strike="noStrike">
              <a:solidFill>
                <a:schemeClr val="dk1"/>
              </a:solidFill>
              <a:latin typeface="Calibri"/>
              <a:ea typeface="Calibri"/>
              <a:cs typeface="Calibri"/>
              <a:sym typeface="Calibri"/>
            </a:endParaRPr>
          </a:p>
        </p:txBody>
      </p:sp>
      <p:sp>
        <p:nvSpPr>
          <p:cNvPr id="1660" name="Google Shape;1660;p62"/>
          <p:cNvSpPr txBox="1"/>
          <p:nvPr/>
        </p:nvSpPr>
        <p:spPr>
          <a:xfrm>
            <a:off x="411480" y="1536192"/>
            <a:ext cx="2743200" cy="128016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Acknowledge, probe for the reason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Unsubscribe them from emails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Voucher valid for a year, tied to a membership</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upcoming appointments</a:t>
            </a:r>
            <a:endParaRPr b="0" i="0" spc="0" sz="950" u="none" cap="none" strike="noStrike">
              <a:solidFill>
                <a:schemeClr val="dk1"/>
              </a:solidFill>
              <a:latin typeface="Calibri"/>
              <a:ea typeface="Calibri"/>
              <a:cs typeface="Calibri"/>
              <a:sym typeface="Calibri"/>
            </a:endParaRPr>
          </a:p>
        </p:txBody>
      </p:sp>
      <p:sp>
        <p:nvSpPr>
          <p:cNvPr id="1661" name="Google Shape;1661;p62"/>
          <p:cNvSpPr txBox="1"/>
          <p:nvPr/>
        </p:nvSpPr>
        <p:spPr>
          <a:xfrm>
            <a:off x="338328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STILL INSISTS? CLOSE IT IN THIS ORDER</a:t>
            </a:r>
            <a:endParaRPr b="0" i="0" spc="0" sz="800" u="none" cap="none" strike="noStrike">
              <a:solidFill>
                <a:schemeClr val="dk1"/>
              </a:solidFill>
              <a:latin typeface="Calibri"/>
              <a:ea typeface="Calibri"/>
              <a:cs typeface="Calibri"/>
              <a:sym typeface="Calibri"/>
            </a:endParaRPr>
          </a:p>
        </p:txBody>
      </p:sp>
      <p:sp>
        <p:nvSpPr>
          <p:cNvPr id="1662" name="Google Shape;1662;p62"/>
          <p:cNvSpPr/>
          <p:nvPr/>
        </p:nvSpPr>
        <p:spPr>
          <a:xfrm>
            <a:off x="3383280" y="15361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3" name="Google Shape;1663;p62"/>
          <p:cNvSpPr/>
          <p:nvPr/>
        </p:nvSpPr>
        <p:spPr>
          <a:xfrm>
            <a:off x="3474720"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4" name="Google Shape;1664;p62"/>
          <p:cNvSpPr txBox="1"/>
          <p:nvPr/>
        </p:nvSpPr>
        <p:spPr>
          <a:xfrm>
            <a:off x="3474720"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65" name="Google Shape;1665;p62"/>
          <p:cNvSpPr txBox="1"/>
          <p:nvPr/>
        </p:nvSpPr>
        <p:spPr>
          <a:xfrm>
            <a:off x="3840480" y="15361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Invalidate the voucher  </a:t>
            </a:r>
            <a:r>
              <a:rPr b="0" i="0" lang="en-US" spc="0" sz="850" u="none" cap="none" strike="noStrike">
                <a:solidFill>
                  <a:srgbClr val="6E6E73"/>
                </a:solidFill>
                <a:latin typeface="Arial"/>
                <a:ea typeface="Arial"/>
                <a:cs typeface="Arial"/>
                <a:sym typeface="Arial"/>
              </a:rPr>
              <a:t>C Do &gt; Voucher Invalidate</a:t>
            </a:r>
            <a:endParaRPr b="0" i="0" spc="0" sz="1000" u="none" cap="none" strike="noStrike">
              <a:solidFill>
                <a:schemeClr val="dk1"/>
              </a:solidFill>
              <a:latin typeface="Calibri"/>
              <a:ea typeface="Calibri"/>
              <a:cs typeface="Calibri"/>
              <a:sym typeface="Calibri"/>
            </a:endParaRPr>
          </a:p>
        </p:txBody>
      </p:sp>
      <p:sp>
        <p:nvSpPr>
          <p:cNvPr id="1666" name="Google Shape;1666;p62"/>
          <p:cNvSpPr/>
          <p:nvPr/>
        </p:nvSpPr>
        <p:spPr>
          <a:xfrm>
            <a:off x="3383280" y="19933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7" name="Google Shape;1667;p62"/>
          <p:cNvSpPr/>
          <p:nvPr/>
        </p:nvSpPr>
        <p:spPr>
          <a:xfrm>
            <a:off x="3474720" y="2057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8" name="Google Shape;1668;p62"/>
          <p:cNvSpPr txBox="1"/>
          <p:nvPr/>
        </p:nvSpPr>
        <p:spPr>
          <a:xfrm>
            <a:off x="3474720" y="20574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69" name="Google Shape;1669;p62"/>
          <p:cNvSpPr txBox="1"/>
          <p:nvPr/>
        </p:nvSpPr>
        <p:spPr>
          <a:xfrm>
            <a:off x="3840480" y="19933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Try to cancel FC  </a:t>
            </a:r>
            <a:r>
              <a:rPr b="0" i="0" lang="en-US" spc="0" sz="850" u="none" cap="none" strike="noStrike">
                <a:solidFill>
                  <a:srgbClr val="6E6E73"/>
                </a:solidFill>
                <a:latin typeface="Arial"/>
                <a:ea typeface="Arial"/>
                <a:cs typeface="Arial"/>
                <a:sym typeface="Arial"/>
              </a:rPr>
              <a:t>System says the voucher would be refunded? TL cancels without refund</a:t>
            </a:r>
            <a:endParaRPr b="0" i="0" spc="0" sz="1000" u="none" cap="none" strike="noStrike">
              <a:solidFill>
                <a:schemeClr val="dk1"/>
              </a:solidFill>
              <a:latin typeface="Calibri"/>
              <a:ea typeface="Calibri"/>
              <a:cs typeface="Calibri"/>
              <a:sym typeface="Calibri"/>
            </a:endParaRPr>
          </a:p>
        </p:txBody>
      </p:sp>
      <p:sp>
        <p:nvSpPr>
          <p:cNvPr id="1670" name="Google Shape;1670;p62"/>
          <p:cNvSpPr/>
          <p:nvPr/>
        </p:nvSpPr>
        <p:spPr>
          <a:xfrm>
            <a:off x="3383280" y="2450592"/>
            <a:ext cx="5349240" cy="402336"/>
          </a:xfrm>
          <a:prstGeom prst="roundRect">
            <a:avLst>
              <a:gd fmla="val 18182"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1" name="Google Shape;1671;p62"/>
          <p:cNvSpPr/>
          <p:nvPr/>
        </p:nvSpPr>
        <p:spPr>
          <a:xfrm>
            <a:off x="3474720" y="2514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2" name="Google Shape;1672;p62"/>
          <p:cNvSpPr txBox="1"/>
          <p:nvPr/>
        </p:nvSpPr>
        <p:spPr>
          <a:xfrm>
            <a:off x="3474720" y="2514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73" name="Google Shape;1673;p62"/>
          <p:cNvSpPr txBox="1"/>
          <p:nvPr/>
        </p:nvSpPr>
        <p:spPr>
          <a:xfrm>
            <a:off x="3840480" y="24505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Send the closure email  </a:t>
            </a:r>
            <a:r>
              <a:rPr b="0" i="0" lang="en-US" spc="0" sz="850" u="none" cap="none" strike="noStrike">
                <a:solidFill>
                  <a:srgbClr val="6E6E73"/>
                </a:solidFill>
                <a:latin typeface="Arial"/>
                <a:ea typeface="Arial"/>
                <a:cs typeface="Arial"/>
                <a:sym typeface="Arial"/>
              </a:rPr>
              <a:t>Before deactivating. You can't email them after</a:t>
            </a:r>
            <a:endParaRPr b="0" i="0" spc="0" sz="1000" u="none" cap="none" strike="noStrike">
              <a:solidFill>
                <a:schemeClr val="dk1"/>
              </a:solidFill>
              <a:latin typeface="Calibri"/>
              <a:ea typeface="Calibri"/>
              <a:cs typeface="Calibri"/>
              <a:sym typeface="Calibri"/>
            </a:endParaRPr>
          </a:p>
        </p:txBody>
      </p:sp>
      <p:sp>
        <p:nvSpPr>
          <p:cNvPr id="1674" name="Google Shape;1674;p62"/>
          <p:cNvSpPr/>
          <p:nvPr/>
        </p:nvSpPr>
        <p:spPr>
          <a:xfrm>
            <a:off x="3383280" y="29077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5" name="Google Shape;1675;p62"/>
          <p:cNvSpPr/>
          <p:nvPr/>
        </p:nvSpPr>
        <p:spPr>
          <a:xfrm>
            <a:off x="3474720"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6" name="Google Shape;1676;p62"/>
          <p:cNvSpPr txBox="1"/>
          <p:nvPr/>
        </p:nvSpPr>
        <p:spPr>
          <a:xfrm>
            <a:off x="3474720"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77" name="Google Shape;1677;p62"/>
          <p:cNvSpPr txBox="1"/>
          <p:nvPr/>
        </p:nvSpPr>
        <p:spPr>
          <a:xfrm>
            <a:off x="3840480" y="29077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Deactivate the account  </a:t>
            </a:r>
            <a:r>
              <a:rPr b="0" i="0" lang="en-US" spc="0" sz="850" u="none" cap="none" strike="noStrike">
                <a:solidFill>
                  <a:srgbClr val="6E6E73"/>
                </a:solidFill>
                <a:latin typeface="Arial"/>
                <a:ea typeface="Arial"/>
                <a:cs typeface="Arial"/>
                <a:sym typeface="Arial"/>
              </a:rPr>
              <a:t>CRM Do &gt; Deactivate</a:t>
            </a:r>
            <a:endParaRPr b="0" i="0" spc="0" sz="1000" u="none" cap="none" strike="noStrike">
              <a:solidFill>
                <a:schemeClr val="dk1"/>
              </a:solidFill>
              <a:latin typeface="Calibri"/>
              <a:ea typeface="Calibri"/>
              <a:cs typeface="Calibri"/>
              <a:sym typeface="Calibri"/>
            </a:endParaRPr>
          </a:p>
        </p:txBody>
      </p:sp>
      <p:sp>
        <p:nvSpPr>
          <p:cNvPr id="1678" name="Google Shape;1678;p62"/>
          <p:cNvSpPr/>
          <p:nvPr/>
        </p:nvSpPr>
        <p:spPr>
          <a:xfrm>
            <a:off x="411480" y="3474720"/>
            <a:ext cx="8321040" cy="822960"/>
          </a:xfrm>
          <a:prstGeom prst="roundRect">
            <a:avLst>
              <a:gd fmla="val 888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9" name="Google Shape;1679;p62"/>
          <p:cNvSpPr/>
          <p:nvPr/>
        </p:nvSpPr>
        <p:spPr>
          <a:xfrm>
            <a:off x="411480" y="347472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Wants their data deleted too?</a:t>
            </a:r>
            <a:endParaRPr b="0" i="0" spc="0" sz="1050" u="none" cap="none" strike="noStrike">
              <a:solidFill>
                <a:schemeClr val="dk1"/>
              </a:solidFill>
              <a:latin typeface="Calibri"/>
              <a:ea typeface="Calibri"/>
              <a:cs typeface="Calibri"/>
              <a:sym typeface="Calibri"/>
            </a:endParaRPr>
          </a:p>
        </p:txBody>
      </p:sp>
      <p:sp>
        <p:nvSpPr>
          <p:cNvPr id="1680" name="Google Shape;1680;p62"/>
          <p:cNvSpPr txBox="1"/>
          <p:nvPr/>
        </p:nvSpPr>
        <p:spPr>
          <a:xfrm>
            <a:off x="576072" y="3913632"/>
            <a:ext cx="7991856" cy="3108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Card removal: </a:t>
            </a:r>
            <a:r>
              <a:rPr b="0" i="0" lang="en-US" spc="0" sz="950" u="none" cap="none" strike="noStrike">
                <a:solidFill>
                  <a:srgbClr val="1D1D1F"/>
                </a:solidFill>
                <a:latin typeface="Arial"/>
                <a:ea typeface="Arial"/>
                <a:cs typeface="Arial"/>
                <a:sym typeface="Arial"/>
              </a:rPr>
              <a:t>TL removes it from Stripe.  </a:t>
            </a:r>
            <a:r>
              <a:rPr b="1" i="0" lang="en-US" spc="0" sz="950" u="none" cap="none" strike="noStrike">
                <a:solidFill>
                  <a:srgbClr val="1D1D1F"/>
                </a:solidFill>
                <a:latin typeface="Arial"/>
                <a:ea typeface="Arial"/>
                <a:cs typeface="Arial"/>
                <a:sym typeface="Arial"/>
              </a:rPr>
              <a:t>Personal data: </a:t>
            </a:r>
            <a:r>
              <a:rPr b="0" i="0" lang="en-US" spc="0" sz="950" u="none" cap="none" strike="noStrike">
                <a:solidFill>
                  <a:srgbClr val="1D1D1F"/>
                </a:solidFill>
                <a:latin typeface="Arial"/>
                <a:ea typeface="Arial"/>
                <a:cs typeface="Arial"/>
                <a:sym typeface="Arial"/>
              </a:rPr>
              <a:t>log to the Data right to know/delete tracker (right away if they asked explicitly).</a:t>
            </a:r>
            <a:endParaRPr b="0" i="0" spc="0" sz="950" u="none" cap="none" strike="noStrike">
              <a:solidFill>
                <a:schemeClr val="dk1"/>
              </a:solidFill>
              <a:latin typeface="Calibri"/>
              <a:ea typeface="Calibri"/>
              <a:cs typeface="Calibri"/>
              <a:sym typeface="Calibri"/>
            </a:endParaRPr>
          </a:p>
        </p:txBody>
      </p:sp>
      <p:sp>
        <p:nvSpPr>
          <p:cNvPr id="1681" name="Google Shape;1681;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6" name="Shape 1686"/>
        <p:cNvGrpSpPr/>
        <p:nvPr/>
      </p:nvGrpSpPr>
      <p:grpSpPr>
        <a:xfrm>
          <a:off x="0" y="0"/>
          <a:ext cx="0" cy="0"/>
          <a:chOff x="0" y="0"/>
          <a:chExt cx="0" cy="0"/>
        </a:xfrm>
      </p:grpSpPr>
      <p:sp>
        <p:nvSpPr>
          <p:cNvPr id="1687" name="Google Shape;1687;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88" name="Google Shape;1688;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4: Already self-refunded</a:t>
            </a:r>
            <a:endParaRPr b="0" i="0" spc="0" sz="2400" u="none" cap="none" strike="noStrike">
              <a:solidFill>
                <a:schemeClr val="dk1"/>
              </a:solidFill>
              <a:latin typeface="Calibri"/>
              <a:ea typeface="Calibri"/>
              <a:cs typeface="Calibri"/>
              <a:sym typeface="Calibri"/>
            </a:endParaRPr>
          </a:p>
        </p:txBody>
      </p:sp>
      <p:sp>
        <p:nvSpPr>
          <p:cNvPr id="1689" name="Google Shape;1689;p6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attempt already ended. Make the exit clean.</a:t>
            </a:r>
            <a:endParaRPr b="0" i="0" spc="0" sz="1200" u="none" cap="none" strike="noStrike">
              <a:solidFill>
                <a:schemeClr val="dk1"/>
              </a:solidFill>
              <a:latin typeface="Calibri"/>
              <a:ea typeface="Calibri"/>
              <a:cs typeface="Calibri"/>
              <a:sym typeface="Calibri"/>
            </a:endParaRPr>
          </a:p>
        </p:txBody>
      </p:sp>
      <p:sp>
        <p:nvSpPr>
          <p:cNvPr id="1690" name="Google Shape;1690;p63"/>
          <p:cNvSpPr/>
          <p:nvPr/>
        </p:nvSpPr>
        <p:spPr>
          <a:xfrm>
            <a:off x="4114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1" name="Google Shape;1691;p63"/>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92" name="Google Shape;1692;p63"/>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93" name="Google Shape;1693;p63"/>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Invalidate the leftover voucher</a:t>
            </a:r>
            <a:endParaRPr b="0" i="0" spc="0" sz="1200" u="none" cap="none" strike="noStrike">
              <a:solidFill>
                <a:schemeClr val="dk1"/>
              </a:solidFill>
              <a:latin typeface="Calibri"/>
              <a:ea typeface="Calibri"/>
              <a:cs typeface="Calibri"/>
              <a:sym typeface="Calibri"/>
            </a:endParaRPr>
          </a:p>
        </p:txBody>
      </p:sp>
      <p:sp>
        <p:nvSpPr>
          <p:cNvPr id="1694" name="Google Shape;1694;p63"/>
          <p:cNvSpPr txBox="1"/>
          <p:nvPr/>
        </p:nvSpPr>
        <p:spPr>
          <a:xfrm>
            <a:off x="5760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system may leave one behind to retain them.</a:t>
            </a:r>
            <a:endParaRPr b="0" i="0" spc="0" sz="950" u="none" cap="none" strike="noStrike">
              <a:solidFill>
                <a:schemeClr val="dk1"/>
              </a:solidFill>
              <a:latin typeface="Calibri"/>
              <a:ea typeface="Calibri"/>
              <a:cs typeface="Calibri"/>
              <a:sym typeface="Calibri"/>
            </a:endParaRPr>
          </a:p>
        </p:txBody>
      </p:sp>
      <p:sp>
        <p:nvSpPr>
          <p:cNvPr id="1695" name="Google Shape;1695;p63"/>
          <p:cNvSpPr/>
          <p:nvPr/>
        </p:nvSpPr>
        <p:spPr>
          <a:xfrm>
            <a:off x="32308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6" name="Google Shape;1696;p63"/>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97" name="Google Shape;1697;p63"/>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98" name="Google Shape;1698;p63"/>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Cancel FC, RC &amp; appointments</a:t>
            </a:r>
            <a:endParaRPr b="0" i="0" spc="0" sz="1200" u="none" cap="none" strike="noStrike">
              <a:solidFill>
                <a:schemeClr val="dk1"/>
              </a:solidFill>
              <a:latin typeface="Calibri"/>
              <a:ea typeface="Calibri"/>
              <a:cs typeface="Calibri"/>
              <a:sym typeface="Calibri"/>
            </a:endParaRPr>
          </a:p>
        </p:txBody>
      </p:sp>
      <p:sp>
        <p:nvSpPr>
          <p:cNvPr id="1699" name="Google Shape;1699;p63"/>
          <p:cNvSpPr txBox="1"/>
          <p:nvPr/>
        </p:nvSpPr>
        <p:spPr>
          <a:xfrm>
            <a:off x="33954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Whatever is still active.</a:t>
            </a:r>
            <a:endParaRPr b="0" i="0" spc="0" sz="950" u="none" cap="none" strike="noStrike">
              <a:solidFill>
                <a:schemeClr val="dk1"/>
              </a:solidFill>
              <a:latin typeface="Calibri"/>
              <a:ea typeface="Calibri"/>
              <a:cs typeface="Calibri"/>
              <a:sym typeface="Calibri"/>
            </a:endParaRPr>
          </a:p>
        </p:txBody>
      </p:sp>
      <p:sp>
        <p:nvSpPr>
          <p:cNvPr id="1700" name="Google Shape;1700;p63"/>
          <p:cNvSpPr/>
          <p:nvPr/>
        </p:nvSpPr>
        <p:spPr>
          <a:xfrm>
            <a:off x="60502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1" name="Google Shape;1701;p63"/>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02" name="Google Shape;1702;p63"/>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703" name="Google Shape;1703;p63"/>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Address what's left</a:t>
            </a:r>
            <a:endParaRPr b="0" i="0" spc="0" sz="1200" u="none" cap="none" strike="noStrike">
              <a:solidFill>
                <a:schemeClr val="dk1"/>
              </a:solidFill>
              <a:latin typeface="Calibri"/>
              <a:ea typeface="Calibri"/>
              <a:cs typeface="Calibri"/>
              <a:sym typeface="Calibri"/>
            </a:endParaRPr>
          </a:p>
        </p:txBody>
      </p:sp>
      <p:sp>
        <p:nvSpPr>
          <p:cNvPr id="1704" name="Google Shape;1704;p63"/>
          <p:cNvSpPr txBox="1"/>
          <p:nvPr/>
        </p:nvSpPr>
        <p:spPr>
          <a:xfrm>
            <a:off x="62148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Any remaining concerns.</a:t>
            </a:r>
            <a:endParaRPr b="0" i="0" spc="0" sz="950" u="none" cap="none" strike="noStrike">
              <a:solidFill>
                <a:schemeClr val="dk1"/>
              </a:solidFill>
              <a:latin typeface="Calibri"/>
              <a:ea typeface="Calibri"/>
              <a:cs typeface="Calibri"/>
              <a:sym typeface="Calibri"/>
            </a:endParaRPr>
          </a:p>
        </p:txBody>
      </p:sp>
      <p:sp>
        <p:nvSpPr>
          <p:cNvPr id="1705" name="Google Shape;1705;p63"/>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06" name="Google Shape;1706;p63"/>
          <p:cNvPicPr preferRelativeResize="0"/>
          <p:nvPr/>
        </p:nvPicPr>
        <p:blipFill rotWithShape="1">
          <a:blip r:embed="rId6">
            <a:alphaModFix/>
          </a:blip>
          <a:srcRect b="0" l="0" r="0" t="0"/>
          <a:stretch/>
        </p:blipFill>
        <p:spPr>
          <a:xfrm>
            <a:off x="566928" y="3127248"/>
            <a:ext cx="164592" cy="164592"/>
          </a:xfrm>
          <a:prstGeom prst="rect">
            <a:avLst/>
          </a:prstGeom>
          <a:noFill/>
          <a:ln>
            <a:noFill/>
          </a:ln>
        </p:spPr>
      </p:pic>
      <p:sp>
        <p:nvSpPr>
          <p:cNvPr id="1707" name="Google Shape;1707;p63"/>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Accept their decision:  </a:t>
            </a:r>
            <a:r>
              <a:rPr b="0" i="0" lang="en-US" spc="0" sz="1000" u="none" cap="none" strike="noStrike">
                <a:solidFill>
                  <a:srgbClr val="1D1D1F"/>
                </a:solidFill>
                <a:latin typeface="Arial"/>
                <a:ea typeface="Arial"/>
                <a:cs typeface="Arial"/>
                <a:sym typeface="Arial"/>
              </a:rPr>
              <a:t>focus on a clean, hassle-free cancellation. No retention push.</a:t>
            </a:r>
            <a:endParaRPr b="0" i="0" spc="0" sz="1000" u="none" cap="none" strike="noStrike">
              <a:solidFill>
                <a:schemeClr val="dk1"/>
              </a:solidFill>
              <a:latin typeface="Calibri"/>
              <a:ea typeface="Calibri"/>
              <a:cs typeface="Calibri"/>
              <a:sym typeface="Calibri"/>
            </a:endParaRPr>
          </a:p>
        </p:txBody>
      </p:sp>
      <p:sp>
        <p:nvSpPr>
          <p:cNvPr id="1708" name="Google Shape;1708;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709" name="Google Shape;1709;p63"/>
          <p:cNvSpPr/>
          <p:nvPr/>
        </p:nvSpPr>
        <p:spPr>
          <a:xfrm>
            <a:off x="411480" y="3547872"/>
            <a:ext cx="4206240" cy="118872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0" name="Google Shape;1710;p63"/>
          <p:cNvSpPr txBox="1"/>
          <p:nvPr/>
        </p:nvSpPr>
        <p:spPr>
          <a:xfrm>
            <a:off x="548640" y="3621024"/>
            <a:ext cx="393192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LEFTOVER VOUCHER IN THE CRM</a:t>
            </a:r>
            <a:r>
              <a:rPr b="0" i="0" lang="en-US" spc="0" sz="800" u="none" cap="none" strike="noStrike">
                <a:solidFill>
                  <a:srgbClr val="B3261E"/>
                </a:solidFill>
                <a:latin typeface="Arial"/>
                <a:ea typeface="Arial"/>
                <a:cs typeface="Arial"/>
                <a:sym typeface="Arial"/>
              </a:rPr>
              <a:t>   look for “Refunded but still valid”</a:t>
            </a:r>
            <a:endParaRPr b="0" i="0" spc="0" sz="1400" u="none" cap="none" strike="noStrike">
              <a:solidFill>
                <a:srgbClr val="000000"/>
              </a:solidFill>
              <a:latin typeface="Arial"/>
              <a:ea typeface="Arial"/>
              <a:cs typeface="Arial"/>
              <a:sym typeface="Arial"/>
            </a:endParaRPr>
          </a:p>
        </p:txBody>
      </p:sp>
      <p:pic>
        <p:nvPicPr>
          <p:cNvPr descr="leftover_voucher_crm.png" id="1711" name="Google Shape;1711;p63"/>
          <p:cNvPicPr preferRelativeResize="0"/>
          <p:nvPr/>
        </p:nvPicPr>
        <p:blipFill rotWithShape="1">
          <a:blip r:embed="rId7">
            <a:alphaModFix/>
          </a:blip>
          <a:srcRect b="0" l="0" r="0" t="0"/>
          <a:stretch/>
        </p:blipFill>
        <p:spPr>
          <a:xfrm>
            <a:off x="548640" y="3840480"/>
            <a:ext cx="3246120" cy="837108"/>
          </a:xfrm>
          <a:prstGeom prst="rect">
            <a:avLst/>
          </a:prstGeom>
          <a:noFill/>
          <a:ln cap="flat" cmpd="sng" w="9525">
            <a:solidFill>
              <a:srgbClr val="DCE1E7"/>
            </a:solidFill>
            <a:prstDash val="solid"/>
            <a:round/>
            <a:headEnd len="sm" w="sm" type="none"/>
            <a:tailEnd len="sm" w="sm" type="none"/>
          </a:ln>
        </p:spPr>
      </p:pic>
      <p:sp>
        <p:nvSpPr>
          <p:cNvPr id="1712" name="Google Shape;1712;p63"/>
          <p:cNvSpPr/>
          <p:nvPr/>
        </p:nvSpPr>
        <p:spPr>
          <a:xfrm>
            <a:off x="4754880" y="3547872"/>
            <a:ext cx="3977639" cy="118872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3" name="Google Shape;1713;p63"/>
          <p:cNvSpPr txBox="1"/>
          <p:nvPr/>
        </p:nvSpPr>
        <p:spPr>
          <a:xfrm>
            <a:off x="4919472" y="3621024"/>
            <a:ext cx="365760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RELATED MACROS</a:t>
            </a:r>
            <a:endParaRPr b="0" i="0" spc="0" sz="1400" u="none" cap="none" strike="noStrike">
              <a:solidFill>
                <a:srgbClr val="000000"/>
              </a:solidFill>
              <a:latin typeface="Arial"/>
              <a:ea typeface="Arial"/>
              <a:cs typeface="Arial"/>
              <a:sym typeface="Arial"/>
            </a:endParaRPr>
          </a:p>
        </p:txBody>
      </p:sp>
      <p:sp>
        <p:nvSpPr>
          <p:cNvPr id="1714" name="Google Shape;1714;p63"/>
          <p:cNvSpPr txBox="1"/>
          <p:nvPr/>
        </p:nvSpPr>
        <p:spPr>
          <a:xfrm>
            <a:off x="4919472" y="3840480"/>
            <a:ext cx="37033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Unused DHJ Voucher — Refund Request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Unused DHJ Voucher — Wants to ‘Try it Out’ (Trial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Unused DHJ Voucher — Wants One Time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Deactivated (send before deactivating)</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9" name="Shape 1719"/>
        <p:cNvGrpSpPr/>
        <p:nvPr/>
      </p:nvGrpSpPr>
      <p:grpSpPr>
        <a:xfrm>
          <a:off x="0" y="0"/>
          <a:ext cx="0" cy="0"/>
          <a:chOff x="0" y="0"/>
          <a:chExt cx="0" cy="0"/>
        </a:xfrm>
      </p:grpSpPr>
      <p:sp>
        <p:nvSpPr>
          <p:cNvPr id="1720" name="Google Shape;1720;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KNOWLEDGE CHECK</a:t>
            </a:r>
            <a:endParaRPr b="0" i="0" spc="0" sz="800" u="none" cap="none" strike="noStrike">
              <a:solidFill>
                <a:schemeClr val="dk1"/>
              </a:solidFill>
              <a:latin typeface="Calibri"/>
              <a:ea typeface="Calibri"/>
              <a:cs typeface="Calibri"/>
              <a:sym typeface="Calibri"/>
            </a:endParaRPr>
          </a:p>
        </p:txBody>
      </p:sp>
      <p:sp>
        <p:nvSpPr>
          <p:cNvPr id="1721" name="Google Shape;1721;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722" name="Google Shape;1722;p6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3" name="Google Shape;1723;p6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4" name="Google Shape;1724;p6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25" name="Google Shape;1725;p6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FC table shows "active, 0 paid months". Has the membership started?</a:t>
            </a:r>
            <a:endParaRPr b="0" i="0" spc="0" sz="1000" u="none" cap="none" strike="noStrike">
              <a:solidFill>
                <a:schemeClr val="dk1"/>
              </a:solidFill>
              <a:latin typeface="Calibri"/>
              <a:ea typeface="Calibri"/>
              <a:cs typeface="Calibri"/>
              <a:sym typeface="Calibri"/>
            </a:endParaRPr>
          </a:p>
        </p:txBody>
      </p:sp>
      <p:sp>
        <p:nvSpPr>
          <p:cNvPr id="1726" name="Google Shape;1726;p6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7" name="Google Shape;1727;p6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starts only when the voucher is used on a completed job.</a:t>
            </a:r>
            <a:endParaRPr b="0" i="0" spc="0" sz="900" u="none" cap="none" strike="noStrike">
              <a:solidFill>
                <a:schemeClr val="dk1"/>
              </a:solidFill>
              <a:latin typeface="Calibri"/>
              <a:ea typeface="Calibri"/>
              <a:cs typeface="Calibri"/>
              <a:sym typeface="Calibri"/>
            </a:endParaRPr>
          </a:p>
        </p:txBody>
      </p:sp>
      <p:sp>
        <p:nvSpPr>
          <p:cNvPr id="1728" name="Google Shape;1728;p6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9" name="Google Shape;1729;p6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0" name="Google Shape;1730;p6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31" name="Google Shape;1731;p6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with an unused voucher asks about something unrelated. Mention the membership?</a:t>
            </a:r>
            <a:endParaRPr b="0" i="0" spc="0" sz="1000" u="none" cap="none" strike="noStrike">
              <a:solidFill>
                <a:schemeClr val="dk1"/>
              </a:solidFill>
              <a:latin typeface="Calibri"/>
              <a:ea typeface="Calibri"/>
              <a:cs typeface="Calibri"/>
              <a:sym typeface="Calibri"/>
            </a:endParaRPr>
          </a:p>
        </p:txBody>
      </p:sp>
      <p:sp>
        <p:nvSpPr>
          <p:cNvPr id="1732" name="Google Shape;1732;p6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3" name="Google Shape;1733;p6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once, gently. Skip it if they clearly already know.</a:t>
            </a:r>
            <a:endParaRPr b="0" i="0" spc="0" sz="900" u="none" cap="none" strike="noStrike">
              <a:solidFill>
                <a:schemeClr val="dk1"/>
              </a:solidFill>
              <a:latin typeface="Calibri"/>
              <a:ea typeface="Calibri"/>
              <a:cs typeface="Calibri"/>
              <a:sym typeface="Calibri"/>
            </a:endParaRPr>
          </a:p>
        </p:txBody>
      </p:sp>
      <p:sp>
        <p:nvSpPr>
          <p:cNvPr id="1734" name="Google Shape;1734;p6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5" name="Google Shape;1735;p6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6" name="Google Shape;1736;p6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37" name="Google Shape;1737;p6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say the MF is too expensive. What can you offer?</a:t>
            </a:r>
            <a:endParaRPr b="0" i="0" spc="0" sz="1000" u="none" cap="none" strike="noStrike">
              <a:solidFill>
                <a:schemeClr val="dk1"/>
              </a:solidFill>
              <a:latin typeface="Calibri"/>
              <a:ea typeface="Calibri"/>
              <a:cs typeface="Calibri"/>
              <a:sym typeface="Calibri"/>
            </a:endParaRPr>
          </a:p>
        </p:txBody>
      </p:sp>
      <p:sp>
        <p:nvSpPr>
          <p:cNvPr id="1738" name="Google Shape;1738;p6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9" name="Google Shape;1739;p6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MF by $10–$15 off the original MF.</a:t>
            </a:r>
            <a:endParaRPr b="0" i="0" spc="0" sz="900" u="none" cap="none" strike="noStrike">
              <a:solidFill>
                <a:schemeClr val="dk1"/>
              </a:solidFill>
              <a:latin typeface="Calibri"/>
              <a:ea typeface="Calibri"/>
              <a:cs typeface="Calibri"/>
              <a:sym typeface="Calibri"/>
            </a:endParaRPr>
          </a:p>
        </p:txBody>
      </p:sp>
      <p:sp>
        <p:nvSpPr>
          <p:cNvPr id="1740" name="Google Shape;1740;p6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1" name="Google Shape;1741;p6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2" name="Google Shape;1742;p6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743" name="Google Shape;1743;p6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When do you send the self-refund link?</a:t>
            </a:r>
            <a:endParaRPr b="0" i="0" spc="0" sz="1000" u="none" cap="none" strike="noStrike">
              <a:solidFill>
                <a:schemeClr val="dk1"/>
              </a:solidFill>
              <a:latin typeface="Calibri"/>
              <a:ea typeface="Calibri"/>
              <a:cs typeface="Calibri"/>
              <a:sym typeface="Calibri"/>
            </a:endParaRPr>
          </a:p>
        </p:txBody>
      </p:sp>
      <p:sp>
        <p:nvSpPr>
          <p:cNvPr id="1744" name="Google Shape;1744;p6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5" name="Google Shape;1745;p6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when they want a refund. Enter the voucher code before "Refund Voucher".</a:t>
            </a:r>
            <a:endParaRPr b="0" i="0" spc="0" sz="900" u="none" cap="none" strike="noStrike">
              <a:solidFill>
                <a:schemeClr val="dk1"/>
              </a:solidFill>
              <a:latin typeface="Calibri"/>
              <a:ea typeface="Calibri"/>
              <a:cs typeface="Calibri"/>
              <a:sym typeface="Calibri"/>
            </a:endParaRPr>
          </a:p>
        </p:txBody>
      </p:sp>
      <p:sp>
        <p:nvSpPr>
          <p:cNvPr id="1746" name="Google Shape;1746;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27"/>
                                        </p:tgtEl>
                                        <p:attrNameLst>
                                          <p:attrName>style.visibility</p:attrName>
                                        </p:attrNameLst>
                                      </p:cBhvr>
                                      <p:to>
                                        <p:strVal val="visible"/>
                                      </p:to>
                                    </p:set>
                                    <p:animEffect filter="fade" transition="in">
                                      <p:cBhvr>
                                        <p:cTn dur="600"/>
                                        <p:tgtEl>
                                          <p:spTgt spid="172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33"/>
                                        </p:tgtEl>
                                        <p:attrNameLst>
                                          <p:attrName>style.visibility</p:attrName>
                                        </p:attrNameLst>
                                      </p:cBhvr>
                                      <p:to>
                                        <p:strVal val="visible"/>
                                      </p:to>
                                    </p:set>
                                    <p:animEffect filter="fade" transition="in">
                                      <p:cBhvr>
                                        <p:cTn dur="600"/>
                                        <p:tgtEl>
                                          <p:spTgt spid="173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39"/>
                                        </p:tgtEl>
                                        <p:attrNameLst>
                                          <p:attrName>style.visibility</p:attrName>
                                        </p:attrNameLst>
                                      </p:cBhvr>
                                      <p:to>
                                        <p:strVal val="visible"/>
                                      </p:to>
                                    </p:set>
                                    <p:animEffect filter="fade" transition="in">
                                      <p:cBhvr>
                                        <p:cTn dur="600"/>
                                        <p:tgtEl>
                                          <p:spTgt spid="17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45"/>
                                        </p:tgtEl>
                                        <p:attrNameLst>
                                          <p:attrName>style.visibility</p:attrName>
                                        </p:attrNameLst>
                                      </p:cBhvr>
                                      <p:to>
                                        <p:strVal val="visible"/>
                                      </p:to>
                                    </p:set>
                                    <p:animEffect filter="fade" transition="in">
                                      <p:cBhvr>
                                        <p:cTn dur="600"/>
                                        <p:tgtEl>
                                          <p:spTgt spid="174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1" name="Shape 1751"/>
        <p:cNvGrpSpPr/>
        <p:nvPr/>
      </p:nvGrpSpPr>
      <p:grpSpPr>
        <a:xfrm>
          <a:off x="0" y="0"/>
          <a:ext cx="0" cy="0"/>
          <a:chOff x="0" y="0"/>
          <a:chExt cx="0" cy="0"/>
        </a:xfrm>
      </p:grpSpPr>
      <p:sp>
        <p:nvSpPr>
          <p:cNvPr id="1752" name="Google Shape;1752;p6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PRACTICE</a:t>
            </a:r>
            <a:endParaRPr b="0" i="0" spc="0" sz="800" u="none" cap="none" strike="noStrike">
              <a:solidFill>
                <a:schemeClr val="dk1"/>
              </a:solidFill>
              <a:latin typeface="Calibri"/>
              <a:ea typeface="Calibri"/>
              <a:cs typeface="Calibri"/>
              <a:sym typeface="Calibri"/>
            </a:endParaRPr>
          </a:p>
        </p:txBody>
      </p:sp>
      <p:sp>
        <p:nvSpPr>
          <p:cNvPr id="1753" name="Google Shape;1753;p6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754" name="Google Shape;1754;p6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755" name="Google Shape;1755;p6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6" name="Google Shape;1756;p6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57" name="Google Shape;1757;p6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758" name="Google Shape;1758;p6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759" name="Google Shape;1759;p6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760" name="Google Shape;1760;p6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761" name="Google Shape;1761;p6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2" name="Google Shape;1762;p6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3" name="Google Shape;1763;p6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64" name="Google Shape;1764;p6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of the 4 cases is this? Why?</a:t>
            </a:r>
            <a:endParaRPr b="0" i="0" spc="0" sz="1250" u="none" cap="none" strike="noStrike">
              <a:solidFill>
                <a:schemeClr val="dk1"/>
              </a:solidFill>
              <a:latin typeface="Calibri"/>
              <a:ea typeface="Calibri"/>
              <a:cs typeface="Calibri"/>
              <a:sym typeface="Calibri"/>
            </a:endParaRPr>
          </a:p>
        </p:txBody>
      </p:sp>
      <p:sp>
        <p:nvSpPr>
          <p:cNvPr id="1765" name="Google Shape;1765;p6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is there an FC table yet?</a:t>
            </a:r>
            <a:endParaRPr b="0" i="0" spc="0" sz="1000" u="none" cap="none" strike="noStrike">
              <a:solidFill>
                <a:schemeClr val="dk1"/>
              </a:solidFill>
              <a:latin typeface="Calibri"/>
              <a:ea typeface="Calibri"/>
              <a:cs typeface="Calibri"/>
              <a:sym typeface="Calibri"/>
            </a:endParaRPr>
          </a:p>
        </p:txBody>
      </p:sp>
      <p:sp>
        <p:nvSpPr>
          <p:cNvPr id="1766" name="Google Shape;1766;p6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7" name="Google Shape;1767;p6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8" name="Google Shape;1768;p6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69" name="Google Shape;1769;p6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770" name="Google Shape;1770;p6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Offer, refund link, refund, or close the account?</a:t>
            </a:r>
            <a:endParaRPr b="0" i="0" spc="0" sz="1000" u="none" cap="none" strike="noStrike">
              <a:solidFill>
                <a:schemeClr val="dk1"/>
              </a:solidFill>
              <a:latin typeface="Calibri"/>
              <a:ea typeface="Calibri"/>
              <a:cs typeface="Calibri"/>
              <a:sym typeface="Calibri"/>
            </a:endParaRPr>
          </a:p>
        </p:txBody>
      </p:sp>
      <p:sp>
        <p:nvSpPr>
          <p:cNvPr id="1771" name="Google Shape;1771;p6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2" name="Google Shape;1772;p6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3" name="Google Shape;1773;p6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74" name="Google Shape;1774;p6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775" name="Google Shape;1775;p6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776" name="Google Shape;1776;p6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77" name="Google Shape;1777;p6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778" name="Google Shape;1778;p6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779" name="Google Shape;1779;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4" name="Shape 1784"/>
        <p:cNvGrpSpPr/>
        <p:nvPr/>
      </p:nvGrpSpPr>
      <p:grpSpPr>
        <a:xfrm>
          <a:off x="0" y="0"/>
          <a:ext cx="0" cy="0"/>
          <a:chOff x="0" y="0"/>
          <a:chExt cx="0" cy="0"/>
        </a:xfrm>
      </p:grpSpPr>
      <p:sp>
        <p:nvSpPr>
          <p:cNvPr id="1785" name="Google Shape;1785;p6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chemeClr val="dk1"/>
              </a:solidFill>
              <a:latin typeface="Calibri"/>
              <a:ea typeface="Calibri"/>
              <a:cs typeface="Calibri"/>
              <a:sym typeface="Calibri"/>
            </a:endParaRPr>
          </a:p>
        </p:txBody>
      </p:sp>
      <p:sp>
        <p:nvSpPr>
          <p:cNvPr id="1786" name="Google Shape;1786;p6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FCF Pre-Invoice Cancellation</a:t>
            </a:r>
            <a:endParaRPr b="0" i="0" spc="0" sz="2800" u="none" cap="none" strike="noStrike">
              <a:solidFill>
                <a:schemeClr val="dk1"/>
              </a:solidFill>
              <a:latin typeface="Calibri"/>
              <a:ea typeface="Calibri"/>
              <a:cs typeface="Calibri"/>
              <a:sym typeface="Calibri"/>
            </a:endParaRPr>
          </a:p>
        </p:txBody>
      </p:sp>
      <p:sp>
        <p:nvSpPr>
          <p:cNvPr id="1787" name="Google Shape;1787;p6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Cancelling FCF before the first job is invoiced, and whether to refund.</a:t>
            </a:r>
            <a:endParaRPr b="0" i="0" spc="0" sz="1150" u="none" cap="none" strike="noStrike">
              <a:solidFill>
                <a:schemeClr val="dk1"/>
              </a:solidFill>
              <a:latin typeface="Calibri"/>
              <a:ea typeface="Calibri"/>
              <a:cs typeface="Calibri"/>
              <a:sym typeface="Calibri"/>
            </a:endParaRPr>
          </a:p>
        </p:txBody>
      </p:sp>
      <p:sp>
        <p:nvSpPr>
          <p:cNvPr id="1788" name="Google Shape;1788;p6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789" name="Google Shape;1789;p6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0" name="Google Shape;1790;p6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791" name="Google Shape;1791;p6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this only happens on FCF</a:t>
            </a:r>
            <a:endParaRPr b="0" i="0" spc="0" sz="1050" u="none" cap="none" strike="noStrike">
              <a:solidFill>
                <a:schemeClr val="dk1"/>
              </a:solidFill>
              <a:latin typeface="Calibri"/>
              <a:ea typeface="Calibri"/>
              <a:cs typeface="Calibri"/>
              <a:sym typeface="Calibri"/>
            </a:endParaRPr>
          </a:p>
        </p:txBody>
      </p:sp>
      <p:sp>
        <p:nvSpPr>
          <p:cNvPr id="1792" name="Google Shape;1792;p6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3" name="Google Shape;1793;p6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794" name="Google Shape;1794;p6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internal 24-hour window</a:t>
            </a:r>
            <a:endParaRPr b="0" i="0" spc="0" sz="1050" u="none" cap="none" strike="noStrike">
              <a:solidFill>
                <a:schemeClr val="dk1"/>
              </a:solidFill>
              <a:latin typeface="Calibri"/>
              <a:ea typeface="Calibri"/>
              <a:cs typeface="Calibri"/>
              <a:sym typeface="Calibri"/>
            </a:endParaRPr>
          </a:p>
        </p:txBody>
      </p:sp>
      <p:sp>
        <p:nvSpPr>
          <p:cNvPr id="1795" name="Google Shape;1795;p6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6" name="Google Shape;1796;p6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797" name="Google Shape;1797;p6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refund cheat sheet</a:t>
            </a:r>
            <a:endParaRPr b="0" i="0" spc="0" sz="1050" u="none" cap="none" strike="noStrike">
              <a:solidFill>
                <a:schemeClr val="dk1"/>
              </a:solidFill>
              <a:latin typeface="Calibri"/>
              <a:ea typeface="Calibri"/>
              <a:cs typeface="Calibri"/>
              <a:sym typeface="Calibri"/>
            </a:endParaRPr>
          </a:p>
        </p:txBody>
      </p:sp>
      <p:sp>
        <p:nvSpPr>
          <p:cNvPr id="1798" name="Google Shape;1798;p6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9" name="Google Shape;1799;p6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800" name="Google Shape;1800;p6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process each refund</a:t>
            </a:r>
            <a:endParaRPr b="0" i="0" spc="0" sz="1050" u="none" cap="none" strike="noStrike">
              <a:solidFill>
                <a:schemeClr val="dk1"/>
              </a:solidFill>
              <a:latin typeface="Calibri"/>
              <a:ea typeface="Calibri"/>
              <a:cs typeface="Calibri"/>
              <a:sym typeface="Calibri"/>
            </a:endParaRPr>
          </a:p>
        </p:txBody>
      </p:sp>
      <p:sp>
        <p:nvSpPr>
          <p:cNvPr id="1801" name="Google Shape;1801;p6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2" name="Google Shape;1802;p6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4.png" id="1803" name="Google Shape;1803;p66"/>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1804" name="Google Shape;1804;p6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5" name="Google Shape;1805;p6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6" name="Google Shape;1806;p6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7" name="Google Shape;1807;p6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8" name="Google Shape;1808;p6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9" name="Google Shape;1809;p6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0" name="Google Shape;1810;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5" name="Shape 1815"/>
        <p:cNvGrpSpPr/>
        <p:nvPr/>
      </p:nvGrpSpPr>
      <p:grpSpPr>
        <a:xfrm>
          <a:off x="0" y="0"/>
          <a:ext cx="0" cy="0"/>
          <a:chOff x="0" y="0"/>
          <a:chExt cx="0" cy="0"/>
        </a:xfrm>
      </p:grpSpPr>
      <p:sp>
        <p:nvSpPr>
          <p:cNvPr id="1816" name="Google Shape;1816;p6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17" name="Google Shape;1817;p6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818" name="Google Shape;1818;p6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FCF starts at sign-up, so customers can cancel before any cleaning.</a:t>
            </a:r>
            <a:endParaRPr b="0" i="0" spc="0" sz="1200" u="none" cap="none" strike="noStrike">
              <a:solidFill>
                <a:schemeClr val="dk1"/>
              </a:solidFill>
              <a:latin typeface="Calibri"/>
              <a:ea typeface="Calibri"/>
              <a:cs typeface="Calibri"/>
              <a:sym typeface="Calibri"/>
            </a:endParaRPr>
          </a:p>
        </p:txBody>
      </p:sp>
      <p:sp>
        <p:nvSpPr>
          <p:cNvPr id="1819" name="Google Shape;1819;p67"/>
          <p:cNvSpPr/>
          <p:nvPr/>
        </p:nvSpPr>
        <p:spPr>
          <a:xfrm>
            <a:off x="41148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0" name="Google Shape;1820;p67"/>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Legacy DHJ</a:t>
            </a:r>
            <a:endParaRPr b="0" i="0" spc="0" sz="1050" u="none" cap="none" strike="noStrike">
              <a:solidFill>
                <a:schemeClr val="dk1"/>
              </a:solidFill>
              <a:latin typeface="Calibri"/>
              <a:ea typeface="Calibri"/>
              <a:cs typeface="Calibri"/>
              <a:sym typeface="Calibri"/>
            </a:endParaRPr>
          </a:p>
        </p:txBody>
      </p:sp>
      <p:sp>
        <p:nvSpPr>
          <p:cNvPr id="1821" name="Google Shape;1821;p67"/>
          <p:cNvSpPr txBox="1"/>
          <p:nvPr/>
        </p:nvSpPr>
        <p:spPr>
          <a:xfrm>
            <a:off x="57607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after a completed job</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Can’t self-cancel before the first cleaning</a:t>
            </a:r>
            <a:endParaRPr b="0" i="0" spc="0" sz="1000" u="none" cap="none" strike="noStrike">
              <a:solidFill>
                <a:schemeClr val="dk1"/>
              </a:solidFill>
              <a:latin typeface="Calibri"/>
              <a:ea typeface="Calibri"/>
              <a:cs typeface="Calibri"/>
              <a:sym typeface="Calibri"/>
            </a:endParaRPr>
          </a:p>
        </p:txBody>
      </p:sp>
      <p:sp>
        <p:nvSpPr>
          <p:cNvPr id="1822" name="Google Shape;1822;p67"/>
          <p:cNvSpPr/>
          <p:nvPr/>
        </p:nvSpPr>
        <p:spPr>
          <a:xfrm>
            <a:off x="4663440" y="1325880"/>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3" name="Google Shape;1823;p67"/>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First Cleaning Free (FCF)</a:t>
            </a:r>
            <a:endParaRPr b="0" i="0" spc="0" sz="1050" u="none" cap="none" strike="noStrike">
              <a:solidFill>
                <a:schemeClr val="dk1"/>
              </a:solidFill>
              <a:latin typeface="Calibri"/>
              <a:ea typeface="Calibri"/>
              <a:cs typeface="Calibri"/>
              <a:sym typeface="Calibri"/>
            </a:endParaRPr>
          </a:p>
        </p:txBody>
      </p:sp>
      <p:sp>
        <p:nvSpPr>
          <p:cNvPr id="1824" name="Google Shape;1824;p67"/>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at sign-up</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 self-cancel with zero completed jobs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$19 first month, then $59, auto-renewing</a:t>
            </a:r>
            <a:endParaRPr b="0" i="0" spc="0" sz="1000" u="none" cap="none" strike="noStrike">
              <a:solidFill>
                <a:srgbClr val="1D1D1F"/>
              </a:solidFill>
              <a:latin typeface="Arial"/>
              <a:ea typeface="Arial"/>
              <a:cs typeface="Arial"/>
              <a:sym typeface="Arial"/>
            </a:endParaRPr>
          </a:p>
          <a:p>
            <a:pPr indent="0" lvl="0" marL="457200" marR="0" rtl="0" algn="l">
              <a:lnSpc>
                <a:spcPct val="100000"/>
              </a:lnSpc>
              <a:spcBef>
                <a:spcPts val="400"/>
              </a:spcBef>
              <a:spcAft>
                <a:spcPts val="0"/>
              </a:spcAft>
              <a:buClr>
                <a:srgbClr val="000000"/>
              </a:buClr>
              <a:buSzPts val="1000"/>
              <a:buFont typeface="Arial"/>
              <a:buNone/>
            </a:pPr>
            <a:r>
              <a:t/>
            </a:r>
            <a:endParaRPr b="0" i="0" spc="0" sz="1000" u="none" cap="none" strike="noStrike">
              <a:solidFill>
                <a:srgbClr val="1D1D1F"/>
              </a:solidFill>
              <a:latin typeface="Arial"/>
              <a:ea typeface="Arial"/>
              <a:cs typeface="Arial"/>
              <a:sym typeface="Arial"/>
            </a:endParaRPr>
          </a:p>
        </p:txBody>
      </p:sp>
      <p:sp>
        <p:nvSpPr>
          <p:cNvPr id="1825" name="Google Shape;1825;p67"/>
          <p:cNvSpPr/>
          <p:nvPr/>
        </p:nvSpPr>
        <p:spPr>
          <a:xfrm>
            <a:off x="411480" y="28803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6" name="Google Shape;1826;p67"/>
          <p:cNvPicPr preferRelativeResize="0"/>
          <p:nvPr/>
        </p:nvPicPr>
        <p:blipFill rotWithShape="1">
          <a:blip r:embed="rId3">
            <a:alphaModFix/>
          </a:blip>
          <a:srcRect b="0" l="0" r="0" t="0"/>
          <a:stretch/>
        </p:blipFill>
        <p:spPr>
          <a:xfrm>
            <a:off x="566928" y="3026664"/>
            <a:ext cx="164592" cy="164592"/>
          </a:xfrm>
          <a:prstGeom prst="rect">
            <a:avLst/>
          </a:prstGeom>
          <a:noFill/>
          <a:ln>
            <a:noFill/>
          </a:ln>
        </p:spPr>
      </p:pic>
      <p:sp>
        <p:nvSpPr>
          <p:cNvPr id="1827" name="Google Shape;1827;p67"/>
          <p:cNvSpPr txBox="1"/>
          <p:nvPr/>
        </p:nvSpPr>
        <p:spPr>
          <a:xfrm>
            <a:off x="822960" y="28803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Retention comes first, always.  </a:t>
            </a:r>
            <a:r>
              <a:rPr b="0" i="0" lang="en-US" spc="0" sz="1000" u="none" cap="none" strike="noStrike">
                <a:solidFill>
                  <a:srgbClr val="1D1D1F"/>
                </a:solidFill>
                <a:latin typeface="Arial"/>
                <a:ea typeface="Arial"/>
                <a:cs typeface="Arial"/>
                <a:sym typeface="Arial"/>
              </a:rPr>
              <a:t>Use the refund table only once they've decided to cancel.</a:t>
            </a:r>
            <a:endParaRPr b="0" i="0" spc="0" sz="1000" u="none" cap="none" strike="noStrike">
              <a:solidFill>
                <a:schemeClr val="dk1"/>
              </a:solidFill>
              <a:latin typeface="Calibri"/>
              <a:ea typeface="Calibri"/>
              <a:cs typeface="Calibri"/>
              <a:sym typeface="Calibri"/>
            </a:endParaRPr>
          </a:p>
        </p:txBody>
      </p:sp>
      <p:sp>
        <p:nvSpPr>
          <p:cNvPr id="1828" name="Google Shape;1828;p67"/>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9" name="Google Shape;1829;p67"/>
          <p:cNvPicPr preferRelativeResize="0"/>
          <p:nvPr/>
        </p:nvPicPr>
        <p:blipFill rotWithShape="1">
          <a:blip r:embed="rId4">
            <a:alphaModFix/>
          </a:blip>
          <a:srcRect b="0" l="0" r="0" t="0"/>
          <a:stretch/>
        </p:blipFill>
        <p:spPr>
          <a:xfrm>
            <a:off x="566928" y="3630168"/>
            <a:ext cx="164592" cy="164592"/>
          </a:xfrm>
          <a:prstGeom prst="rect">
            <a:avLst/>
          </a:prstGeom>
          <a:noFill/>
          <a:ln>
            <a:noFill/>
          </a:ln>
        </p:spPr>
      </p:pic>
      <p:sp>
        <p:nvSpPr>
          <p:cNvPr id="1830" name="Google Shape;1830;p67"/>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refund depends on:  </a:t>
            </a:r>
            <a:r>
              <a:rPr b="0" i="0" lang="en-US" spc="0" sz="1000" u="none" cap="none" strike="noStrike">
                <a:solidFill>
                  <a:srgbClr val="1D1D1F"/>
                </a:solidFill>
                <a:latin typeface="Arial"/>
                <a:ea typeface="Arial"/>
                <a:cs typeface="Arial"/>
                <a:sym typeface="Arial"/>
              </a:rPr>
              <a:t>how long they've had it, the cleaning length they chose, and whose fault any failure was.</a:t>
            </a:r>
            <a:endParaRPr b="0" i="0" spc="0" sz="1000" u="none" cap="none" strike="noStrike">
              <a:solidFill>
                <a:schemeClr val="dk1"/>
              </a:solidFill>
              <a:latin typeface="Calibri"/>
              <a:ea typeface="Calibri"/>
              <a:cs typeface="Calibri"/>
              <a:sym typeface="Calibri"/>
            </a:endParaRPr>
          </a:p>
        </p:txBody>
      </p:sp>
      <p:sp>
        <p:nvSpPr>
          <p:cNvPr id="1831" name="Google Shape;1831;p6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32" name="Google Shape;1832;p67"/>
          <p:cNvSpPr/>
          <p:nvPr/>
        </p:nvSpPr>
        <p:spPr>
          <a:xfrm>
            <a:off x="4955525" y="2395575"/>
            <a:ext cx="2997600" cy="2013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000" u="sng" cap="none" strike="noStrike">
                <a:solidFill>
                  <a:schemeClr val="hlink"/>
                </a:solidFill>
                <a:latin typeface="Arial"/>
                <a:ea typeface="Arial"/>
                <a:cs typeface="Arial"/>
                <a:sym typeface="Arial"/>
                <a:hlinkClick r:id="rId5"/>
              </a:rPr>
              <a:t>Let’s see what an FCF customer looks like</a:t>
            </a:r>
            <a:r>
              <a:rPr b="0" i="0" lang="en-US" spc="0" sz="1100" u="none" cap="none" strike="noStrike">
                <a:solidFill>
                  <a:schemeClr val="hlink"/>
                </a:solidFill>
                <a:uFill>
                  <a:noFill/>
                </a:uFill>
                <a:latin typeface="Arial"/>
                <a:ea typeface="Arial"/>
                <a:cs typeface="Arial"/>
                <a:sym typeface="Arial"/>
                <a:hlinkClick r:id="rId6"/>
              </a:rPr>
              <a:t> 🔗</a:t>
            </a:r>
            <a:r>
              <a:rPr b="0" i="0" lang="en-US" spc="0" sz="1100" u="sng" cap="none" strike="noStrike">
                <a:solidFill>
                  <a:schemeClr val="hlink"/>
                </a:solidFill>
                <a:latin typeface="Arial"/>
                <a:ea typeface="Arial"/>
                <a:cs typeface="Arial"/>
                <a:sym typeface="Arial"/>
                <a:hlinkClick r:id="rId7"/>
              </a:rPr>
              <a:t> </a:t>
            </a:r>
            <a:endParaRPr b="0" i="0" spc="0" sz="1100" u="none" cap="none" strike="noStrike">
              <a:solidFill>
                <a:srgbClr val="000000"/>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7" name="Shape 1837"/>
        <p:cNvGrpSpPr/>
        <p:nvPr/>
      </p:nvGrpSpPr>
      <p:grpSpPr>
        <a:xfrm>
          <a:off x="0" y="0"/>
          <a:ext cx="0" cy="0"/>
          <a:chOff x="0" y="0"/>
          <a:chExt cx="0" cy="0"/>
        </a:xfrm>
      </p:grpSpPr>
      <p:sp>
        <p:nvSpPr>
          <p:cNvPr id="1838" name="Google Shape;1838;p6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39" name="Google Shape;1839;p6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Retention strategy</a:t>
            </a:r>
            <a:endParaRPr b="0" i="0" spc="0" sz="2400" u="none" cap="none" strike="noStrike">
              <a:solidFill>
                <a:schemeClr val="dk1"/>
              </a:solidFill>
              <a:latin typeface="Calibri"/>
              <a:ea typeface="Calibri"/>
              <a:cs typeface="Calibri"/>
              <a:sym typeface="Calibri"/>
            </a:endParaRPr>
          </a:p>
        </p:txBody>
      </p:sp>
      <p:sp>
        <p:nvSpPr>
          <p:cNvPr id="1840" name="Google Shape;1840;p6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customer asks to cancel before their first cleaning. Retention comes first.</a:t>
            </a:r>
            <a:endParaRPr b="0" i="0" spc="0" sz="1200" u="none" cap="none" strike="noStrike">
              <a:solidFill>
                <a:schemeClr val="dk1"/>
              </a:solidFill>
              <a:latin typeface="Calibri"/>
              <a:ea typeface="Calibri"/>
              <a:cs typeface="Calibri"/>
              <a:sym typeface="Calibri"/>
            </a:endParaRPr>
          </a:p>
        </p:txBody>
      </p:sp>
      <p:sp>
        <p:nvSpPr>
          <p:cNvPr id="1841" name="Google Shape;1841;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42" name="Google Shape;1842;p68"/>
          <p:cNvSpPr/>
          <p:nvPr/>
        </p:nvSpPr>
        <p:spPr>
          <a:xfrm>
            <a:off x="411480" y="1261872"/>
            <a:ext cx="8321040" cy="329184"/>
          </a:xfrm>
          <a:prstGeom prst="roundRect">
            <a:avLst>
              <a:gd fmla="val 6000" name="adj"/>
            </a:avLst>
          </a:prstGeom>
          <a:solidFill>
            <a:srgbClr val="EEEAF8"/>
          </a:solidFill>
          <a:ln cap="flat" cmpd="sng" w="9525">
            <a:solidFill>
              <a:srgbClr val="5E4A9C"/>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None/>
            </a:pPr>
            <a:r>
              <a:rPr b="1" i="0" lang="en-US" spc="0" sz="950" u="none" cap="none" strike="noStrike">
                <a:solidFill>
                  <a:srgbClr val="5E4A9C"/>
                </a:solidFill>
                <a:latin typeface="Play"/>
                <a:ea typeface="Play"/>
                <a:cs typeface="Play"/>
                <a:sym typeface="Play"/>
              </a:rPr>
              <a:t>Customer requests cancellation:  </a:t>
            </a:r>
            <a:r>
              <a:rPr b="0" i="0" lang="en-US" spc="0" sz="900" u="none" cap="none" strike="noStrike">
                <a:solidFill>
                  <a:srgbClr val="1D1D1F"/>
                </a:solidFill>
                <a:latin typeface="Arial"/>
                <a:ea typeface="Arial"/>
                <a:cs typeface="Arial"/>
                <a:sym typeface="Arial"/>
              </a:rPr>
              <a:t>acknowledge  •  send the self-cancel link or offer to cancel for them  •  don’t say “voucher”</a:t>
            </a:r>
            <a:endParaRPr/>
          </a:p>
        </p:txBody>
      </p:sp>
      <p:sp>
        <p:nvSpPr>
          <p:cNvPr id="1843" name="Google Shape;1843;p68"/>
          <p:cNvSpPr/>
          <p:nvPr/>
        </p:nvSpPr>
        <p:spPr>
          <a:xfrm>
            <a:off x="411480" y="1664208"/>
            <a:ext cx="256032" cy="256032"/>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1</a:t>
            </a:r>
            <a:endParaRPr/>
          </a:p>
        </p:txBody>
      </p:sp>
      <p:sp>
        <p:nvSpPr>
          <p:cNvPr id="1844" name="Google Shape;1844;p68"/>
          <p:cNvSpPr txBox="1"/>
          <p:nvPr/>
        </p:nvSpPr>
        <p:spPr>
          <a:xfrm>
            <a:off x="749808" y="1664208"/>
            <a:ext cx="7955279"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1100" u="none" cap="none" strike="noStrike">
                <a:solidFill>
                  <a:srgbClr val="1D1D1F"/>
                </a:solidFill>
                <a:latin typeface="Play"/>
                <a:ea typeface="Play"/>
                <a:cs typeface="Play"/>
                <a:sym typeface="Play"/>
              </a:rPr>
              <a:t>Identify the root cause &amp; address it</a:t>
            </a:r>
            <a:r>
              <a:rPr b="0" i="0" lang="en-US" spc="0" sz="950" u="none" cap="none" strike="noStrike">
                <a:solidFill>
                  <a:srgbClr val="6E6E73"/>
                </a:solidFill>
                <a:latin typeface="Arial"/>
                <a:ea typeface="Arial"/>
                <a:cs typeface="Arial"/>
                <a:sym typeface="Arial"/>
              </a:rPr>
              <a:t>   (not provided? probe)</a:t>
            </a:r>
            <a:endParaRPr/>
          </a:p>
        </p:txBody>
      </p:sp>
      <p:sp>
        <p:nvSpPr>
          <p:cNvPr id="1845" name="Google Shape;1845;p68"/>
          <p:cNvSpPr/>
          <p:nvPr/>
        </p:nvSpPr>
        <p:spPr>
          <a:xfrm>
            <a:off x="411480" y="1975104"/>
            <a:ext cx="2011679" cy="1828800"/>
          </a:xfrm>
          <a:prstGeom prst="roundRect">
            <a:avLst>
              <a:gd fmla="val 6000" name="adj"/>
            </a:avLst>
          </a:prstGeom>
          <a:solidFill>
            <a:srgbClr val="FCEADF"/>
          </a:solidFill>
          <a:ln cap="flat" cmpd="sng" w="9525">
            <a:solidFill>
              <a:srgbClr val="C0612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46" name="Google Shape;1846;p68"/>
          <p:cNvSpPr/>
          <p:nvPr/>
        </p:nvSpPr>
        <p:spPr>
          <a:xfrm>
            <a:off x="411480" y="1975104"/>
            <a:ext cx="2011679" cy="292608"/>
          </a:xfrm>
          <a:prstGeom prst="roundRect">
            <a:avLst>
              <a:gd fmla="val 6000" name="adj"/>
            </a:avLst>
          </a:prstGeom>
          <a:solidFill>
            <a:srgbClr val="C061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Personal / service limits</a:t>
            </a:r>
            <a:endParaRPr/>
          </a:p>
        </p:txBody>
      </p:sp>
      <p:sp>
        <p:nvSpPr>
          <p:cNvPr id="1847" name="Google Shape;1847;p68"/>
          <p:cNvSpPr txBox="1"/>
          <p:nvPr/>
        </p:nvSpPr>
        <p:spPr>
          <a:xfrm>
            <a:off x="502920" y="2322576"/>
            <a:ext cx="1828799" cy="14447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pc="0" sz="750" u="none" cap="none" strike="noStrike">
                <a:solidFill>
                  <a:srgbClr val="6E6E73"/>
                </a:solidFill>
                <a:latin typeface="Arial"/>
                <a:ea typeface="Arial"/>
                <a:cs typeface="Arial"/>
                <a:sym typeface="Arial"/>
              </a:rPr>
              <a:t>Ex: Off-platform cleaner, moved, self-cleaning, no credit card, same-day cleaning needs</a:t>
            </a:r>
            <a:endParaRPr/>
          </a:p>
          <a:p>
            <a:pPr indent="0" lvl="0" marL="0" marR="0" rtl="0" algn="l">
              <a:lnSpc>
                <a:spcPct val="100000"/>
              </a:lnSpc>
              <a:spcBef>
                <a:spcPts val="300"/>
              </a:spcBef>
              <a:spcAft>
                <a:spcPts val="0"/>
              </a:spcAft>
              <a:buNone/>
            </a:pPr>
            <a:r>
              <a:rPr b="0" i="0" lang="en-US" spc="0" sz="800" u="none" cap="none" strike="noStrike">
                <a:solidFill>
                  <a:srgbClr val="1D1D1F"/>
                </a:solidFill>
                <a:latin typeface="Arial"/>
                <a:ea typeface="Arial"/>
                <a:cs typeface="Arial"/>
                <a:sym typeface="Arial"/>
              </a:rPr>
              <a:t>• Address the concern</a:t>
            </a:r>
            <a:endParaRPr/>
          </a:p>
          <a:p>
            <a:pPr indent="0" lvl="0" marL="0" marR="0" rtl="0" algn="l">
              <a:lnSpc>
                <a:spcPct val="100000"/>
              </a:lnSpc>
              <a:spcBef>
                <a:spcPts val="300"/>
              </a:spcBef>
              <a:spcAft>
                <a:spcPts val="0"/>
              </a:spcAft>
              <a:buNone/>
            </a:pPr>
            <a:r>
              <a:rPr b="0" i="0" lang="en-US" spc="0" sz="800" u="none" cap="none" strike="noStrike">
                <a:solidFill>
                  <a:srgbClr val="1D1D1F"/>
                </a:solidFill>
                <a:latin typeface="Arial"/>
                <a:ea typeface="Arial"/>
                <a:cs typeface="Arial"/>
                <a:sym typeface="Arial"/>
              </a:rPr>
              <a:t>• Highlight the value of the FC membership</a:t>
            </a:r>
            <a:endParaRPr/>
          </a:p>
          <a:p>
            <a:pPr indent="0" lvl="0" marL="0" marR="0" rtl="0" algn="l">
              <a:lnSpc>
                <a:spcPct val="100000"/>
              </a:lnSpc>
              <a:spcBef>
                <a:spcPts val="300"/>
              </a:spcBef>
              <a:spcAft>
                <a:spcPts val="0"/>
              </a:spcAft>
              <a:buNone/>
            </a:pPr>
            <a:r>
              <a:rPr b="0" i="0" lang="en-US" spc="0" sz="800" u="none" cap="none" strike="noStrike">
                <a:solidFill>
                  <a:srgbClr val="1D1D1F"/>
                </a:solidFill>
                <a:latin typeface="Arial"/>
                <a:ea typeface="Arial"/>
                <a:cs typeface="Arial"/>
                <a:sym typeface="Arial"/>
              </a:rPr>
              <a:t>• Encourage booking the free or heavily discounted cleaning, if it fits</a:t>
            </a:r>
            <a:endParaRPr/>
          </a:p>
        </p:txBody>
      </p:sp>
      <p:sp>
        <p:nvSpPr>
          <p:cNvPr id="1848" name="Google Shape;1848;p68"/>
          <p:cNvSpPr/>
          <p:nvPr/>
        </p:nvSpPr>
        <p:spPr>
          <a:xfrm>
            <a:off x="2514600" y="1975104"/>
            <a:ext cx="2011679" cy="1828800"/>
          </a:xfrm>
          <a:prstGeom prst="roundRect">
            <a:avLst>
              <a:gd fmla="val 6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49" name="Google Shape;1849;p68"/>
          <p:cNvSpPr/>
          <p:nvPr/>
        </p:nvSpPr>
        <p:spPr>
          <a:xfrm>
            <a:off x="2514600" y="1975104"/>
            <a:ext cx="2011679" cy="292608"/>
          </a:xfrm>
          <a:prstGeom prst="roundRect">
            <a:avLst>
              <a:gd fmla="val 6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Service failure</a:t>
            </a:r>
            <a:endParaRPr/>
          </a:p>
        </p:txBody>
      </p:sp>
      <p:sp>
        <p:nvSpPr>
          <p:cNvPr id="1850" name="Google Shape;1850;p68"/>
          <p:cNvSpPr txBox="1"/>
          <p:nvPr/>
        </p:nvSpPr>
        <p:spPr>
          <a:xfrm>
            <a:off x="2606040" y="2322576"/>
            <a:ext cx="1828799" cy="14447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pc="0" sz="750" u="none" cap="none" strike="noStrike">
                <a:solidFill>
                  <a:srgbClr val="6E6E73"/>
                </a:solidFill>
                <a:latin typeface="Arial"/>
                <a:ea typeface="Arial"/>
                <a:cs typeface="Arial"/>
                <a:sym typeface="Arial"/>
              </a:rPr>
              <a:t>Ex: Invalid LO, CP cancellation, CP LMC, no CP claim, false invoice, CP no-show</a:t>
            </a:r>
            <a:endParaRPr/>
          </a:p>
          <a:p>
            <a:pPr indent="0" lvl="0" marL="0" marR="0" rtl="0" algn="l">
              <a:lnSpc>
                <a:spcPct val="100000"/>
              </a:lnSpc>
              <a:spcBef>
                <a:spcPts val="300"/>
              </a:spcBef>
              <a:spcAft>
                <a:spcPts val="0"/>
              </a:spcAft>
              <a:buNone/>
            </a:pPr>
            <a:r>
              <a:rPr b="0" i="0" lang="en-US" spc="0" sz="800" u="none" cap="none" strike="noStrike">
                <a:solidFill>
                  <a:srgbClr val="1D1D1F"/>
                </a:solidFill>
                <a:latin typeface="Arial"/>
                <a:ea typeface="Arial"/>
                <a:cs typeface="Arial"/>
                <a:sym typeface="Arial"/>
              </a:rPr>
              <a:t>• Fix it (block / coach / penalize the CP) AND resolve it</a:t>
            </a:r>
            <a:endParaRPr/>
          </a:p>
          <a:p>
            <a:pPr indent="0" lvl="0" marL="0" marR="0" rtl="0" algn="l">
              <a:lnSpc>
                <a:spcPct val="100000"/>
              </a:lnSpc>
              <a:spcBef>
                <a:spcPts val="300"/>
              </a:spcBef>
              <a:spcAft>
                <a:spcPts val="0"/>
              </a:spcAft>
              <a:buNone/>
            </a:pPr>
            <a:r>
              <a:rPr b="0" i="0" lang="en-US" spc="0" sz="800" u="none" cap="none" strike="noStrike">
                <a:solidFill>
                  <a:srgbClr val="1D1D1F"/>
                </a:solidFill>
                <a:latin typeface="Arial"/>
                <a:ea typeface="Arial"/>
                <a:cs typeface="Arial"/>
                <a:sym typeface="Arial"/>
              </a:rPr>
              <a:t>• Offer priority booking for the next clean</a:t>
            </a:r>
            <a:endParaRPr/>
          </a:p>
          <a:p>
            <a:pPr indent="0" lvl="0" marL="0" marR="0" rtl="0" algn="l">
              <a:lnSpc>
                <a:spcPct val="100000"/>
              </a:lnSpc>
              <a:spcBef>
                <a:spcPts val="300"/>
              </a:spcBef>
              <a:spcAft>
                <a:spcPts val="0"/>
              </a:spcAft>
              <a:buNone/>
            </a:pPr>
            <a:r>
              <a:rPr b="0" i="0" lang="en-US" spc="0" sz="800" u="none" cap="none" strike="noStrike">
                <a:solidFill>
                  <a:srgbClr val="1D1D1F"/>
                </a:solidFill>
                <a:latin typeface="Arial"/>
                <a:ea typeface="Arial"/>
                <a:cs typeface="Arial"/>
                <a:sym typeface="Arial"/>
              </a:rPr>
              <a:t>• No credits: the cleaning is already free or heavily discounted</a:t>
            </a:r>
            <a:endParaRPr/>
          </a:p>
          <a:p>
            <a:pPr indent="0" lvl="0" marL="0" marR="0" rtl="0" algn="l">
              <a:lnSpc>
                <a:spcPct val="100000"/>
              </a:lnSpc>
              <a:spcBef>
                <a:spcPts val="300"/>
              </a:spcBef>
              <a:spcAft>
                <a:spcPts val="0"/>
              </a:spcAft>
              <a:buNone/>
            </a:pPr>
            <a:r>
              <a:rPr b="0" i="0" lang="en-US" spc="0" sz="800" u="none" cap="none" strike="noStrike">
                <a:solidFill>
                  <a:srgbClr val="1D1D1F"/>
                </a:solidFill>
                <a:latin typeface="Arial"/>
                <a:ea typeface="Arial"/>
                <a:cs typeface="Arial"/>
                <a:sym typeface="Arial"/>
              </a:rPr>
              <a:t>• Next MF within 2 weeks? Offer a free month</a:t>
            </a:r>
            <a:endParaRPr/>
          </a:p>
        </p:txBody>
      </p:sp>
      <p:sp>
        <p:nvSpPr>
          <p:cNvPr id="1851" name="Google Shape;1851;p68"/>
          <p:cNvSpPr/>
          <p:nvPr/>
        </p:nvSpPr>
        <p:spPr>
          <a:xfrm>
            <a:off x="4617720" y="1975104"/>
            <a:ext cx="2011679" cy="1828800"/>
          </a:xfrm>
          <a:prstGeom prst="roundRect">
            <a:avLst>
              <a:gd fmla="val 6000" name="adj"/>
            </a:avLst>
          </a:prstGeom>
          <a:solidFill>
            <a:srgbClr val="E3EEF7"/>
          </a:solidFill>
          <a:ln cap="flat" cmpd="sng" w="9525">
            <a:solidFill>
              <a:srgbClr val="2F6FA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52" name="Google Shape;1852;p68"/>
          <p:cNvSpPr/>
          <p:nvPr/>
        </p:nvSpPr>
        <p:spPr>
          <a:xfrm>
            <a:off x="4617720" y="1975104"/>
            <a:ext cx="2011679" cy="292608"/>
          </a:xfrm>
          <a:prstGeom prst="roundRect">
            <a:avLst>
              <a:gd fmla="val 6000" name="adj"/>
            </a:avLst>
          </a:prstGeom>
          <a:solidFill>
            <a:srgbClr val="2F6FA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Customer-fault failure</a:t>
            </a:r>
            <a:endParaRPr/>
          </a:p>
        </p:txBody>
      </p:sp>
      <p:sp>
        <p:nvSpPr>
          <p:cNvPr id="1853" name="Google Shape;1853;p68"/>
          <p:cNvSpPr txBox="1"/>
          <p:nvPr/>
        </p:nvSpPr>
        <p:spPr>
          <a:xfrm>
            <a:off x="4709159" y="2322576"/>
            <a:ext cx="1828799" cy="14447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pc="0" sz="750" u="none" cap="none" strike="noStrike">
                <a:solidFill>
                  <a:srgbClr val="6E6E73"/>
                </a:solidFill>
                <a:latin typeface="Arial"/>
                <a:ea typeface="Arial"/>
                <a:cs typeface="Arial"/>
                <a:sym typeface="Arial"/>
              </a:rPr>
              <a:t>Ex: Valid LO submission, customer LMC</a:t>
            </a:r>
            <a:endParaRPr/>
          </a:p>
          <a:p>
            <a:pPr indent="0" lvl="0" marL="0" marR="0" rtl="0" algn="l">
              <a:lnSpc>
                <a:spcPct val="100000"/>
              </a:lnSpc>
              <a:spcBef>
                <a:spcPts val="300"/>
              </a:spcBef>
              <a:spcAft>
                <a:spcPts val="0"/>
              </a:spcAft>
              <a:buNone/>
            </a:pPr>
            <a:r>
              <a:rPr b="0" i="0" lang="en-US" spc="0" sz="800" u="none" cap="none" strike="noStrike">
                <a:solidFill>
                  <a:srgbClr val="1D1D1F"/>
                </a:solidFill>
                <a:latin typeface="Arial"/>
                <a:ea typeface="Arial"/>
                <a:cs typeface="Arial"/>
                <a:sym typeface="Arial"/>
              </a:rPr>
              <a:t>• C still gets the free / heavily discounted cleaning from their original purchase</a:t>
            </a:r>
            <a:endParaRPr/>
          </a:p>
          <a:p>
            <a:pPr indent="0" lvl="0" marL="0" marR="0" rtl="0" algn="l">
              <a:lnSpc>
                <a:spcPct val="100000"/>
              </a:lnSpc>
              <a:spcBef>
                <a:spcPts val="300"/>
              </a:spcBef>
              <a:spcAft>
                <a:spcPts val="0"/>
              </a:spcAft>
              <a:buNone/>
            </a:pPr>
            <a:r>
              <a:rPr b="0" i="0" lang="en-US" spc="0" sz="800" u="none" cap="none" strike="noStrike">
                <a:solidFill>
                  <a:srgbClr val="1D1D1F"/>
                </a:solidFill>
                <a:latin typeface="Arial"/>
                <a:ea typeface="Arial"/>
                <a:cs typeface="Arial"/>
                <a:sym typeface="Arial"/>
              </a:rPr>
              <a:t>• Refund any LO or LMC charge, whichever applies</a:t>
            </a:r>
            <a:endParaRPr/>
          </a:p>
        </p:txBody>
      </p:sp>
      <p:sp>
        <p:nvSpPr>
          <p:cNvPr id="1854" name="Google Shape;1854;p68"/>
          <p:cNvSpPr/>
          <p:nvPr/>
        </p:nvSpPr>
        <p:spPr>
          <a:xfrm>
            <a:off x="6720840" y="1975104"/>
            <a:ext cx="2011679" cy="1828800"/>
          </a:xfrm>
          <a:prstGeom prst="roundRect">
            <a:avLst>
              <a:gd fmla="val 6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55" name="Google Shape;1855;p68"/>
          <p:cNvSpPr/>
          <p:nvPr/>
        </p:nvSpPr>
        <p:spPr>
          <a:xfrm>
            <a:off x="6720840" y="1975104"/>
            <a:ext cx="2011679" cy="292608"/>
          </a:xfrm>
          <a:prstGeom prst="roundRect">
            <a:avLst>
              <a:gd fmla="val 6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Membership terms</a:t>
            </a:r>
            <a:endParaRPr/>
          </a:p>
        </p:txBody>
      </p:sp>
      <p:sp>
        <p:nvSpPr>
          <p:cNvPr id="1856" name="Google Shape;1856;p68"/>
          <p:cNvSpPr txBox="1"/>
          <p:nvPr/>
        </p:nvSpPr>
        <p:spPr>
          <a:xfrm>
            <a:off x="6812279" y="2322576"/>
            <a:ext cx="1828799" cy="14447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pc="0" sz="750" u="none" cap="none" strike="noStrike">
                <a:solidFill>
                  <a:srgbClr val="6E6E73"/>
                </a:solidFill>
                <a:latin typeface="Arial"/>
                <a:ea typeface="Arial"/>
                <a:cs typeface="Arial"/>
                <a:sym typeface="Arial"/>
              </a:rPr>
              <a:t>Ex: MF too expensive, MCT too long, unaware of membership, one-time cleaning only</a:t>
            </a:r>
            <a:endParaRPr/>
          </a:p>
          <a:p>
            <a:pPr indent="0" lvl="0" marL="0" marR="0" rtl="0" algn="l">
              <a:lnSpc>
                <a:spcPct val="100000"/>
              </a:lnSpc>
              <a:spcBef>
                <a:spcPts val="300"/>
              </a:spcBef>
              <a:spcAft>
                <a:spcPts val="0"/>
              </a:spcAft>
              <a:buNone/>
            </a:pPr>
            <a:r>
              <a:rPr b="0" i="0" lang="en-US" spc="0" sz="800" u="none" cap="none" strike="noStrike">
                <a:solidFill>
                  <a:srgbClr val="1D1D1F"/>
                </a:solidFill>
                <a:latin typeface="Arial"/>
                <a:ea typeface="Arial"/>
                <a:cs typeface="Arial"/>
                <a:sym typeface="Arial"/>
              </a:rPr>
              <a:t>• MF too expensive: $10–$15 off the original $59</a:t>
            </a:r>
            <a:endParaRPr/>
          </a:p>
          <a:p>
            <a:pPr indent="0" lvl="0" marL="0" marR="0" rtl="0" algn="l">
              <a:lnSpc>
                <a:spcPct val="100000"/>
              </a:lnSpc>
              <a:spcBef>
                <a:spcPts val="300"/>
              </a:spcBef>
              <a:spcAft>
                <a:spcPts val="0"/>
              </a:spcAft>
              <a:buNone/>
            </a:pPr>
            <a:r>
              <a:rPr b="0" i="0" lang="en-US" spc="0" sz="800" u="none" cap="none" strike="noStrike">
                <a:solidFill>
                  <a:srgbClr val="1D1D1F"/>
                </a:solidFill>
                <a:latin typeface="Arial"/>
                <a:ea typeface="Arial"/>
                <a:cs typeface="Arial"/>
                <a:sym typeface="Arial"/>
              </a:rPr>
              <a:t>• MCT too long: 1 month off the original 6-month MCT</a:t>
            </a:r>
            <a:endParaRPr/>
          </a:p>
          <a:p>
            <a:pPr indent="0" lvl="0" marL="0" marR="0" rtl="0" algn="l">
              <a:lnSpc>
                <a:spcPct val="100000"/>
              </a:lnSpc>
              <a:spcBef>
                <a:spcPts val="300"/>
              </a:spcBef>
              <a:spcAft>
                <a:spcPts val="0"/>
              </a:spcAft>
              <a:buNone/>
            </a:pPr>
            <a:r>
              <a:rPr b="0" i="0" lang="en-US" spc="0" sz="800" u="none" cap="none" strike="noStrike">
                <a:solidFill>
                  <a:srgbClr val="1D1D1F"/>
                </a:solidFill>
                <a:latin typeface="Arial"/>
                <a:ea typeface="Arial"/>
                <a:cs typeface="Arial"/>
                <a:sym typeface="Arial"/>
              </a:rPr>
              <a:t>• Unaware: address it, then probe the service experience</a:t>
            </a:r>
            <a:endParaRPr/>
          </a:p>
          <a:p>
            <a:pPr indent="0" lvl="0" marL="0" marR="0" rtl="0" algn="l">
              <a:lnSpc>
                <a:spcPct val="100000"/>
              </a:lnSpc>
              <a:spcBef>
                <a:spcPts val="300"/>
              </a:spcBef>
              <a:spcAft>
                <a:spcPts val="0"/>
              </a:spcAft>
              <a:buNone/>
            </a:pPr>
            <a:r>
              <a:rPr b="0" i="0" lang="en-US" spc="0" sz="800" u="none" cap="none" strike="noStrike">
                <a:solidFill>
                  <a:srgbClr val="1D1D1F"/>
                </a:solidFill>
                <a:latin typeface="Arial"/>
                <a:ea typeface="Arial"/>
                <a:cs typeface="Arial"/>
                <a:sym typeface="Arial"/>
              </a:rPr>
              <a:t>• One-time only: OTC at full price, upfront</a:t>
            </a:r>
            <a:endParaRPr/>
          </a:p>
        </p:txBody>
      </p:sp>
      <p:sp>
        <p:nvSpPr>
          <p:cNvPr id="1857" name="Google Shape;1857;p68"/>
          <p:cNvSpPr/>
          <p:nvPr/>
        </p:nvSpPr>
        <p:spPr>
          <a:xfrm>
            <a:off x="411480" y="3877056"/>
            <a:ext cx="8321040" cy="310896"/>
          </a:xfrm>
          <a:prstGeom prst="roundRect">
            <a:avLst>
              <a:gd fmla="val 6000" name="adj"/>
            </a:avLst>
          </a:prstGeom>
          <a:solidFill>
            <a:srgbClr val="FFF3D6"/>
          </a:solidFill>
          <a:ln cap="flat" cmpd="sng" w="9525">
            <a:solidFill>
              <a:srgbClr val="9A6410"/>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None/>
            </a:pPr>
            <a:r>
              <a:rPr b="1" i="0" lang="en-US" spc="0" sz="950" u="none" cap="none" strike="noStrike">
                <a:solidFill>
                  <a:srgbClr val="9A6410"/>
                </a:solidFill>
                <a:latin typeface="Play"/>
                <a:ea typeface="Play"/>
                <a:cs typeface="Play"/>
                <a:sym typeface="Play"/>
              </a:rPr>
              <a:t>NOTE: </a:t>
            </a:r>
            <a:r>
              <a:rPr b="0" i="0" lang="en-US" spc="0" sz="950" u="none" cap="none" strike="noStrike">
                <a:solidFill>
                  <a:srgbClr val="1D1D1F"/>
                </a:solidFill>
                <a:latin typeface="Arial"/>
                <a:ea typeface="Arial"/>
                <a:cs typeface="Arial"/>
                <a:sym typeface="Arial"/>
              </a:rPr>
              <a:t>multiple unused, paid monthly fees? Offer up to </a:t>
            </a:r>
            <a:r>
              <a:rPr b="1" i="0" lang="en-US" spc="0" sz="950" u="none" cap="none" strike="noStrike">
                <a:solidFill>
                  <a:srgbClr val="1D1D1F"/>
                </a:solidFill>
                <a:latin typeface="Play"/>
                <a:ea typeface="Play"/>
                <a:cs typeface="Play"/>
                <a:sym typeface="Play"/>
              </a:rPr>
              <a:t>3 free months</a:t>
            </a:r>
            <a:r>
              <a:rPr b="0" i="0" lang="en-US" spc="0" sz="950" u="none" cap="none" strike="noStrike">
                <a:solidFill>
                  <a:srgbClr val="1D1D1F"/>
                </a:solidFill>
                <a:latin typeface="Arial"/>
                <a:ea typeface="Arial"/>
                <a:cs typeface="Arial"/>
                <a:sym typeface="Arial"/>
              </a:rPr>
              <a:t> on top of the standard retention offers.</a:t>
            </a:r>
            <a:endParaRPr/>
          </a:p>
        </p:txBody>
      </p:sp>
      <p:sp>
        <p:nvSpPr>
          <p:cNvPr id="1858" name="Google Shape;1858;p68"/>
          <p:cNvSpPr/>
          <p:nvPr/>
        </p:nvSpPr>
        <p:spPr>
          <a:xfrm>
            <a:off x="411480" y="4297680"/>
            <a:ext cx="256032" cy="256032"/>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2</a:t>
            </a:r>
            <a:endParaRPr/>
          </a:p>
        </p:txBody>
      </p:sp>
      <p:sp>
        <p:nvSpPr>
          <p:cNvPr id="1859" name="Google Shape;1859;p68"/>
          <p:cNvSpPr/>
          <p:nvPr/>
        </p:nvSpPr>
        <p:spPr>
          <a:xfrm>
            <a:off x="749808" y="4242816"/>
            <a:ext cx="7982712" cy="402336"/>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None/>
            </a:pPr>
            <a:r>
              <a:rPr b="1" i="0" lang="en-US" spc="0" sz="1000" u="none" cap="none" strike="noStrike">
                <a:solidFill>
                  <a:srgbClr val="0B7A6F"/>
                </a:solidFill>
                <a:latin typeface="Play"/>
                <a:ea typeface="Play"/>
                <a:cs typeface="Play"/>
                <a:sym typeface="Play"/>
              </a:rPr>
              <a:t>📅  Set a Timed Reminder (TR) </a:t>
            </a:r>
            <a:r>
              <a:rPr b="1" i="0" lang="en-US" spc="0" sz="1000" u="none" cap="none" strike="noStrike">
                <a:solidFill>
                  <a:srgbClr val="1D1D1F"/>
                </a:solidFill>
                <a:latin typeface="Play"/>
                <a:ea typeface="Play"/>
                <a:cs typeface="Play"/>
                <a:sym typeface="Play"/>
              </a:rPr>
              <a:t>at least 3 days before the next MF</a:t>
            </a:r>
            <a:r>
              <a:rPr b="0" i="0" lang="en-US" spc="0" sz="950" u="none" cap="none" strike="noStrike">
                <a:solidFill>
                  <a:srgbClr val="1D1D1F"/>
                </a:solidFill>
                <a:latin typeface="Arial"/>
                <a:ea typeface="Arial"/>
                <a:cs typeface="Arial"/>
                <a:sym typeface="Arial"/>
              </a:rPr>
              <a:t> to cancel FC if the customer doesn’t respond to the retention attempt.</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4" name="Shape 1864"/>
        <p:cNvGrpSpPr/>
        <p:nvPr/>
      </p:nvGrpSpPr>
      <p:grpSpPr>
        <a:xfrm>
          <a:off x="0" y="0"/>
          <a:ext cx="0" cy="0"/>
          <a:chOff x="0" y="0"/>
          <a:chExt cx="0" cy="0"/>
        </a:xfrm>
      </p:grpSpPr>
      <p:sp>
        <p:nvSpPr>
          <p:cNvPr id="1865" name="Google Shape;1865;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66" name="Google Shape;1866;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strategy</a:t>
            </a:r>
            <a:endParaRPr b="0" i="0" spc="0" sz="2400" u="none" cap="none" strike="noStrike">
              <a:solidFill>
                <a:schemeClr val="dk1"/>
              </a:solidFill>
              <a:latin typeface="Calibri"/>
              <a:ea typeface="Calibri"/>
              <a:cs typeface="Calibri"/>
              <a:sym typeface="Calibri"/>
            </a:endParaRPr>
          </a:p>
        </p:txBody>
      </p:sp>
      <p:sp>
        <p:nvSpPr>
          <p:cNvPr id="1867" name="Google Shape;1867;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didn’t work. Close it out cleanly.</a:t>
            </a:r>
            <a:endParaRPr b="0" i="0" spc="0" sz="1200" u="none" cap="none" strike="noStrike">
              <a:solidFill>
                <a:schemeClr val="dk1"/>
              </a:solidFill>
              <a:latin typeface="Calibri"/>
              <a:ea typeface="Calibri"/>
              <a:cs typeface="Calibri"/>
              <a:sym typeface="Calibri"/>
            </a:endParaRPr>
          </a:p>
        </p:txBody>
      </p:sp>
      <p:sp>
        <p:nvSpPr>
          <p:cNvPr id="1868" name="Google Shape;1868;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69" name="Google Shape;1869;p69"/>
          <p:cNvSpPr/>
          <p:nvPr/>
        </p:nvSpPr>
        <p:spPr>
          <a:xfrm>
            <a:off x="411480" y="1298448"/>
            <a:ext cx="8321040" cy="731520"/>
          </a:xfrm>
          <a:prstGeom prst="roundRect">
            <a:avLst>
              <a:gd fmla="val 6000" name="adj"/>
            </a:avLst>
          </a:prstGeom>
          <a:solidFill>
            <a:srgbClr val="FCEBEA"/>
          </a:solidFill>
          <a:ln cap="flat" cmpd="sng" w="9525">
            <a:solidFill>
              <a:srgbClr val="B3261E"/>
            </a:solidFill>
            <a:prstDash val="solid"/>
            <a:round/>
            <a:headEnd len="sm" w="sm" type="none"/>
            <a:tailEnd len="sm" w="sm" type="none"/>
          </a:ln>
        </p:spPr>
        <p:txBody>
          <a:bodyPr anchorCtr="0" anchor="ctr" bIns="0" lIns="182875" spcFirstLastPara="1" rIns="182875" wrap="square" tIns="0">
            <a:noAutofit/>
          </a:bodyPr>
          <a:lstStyle/>
          <a:p>
            <a:pPr indent="0" lvl="0" marL="0" marR="0" rtl="0" algn="l">
              <a:lnSpc>
                <a:spcPct val="100000"/>
              </a:lnSpc>
              <a:spcBef>
                <a:spcPts val="0"/>
              </a:spcBef>
              <a:spcAft>
                <a:spcPts val="0"/>
              </a:spcAft>
              <a:buNone/>
            </a:pPr>
            <a:r>
              <a:rPr b="1" i="0" lang="en-US" spc="0" sz="800" u="none" cap="none" strike="noStrike">
                <a:solidFill>
                  <a:srgbClr val="B3261E"/>
                </a:solidFill>
                <a:latin typeface="Play"/>
                <a:ea typeface="Play"/>
                <a:cs typeface="Play"/>
                <a:sym typeface="Play"/>
              </a:rPr>
              <a:t>WHEN</a:t>
            </a:r>
            <a:endParaRPr/>
          </a:p>
          <a:p>
            <a:pPr indent="0" lvl="0" marL="0" marR="0" rtl="0" algn="l">
              <a:lnSpc>
                <a:spcPct val="100000"/>
              </a:lnSpc>
              <a:spcBef>
                <a:spcPts val="200"/>
              </a:spcBef>
              <a:spcAft>
                <a:spcPts val="0"/>
              </a:spcAft>
              <a:buNone/>
            </a:pPr>
            <a:r>
              <a:rPr b="1" i="0" lang="en-US" spc="0" sz="1100" u="none" cap="none" strike="noStrike">
                <a:solidFill>
                  <a:srgbClr val="1D1D1F"/>
                </a:solidFill>
                <a:latin typeface="Play"/>
                <a:ea typeface="Play"/>
                <a:cs typeface="Play"/>
                <a:sym typeface="Play"/>
              </a:rPr>
              <a:t>The TR triggers and C hasn’t responded</a:t>
            </a:r>
            <a:r>
              <a:rPr b="0" i="0" lang="en-US" spc="0" sz="1000" u="none" cap="none" strike="noStrike">
                <a:solidFill>
                  <a:srgbClr val="6E6E73"/>
                </a:solidFill>
                <a:latin typeface="Arial"/>
                <a:ea typeface="Arial"/>
                <a:cs typeface="Arial"/>
                <a:sym typeface="Arial"/>
              </a:rPr>
              <a:t>   or   </a:t>
            </a:r>
            <a:r>
              <a:rPr b="1" i="0" lang="en-US" spc="0" sz="1100" u="none" cap="none" strike="noStrike">
                <a:solidFill>
                  <a:srgbClr val="1D1D1F"/>
                </a:solidFill>
                <a:latin typeface="Play"/>
                <a:ea typeface="Play"/>
                <a:cs typeface="Play"/>
                <a:sym typeface="Play"/>
              </a:rPr>
              <a:t>C responds and still insists on cancelling after the retention attempt</a:t>
            </a:r>
            <a:endParaRPr/>
          </a:p>
        </p:txBody>
      </p:sp>
      <p:sp>
        <p:nvSpPr>
          <p:cNvPr id="1870" name="Google Shape;1870;p69"/>
          <p:cNvSpPr/>
          <p:nvPr/>
        </p:nvSpPr>
        <p:spPr>
          <a:xfrm>
            <a:off x="411480" y="2286000"/>
            <a:ext cx="256032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71" name="Google Shape;1871;p69"/>
          <p:cNvSpPr/>
          <p:nvPr/>
        </p:nvSpPr>
        <p:spPr>
          <a:xfrm>
            <a:off x="576072" y="2615184"/>
            <a:ext cx="256032" cy="256032"/>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1</a:t>
            </a:r>
            <a:endParaRPr/>
          </a:p>
        </p:txBody>
      </p:sp>
      <p:sp>
        <p:nvSpPr>
          <p:cNvPr id="1872" name="Google Shape;1872;p69"/>
          <p:cNvSpPr txBox="1"/>
          <p:nvPr/>
        </p:nvSpPr>
        <p:spPr>
          <a:xfrm>
            <a:off x="960120" y="2286000"/>
            <a:ext cx="1874519"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1250" u="none" cap="none" strike="noStrike">
                <a:solidFill>
                  <a:srgbClr val="1D1D1F"/>
                </a:solidFill>
                <a:latin typeface="Play"/>
                <a:ea typeface="Play"/>
                <a:cs typeface="Play"/>
                <a:sym typeface="Play"/>
              </a:rPr>
              <a:t>Cancel FC via CRM</a:t>
            </a:r>
            <a:endParaRPr/>
          </a:p>
        </p:txBody>
      </p:sp>
      <p:cxnSp>
        <p:nvCxnSpPr>
          <p:cNvPr id="1873" name="Google Shape;1873;p69"/>
          <p:cNvCxnSpPr/>
          <p:nvPr/>
        </p:nvCxnSpPr>
        <p:spPr>
          <a:xfrm>
            <a:off x="2971800" y="2743200"/>
            <a:ext cx="320040" cy="0"/>
          </a:xfrm>
          <a:prstGeom prst="straightConnector1">
            <a:avLst/>
          </a:prstGeom>
          <a:noFill/>
          <a:ln cap="flat" cmpd="sng" w="12700">
            <a:solidFill>
              <a:srgbClr val="6E6E73"/>
            </a:solidFill>
            <a:prstDash val="solid"/>
            <a:round/>
            <a:headEnd len="sm" w="sm" type="none"/>
            <a:tailEnd len="med" w="med" type="triangle"/>
          </a:ln>
        </p:spPr>
      </p:cxnSp>
      <p:sp>
        <p:nvSpPr>
          <p:cNvPr id="1874" name="Google Shape;1874;p69"/>
          <p:cNvSpPr/>
          <p:nvPr/>
        </p:nvSpPr>
        <p:spPr>
          <a:xfrm>
            <a:off x="3291840" y="2286000"/>
            <a:ext cx="256032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75" name="Google Shape;1875;p69"/>
          <p:cNvSpPr/>
          <p:nvPr/>
        </p:nvSpPr>
        <p:spPr>
          <a:xfrm>
            <a:off x="3456432" y="2615184"/>
            <a:ext cx="256032" cy="256032"/>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2</a:t>
            </a:r>
            <a:endParaRPr/>
          </a:p>
        </p:txBody>
      </p:sp>
      <p:sp>
        <p:nvSpPr>
          <p:cNvPr id="1876" name="Google Shape;1876;p69"/>
          <p:cNvSpPr txBox="1"/>
          <p:nvPr/>
        </p:nvSpPr>
        <p:spPr>
          <a:xfrm>
            <a:off x="3840480" y="2286000"/>
            <a:ext cx="1874519"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1250" u="none" cap="none" strike="noStrike">
                <a:solidFill>
                  <a:srgbClr val="1D1D1F"/>
                </a:solidFill>
                <a:latin typeface="Play"/>
                <a:ea typeface="Play"/>
                <a:cs typeface="Play"/>
                <a:sym typeface="Play"/>
              </a:rPr>
              <a:t>Invalidate the voucher</a:t>
            </a:r>
            <a:endParaRPr/>
          </a:p>
        </p:txBody>
      </p:sp>
      <p:cxnSp>
        <p:nvCxnSpPr>
          <p:cNvPr id="1877" name="Google Shape;1877;p69"/>
          <p:cNvCxnSpPr/>
          <p:nvPr/>
        </p:nvCxnSpPr>
        <p:spPr>
          <a:xfrm>
            <a:off x="5852160" y="2743200"/>
            <a:ext cx="320040" cy="0"/>
          </a:xfrm>
          <a:prstGeom prst="straightConnector1">
            <a:avLst/>
          </a:prstGeom>
          <a:noFill/>
          <a:ln cap="flat" cmpd="sng" w="12700">
            <a:solidFill>
              <a:srgbClr val="6E6E73"/>
            </a:solidFill>
            <a:prstDash val="solid"/>
            <a:round/>
            <a:headEnd len="sm" w="sm" type="none"/>
            <a:tailEnd len="med" w="med" type="triangle"/>
          </a:ln>
        </p:spPr>
      </p:cxnSp>
      <p:sp>
        <p:nvSpPr>
          <p:cNvPr id="1878" name="Google Shape;1878;p69"/>
          <p:cNvSpPr/>
          <p:nvPr/>
        </p:nvSpPr>
        <p:spPr>
          <a:xfrm>
            <a:off x="6172200" y="2286000"/>
            <a:ext cx="256032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79" name="Google Shape;1879;p69"/>
          <p:cNvSpPr/>
          <p:nvPr/>
        </p:nvSpPr>
        <p:spPr>
          <a:xfrm>
            <a:off x="6336792" y="2615184"/>
            <a:ext cx="256032" cy="256032"/>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3</a:t>
            </a:r>
            <a:endParaRPr/>
          </a:p>
        </p:txBody>
      </p:sp>
      <p:sp>
        <p:nvSpPr>
          <p:cNvPr id="1880" name="Google Shape;1880;p69"/>
          <p:cNvSpPr txBox="1"/>
          <p:nvPr/>
        </p:nvSpPr>
        <p:spPr>
          <a:xfrm>
            <a:off x="6720840" y="2286000"/>
            <a:ext cx="1874519"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1250" u="none" cap="none" strike="noStrike">
                <a:solidFill>
                  <a:srgbClr val="1D1D1F"/>
                </a:solidFill>
                <a:latin typeface="Play"/>
                <a:ea typeface="Play"/>
                <a:cs typeface="Play"/>
                <a:sym typeface="Play"/>
              </a:rPr>
              <a:t>Invalidate the TR</a:t>
            </a:r>
            <a:endParaRPr/>
          </a:p>
          <a:p>
            <a:pPr indent="0" lvl="0" marL="0" marR="0" rtl="0" algn="l">
              <a:lnSpc>
                <a:spcPct val="100000"/>
              </a:lnSpc>
              <a:spcBef>
                <a:spcPts val="200"/>
              </a:spcBef>
              <a:spcAft>
                <a:spcPts val="0"/>
              </a:spcAft>
              <a:buNone/>
            </a:pPr>
            <a:r>
              <a:rPr b="0" i="0" lang="en-US" spc="0" sz="950" u="none" cap="none" strike="noStrike">
                <a:solidFill>
                  <a:srgbClr val="6E6E73"/>
                </a:solidFill>
                <a:latin typeface="Arial"/>
                <a:ea typeface="Arial"/>
                <a:cs typeface="Arial"/>
                <a:sym typeface="Arial"/>
              </a:rPr>
              <a:t>if it hasn’t triggered yet</a:t>
            </a:r>
            <a:endParaRPr/>
          </a:p>
        </p:txBody>
      </p:sp>
      <p:sp>
        <p:nvSpPr>
          <p:cNvPr id="1881" name="Google Shape;1881;p69"/>
          <p:cNvSpPr/>
          <p:nvPr/>
        </p:nvSpPr>
        <p:spPr>
          <a:xfrm>
            <a:off x="411480" y="3474720"/>
            <a:ext cx="8321040" cy="822960"/>
          </a:xfrm>
          <a:prstGeom prst="roundRect">
            <a:avLst>
              <a:gd fmla="val 6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82" name="Google Shape;1882;p69"/>
          <p:cNvSpPr txBox="1"/>
          <p:nvPr/>
        </p:nvSpPr>
        <p:spPr>
          <a:xfrm>
            <a:off x="594360" y="3474720"/>
            <a:ext cx="539496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1200" u="none" cap="none" strike="noStrike">
                <a:solidFill>
                  <a:srgbClr val="9A6410"/>
                </a:solidFill>
                <a:latin typeface="Play"/>
                <a:ea typeface="Play"/>
                <a:cs typeface="Play"/>
                <a:sym typeface="Play"/>
              </a:rPr>
              <a:t>Wants a refund?</a:t>
            </a:r>
            <a:endParaRPr/>
          </a:p>
          <a:p>
            <a:pPr indent="0" lvl="0" marL="0" marR="0" rtl="0" algn="l">
              <a:lnSpc>
                <a:spcPct val="100000"/>
              </a:lnSpc>
              <a:spcBef>
                <a:spcPts val="200"/>
              </a:spcBef>
              <a:spcAft>
                <a:spcPts val="0"/>
              </a:spcAft>
              <a:buNone/>
            </a:pPr>
            <a:r>
              <a:rPr b="0" i="0" lang="en-US" spc="0" sz="1000" u="none" cap="none" strike="noStrike">
                <a:solidFill>
                  <a:srgbClr val="1D1D1F"/>
                </a:solidFill>
                <a:latin typeface="Arial"/>
                <a:ea typeface="Arial"/>
                <a:cs typeface="Arial"/>
                <a:sym typeface="Arial"/>
              </a:rPr>
              <a:t>After attempting retention, check the Refund eligibility cheat sheet.</a:t>
            </a:r>
            <a:endParaRPr/>
          </a:p>
        </p:txBody>
      </p:sp>
      <p:sp>
        <p:nvSpPr>
          <p:cNvPr id="1883" name="Google Shape;1883;p69">
            <a:hlinkClick action="ppaction://hlinksldjump" r:id="rId3"/>
          </p:cNvPr>
          <p:cNvSpPr/>
          <p:nvPr/>
        </p:nvSpPr>
        <p:spPr>
          <a:xfrm>
            <a:off x="6080760" y="3694176"/>
            <a:ext cx="2468880" cy="384048"/>
          </a:xfrm>
          <a:prstGeom prst="roundRect">
            <a:avLst>
              <a:gd fmla="val 30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  Refund eligibility cheat sheet</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8" name="Shape 1888"/>
        <p:cNvGrpSpPr/>
        <p:nvPr/>
      </p:nvGrpSpPr>
      <p:grpSpPr>
        <a:xfrm>
          <a:off x="0" y="0"/>
          <a:ext cx="0" cy="0"/>
          <a:chOff x="0" y="0"/>
          <a:chExt cx="0" cy="0"/>
        </a:xfrm>
      </p:grpSpPr>
      <p:sp>
        <p:nvSpPr>
          <p:cNvPr id="1889" name="Google Shape;1889;p7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90" name="Google Shape;1890;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24-hour refund window</a:t>
            </a:r>
            <a:endParaRPr b="0" i="0" spc="0" sz="2400" u="none" cap="none" strike="noStrike">
              <a:solidFill>
                <a:schemeClr val="dk1"/>
              </a:solidFill>
              <a:latin typeface="Calibri"/>
              <a:ea typeface="Calibri"/>
              <a:cs typeface="Calibri"/>
              <a:sym typeface="Calibri"/>
            </a:endParaRPr>
          </a:p>
        </p:txBody>
      </p:sp>
      <p:sp>
        <p:nvSpPr>
          <p:cNvPr id="1891" name="Google Shape;1891;p7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Internal only. Never tell the customer.</a:t>
            </a:r>
            <a:endParaRPr b="0" i="0" spc="0" sz="1200" u="none" cap="none" strike="noStrike">
              <a:solidFill>
                <a:schemeClr val="dk1"/>
              </a:solidFill>
              <a:latin typeface="Calibri"/>
              <a:ea typeface="Calibri"/>
              <a:cs typeface="Calibri"/>
              <a:sym typeface="Calibri"/>
            </a:endParaRPr>
          </a:p>
        </p:txBody>
      </p:sp>
      <p:sp>
        <p:nvSpPr>
          <p:cNvPr id="1892" name="Google Shape;1892;p70"/>
          <p:cNvSpPr/>
          <p:nvPr/>
        </p:nvSpPr>
        <p:spPr>
          <a:xfrm>
            <a:off x="411480" y="1325880"/>
            <a:ext cx="2743200" cy="2194560"/>
          </a:xfrm>
          <a:prstGeom prst="roundRect">
            <a:avLst>
              <a:gd fmla="val 3333" name="adj"/>
            </a:avLst>
          </a:prstGeom>
          <a:solidFill>
            <a:srgbClr val="B3261E"/>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93" name="Google Shape;1893;p70"/>
          <p:cNvPicPr preferRelativeResize="0"/>
          <p:nvPr/>
        </p:nvPicPr>
        <p:blipFill rotWithShape="1">
          <a:blip r:embed="rId3">
            <a:alphaModFix/>
          </a:blip>
          <a:srcRect b="0" l="0" r="0" t="0"/>
          <a:stretch/>
        </p:blipFill>
        <p:spPr>
          <a:xfrm>
            <a:off x="640080" y="1536192"/>
            <a:ext cx="384048" cy="384048"/>
          </a:xfrm>
          <a:prstGeom prst="rect">
            <a:avLst/>
          </a:prstGeom>
          <a:noFill/>
          <a:ln>
            <a:noFill/>
          </a:ln>
        </p:spPr>
      </p:pic>
      <p:sp>
        <p:nvSpPr>
          <p:cNvPr id="1894" name="Google Shape;1894;p70"/>
          <p:cNvSpPr txBox="1"/>
          <p:nvPr/>
        </p:nvSpPr>
        <p:spPr>
          <a:xfrm>
            <a:off x="640080" y="2011680"/>
            <a:ext cx="233172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Internal only</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Never say "you have 24 hours to cancel". Explain the outcome, not the rule.</a:t>
            </a:r>
            <a:endParaRPr b="0" i="0" spc="0" sz="1500" u="none" cap="none" strike="noStrike">
              <a:solidFill>
                <a:schemeClr val="dk1"/>
              </a:solidFill>
              <a:latin typeface="Calibri"/>
              <a:ea typeface="Calibri"/>
              <a:cs typeface="Calibri"/>
              <a:sym typeface="Calibri"/>
            </a:endParaRPr>
          </a:p>
        </p:txBody>
      </p:sp>
      <p:sp>
        <p:nvSpPr>
          <p:cNvPr id="1895" name="Google Shape;1895;p70"/>
          <p:cNvSpPr/>
          <p:nvPr/>
        </p:nvSpPr>
        <p:spPr>
          <a:xfrm>
            <a:off x="3291840" y="1325880"/>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6" name="Google Shape;1896;p70"/>
          <p:cNvSpPr/>
          <p:nvPr/>
        </p:nvSpPr>
        <p:spPr>
          <a:xfrm>
            <a:off x="3383280" y="14081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97" name="Google Shape;1897;p70"/>
          <p:cNvPicPr preferRelativeResize="0"/>
          <p:nvPr/>
        </p:nvPicPr>
        <p:blipFill rotWithShape="1">
          <a:blip r:embed="rId4">
            <a:alphaModFix/>
          </a:blip>
          <a:srcRect b="0" l="0" r="0" t="0"/>
          <a:stretch/>
        </p:blipFill>
        <p:spPr>
          <a:xfrm>
            <a:off x="3462284" y="1487180"/>
            <a:ext cx="171176" cy="171176"/>
          </a:xfrm>
          <a:prstGeom prst="rect">
            <a:avLst/>
          </a:prstGeom>
          <a:noFill/>
          <a:ln>
            <a:noFill/>
          </a:ln>
        </p:spPr>
      </p:pic>
      <p:sp>
        <p:nvSpPr>
          <p:cNvPr id="1898" name="Google Shape;1898;p70"/>
          <p:cNvSpPr txBox="1"/>
          <p:nvPr/>
        </p:nvSpPr>
        <p:spPr>
          <a:xfrm>
            <a:off x="3822192" y="1325880"/>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Zero completed jobs only  </a:t>
            </a:r>
            <a:r>
              <a:rPr b="0" i="0" lang="en-US" spc="0" sz="900" u="none" cap="none" strike="noStrike">
                <a:solidFill>
                  <a:srgbClr val="6E6E73"/>
                </a:solidFill>
                <a:latin typeface="Arial"/>
                <a:ea typeface="Arial"/>
                <a:cs typeface="Arial"/>
                <a:sym typeface="Arial"/>
              </a:rPr>
              <a:t>After one cleaning, it's a normal cancellation/refund process.</a:t>
            </a:r>
            <a:endParaRPr b="0" i="0" spc="0" sz="1050" u="none" cap="none" strike="noStrike">
              <a:solidFill>
                <a:schemeClr val="dk1"/>
              </a:solidFill>
              <a:latin typeface="Calibri"/>
              <a:ea typeface="Calibri"/>
              <a:cs typeface="Calibri"/>
              <a:sym typeface="Calibri"/>
            </a:endParaRPr>
          </a:p>
        </p:txBody>
      </p:sp>
      <p:sp>
        <p:nvSpPr>
          <p:cNvPr id="1899" name="Google Shape;1899;p70"/>
          <p:cNvSpPr/>
          <p:nvPr/>
        </p:nvSpPr>
        <p:spPr>
          <a:xfrm>
            <a:off x="3291840" y="1883664"/>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0" name="Google Shape;1900;p70"/>
          <p:cNvSpPr/>
          <p:nvPr/>
        </p:nvSpPr>
        <p:spPr>
          <a:xfrm>
            <a:off x="3383280" y="196596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1" name="Google Shape;1901;p70"/>
          <p:cNvPicPr preferRelativeResize="0"/>
          <p:nvPr/>
        </p:nvPicPr>
        <p:blipFill rotWithShape="1">
          <a:blip r:embed="rId5">
            <a:alphaModFix/>
          </a:blip>
          <a:srcRect b="0" l="0" r="0" t="0"/>
          <a:stretch/>
        </p:blipFill>
        <p:spPr>
          <a:xfrm>
            <a:off x="3462284" y="2044964"/>
            <a:ext cx="171176" cy="171176"/>
          </a:xfrm>
          <a:prstGeom prst="rect">
            <a:avLst/>
          </a:prstGeom>
          <a:noFill/>
          <a:ln>
            <a:noFill/>
          </a:ln>
        </p:spPr>
      </p:pic>
      <p:sp>
        <p:nvSpPr>
          <p:cNvPr id="1902" name="Google Shape;1902;p70"/>
          <p:cNvSpPr txBox="1"/>
          <p:nvPr/>
        </p:nvSpPr>
        <p:spPr>
          <a:xfrm>
            <a:off x="3822192" y="1883664"/>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1st MF: from sign-up  </a:t>
            </a:r>
            <a:r>
              <a:rPr b="0" i="0" lang="en-US" spc="0" sz="900" u="none" cap="none" strike="noStrike">
                <a:solidFill>
                  <a:srgbClr val="6E6E73"/>
                </a:solidFill>
                <a:latin typeface="Arial"/>
                <a:ea typeface="Arial"/>
                <a:cs typeface="Arial"/>
                <a:sym typeface="Arial"/>
              </a:rPr>
              <a:t>To their first request, or to their self-cancel.</a:t>
            </a:r>
            <a:endParaRPr b="0" i="0" spc="0" sz="1050" u="none" cap="none" strike="noStrike">
              <a:solidFill>
                <a:schemeClr val="dk1"/>
              </a:solidFill>
              <a:latin typeface="Calibri"/>
              <a:ea typeface="Calibri"/>
              <a:cs typeface="Calibri"/>
              <a:sym typeface="Calibri"/>
            </a:endParaRPr>
          </a:p>
        </p:txBody>
      </p:sp>
      <p:sp>
        <p:nvSpPr>
          <p:cNvPr id="1903" name="Google Shape;1903;p70"/>
          <p:cNvSpPr/>
          <p:nvPr/>
        </p:nvSpPr>
        <p:spPr>
          <a:xfrm>
            <a:off x="3291840" y="2441448"/>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4" name="Google Shape;1904;p70"/>
          <p:cNvSpPr/>
          <p:nvPr/>
        </p:nvSpPr>
        <p:spPr>
          <a:xfrm>
            <a:off x="3383280" y="252374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5" name="Google Shape;1905;p70"/>
          <p:cNvPicPr preferRelativeResize="0"/>
          <p:nvPr/>
        </p:nvPicPr>
        <p:blipFill rotWithShape="1">
          <a:blip r:embed="rId6">
            <a:alphaModFix/>
          </a:blip>
          <a:srcRect b="0" l="0" r="0" t="0"/>
          <a:stretch/>
        </p:blipFill>
        <p:spPr>
          <a:xfrm>
            <a:off x="3462284" y="2602748"/>
            <a:ext cx="171176" cy="171176"/>
          </a:xfrm>
          <a:prstGeom prst="rect">
            <a:avLst/>
          </a:prstGeom>
          <a:noFill/>
          <a:ln>
            <a:noFill/>
          </a:ln>
        </p:spPr>
      </p:pic>
      <p:sp>
        <p:nvSpPr>
          <p:cNvPr id="1906" name="Google Shape;1906;p70"/>
          <p:cNvSpPr txBox="1"/>
          <p:nvPr/>
        </p:nvSpPr>
        <p:spPr>
          <a:xfrm>
            <a:off x="3822192" y="2441448"/>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Later MFs: from that charge  </a:t>
            </a:r>
            <a:r>
              <a:rPr b="0" i="0" lang="en-US" spc="0" sz="900" u="none" cap="none" strike="noStrike">
                <a:solidFill>
                  <a:srgbClr val="6E6E73"/>
                </a:solidFill>
                <a:latin typeface="Arial"/>
                <a:ea typeface="Arial"/>
                <a:cs typeface="Arial"/>
                <a:sym typeface="Arial"/>
              </a:rPr>
              <a:t>To when they asked.</a:t>
            </a:r>
            <a:endParaRPr b="0" i="0" spc="0" sz="1050" u="none" cap="none" strike="noStrike">
              <a:solidFill>
                <a:schemeClr val="dk1"/>
              </a:solidFill>
              <a:latin typeface="Calibri"/>
              <a:ea typeface="Calibri"/>
              <a:cs typeface="Calibri"/>
              <a:sym typeface="Calibri"/>
            </a:endParaRPr>
          </a:p>
        </p:txBody>
      </p:sp>
      <p:sp>
        <p:nvSpPr>
          <p:cNvPr id="1907" name="Google Shape;1907;p70"/>
          <p:cNvSpPr/>
          <p:nvPr/>
        </p:nvSpPr>
        <p:spPr>
          <a:xfrm>
            <a:off x="3291840" y="2999232"/>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8" name="Google Shape;1908;p70"/>
          <p:cNvSpPr/>
          <p:nvPr/>
        </p:nvSpPr>
        <p:spPr>
          <a:xfrm>
            <a:off x="3383280" y="30815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9" name="Google Shape;1909;p70"/>
          <p:cNvPicPr preferRelativeResize="0"/>
          <p:nvPr/>
        </p:nvPicPr>
        <p:blipFill rotWithShape="1">
          <a:blip r:embed="rId7">
            <a:alphaModFix/>
          </a:blip>
          <a:srcRect b="0" l="0" r="0" t="0"/>
          <a:stretch/>
        </p:blipFill>
        <p:spPr>
          <a:xfrm>
            <a:off x="3462284" y="3160532"/>
            <a:ext cx="171176" cy="171176"/>
          </a:xfrm>
          <a:prstGeom prst="rect">
            <a:avLst/>
          </a:prstGeom>
          <a:noFill/>
          <a:ln>
            <a:noFill/>
          </a:ln>
        </p:spPr>
      </p:pic>
      <p:sp>
        <p:nvSpPr>
          <p:cNvPr id="1910" name="Google Shape;1910;p70"/>
          <p:cNvSpPr txBox="1"/>
          <p:nvPr/>
        </p:nvSpPr>
        <p:spPr>
          <a:xfrm>
            <a:off x="3822192" y="2999232"/>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 guideline, not a cutoff  </a:t>
            </a:r>
            <a:r>
              <a:rPr b="0" i="0" lang="en-US" spc="0" sz="900" u="none" cap="none" strike="noStrike">
                <a:solidFill>
                  <a:srgbClr val="6E6E73"/>
                </a:solidFill>
                <a:latin typeface="Arial"/>
                <a:ea typeface="Arial"/>
                <a:cs typeface="Arial"/>
                <a:sym typeface="Arial"/>
              </a:rPr>
              <a:t>Signed up one day, asked the next? Can still count.</a:t>
            </a:r>
            <a:endParaRPr b="0" i="0" spc="0" sz="1050" u="none" cap="none" strike="noStrike">
              <a:solidFill>
                <a:schemeClr val="dk1"/>
              </a:solidFill>
              <a:latin typeface="Calibri"/>
              <a:ea typeface="Calibri"/>
              <a:cs typeface="Calibri"/>
              <a:sym typeface="Calibri"/>
            </a:endParaRPr>
          </a:p>
        </p:txBody>
      </p:sp>
      <p:sp>
        <p:nvSpPr>
          <p:cNvPr id="1911" name="Google Shape;1911;p70"/>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12" name="Google Shape;1912;p70"/>
          <p:cNvPicPr preferRelativeResize="0"/>
          <p:nvPr/>
        </p:nvPicPr>
        <p:blipFill rotWithShape="1">
          <a:blip r:embed="rId8">
            <a:alphaModFix/>
          </a:blip>
          <a:srcRect b="0" l="0" r="0" t="0"/>
          <a:stretch/>
        </p:blipFill>
        <p:spPr>
          <a:xfrm>
            <a:off x="566928" y="3813048"/>
            <a:ext cx="164592" cy="164592"/>
          </a:xfrm>
          <a:prstGeom prst="rect">
            <a:avLst/>
          </a:prstGeom>
          <a:noFill/>
          <a:ln>
            <a:noFill/>
          </a:ln>
        </p:spPr>
      </p:pic>
      <p:sp>
        <p:nvSpPr>
          <p:cNvPr id="1913" name="Google Shape;1913;p70"/>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 request, no refund:  </a:t>
            </a:r>
            <a:r>
              <a:rPr b="0" i="0" lang="en-US" spc="0" sz="1000" u="none" cap="none" strike="noStrike">
                <a:solidFill>
                  <a:srgbClr val="1D1D1F"/>
                </a:solidFill>
                <a:latin typeface="Arial"/>
                <a:ea typeface="Arial"/>
                <a:cs typeface="Arial"/>
                <a:sym typeface="Arial"/>
              </a:rPr>
              <a:t>even inside the window, don't offer one if they didn't ask.</a:t>
            </a:r>
            <a:endParaRPr b="0" i="0" spc="0" sz="1000" u="none" cap="none" strike="noStrike">
              <a:solidFill>
                <a:schemeClr val="dk1"/>
              </a:solidFill>
              <a:latin typeface="Calibri"/>
              <a:ea typeface="Calibri"/>
              <a:cs typeface="Calibri"/>
              <a:sym typeface="Calibri"/>
            </a:endParaRPr>
          </a:p>
        </p:txBody>
      </p:sp>
      <p:sp>
        <p:nvSpPr>
          <p:cNvPr id="1914" name="Google Shape;1914;p7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9" name="Shape 1919"/>
        <p:cNvGrpSpPr/>
        <p:nvPr/>
      </p:nvGrpSpPr>
      <p:grpSpPr>
        <a:xfrm>
          <a:off x="0" y="0"/>
          <a:ext cx="0" cy="0"/>
          <a:chOff x="0" y="0"/>
          <a:chExt cx="0" cy="0"/>
        </a:xfrm>
      </p:grpSpPr>
      <p:sp>
        <p:nvSpPr>
          <p:cNvPr id="1920" name="Google Shape;1920;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21" name="Google Shape;1921;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no service issue</a:t>
            </a:r>
            <a:endParaRPr b="0" i="0" spc="0" sz="2400" u="none" cap="none" strike="noStrike">
              <a:solidFill>
                <a:schemeClr val="dk1"/>
              </a:solidFill>
              <a:latin typeface="Calibri"/>
              <a:ea typeface="Calibri"/>
              <a:cs typeface="Calibri"/>
              <a:sym typeface="Calibri"/>
            </a:endParaRPr>
          </a:p>
        </p:txBody>
      </p:sp>
      <p:sp>
        <p:nvSpPr>
          <p:cNvPr id="1922" name="Google Shape;1922;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Timing and the cleaning length decide it.</a:t>
            </a:r>
            <a:endParaRPr b="0" i="0" spc="0" sz="1200" u="none" cap="none" strike="noStrike">
              <a:solidFill>
                <a:schemeClr val="dk1"/>
              </a:solidFill>
              <a:latin typeface="Calibri"/>
              <a:ea typeface="Calibri"/>
              <a:cs typeface="Calibri"/>
              <a:sym typeface="Calibri"/>
            </a:endParaRPr>
          </a:p>
        </p:txBody>
      </p:sp>
      <p:graphicFrame>
        <p:nvGraphicFramePr>
          <p:cNvPr id="1923" name="Google Shape;1923;p71"/>
          <p:cNvGraphicFramePr/>
          <p:nvPr/>
        </p:nvGraphicFramePr>
        <p:xfrm>
          <a:off x="411480" y="1298448"/>
          <a:ext cx="3000000" cy="3000000"/>
        </p:xfrm>
        <a:graphic>
          <a:graphicData uri="http://schemas.openxmlformats.org/drawingml/2006/table">
            <a:tbl>
              <a:tblPr>
                <a:noFill/>
                <a:tableStyleId>{B081CFC9-8F92-4C66-A42C-550710BF50CA}</a:tableStyleId>
              </a:tblPr>
              <a:tblGrid>
                <a:gridCol w="914400"/>
                <a:gridCol w="1280150"/>
                <a:gridCol w="1600200"/>
                <a:gridCol w="1965950"/>
                <a:gridCol w="2560325"/>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Cleaning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 ($19)</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 ($19 4hr / $59 6hr)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How</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Refund Voucher option in CRM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Compelling? Refund Voucher option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FULL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PARTIAL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924" name="Google Shape;1924;p71"/>
          <p:cNvSpPr/>
          <p:nvPr/>
        </p:nvSpPr>
        <p:spPr>
          <a:xfrm>
            <a:off x="411480" y="33832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5" name="Google Shape;1925;p71"/>
          <p:cNvPicPr preferRelativeResize="0"/>
          <p:nvPr/>
        </p:nvPicPr>
        <p:blipFill rotWithShape="1">
          <a:blip r:embed="rId3">
            <a:alphaModFix/>
          </a:blip>
          <a:srcRect b="0" l="0" r="0" t="0"/>
          <a:stretch/>
        </p:blipFill>
        <p:spPr>
          <a:xfrm>
            <a:off x="566928" y="3493008"/>
            <a:ext cx="164592" cy="164592"/>
          </a:xfrm>
          <a:prstGeom prst="rect">
            <a:avLst/>
          </a:prstGeom>
          <a:noFill/>
          <a:ln>
            <a:noFill/>
          </a:ln>
        </p:spPr>
      </p:pic>
      <p:sp>
        <p:nvSpPr>
          <p:cNvPr id="1926" name="Google Shape;1926;p71"/>
          <p:cNvSpPr txBox="1"/>
          <p:nvPr/>
        </p:nvSpPr>
        <p:spPr>
          <a:xfrm>
            <a:off x="822960" y="34838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Every row ends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927" name="Google Shape;1927;p71"/>
          <p:cNvSpPr/>
          <p:nvPr/>
        </p:nvSpPr>
        <p:spPr>
          <a:xfrm>
            <a:off x="411480" y="38587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8" name="Google Shape;1928;p71"/>
          <p:cNvPicPr preferRelativeResize="0"/>
          <p:nvPr/>
        </p:nvPicPr>
        <p:blipFill rotWithShape="1">
          <a:blip r:embed="rId4">
            <a:alphaModFix/>
          </a:blip>
          <a:srcRect b="0" l="0" r="0" t="0"/>
          <a:stretch/>
        </p:blipFill>
        <p:spPr>
          <a:xfrm>
            <a:off x="566928" y="3968496"/>
            <a:ext cx="164592" cy="164592"/>
          </a:xfrm>
          <a:prstGeom prst="rect">
            <a:avLst/>
          </a:prstGeom>
          <a:noFill/>
          <a:ln>
            <a:noFill/>
          </a:ln>
        </p:spPr>
      </p:pic>
      <p:sp>
        <p:nvSpPr>
          <p:cNvPr id="1929" name="Google Shape;1929;p71"/>
          <p:cNvSpPr txBox="1"/>
          <p:nvPr/>
        </p:nvSpPr>
        <p:spPr>
          <a:xfrm>
            <a:off x="822960" y="39593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Compelling reason:  </a:t>
            </a:r>
            <a:r>
              <a:rPr b="0" i="0" lang="en-US" spc="0" sz="1000" u="none" cap="none" strike="noStrike">
                <a:solidFill>
                  <a:srgbClr val="1D1D1F"/>
                </a:solidFill>
                <a:latin typeface="Arial"/>
                <a:ea typeface="Arial"/>
                <a:cs typeface="Arial"/>
                <a:sym typeface="Arial"/>
              </a:rPr>
              <a:t>e.g. compassion, or the customer doesn't have a card.</a:t>
            </a:r>
            <a:endParaRPr b="0" i="0" spc="0" sz="1000" u="none" cap="none" strike="noStrike">
              <a:solidFill>
                <a:schemeClr val="dk1"/>
              </a:solidFill>
              <a:latin typeface="Calibri"/>
              <a:ea typeface="Calibri"/>
              <a:cs typeface="Calibri"/>
              <a:sym typeface="Calibri"/>
            </a:endParaRPr>
          </a:p>
        </p:txBody>
      </p:sp>
      <p:sp>
        <p:nvSpPr>
          <p:cNvPr id="1930" name="Google Shape;1930;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5" name="Shape 1935"/>
        <p:cNvGrpSpPr/>
        <p:nvPr/>
      </p:nvGrpSpPr>
      <p:grpSpPr>
        <a:xfrm>
          <a:off x="0" y="0"/>
          <a:ext cx="0" cy="0"/>
          <a:chOff x="0" y="0"/>
          <a:chExt cx="0" cy="0"/>
        </a:xfrm>
      </p:grpSpPr>
      <p:sp>
        <p:nvSpPr>
          <p:cNvPr id="1936" name="Google Shape;1936;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37" name="Google Shape;1937;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service issues</a:t>
            </a:r>
            <a:endParaRPr b="0" i="0" spc="0" sz="2400" u="none" cap="none" strike="noStrike">
              <a:solidFill>
                <a:schemeClr val="dk1"/>
              </a:solidFill>
              <a:latin typeface="Calibri"/>
              <a:ea typeface="Calibri"/>
              <a:cs typeface="Calibri"/>
              <a:sym typeface="Calibri"/>
            </a:endParaRPr>
          </a:p>
        </p:txBody>
      </p:sp>
      <p:sp>
        <p:nvSpPr>
          <p:cNvPr id="1938" name="Google Shape;1938;p7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Whose fault was it?</a:t>
            </a:r>
            <a:endParaRPr b="0" i="0" spc="0" sz="1200" u="none" cap="none" strike="noStrike">
              <a:solidFill>
                <a:schemeClr val="dk1"/>
              </a:solidFill>
              <a:latin typeface="Calibri"/>
              <a:ea typeface="Calibri"/>
              <a:cs typeface="Calibri"/>
              <a:sym typeface="Calibri"/>
            </a:endParaRPr>
          </a:p>
        </p:txBody>
      </p:sp>
      <p:graphicFrame>
        <p:nvGraphicFramePr>
          <p:cNvPr id="1939" name="Google Shape;1939;p72"/>
          <p:cNvGraphicFramePr/>
          <p:nvPr/>
        </p:nvGraphicFramePr>
        <p:xfrm>
          <a:off x="411480" y="1298448"/>
          <a:ext cx="3000000" cy="3000000"/>
        </p:xfrm>
        <a:graphic>
          <a:graphicData uri="http://schemas.openxmlformats.org/drawingml/2006/table">
            <a:tbl>
              <a:tblPr>
                <a:noFill/>
                <a:tableStyleId>{B081CFC9-8F92-4C66-A42C-550710BF50CA}</a:tableStyleId>
              </a:tblPr>
              <a:tblGrid>
                <a:gridCol w="3108950"/>
                <a:gridCol w="1737350"/>
                <a:gridCol w="1737350"/>
                <a:gridCol w="1737350"/>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Company or CP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 (not biohazard)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Biohazard reported by the CP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940" name="Google Shape;1940;p72"/>
          <p:cNvSpPr/>
          <p:nvPr/>
        </p:nvSpPr>
        <p:spPr>
          <a:xfrm>
            <a:off x="411480" y="3291840"/>
            <a:ext cx="406908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1" name="Google Shape;1941;p72"/>
          <p:cNvSpPr/>
          <p:nvPr/>
        </p:nvSpPr>
        <p:spPr>
          <a:xfrm>
            <a:off x="411480" y="329184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2–3 hr cleaning</a:t>
            </a:r>
            <a:endParaRPr b="0" i="0" spc="0" sz="1050" u="none" cap="none" strike="noStrike">
              <a:solidFill>
                <a:schemeClr val="dk1"/>
              </a:solidFill>
              <a:latin typeface="Calibri"/>
              <a:ea typeface="Calibri"/>
              <a:cs typeface="Calibri"/>
              <a:sym typeface="Calibri"/>
            </a:endParaRPr>
          </a:p>
        </p:txBody>
      </p:sp>
      <p:sp>
        <p:nvSpPr>
          <p:cNvPr id="1942" name="Google Shape;1942;p72"/>
          <p:cNvSpPr txBox="1"/>
          <p:nvPr/>
        </p:nvSpPr>
        <p:spPr>
          <a:xfrm>
            <a:off x="57607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Voucher option in CRM. No tracker entry</a:t>
            </a:r>
            <a:endParaRPr b="0" i="0" spc="0" sz="950" u="none" cap="none" strike="noStrike">
              <a:solidFill>
                <a:schemeClr val="dk1"/>
              </a:solidFill>
              <a:latin typeface="Calibri"/>
              <a:ea typeface="Calibri"/>
              <a:cs typeface="Calibri"/>
              <a:sym typeface="Calibri"/>
            </a:endParaRPr>
          </a:p>
        </p:txBody>
      </p:sp>
      <p:sp>
        <p:nvSpPr>
          <p:cNvPr id="1943" name="Google Shape;1943;p72"/>
          <p:cNvSpPr/>
          <p:nvPr/>
        </p:nvSpPr>
        <p:spPr>
          <a:xfrm>
            <a:off x="4663440" y="3291840"/>
            <a:ext cx="4069080" cy="91440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4" name="Google Shape;1944;p72"/>
          <p:cNvSpPr/>
          <p:nvPr/>
        </p:nvSpPr>
        <p:spPr>
          <a:xfrm>
            <a:off x="4663440" y="329184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4–6 hr cleaning</a:t>
            </a:r>
            <a:endParaRPr b="0" i="0" spc="0" sz="1050" u="none" cap="none" strike="noStrike">
              <a:solidFill>
                <a:schemeClr val="dk1"/>
              </a:solidFill>
              <a:latin typeface="Calibri"/>
              <a:ea typeface="Calibri"/>
              <a:cs typeface="Calibri"/>
              <a:sym typeface="Calibri"/>
            </a:endParaRPr>
          </a:p>
        </p:txBody>
      </p:sp>
      <p:sp>
        <p:nvSpPr>
          <p:cNvPr id="1945" name="Google Shape;1945;p72"/>
          <p:cNvSpPr txBox="1"/>
          <p:nvPr/>
        </p:nvSpPr>
        <p:spPr>
          <a:xfrm>
            <a:off x="482803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FCF Refund tracker: TL issues a Stripe FULL refund</a:t>
            </a:r>
            <a:endParaRPr b="0" i="0" spc="0" sz="950" u="none" cap="none" strike="noStrike">
              <a:solidFill>
                <a:schemeClr val="dk1"/>
              </a:solidFill>
              <a:latin typeface="Calibri"/>
              <a:ea typeface="Calibri"/>
              <a:cs typeface="Calibri"/>
              <a:sym typeface="Calibri"/>
            </a:endParaRPr>
          </a:p>
        </p:txBody>
      </p:sp>
      <p:sp>
        <p:nvSpPr>
          <p:cNvPr id="1946" name="Google Shape;1946;p72"/>
          <p:cNvSpPr/>
          <p:nvPr/>
        </p:nvSpPr>
        <p:spPr>
          <a:xfrm>
            <a:off x="411480" y="43159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47" name="Google Shape;1947;p72"/>
          <p:cNvPicPr preferRelativeResize="0"/>
          <p:nvPr/>
        </p:nvPicPr>
        <p:blipFill rotWithShape="1">
          <a:blip r:embed="rId3">
            <a:alphaModFix/>
          </a:blip>
          <a:srcRect b="0" l="0" r="0" t="0"/>
          <a:stretch/>
        </p:blipFill>
        <p:spPr>
          <a:xfrm>
            <a:off x="566928" y="4425696"/>
            <a:ext cx="164592" cy="164592"/>
          </a:xfrm>
          <a:prstGeom prst="rect">
            <a:avLst/>
          </a:prstGeom>
          <a:noFill/>
          <a:ln>
            <a:noFill/>
          </a:ln>
        </p:spPr>
      </p:pic>
      <p:sp>
        <p:nvSpPr>
          <p:cNvPr id="1948" name="Google Shape;1948;p72"/>
          <p:cNvSpPr txBox="1"/>
          <p:nvPr/>
        </p:nvSpPr>
        <p:spPr>
          <a:xfrm>
            <a:off x="822960" y="43159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4–6 hr? Not the Refund Voucher option:  </a:t>
            </a:r>
            <a:r>
              <a:rPr b="0" i="0" lang="en-US" spc="0" sz="1000" u="none" cap="none" strike="noStrike">
                <a:solidFill>
                  <a:srgbClr val="1D1D1F"/>
                </a:solidFill>
                <a:latin typeface="Arial"/>
                <a:ea typeface="Arial"/>
                <a:cs typeface="Arial"/>
                <a:sym typeface="Arial"/>
              </a:rPr>
              <a:t>it only refunds the $19 MF, not the add-on.</a:t>
            </a:r>
            <a:endParaRPr b="0" i="0" spc="0" sz="1000" u="none" cap="none" strike="noStrike">
              <a:solidFill>
                <a:schemeClr val="dk1"/>
              </a:solidFill>
              <a:latin typeface="Calibri"/>
              <a:ea typeface="Calibri"/>
              <a:cs typeface="Calibri"/>
              <a:sym typeface="Calibri"/>
            </a:endParaRPr>
          </a:p>
        </p:txBody>
      </p:sp>
      <p:sp>
        <p:nvSpPr>
          <p:cNvPr id="1949" name="Google Shape;1949;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4" name="Shape 1954"/>
        <p:cNvGrpSpPr/>
        <p:nvPr/>
      </p:nvGrpSpPr>
      <p:grpSpPr>
        <a:xfrm>
          <a:off x="0" y="0"/>
          <a:ext cx="0" cy="0"/>
          <a:chOff x="0" y="0"/>
          <a:chExt cx="0" cy="0"/>
        </a:xfrm>
      </p:grpSpPr>
      <p:sp>
        <p:nvSpPr>
          <p:cNvPr id="1955" name="Google Shape;1955;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56" name="Google Shape;1956;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2+ MFs paid, no jobs done</a:t>
            </a:r>
            <a:endParaRPr b="0" i="0" spc="0" sz="2400" u="none" cap="none" strike="noStrike">
              <a:solidFill>
                <a:schemeClr val="dk1"/>
              </a:solidFill>
              <a:latin typeface="Calibri"/>
              <a:ea typeface="Calibri"/>
              <a:cs typeface="Calibri"/>
              <a:sym typeface="Calibri"/>
            </a:endParaRPr>
          </a:p>
        </p:txBody>
      </p:sp>
      <p:sp>
        <p:nvSpPr>
          <p:cNvPr id="1957" name="Google Shape;1957;p7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by default. Any one condition qualifies.</a:t>
            </a:r>
            <a:endParaRPr b="0" i="0" spc="0" sz="1200" u="none" cap="none" strike="noStrike">
              <a:solidFill>
                <a:schemeClr val="dk1"/>
              </a:solidFill>
              <a:latin typeface="Calibri"/>
              <a:ea typeface="Calibri"/>
              <a:cs typeface="Calibri"/>
              <a:sym typeface="Calibri"/>
            </a:endParaRPr>
          </a:p>
        </p:txBody>
      </p:sp>
      <p:sp>
        <p:nvSpPr>
          <p:cNvPr id="1958" name="Google Shape;1958;p73"/>
          <p:cNvSpPr/>
          <p:nvPr/>
        </p:nvSpPr>
        <p:spPr>
          <a:xfrm>
            <a:off x="4114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9" name="Google Shape;1959;p73"/>
          <p:cNvSpPr/>
          <p:nvPr/>
        </p:nvSpPr>
        <p:spPr>
          <a:xfrm>
            <a:off x="5760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60" name="Google Shape;1960;p73"/>
          <p:cNvPicPr preferRelativeResize="0"/>
          <p:nvPr/>
        </p:nvPicPr>
        <p:blipFill rotWithShape="1">
          <a:blip r:embed="rId3">
            <a:alphaModFix/>
          </a:blip>
          <a:srcRect b="0" l="0" r="0" t="0"/>
          <a:stretch/>
        </p:blipFill>
        <p:spPr>
          <a:xfrm>
            <a:off x="668244" y="1646652"/>
            <a:ext cx="199705" cy="199705"/>
          </a:xfrm>
          <a:prstGeom prst="rect">
            <a:avLst/>
          </a:prstGeom>
          <a:noFill/>
          <a:ln>
            <a:noFill/>
          </a:ln>
        </p:spPr>
      </p:pic>
      <p:sp>
        <p:nvSpPr>
          <p:cNvPr id="1961" name="Google Shape;1961;p73"/>
          <p:cNvSpPr txBox="1"/>
          <p:nvPr/>
        </p:nvSpPr>
        <p:spPr>
          <a:xfrm>
            <a:off x="10972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Within 24 hrs of the latest MF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reached out fast after the charge.</a:t>
            </a:r>
            <a:endParaRPr b="0" i="0" spc="0" sz="1100" u="none" cap="none" strike="noStrike">
              <a:solidFill>
                <a:schemeClr val="dk1"/>
              </a:solidFill>
              <a:latin typeface="Calibri"/>
              <a:ea typeface="Calibri"/>
              <a:cs typeface="Calibri"/>
              <a:sym typeface="Calibri"/>
            </a:endParaRPr>
          </a:p>
        </p:txBody>
      </p:sp>
      <p:sp>
        <p:nvSpPr>
          <p:cNvPr id="1962" name="Google Shape;1962;p73"/>
          <p:cNvSpPr/>
          <p:nvPr/>
        </p:nvSpPr>
        <p:spPr>
          <a:xfrm>
            <a:off x="46405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3" name="Google Shape;1963;p73"/>
          <p:cNvSpPr/>
          <p:nvPr/>
        </p:nvSpPr>
        <p:spPr>
          <a:xfrm>
            <a:off x="48051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64" name="Google Shape;1964;p73"/>
          <p:cNvPicPr preferRelativeResize="0"/>
          <p:nvPr/>
        </p:nvPicPr>
        <p:blipFill rotWithShape="1">
          <a:blip r:embed="rId4">
            <a:alphaModFix/>
          </a:blip>
          <a:srcRect b="0" l="0" r="0" t="0"/>
          <a:stretch/>
        </p:blipFill>
        <p:spPr>
          <a:xfrm>
            <a:off x="4897344" y="1646652"/>
            <a:ext cx="199705" cy="199705"/>
          </a:xfrm>
          <a:prstGeom prst="rect">
            <a:avLst/>
          </a:prstGeom>
          <a:noFill/>
          <a:ln>
            <a:noFill/>
          </a:ln>
        </p:spPr>
      </p:pic>
      <p:sp>
        <p:nvSpPr>
          <p:cNvPr id="1965" name="Google Shape;1965;p73"/>
          <p:cNvSpPr txBox="1"/>
          <p:nvPr/>
        </p:nvSpPr>
        <p:spPr>
          <a:xfrm>
            <a:off x="53263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Tried to book,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that specific MF.</a:t>
            </a:r>
            <a:endParaRPr b="0" i="0" spc="0" sz="1100" u="none" cap="none" strike="noStrike">
              <a:solidFill>
                <a:schemeClr val="dk1"/>
              </a:solidFill>
              <a:latin typeface="Calibri"/>
              <a:ea typeface="Calibri"/>
              <a:cs typeface="Calibri"/>
              <a:sym typeface="Calibri"/>
            </a:endParaRPr>
          </a:p>
        </p:txBody>
      </p:sp>
      <p:sp>
        <p:nvSpPr>
          <p:cNvPr id="1966" name="Google Shape;1966;p73"/>
          <p:cNvSpPr/>
          <p:nvPr/>
        </p:nvSpPr>
        <p:spPr>
          <a:xfrm>
            <a:off x="4114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7" name="Google Shape;1967;p73"/>
          <p:cNvSpPr/>
          <p:nvPr/>
        </p:nvSpPr>
        <p:spPr>
          <a:xfrm>
            <a:off x="5760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68" name="Google Shape;1968;p73"/>
          <p:cNvPicPr preferRelativeResize="0"/>
          <p:nvPr/>
        </p:nvPicPr>
        <p:blipFill rotWithShape="1">
          <a:blip r:embed="rId5">
            <a:alphaModFix/>
          </a:blip>
          <a:srcRect b="0" l="0" r="0" t="0"/>
          <a:stretch/>
        </p:blipFill>
        <p:spPr>
          <a:xfrm>
            <a:off x="668244" y="2625060"/>
            <a:ext cx="199705" cy="199705"/>
          </a:xfrm>
          <a:prstGeom prst="rect">
            <a:avLst/>
          </a:prstGeom>
          <a:noFill/>
          <a:ln>
            <a:noFill/>
          </a:ln>
        </p:spPr>
      </p:pic>
      <p:sp>
        <p:nvSpPr>
          <p:cNvPr id="1969" name="Google Shape;1969;p73"/>
          <p:cNvSpPr txBox="1"/>
          <p:nvPr/>
        </p:nvSpPr>
        <p:spPr>
          <a:xfrm>
            <a:off x="10972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~3 days +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Before the 4th day can still count.</a:t>
            </a:r>
            <a:endParaRPr b="0" i="0" spc="0" sz="1100" u="none" cap="none" strike="noStrike">
              <a:solidFill>
                <a:schemeClr val="dk1"/>
              </a:solidFill>
              <a:latin typeface="Calibri"/>
              <a:ea typeface="Calibri"/>
              <a:cs typeface="Calibri"/>
              <a:sym typeface="Calibri"/>
            </a:endParaRPr>
          </a:p>
        </p:txBody>
      </p:sp>
      <p:sp>
        <p:nvSpPr>
          <p:cNvPr id="1970" name="Google Shape;1970;p73"/>
          <p:cNvSpPr/>
          <p:nvPr/>
        </p:nvSpPr>
        <p:spPr>
          <a:xfrm>
            <a:off x="46405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1" name="Google Shape;1971;p73"/>
          <p:cNvSpPr/>
          <p:nvPr/>
        </p:nvSpPr>
        <p:spPr>
          <a:xfrm>
            <a:off x="48051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72" name="Google Shape;1972;p73"/>
          <p:cNvPicPr preferRelativeResize="0"/>
          <p:nvPr/>
        </p:nvPicPr>
        <p:blipFill rotWithShape="1">
          <a:blip r:embed="rId6">
            <a:alphaModFix/>
          </a:blip>
          <a:srcRect b="0" l="0" r="0" t="0"/>
          <a:stretch/>
        </p:blipFill>
        <p:spPr>
          <a:xfrm>
            <a:off x="4897344" y="2625060"/>
            <a:ext cx="199705" cy="199705"/>
          </a:xfrm>
          <a:prstGeom prst="rect">
            <a:avLst/>
          </a:prstGeom>
          <a:noFill/>
          <a:ln>
            <a:noFill/>
          </a:ln>
        </p:spPr>
      </p:pic>
      <p:sp>
        <p:nvSpPr>
          <p:cNvPr id="1973" name="Google Shape;1973;p73"/>
          <p:cNvSpPr txBox="1"/>
          <p:nvPr/>
        </p:nvSpPr>
        <p:spPr>
          <a:xfrm>
            <a:off x="53263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Biohazard reported by the CP</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All unused MFs, if they ask (120 days).</a:t>
            </a:r>
            <a:endParaRPr b="0" i="0" spc="0" sz="1100" u="none" cap="none" strike="noStrike">
              <a:solidFill>
                <a:schemeClr val="dk1"/>
              </a:solidFill>
              <a:latin typeface="Calibri"/>
              <a:ea typeface="Calibri"/>
              <a:cs typeface="Calibri"/>
              <a:sym typeface="Calibri"/>
            </a:endParaRPr>
          </a:p>
        </p:txBody>
      </p:sp>
      <p:sp>
        <p:nvSpPr>
          <p:cNvPr id="1974" name="Google Shape;1974;p73"/>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75" name="Google Shape;1975;p73"/>
          <p:cNvPicPr preferRelativeResize="0"/>
          <p:nvPr/>
        </p:nvPicPr>
        <p:blipFill rotWithShape="1">
          <a:blip r:embed="rId7">
            <a:alphaModFix/>
          </a:blip>
          <a:srcRect b="0" l="0" r="0" t="0"/>
          <a:stretch/>
        </p:blipFill>
        <p:spPr>
          <a:xfrm>
            <a:off x="566928" y="3447288"/>
            <a:ext cx="164592" cy="164592"/>
          </a:xfrm>
          <a:prstGeom prst="rect">
            <a:avLst/>
          </a:prstGeom>
          <a:noFill/>
          <a:ln>
            <a:noFill/>
          </a:ln>
        </p:spPr>
      </p:pic>
      <p:sp>
        <p:nvSpPr>
          <p:cNvPr id="1976" name="Google Shape;1976;p73"/>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Then, for the 1st charge:  </a:t>
            </a:r>
            <a:r>
              <a:rPr b="0" i="0" lang="en-US" spc="0" sz="1000" u="none" cap="none" strike="noStrike">
                <a:solidFill>
                  <a:srgbClr val="1D1D1F"/>
                </a:solidFill>
                <a:latin typeface="Arial"/>
                <a:ea typeface="Arial"/>
                <a:cs typeface="Arial"/>
                <a:sym typeface="Arial"/>
              </a:rPr>
              <a:t>2–3 hr, Refund Voucher option. 4–6 hr, FCF Refund tab for a Stripe FULL refund.</a:t>
            </a:r>
            <a:endParaRPr b="0" i="0" spc="0" sz="1000" u="none" cap="none" strike="noStrike">
              <a:solidFill>
                <a:schemeClr val="dk1"/>
              </a:solidFill>
              <a:latin typeface="Calibri"/>
              <a:ea typeface="Calibri"/>
              <a:cs typeface="Calibri"/>
              <a:sym typeface="Calibri"/>
            </a:endParaRPr>
          </a:p>
        </p:txBody>
      </p:sp>
      <p:sp>
        <p:nvSpPr>
          <p:cNvPr id="1977" name="Google Shape;1977;p73"/>
          <p:cNvSpPr/>
          <p:nvPr/>
        </p:nvSpPr>
        <p:spPr>
          <a:xfrm>
            <a:off x="411480" y="3813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78" name="Google Shape;1978;p73"/>
          <p:cNvPicPr preferRelativeResize="0"/>
          <p:nvPr/>
        </p:nvPicPr>
        <p:blipFill rotWithShape="1">
          <a:blip r:embed="rId8">
            <a:alphaModFix/>
          </a:blip>
          <a:srcRect b="0" l="0" r="0" t="0"/>
          <a:stretch/>
        </p:blipFill>
        <p:spPr>
          <a:xfrm>
            <a:off x="566928" y="3922776"/>
            <a:ext cx="164592" cy="164592"/>
          </a:xfrm>
          <a:prstGeom prst="rect">
            <a:avLst/>
          </a:prstGeom>
          <a:noFill/>
          <a:ln>
            <a:noFill/>
          </a:ln>
        </p:spPr>
      </p:pic>
      <p:sp>
        <p:nvSpPr>
          <p:cNvPr id="1979" name="Google Shape;1979;p73"/>
          <p:cNvSpPr txBox="1"/>
          <p:nvPr/>
        </p:nvSpPr>
        <p:spPr>
          <a:xfrm>
            <a:off x="822960" y="3913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Finish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980" name="Google Shape;1980;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5" name="Shape 1985"/>
        <p:cNvGrpSpPr/>
        <p:nvPr/>
      </p:nvGrpSpPr>
      <p:grpSpPr>
        <a:xfrm>
          <a:off x="0" y="0"/>
          <a:ext cx="0" cy="0"/>
          <a:chOff x="0" y="0"/>
          <a:chExt cx="0" cy="0"/>
        </a:xfrm>
      </p:grpSpPr>
      <p:sp>
        <p:nvSpPr>
          <p:cNvPr id="1986" name="Google Shape;1986;p7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87" name="Google Shape;1987;p7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Changing the first cleaning's length</a:t>
            </a:r>
            <a:endParaRPr b="0" i="0" spc="0" sz="2400" u="none" cap="none" strike="noStrike">
              <a:solidFill>
                <a:schemeClr val="dk1"/>
              </a:solidFill>
              <a:latin typeface="Calibri"/>
              <a:ea typeface="Calibri"/>
              <a:cs typeface="Calibri"/>
              <a:sym typeface="Calibri"/>
            </a:endParaRPr>
          </a:p>
        </p:txBody>
      </p:sp>
      <p:sp>
        <p:nvSpPr>
          <p:cNvPr id="1988" name="Google Shape;1988;p7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Keep FC in place. Settle the difference at sign-up pricing.</a:t>
            </a:r>
            <a:endParaRPr b="0" i="0" spc="0" sz="1200" u="none" cap="none" strike="noStrike">
              <a:solidFill>
                <a:schemeClr val="dk1"/>
              </a:solidFill>
              <a:latin typeface="Calibri"/>
              <a:ea typeface="Calibri"/>
              <a:cs typeface="Calibri"/>
              <a:sym typeface="Calibri"/>
            </a:endParaRPr>
          </a:p>
        </p:txBody>
      </p:sp>
      <p:sp>
        <p:nvSpPr>
          <p:cNvPr id="1989" name="Google Shape;1989;p74"/>
          <p:cNvSpPr/>
          <p:nvPr/>
        </p:nvSpPr>
        <p:spPr>
          <a:xfrm>
            <a:off x="411480" y="1371600"/>
            <a:ext cx="192024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0" name="Google Shape;1990;p74"/>
          <p:cNvSpPr txBox="1"/>
          <p:nvPr/>
        </p:nvSpPr>
        <p:spPr>
          <a:xfrm>
            <a:off x="41148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current &amp; target tier</a:t>
            </a:r>
            <a:endParaRPr b="0" i="0" spc="0" sz="1000" u="none" cap="none" strike="noStrike">
              <a:solidFill>
                <a:schemeClr val="dk1"/>
              </a:solidFill>
              <a:latin typeface="Calibri"/>
              <a:ea typeface="Calibri"/>
              <a:cs typeface="Calibri"/>
              <a:sym typeface="Calibri"/>
            </a:endParaRPr>
          </a:p>
        </p:txBody>
      </p:sp>
      <p:cxnSp>
        <p:nvCxnSpPr>
          <p:cNvPr id="1991" name="Google Shape;1991;p74"/>
          <p:cNvCxnSpPr/>
          <p:nvPr/>
        </p:nvCxnSpPr>
        <p:spPr>
          <a:xfrm>
            <a:off x="233172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92" name="Google Shape;1992;p74"/>
          <p:cNvSpPr/>
          <p:nvPr/>
        </p:nvSpPr>
        <p:spPr>
          <a:xfrm>
            <a:off x="2544775" y="1371600"/>
            <a:ext cx="192024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3" name="Google Shape;1993;p74"/>
          <p:cNvSpPr txBox="1"/>
          <p:nvPr/>
        </p:nvSpPr>
        <p:spPr>
          <a:xfrm>
            <a:off x="2544775"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Customer agrees to the difference</a:t>
            </a:r>
            <a:endParaRPr b="0" i="0" spc="0" sz="1000" u="none" cap="none" strike="noStrike">
              <a:solidFill>
                <a:schemeClr val="dk1"/>
              </a:solidFill>
              <a:latin typeface="Calibri"/>
              <a:ea typeface="Calibri"/>
              <a:cs typeface="Calibri"/>
              <a:sym typeface="Calibri"/>
            </a:endParaRPr>
          </a:p>
        </p:txBody>
      </p:sp>
      <p:cxnSp>
        <p:nvCxnSpPr>
          <p:cNvPr id="1994" name="Google Shape;1994;p74"/>
          <p:cNvCxnSpPr/>
          <p:nvPr/>
        </p:nvCxnSpPr>
        <p:spPr>
          <a:xfrm>
            <a:off x="4465015"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95" name="Google Shape;1995;p74"/>
          <p:cNvSpPr/>
          <p:nvPr/>
        </p:nvSpPr>
        <p:spPr>
          <a:xfrm>
            <a:off x="4678070"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6" name="Google Shape;1996;p74"/>
          <p:cNvSpPr txBox="1"/>
          <p:nvPr/>
        </p:nvSpPr>
        <p:spPr>
          <a:xfrm>
            <a:off x="467807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Update voucher duration in Django</a:t>
            </a:r>
            <a:endParaRPr b="0" i="0" spc="0" sz="1000" u="none" cap="none" strike="noStrike">
              <a:solidFill>
                <a:schemeClr val="dk1"/>
              </a:solidFill>
              <a:latin typeface="Calibri"/>
              <a:ea typeface="Calibri"/>
              <a:cs typeface="Calibri"/>
              <a:sym typeface="Calibri"/>
            </a:endParaRPr>
          </a:p>
        </p:txBody>
      </p:sp>
      <p:cxnSp>
        <p:nvCxnSpPr>
          <p:cNvPr id="1997" name="Google Shape;1997;p74"/>
          <p:cNvCxnSpPr/>
          <p:nvPr/>
        </p:nvCxnSpPr>
        <p:spPr>
          <a:xfrm>
            <a:off x="659831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98" name="Google Shape;1998;p74"/>
          <p:cNvSpPr/>
          <p:nvPr/>
        </p:nvSpPr>
        <p:spPr>
          <a:xfrm>
            <a:off x="6811366"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9" name="Google Shape;1999;p74"/>
          <p:cNvSpPr txBox="1"/>
          <p:nvPr/>
        </p:nvSpPr>
        <p:spPr>
          <a:xfrm>
            <a:off x="6811366"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Charge or refund the difference</a:t>
            </a:r>
            <a:endParaRPr b="0" i="0" spc="0" sz="1000" u="none" cap="none" strike="noStrike">
              <a:solidFill>
                <a:schemeClr val="dk1"/>
              </a:solidFill>
              <a:latin typeface="Calibri"/>
              <a:ea typeface="Calibri"/>
              <a:cs typeface="Calibri"/>
              <a:sym typeface="Calibri"/>
            </a:endParaRPr>
          </a:p>
        </p:txBody>
      </p:sp>
      <p:sp>
        <p:nvSpPr>
          <p:cNvPr id="2000" name="Google Shape;2000;p74"/>
          <p:cNvSpPr/>
          <p:nvPr/>
        </p:nvSpPr>
        <p:spPr>
          <a:xfrm>
            <a:off x="4114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1" name="Google Shape;2001;p74"/>
          <p:cNvSpPr txBox="1"/>
          <p:nvPr/>
        </p:nvSpPr>
        <p:spPr>
          <a:xfrm>
            <a:off x="4114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+$19</a:t>
            </a:r>
            <a:endParaRPr b="0" i="0" spc="0" sz="3000" u="none" cap="none" strike="noStrike">
              <a:solidFill>
                <a:schemeClr val="dk1"/>
              </a:solidFill>
              <a:latin typeface="Calibri"/>
              <a:ea typeface="Calibri"/>
              <a:cs typeface="Calibri"/>
              <a:sym typeface="Calibri"/>
            </a:endParaRPr>
          </a:p>
        </p:txBody>
      </p:sp>
      <p:sp>
        <p:nvSpPr>
          <p:cNvPr id="2002" name="Google Shape;2002;p74"/>
          <p:cNvSpPr txBox="1"/>
          <p:nvPr/>
        </p:nvSpPr>
        <p:spPr>
          <a:xfrm>
            <a:off x="5943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4 hours</a:t>
            </a:r>
            <a:endParaRPr b="0" i="0" spc="0" sz="1000" u="none" cap="none" strike="noStrike">
              <a:solidFill>
                <a:schemeClr val="dk1"/>
              </a:solidFill>
              <a:latin typeface="Calibri"/>
              <a:ea typeface="Calibri"/>
              <a:cs typeface="Calibri"/>
              <a:sym typeface="Calibri"/>
            </a:endParaRPr>
          </a:p>
        </p:txBody>
      </p:sp>
      <p:sp>
        <p:nvSpPr>
          <p:cNvPr id="2003" name="Google Shape;2003;p74"/>
          <p:cNvSpPr/>
          <p:nvPr/>
        </p:nvSpPr>
        <p:spPr>
          <a:xfrm>
            <a:off x="32308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4" name="Google Shape;2004;p74"/>
          <p:cNvSpPr txBox="1"/>
          <p:nvPr/>
        </p:nvSpPr>
        <p:spPr>
          <a:xfrm>
            <a:off x="32308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+$59</a:t>
            </a:r>
            <a:endParaRPr b="0" i="0" spc="0" sz="3000" u="none" cap="none" strike="noStrike">
              <a:solidFill>
                <a:schemeClr val="dk1"/>
              </a:solidFill>
              <a:latin typeface="Calibri"/>
              <a:ea typeface="Calibri"/>
              <a:cs typeface="Calibri"/>
              <a:sym typeface="Calibri"/>
            </a:endParaRPr>
          </a:p>
        </p:txBody>
      </p:sp>
      <p:sp>
        <p:nvSpPr>
          <p:cNvPr id="2005" name="Google Shape;2005;p74"/>
          <p:cNvSpPr txBox="1"/>
          <p:nvPr/>
        </p:nvSpPr>
        <p:spPr>
          <a:xfrm>
            <a:off x="34137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6 hours</a:t>
            </a:r>
            <a:endParaRPr b="0" i="0" spc="0" sz="1000" u="none" cap="none" strike="noStrike">
              <a:solidFill>
                <a:schemeClr val="dk1"/>
              </a:solidFill>
              <a:latin typeface="Calibri"/>
              <a:ea typeface="Calibri"/>
              <a:cs typeface="Calibri"/>
              <a:sym typeface="Calibri"/>
            </a:endParaRPr>
          </a:p>
        </p:txBody>
      </p:sp>
      <p:sp>
        <p:nvSpPr>
          <p:cNvPr id="2006" name="Google Shape;2006;p74"/>
          <p:cNvSpPr/>
          <p:nvPr/>
        </p:nvSpPr>
        <p:spPr>
          <a:xfrm>
            <a:off x="60502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7" name="Google Shape;2007;p74"/>
          <p:cNvSpPr txBox="1"/>
          <p:nvPr/>
        </p:nvSpPr>
        <p:spPr>
          <a:xfrm>
            <a:off x="60502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Refund</a:t>
            </a:r>
            <a:endParaRPr b="0" i="0" spc="0" sz="3000" u="none" cap="none" strike="noStrike">
              <a:solidFill>
                <a:schemeClr val="dk1"/>
              </a:solidFill>
              <a:latin typeface="Calibri"/>
              <a:ea typeface="Calibri"/>
              <a:cs typeface="Calibri"/>
              <a:sym typeface="Calibri"/>
            </a:endParaRPr>
          </a:p>
        </p:txBody>
      </p:sp>
      <p:sp>
        <p:nvSpPr>
          <p:cNvPr id="2008" name="Google Shape;2008;p74"/>
          <p:cNvSpPr txBox="1"/>
          <p:nvPr/>
        </p:nvSpPr>
        <p:spPr>
          <a:xfrm>
            <a:off x="62331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difference on a downgrade</a:t>
            </a:r>
            <a:endParaRPr b="0" i="0" spc="0" sz="1000" u="none" cap="none" strike="noStrike">
              <a:solidFill>
                <a:schemeClr val="dk1"/>
              </a:solidFill>
              <a:latin typeface="Calibri"/>
              <a:ea typeface="Calibri"/>
              <a:cs typeface="Calibri"/>
              <a:sym typeface="Calibri"/>
            </a:endParaRPr>
          </a:p>
        </p:txBody>
      </p:sp>
      <p:sp>
        <p:nvSpPr>
          <p:cNvPr id="2009" name="Google Shape;2009;p74"/>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10" name="Google Shape;2010;p74"/>
          <p:cNvPicPr preferRelativeResize="0"/>
          <p:nvPr/>
        </p:nvPicPr>
        <p:blipFill rotWithShape="1">
          <a:blip r:embed="rId3">
            <a:alphaModFix/>
          </a:blip>
          <a:srcRect b="0" l="0" r="0" t="0"/>
          <a:stretch/>
        </p:blipFill>
        <p:spPr>
          <a:xfrm>
            <a:off x="566928" y="3767328"/>
            <a:ext cx="164592" cy="164592"/>
          </a:xfrm>
          <a:prstGeom prst="rect">
            <a:avLst/>
          </a:prstGeom>
          <a:noFill/>
          <a:ln>
            <a:noFill/>
          </a:ln>
        </p:spPr>
      </p:pic>
      <p:sp>
        <p:nvSpPr>
          <p:cNvPr id="2011" name="Google Shape;2011;p74"/>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Keep FC in place:  </a:t>
            </a:r>
            <a:r>
              <a:rPr b="0" i="0" lang="en-US" spc="0" sz="1000" u="none" cap="none" strike="noStrike">
                <a:solidFill>
                  <a:srgbClr val="1D1D1F"/>
                </a:solidFill>
                <a:latin typeface="Arial"/>
                <a:ea typeface="Arial"/>
                <a:cs typeface="Arial"/>
                <a:sym typeface="Arial"/>
              </a:rPr>
              <a:t>this isn't a cancellation.</a:t>
            </a:r>
            <a:endParaRPr b="0" i="0" spc="0" sz="1000" u="none" cap="none" strike="noStrike">
              <a:solidFill>
                <a:schemeClr val="dk1"/>
              </a:solidFill>
              <a:latin typeface="Calibri"/>
              <a:ea typeface="Calibri"/>
              <a:cs typeface="Calibri"/>
              <a:sym typeface="Calibri"/>
            </a:endParaRPr>
          </a:p>
        </p:txBody>
      </p:sp>
      <p:sp>
        <p:nvSpPr>
          <p:cNvPr id="2012" name="Google Shape;2012;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7" name="Shape 2017"/>
        <p:cNvGrpSpPr/>
        <p:nvPr/>
      </p:nvGrpSpPr>
      <p:grpSpPr>
        <a:xfrm>
          <a:off x="0" y="0"/>
          <a:ext cx="0" cy="0"/>
          <a:chOff x="0" y="0"/>
          <a:chExt cx="0" cy="0"/>
        </a:xfrm>
      </p:grpSpPr>
      <p:sp>
        <p:nvSpPr>
          <p:cNvPr id="2018" name="Google Shape;2018;p7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KNOWLEDGE CHECK</a:t>
            </a:r>
            <a:endParaRPr b="0" i="0" spc="0" sz="800" u="none" cap="none" strike="noStrike">
              <a:solidFill>
                <a:schemeClr val="dk1"/>
              </a:solidFill>
              <a:latin typeface="Calibri"/>
              <a:ea typeface="Calibri"/>
              <a:cs typeface="Calibri"/>
              <a:sym typeface="Calibri"/>
            </a:endParaRPr>
          </a:p>
        </p:txBody>
      </p:sp>
      <p:sp>
        <p:nvSpPr>
          <p:cNvPr id="2019" name="Google Shape;2019;p7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020" name="Google Shape;2020;p7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1" name="Google Shape;2021;p7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2" name="Google Shape;2022;p7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23" name="Google Shape;2023;p7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asks how long they have to cancel for a refund. Tell them 24 hours?</a:t>
            </a:r>
            <a:endParaRPr b="0" i="0" spc="0" sz="1000" u="none" cap="none" strike="noStrike">
              <a:solidFill>
                <a:schemeClr val="dk1"/>
              </a:solidFill>
              <a:latin typeface="Calibri"/>
              <a:ea typeface="Calibri"/>
              <a:cs typeface="Calibri"/>
              <a:sym typeface="Calibri"/>
            </a:endParaRPr>
          </a:p>
        </p:txBody>
      </p:sp>
      <p:sp>
        <p:nvSpPr>
          <p:cNvPr id="2024" name="Google Shape;2024;p7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5" name="Google Shape;2025;p7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 window is internal only. Explain the outcome, not the rule.</a:t>
            </a:r>
            <a:endParaRPr b="0" i="0" spc="0" sz="900" u="none" cap="none" strike="noStrike">
              <a:solidFill>
                <a:schemeClr val="dk1"/>
              </a:solidFill>
              <a:latin typeface="Calibri"/>
              <a:ea typeface="Calibri"/>
              <a:cs typeface="Calibri"/>
              <a:sym typeface="Calibri"/>
            </a:endParaRPr>
          </a:p>
        </p:txBody>
      </p:sp>
      <p:sp>
        <p:nvSpPr>
          <p:cNvPr id="2026" name="Google Shape;2026;p7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7" name="Google Shape;2027;p7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8" name="Google Shape;2028;p7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29" name="Google Shape;2029;p7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2–3 hr cleaning, cancels 3 hours after sign-up and asks for a refund. What do you do?</a:t>
            </a:r>
            <a:endParaRPr b="0" i="0" spc="0" sz="1000" u="none" cap="none" strike="noStrike">
              <a:solidFill>
                <a:schemeClr val="dk1"/>
              </a:solidFill>
              <a:latin typeface="Calibri"/>
              <a:ea typeface="Calibri"/>
              <a:cs typeface="Calibri"/>
              <a:sym typeface="Calibri"/>
            </a:endParaRPr>
          </a:p>
        </p:txBody>
      </p:sp>
      <p:sp>
        <p:nvSpPr>
          <p:cNvPr id="2030" name="Google Shape;2030;p7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1" name="Google Shape;2031;p7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Refund via the Refund Voucher option, cancel FC, invalidate the voucher.</a:t>
            </a:r>
            <a:endParaRPr b="0" i="0" spc="0" sz="900" u="none" cap="none" strike="noStrike">
              <a:solidFill>
                <a:schemeClr val="dk1"/>
              </a:solidFill>
              <a:latin typeface="Calibri"/>
              <a:ea typeface="Calibri"/>
              <a:cs typeface="Calibri"/>
              <a:sym typeface="Calibri"/>
            </a:endParaRPr>
          </a:p>
        </p:txBody>
      </p:sp>
      <p:sp>
        <p:nvSpPr>
          <p:cNvPr id="2032" name="Google Shape;2032;p7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3" name="Google Shape;2033;p7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4" name="Google Shape;2034;p7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35" name="Google Shape;2035;p7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6-hr cleaning, within 24 hrs. Use the Refund Voucher option?</a:t>
            </a:r>
            <a:endParaRPr b="0" i="0" spc="0" sz="1000" u="none" cap="none" strike="noStrike">
              <a:solidFill>
                <a:schemeClr val="dk1"/>
              </a:solidFill>
              <a:latin typeface="Calibri"/>
              <a:ea typeface="Calibri"/>
              <a:cs typeface="Calibri"/>
              <a:sym typeface="Calibri"/>
            </a:endParaRPr>
          </a:p>
        </p:txBody>
      </p:sp>
      <p:sp>
        <p:nvSpPr>
          <p:cNvPr id="2036" name="Google Shape;2036;p7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7" name="Google Shape;2037;p7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only refunds $19. Log to the FCF Refund tracker for a Stripe FULL refund.</a:t>
            </a:r>
            <a:endParaRPr b="0" i="0" spc="0" sz="900" u="none" cap="none" strike="noStrike">
              <a:solidFill>
                <a:schemeClr val="dk1"/>
              </a:solidFill>
              <a:latin typeface="Calibri"/>
              <a:ea typeface="Calibri"/>
              <a:cs typeface="Calibri"/>
              <a:sym typeface="Calibri"/>
            </a:endParaRPr>
          </a:p>
        </p:txBody>
      </p:sp>
      <p:sp>
        <p:nvSpPr>
          <p:cNvPr id="2038" name="Google Shape;2038;p7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9" name="Google Shape;2039;p7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0" name="Google Shape;2040;p7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041" name="Google Shape;2041;p7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had one completed cleaning. Does the 24-hour window apply?</a:t>
            </a:r>
            <a:endParaRPr b="0" i="0" spc="0" sz="1000" u="none" cap="none" strike="noStrike">
              <a:solidFill>
                <a:schemeClr val="dk1"/>
              </a:solidFill>
              <a:latin typeface="Calibri"/>
              <a:ea typeface="Calibri"/>
              <a:cs typeface="Calibri"/>
              <a:sym typeface="Calibri"/>
            </a:endParaRPr>
          </a:p>
        </p:txBody>
      </p:sp>
      <p:sp>
        <p:nvSpPr>
          <p:cNvPr id="2042" name="Google Shape;2042;p7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3" name="Google Shape;2043;p7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Handle it as a normal cancellation.</a:t>
            </a:r>
            <a:endParaRPr b="0" i="0" spc="0" sz="900" u="none" cap="none" strike="noStrike">
              <a:solidFill>
                <a:schemeClr val="dk1"/>
              </a:solidFill>
              <a:latin typeface="Calibri"/>
              <a:ea typeface="Calibri"/>
              <a:cs typeface="Calibri"/>
              <a:sym typeface="Calibri"/>
            </a:endParaRPr>
          </a:p>
        </p:txBody>
      </p:sp>
      <p:sp>
        <p:nvSpPr>
          <p:cNvPr id="2044" name="Google Shape;2044;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25"/>
                                        </p:tgtEl>
                                        <p:attrNameLst>
                                          <p:attrName>style.visibility</p:attrName>
                                        </p:attrNameLst>
                                      </p:cBhvr>
                                      <p:to>
                                        <p:strVal val="visible"/>
                                      </p:to>
                                    </p:set>
                                    <p:animEffect filter="fade" transition="in">
                                      <p:cBhvr>
                                        <p:cTn dur="600"/>
                                        <p:tgtEl>
                                          <p:spTgt spid="20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31"/>
                                        </p:tgtEl>
                                        <p:attrNameLst>
                                          <p:attrName>style.visibility</p:attrName>
                                        </p:attrNameLst>
                                      </p:cBhvr>
                                      <p:to>
                                        <p:strVal val="visible"/>
                                      </p:to>
                                    </p:set>
                                    <p:animEffect filter="fade" transition="in">
                                      <p:cBhvr>
                                        <p:cTn dur="600"/>
                                        <p:tgtEl>
                                          <p:spTgt spid="203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37"/>
                                        </p:tgtEl>
                                        <p:attrNameLst>
                                          <p:attrName>style.visibility</p:attrName>
                                        </p:attrNameLst>
                                      </p:cBhvr>
                                      <p:to>
                                        <p:strVal val="visible"/>
                                      </p:to>
                                    </p:set>
                                    <p:animEffect filter="fade" transition="in">
                                      <p:cBhvr>
                                        <p:cTn dur="600"/>
                                        <p:tgtEl>
                                          <p:spTgt spid="203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43"/>
                                        </p:tgtEl>
                                        <p:attrNameLst>
                                          <p:attrName>style.visibility</p:attrName>
                                        </p:attrNameLst>
                                      </p:cBhvr>
                                      <p:to>
                                        <p:strVal val="visible"/>
                                      </p:to>
                                    </p:set>
                                    <p:animEffect filter="fade" transition="in">
                                      <p:cBhvr>
                                        <p:cTn dur="600"/>
                                        <p:tgtEl>
                                          <p:spTgt spid="204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9" name="Shape 2049"/>
        <p:cNvGrpSpPr/>
        <p:nvPr/>
      </p:nvGrpSpPr>
      <p:grpSpPr>
        <a:xfrm>
          <a:off x="0" y="0"/>
          <a:ext cx="0" cy="0"/>
          <a:chOff x="0" y="0"/>
          <a:chExt cx="0" cy="0"/>
        </a:xfrm>
      </p:grpSpPr>
      <p:sp>
        <p:nvSpPr>
          <p:cNvPr id="2050" name="Google Shape;2050;p7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PRACTICE</a:t>
            </a:r>
            <a:endParaRPr b="0" i="0" spc="0" sz="800" u="none" cap="none" strike="noStrike">
              <a:solidFill>
                <a:schemeClr val="dk1"/>
              </a:solidFill>
              <a:latin typeface="Calibri"/>
              <a:ea typeface="Calibri"/>
              <a:cs typeface="Calibri"/>
              <a:sym typeface="Calibri"/>
            </a:endParaRPr>
          </a:p>
        </p:txBody>
      </p:sp>
      <p:sp>
        <p:nvSpPr>
          <p:cNvPr id="2051" name="Google Shape;2051;p7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052" name="Google Shape;2052;p7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053" name="Google Shape;2053;p7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4" name="Google Shape;2054;p7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55" name="Google Shape;2055;p7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056" name="Google Shape;2056;p7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057" name="Google Shape;2057;p7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058" name="Google Shape;2058;p7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059" name="Google Shape;2059;p7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0" name="Google Shape;2060;p7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1" name="Google Shape;2061;p7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62" name="Google Shape;2062;p7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row of the cheat sheet applies? Why?</a:t>
            </a:r>
            <a:endParaRPr b="0" i="0" spc="0" sz="1250" u="none" cap="none" strike="noStrike">
              <a:solidFill>
                <a:schemeClr val="dk1"/>
              </a:solidFill>
              <a:latin typeface="Calibri"/>
              <a:ea typeface="Calibri"/>
              <a:cs typeface="Calibri"/>
              <a:sym typeface="Calibri"/>
            </a:endParaRPr>
          </a:p>
        </p:txBody>
      </p:sp>
      <p:sp>
        <p:nvSpPr>
          <p:cNvPr id="2063" name="Google Shape;2063;p7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Completed jobs, timing, cleaning length, fault.</a:t>
            </a:r>
            <a:endParaRPr b="0" i="0" spc="0" sz="1000" u="none" cap="none" strike="noStrike">
              <a:solidFill>
                <a:schemeClr val="dk1"/>
              </a:solidFill>
              <a:latin typeface="Calibri"/>
              <a:ea typeface="Calibri"/>
              <a:cs typeface="Calibri"/>
              <a:sym typeface="Calibri"/>
            </a:endParaRPr>
          </a:p>
        </p:txBody>
      </p:sp>
      <p:sp>
        <p:nvSpPr>
          <p:cNvPr id="2064" name="Google Shape;2064;p7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5" name="Google Shape;2065;p7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6" name="Google Shape;2066;p7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67" name="Google Shape;2067;p7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068" name="Google Shape;2068;p7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 how, then cancel FC and invalidate the voucher.</a:t>
            </a:r>
            <a:endParaRPr b="0" i="0" spc="0" sz="1000" u="none" cap="none" strike="noStrike">
              <a:solidFill>
                <a:schemeClr val="dk1"/>
              </a:solidFill>
              <a:latin typeface="Calibri"/>
              <a:ea typeface="Calibri"/>
              <a:cs typeface="Calibri"/>
              <a:sym typeface="Calibri"/>
            </a:endParaRPr>
          </a:p>
        </p:txBody>
      </p:sp>
      <p:sp>
        <p:nvSpPr>
          <p:cNvPr id="2069" name="Google Shape;2069;p7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0" name="Google Shape;2070;p7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1" name="Google Shape;2071;p7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72" name="Google Shape;2072;p7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073" name="Google Shape;2073;p7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No 24-hour talk!</a:t>
            </a:r>
            <a:endParaRPr b="0" i="0" spc="0" sz="1000" u="none" cap="none" strike="noStrike">
              <a:solidFill>
                <a:schemeClr val="dk1"/>
              </a:solidFill>
              <a:latin typeface="Calibri"/>
              <a:ea typeface="Calibri"/>
              <a:cs typeface="Calibri"/>
              <a:sym typeface="Calibri"/>
            </a:endParaRPr>
          </a:p>
        </p:txBody>
      </p:sp>
      <p:sp>
        <p:nvSpPr>
          <p:cNvPr id="2074" name="Google Shape;2074;p7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75" name="Google Shape;2075;p7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076" name="Google Shape;2076;p7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077" name="Google Shape;2077;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2" name="Shape 2082"/>
        <p:cNvGrpSpPr/>
        <p:nvPr/>
      </p:nvGrpSpPr>
      <p:grpSpPr>
        <a:xfrm>
          <a:off x="0" y="0"/>
          <a:ext cx="0" cy="0"/>
          <a:chOff x="0" y="0"/>
          <a:chExt cx="0" cy="0"/>
        </a:xfrm>
      </p:grpSpPr>
      <p:sp>
        <p:nvSpPr>
          <p:cNvPr id="2083" name="Google Shape;2083;p7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chemeClr val="dk1"/>
              </a:solidFill>
              <a:latin typeface="Calibri"/>
              <a:ea typeface="Calibri"/>
              <a:cs typeface="Calibri"/>
              <a:sym typeface="Calibri"/>
            </a:endParaRPr>
          </a:p>
        </p:txBody>
      </p:sp>
      <p:sp>
        <p:nvSpPr>
          <p:cNvPr id="2084" name="Google Shape;2084;p7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Trial Cleaning &amp; One-Time Cleaning</a:t>
            </a:r>
            <a:endParaRPr b="0" i="0" spc="0" sz="2800" u="none" cap="none" strike="noStrike">
              <a:solidFill>
                <a:schemeClr val="dk1"/>
              </a:solidFill>
              <a:latin typeface="Calibri"/>
              <a:ea typeface="Calibri"/>
              <a:cs typeface="Calibri"/>
              <a:sym typeface="Calibri"/>
            </a:endParaRPr>
          </a:p>
        </p:txBody>
      </p:sp>
      <p:sp>
        <p:nvSpPr>
          <p:cNvPr id="2085" name="Google Shape;2085;p7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Alternatives to a full ForeverClean membership.</a:t>
            </a:r>
            <a:endParaRPr b="0" i="0" spc="0" sz="1150" u="none" cap="none" strike="noStrike">
              <a:solidFill>
                <a:schemeClr val="dk1"/>
              </a:solidFill>
              <a:latin typeface="Calibri"/>
              <a:ea typeface="Calibri"/>
              <a:cs typeface="Calibri"/>
              <a:sym typeface="Calibri"/>
            </a:endParaRPr>
          </a:p>
        </p:txBody>
      </p:sp>
      <p:sp>
        <p:nvSpPr>
          <p:cNvPr id="2086" name="Google Shape;2086;p7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2087" name="Google Shape;2087;p7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88" name="Google Shape;2088;p7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2089" name="Google Shape;2089;p7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Trial Cleaning vs One-Time Cleaning</a:t>
            </a:r>
            <a:endParaRPr b="0" i="0" spc="0" sz="1050" u="none" cap="none" strike="noStrike">
              <a:solidFill>
                <a:schemeClr val="dk1"/>
              </a:solidFill>
              <a:latin typeface="Calibri"/>
              <a:ea typeface="Calibri"/>
              <a:cs typeface="Calibri"/>
              <a:sym typeface="Calibri"/>
            </a:endParaRPr>
          </a:p>
        </p:txBody>
      </p:sp>
      <p:sp>
        <p:nvSpPr>
          <p:cNvPr id="2090" name="Google Shape;2090;p7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91" name="Google Shape;2091;p7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2092" name="Google Shape;2092;p7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Pricing: what gets deducted</a:t>
            </a:r>
            <a:endParaRPr b="0" i="0" spc="0" sz="1050" u="none" cap="none" strike="noStrike">
              <a:solidFill>
                <a:schemeClr val="dk1"/>
              </a:solidFill>
              <a:latin typeface="Calibri"/>
              <a:ea typeface="Calibri"/>
              <a:cs typeface="Calibri"/>
              <a:sym typeface="Calibri"/>
            </a:endParaRPr>
          </a:p>
        </p:txBody>
      </p:sp>
      <p:sp>
        <p:nvSpPr>
          <p:cNvPr id="2093" name="Google Shape;2093;p7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94" name="Google Shape;2094;p7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2095" name="Google Shape;2095;p7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Converting an unused voucher or FCF</a:t>
            </a:r>
            <a:endParaRPr b="0" i="0" spc="0" sz="1050" u="none" cap="none" strike="noStrike">
              <a:solidFill>
                <a:schemeClr val="dk1"/>
              </a:solidFill>
              <a:latin typeface="Calibri"/>
              <a:ea typeface="Calibri"/>
              <a:cs typeface="Calibri"/>
              <a:sym typeface="Calibri"/>
            </a:endParaRPr>
          </a:p>
        </p:txBody>
      </p:sp>
      <p:sp>
        <p:nvSpPr>
          <p:cNvPr id="2096" name="Google Shape;2096;p7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97" name="Google Shape;2097;p7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2098" name="Google Shape;2098;p7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Cancellations and refunds afterwards</a:t>
            </a:r>
            <a:endParaRPr b="0" i="0" spc="0" sz="1050" u="none" cap="none" strike="noStrike">
              <a:solidFill>
                <a:schemeClr val="dk1"/>
              </a:solidFill>
              <a:latin typeface="Calibri"/>
              <a:ea typeface="Calibri"/>
              <a:cs typeface="Calibri"/>
              <a:sym typeface="Calibri"/>
            </a:endParaRPr>
          </a:p>
        </p:txBody>
      </p:sp>
      <p:sp>
        <p:nvSpPr>
          <p:cNvPr id="2099" name="Google Shape;2099;p7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0" name="Google Shape;2100;p7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7.png" id="2101" name="Google Shape;2101;p77"/>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2102" name="Google Shape;2102;p7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3" name="Google Shape;2103;p7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4" name="Google Shape;2104;p7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5" name="Google Shape;2105;p7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6" name="Google Shape;2106;p7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7" name="Google Shape;2107;p7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8" name="Google Shape;2108;p7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3" name="Shape 2113"/>
        <p:cNvGrpSpPr/>
        <p:nvPr/>
      </p:nvGrpSpPr>
      <p:grpSpPr>
        <a:xfrm>
          <a:off x="0" y="0"/>
          <a:ext cx="0" cy="0"/>
          <a:chOff x="0" y="0"/>
          <a:chExt cx="0" cy="0"/>
        </a:xfrm>
      </p:grpSpPr>
      <p:sp>
        <p:nvSpPr>
          <p:cNvPr id="2114" name="Google Shape;2114;p7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15" name="Google Shape;2115;p7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Trial Cleaning vs One-Time Cleaning</a:t>
            </a:r>
            <a:endParaRPr b="0" i="0" spc="0" sz="2400" u="none" cap="none" strike="noStrike">
              <a:solidFill>
                <a:schemeClr val="dk1"/>
              </a:solidFill>
              <a:latin typeface="Calibri"/>
              <a:ea typeface="Calibri"/>
              <a:cs typeface="Calibri"/>
              <a:sym typeface="Calibri"/>
            </a:endParaRPr>
          </a:p>
        </p:txBody>
      </p:sp>
      <p:sp>
        <p:nvSpPr>
          <p:cNvPr id="2116" name="Google Shape;2116;p7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look alike, but the consequences are completely different.</a:t>
            </a:r>
            <a:endParaRPr b="0" i="0" spc="0" sz="1200" u="none" cap="none" strike="noStrike">
              <a:solidFill>
                <a:schemeClr val="dk1"/>
              </a:solidFill>
              <a:latin typeface="Calibri"/>
              <a:ea typeface="Calibri"/>
              <a:cs typeface="Calibri"/>
              <a:sym typeface="Calibri"/>
            </a:endParaRPr>
          </a:p>
        </p:txBody>
      </p:sp>
      <p:sp>
        <p:nvSpPr>
          <p:cNvPr id="2117" name="Google Shape;2117;p78"/>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8" name="Google Shape;2118;p78"/>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Cleaning (TC)</a:t>
            </a:r>
            <a:endParaRPr b="0" i="0" spc="0" sz="1050" u="none" cap="none" strike="noStrike">
              <a:solidFill>
                <a:schemeClr val="dk1"/>
              </a:solidFill>
              <a:latin typeface="Calibri"/>
              <a:ea typeface="Calibri"/>
              <a:cs typeface="Calibri"/>
              <a:sym typeface="Calibri"/>
            </a:endParaRPr>
          </a:p>
        </p:txBody>
      </p:sp>
      <p:sp>
        <p:nvSpPr>
          <p:cNvPr id="2119" name="Google Shape;2119;p78"/>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to try the membership first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Creates an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30 days from the appointment to cancel, no obligation</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Then $59/mo, 6-month MCT, $99 ETF</a:t>
            </a:r>
            <a:endParaRPr b="0" i="0" spc="0" sz="1000" u="none" cap="none" strike="noStrike">
              <a:solidFill>
                <a:schemeClr val="dk1"/>
              </a:solidFill>
              <a:latin typeface="Calibri"/>
              <a:ea typeface="Calibri"/>
              <a:cs typeface="Calibri"/>
              <a:sym typeface="Calibri"/>
            </a:endParaRPr>
          </a:p>
        </p:txBody>
      </p:sp>
      <p:sp>
        <p:nvSpPr>
          <p:cNvPr id="2120" name="Google Shape;2120;p78"/>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1" name="Google Shape;2121;p78"/>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One-Time Cleaning (OTC)</a:t>
            </a:r>
            <a:endParaRPr b="0" i="0" spc="0" sz="1050" u="none" cap="none" strike="noStrike">
              <a:solidFill>
                <a:schemeClr val="dk1"/>
              </a:solidFill>
              <a:latin typeface="Calibri"/>
              <a:ea typeface="Calibri"/>
              <a:cs typeface="Calibri"/>
              <a:sym typeface="Calibri"/>
            </a:endParaRPr>
          </a:p>
        </p:txBody>
      </p:sp>
      <p:sp>
        <p:nvSpPr>
          <p:cNvPr id="2122" name="Google Shape;2122;p78"/>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a single cleaning (e.g. move-out)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after: no membership to track</a:t>
            </a:r>
            <a:endParaRPr b="0" i="0" spc="0" sz="1000" u="none" cap="none" strike="noStrike">
              <a:solidFill>
                <a:schemeClr val="dk1"/>
              </a:solidFill>
              <a:latin typeface="Calibri"/>
              <a:ea typeface="Calibri"/>
              <a:cs typeface="Calibri"/>
              <a:sym typeface="Calibri"/>
            </a:endParaRPr>
          </a:p>
        </p:txBody>
      </p:sp>
      <p:sp>
        <p:nvSpPr>
          <p:cNvPr id="2123" name="Google Shape;2123;p78"/>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24" name="Google Shape;2124;p78"/>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125" name="Google Shape;2125;p78"/>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default to a refund:  </a:t>
            </a:r>
            <a:r>
              <a:rPr b="0" i="0" lang="en-US" spc="0" sz="1000" u="none" cap="none" strike="noStrike">
                <a:solidFill>
                  <a:srgbClr val="1D1D1F"/>
                </a:solidFill>
                <a:latin typeface="Arial"/>
                <a:ea typeface="Arial"/>
                <a:cs typeface="Arial"/>
                <a:sym typeface="Arial"/>
              </a:rPr>
              <a:t>a TC or OTC may be exactly what they want.</a:t>
            </a:r>
            <a:endParaRPr b="0" i="0" spc="0" sz="1000" u="none" cap="none" strike="noStrike">
              <a:solidFill>
                <a:schemeClr val="dk1"/>
              </a:solidFill>
              <a:latin typeface="Calibri"/>
              <a:ea typeface="Calibri"/>
              <a:cs typeface="Calibri"/>
              <a:sym typeface="Calibri"/>
            </a:endParaRPr>
          </a:p>
        </p:txBody>
      </p:sp>
      <p:sp>
        <p:nvSpPr>
          <p:cNvPr id="2126" name="Google Shape;2126;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1" name="Shape 2131"/>
        <p:cNvGrpSpPr/>
        <p:nvPr/>
      </p:nvGrpSpPr>
      <p:grpSpPr>
        <a:xfrm>
          <a:off x="0" y="0"/>
          <a:ext cx="0" cy="0"/>
          <a:chOff x="0" y="0"/>
          <a:chExt cx="0" cy="0"/>
        </a:xfrm>
      </p:grpSpPr>
      <p:sp>
        <p:nvSpPr>
          <p:cNvPr id="2132" name="Google Shape;2132;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33" name="Google Shape;2133;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Pricing: what gets deducted</a:t>
            </a:r>
            <a:endParaRPr b="0" i="0" spc="0" sz="2400" u="none" cap="none" strike="noStrike">
              <a:solidFill>
                <a:schemeClr val="dk1"/>
              </a:solidFill>
              <a:latin typeface="Calibri"/>
              <a:ea typeface="Calibri"/>
              <a:cs typeface="Calibri"/>
              <a:sym typeface="Calibri"/>
            </a:endParaRPr>
          </a:p>
        </p:txBody>
      </p:sp>
      <p:sp>
        <p:nvSpPr>
          <p:cNvPr id="2134" name="Google Shape;2134;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Get the rate from the FC Sales Calculator first.</a:t>
            </a:r>
            <a:endParaRPr b="0" i="0" spc="0" sz="1200" u="none" cap="none" strike="noStrike">
              <a:solidFill>
                <a:schemeClr val="dk1"/>
              </a:solidFill>
              <a:latin typeface="Calibri"/>
              <a:ea typeface="Calibri"/>
              <a:cs typeface="Calibri"/>
              <a:sym typeface="Calibri"/>
            </a:endParaRPr>
          </a:p>
        </p:txBody>
      </p:sp>
      <p:sp>
        <p:nvSpPr>
          <p:cNvPr id="2135" name="Google Shape;2135;p79"/>
          <p:cNvSpPr/>
          <p:nvPr/>
        </p:nvSpPr>
        <p:spPr>
          <a:xfrm>
            <a:off x="41148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6" name="Google Shape;2136;p79"/>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DHJ: deduct</a:t>
            </a:r>
            <a:endParaRPr b="0" i="0" spc="0" sz="1050" u="none" cap="none" strike="noStrike">
              <a:solidFill>
                <a:schemeClr val="dk1"/>
              </a:solidFill>
              <a:latin typeface="Calibri"/>
              <a:ea typeface="Calibri"/>
              <a:cs typeface="Calibri"/>
              <a:sym typeface="Calibri"/>
            </a:endParaRPr>
          </a:p>
        </p:txBody>
      </p:sp>
      <p:sp>
        <p:nvSpPr>
          <p:cNvPr id="2137" name="Google Shape;2137;p79"/>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 voucher price they already paid</a:t>
            </a:r>
            <a:endParaRPr b="0" i="0" spc="0" sz="1000" u="none" cap="none" strike="noStrike">
              <a:solidFill>
                <a:schemeClr val="dk1"/>
              </a:solidFill>
              <a:latin typeface="Calibri"/>
              <a:ea typeface="Calibri"/>
              <a:cs typeface="Calibri"/>
              <a:sym typeface="Calibri"/>
            </a:endParaRPr>
          </a:p>
        </p:txBody>
      </p:sp>
      <p:sp>
        <p:nvSpPr>
          <p:cNvPr id="2138" name="Google Shape;2138;p79"/>
          <p:cNvSpPr/>
          <p:nvPr/>
        </p:nvSpPr>
        <p:spPr>
          <a:xfrm>
            <a:off x="466344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9" name="Google Shape;2139;p79"/>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 deduct</a:t>
            </a:r>
            <a:endParaRPr b="0" i="0" spc="0" sz="1050" u="none" cap="none" strike="noStrike">
              <a:solidFill>
                <a:schemeClr val="dk1"/>
              </a:solidFill>
              <a:latin typeface="Calibri"/>
              <a:ea typeface="Calibri"/>
              <a:cs typeface="Calibri"/>
              <a:sym typeface="Calibri"/>
            </a:endParaRPr>
          </a:p>
        </p:txBody>
      </p:sp>
      <p:sp>
        <p:nvSpPr>
          <p:cNvPr id="2140" name="Google Shape;2140;p79"/>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All MFs paid to date (within 120 days)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Plus the add-on: $19 (4 hr) or $59 (6 hr)</a:t>
            </a:r>
            <a:endParaRPr b="0" i="0" spc="0" sz="1000" u="none" cap="none" strike="noStrike">
              <a:solidFill>
                <a:schemeClr val="dk1"/>
              </a:solidFill>
              <a:latin typeface="Calibri"/>
              <a:ea typeface="Calibri"/>
              <a:cs typeface="Calibri"/>
              <a:sym typeface="Calibri"/>
            </a:endParaRPr>
          </a:p>
        </p:txBody>
      </p:sp>
      <p:sp>
        <p:nvSpPr>
          <p:cNvPr id="2141" name="Google Shape;2141;p79"/>
          <p:cNvSpPr/>
          <p:nvPr/>
        </p:nvSpPr>
        <p:spPr>
          <a:xfrm>
            <a:off x="41148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2" name="Google Shape;2142;p79"/>
          <p:cNvSpPr txBox="1"/>
          <p:nvPr/>
        </p:nvSpPr>
        <p:spPr>
          <a:xfrm>
            <a:off x="59436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6-hr clean at $378</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2 MFs + $59 add-on = $137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$241</a:t>
            </a:r>
            <a:endParaRPr b="0" i="0" spc="0" sz="1100" u="none" cap="none" strike="noStrike">
              <a:solidFill>
                <a:schemeClr val="dk1"/>
              </a:solidFill>
              <a:latin typeface="Calibri"/>
              <a:ea typeface="Calibri"/>
              <a:cs typeface="Calibri"/>
              <a:sym typeface="Calibri"/>
            </a:endParaRPr>
          </a:p>
        </p:txBody>
      </p:sp>
      <p:sp>
        <p:nvSpPr>
          <p:cNvPr id="2143" name="Google Shape;2143;p79"/>
          <p:cNvSpPr/>
          <p:nvPr/>
        </p:nvSpPr>
        <p:spPr>
          <a:xfrm>
            <a:off x="466344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4" name="Google Shape;2144;p79"/>
          <p:cNvSpPr txBox="1"/>
          <p:nvPr/>
        </p:nvSpPr>
        <p:spPr>
          <a:xfrm>
            <a:off x="484632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OTC at $120</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$150 in MFs already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$0. $30 is not refunded</a:t>
            </a:r>
            <a:endParaRPr b="0" i="0" spc="0" sz="1100" u="none" cap="none" strike="noStrike">
              <a:solidFill>
                <a:schemeClr val="dk1"/>
              </a:solidFill>
              <a:latin typeface="Calibri"/>
              <a:ea typeface="Calibri"/>
              <a:cs typeface="Calibri"/>
              <a:sym typeface="Calibri"/>
            </a:endParaRPr>
          </a:p>
        </p:txBody>
      </p:sp>
      <p:sp>
        <p:nvSpPr>
          <p:cNvPr id="2145" name="Google Shape;2145;p79"/>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46" name="Google Shape;2146;p79"/>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2147" name="Google Shape;2147;p79"/>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First:  </a:t>
            </a:r>
            <a:r>
              <a:rPr b="0" i="0" lang="en-US" spc="0" sz="1000" u="none" cap="none" strike="noStrike">
                <a:solidFill>
                  <a:srgbClr val="1D1D1F"/>
                </a:solidFill>
                <a:latin typeface="Arial"/>
                <a:ea typeface="Arial"/>
                <a:cs typeface="Arial"/>
                <a:sym typeface="Arial"/>
              </a:rPr>
              <a:t>get the TC/OTC rate from the (Transformation) FC Sales Calculator.</a:t>
            </a:r>
            <a:endParaRPr b="0" i="0" spc="0" sz="1000" u="none" cap="none" strike="noStrike">
              <a:solidFill>
                <a:schemeClr val="dk1"/>
              </a:solidFill>
              <a:latin typeface="Calibri"/>
              <a:ea typeface="Calibri"/>
              <a:cs typeface="Calibri"/>
              <a:sym typeface="Calibri"/>
            </a:endParaRPr>
          </a:p>
        </p:txBody>
      </p:sp>
      <p:sp>
        <p:nvSpPr>
          <p:cNvPr id="2148" name="Google Shape;2148;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3" name="Shape 2153"/>
        <p:cNvGrpSpPr/>
        <p:nvPr/>
      </p:nvGrpSpPr>
      <p:grpSpPr>
        <a:xfrm>
          <a:off x="0" y="0"/>
          <a:ext cx="0" cy="0"/>
          <a:chOff x="0" y="0"/>
          <a:chExt cx="0" cy="0"/>
        </a:xfrm>
      </p:grpSpPr>
      <p:sp>
        <p:nvSpPr>
          <p:cNvPr id="2154" name="Google Shape;2154;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55" name="Google Shape;2155;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Offering it</a:t>
            </a:r>
            <a:endParaRPr b="0" i="0" spc="0" sz="2400" u="none" cap="none" strike="noStrike">
              <a:solidFill>
                <a:schemeClr val="dk1"/>
              </a:solidFill>
              <a:latin typeface="Calibri"/>
              <a:ea typeface="Calibri"/>
              <a:cs typeface="Calibri"/>
              <a:sym typeface="Calibri"/>
            </a:endParaRPr>
          </a:p>
        </p:txBody>
      </p:sp>
      <p:sp>
        <p:nvSpPr>
          <p:cNvPr id="2156" name="Google Shape;2156;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what they signed up for, then offer the better fit.</a:t>
            </a:r>
            <a:endParaRPr b="0" i="0" spc="0" sz="1200" u="none" cap="none" strike="noStrike">
              <a:solidFill>
                <a:schemeClr val="dk1"/>
              </a:solidFill>
              <a:latin typeface="Calibri"/>
              <a:ea typeface="Calibri"/>
              <a:cs typeface="Calibri"/>
              <a:sym typeface="Calibri"/>
            </a:endParaRPr>
          </a:p>
        </p:txBody>
      </p:sp>
      <p:sp>
        <p:nvSpPr>
          <p:cNvPr id="2157" name="Google Shape;2157;p80"/>
          <p:cNvSpPr/>
          <p:nvPr/>
        </p:nvSpPr>
        <p:spPr>
          <a:xfrm>
            <a:off x="41148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8" name="Google Shape;2158;p80"/>
          <p:cNvSpPr/>
          <p:nvPr/>
        </p:nvSpPr>
        <p:spPr>
          <a:xfrm>
            <a:off x="41148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9" name="Google Shape;2159;p80"/>
          <p:cNvSpPr txBox="1"/>
          <p:nvPr/>
        </p:nvSpPr>
        <p:spPr>
          <a:xfrm>
            <a:off x="59436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ONE-TIME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“The voucher you purchased comes with a membership, so if you're only looking for a one-time cleaning, using it wouldn't be the best route. What I can do instead is offer a one-time cleaning at $[X]…”</a:t>
            </a:r>
            <a:endParaRPr b="0" i="0" spc="0" sz="1000" u="none" cap="none" strike="noStrike">
              <a:solidFill>
                <a:schemeClr val="dk1"/>
              </a:solidFill>
              <a:latin typeface="Calibri"/>
              <a:ea typeface="Calibri"/>
              <a:cs typeface="Calibri"/>
              <a:sym typeface="Calibri"/>
            </a:endParaRPr>
          </a:p>
        </p:txBody>
      </p:sp>
      <p:sp>
        <p:nvSpPr>
          <p:cNvPr id="2160" name="Google Shape;2160;p80"/>
          <p:cNvSpPr/>
          <p:nvPr/>
        </p:nvSpPr>
        <p:spPr>
          <a:xfrm>
            <a:off x="466344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1" name="Google Shape;2161;p80"/>
          <p:cNvSpPr/>
          <p:nvPr/>
        </p:nvSpPr>
        <p:spPr>
          <a:xfrm>
            <a:off x="466344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2" name="Google Shape;2162;p80"/>
          <p:cNvSpPr txBox="1"/>
          <p:nvPr/>
        </p:nvSpPr>
        <p:spPr>
          <a:xfrm>
            <a:off x="484632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TRIAL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“We actually have a Trial Cleaning option, which could be a better fit. It lets you try things out first… we can apply what you've already paid, bringing your total to $[X], charged upfront.”</a:t>
            </a:r>
            <a:endParaRPr b="0" i="0" spc="0" sz="1000" u="none" cap="none" strike="noStrike">
              <a:solidFill>
                <a:schemeClr val="dk1"/>
              </a:solidFill>
              <a:latin typeface="Calibri"/>
              <a:ea typeface="Calibri"/>
              <a:cs typeface="Calibri"/>
              <a:sym typeface="Calibri"/>
            </a:endParaRPr>
          </a:p>
        </p:txBody>
      </p:sp>
      <p:sp>
        <p:nvSpPr>
          <p:cNvPr id="2163" name="Google Shape;2163;p80"/>
          <p:cNvSpPr/>
          <p:nvPr/>
        </p:nvSpPr>
        <p:spPr>
          <a:xfrm>
            <a:off x="4663440" y="2788920"/>
            <a:ext cx="4069080" cy="1371600"/>
          </a:xfrm>
          <a:prstGeom prst="roundRect">
            <a:avLst>
              <a:gd fmla="val 5333" name="adj"/>
            </a:avLst>
          </a:prstGeom>
          <a:solidFill>
            <a:srgbClr val="FFFFF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4" name="Google Shape;2164;p80"/>
          <p:cNvSpPr/>
          <p:nvPr/>
        </p:nvSpPr>
        <p:spPr>
          <a:xfrm>
            <a:off x="4663440" y="278892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set expectations</a:t>
            </a:r>
            <a:endParaRPr b="0" i="0" spc="0" sz="1050" u="none" cap="none" strike="noStrike">
              <a:solidFill>
                <a:schemeClr val="dk1"/>
              </a:solidFill>
              <a:latin typeface="Calibri"/>
              <a:ea typeface="Calibri"/>
              <a:cs typeface="Calibri"/>
              <a:sym typeface="Calibri"/>
            </a:endParaRPr>
          </a:p>
        </p:txBody>
      </p:sp>
      <p:sp>
        <p:nvSpPr>
          <p:cNvPr id="2165" name="Google Shape;2165;p80"/>
          <p:cNvSpPr txBox="1"/>
          <p:nvPr/>
        </p:nvSpPr>
        <p:spPr>
          <a:xfrm>
            <a:off x="482803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30 days from the appointment to cancel, no obligation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Then $59/mo starts automatically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6-month MCT. $99 ETF if cancelled early</a:t>
            </a:r>
            <a:endParaRPr b="0" i="0" spc="0" sz="900" u="none" cap="none" strike="noStrike">
              <a:solidFill>
                <a:schemeClr val="dk1"/>
              </a:solidFill>
              <a:latin typeface="Calibri"/>
              <a:ea typeface="Calibri"/>
              <a:cs typeface="Calibri"/>
              <a:sym typeface="Calibri"/>
            </a:endParaRPr>
          </a:p>
        </p:txBody>
      </p:sp>
      <p:sp>
        <p:nvSpPr>
          <p:cNvPr id="2166" name="Google Shape;2166;p80"/>
          <p:cNvSpPr/>
          <p:nvPr/>
        </p:nvSpPr>
        <p:spPr>
          <a:xfrm>
            <a:off x="411480" y="278892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7" name="Google Shape;2167;p80"/>
          <p:cNvSpPr/>
          <p:nvPr/>
        </p:nvSpPr>
        <p:spPr>
          <a:xfrm>
            <a:off x="411480" y="278892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Also</a:t>
            </a:r>
            <a:endParaRPr b="0" i="0" spc="0" sz="1050" u="none" cap="none" strike="noStrike">
              <a:solidFill>
                <a:schemeClr val="dk1"/>
              </a:solidFill>
              <a:latin typeface="Calibri"/>
              <a:ea typeface="Calibri"/>
              <a:cs typeface="Calibri"/>
              <a:sym typeface="Calibri"/>
            </a:endParaRPr>
          </a:p>
        </p:txBody>
      </p:sp>
      <p:sp>
        <p:nvSpPr>
          <p:cNvPr id="2168" name="Google Shape;2168;p80"/>
          <p:cNvSpPr txBox="1"/>
          <p:nvPr/>
        </p:nvSpPr>
        <p:spPr>
          <a:xfrm>
            <a:off x="57607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DHJ with refund intent: send the self-refund link</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Paid upfront: get their preferred date and time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unwanted appointments and RC</a:t>
            </a:r>
            <a:endParaRPr b="0" i="0" spc="0" sz="900" u="none" cap="none" strike="noStrike">
              <a:solidFill>
                <a:schemeClr val="dk1"/>
              </a:solidFill>
              <a:latin typeface="Calibri"/>
              <a:ea typeface="Calibri"/>
              <a:cs typeface="Calibri"/>
              <a:sym typeface="Calibri"/>
            </a:endParaRPr>
          </a:p>
        </p:txBody>
      </p:sp>
      <p:sp>
        <p:nvSpPr>
          <p:cNvPr id="2169" name="Google Shape;2169;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4" name="Shape 2174"/>
        <p:cNvGrpSpPr/>
        <p:nvPr/>
      </p:nvGrpSpPr>
      <p:grpSpPr>
        <a:xfrm>
          <a:off x="0" y="0"/>
          <a:ext cx="0" cy="0"/>
          <a:chOff x="0" y="0"/>
          <a:chExt cx="0" cy="0"/>
        </a:xfrm>
      </p:grpSpPr>
      <p:sp>
        <p:nvSpPr>
          <p:cNvPr id="2175" name="Google Shape;2175;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76" name="Google Shape;2176;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set it up</a:t>
            </a:r>
            <a:endParaRPr b="0" i="0" spc="0" sz="2400" u="none" cap="none" strike="noStrike">
              <a:solidFill>
                <a:schemeClr val="dk1"/>
              </a:solidFill>
              <a:latin typeface="Calibri"/>
              <a:ea typeface="Calibri"/>
              <a:cs typeface="Calibri"/>
              <a:sym typeface="Calibri"/>
            </a:endParaRPr>
          </a:p>
        </p:txBody>
      </p:sp>
      <p:sp>
        <p:nvSpPr>
          <p:cNvPr id="2177" name="Google Shape;2177;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FC table and voucher steps differ by model.</a:t>
            </a:r>
            <a:endParaRPr b="0" i="0" spc="0" sz="1200" u="none" cap="none" strike="noStrike">
              <a:solidFill>
                <a:schemeClr val="dk1"/>
              </a:solidFill>
              <a:latin typeface="Calibri"/>
              <a:ea typeface="Calibri"/>
              <a:cs typeface="Calibri"/>
              <a:sym typeface="Calibri"/>
            </a:endParaRPr>
          </a:p>
        </p:txBody>
      </p:sp>
      <p:sp>
        <p:nvSpPr>
          <p:cNvPr id="2178" name="Google Shape;2178;p81"/>
          <p:cNvSpPr/>
          <p:nvPr/>
        </p:nvSpPr>
        <p:spPr>
          <a:xfrm>
            <a:off x="411480" y="1298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9" name="Google Shape;2179;p81"/>
          <p:cNvSpPr/>
          <p:nvPr/>
        </p:nvSpPr>
        <p:spPr>
          <a:xfrm>
            <a:off x="484632" y="1362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0" name="Google Shape;2180;p81"/>
          <p:cNvSpPr txBox="1"/>
          <p:nvPr/>
        </p:nvSpPr>
        <p:spPr>
          <a:xfrm>
            <a:off x="484632" y="1362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181" name="Google Shape;2181;p81"/>
          <p:cNvSpPr txBox="1"/>
          <p:nvPr/>
        </p:nvSpPr>
        <p:spPr>
          <a:xfrm>
            <a:off x="850392" y="1298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address, card, date, time, duration</a:t>
            </a:r>
            <a:endParaRPr b="0" i="0" spc="0" sz="900" u="none" cap="none" strike="noStrike">
              <a:solidFill>
                <a:schemeClr val="dk1"/>
              </a:solidFill>
              <a:latin typeface="Calibri"/>
              <a:ea typeface="Calibri"/>
              <a:cs typeface="Calibri"/>
              <a:sym typeface="Calibri"/>
            </a:endParaRPr>
          </a:p>
        </p:txBody>
      </p:sp>
      <p:sp>
        <p:nvSpPr>
          <p:cNvPr id="2182" name="Google Shape;2182;p81"/>
          <p:cNvSpPr/>
          <p:nvPr/>
        </p:nvSpPr>
        <p:spPr>
          <a:xfrm>
            <a:off x="411480" y="17556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3" name="Google Shape;2183;p81"/>
          <p:cNvSpPr/>
          <p:nvPr/>
        </p:nvSpPr>
        <p:spPr>
          <a:xfrm>
            <a:off x="484632" y="18196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4" name="Google Shape;2184;p81"/>
          <p:cNvSpPr txBox="1"/>
          <p:nvPr/>
        </p:nvSpPr>
        <p:spPr>
          <a:xfrm>
            <a:off x="484632" y="18196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185" name="Google Shape;2185;p81"/>
          <p:cNvSpPr txBox="1"/>
          <p:nvPr/>
        </p:nvSpPr>
        <p:spPr>
          <a:xfrm>
            <a:off x="850392" y="17556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Still wants a refund? DHJ: CRM refund. FCF: FCF Refund log</a:t>
            </a:r>
            <a:endParaRPr b="0" i="0" spc="0" sz="900" u="none" cap="none" strike="noStrike">
              <a:solidFill>
                <a:schemeClr val="dk1"/>
              </a:solidFill>
              <a:latin typeface="Calibri"/>
              <a:ea typeface="Calibri"/>
              <a:cs typeface="Calibri"/>
              <a:sym typeface="Calibri"/>
            </a:endParaRPr>
          </a:p>
        </p:txBody>
      </p:sp>
      <p:sp>
        <p:nvSpPr>
          <p:cNvPr id="2186" name="Google Shape;2186;p81"/>
          <p:cNvSpPr/>
          <p:nvPr/>
        </p:nvSpPr>
        <p:spPr>
          <a:xfrm>
            <a:off x="411480" y="22128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7" name="Google Shape;2187;p81"/>
          <p:cNvSpPr/>
          <p:nvPr/>
        </p:nvSpPr>
        <p:spPr>
          <a:xfrm>
            <a:off x="484632"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8" name="Google Shape;2188;p81"/>
          <p:cNvSpPr txBox="1"/>
          <p:nvPr/>
        </p:nvSpPr>
        <p:spPr>
          <a:xfrm>
            <a:off x="484632"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189" name="Google Shape;2189;p81"/>
          <p:cNvSpPr txBox="1"/>
          <p:nvPr/>
        </p:nvSpPr>
        <p:spPr>
          <a:xfrm>
            <a:off x="850392" y="22128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refund? Deduct what they paid, invalidate the voucher</a:t>
            </a:r>
            <a:endParaRPr b="0" i="0" spc="0" sz="900" u="none" cap="none" strike="noStrike">
              <a:solidFill>
                <a:schemeClr val="dk1"/>
              </a:solidFill>
              <a:latin typeface="Calibri"/>
              <a:ea typeface="Calibri"/>
              <a:cs typeface="Calibri"/>
              <a:sym typeface="Calibri"/>
            </a:endParaRPr>
          </a:p>
        </p:txBody>
      </p:sp>
      <p:sp>
        <p:nvSpPr>
          <p:cNvPr id="2190" name="Google Shape;2190;p81"/>
          <p:cNvSpPr/>
          <p:nvPr/>
        </p:nvSpPr>
        <p:spPr>
          <a:xfrm>
            <a:off x="411480" y="26700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1" name="Google Shape;2191;p81"/>
          <p:cNvSpPr/>
          <p:nvPr/>
        </p:nvSpPr>
        <p:spPr>
          <a:xfrm>
            <a:off x="484632" y="27340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2" name="Google Shape;2192;p81"/>
          <p:cNvSpPr txBox="1"/>
          <p:nvPr/>
        </p:nvSpPr>
        <p:spPr>
          <a:xfrm>
            <a:off x="484632" y="27340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193" name="Google Shape;2193;p81"/>
          <p:cNvSpPr txBox="1"/>
          <p:nvPr/>
        </p:nvSpPr>
        <p:spPr>
          <a:xfrm>
            <a:off x="850392" y="26700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Charge upfront (FC Sales Calculator), book it</a:t>
            </a:r>
            <a:endParaRPr b="0" i="0" spc="0" sz="900" u="none" cap="none" strike="noStrike">
              <a:solidFill>
                <a:schemeClr val="dk1"/>
              </a:solidFill>
              <a:latin typeface="Calibri"/>
              <a:ea typeface="Calibri"/>
              <a:cs typeface="Calibri"/>
              <a:sym typeface="Calibri"/>
            </a:endParaRPr>
          </a:p>
        </p:txBody>
      </p:sp>
      <p:sp>
        <p:nvSpPr>
          <p:cNvPr id="2194" name="Google Shape;2194;p81"/>
          <p:cNvSpPr/>
          <p:nvPr/>
        </p:nvSpPr>
        <p:spPr>
          <a:xfrm>
            <a:off x="411480" y="31272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5" name="Google Shape;2195;p81"/>
          <p:cNvSpPr/>
          <p:nvPr/>
        </p:nvSpPr>
        <p:spPr>
          <a:xfrm>
            <a:off x="484632" y="31912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6" name="Google Shape;2196;p81"/>
          <p:cNvSpPr txBox="1"/>
          <p:nvPr/>
        </p:nvSpPr>
        <p:spPr>
          <a:xfrm>
            <a:off x="484632" y="31912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2197" name="Google Shape;2197;p81"/>
          <p:cNvSpPr txBox="1"/>
          <p:nvPr/>
        </p:nvSpPr>
        <p:spPr>
          <a:xfrm>
            <a:off x="850392" y="31272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admin_courtesy voucher, no notification</a:t>
            </a:r>
            <a:endParaRPr b="0" i="0" spc="0" sz="900" u="none" cap="none" strike="noStrike">
              <a:solidFill>
                <a:schemeClr val="dk1"/>
              </a:solidFill>
              <a:latin typeface="Calibri"/>
              <a:ea typeface="Calibri"/>
              <a:cs typeface="Calibri"/>
              <a:sym typeface="Calibri"/>
            </a:endParaRPr>
          </a:p>
        </p:txBody>
      </p:sp>
      <p:sp>
        <p:nvSpPr>
          <p:cNvPr id="2198" name="Google Shape;2198;p81"/>
          <p:cNvSpPr/>
          <p:nvPr/>
        </p:nvSpPr>
        <p:spPr>
          <a:xfrm>
            <a:off x="411480" y="3584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9" name="Google Shape;2199;p81"/>
          <p:cNvSpPr/>
          <p:nvPr/>
        </p:nvSpPr>
        <p:spPr>
          <a:xfrm>
            <a:off x="484632" y="3648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0" name="Google Shape;2200;p81"/>
          <p:cNvSpPr txBox="1"/>
          <p:nvPr/>
        </p:nvSpPr>
        <p:spPr>
          <a:xfrm>
            <a:off x="484632" y="3648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2201" name="Google Shape;2201;p81"/>
          <p:cNvSpPr txBox="1"/>
          <p:nvPr/>
        </p:nvSpPr>
        <p:spPr>
          <a:xfrm>
            <a:off x="850392" y="3584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charged, booked, CP will confirm</a:t>
            </a:r>
            <a:endParaRPr b="0" i="0" spc="0" sz="900" u="none" cap="none" strike="noStrike">
              <a:solidFill>
                <a:schemeClr val="dk1"/>
              </a:solidFill>
              <a:latin typeface="Calibri"/>
              <a:ea typeface="Calibri"/>
              <a:cs typeface="Calibri"/>
              <a:sym typeface="Calibri"/>
            </a:endParaRPr>
          </a:p>
        </p:txBody>
      </p:sp>
      <p:graphicFrame>
        <p:nvGraphicFramePr>
          <p:cNvPr id="2202" name="Google Shape;2202;p81"/>
          <p:cNvGraphicFramePr/>
          <p:nvPr/>
        </p:nvGraphicFramePr>
        <p:xfrm>
          <a:off x="4846320" y="1298448"/>
          <a:ext cx="3000000" cy="3000000"/>
        </p:xfrm>
        <a:graphic>
          <a:graphicData uri="http://schemas.openxmlformats.org/drawingml/2006/table">
            <a:tbl>
              <a:tblPr>
                <a:noFill/>
                <a:tableStyleId>{B081CFC9-8F92-4C66-A42C-550710BF50CA}</a:tableStyleId>
              </a:tblPr>
              <a:tblGrid>
                <a:gridCol w="1828800"/>
                <a:gridCol w="2057400"/>
              </a:tblGrid>
              <a:tr h="29260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Existing FC table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Do</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OTC (DHJ or FCF)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it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DHJ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Leave it as is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FCF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then force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203" name="Google Shape;2203;p81"/>
          <p:cNvSpPr/>
          <p:nvPr/>
        </p:nvSpPr>
        <p:spPr>
          <a:xfrm>
            <a:off x="4846320" y="2697480"/>
            <a:ext cx="388620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4" name="Google Shape;2204;p81"/>
          <p:cNvSpPr/>
          <p:nvPr/>
        </p:nvSpPr>
        <p:spPr>
          <a:xfrm>
            <a:off x="4846320" y="2697480"/>
            <a:ext cx="38862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only</a:t>
            </a:r>
            <a:endParaRPr b="0" i="0" spc="0" sz="1050" u="none" cap="none" strike="noStrike">
              <a:solidFill>
                <a:schemeClr val="dk1"/>
              </a:solidFill>
              <a:latin typeface="Calibri"/>
              <a:ea typeface="Calibri"/>
              <a:cs typeface="Calibri"/>
              <a:sym typeface="Calibri"/>
            </a:endParaRPr>
          </a:p>
        </p:txBody>
      </p:sp>
      <p:sp>
        <p:nvSpPr>
          <p:cNvPr id="2205" name="Google Shape;2205;p81"/>
          <p:cNvSpPr txBox="1"/>
          <p:nvPr/>
        </p:nvSpPr>
        <p:spPr>
          <a:xfrm>
            <a:off x="5010912" y="3136392"/>
            <a:ext cx="355701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Legacy CRM voucher: "ForeverClean force" + "1 free month"</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FCF: add them to the FC table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Update the ETF to $99</a:t>
            </a:r>
            <a:endParaRPr b="0" i="0" spc="0" sz="900" u="none" cap="none" strike="noStrike">
              <a:solidFill>
                <a:schemeClr val="dk1"/>
              </a:solidFill>
              <a:latin typeface="Calibri"/>
              <a:ea typeface="Calibri"/>
              <a:cs typeface="Calibri"/>
              <a:sym typeface="Calibri"/>
            </a:endParaRPr>
          </a:p>
        </p:txBody>
      </p:sp>
      <p:sp>
        <p:nvSpPr>
          <p:cNvPr id="2206" name="Google Shape;2206;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1" name="Shape 2211"/>
        <p:cNvGrpSpPr/>
        <p:nvPr/>
      </p:nvGrpSpPr>
      <p:grpSpPr>
        <a:xfrm>
          <a:off x="0" y="0"/>
          <a:ext cx="0" cy="0"/>
          <a:chOff x="0" y="0"/>
          <a:chExt cx="0" cy="0"/>
        </a:xfrm>
      </p:grpSpPr>
      <p:sp>
        <p:nvSpPr>
          <p:cNvPr id="2212" name="Google Shape;2212;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13" name="Google Shape;2213;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decline the offer</a:t>
            </a:r>
            <a:endParaRPr b="0" i="0" spc="0" sz="2400" u="none" cap="none" strike="noStrike">
              <a:solidFill>
                <a:schemeClr val="dk1"/>
              </a:solidFill>
              <a:latin typeface="Calibri"/>
              <a:ea typeface="Calibri"/>
              <a:cs typeface="Calibri"/>
              <a:sym typeface="Calibri"/>
            </a:endParaRPr>
          </a:p>
        </p:txBody>
      </p:sp>
      <p:sp>
        <p:nvSpPr>
          <p:cNvPr id="2214" name="Google Shape;2214;p8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 what they're owed and close things out.</a:t>
            </a:r>
            <a:endParaRPr b="0" i="0" spc="0" sz="1200" u="none" cap="none" strike="noStrike">
              <a:solidFill>
                <a:schemeClr val="dk1"/>
              </a:solidFill>
              <a:latin typeface="Calibri"/>
              <a:ea typeface="Calibri"/>
              <a:cs typeface="Calibri"/>
              <a:sym typeface="Calibri"/>
            </a:endParaRPr>
          </a:p>
        </p:txBody>
      </p:sp>
      <p:sp>
        <p:nvSpPr>
          <p:cNvPr id="2215" name="Google Shape;2215;p82"/>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6" name="Google Shape;2216;p8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17" name="Google Shape;2217;p8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218" name="Google Shape;2218;p82"/>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Refund</a:t>
            </a:r>
            <a:endParaRPr b="0" i="0" spc="0" sz="1200" u="none" cap="none" strike="noStrike">
              <a:solidFill>
                <a:schemeClr val="dk1"/>
              </a:solidFill>
              <a:latin typeface="Calibri"/>
              <a:ea typeface="Calibri"/>
              <a:cs typeface="Calibri"/>
              <a:sym typeface="Calibri"/>
            </a:endParaRPr>
          </a:p>
        </p:txBody>
      </p:sp>
      <p:sp>
        <p:nvSpPr>
          <p:cNvPr id="2219" name="Google Shape;2219;p82"/>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DHJ: within 1 year, refund via CRM and invalidate. FCF: use the pre-invoice cheat sheet.</a:t>
            </a:r>
            <a:endParaRPr b="0" i="0" spc="0" sz="950" u="none" cap="none" strike="noStrike">
              <a:solidFill>
                <a:schemeClr val="dk1"/>
              </a:solidFill>
              <a:latin typeface="Calibri"/>
              <a:ea typeface="Calibri"/>
              <a:cs typeface="Calibri"/>
              <a:sym typeface="Calibri"/>
            </a:endParaRPr>
          </a:p>
        </p:txBody>
      </p:sp>
      <p:sp>
        <p:nvSpPr>
          <p:cNvPr id="2220" name="Google Shape;2220;p82"/>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1" name="Google Shape;2221;p82"/>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22" name="Google Shape;2222;p82"/>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223" name="Google Shape;2223;p82"/>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Deactivate the FC table</a:t>
            </a:r>
            <a:endParaRPr b="0" i="0" spc="0" sz="1200" u="none" cap="none" strike="noStrike">
              <a:solidFill>
                <a:schemeClr val="dk1"/>
              </a:solidFill>
              <a:latin typeface="Calibri"/>
              <a:ea typeface="Calibri"/>
              <a:cs typeface="Calibri"/>
              <a:sym typeface="Calibri"/>
            </a:endParaRPr>
          </a:p>
        </p:txBody>
      </p:sp>
      <p:sp>
        <p:nvSpPr>
          <p:cNvPr id="2224" name="Google Shape;2224;p82"/>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In every case: DHJ or FCF, TC or OTC.</a:t>
            </a:r>
            <a:endParaRPr b="0" i="0" spc="0" sz="950" u="none" cap="none" strike="noStrike">
              <a:solidFill>
                <a:schemeClr val="dk1"/>
              </a:solidFill>
              <a:latin typeface="Calibri"/>
              <a:ea typeface="Calibri"/>
              <a:cs typeface="Calibri"/>
              <a:sym typeface="Calibri"/>
            </a:endParaRPr>
          </a:p>
        </p:txBody>
      </p:sp>
      <p:sp>
        <p:nvSpPr>
          <p:cNvPr id="2225" name="Google Shape;2225;p82"/>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6" name="Google Shape;2226;p82"/>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27" name="Google Shape;2227;p82"/>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228" name="Google Shape;2228;p82"/>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Closing the account?</a:t>
            </a:r>
            <a:endParaRPr b="0" i="0" spc="0" sz="1200" u="none" cap="none" strike="noStrike">
              <a:solidFill>
                <a:schemeClr val="dk1"/>
              </a:solidFill>
              <a:latin typeface="Calibri"/>
              <a:ea typeface="Calibri"/>
              <a:cs typeface="Calibri"/>
              <a:sym typeface="Calibri"/>
            </a:endParaRPr>
          </a:p>
        </p:txBody>
      </p:sp>
      <p:sp>
        <p:nvSpPr>
          <p:cNvPr id="2229" name="Google Shape;2229;p82"/>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Send comms first, then deactivate the CRM account.</a:t>
            </a:r>
            <a:endParaRPr b="0" i="0" spc="0" sz="950" u="none" cap="none" strike="noStrike">
              <a:solidFill>
                <a:schemeClr val="dk1"/>
              </a:solidFill>
              <a:latin typeface="Calibri"/>
              <a:ea typeface="Calibri"/>
              <a:cs typeface="Calibri"/>
              <a:sym typeface="Calibri"/>
            </a:endParaRPr>
          </a:p>
        </p:txBody>
      </p:sp>
      <p:sp>
        <p:nvSpPr>
          <p:cNvPr id="2230" name="Google Shape;2230;p82"/>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31" name="Google Shape;2231;p82"/>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2232" name="Google Shape;2232;p82"/>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DHJ refund:  </a:t>
            </a:r>
            <a:r>
              <a:rPr b="0" i="0" lang="en-US" spc="0" sz="1000" u="none" cap="none" strike="noStrike">
                <a:solidFill>
                  <a:srgbClr val="1D1D1F"/>
                </a:solidFill>
                <a:latin typeface="Arial"/>
                <a:ea typeface="Arial"/>
                <a:cs typeface="Arial"/>
                <a:sym typeface="Arial"/>
              </a:rPr>
              <a:t>tell them it's processed and takes 5–10 business days.</a:t>
            </a:r>
            <a:endParaRPr b="0" i="0" spc="0" sz="1000" u="none" cap="none" strike="noStrike">
              <a:solidFill>
                <a:schemeClr val="dk1"/>
              </a:solidFill>
              <a:latin typeface="Calibri"/>
              <a:ea typeface="Calibri"/>
              <a:cs typeface="Calibri"/>
              <a:sym typeface="Calibri"/>
            </a:endParaRPr>
          </a:p>
        </p:txBody>
      </p:sp>
      <p:sp>
        <p:nvSpPr>
          <p:cNvPr id="2233" name="Google Shape;2233;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8" name="Shape 2238"/>
        <p:cNvGrpSpPr/>
        <p:nvPr/>
      </p:nvGrpSpPr>
      <p:grpSpPr>
        <a:xfrm>
          <a:off x="0" y="0"/>
          <a:ext cx="0" cy="0"/>
          <a:chOff x="0" y="0"/>
          <a:chExt cx="0" cy="0"/>
        </a:xfrm>
      </p:grpSpPr>
      <p:sp>
        <p:nvSpPr>
          <p:cNvPr id="2239" name="Google Shape;2239;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40" name="Google Shape;2240;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Cancelling a TC or OTC</a:t>
            </a:r>
            <a:endParaRPr b="0" i="0" spc="0" sz="2400" u="none" cap="none" strike="noStrike">
              <a:solidFill>
                <a:schemeClr val="dk1"/>
              </a:solidFill>
              <a:latin typeface="Calibri"/>
              <a:ea typeface="Calibri"/>
              <a:cs typeface="Calibri"/>
              <a:sym typeface="Calibri"/>
            </a:endParaRPr>
          </a:p>
        </p:txBody>
      </p:sp>
      <p:sp>
        <p:nvSpPr>
          <p:cNvPr id="2241" name="Google Shape;2241;p8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Changed their mind, or we let them down?</a:t>
            </a:r>
            <a:endParaRPr b="0" i="0" spc="0" sz="1200" u="none" cap="none" strike="noStrike">
              <a:solidFill>
                <a:schemeClr val="dk1"/>
              </a:solidFill>
              <a:latin typeface="Calibri"/>
              <a:ea typeface="Calibri"/>
              <a:cs typeface="Calibri"/>
              <a:sym typeface="Calibri"/>
            </a:endParaRPr>
          </a:p>
        </p:txBody>
      </p:sp>
      <p:sp>
        <p:nvSpPr>
          <p:cNvPr id="2242" name="Google Shape;2242;p83"/>
          <p:cNvSpPr/>
          <p:nvPr/>
        </p:nvSpPr>
        <p:spPr>
          <a:xfrm>
            <a:off x="411480" y="1325880"/>
            <a:ext cx="269748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3" name="Google Shape;2243;p83"/>
          <p:cNvSpPr/>
          <p:nvPr/>
        </p:nvSpPr>
        <p:spPr>
          <a:xfrm>
            <a:off x="411480" y="1325880"/>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Changed their mind</a:t>
            </a:r>
            <a:endParaRPr b="0" i="0" spc="0" sz="1050" u="none" cap="none" strike="noStrike">
              <a:solidFill>
                <a:schemeClr val="dk1"/>
              </a:solidFill>
              <a:latin typeface="Calibri"/>
              <a:ea typeface="Calibri"/>
              <a:cs typeface="Calibri"/>
              <a:sym typeface="Calibri"/>
            </a:endParaRPr>
          </a:p>
        </p:txBody>
      </p:sp>
      <p:sp>
        <p:nvSpPr>
          <p:cNvPr id="2244" name="Google Shape;2244;p83"/>
          <p:cNvSpPr txBox="1"/>
          <p:nvPr/>
        </p:nvSpPr>
        <p:spPr>
          <a:xfrm>
            <a:off x="57607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Full admin refund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Invalidate the voucher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Trial? Cancel the FC table too</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Check the appointment is cancelled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No reason given? Probe</a:t>
            </a:r>
            <a:endParaRPr b="0" i="0" spc="0" sz="900" u="none" cap="none" strike="noStrike">
              <a:solidFill>
                <a:schemeClr val="dk1"/>
              </a:solidFill>
              <a:latin typeface="Calibri"/>
              <a:ea typeface="Calibri"/>
              <a:cs typeface="Calibri"/>
              <a:sym typeface="Calibri"/>
            </a:endParaRPr>
          </a:p>
        </p:txBody>
      </p:sp>
      <p:sp>
        <p:nvSpPr>
          <p:cNvPr id="2245" name="Google Shape;2245;p83"/>
          <p:cNvSpPr/>
          <p:nvPr/>
        </p:nvSpPr>
        <p:spPr>
          <a:xfrm>
            <a:off x="3223260" y="1325880"/>
            <a:ext cx="2697480" cy="2514600"/>
          </a:xfrm>
          <a:prstGeom prst="roundRect">
            <a:avLst>
              <a:gd fmla="val 2909"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6" name="Google Shape;2246;p83"/>
          <p:cNvSpPr/>
          <p:nvPr/>
        </p:nvSpPr>
        <p:spPr>
          <a:xfrm>
            <a:off x="3223260" y="1325880"/>
            <a:ext cx="26974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 let them down</a:t>
            </a:r>
            <a:endParaRPr b="0" i="0" spc="0" sz="1050" u="none" cap="none" strike="noStrike">
              <a:solidFill>
                <a:schemeClr val="dk1"/>
              </a:solidFill>
              <a:latin typeface="Calibri"/>
              <a:ea typeface="Calibri"/>
              <a:cs typeface="Calibri"/>
              <a:sym typeface="Calibri"/>
            </a:endParaRPr>
          </a:p>
        </p:txBody>
      </p:sp>
      <p:sp>
        <p:nvSpPr>
          <p:cNvPr id="2247" name="Google Shape;2247;p83"/>
          <p:cNvSpPr txBox="1"/>
          <p:nvPr/>
        </p:nvSpPr>
        <p:spPr>
          <a:xfrm>
            <a:off x="338785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Same refund steps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Acknowledge: it wasn't on them</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Block the pairing, coach the CP</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Offer a reliable cleaner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$10–$25 credits or a free hour</a:t>
            </a:r>
            <a:endParaRPr b="0" i="0" spc="0" sz="900" u="none" cap="none" strike="noStrike">
              <a:solidFill>
                <a:schemeClr val="dk1"/>
              </a:solidFill>
              <a:latin typeface="Calibri"/>
              <a:ea typeface="Calibri"/>
              <a:cs typeface="Calibri"/>
              <a:sym typeface="Calibri"/>
            </a:endParaRPr>
          </a:p>
        </p:txBody>
      </p:sp>
      <p:sp>
        <p:nvSpPr>
          <p:cNvPr id="2248" name="Google Shape;2248;p83"/>
          <p:cNvSpPr/>
          <p:nvPr/>
        </p:nvSpPr>
        <p:spPr>
          <a:xfrm>
            <a:off x="6035040" y="1325880"/>
            <a:ext cx="2697480" cy="2514600"/>
          </a:xfrm>
          <a:prstGeom prst="roundRect">
            <a:avLst>
              <a:gd fmla="val 2909"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9" name="Google Shape;2249;p83"/>
          <p:cNvSpPr/>
          <p:nvPr/>
        </p:nvSpPr>
        <p:spPr>
          <a:xfrm>
            <a:off x="6035040" y="1325880"/>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done, within 30 days</a:t>
            </a:r>
            <a:endParaRPr b="0" i="0" spc="0" sz="1050" u="none" cap="none" strike="noStrike">
              <a:solidFill>
                <a:schemeClr val="dk1"/>
              </a:solidFill>
              <a:latin typeface="Calibri"/>
              <a:ea typeface="Calibri"/>
              <a:cs typeface="Calibri"/>
              <a:sym typeface="Calibri"/>
            </a:endParaRPr>
          </a:p>
        </p:txBody>
      </p:sp>
      <p:sp>
        <p:nvSpPr>
          <p:cNvPr id="2250" name="Google Shape;2250;p83"/>
          <p:cNvSpPr txBox="1"/>
          <p:nvPr/>
        </p:nvSpPr>
        <p:spPr>
          <a:xfrm>
            <a:off x="619963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FC.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Whatever the reason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Bad cleaning? Still cancel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Open to it? New cleaner + ~$20 credits</a:t>
            </a:r>
            <a:endParaRPr b="0" i="0" spc="0" sz="900" u="none" cap="none" strike="noStrike">
              <a:solidFill>
                <a:schemeClr val="dk1"/>
              </a:solidFill>
              <a:latin typeface="Calibri"/>
              <a:ea typeface="Calibri"/>
              <a:cs typeface="Calibri"/>
              <a:sym typeface="Calibri"/>
            </a:endParaRPr>
          </a:p>
        </p:txBody>
      </p:sp>
      <p:sp>
        <p:nvSpPr>
          <p:cNvPr id="2251" name="Google Shape;2251;p83"/>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52" name="Google Shape;2252;p83"/>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2253" name="Google Shape;2253;p83"/>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Coming back to try again?  </a:t>
            </a:r>
            <a:r>
              <a:rPr b="0" i="0" lang="en-US" spc="0" sz="1000" u="none" cap="none" strike="noStrike">
                <a:solidFill>
                  <a:srgbClr val="1D1D1F"/>
                </a:solidFill>
                <a:latin typeface="Arial"/>
                <a:ea typeface="Arial"/>
                <a:cs typeface="Arial"/>
                <a:sym typeface="Arial"/>
              </a:rPr>
              <a:t>don't charge upfront again. Just help them book.</a:t>
            </a:r>
            <a:endParaRPr b="0" i="0" spc="0" sz="1000" u="none" cap="none" strike="noStrike">
              <a:solidFill>
                <a:schemeClr val="dk1"/>
              </a:solidFill>
              <a:latin typeface="Calibri"/>
              <a:ea typeface="Calibri"/>
              <a:cs typeface="Calibri"/>
              <a:sym typeface="Calibri"/>
            </a:endParaRPr>
          </a:p>
        </p:txBody>
      </p:sp>
      <p:sp>
        <p:nvSpPr>
          <p:cNvPr id="2254" name="Google Shape;2254;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9" name="Shape 2259"/>
        <p:cNvGrpSpPr/>
        <p:nvPr/>
      </p:nvGrpSpPr>
      <p:grpSpPr>
        <a:xfrm>
          <a:off x="0" y="0"/>
          <a:ext cx="0" cy="0"/>
          <a:chOff x="0" y="0"/>
          <a:chExt cx="0" cy="0"/>
        </a:xfrm>
      </p:grpSpPr>
      <p:sp>
        <p:nvSpPr>
          <p:cNvPr id="2260" name="Google Shape;2260;p8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61" name="Google Shape;2261;p8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Only part of the cleaning was done</a:t>
            </a:r>
            <a:endParaRPr b="0" i="0" spc="0" sz="2400" u="none" cap="none" strike="noStrike">
              <a:solidFill>
                <a:schemeClr val="dk1"/>
              </a:solidFill>
              <a:latin typeface="Calibri"/>
              <a:ea typeface="Calibri"/>
              <a:cs typeface="Calibri"/>
              <a:sym typeface="Calibri"/>
            </a:endParaRPr>
          </a:p>
        </p:txBody>
      </p:sp>
      <p:sp>
        <p:nvSpPr>
          <p:cNvPr id="2262" name="Google Shape;2262;p8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don't know the voucher exists. They expect real money back.</a:t>
            </a:r>
            <a:endParaRPr b="0" i="0" spc="0" sz="1200" u="none" cap="none" strike="noStrike">
              <a:solidFill>
                <a:schemeClr val="dk1"/>
              </a:solidFill>
              <a:latin typeface="Calibri"/>
              <a:ea typeface="Calibri"/>
              <a:cs typeface="Calibri"/>
              <a:sym typeface="Calibri"/>
            </a:endParaRPr>
          </a:p>
        </p:txBody>
      </p:sp>
      <p:sp>
        <p:nvSpPr>
          <p:cNvPr id="2263" name="Google Shape;2263;p84"/>
          <p:cNvSpPr/>
          <p:nvPr/>
        </p:nvSpPr>
        <p:spPr>
          <a:xfrm>
            <a:off x="411480" y="1325880"/>
            <a:ext cx="406908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4" name="Google Shape;2264;p84"/>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CP already refunded (as a voucher)</a:t>
            </a:r>
            <a:endParaRPr b="0" i="0" spc="0" sz="1050" u="none" cap="none" strike="noStrike">
              <a:solidFill>
                <a:schemeClr val="dk1"/>
              </a:solidFill>
              <a:latin typeface="Calibri"/>
              <a:ea typeface="Calibri"/>
              <a:cs typeface="Calibri"/>
              <a:sym typeface="Calibri"/>
            </a:endParaRPr>
          </a:p>
        </p:txBody>
      </p:sp>
      <p:sp>
        <p:nvSpPr>
          <p:cNvPr id="2265" name="Google Shape;2265;p84"/>
          <p:cNvSpPr txBox="1"/>
          <p:nvPr/>
        </p:nvSpPr>
        <p:spPr>
          <a:xfrm>
            <a:off x="57607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Invalidate that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Admin refund the matching amount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E.g. $252 for 4 hrs, 1 hr back = $63</a:t>
            </a:r>
            <a:endParaRPr b="0" i="0" spc="0" sz="950" u="none" cap="none" strike="noStrike">
              <a:solidFill>
                <a:schemeClr val="dk1"/>
              </a:solidFill>
              <a:latin typeface="Calibri"/>
              <a:ea typeface="Calibri"/>
              <a:cs typeface="Calibri"/>
              <a:sym typeface="Calibri"/>
            </a:endParaRPr>
          </a:p>
        </p:txBody>
      </p:sp>
      <p:sp>
        <p:nvSpPr>
          <p:cNvPr id="2266" name="Google Shape;2266;p84"/>
          <p:cNvSpPr/>
          <p:nvPr/>
        </p:nvSpPr>
        <p:spPr>
          <a:xfrm>
            <a:off x="4663440" y="1325880"/>
            <a:ext cx="4069080" cy="1417320"/>
          </a:xfrm>
          <a:prstGeom prst="roundRect">
            <a:avLst>
              <a:gd fmla="val 516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7" name="Google Shape;2267;p84"/>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Nothing confirmed yet</a:t>
            </a:r>
            <a:endParaRPr b="0" i="0" spc="0" sz="1050" u="none" cap="none" strike="noStrike">
              <a:solidFill>
                <a:schemeClr val="dk1"/>
              </a:solidFill>
              <a:latin typeface="Calibri"/>
              <a:ea typeface="Calibri"/>
              <a:cs typeface="Calibri"/>
              <a:sym typeface="Calibri"/>
            </a:endParaRPr>
          </a:p>
        </p:txBody>
      </p:sp>
      <p:sp>
        <p:nvSpPr>
          <p:cNvPr id="2268" name="Google Shape;2268;p84"/>
          <p:cNvSpPr txBox="1"/>
          <p:nvPr/>
        </p:nvSpPr>
        <p:spPr>
          <a:xfrm>
            <a:off x="482803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Run the Overcharged Hours process first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once it's confirmed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Paid 4 hrs, got 2? Half back</a:t>
            </a:r>
            <a:endParaRPr b="0" i="0" spc="0" sz="950" u="none" cap="none" strike="noStrike">
              <a:solidFill>
                <a:schemeClr val="dk1"/>
              </a:solidFill>
              <a:latin typeface="Calibri"/>
              <a:ea typeface="Calibri"/>
              <a:cs typeface="Calibri"/>
              <a:sym typeface="Calibri"/>
            </a:endParaRPr>
          </a:p>
        </p:txBody>
      </p:sp>
      <p:sp>
        <p:nvSpPr>
          <p:cNvPr id="2269" name="Google Shape;2269;p84"/>
          <p:cNvSpPr txBox="1"/>
          <p:nvPr/>
        </p:nvSpPr>
        <p:spPr>
          <a:xfrm>
            <a:off x="411480" y="288036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ISSUING THE REFUND</a:t>
            </a:r>
            <a:endParaRPr b="0" i="0" spc="0" sz="800" u="none" cap="none" strike="noStrike">
              <a:solidFill>
                <a:schemeClr val="dk1"/>
              </a:solidFill>
              <a:latin typeface="Calibri"/>
              <a:ea typeface="Calibri"/>
              <a:cs typeface="Calibri"/>
              <a:sym typeface="Calibri"/>
            </a:endParaRPr>
          </a:p>
        </p:txBody>
      </p:sp>
      <p:sp>
        <p:nvSpPr>
          <p:cNvPr id="2270" name="Google Shape;2270;p84"/>
          <p:cNvSpPr/>
          <p:nvPr/>
        </p:nvSpPr>
        <p:spPr>
          <a:xfrm>
            <a:off x="411480" y="3108960"/>
            <a:ext cx="265176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1" name="Google Shape;2271;p84"/>
          <p:cNvSpPr txBox="1"/>
          <p:nvPr/>
        </p:nvSpPr>
        <p:spPr>
          <a:xfrm>
            <a:off x="41148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Block comms, then</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refund on the CP dashboard</a:t>
            </a:r>
            <a:endParaRPr b="0" i="0" spc="0" sz="1000" u="none" cap="none" strike="noStrike">
              <a:solidFill>
                <a:schemeClr val="dk1"/>
              </a:solidFill>
              <a:latin typeface="Calibri"/>
              <a:ea typeface="Calibri"/>
              <a:cs typeface="Calibri"/>
              <a:sym typeface="Calibri"/>
            </a:endParaRPr>
          </a:p>
        </p:txBody>
      </p:sp>
      <p:cxnSp>
        <p:nvCxnSpPr>
          <p:cNvPr id="2272" name="Google Shape;2272;p84"/>
          <p:cNvCxnSpPr/>
          <p:nvPr/>
        </p:nvCxnSpPr>
        <p:spPr>
          <a:xfrm>
            <a:off x="306324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273" name="Google Shape;2273;p84"/>
          <p:cNvSpPr/>
          <p:nvPr/>
        </p:nvSpPr>
        <p:spPr>
          <a:xfrm>
            <a:off x="3246120" y="3108960"/>
            <a:ext cx="265176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4" name="Google Shape;2274;p84"/>
          <p:cNvSpPr txBox="1"/>
          <p:nvPr/>
        </p:nvSpPr>
        <p:spPr>
          <a:xfrm>
            <a:off x="324612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 message sent? Unblock, invalidate voucher</a:t>
            </a:r>
            <a:endParaRPr b="0" i="0" spc="0" sz="1000" u="none" cap="none" strike="noStrike">
              <a:solidFill>
                <a:schemeClr val="dk1"/>
              </a:solidFill>
              <a:latin typeface="Calibri"/>
              <a:ea typeface="Calibri"/>
              <a:cs typeface="Calibri"/>
              <a:sym typeface="Calibri"/>
            </a:endParaRPr>
          </a:p>
        </p:txBody>
      </p:sp>
      <p:cxnSp>
        <p:nvCxnSpPr>
          <p:cNvPr id="2275" name="Google Shape;2275;p84"/>
          <p:cNvCxnSpPr/>
          <p:nvPr/>
        </p:nvCxnSpPr>
        <p:spPr>
          <a:xfrm>
            <a:off x="589788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276" name="Google Shape;2276;p84"/>
          <p:cNvSpPr/>
          <p:nvPr/>
        </p:nvSpPr>
        <p:spPr>
          <a:xfrm>
            <a:off x="6080760" y="3108960"/>
            <a:ext cx="265176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7" name="Google Shape;2277;p84"/>
          <p:cNvSpPr txBox="1"/>
          <p:nvPr/>
        </p:nvSpPr>
        <p:spPr>
          <a:xfrm>
            <a:off x="608076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Admin refund the TC/OTC charge</a:t>
            </a:r>
            <a:endParaRPr b="0" i="0" spc="0" sz="1000" u="none" cap="none" strike="noStrike">
              <a:solidFill>
                <a:schemeClr val="dk1"/>
              </a:solidFill>
              <a:latin typeface="Calibri"/>
              <a:ea typeface="Calibri"/>
              <a:cs typeface="Calibri"/>
              <a:sym typeface="Calibri"/>
            </a:endParaRPr>
          </a:p>
        </p:txBody>
      </p:sp>
      <p:sp>
        <p:nvSpPr>
          <p:cNvPr id="2278" name="Google Shape;2278;p84"/>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79" name="Google Shape;2279;p84"/>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280" name="Google Shape;2280;p84"/>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Block comms first:  </a:t>
            </a:r>
            <a:r>
              <a:rPr b="0" i="0" lang="en-US" spc="0" sz="1000" u="none" cap="none" strike="noStrike">
                <a:solidFill>
                  <a:srgbClr val="1D1D1F"/>
                </a:solidFill>
                <a:latin typeface="Arial"/>
                <a:ea typeface="Arial"/>
                <a:cs typeface="Arial"/>
                <a:sym typeface="Arial"/>
              </a:rPr>
              <a:t>C CRM &gt; Do &gt; Deactivate block comms. They never knew the voucher existed.</a:t>
            </a:r>
            <a:endParaRPr b="0" i="0" spc="0" sz="1000" u="none" cap="none" strike="noStrike">
              <a:solidFill>
                <a:schemeClr val="dk1"/>
              </a:solidFill>
              <a:latin typeface="Calibri"/>
              <a:ea typeface="Calibri"/>
              <a:cs typeface="Calibri"/>
              <a:sym typeface="Calibri"/>
            </a:endParaRPr>
          </a:p>
        </p:txBody>
      </p:sp>
      <p:sp>
        <p:nvSpPr>
          <p:cNvPr id="2281" name="Google Shape;2281;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6" name="Shape 2286"/>
        <p:cNvGrpSpPr/>
        <p:nvPr/>
      </p:nvGrpSpPr>
      <p:grpSpPr>
        <a:xfrm>
          <a:off x="0" y="0"/>
          <a:ext cx="0" cy="0"/>
          <a:chOff x="0" y="0"/>
          <a:chExt cx="0" cy="0"/>
        </a:xfrm>
      </p:grpSpPr>
      <p:sp>
        <p:nvSpPr>
          <p:cNvPr id="2287" name="Google Shape;2287;p8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KNOWLEDGE CHECK</a:t>
            </a:r>
            <a:endParaRPr b="0" i="0" spc="0" sz="800" u="none" cap="none" strike="noStrike">
              <a:solidFill>
                <a:schemeClr val="dk1"/>
              </a:solidFill>
              <a:latin typeface="Calibri"/>
              <a:ea typeface="Calibri"/>
              <a:cs typeface="Calibri"/>
              <a:sym typeface="Calibri"/>
            </a:endParaRPr>
          </a:p>
        </p:txBody>
      </p:sp>
      <p:sp>
        <p:nvSpPr>
          <p:cNvPr id="2288" name="Google Shape;2288;p8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289" name="Google Shape;2289;p8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0" name="Google Shape;2290;p8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1" name="Google Shape;2291;p8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92" name="Google Shape;2292;p8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wants a move-out clean only, no membership. TC or OTC?</a:t>
            </a:r>
            <a:endParaRPr b="0" i="0" spc="0" sz="1000" u="none" cap="none" strike="noStrike">
              <a:solidFill>
                <a:schemeClr val="dk1"/>
              </a:solidFill>
              <a:latin typeface="Calibri"/>
              <a:ea typeface="Calibri"/>
              <a:cs typeface="Calibri"/>
              <a:sym typeface="Calibri"/>
            </a:endParaRPr>
          </a:p>
        </p:txBody>
      </p:sp>
      <p:sp>
        <p:nvSpPr>
          <p:cNvPr id="2293" name="Google Shape;2293;p8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4" name="Google Shape;2294;p8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OTC. No FC table, nothing after.</a:t>
            </a:r>
            <a:endParaRPr b="0" i="0" spc="0" sz="900" u="none" cap="none" strike="noStrike">
              <a:solidFill>
                <a:schemeClr val="dk1"/>
              </a:solidFill>
              <a:latin typeface="Calibri"/>
              <a:ea typeface="Calibri"/>
              <a:cs typeface="Calibri"/>
              <a:sym typeface="Calibri"/>
            </a:endParaRPr>
          </a:p>
        </p:txBody>
      </p:sp>
      <p:sp>
        <p:nvSpPr>
          <p:cNvPr id="2295" name="Google Shape;2295;p8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6" name="Google Shape;2296;p8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7" name="Google Shape;2297;p8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98" name="Google Shape;2298;p8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 MFs + $59 add-on paid. 6-hr OTC is $378. What do they pay?</a:t>
            </a:r>
            <a:endParaRPr b="0" i="0" spc="0" sz="1000" u="none" cap="none" strike="noStrike">
              <a:solidFill>
                <a:schemeClr val="dk1"/>
              </a:solidFill>
              <a:latin typeface="Calibri"/>
              <a:ea typeface="Calibri"/>
              <a:cs typeface="Calibri"/>
              <a:sym typeface="Calibri"/>
            </a:endParaRPr>
          </a:p>
        </p:txBody>
      </p:sp>
      <p:sp>
        <p:nvSpPr>
          <p:cNvPr id="2299" name="Google Shape;2299;p8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0" name="Google Shape;2300;p8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$241 ($378 − $137).</a:t>
            </a:r>
            <a:endParaRPr b="0" i="0" spc="0" sz="900" u="none" cap="none" strike="noStrike">
              <a:solidFill>
                <a:schemeClr val="dk1"/>
              </a:solidFill>
              <a:latin typeface="Calibri"/>
              <a:ea typeface="Calibri"/>
              <a:cs typeface="Calibri"/>
              <a:sym typeface="Calibri"/>
            </a:endParaRPr>
          </a:p>
        </p:txBody>
      </p:sp>
      <p:sp>
        <p:nvSpPr>
          <p:cNvPr id="2301" name="Google Shape;2301;p8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2" name="Google Shape;2302;p8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3" name="Google Shape;2303;p8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304" name="Google Shape;2304;p8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$150 paid, OTC is $120. Refund the $30?</a:t>
            </a:r>
            <a:endParaRPr b="0" i="0" spc="0" sz="1000" u="none" cap="none" strike="noStrike">
              <a:solidFill>
                <a:schemeClr val="dk1"/>
              </a:solidFill>
              <a:latin typeface="Calibri"/>
              <a:ea typeface="Calibri"/>
              <a:cs typeface="Calibri"/>
              <a:sym typeface="Calibri"/>
            </a:endParaRPr>
          </a:p>
        </p:txBody>
      </p:sp>
      <p:sp>
        <p:nvSpPr>
          <p:cNvPr id="2305" name="Google Shape;2305;p8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6" name="Google Shape;2306;p8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They pay $0; the excess isn't refunded.</a:t>
            </a:r>
            <a:endParaRPr b="0" i="0" spc="0" sz="900" u="none" cap="none" strike="noStrike">
              <a:solidFill>
                <a:schemeClr val="dk1"/>
              </a:solidFill>
              <a:latin typeface="Calibri"/>
              <a:ea typeface="Calibri"/>
              <a:cs typeface="Calibri"/>
              <a:sym typeface="Calibri"/>
            </a:endParaRPr>
          </a:p>
        </p:txBody>
      </p:sp>
      <p:sp>
        <p:nvSpPr>
          <p:cNvPr id="2307" name="Google Shape;2307;p8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8" name="Google Shape;2308;p8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9" name="Google Shape;2309;p8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310" name="Google Shape;2310;p8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Completed a Trial, cancels on day 20 over a bad cleaning. ETF?</a:t>
            </a:r>
            <a:endParaRPr b="0" i="0" spc="0" sz="1000" u="none" cap="none" strike="noStrike">
              <a:solidFill>
                <a:schemeClr val="dk1"/>
              </a:solidFill>
              <a:latin typeface="Calibri"/>
              <a:ea typeface="Calibri"/>
              <a:cs typeface="Calibri"/>
              <a:sym typeface="Calibri"/>
            </a:endParaRPr>
          </a:p>
        </p:txBody>
      </p:sp>
      <p:sp>
        <p:nvSpPr>
          <p:cNvPr id="2311" name="Google Shape;2311;p8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2" name="Google Shape;2312;p8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ETF. Cancel FC as asked; offer a second chance if they're open.</a:t>
            </a:r>
            <a:endParaRPr b="0" i="0" spc="0" sz="900" u="none" cap="none" strike="noStrike">
              <a:solidFill>
                <a:schemeClr val="dk1"/>
              </a:solidFill>
              <a:latin typeface="Calibri"/>
              <a:ea typeface="Calibri"/>
              <a:cs typeface="Calibri"/>
              <a:sym typeface="Calibri"/>
            </a:endParaRPr>
          </a:p>
        </p:txBody>
      </p:sp>
      <p:sp>
        <p:nvSpPr>
          <p:cNvPr id="2313" name="Google Shape;2313;p8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94"/>
                                        </p:tgtEl>
                                        <p:attrNameLst>
                                          <p:attrName>style.visibility</p:attrName>
                                        </p:attrNameLst>
                                      </p:cBhvr>
                                      <p:to>
                                        <p:strVal val="visible"/>
                                      </p:to>
                                    </p:set>
                                    <p:animEffect filter="fade" transition="in">
                                      <p:cBhvr>
                                        <p:cTn dur="600"/>
                                        <p:tgtEl>
                                          <p:spTgt spid="229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00"/>
                                        </p:tgtEl>
                                        <p:attrNameLst>
                                          <p:attrName>style.visibility</p:attrName>
                                        </p:attrNameLst>
                                      </p:cBhvr>
                                      <p:to>
                                        <p:strVal val="visible"/>
                                      </p:to>
                                    </p:set>
                                    <p:animEffect filter="fade" transition="in">
                                      <p:cBhvr>
                                        <p:cTn dur="600"/>
                                        <p:tgtEl>
                                          <p:spTgt spid="230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06"/>
                                        </p:tgtEl>
                                        <p:attrNameLst>
                                          <p:attrName>style.visibility</p:attrName>
                                        </p:attrNameLst>
                                      </p:cBhvr>
                                      <p:to>
                                        <p:strVal val="visible"/>
                                      </p:to>
                                    </p:set>
                                    <p:animEffect filter="fade" transition="in">
                                      <p:cBhvr>
                                        <p:cTn dur="600"/>
                                        <p:tgtEl>
                                          <p:spTgt spid="230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12"/>
                                        </p:tgtEl>
                                        <p:attrNameLst>
                                          <p:attrName>style.visibility</p:attrName>
                                        </p:attrNameLst>
                                      </p:cBhvr>
                                      <p:to>
                                        <p:strVal val="visible"/>
                                      </p:to>
                                    </p:set>
                                    <p:animEffect filter="fade" transition="in">
                                      <p:cBhvr>
                                        <p:cTn dur="600"/>
                                        <p:tgtEl>
                                          <p:spTgt spid="231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8" name="Shape 2318"/>
        <p:cNvGrpSpPr/>
        <p:nvPr/>
      </p:nvGrpSpPr>
      <p:grpSpPr>
        <a:xfrm>
          <a:off x="0" y="0"/>
          <a:ext cx="0" cy="0"/>
          <a:chOff x="0" y="0"/>
          <a:chExt cx="0" cy="0"/>
        </a:xfrm>
      </p:grpSpPr>
      <p:sp>
        <p:nvSpPr>
          <p:cNvPr id="2319" name="Google Shape;2319;p8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PRACTICE</a:t>
            </a:r>
            <a:endParaRPr b="0" i="0" spc="0" sz="800" u="none" cap="none" strike="noStrike">
              <a:solidFill>
                <a:schemeClr val="dk1"/>
              </a:solidFill>
              <a:latin typeface="Calibri"/>
              <a:ea typeface="Calibri"/>
              <a:cs typeface="Calibri"/>
              <a:sym typeface="Calibri"/>
            </a:endParaRPr>
          </a:p>
        </p:txBody>
      </p:sp>
      <p:sp>
        <p:nvSpPr>
          <p:cNvPr id="2320" name="Google Shape;2320;p8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321" name="Google Shape;2321;p8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322" name="Google Shape;2322;p8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3" name="Google Shape;2323;p8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24" name="Google Shape;2324;p8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325" name="Google Shape;2325;p8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326" name="Google Shape;2326;p8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327" name="Google Shape;2327;p8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328" name="Google Shape;2328;p8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9" name="Google Shape;2329;p8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0" name="Google Shape;2330;p8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331" name="Google Shape;2331;p8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TC or OTC the better fit? Why?</a:t>
            </a:r>
            <a:endParaRPr b="0" i="0" spc="0" sz="1250" u="none" cap="none" strike="noStrike">
              <a:solidFill>
                <a:schemeClr val="dk1"/>
              </a:solidFill>
              <a:latin typeface="Calibri"/>
              <a:ea typeface="Calibri"/>
              <a:cs typeface="Calibri"/>
              <a:sym typeface="Calibri"/>
            </a:endParaRPr>
          </a:p>
        </p:txBody>
      </p:sp>
      <p:sp>
        <p:nvSpPr>
          <p:cNvPr id="2332" name="Google Shape;2332;p8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DHJ or FCF: what gets deducted?</a:t>
            </a:r>
            <a:endParaRPr b="0" i="0" spc="0" sz="1000" u="none" cap="none" strike="noStrike">
              <a:solidFill>
                <a:schemeClr val="dk1"/>
              </a:solidFill>
              <a:latin typeface="Calibri"/>
              <a:ea typeface="Calibri"/>
              <a:cs typeface="Calibri"/>
              <a:sym typeface="Calibri"/>
            </a:endParaRPr>
          </a:p>
        </p:txBody>
      </p:sp>
      <p:sp>
        <p:nvSpPr>
          <p:cNvPr id="2333" name="Google Shape;2333;p8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4" name="Google Shape;2334;p8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5" name="Google Shape;2335;p8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336" name="Google Shape;2336;p8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337" name="Google Shape;2337;p8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Price, charge, book, FC table, voucher.</a:t>
            </a:r>
            <a:endParaRPr b="0" i="0" spc="0" sz="1000" u="none" cap="none" strike="noStrike">
              <a:solidFill>
                <a:schemeClr val="dk1"/>
              </a:solidFill>
              <a:latin typeface="Calibri"/>
              <a:ea typeface="Calibri"/>
              <a:cs typeface="Calibri"/>
              <a:sym typeface="Calibri"/>
            </a:endParaRPr>
          </a:p>
        </p:txBody>
      </p:sp>
      <p:sp>
        <p:nvSpPr>
          <p:cNvPr id="2338" name="Google Shape;2338;p8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9" name="Google Shape;2339;p8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0" name="Google Shape;2340;p8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341" name="Google Shape;2341;p8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342" name="Google Shape;2342;p8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offer for the customer.</a:t>
            </a:r>
            <a:endParaRPr b="0" i="0" spc="0" sz="1000" u="none" cap="none" strike="noStrike">
              <a:solidFill>
                <a:schemeClr val="dk1"/>
              </a:solidFill>
              <a:latin typeface="Calibri"/>
              <a:ea typeface="Calibri"/>
              <a:cs typeface="Calibri"/>
              <a:sym typeface="Calibri"/>
            </a:endParaRPr>
          </a:p>
        </p:txBody>
      </p:sp>
      <p:sp>
        <p:nvSpPr>
          <p:cNvPr id="2343" name="Google Shape;2343;p8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44" name="Google Shape;2344;p8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345" name="Google Shape;2345;p8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346" name="Google Shape;2346;p8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1" name="Shape 2351"/>
        <p:cNvGrpSpPr/>
        <p:nvPr/>
      </p:nvGrpSpPr>
      <p:grpSpPr>
        <a:xfrm>
          <a:off x="0" y="0"/>
          <a:ext cx="0" cy="0"/>
          <a:chOff x="0" y="0"/>
          <a:chExt cx="0" cy="0"/>
        </a:xfrm>
      </p:grpSpPr>
      <p:sp>
        <p:nvSpPr>
          <p:cNvPr id="2352" name="Google Shape;2352;p87"/>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2353" name="Google Shape;2353;p87"/>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2354" name="Google Shape;2354;p87"/>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2355" name="Google Shape;2355;p8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6" name="Google Shape;2356;p8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9.png" id="2357" name="Google Shape;2357;p87"/>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358" name="Google Shape;2358;p8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9" name="Google Shape;2359;p8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0" name="Google Shape;2360;p8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1" name="Google Shape;2361;p8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2" name="Google Shape;2362;p8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3" name="Google Shape;2363;p8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4" name="Google Shape;2364;p8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